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SLIDE">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Text 2"/>
          <p:cNvSpPr/>
          <p:nvPr/>
        </p:nvSpPr>
        <p:spPr>
          <a:xfrm>
            <a:off x="621792" y="2194560"/>
            <a:ext cx="10948111" cy="1005840"/>
          </a:xfrm>
          <a:prstGeom prst="rect">
            <a:avLst/>
          </a:prstGeom>
          <a:noFill/>
          <a:ln/>
        </p:spPr>
        <p:txBody>
          <a:bodyPr wrap="square" rtlCol="0" anchor="ctr"/>
          <a:lstStyle/>
          <a:p>
            <a:pPr indent="0" marL="0">
              <a:buNone/>
            </a:pPr>
            <a:r>
              <a:rPr lang="en-US" sz="5400" b="1" dirty="0">
                <a:solidFill>
                  <a:srgbClr val="1E2420"/>
                </a:solidFill>
                <a:latin typeface="Calibri" pitchFamily="34" charset="0"/>
                <a:ea typeface="Calibri" pitchFamily="34" charset="-122"/>
                <a:cs typeface="Calibri" pitchFamily="34" charset="-120"/>
              </a:rPr>
              <a:t>LEADERSHIP Q&amp;A</a:t>
            </a:r>
            <a:endParaRPr lang="en-US" sz="5400" dirty="0"/>
          </a:p>
        </p:txBody>
      </p:sp>
      <p:sp>
        <p:nvSpPr>
          <p:cNvPr id="5" name="Text 3"/>
          <p:cNvSpPr/>
          <p:nvPr/>
        </p:nvSpPr>
        <p:spPr>
          <a:xfrm>
            <a:off x="621792" y="3291840"/>
            <a:ext cx="10948111" cy="548640"/>
          </a:xfrm>
          <a:prstGeom prst="rect">
            <a:avLst/>
          </a:prstGeom>
          <a:noFill/>
          <a:ln/>
        </p:spPr>
        <p:txBody>
          <a:bodyPr wrap="square" rtlCol="0" anchor="ctr"/>
          <a:lstStyle/>
          <a:p>
            <a:pPr indent="0" marL="0">
              <a:buNone/>
            </a:pPr>
            <a:r>
              <a:rPr lang="en-US" sz="2400" dirty="0">
                <a:solidFill>
                  <a:srgbClr val="007A27"/>
                </a:solidFill>
                <a:latin typeface="Calibri" pitchFamily="34" charset="0"/>
                <a:ea typeface="Calibri" pitchFamily="34" charset="-122"/>
                <a:cs typeface="Calibri" pitchFamily="34" charset="-120"/>
              </a:rPr>
              <a:t>RA+ 2026 and 2027 roadmap</a:t>
            </a:r>
            <a:endParaRPr lang="en-US" sz="2400" dirty="0"/>
          </a:p>
        </p:txBody>
      </p:sp>
      <p:sp>
        <p:nvSpPr>
          <p:cNvPr id="6" name="Text 4"/>
          <p:cNvSpPr/>
          <p:nvPr/>
        </p:nvSpPr>
        <p:spPr>
          <a:xfrm>
            <a:off x="621792" y="4023360"/>
            <a:ext cx="10948111" cy="731520"/>
          </a:xfrm>
          <a:prstGeom prst="rect">
            <a:avLst/>
          </a:prstGeom>
          <a:noFill/>
          <a:ln/>
        </p:spPr>
        <p:txBody>
          <a:bodyPr wrap="square" rtlCol="0" anchor="t"/>
          <a:lstStyle/>
          <a:p>
            <a:pPr indent="0" marL="0">
              <a:buNone/>
            </a:pPr>
            <a:r>
              <a:rPr lang="en-US" sz="1600" dirty="0">
                <a:solidFill>
                  <a:srgbClr val="5A625C"/>
                </a:solidFill>
                <a:latin typeface="Calibri" pitchFamily="34" charset="0"/>
                <a:ea typeface="Calibri" pitchFamily="34" charset="-122"/>
                <a:cs typeface="Calibri" pitchFamily="34" charset="-120"/>
              </a:rPr>
              <a:t>The questions leadership will ask, the evidence behind each answer, and the implication for the decision.</a:t>
            </a:r>
            <a:endParaRPr lang="en-US" sz="1600" dirty="0"/>
          </a:p>
        </p:txBody>
      </p:sp>
      <p:sp>
        <p:nvSpPr>
          <p:cNvPr id="7" name="Text 5"/>
          <p:cNvSpPr/>
          <p:nvPr/>
        </p:nvSpPr>
        <p:spPr>
          <a:xfrm>
            <a:off x="621792" y="6629400"/>
            <a:ext cx="5486400" cy="219456"/>
          </a:xfrm>
          <a:prstGeom prst="rect">
            <a:avLst/>
          </a:prstGeom>
          <a:noFill/>
          <a:ln/>
        </p:spPr>
        <p:txBody>
          <a:bodyPr wrap="square" rtlCol="0" anchor="ctr"/>
          <a:lstStyle/>
          <a:p>
            <a:pPr indent="0" marL="0">
              <a:buNone/>
            </a:pPr>
            <a:r>
              <a:rPr lang="en-US" sz="850" dirty="0">
                <a:solidFill>
                  <a:srgbClr val="5A625C"/>
                </a:solidFill>
                <a:latin typeface="Calibri" pitchFamily="34" charset="0"/>
                <a:ea typeface="Calibri" pitchFamily="34" charset="-122"/>
                <a:cs typeface="Calibri" pitchFamily="34" charset="-120"/>
              </a:rPr>
              <a:t>RA+ Strategy &amp; Roadmap · Confidential</a:t>
            </a:r>
            <a:endParaRPr lang="en-US" sz="850" dirty="0"/>
          </a:p>
        </p:txBody>
      </p:sp>
      <p:sp>
        <p:nvSpPr>
          <p:cNvPr id="8" name="Text 6"/>
          <p:cNvSpPr/>
          <p:nvPr/>
        </p:nvSpPr>
        <p:spPr>
          <a:xfrm>
            <a:off x="10655503" y="6629400"/>
            <a:ext cx="914400" cy="219456"/>
          </a:xfrm>
          <a:prstGeom prst="rect">
            <a:avLst/>
          </a:prstGeom>
          <a:noFill/>
          <a:ln/>
        </p:spPr>
        <p:txBody>
          <a:bodyPr wrap="square" rtlCol="0" anchor="ctr"/>
          <a:lstStyle/>
          <a:p>
            <a:pPr algn="r" indent="0" marL="0">
              <a:buNone/>
            </a:pPr>
            <a:r>
              <a:rPr lang="en-US" sz="850" dirty="0">
                <a:solidFill>
                  <a:srgbClr val="5A625C"/>
                </a:solidFill>
                <a:latin typeface="Calibri" pitchFamily="34" charset="0"/>
                <a:ea typeface="Calibri" pitchFamily="34" charset="-122"/>
                <a:cs typeface="Calibri" pitchFamily="34" charset="-120"/>
              </a:rPr>
              <a:t>1 / 28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2468880"/>
            <a:ext cx="2560320" cy="457200"/>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22960" y="2514600"/>
            <a:ext cx="2286000" cy="365760"/>
          </a:xfrm>
          <a:prstGeom prst="rect">
            <a:avLst/>
          </a:prstGeom>
          <a:noFill/>
          <a:ln/>
        </p:spPr>
        <p:txBody>
          <a:bodyPr wrap="square" rtlCol="0" anchor="ctr"/>
          <a:lstStyle/>
          <a:p>
            <a:pPr indent="0" marL="0">
              <a:buNone/>
            </a:pPr>
            <a:r>
              <a:rPr lang="en-US" sz="1400" b="1" dirty="0">
                <a:solidFill>
                  <a:srgbClr val="007A27"/>
                </a:solidFill>
                <a:latin typeface="Calibri" pitchFamily="34" charset="0"/>
                <a:ea typeface="Calibri" pitchFamily="34" charset="-122"/>
                <a:cs typeface="Calibri" pitchFamily="34" charset="-120"/>
              </a:rPr>
              <a:t>ROADMAP</a:t>
            </a:r>
            <a:endParaRPr lang="en-US" sz="1400" dirty="0"/>
          </a:p>
        </p:txBody>
      </p:sp>
      <p:sp>
        <p:nvSpPr>
          <p:cNvPr id="6" name="Text 4"/>
          <p:cNvSpPr/>
          <p:nvPr/>
        </p:nvSpPr>
        <p:spPr>
          <a:xfrm>
            <a:off x="621792" y="3200400"/>
            <a:ext cx="10948111" cy="731520"/>
          </a:xfrm>
          <a:prstGeom prst="rect">
            <a:avLst/>
          </a:prstGeom>
          <a:noFill/>
          <a:ln/>
        </p:spPr>
        <p:txBody>
          <a:bodyPr wrap="square" rtlCol="0" anchor="t"/>
          <a:lstStyle/>
          <a:p>
            <a:pPr indent="0" marL="0">
              <a:buNone/>
            </a:pPr>
            <a:r>
              <a:rPr lang="en-US" sz="4000" b="1" dirty="0">
                <a:solidFill>
                  <a:srgbClr val="1E2420"/>
                </a:solidFill>
                <a:latin typeface="Calibri" pitchFamily="34" charset="0"/>
                <a:ea typeface="Calibri" pitchFamily="34" charset="-122"/>
                <a:cs typeface="Calibri" pitchFamily="34" charset="-120"/>
              </a:rPr>
              <a:t>Leadership Q&amp;A</a:t>
            </a:r>
            <a:endParaRPr lang="en-US" sz="4000" dirty="0"/>
          </a:p>
        </p:txBody>
      </p:sp>
      <p:sp>
        <p:nvSpPr>
          <p:cNvPr id="7" name="Text 5"/>
          <p:cNvSpPr/>
          <p:nvPr/>
        </p:nvSpPr>
        <p:spPr>
          <a:xfrm>
            <a:off x="621792" y="6629400"/>
            <a:ext cx="5486400" cy="219456"/>
          </a:xfrm>
          <a:prstGeom prst="rect">
            <a:avLst/>
          </a:prstGeom>
          <a:noFill/>
          <a:ln/>
        </p:spPr>
        <p:txBody>
          <a:bodyPr wrap="square" rtlCol="0" anchor="ctr"/>
          <a:lstStyle/>
          <a:p>
            <a:pPr indent="0" marL="0">
              <a:buNone/>
            </a:pPr>
            <a:r>
              <a:rPr lang="en-US" sz="850" dirty="0">
                <a:solidFill>
                  <a:srgbClr val="5A625C"/>
                </a:solidFill>
                <a:latin typeface="Calibri" pitchFamily="34" charset="0"/>
                <a:ea typeface="Calibri" pitchFamily="34" charset="-122"/>
                <a:cs typeface="Calibri" pitchFamily="34" charset="-120"/>
              </a:rPr>
              <a:t>RA+ Strategy &amp; Roadmap · Confidential</a:t>
            </a:r>
            <a:endParaRPr lang="en-US" sz="850" dirty="0"/>
          </a:p>
        </p:txBody>
      </p:sp>
      <p:sp>
        <p:nvSpPr>
          <p:cNvPr id="8" name="Text 6"/>
          <p:cNvSpPr/>
          <p:nvPr/>
        </p:nvSpPr>
        <p:spPr>
          <a:xfrm>
            <a:off x="10655503" y="6629400"/>
            <a:ext cx="914400" cy="219456"/>
          </a:xfrm>
          <a:prstGeom prst="rect">
            <a:avLst/>
          </a:prstGeom>
          <a:noFill/>
          <a:ln/>
        </p:spPr>
        <p:txBody>
          <a:bodyPr wrap="square" rtlCol="0" anchor="ctr"/>
          <a:lstStyle/>
          <a:p>
            <a:pPr algn="r" indent="0" marL="0">
              <a:buNone/>
            </a:pPr>
            <a:r>
              <a:rPr lang="en-US" sz="850" dirty="0">
                <a:solidFill>
                  <a:srgbClr val="5A625C"/>
                </a:solidFill>
                <a:latin typeface="Calibri" pitchFamily="34" charset="0"/>
                <a:ea typeface="Calibri" pitchFamily="34" charset="-122"/>
                <a:cs typeface="Calibri" pitchFamily="34" charset="-120"/>
              </a:rPr>
              <a:t>2 / 28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239012"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786384" y="329184"/>
            <a:ext cx="946404" cy="256032"/>
          </a:xfrm>
          <a:prstGeom prst="rect">
            <a:avLst/>
          </a:prstGeom>
          <a:noFill/>
          <a:ln/>
        </p:spPr>
        <p:txBody>
          <a:bodyPr wrap="none" rtlCol="0" anchor="ctr"/>
          <a:lstStyle/>
          <a:p>
            <a:pPr indent="0" marL="0">
              <a:buNone/>
            </a:pPr>
            <a:r>
              <a:rPr lang="en-US" sz="950" b="1" dirty="0">
                <a:solidFill>
                  <a:srgbClr val="007A27"/>
                </a:solidFill>
                <a:latin typeface="Calibri" pitchFamily="34" charset="0"/>
                <a:ea typeface="Calibri" pitchFamily="34" charset="-122"/>
                <a:cs typeface="Calibri" pitchFamily="34" charset="-120"/>
              </a:rPr>
              <a:t>ROADMAP</a:t>
            </a:r>
            <a:endParaRPr lang="en-US" sz="950" dirty="0"/>
          </a:p>
        </p:txBody>
      </p:sp>
      <p:sp>
        <p:nvSpPr>
          <p:cNvPr id="6" name="Text 4"/>
          <p:cNvSpPr/>
          <p:nvPr/>
        </p:nvSpPr>
        <p:spPr>
          <a:xfrm>
            <a:off x="621792" y="768096"/>
            <a:ext cx="10948111" cy="822960"/>
          </a:xfrm>
          <a:prstGeom prst="rect">
            <a:avLst/>
          </a:prstGeom>
          <a:noFill/>
          <a:ln/>
        </p:spPr>
        <p:txBody>
          <a:bodyPr wrap="square" rtlCol="0" anchor="t">
            <a:normAutofit/>
          </a:bodyPr>
          <a:lstStyle/>
          <a:p>
            <a:pPr indent="0" marL="0">
              <a:buNone/>
            </a:pPr>
            <a:r>
              <a:rPr lang="en-US" sz="2800" b="1" dirty="0">
                <a:solidFill>
                  <a:srgbClr val="1E2420"/>
                </a:solidFill>
                <a:latin typeface="Calibri" pitchFamily="34" charset="0"/>
                <a:ea typeface="Calibri" pitchFamily="34" charset="-122"/>
                <a:cs typeface="Calibri" pitchFamily="34" charset="-120"/>
              </a:rPr>
              <a:t>Why this sequence, and why now?</a:t>
            </a:r>
            <a:endParaRPr lang="en-US" sz="2800" dirty="0"/>
          </a:p>
        </p:txBody>
      </p:sp>
      <p:sp>
        <p:nvSpPr>
          <p:cNvPr id="7" name="Text 5"/>
          <p:cNvSpPr/>
          <p:nvPr/>
        </p:nvSpPr>
        <p:spPr>
          <a:xfrm>
            <a:off x="621792" y="1691640"/>
            <a:ext cx="10948111" cy="868680"/>
          </a:xfrm>
          <a:prstGeom prst="rect">
            <a:avLst/>
          </a:prstGeom>
          <a:noFill/>
          <a:ln/>
        </p:spPr>
        <p:txBody>
          <a:bodyPr wrap="square" rtlCol="0" anchor="t"/>
          <a:lstStyle/>
          <a:p>
            <a:pPr indent="0" marL="0">
              <a:buNone/>
            </a:pPr>
            <a:r>
              <a:rPr lang="en-US" sz="1300" dirty="0">
                <a:solidFill>
                  <a:srgbClr val="1E2420"/>
                </a:solidFill>
                <a:latin typeface="Calibri" pitchFamily="34" charset="0"/>
                <a:ea typeface="Calibri" pitchFamily="34" charset="-122"/>
                <a:cs typeface="Calibri" pitchFamily="34" charset="-120"/>
              </a:rPr>
              <a:t>We are building trust before scale: governed data and calculations first, then connected workflows, then AI-assisted decisions.</a:t>
            </a:r>
            <a:endParaRPr lang="en-US" sz="1300" dirty="0"/>
          </a:p>
        </p:txBody>
      </p:sp>
      <p:sp>
        <p:nvSpPr>
          <p:cNvPr id="8" name="Text 6"/>
          <p:cNvSpPr/>
          <p:nvPr/>
        </p:nvSpPr>
        <p:spPr>
          <a:xfrm>
            <a:off x="713232" y="2697480"/>
            <a:ext cx="10765231" cy="1371600"/>
          </a:xfrm>
          <a:prstGeom prst="rect">
            <a:avLst/>
          </a:prstGeom>
          <a:noFill/>
          <a:ln/>
        </p:spPr>
        <p:txBody>
          <a:bodyPr wrap="square" rtlCol="0" anchor="t"/>
          <a:lstStyle/>
          <a:p>
            <a:pPr marL="342900" indent="-342900">
              <a:buSzPct val="100000"/>
              <a:buChar char="•"/>
            </a:pPr>
            <a:r>
              <a:rPr lang="en-US" sz="1150" dirty="0">
                <a:solidFill>
                  <a:srgbClr val="5A625C"/>
                </a:solidFill>
                <a:latin typeface="Calibri" pitchFamily="34" charset="0"/>
                <a:ea typeface="Calibri" pitchFamily="34" charset="-122"/>
                <a:cs typeface="Calibri" pitchFamily="34" charset="-120"/>
              </a:rPr>
              <a:t>• 2026 closes material inventory, migration and platform-foundation gaps.</a:t>
            </a:r>
            <a:endParaRPr lang="en-US" sz="1150" dirty="0"/>
          </a:p>
          <a:p>
            <a:pPr marL="342900" indent="-342900">
              <a:buSzPct val="100000"/>
              <a:buChar char="•"/>
            </a:pPr>
            <a:r>
              <a:rPr lang="en-US" sz="1150" dirty="0">
                <a:solidFill>
                  <a:srgbClr val="5A625C"/>
                </a:solidFill>
                <a:latin typeface="Calibri" pitchFamily="34" charset="0"/>
                <a:ea typeface="Calibri" pitchFamily="34" charset="-122"/>
                <a:cs typeface="Calibri" pitchFamily="34" charset="-120"/>
              </a:rPr>
              <a:t>• 2027 connects inventory, suppliers, disclosure, risk and action on the same spine.</a:t>
            </a:r>
            <a:endParaRPr lang="en-US" sz="1150" dirty="0"/>
          </a:p>
          <a:p>
            <a:pPr marL="342900" indent="-342900">
              <a:buSzPct val="100000"/>
              <a:buChar char="•"/>
            </a:pPr>
            <a:r>
              <a:rPr lang="en-US" sz="1150" dirty="0">
                <a:solidFill>
                  <a:srgbClr val="5A625C"/>
                </a:solidFill>
                <a:latin typeface="Calibri" pitchFamily="34" charset="0"/>
                <a:ea typeface="Calibri" pitchFamily="34" charset="-122"/>
                <a:cs typeface="Calibri" pitchFamily="34" charset="-120"/>
              </a:rPr>
              <a:t>• Core capabilities are built once and inherited across products.</a:t>
            </a:r>
            <a:endParaRPr lang="en-US" sz="1150" dirty="0"/>
          </a:p>
        </p:txBody>
      </p:sp>
      <p:sp>
        <p:nvSpPr>
          <p:cNvPr id="9" name="Text 7"/>
          <p:cNvSpPr/>
          <p:nvPr/>
        </p:nvSpPr>
        <p:spPr>
          <a:xfrm>
            <a:off x="621792" y="4251960"/>
            <a:ext cx="10948111" cy="1005840"/>
          </a:xfrm>
          <a:prstGeom prst="rect">
            <a:avLst/>
          </a:prstGeom>
          <a:noFill/>
          <a:ln/>
        </p:spPr>
        <p:txBody>
          <a:bodyPr wrap="square" rtlCol="0" anchor="t"/>
          <a:lstStyle/>
          <a:p>
            <a:pPr indent="0" marL="0">
              <a:buNone/>
            </a:pPr>
            <a:r>
              <a:rPr lang="en-US" sz="1150" i="1" dirty="0">
                <a:solidFill>
                  <a:srgbClr val="007A27"/>
                </a:solidFill>
                <a:latin typeface="Calibri" pitchFamily="34" charset="0"/>
                <a:ea typeface="Calibri" pitchFamily="34" charset="-122"/>
                <a:cs typeface="Calibri" pitchFamily="34" charset="-120"/>
              </a:rPr>
              <a:t>Implication: Protect the sequence. Pulling advanced AI ahead of data quality and calculation governance would amplify weak inputs rather than create trusted decisions.</a:t>
            </a:r>
            <a:endParaRPr lang="en-US" sz="1150" dirty="0"/>
          </a:p>
        </p:txBody>
      </p:sp>
      <p:sp>
        <p:nvSpPr>
          <p:cNvPr id="10" name="Text 8"/>
          <p:cNvSpPr/>
          <p:nvPr/>
        </p:nvSpPr>
        <p:spPr>
          <a:xfrm>
            <a:off x="621792" y="6629400"/>
            <a:ext cx="5486400" cy="219456"/>
          </a:xfrm>
          <a:prstGeom prst="rect">
            <a:avLst/>
          </a:prstGeom>
          <a:noFill/>
          <a:ln/>
        </p:spPr>
        <p:txBody>
          <a:bodyPr wrap="square" rtlCol="0" anchor="ctr"/>
          <a:lstStyle/>
          <a:p>
            <a:pPr indent="0" marL="0">
              <a:buNone/>
            </a:pPr>
            <a:r>
              <a:rPr lang="en-US" sz="850" dirty="0">
                <a:solidFill>
                  <a:srgbClr val="5A625C"/>
                </a:solidFill>
                <a:latin typeface="Calibri" pitchFamily="34" charset="0"/>
                <a:ea typeface="Calibri" pitchFamily="34" charset="-122"/>
                <a:cs typeface="Calibri" pitchFamily="34" charset="-120"/>
              </a:rPr>
              <a:t>RA+ Strategy &amp; Roadmap · Confidential</a:t>
            </a:r>
            <a:endParaRPr lang="en-US" sz="850" dirty="0"/>
          </a:p>
        </p:txBody>
      </p:sp>
      <p:sp>
        <p:nvSpPr>
          <p:cNvPr id="11" name="Text 9"/>
          <p:cNvSpPr/>
          <p:nvPr/>
        </p:nvSpPr>
        <p:spPr>
          <a:xfrm>
            <a:off x="10655503" y="6629400"/>
            <a:ext cx="914400" cy="219456"/>
          </a:xfrm>
          <a:prstGeom prst="rect">
            <a:avLst/>
          </a:prstGeom>
          <a:noFill/>
          <a:ln/>
        </p:spPr>
        <p:txBody>
          <a:bodyPr wrap="square" rtlCol="0" anchor="ctr"/>
          <a:lstStyle/>
          <a:p>
            <a:pPr algn="r" indent="0" marL="0">
              <a:buNone/>
            </a:pPr>
            <a:r>
              <a:rPr lang="en-US" sz="850" dirty="0">
                <a:solidFill>
                  <a:srgbClr val="5A625C"/>
                </a:solidFill>
                <a:latin typeface="Calibri" pitchFamily="34" charset="0"/>
                <a:ea typeface="Calibri" pitchFamily="34" charset="-122"/>
                <a:cs typeface="Calibri" pitchFamily="34" charset="-120"/>
              </a:rPr>
              <a:t>3 / 28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239012"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786384" y="329184"/>
            <a:ext cx="946404" cy="256032"/>
          </a:xfrm>
          <a:prstGeom prst="rect">
            <a:avLst/>
          </a:prstGeom>
          <a:noFill/>
          <a:ln/>
        </p:spPr>
        <p:txBody>
          <a:bodyPr wrap="none" rtlCol="0" anchor="ctr"/>
          <a:lstStyle/>
          <a:p>
            <a:pPr indent="0" marL="0">
              <a:buNone/>
            </a:pPr>
            <a:r>
              <a:rPr lang="en-US" sz="950" b="1" dirty="0">
                <a:solidFill>
                  <a:srgbClr val="007A27"/>
                </a:solidFill>
                <a:latin typeface="Calibri" pitchFamily="34" charset="0"/>
                <a:ea typeface="Calibri" pitchFamily="34" charset="-122"/>
                <a:cs typeface="Calibri" pitchFamily="34" charset="-120"/>
              </a:rPr>
              <a:t>ROADMAP</a:t>
            </a:r>
            <a:endParaRPr lang="en-US" sz="950" dirty="0"/>
          </a:p>
        </p:txBody>
      </p:sp>
      <p:sp>
        <p:nvSpPr>
          <p:cNvPr id="6" name="Text 4"/>
          <p:cNvSpPr/>
          <p:nvPr/>
        </p:nvSpPr>
        <p:spPr>
          <a:xfrm>
            <a:off x="621792" y="768096"/>
            <a:ext cx="10948111" cy="822960"/>
          </a:xfrm>
          <a:prstGeom prst="rect">
            <a:avLst/>
          </a:prstGeom>
          <a:noFill/>
          <a:ln/>
        </p:spPr>
        <p:txBody>
          <a:bodyPr wrap="square" rtlCol="0" anchor="t">
            <a:normAutofit/>
          </a:bodyPr>
          <a:lstStyle/>
          <a:p>
            <a:pPr indent="0" marL="0">
              <a:buNone/>
            </a:pPr>
            <a:r>
              <a:rPr lang="en-US" sz="2800" b="1" dirty="0">
                <a:solidFill>
                  <a:srgbClr val="1E2420"/>
                </a:solidFill>
                <a:latin typeface="Calibri" pitchFamily="34" charset="0"/>
                <a:ea typeface="Calibri" pitchFamily="34" charset="-122"/>
                <a:cs typeface="Calibri" pitchFamily="34" charset="-120"/>
              </a:rPr>
              <a:t>How confident are we in the 2027 timing?</a:t>
            </a:r>
            <a:endParaRPr lang="en-US" sz="2800" dirty="0"/>
          </a:p>
        </p:txBody>
      </p:sp>
      <p:sp>
        <p:nvSpPr>
          <p:cNvPr id="7" name="Text 5"/>
          <p:cNvSpPr/>
          <p:nvPr/>
        </p:nvSpPr>
        <p:spPr>
          <a:xfrm>
            <a:off x="621792" y="1691640"/>
            <a:ext cx="10948111" cy="868680"/>
          </a:xfrm>
          <a:prstGeom prst="rect">
            <a:avLst/>
          </a:prstGeom>
          <a:noFill/>
          <a:ln/>
        </p:spPr>
        <p:txBody>
          <a:bodyPr wrap="square" rtlCol="0" anchor="t"/>
          <a:lstStyle/>
          <a:p>
            <a:pPr indent="0" marL="0">
              <a:buNone/>
            </a:pPr>
            <a:r>
              <a:rPr lang="en-US" sz="1300" dirty="0">
                <a:solidFill>
                  <a:srgbClr val="1E2420"/>
                </a:solidFill>
                <a:latin typeface="Calibri" pitchFamily="34" charset="0"/>
                <a:ea typeface="Calibri" pitchFamily="34" charset="-122"/>
                <a:cs typeface="Calibri" pitchFamily="34" charset="-120"/>
              </a:rPr>
              <a:t>Confidence is highest at the half-year level. Only the Schneider Electric migration and CSRD cycle is held as a quarter-specific Q1 milestone.</a:t>
            </a:r>
            <a:endParaRPr lang="en-US" sz="1300" dirty="0"/>
          </a:p>
        </p:txBody>
      </p:sp>
      <p:sp>
        <p:nvSpPr>
          <p:cNvPr id="8" name="Text 6"/>
          <p:cNvSpPr/>
          <p:nvPr/>
        </p:nvSpPr>
        <p:spPr>
          <a:xfrm>
            <a:off x="713232" y="2697480"/>
            <a:ext cx="10765231" cy="1371600"/>
          </a:xfrm>
          <a:prstGeom prst="rect">
            <a:avLst/>
          </a:prstGeom>
          <a:noFill/>
          <a:ln/>
        </p:spPr>
        <p:txBody>
          <a:bodyPr wrap="square" rtlCol="0" anchor="t"/>
          <a:lstStyle/>
          <a:p>
            <a:pPr marL="342900" indent="-342900">
              <a:buSzPct val="100000"/>
              <a:buChar char="•"/>
            </a:pPr>
            <a:r>
              <a:rPr lang="en-US" sz="1150" dirty="0">
                <a:solidFill>
                  <a:srgbClr val="5A625C"/>
                </a:solidFill>
                <a:latin typeface="Calibri" pitchFamily="34" charset="0"/>
                <a:ea typeface="Calibri" pitchFamily="34" charset="-122"/>
                <a:cs typeface="Calibri" pitchFamily="34" charset="-120"/>
              </a:rPr>
              <a:t>• The roadmap deliberately preserves H1 and H2 bands where a quarter is not confirmed.</a:t>
            </a:r>
            <a:endParaRPr lang="en-US" sz="1150" dirty="0"/>
          </a:p>
          <a:p>
            <a:pPr marL="342900" indent="-342900">
              <a:buSzPct val="100000"/>
              <a:buChar char="•"/>
            </a:pPr>
            <a:r>
              <a:rPr lang="en-US" sz="1150" dirty="0">
                <a:solidFill>
                  <a:srgbClr val="5A625C"/>
                </a:solidFill>
                <a:latin typeface="Calibri" pitchFamily="34" charset="0"/>
                <a:ea typeface="Calibri" pitchFamily="34" charset="-122"/>
                <a:cs typeface="Calibri" pitchFamily="34" charset="-120"/>
              </a:rPr>
              <a:t>• The 2027 plan spans six interdependent products and the shared platform.</a:t>
            </a:r>
            <a:endParaRPr lang="en-US" sz="1150" dirty="0"/>
          </a:p>
          <a:p>
            <a:pPr marL="342900" indent="-342900">
              <a:buSzPct val="100000"/>
              <a:buChar char="•"/>
            </a:pPr>
            <a:r>
              <a:rPr lang="en-US" sz="1150" dirty="0">
                <a:solidFill>
                  <a:srgbClr val="5A625C"/>
                </a:solidFill>
                <a:latin typeface="Calibri" pitchFamily="34" charset="0"/>
                <a:ea typeface="Calibri" pitchFamily="34" charset="-122"/>
                <a:cs typeface="Calibri" pitchFamily="34" charset="-120"/>
              </a:rPr>
              <a:t>• Delivery confidence depends on architecture readiness, capacity and annual portfolio decisions.</a:t>
            </a:r>
            <a:endParaRPr lang="en-US" sz="1150" dirty="0"/>
          </a:p>
        </p:txBody>
      </p:sp>
      <p:sp>
        <p:nvSpPr>
          <p:cNvPr id="9" name="Text 7"/>
          <p:cNvSpPr/>
          <p:nvPr/>
        </p:nvSpPr>
        <p:spPr>
          <a:xfrm>
            <a:off x="621792" y="4251960"/>
            <a:ext cx="10948111" cy="1005840"/>
          </a:xfrm>
          <a:prstGeom prst="rect">
            <a:avLst/>
          </a:prstGeom>
          <a:noFill/>
          <a:ln/>
        </p:spPr>
        <p:txBody>
          <a:bodyPr wrap="square" rtlCol="0" anchor="t"/>
          <a:lstStyle/>
          <a:p>
            <a:pPr indent="0" marL="0">
              <a:buNone/>
            </a:pPr>
            <a:r>
              <a:rPr lang="en-US" sz="1150" i="1" dirty="0">
                <a:solidFill>
                  <a:srgbClr val="007A27"/>
                </a:solidFill>
                <a:latin typeface="Calibri" pitchFamily="34" charset="0"/>
                <a:ea typeface="Calibri" pitchFamily="34" charset="-122"/>
                <a:cs typeface="Calibri" pitchFamily="34" charset="-120"/>
              </a:rPr>
              <a:t>Implication: Manage leadership to outcomes and investment gates, not artificial quarter precision.</a:t>
            </a:r>
            <a:endParaRPr lang="en-US" sz="1150" dirty="0"/>
          </a:p>
          <a:p>
            <a:pPr indent="0" marL="0">
              <a:buNone/>
            </a:pPr>
            <a:r>
              <a:rPr lang="en-US" sz="1150" i="1" dirty="0">
                <a:solidFill>
                  <a:srgbClr val="007A27"/>
                </a:solidFill>
                <a:latin typeface="Calibri" pitchFamily="34" charset="0"/>
                <a:ea typeface="Calibri" pitchFamily="34" charset="-122"/>
                <a:cs typeface="Calibri" pitchFamily="34" charset="-120"/>
              </a:rPr>
              <a:t>Caution: Do not convert H1 or H2 commitments into quarter promises until teams confirm capacity and dependencies.</a:t>
            </a:r>
            <a:endParaRPr lang="en-US" sz="1150" dirty="0"/>
          </a:p>
        </p:txBody>
      </p:sp>
      <p:sp>
        <p:nvSpPr>
          <p:cNvPr id="10" name="Text 8"/>
          <p:cNvSpPr/>
          <p:nvPr/>
        </p:nvSpPr>
        <p:spPr>
          <a:xfrm>
            <a:off x="621792" y="6629400"/>
            <a:ext cx="5486400" cy="219456"/>
          </a:xfrm>
          <a:prstGeom prst="rect">
            <a:avLst/>
          </a:prstGeom>
          <a:noFill/>
          <a:ln/>
        </p:spPr>
        <p:txBody>
          <a:bodyPr wrap="square" rtlCol="0" anchor="ctr"/>
          <a:lstStyle/>
          <a:p>
            <a:pPr indent="0" marL="0">
              <a:buNone/>
            </a:pPr>
            <a:r>
              <a:rPr lang="en-US" sz="850" dirty="0">
                <a:solidFill>
                  <a:srgbClr val="5A625C"/>
                </a:solidFill>
                <a:latin typeface="Calibri" pitchFamily="34" charset="0"/>
                <a:ea typeface="Calibri" pitchFamily="34" charset="-122"/>
                <a:cs typeface="Calibri" pitchFamily="34" charset="-120"/>
              </a:rPr>
              <a:t>RA+ Strategy &amp; Roadmap · Confidential</a:t>
            </a:r>
            <a:endParaRPr lang="en-US" sz="850" dirty="0"/>
          </a:p>
        </p:txBody>
      </p:sp>
      <p:sp>
        <p:nvSpPr>
          <p:cNvPr id="11" name="Text 9"/>
          <p:cNvSpPr/>
          <p:nvPr/>
        </p:nvSpPr>
        <p:spPr>
          <a:xfrm>
            <a:off x="10655503" y="6629400"/>
            <a:ext cx="914400" cy="219456"/>
          </a:xfrm>
          <a:prstGeom prst="rect">
            <a:avLst/>
          </a:prstGeom>
          <a:noFill/>
          <a:ln/>
        </p:spPr>
        <p:txBody>
          <a:bodyPr wrap="square" rtlCol="0" anchor="ctr"/>
          <a:lstStyle/>
          <a:p>
            <a:pPr algn="r" indent="0" marL="0">
              <a:buNone/>
            </a:pPr>
            <a:r>
              <a:rPr lang="en-US" sz="850" dirty="0">
                <a:solidFill>
                  <a:srgbClr val="5A625C"/>
                </a:solidFill>
                <a:latin typeface="Calibri" pitchFamily="34" charset="0"/>
                <a:ea typeface="Calibri" pitchFamily="34" charset="-122"/>
                <a:cs typeface="Calibri" pitchFamily="34" charset="-120"/>
              </a:rPr>
              <a:t>4 / 28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239012"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786384" y="329184"/>
            <a:ext cx="946404" cy="256032"/>
          </a:xfrm>
          <a:prstGeom prst="rect">
            <a:avLst/>
          </a:prstGeom>
          <a:noFill/>
          <a:ln/>
        </p:spPr>
        <p:txBody>
          <a:bodyPr wrap="none" rtlCol="0" anchor="ctr"/>
          <a:lstStyle/>
          <a:p>
            <a:pPr indent="0" marL="0">
              <a:buNone/>
            </a:pPr>
            <a:r>
              <a:rPr lang="en-US" sz="950" b="1" dirty="0">
                <a:solidFill>
                  <a:srgbClr val="007A27"/>
                </a:solidFill>
                <a:latin typeface="Calibri" pitchFamily="34" charset="0"/>
                <a:ea typeface="Calibri" pitchFamily="34" charset="-122"/>
                <a:cs typeface="Calibri" pitchFamily="34" charset="-120"/>
              </a:rPr>
              <a:t>ROADMAP</a:t>
            </a:r>
            <a:endParaRPr lang="en-US" sz="950" dirty="0"/>
          </a:p>
        </p:txBody>
      </p:sp>
      <p:sp>
        <p:nvSpPr>
          <p:cNvPr id="6" name="Text 4"/>
          <p:cNvSpPr/>
          <p:nvPr/>
        </p:nvSpPr>
        <p:spPr>
          <a:xfrm>
            <a:off x="621792" y="768096"/>
            <a:ext cx="10948111" cy="822960"/>
          </a:xfrm>
          <a:prstGeom prst="rect">
            <a:avLst/>
          </a:prstGeom>
          <a:noFill/>
          <a:ln/>
        </p:spPr>
        <p:txBody>
          <a:bodyPr wrap="square" rtlCol="0" anchor="t">
            <a:normAutofit/>
          </a:bodyPr>
          <a:lstStyle/>
          <a:p>
            <a:pPr indent="0" marL="0">
              <a:buNone/>
            </a:pPr>
            <a:r>
              <a:rPr lang="en-US" sz="2800" b="1" dirty="0">
                <a:solidFill>
                  <a:srgbClr val="1E2420"/>
                </a:solidFill>
                <a:latin typeface="Calibri" pitchFamily="34" charset="0"/>
                <a:ea typeface="Calibri" pitchFamily="34" charset="-122"/>
                <a:cs typeface="Calibri" pitchFamily="34" charset="-120"/>
              </a:rPr>
              <a:t>What are the critical dependencies?</a:t>
            </a:r>
            <a:endParaRPr lang="en-US" sz="2800" dirty="0"/>
          </a:p>
        </p:txBody>
      </p:sp>
      <p:sp>
        <p:nvSpPr>
          <p:cNvPr id="7" name="Text 5"/>
          <p:cNvSpPr/>
          <p:nvPr/>
        </p:nvSpPr>
        <p:spPr>
          <a:xfrm>
            <a:off x="621792" y="1691640"/>
            <a:ext cx="10948111" cy="868680"/>
          </a:xfrm>
          <a:prstGeom prst="rect">
            <a:avLst/>
          </a:prstGeom>
          <a:noFill/>
          <a:ln/>
        </p:spPr>
        <p:txBody>
          <a:bodyPr wrap="square" rtlCol="0" anchor="t"/>
          <a:lstStyle/>
          <a:p>
            <a:pPr indent="0" marL="0">
              <a:buNone/>
            </a:pPr>
            <a:r>
              <a:rPr lang="en-US" sz="1300" dirty="0">
                <a:solidFill>
                  <a:srgbClr val="1E2420"/>
                </a:solidFill>
                <a:latin typeface="Calibri" pitchFamily="34" charset="0"/>
                <a:ea typeface="Calibri" pitchFamily="34" charset="-122"/>
                <a:cs typeface="Calibri" pitchFamily="34" charset="-120"/>
              </a:rPr>
              <a:t>The shared data spine, ontology, calculation governance and evidence lineage are the common path for every product outcome.</a:t>
            </a:r>
            <a:endParaRPr lang="en-US" sz="1300" dirty="0"/>
          </a:p>
        </p:txBody>
      </p:sp>
      <p:sp>
        <p:nvSpPr>
          <p:cNvPr id="8" name="Text 6"/>
          <p:cNvSpPr/>
          <p:nvPr/>
        </p:nvSpPr>
        <p:spPr>
          <a:xfrm>
            <a:off x="713232" y="2697480"/>
            <a:ext cx="10765231" cy="1371600"/>
          </a:xfrm>
          <a:prstGeom prst="rect">
            <a:avLst/>
          </a:prstGeom>
          <a:noFill/>
          <a:ln/>
        </p:spPr>
        <p:txBody>
          <a:bodyPr wrap="square" rtlCol="0" anchor="t"/>
          <a:lstStyle/>
          <a:p>
            <a:pPr marL="342900" indent="-342900">
              <a:buSzPct val="100000"/>
              <a:buChar char="•"/>
            </a:pPr>
            <a:r>
              <a:rPr lang="en-US" sz="1150" dirty="0">
                <a:solidFill>
                  <a:srgbClr val="5A625C"/>
                </a:solidFill>
                <a:latin typeface="Calibri" pitchFamily="34" charset="0"/>
                <a:ea typeface="Calibri" pitchFamily="34" charset="-122"/>
                <a:cs typeface="Calibri" pitchFamily="34" charset="-120"/>
              </a:rPr>
              <a:t>• Carbon Performance provides the trusted inventory consumed across the portfolio.</a:t>
            </a:r>
            <a:endParaRPr lang="en-US" sz="1150" dirty="0"/>
          </a:p>
          <a:p>
            <a:pPr marL="342900" indent="-342900">
              <a:buSzPct val="100000"/>
              <a:buChar char="•"/>
            </a:pPr>
            <a:r>
              <a:rPr lang="en-US" sz="1150" dirty="0">
                <a:solidFill>
                  <a:srgbClr val="5A625C"/>
                </a:solidFill>
                <a:latin typeface="Calibri" pitchFamily="34" charset="0"/>
                <a:ea typeface="Calibri" pitchFamily="34" charset="-122"/>
                <a:cs typeface="Calibri" pitchFamily="34" charset="-120"/>
              </a:rPr>
              <a:t>• Supply Chain feeds supplier and product data into that inventory.</a:t>
            </a:r>
            <a:endParaRPr lang="en-US" sz="1150" dirty="0"/>
          </a:p>
          <a:p>
            <a:pPr marL="342900" indent="-342900">
              <a:buSzPct val="100000"/>
              <a:buChar char="•"/>
            </a:pPr>
            <a:r>
              <a:rPr lang="en-US" sz="1150" dirty="0">
                <a:solidFill>
                  <a:srgbClr val="5A625C"/>
                </a:solidFill>
                <a:latin typeface="Calibri" pitchFamily="34" charset="0"/>
                <a:ea typeface="Calibri" pitchFamily="34" charset="-122"/>
                <a:cs typeface="Calibri" pitchFamily="34" charset="-120"/>
              </a:rPr>
              <a:t>• Reporting, Climate Risk and decarbonization planning depend on consistent hierarchies, indicators and calculations.</a:t>
            </a:r>
            <a:endParaRPr lang="en-US" sz="1150" dirty="0"/>
          </a:p>
        </p:txBody>
      </p:sp>
      <p:sp>
        <p:nvSpPr>
          <p:cNvPr id="9" name="Text 7"/>
          <p:cNvSpPr/>
          <p:nvPr/>
        </p:nvSpPr>
        <p:spPr>
          <a:xfrm>
            <a:off x="621792" y="4251960"/>
            <a:ext cx="10948111" cy="1005840"/>
          </a:xfrm>
          <a:prstGeom prst="rect">
            <a:avLst/>
          </a:prstGeom>
          <a:noFill/>
          <a:ln/>
        </p:spPr>
        <p:txBody>
          <a:bodyPr wrap="square" rtlCol="0" anchor="t"/>
          <a:lstStyle/>
          <a:p>
            <a:pPr indent="0" marL="0">
              <a:buNone/>
            </a:pPr>
            <a:r>
              <a:rPr lang="en-US" sz="1150" i="1" dirty="0">
                <a:solidFill>
                  <a:srgbClr val="007A27"/>
                </a:solidFill>
                <a:latin typeface="Calibri" pitchFamily="34" charset="0"/>
                <a:ea typeface="Calibri" pitchFamily="34" charset="-122"/>
                <a:cs typeface="Calibri" pitchFamily="34" charset="-120"/>
              </a:rPr>
              <a:t>Implication: Treat Core Platform capacity as portfolio capacity, not overhead that can be traded away product by product.</a:t>
            </a:r>
            <a:endParaRPr lang="en-US" sz="1150" dirty="0"/>
          </a:p>
        </p:txBody>
      </p:sp>
      <p:sp>
        <p:nvSpPr>
          <p:cNvPr id="10" name="Text 8"/>
          <p:cNvSpPr/>
          <p:nvPr/>
        </p:nvSpPr>
        <p:spPr>
          <a:xfrm>
            <a:off x="621792" y="6629400"/>
            <a:ext cx="5486400" cy="219456"/>
          </a:xfrm>
          <a:prstGeom prst="rect">
            <a:avLst/>
          </a:prstGeom>
          <a:noFill/>
          <a:ln/>
        </p:spPr>
        <p:txBody>
          <a:bodyPr wrap="square" rtlCol="0" anchor="ctr"/>
          <a:lstStyle/>
          <a:p>
            <a:pPr indent="0" marL="0">
              <a:buNone/>
            </a:pPr>
            <a:r>
              <a:rPr lang="en-US" sz="850" dirty="0">
                <a:solidFill>
                  <a:srgbClr val="5A625C"/>
                </a:solidFill>
                <a:latin typeface="Calibri" pitchFamily="34" charset="0"/>
                <a:ea typeface="Calibri" pitchFamily="34" charset="-122"/>
                <a:cs typeface="Calibri" pitchFamily="34" charset="-120"/>
              </a:rPr>
              <a:t>RA+ Strategy &amp; Roadmap · Confidential</a:t>
            </a:r>
            <a:endParaRPr lang="en-US" sz="850" dirty="0"/>
          </a:p>
        </p:txBody>
      </p:sp>
      <p:sp>
        <p:nvSpPr>
          <p:cNvPr id="11" name="Text 9"/>
          <p:cNvSpPr/>
          <p:nvPr/>
        </p:nvSpPr>
        <p:spPr>
          <a:xfrm>
            <a:off x="10655503" y="6629400"/>
            <a:ext cx="914400" cy="219456"/>
          </a:xfrm>
          <a:prstGeom prst="rect">
            <a:avLst/>
          </a:prstGeom>
          <a:noFill/>
          <a:ln/>
        </p:spPr>
        <p:txBody>
          <a:bodyPr wrap="square" rtlCol="0" anchor="ctr"/>
          <a:lstStyle/>
          <a:p>
            <a:pPr algn="r" indent="0" marL="0">
              <a:buNone/>
            </a:pPr>
            <a:r>
              <a:rPr lang="en-US" sz="850" dirty="0">
                <a:solidFill>
                  <a:srgbClr val="5A625C"/>
                </a:solidFill>
                <a:latin typeface="Calibri" pitchFamily="34" charset="0"/>
                <a:ea typeface="Calibri" pitchFamily="34" charset="-122"/>
                <a:cs typeface="Calibri" pitchFamily="34" charset="-120"/>
              </a:rPr>
              <a:t>5 / 28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239012"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786384" y="329184"/>
            <a:ext cx="946404" cy="256032"/>
          </a:xfrm>
          <a:prstGeom prst="rect">
            <a:avLst/>
          </a:prstGeom>
          <a:noFill/>
          <a:ln/>
        </p:spPr>
        <p:txBody>
          <a:bodyPr wrap="none" rtlCol="0" anchor="ctr"/>
          <a:lstStyle/>
          <a:p>
            <a:pPr indent="0" marL="0">
              <a:buNone/>
            </a:pPr>
            <a:r>
              <a:rPr lang="en-US" sz="950" b="1" dirty="0">
                <a:solidFill>
                  <a:srgbClr val="007A27"/>
                </a:solidFill>
                <a:latin typeface="Calibri" pitchFamily="34" charset="0"/>
                <a:ea typeface="Calibri" pitchFamily="34" charset="-122"/>
                <a:cs typeface="Calibri" pitchFamily="34" charset="-120"/>
              </a:rPr>
              <a:t>ROADMAP</a:t>
            </a:r>
            <a:endParaRPr lang="en-US" sz="950" dirty="0"/>
          </a:p>
        </p:txBody>
      </p:sp>
      <p:sp>
        <p:nvSpPr>
          <p:cNvPr id="6" name="Text 4"/>
          <p:cNvSpPr/>
          <p:nvPr/>
        </p:nvSpPr>
        <p:spPr>
          <a:xfrm>
            <a:off x="621792" y="768096"/>
            <a:ext cx="10948111" cy="822960"/>
          </a:xfrm>
          <a:prstGeom prst="rect">
            <a:avLst/>
          </a:prstGeom>
          <a:noFill/>
          <a:ln/>
        </p:spPr>
        <p:txBody>
          <a:bodyPr wrap="square" rtlCol="0" anchor="t">
            <a:normAutofit/>
          </a:bodyPr>
          <a:lstStyle/>
          <a:p>
            <a:pPr indent="0" marL="0">
              <a:buNone/>
            </a:pPr>
            <a:r>
              <a:rPr lang="en-US" sz="2800" b="1" dirty="0">
                <a:solidFill>
                  <a:srgbClr val="1E2420"/>
                </a:solidFill>
                <a:latin typeface="Calibri" pitchFamily="34" charset="0"/>
                <a:ea typeface="Calibri" pitchFamily="34" charset="-122"/>
                <a:cs typeface="Calibri" pitchFamily="34" charset="-120"/>
              </a:rPr>
              <a:t>What does success look like by the end of 2027?</a:t>
            </a:r>
            <a:endParaRPr lang="en-US" sz="2800" dirty="0"/>
          </a:p>
        </p:txBody>
      </p:sp>
      <p:sp>
        <p:nvSpPr>
          <p:cNvPr id="7" name="Text 5"/>
          <p:cNvSpPr/>
          <p:nvPr/>
        </p:nvSpPr>
        <p:spPr>
          <a:xfrm>
            <a:off x="621792" y="1691640"/>
            <a:ext cx="10948111" cy="868680"/>
          </a:xfrm>
          <a:prstGeom prst="rect">
            <a:avLst/>
          </a:prstGeom>
          <a:noFill/>
          <a:ln/>
        </p:spPr>
        <p:txBody>
          <a:bodyPr wrap="square" rtlCol="0" anchor="t"/>
          <a:lstStyle/>
          <a:p>
            <a:pPr indent="0" marL="0">
              <a:buNone/>
            </a:pPr>
            <a:r>
              <a:rPr lang="en-US" sz="1300" dirty="0">
                <a:solidFill>
                  <a:srgbClr val="1E2420"/>
                </a:solidFill>
                <a:latin typeface="Calibri" pitchFamily="34" charset="0"/>
                <a:ea typeface="Calibri" pitchFamily="34" charset="-122"/>
                <a:cs typeface="Calibri" pitchFamily="34" charset="-120"/>
              </a:rPr>
              <a:t>A client can move from trusted data to action and disclosure without rebuilding context between products.</a:t>
            </a:r>
            <a:endParaRPr lang="en-US" sz="1300" dirty="0"/>
          </a:p>
        </p:txBody>
      </p:sp>
      <p:sp>
        <p:nvSpPr>
          <p:cNvPr id="8" name="Text 6"/>
          <p:cNvSpPr/>
          <p:nvPr/>
        </p:nvSpPr>
        <p:spPr>
          <a:xfrm>
            <a:off x="713232" y="2697480"/>
            <a:ext cx="10765231" cy="1371600"/>
          </a:xfrm>
          <a:prstGeom prst="rect">
            <a:avLst/>
          </a:prstGeom>
          <a:noFill/>
          <a:ln/>
        </p:spPr>
        <p:txBody>
          <a:bodyPr wrap="square" rtlCol="0" anchor="t"/>
          <a:lstStyle/>
          <a:p>
            <a:pPr marL="342900" indent="-342900">
              <a:buSzPct val="100000"/>
              <a:buChar char="•"/>
            </a:pPr>
            <a:r>
              <a:rPr lang="en-US" sz="1150" dirty="0">
                <a:solidFill>
                  <a:srgbClr val="5A625C"/>
                </a:solidFill>
                <a:latin typeface="Calibri" pitchFamily="34" charset="0"/>
                <a:ea typeface="Calibri" pitchFamily="34" charset="-122"/>
                <a:cs typeface="Calibri" pitchFamily="34" charset="-120"/>
              </a:rPr>
              <a:t>• A consultant-grade, AI-assisted inventory across Scope 1, 2 and 3.</a:t>
            </a:r>
            <a:endParaRPr lang="en-US" sz="1150" dirty="0"/>
          </a:p>
          <a:p>
            <a:pPr marL="342900" indent="-342900">
              <a:buSzPct val="100000"/>
              <a:buChar char="•"/>
            </a:pPr>
            <a:r>
              <a:rPr lang="en-US" sz="1150" dirty="0">
                <a:solidFill>
                  <a:srgbClr val="5A625C"/>
                </a:solidFill>
                <a:latin typeface="Calibri" pitchFamily="34" charset="0"/>
                <a:ea typeface="Calibri" pitchFamily="34" charset="-122"/>
                <a:cs typeface="Calibri" pitchFamily="34" charset="-120"/>
              </a:rPr>
              <a:t>• Supplier engagement, product carbon footprint and broader value-chain visibility.</a:t>
            </a:r>
            <a:endParaRPr lang="en-US" sz="1150" dirty="0"/>
          </a:p>
          <a:p>
            <a:pPr marL="342900" indent="-342900">
              <a:buSzPct val="100000"/>
              <a:buChar char="•"/>
            </a:pPr>
            <a:r>
              <a:rPr lang="en-US" sz="1150" dirty="0">
                <a:solidFill>
                  <a:srgbClr val="5A625C"/>
                </a:solidFill>
                <a:latin typeface="Calibri" pitchFamily="34" charset="0"/>
                <a:ea typeface="Calibri" pitchFamily="34" charset="-122"/>
                <a:cs typeface="Calibri" pitchFamily="34" charset="-120"/>
              </a:rPr>
              <a:t>• Audit-ready disclosure, financially expressed climate risk and governed action plans.</a:t>
            </a:r>
            <a:endParaRPr lang="en-US" sz="1150" dirty="0"/>
          </a:p>
        </p:txBody>
      </p:sp>
      <p:sp>
        <p:nvSpPr>
          <p:cNvPr id="9" name="Text 7"/>
          <p:cNvSpPr/>
          <p:nvPr/>
        </p:nvSpPr>
        <p:spPr>
          <a:xfrm>
            <a:off x="621792" y="4251960"/>
            <a:ext cx="10948111" cy="1005840"/>
          </a:xfrm>
          <a:prstGeom prst="rect">
            <a:avLst/>
          </a:prstGeom>
          <a:noFill/>
          <a:ln/>
        </p:spPr>
        <p:txBody>
          <a:bodyPr wrap="square" rtlCol="0" anchor="t"/>
          <a:lstStyle/>
          <a:p>
            <a:pPr indent="0" marL="0">
              <a:buNone/>
            </a:pPr>
            <a:r>
              <a:rPr lang="en-US" sz="1150" i="1" dirty="0">
                <a:solidFill>
                  <a:srgbClr val="007A27"/>
                </a:solidFill>
                <a:latin typeface="Calibri" pitchFamily="34" charset="0"/>
                <a:ea typeface="Calibri" pitchFamily="34" charset="-122"/>
                <a:cs typeface="Calibri" pitchFamily="34" charset="-120"/>
              </a:rPr>
              <a:t>Implication: The winning outcome is an end-to-end client journey, not six isolated feature lists.</a:t>
            </a:r>
            <a:endParaRPr lang="en-US" sz="1150" dirty="0"/>
          </a:p>
        </p:txBody>
      </p:sp>
      <p:sp>
        <p:nvSpPr>
          <p:cNvPr id="10" name="Text 8"/>
          <p:cNvSpPr/>
          <p:nvPr/>
        </p:nvSpPr>
        <p:spPr>
          <a:xfrm>
            <a:off x="621792" y="6629400"/>
            <a:ext cx="5486400" cy="219456"/>
          </a:xfrm>
          <a:prstGeom prst="rect">
            <a:avLst/>
          </a:prstGeom>
          <a:noFill/>
          <a:ln/>
        </p:spPr>
        <p:txBody>
          <a:bodyPr wrap="square" rtlCol="0" anchor="ctr"/>
          <a:lstStyle/>
          <a:p>
            <a:pPr indent="0" marL="0">
              <a:buNone/>
            </a:pPr>
            <a:r>
              <a:rPr lang="en-US" sz="850" dirty="0">
                <a:solidFill>
                  <a:srgbClr val="5A625C"/>
                </a:solidFill>
                <a:latin typeface="Calibri" pitchFamily="34" charset="0"/>
                <a:ea typeface="Calibri" pitchFamily="34" charset="-122"/>
                <a:cs typeface="Calibri" pitchFamily="34" charset="-120"/>
              </a:rPr>
              <a:t>RA+ Strategy &amp; Roadmap · Confidential</a:t>
            </a:r>
            <a:endParaRPr lang="en-US" sz="850" dirty="0"/>
          </a:p>
        </p:txBody>
      </p:sp>
      <p:sp>
        <p:nvSpPr>
          <p:cNvPr id="11" name="Text 9"/>
          <p:cNvSpPr/>
          <p:nvPr/>
        </p:nvSpPr>
        <p:spPr>
          <a:xfrm>
            <a:off x="10655503" y="6629400"/>
            <a:ext cx="914400" cy="219456"/>
          </a:xfrm>
          <a:prstGeom prst="rect">
            <a:avLst/>
          </a:prstGeom>
          <a:noFill/>
          <a:ln/>
        </p:spPr>
        <p:txBody>
          <a:bodyPr wrap="square" rtlCol="0" anchor="ctr"/>
          <a:lstStyle/>
          <a:p>
            <a:pPr algn="r" indent="0" marL="0">
              <a:buNone/>
            </a:pPr>
            <a:r>
              <a:rPr lang="en-US" sz="850" dirty="0">
                <a:solidFill>
                  <a:srgbClr val="5A625C"/>
                </a:solidFill>
                <a:latin typeface="Calibri" pitchFamily="34" charset="0"/>
                <a:ea typeface="Calibri" pitchFamily="34" charset="-122"/>
                <a:cs typeface="Calibri" pitchFamily="34" charset="-120"/>
              </a:rPr>
              <a:t>6 / 28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2468880"/>
            <a:ext cx="2560320" cy="457200"/>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22960" y="2514600"/>
            <a:ext cx="2286000" cy="365760"/>
          </a:xfrm>
          <a:prstGeom prst="rect">
            <a:avLst/>
          </a:prstGeom>
          <a:noFill/>
          <a:ln/>
        </p:spPr>
        <p:txBody>
          <a:bodyPr wrap="square" rtlCol="0" anchor="ctr"/>
          <a:lstStyle/>
          <a:p>
            <a:pPr indent="0" marL="0">
              <a:buNone/>
            </a:pPr>
            <a:r>
              <a:rPr lang="en-US" sz="1400" b="1" dirty="0">
                <a:solidFill>
                  <a:srgbClr val="007A27"/>
                </a:solidFill>
                <a:latin typeface="Calibri" pitchFamily="34" charset="0"/>
                <a:ea typeface="Calibri" pitchFamily="34" charset="-122"/>
                <a:cs typeface="Calibri" pitchFamily="34" charset="-120"/>
              </a:rPr>
              <a:t>COMPETITION</a:t>
            </a:r>
            <a:endParaRPr lang="en-US" sz="1400" dirty="0"/>
          </a:p>
        </p:txBody>
      </p:sp>
      <p:sp>
        <p:nvSpPr>
          <p:cNvPr id="6" name="Text 4"/>
          <p:cNvSpPr/>
          <p:nvPr/>
        </p:nvSpPr>
        <p:spPr>
          <a:xfrm>
            <a:off x="621792" y="3200400"/>
            <a:ext cx="10948111" cy="731520"/>
          </a:xfrm>
          <a:prstGeom prst="rect">
            <a:avLst/>
          </a:prstGeom>
          <a:noFill/>
          <a:ln/>
        </p:spPr>
        <p:txBody>
          <a:bodyPr wrap="square" rtlCol="0" anchor="t"/>
          <a:lstStyle/>
          <a:p>
            <a:pPr indent="0" marL="0">
              <a:buNone/>
            </a:pPr>
            <a:r>
              <a:rPr lang="en-US" sz="4000" b="1" dirty="0">
                <a:solidFill>
                  <a:srgbClr val="1E2420"/>
                </a:solidFill>
                <a:latin typeface="Calibri" pitchFamily="34" charset="0"/>
                <a:ea typeface="Calibri" pitchFamily="34" charset="-122"/>
                <a:cs typeface="Calibri" pitchFamily="34" charset="-120"/>
              </a:rPr>
              <a:t>Leadership Q&amp;A</a:t>
            </a:r>
            <a:endParaRPr lang="en-US" sz="4000" dirty="0"/>
          </a:p>
        </p:txBody>
      </p:sp>
      <p:sp>
        <p:nvSpPr>
          <p:cNvPr id="7" name="Text 5"/>
          <p:cNvSpPr/>
          <p:nvPr/>
        </p:nvSpPr>
        <p:spPr>
          <a:xfrm>
            <a:off x="621792" y="6629400"/>
            <a:ext cx="5486400" cy="219456"/>
          </a:xfrm>
          <a:prstGeom prst="rect">
            <a:avLst/>
          </a:prstGeom>
          <a:noFill/>
          <a:ln/>
        </p:spPr>
        <p:txBody>
          <a:bodyPr wrap="square" rtlCol="0" anchor="ctr"/>
          <a:lstStyle/>
          <a:p>
            <a:pPr indent="0" marL="0">
              <a:buNone/>
            </a:pPr>
            <a:r>
              <a:rPr lang="en-US" sz="850" dirty="0">
                <a:solidFill>
                  <a:srgbClr val="5A625C"/>
                </a:solidFill>
                <a:latin typeface="Calibri" pitchFamily="34" charset="0"/>
                <a:ea typeface="Calibri" pitchFamily="34" charset="-122"/>
                <a:cs typeface="Calibri" pitchFamily="34" charset="-120"/>
              </a:rPr>
              <a:t>RA+ Strategy &amp; Roadmap · Confidential</a:t>
            </a:r>
            <a:endParaRPr lang="en-US" sz="850" dirty="0"/>
          </a:p>
        </p:txBody>
      </p:sp>
      <p:sp>
        <p:nvSpPr>
          <p:cNvPr id="8" name="Text 6"/>
          <p:cNvSpPr/>
          <p:nvPr/>
        </p:nvSpPr>
        <p:spPr>
          <a:xfrm>
            <a:off x="10655503" y="6629400"/>
            <a:ext cx="914400" cy="219456"/>
          </a:xfrm>
          <a:prstGeom prst="rect">
            <a:avLst/>
          </a:prstGeom>
          <a:noFill/>
          <a:ln/>
        </p:spPr>
        <p:txBody>
          <a:bodyPr wrap="square" rtlCol="0" anchor="ctr"/>
          <a:lstStyle/>
          <a:p>
            <a:pPr algn="r" indent="0" marL="0">
              <a:buNone/>
            </a:pPr>
            <a:r>
              <a:rPr lang="en-US" sz="850" dirty="0">
                <a:solidFill>
                  <a:srgbClr val="5A625C"/>
                </a:solidFill>
                <a:latin typeface="Calibri" pitchFamily="34" charset="0"/>
                <a:ea typeface="Calibri" pitchFamily="34" charset="-122"/>
                <a:cs typeface="Calibri" pitchFamily="34" charset="-120"/>
              </a:rPr>
              <a:t>7 / 28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659636"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786384" y="329184"/>
            <a:ext cx="1367028" cy="256032"/>
          </a:xfrm>
          <a:prstGeom prst="rect">
            <a:avLst/>
          </a:prstGeom>
          <a:noFill/>
          <a:ln/>
        </p:spPr>
        <p:txBody>
          <a:bodyPr wrap="none" rtlCol="0" anchor="ctr"/>
          <a:lstStyle/>
          <a:p>
            <a:pPr indent="0" marL="0">
              <a:buNone/>
            </a:pPr>
            <a:r>
              <a:rPr lang="en-US" sz="950" b="1" dirty="0">
                <a:solidFill>
                  <a:srgbClr val="007A27"/>
                </a:solidFill>
                <a:latin typeface="Calibri" pitchFamily="34" charset="0"/>
                <a:ea typeface="Calibri" pitchFamily="34" charset="-122"/>
                <a:cs typeface="Calibri" pitchFamily="34" charset="-120"/>
              </a:rPr>
              <a:t>COMPETITION</a:t>
            </a:r>
            <a:endParaRPr lang="en-US" sz="950" dirty="0"/>
          </a:p>
        </p:txBody>
      </p:sp>
      <p:sp>
        <p:nvSpPr>
          <p:cNvPr id="6" name="Text 4"/>
          <p:cNvSpPr/>
          <p:nvPr/>
        </p:nvSpPr>
        <p:spPr>
          <a:xfrm>
            <a:off x="621792" y="768096"/>
            <a:ext cx="10948111" cy="822960"/>
          </a:xfrm>
          <a:prstGeom prst="rect">
            <a:avLst/>
          </a:prstGeom>
          <a:noFill/>
          <a:ln/>
        </p:spPr>
        <p:txBody>
          <a:bodyPr wrap="square" rtlCol="0" anchor="t">
            <a:normAutofit/>
          </a:bodyPr>
          <a:lstStyle/>
          <a:p>
            <a:pPr indent="0" marL="0">
              <a:buNone/>
            </a:pPr>
            <a:r>
              <a:rPr lang="en-US" sz="2800" b="1" dirty="0">
                <a:solidFill>
                  <a:srgbClr val="1E2420"/>
                </a:solidFill>
                <a:latin typeface="Calibri" pitchFamily="34" charset="0"/>
                <a:ea typeface="Calibri" pitchFamily="34" charset="-122"/>
                <a:cs typeface="Calibri" pitchFamily="34" charset="-120"/>
              </a:rPr>
              <a:t>Where can RA+ credibly win?</a:t>
            </a:r>
            <a:endParaRPr lang="en-US" sz="2800" dirty="0"/>
          </a:p>
        </p:txBody>
      </p:sp>
      <p:sp>
        <p:nvSpPr>
          <p:cNvPr id="7" name="Text 5"/>
          <p:cNvSpPr/>
          <p:nvPr/>
        </p:nvSpPr>
        <p:spPr>
          <a:xfrm>
            <a:off x="621792" y="1691640"/>
            <a:ext cx="10948111" cy="868680"/>
          </a:xfrm>
          <a:prstGeom prst="rect">
            <a:avLst/>
          </a:prstGeom>
          <a:noFill/>
          <a:ln/>
        </p:spPr>
        <p:txBody>
          <a:bodyPr wrap="square" rtlCol="0" anchor="t"/>
          <a:lstStyle/>
          <a:p>
            <a:pPr indent="0" marL="0">
              <a:buNone/>
            </a:pPr>
            <a:r>
              <a:rPr lang="en-US" sz="1300" dirty="0">
                <a:solidFill>
                  <a:srgbClr val="1E2420"/>
                </a:solidFill>
                <a:latin typeface="Calibri" pitchFamily="34" charset="0"/>
                <a:ea typeface="Calibri" pitchFamily="34" charset="-122"/>
                <a:cs typeface="Calibri" pitchFamily="34" charset="-120"/>
              </a:rPr>
              <a:t>Where clients value one accountable platform across sustainability, energy and efficiency, supported by Schneider scale and advisory depth.</a:t>
            </a:r>
            <a:endParaRPr lang="en-US" sz="1300" dirty="0"/>
          </a:p>
        </p:txBody>
      </p:sp>
      <p:sp>
        <p:nvSpPr>
          <p:cNvPr id="8" name="Text 6"/>
          <p:cNvSpPr/>
          <p:nvPr/>
        </p:nvSpPr>
        <p:spPr>
          <a:xfrm>
            <a:off x="713232" y="2697480"/>
            <a:ext cx="10765231" cy="1371600"/>
          </a:xfrm>
          <a:prstGeom prst="rect">
            <a:avLst/>
          </a:prstGeom>
          <a:noFill/>
          <a:ln/>
        </p:spPr>
        <p:txBody>
          <a:bodyPr wrap="square" rtlCol="0" anchor="t"/>
          <a:lstStyle/>
          <a:p>
            <a:pPr marL="342900" indent="-342900">
              <a:buSzPct val="100000"/>
              <a:buChar char="•"/>
            </a:pPr>
            <a:r>
              <a:rPr lang="en-US" sz="1150" dirty="0">
                <a:solidFill>
                  <a:srgbClr val="5A625C"/>
                </a:solidFill>
                <a:latin typeface="Calibri" pitchFamily="34" charset="0"/>
                <a:ea typeface="Calibri" pitchFamily="34" charset="-122"/>
                <a:cs typeface="Calibri" pitchFamily="34" charset="-120"/>
              </a:rPr>
              <a:t>• RA+ spans carbon, supply chain, reporting, climate risk, energy and efficiency.</a:t>
            </a:r>
            <a:endParaRPr lang="en-US" sz="1150" dirty="0"/>
          </a:p>
          <a:p>
            <a:pPr marL="342900" indent="-342900">
              <a:buSzPct val="100000"/>
              <a:buChar char="•"/>
            </a:pPr>
            <a:r>
              <a:rPr lang="en-US" sz="1150" dirty="0">
                <a:solidFill>
                  <a:srgbClr val="5A625C"/>
                </a:solidFill>
                <a:latin typeface="Calibri" pitchFamily="34" charset="0"/>
                <a:ea typeface="Calibri" pitchFamily="34" charset="-122"/>
                <a:cs typeface="Calibri" pitchFamily="34" charset="-120"/>
              </a:rPr>
              <a:t>• One data spine reduces reconciliation between products and reporting cycles.</a:t>
            </a:r>
            <a:endParaRPr lang="en-US" sz="1150" dirty="0"/>
          </a:p>
          <a:p>
            <a:pPr marL="342900" indent="-342900">
              <a:buSzPct val="100000"/>
              <a:buChar char="•"/>
            </a:pPr>
            <a:r>
              <a:rPr lang="en-US" sz="1150" dirty="0">
                <a:solidFill>
                  <a:srgbClr val="5A625C"/>
                </a:solidFill>
                <a:latin typeface="Calibri" pitchFamily="34" charset="0"/>
                <a:ea typeface="Calibri" pitchFamily="34" charset="-122"/>
                <a:cs typeface="Calibri" pitchFamily="34" charset="-120"/>
              </a:rPr>
              <a:t>• Shared calculations, evidence and workflows create a total-cost argument beyond license price.</a:t>
            </a:r>
            <a:endParaRPr lang="en-US" sz="1150" dirty="0"/>
          </a:p>
        </p:txBody>
      </p:sp>
      <p:sp>
        <p:nvSpPr>
          <p:cNvPr id="9" name="Text 7"/>
          <p:cNvSpPr/>
          <p:nvPr/>
        </p:nvSpPr>
        <p:spPr>
          <a:xfrm>
            <a:off x="621792" y="4251960"/>
            <a:ext cx="10948111" cy="1005840"/>
          </a:xfrm>
          <a:prstGeom prst="rect">
            <a:avLst/>
          </a:prstGeom>
          <a:noFill/>
          <a:ln/>
        </p:spPr>
        <p:txBody>
          <a:bodyPr wrap="square" rtlCol="0" anchor="t"/>
          <a:lstStyle/>
          <a:p>
            <a:pPr indent="0" marL="0">
              <a:buNone/>
            </a:pPr>
            <a:r>
              <a:rPr lang="en-US" sz="1150" i="1" dirty="0">
                <a:solidFill>
                  <a:srgbClr val="007A27"/>
                </a:solidFill>
                <a:latin typeface="Calibri" pitchFamily="34" charset="0"/>
                <a:ea typeface="Calibri" pitchFamily="34" charset="-122"/>
                <a:cs typeface="Calibri" pitchFamily="34" charset="-120"/>
              </a:rPr>
              <a:t>Implication: Sell the integrated operating model and measurable outcomes, not a point-by-point feature checklist.</a:t>
            </a:r>
            <a:endParaRPr lang="en-US" sz="1150" dirty="0"/>
          </a:p>
        </p:txBody>
      </p:sp>
      <p:sp>
        <p:nvSpPr>
          <p:cNvPr id="10" name="Text 8"/>
          <p:cNvSpPr/>
          <p:nvPr/>
        </p:nvSpPr>
        <p:spPr>
          <a:xfrm>
            <a:off x="621792" y="6629400"/>
            <a:ext cx="5486400" cy="219456"/>
          </a:xfrm>
          <a:prstGeom prst="rect">
            <a:avLst/>
          </a:prstGeom>
          <a:noFill/>
          <a:ln/>
        </p:spPr>
        <p:txBody>
          <a:bodyPr wrap="square" rtlCol="0" anchor="ctr"/>
          <a:lstStyle/>
          <a:p>
            <a:pPr indent="0" marL="0">
              <a:buNone/>
            </a:pPr>
            <a:r>
              <a:rPr lang="en-US" sz="850" dirty="0">
                <a:solidFill>
                  <a:srgbClr val="5A625C"/>
                </a:solidFill>
                <a:latin typeface="Calibri" pitchFamily="34" charset="0"/>
                <a:ea typeface="Calibri" pitchFamily="34" charset="-122"/>
                <a:cs typeface="Calibri" pitchFamily="34" charset="-120"/>
              </a:rPr>
              <a:t>RA+ Strategy &amp; Roadmap · Confidential</a:t>
            </a:r>
            <a:endParaRPr lang="en-US" sz="850" dirty="0"/>
          </a:p>
        </p:txBody>
      </p:sp>
      <p:sp>
        <p:nvSpPr>
          <p:cNvPr id="11" name="Text 9"/>
          <p:cNvSpPr/>
          <p:nvPr/>
        </p:nvSpPr>
        <p:spPr>
          <a:xfrm>
            <a:off x="10655503" y="6629400"/>
            <a:ext cx="914400" cy="219456"/>
          </a:xfrm>
          <a:prstGeom prst="rect">
            <a:avLst/>
          </a:prstGeom>
          <a:noFill/>
          <a:ln/>
        </p:spPr>
        <p:txBody>
          <a:bodyPr wrap="square" rtlCol="0" anchor="ctr"/>
          <a:lstStyle/>
          <a:p>
            <a:pPr algn="r" indent="0" marL="0">
              <a:buNone/>
            </a:pPr>
            <a:r>
              <a:rPr lang="en-US" sz="850" dirty="0">
                <a:solidFill>
                  <a:srgbClr val="5A625C"/>
                </a:solidFill>
                <a:latin typeface="Calibri" pitchFamily="34" charset="0"/>
                <a:ea typeface="Calibri" pitchFamily="34" charset="-122"/>
                <a:cs typeface="Calibri" pitchFamily="34" charset="-120"/>
              </a:rPr>
              <a:t>8 / 28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659636"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786384" y="329184"/>
            <a:ext cx="1367028" cy="256032"/>
          </a:xfrm>
          <a:prstGeom prst="rect">
            <a:avLst/>
          </a:prstGeom>
          <a:noFill/>
          <a:ln/>
        </p:spPr>
        <p:txBody>
          <a:bodyPr wrap="none" rtlCol="0" anchor="ctr"/>
          <a:lstStyle/>
          <a:p>
            <a:pPr indent="0" marL="0">
              <a:buNone/>
            </a:pPr>
            <a:r>
              <a:rPr lang="en-US" sz="950" b="1" dirty="0">
                <a:solidFill>
                  <a:srgbClr val="007A27"/>
                </a:solidFill>
                <a:latin typeface="Calibri" pitchFamily="34" charset="0"/>
                <a:ea typeface="Calibri" pitchFamily="34" charset="-122"/>
                <a:cs typeface="Calibri" pitchFamily="34" charset="-120"/>
              </a:rPr>
              <a:t>COMPETITION</a:t>
            </a:r>
            <a:endParaRPr lang="en-US" sz="950" dirty="0"/>
          </a:p>
        </p:txBody>
      </p:sp>
      <p:sp>
        <p:nvSpPr>
          <p:cNvPr id="6" name="Text 4"/>
          <p:cNvSpPr/>
          <p:nvPr/>
        </p:nvSpPr>
        <p:spPr>
          <a:xfrm>
            <a:off x="621792" y="768096"/>
            <a:ext cx="10948111" cy="822960"/>
          </a:xfrm>
          <a:prstGeom prst="rect">
            <a:avLst/>
          </a:prstGeom>
          <a:noFill/>
          <a:ln/>
        </p:spPr>
        <p:txBody>
          <a:bodyPr wrap="square" rtlCol="0" anchor="t">
            <a:normAutofit/>
          </a:bodyPr>
          <a:lstStyle/>
          <a:p>
            <a:pPr indent="0" marL="0">
              <a:buNone/>
            </a:pPr>
            <a:r>
              <a:rPr lang="en-US" sz="2800" b="1" dirty="0">
                <a:solidFill>
                  <a:srgbClr val="1E2420"/>
                </a:solidFill>
                <a:latin typeface="Calibri" pitchFamily="34" charset="0"/>
                <a:ea typeface="Calibri" pitchFamily="34" charset="-122"/>
                <a:cs typeface="Calibri" pitchFamily="34" charset="-120"/>
              </a:rPr>
              <a:t>Where are competitors stronger today?</a:t>
            </a:r>
            <a:endParaRPr lang="en-US" sz="2800" dirty="0"/>
          </a:p>
        </p:txBody>
      </p:sp>
      <p:sp>
        <p:nvSpPr>
          <p:cNvPr id="7" name="Text 5"/>
          <p:cNvSpPr/>
          <p:nvPr/>
        </p:nvSpPr>
        <p:spPr>
          <a:xfrm>
            <a:off x="621792" y="1691640"/>
            <a:ext cx="10948111" cy="868680"/>
          </a:xfrm>
          <a:prstGeom prst="rect">
            <a:avLst/>
          </a:prstGeom>
          <a:noFill/>
          <a:ln/>
        </p:spPr>
        <p:txBody>
          <a:bodyPr wrap="square" rtlCol="0" anchor="t"/>
          <a:lstStyle/>
          <a:p>
            <a:pPr indent="0" marL="0">
              <a:buNone/>
            </a:pPr>
            <a:r>
              <a:rPr lang="en-US" sz="1300" dirty="0">
                <a:solidFill>
                  <a:srgbClr val="1E2420"/>
                </a:solidFill>
                <a:latin typeface="Calibri" pitchFamily="34" charset="0"/>
                <a:ea typeface="Calibri" pitchFamily="34" charset="-122"/>
                <a:cs typeface="Calibri" pitchFamily="34" charset="-120"/>
              </a:rPr>
              <a:t>Specialists can be more visible in a narrow domain, and Watershed currently presents the strongest AI-native sustainability challenge.</a:t>
            </a:r>
            <a:endParaRPr lang="en-US" sz="1300" dirty="0"/>
          </a:p>
        </p:txBody>
      </p:sp>
      <p:sp>
        <p:nvSpPr>
          <p:cNvPr id="8" name="Text 6"/>
          <p:cNvSpPr/>
          <p:nvPr/>
        </p:nvSpPr>
        <p:spPr>
          <a:xfrm>
            <a:off x="713232" y="2697480"/>
            <a:ext cx="10765231" cy="1371600"/>
          </a:xfrm>
          <a:prstGeom prst="rect">
            <a:avLst/>
          </a:prstGeom>
          <a:noFill/>
          <a:ln/>
        </p:spPr>
        <p:txBody>
          <a:bodyPr wrap="square" rtlCol="0" anchor="t"/>
          <a:lstStyle/>
          <a:p>
            <a:pPr marL="342900" indent="-342900">
              <a:buSzPct val="100000"/>
              <a:buChar char="•"/>
            </a:pPr>
            <a:r>
              <a:rPr lang="en-US" sz="1150" dirty="0">
                <a:solidFill>
                  <a:srgbClr val="5A625C"/>
                </a:solidFill>
                <a:latin typeface="Calibri" pitchFamily="34" charset="0"/>
                <a:ea typeface="Calibri" pitchFamily="34" charset="-122"/>
                <a:cs typeface="Calibri" pitchFamily="34" charset="-120"/>
              </a:rPr>
              <a:t>• osapiens is positioned around EU compliance and supplier intelligence.</a:t>
            </a:r>
            <a:endParaRPr lang="en-US" sz="1150" dirty="0"/>
          </a:p>
          <a:p>
            <a:pPr marL="342900" indent="-342900">
              <a:buSzPct val="100000"/>
              <a:buChar char="•"/>
            </a:pPr>
            <a:r>
              <a:rPr lang="en-US" sz="1150" dirty="0">
                <a:solidFill>
                  <a:srgbClr val="5A625C"/>
                </a:solidFill>
                <a:latin typeface="Calibri" pitchFamily="34" charset="0"/>
                <a:ea typeface="Calibri" pitchFamily="34" charset="-122"/>
                <a:cs typeface="Calibri" pitchFamily="34" charset="-120"/>
              </a:rPr>
              <a:t>• Arcadia is deep in energy data infrastructure.</a:t>
            </a:r>
            <a:endParaRPr lang="en-US" sz="1150" dirty="0"/>
          </a:p>
          <a:p>
            <a:pPr marL="342900" indent="-342900">
              <a:buSzPct val="100000"/>
              <a:buChar char="•"/>
            </a:pPr>
            <a:r>
              <a:rPr lang="en-US" sz="1150" dirty="0">
                <a:solidFill>
                  <a:srgbClr val="5A625C"/>
                </a:solidFill>
                <a:latin typeface="Calibri" pitchFamily="34" charset="0"/>
                <a:ea typeface="Calibri" pitchFamily="34" charset="-122"/>
                <a:cs typeface="Calibri" pitchFamily="34" charset="-120"/>
              </a:rPr>
              <a:t>• Deepki is specialized in real estate ESG, energy performance and climate risk.</a:t>
            </a:r>
            <a:endParaRPr lang="en-US" sz="1150" dirty="0"/>
          </a:p>
        </p:txBody>
      </p:sp>
      <p:sp>
        <p:nvSpPr>
          <p:cNvPr id="9" name="Text 7"/>
          <p:cNvSpPr/>
          <p:nvPr/>
        </p:nvSpPr>
        <p:spPr>
          <a:xfrm>
            <a:off x="621792" y="4251960"/>
            <a:ext cx="10948111" cy="1005840"/>
          </a:xfrm>
          <a:prstGeom prst="rect">
            <a:avLst/>
          </a:prstGeom>
          <a:noFill/>
          <a:ln/>
        </p:spPr>
        <p:txBody>
          <a:bodyPr wrap="square" rtlCol="0" anchor="t"/>
          <a:lstStyle/>
          <a:p>
            <a:pPr indent="0" marL="0">
              <a:buNone/>
            </a:pPr>
            <a:r>
              <a:rPr lang="en-US" sz="1150" i="1" dirty="0">
                <a:solidFill>
                  <a:srgbClr val="007A27"/>
                </a:solidFill>
                <a:latin typeface="Calibri" pitchFamily="34" charset="0"/>
                <a:ea typeface="Calibri" pitchFamily="34" charset="-122"/>
                <a:cs typeface="Calibri" pitchFamily="34" charset="-120"/>
              </a:rPr>
              <a:t>Implication: RA+ must make AI workflow maturity visible and prove that breadth produces faster, lower-friction outcomes.</a:t>
            </a:r>
            <a:endParaRPr lang="en-US" sz="1150" dirty="0"/>
          </a:p>
        </p:txBody>
      </p:sp>
      <p:sp>
        <p:nvSpPr>
          <p:cNvPr id="10" name="Text 8"/>
          <p:cNvSpPr/>
          <p:nvPr/>
        </p:nvSpPr>
        <p:spPr>
          <a:xfrm>
            <a:off x="621792" y="6629400"/>
            <a:ext cx="5486400" cy="219456"/>
          </a:xfrm>
          <a:prstGeom prst="rect">
            <a:avLst/>
          </a:prstGeom>
          <a:noFill/>
          <a:ln/>
        </p:spPr>
        <p:txBody>
          <a:bodyPr wrap="square" rtlCol="0" anchor="ctr"/>
          <a:lstStyle/>
          <a:p>
            <a:pPr indent="0" marL="0">
              <a:buNone/>
            </a:pPr>
            <a:r>
              <a:rPr lang="en-US" sz="850" dirty="0">
                <a:solidFill>
                  <a:srgbClr val="5A625C"/>
                </a:solidFill>
                <a:latin typeface="Calibri" pitchFamily="34" charset="0"/>
                <a:ea typeface="Calibri" pitchFamily="34" charset="-122"/>
                <a:cs typeface="Calibri" pitchFamily="34" charset="-120"/>
              </a:rPr>
              <a:t>RA+ Strategy &amp; Roadmap · Confidential</a:t>
            </a:r>
            <a:endParaRPr lang="en-US" sz="850" dirty="0"/>
          </a:p>
        </p:txBody>
      </p:sp>
      <p:sp>
        <p:nvSpPr>
          <p:cNvPr id="11" name="Text 9"/>
          <p:cNvSpPr/>
          <p:nvPr/>
        </p:nvSpPr>
        <p:spPr>
          <a:xfrm>
            <a:off x="10655503" y="6629400"/>
            <a:ext cx="914400" cy="219456"/>
          </a:xfrm>
          <a:prstGeom prst="rect">
            <a:avLst/>
          </a:prstGeom>
          <a:noFill/>
          <a:ln/>
        </p:spPr>
        <p:txBody>
          <a:bodyPr wrap="square" rtlCol="0" anchor="ctr"/>
          <a:lstStyle/>
          <a:p>
            <a:pPr algn="r" indent="0" marL="0">
              <a:buNone/>
            </a:pPr>
            <a:r>
              <a:rPr lang="en-US" sz="850" dirty="0">
                <a:solidFill>
                  <a:srgbClr val="5A625C"/>
                </a:solidFill>
                <a:latin typeface="Calibri" pitchFamily="34" charset="0"/>
                <a:ea typeface="Calibri" pitchFamily="34" charset="-122"/>
                <a:cs typeface="Calibri" pitchFamily="34" charset="-120"/>
              </a:rPr>
              <a:t>9 / 28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659636"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786384" y="329184"/>
            <a:ext cx="1367028" cy="256032"/>
          </a:xfrm>
          <a:prstGeom prst="rect">
            <a:avLst/>
          </a:prstGeom>
          <a:noFill/>
          <a:ln/>
        </p:spPr>
        <p:txBody>
          <a:bodyPr wrap="none" rtlCol="0" anchor="ctr"/>
          <a:lstStyle/>
          <a:p>
            <a:pPr indent="0" marL="0">
              <a:buNone/>
            </a:pPr>
            <a:r>
              <a:rPr lang="en-US" sz="950" b="1" dirty="0">
                <a:solidFill>
                  <a:srgbClr val="007A27"/>
                </a:solidFill>
                <a:latin typeface="Calibri" pitchFamily="34" charset="0"/>
                <a:ea typeface="Calibri" pitchFamily="34" charset="-122"/>
                <a:cs typeface="Calibri" pitchFamily="34" charset="-120"/>
              </a:rPr>
              <a:t>COMPETITION</a:t>
            </a:r>
            <a:endParaRPr lang="en-US" sz="950" dirty="0"/>
          </a:p>
        </p:txBody>
      </p:sp>
      <p:sp>
        <p:nvSpPr>
          <p:cNvPr id="6" name="Text 4"/>
          <p:cNvSpPr/>
          <p:nvPr/>
        </p:nvSpPr>
        <p:spPr>
          <a:xfrm>
            <a:off x="621792" y="768096"/>
            <a:ext cx="10948111" cy="822960"/>
          </a:xfrm>
          <a:prstGeom prst="rect">
            <a:avLst/>
          </a:prstGeom>
          <a:noFill/>
          <a:ln/>
        </p:spPr>
        <p:txBody>
          <a:bodyPr wrap="square" rtlCol="0" anchor="t">
            <a:normAutofit/>
          </a:bodyPr>
          <a:lstStyle/>
          <a:p>
            <a:pPr indent="0" marL="0">
              <a:buNone/>
            </a:pPr>
            <a:r>
              <a:rPr lang="en-US" sz="2800" b="1" dirty="0">
                <a:solidFill>
                  <a:srgbClr val="1E2420"/>
                </a:solidFill>
                <a:latin typeface="Calibri" pitchFamily="34" charset="0"/>
                <a:ea typeface="Calibri" pitchFamily="34" charset="-122"/>
                <a:cs typeface="Calibri" pitchFamily="34" charset="-120"/>
              </a:rPr>
              <a:t>Can we claim a price advantage?</a:t>
            </a:r>
            <a:endParaRPr lang="en-US" sz="2800" dirty="0"/>
          </a:p>
        </p:txBody>
      </p:sp>
      <p:sp>
        <p:nvSpPr>
          <p:cNvPr id="7" name="Text 5"/>
          <p:cNvSpPr/>
          <p:nvPr/>
        </p:nvSpPr>
        <p:spPr>
          <a:xfrm>
            <a:off x="621792" y="1691640"/>
            <a:ext cx="10948111" cy="868680"/>
          </a:xfrm>
          <a:prstGeom prst="rect">
            <a:avLst/>
          </a:prstGeom>
          <a:noFill/>
          <a:ln/>
        </p:spPr>
        <p:txBody>
          <a:bodyPr wrap="square" rtlCol="0" anchor="t"/>
          <a:lstStyle/>
          <a:p>
            <a:pPr indent="0" marL="0">
              <a:buNone/>
            </a:pPr>
            <a:r>
              <a:rPr lang="en-US" sz="1300" dirty="0">
                <a:solidFill>
                  <a:srgbClr val="1E2420"/>
                </a:solidFill>
                <a:latin typeface="Calibri" pitchFamily="34" charset="0"/>
                <a:ea typeface="Calibri" pitchFamily="34" charset="-122"/>
                <a:cs typeface="Calibri" pitchFamily="34" charset="-120"/>
              </a:rPr>
              <a:t>Not on license price, but we can now claim a more transparent buying model. RA+ prices the platform once, then per product: Foundation includes the platform spine and one product, Enterprise adds a platform fee plus per product pricing with the first three products included, Portfolio is the platform fee with unlimited products.</a:t>
            </a:r>
            <a:endParaRPr lang="en-US" sz="1300" dirty="0"/>
          </a:p>
        </p:txBody>
      </p:sp>
      <p:sp>
        <p:nvSpPr>
          <p:cNvPr id="8" name="Text 6"/>
          <p:cNvSpPr/>
          <p:nvPr/>
        </p:nvSpPr>
        <p:spPr>
          <a:xfrm>
            <a:off x="713232" y="2697480"/>
            <a:ext cx="10765231" cy="1371600"/>
          </a:xfrm>
          <a:prstGeom prst="rect">
            <a:avLst/>
          </a:prstGeom>
          <a:noFill/>
          <a:ln/>
        </p:spPr>
        <p:txBody>
          <a:bodyPr wrap="square" rtlCol="0" anchor="t"/>
          <a:lstStyle/>
          <a:p>
            <a:pPr marL="342900" indent="-342900">
              <a:buSzPct val="100000"/>
              <a:buChar char="•"/>
            </a:pPr>
            <a:r>
              <a:rPr lang="en-US" sz="1150" dirty="0">
                <a:solidFill>
                  <a:srgbClr val="5A625C"/>
                </a:solidFill>
                <a:latin typeface="Calibri" pitchFamily="34" charset="0"/>
                <a:ea typeface="Calibri" pitchFamily="34" charset="-122"/>
                <a:cs typeface="Calibri" pitchFamily="34" charset="-120"/>
              </a:rPr>
              <a:t>• Peers generally quote custom, per point solution pricing that is not publicly disclosed.</a:t>
            </a:r>
            <a:endParaRPr lang="en-US" sz="1150" dirty="0"/>
          </a:p>
          <a:p>
            <a:pPr marL="342900" indent="-342900">
              <a:buSzPct val="100000"/>
              <a:buChar char="•"/>
            </a:pPr>
            <a:r>
              <a:rPr lang="en-US" sz="1150" dirty="0">
                <a:solidFill>
                  <a:srgbClr val="5A625C"/>
                </a:solidFill>
                <a:latin typeface="Calibri" pitchFamily="34" charset="0"/>
                <a:ea typeface="Calibri" pitchFamily="34" charset="-122"/>
                <a:cs typeface="Calibri" pitchFamily="34" charset="-120"/>
              </a:rPr>
              <a:t>• Paying for the platform once means every additional product carries a lower marginal cost than a new point solution.</a:t>
            </a:r>
            <a:endParaRPr lang="en-US" sz="1150" dirty="0"/>
          </a:p>
          <a:p>
            <a:pPr marL="342900" indent="-342900">
              <a:buSzPct val="100000"/>
              <a:buChar char="•"/>
            </a:pPr>
            <a:r>
              <a:rPr lang="en-US" sz="1150" dirty="0">
                <a:solidFill>
                  <a:srgbClr val="5A625C"/>
                </a:solidFill>
                <a:latin typeface="Calibri" pitchFamily="34" charset="0"/>
                <a:ea typeface="Calibri" pitchFamily="34" charset="-122"/>
                <a:cs typeface="Calibri" pitchFamily="34" charset="-120"/>
              </a:rPr>
              <a:t>• The defensible comparison remains total cost of ownership across data, integration, assurance and multiple tools.</a:t>
            </a:r>
            <a:endParaRPr lang="en-US" sz="1150" dirty="0"/>
          </a:p>
        </p:txBody>
      </p:sp>
      <p:sp>
        <p:nvSpPr>
          <p:cNvPr id="9" name="Text 7"/>
          <p:cNvSpPr/>
          <p:nvPr/>
        </p:nvSpPr>
        <p:spPr>
          <a:xfrm>
            <a:off x="621792" y="4251960"/>
            <a:ext cx="10948111" cy="1005840"/>
          </a:xfrm>
          <a:prstGeom prst="rect">
            <a:avLst/>
          </a:prstGeom>
          <a:noFill/>
          <a:ln/>
        </p:spPr>
        <p:txBody>
          <a:bodyPr wrap="square" rtlCol="0" anchor="t"/>
          <a:lstStyle/>
          <a:p>
            <a:pPr indent="0" marL="0">
              <a:buNone/>
            </a:pPr>
            <a:r>
              <a:rPr lang="en-US" sz="1150" i="1" dirty="0">
                <a:solidFill>
                  <a:srgbClr val="007A27"/>
                </a:solidFill>
                <a:latin typeface="Calibri" pitchFamily="34" charset="0"/>
                <a:ea typeface="Calibri" pitchFamily="34" charset="-122"/>
                <a:cs typeface="Calibri" pitchFamily="34" charset="-120"/>
              </a:rPr>
              <a:t>Implication: Lead with the platform-plus-product model and TCO, and commission matched-account TCO evidence before claiming a lower price.</a:t>
            </a:r>
            <a:endParaRPr lang="en-US" sz="1150" dirty="0"/>
          </a:p>
          <a:p>
            <a:pPr indent="0" marL="0">
              <a:buNone/>
            </a:pPr>
            <a:r>
              <a:rPr lang="en-US" sz="1150" i="1" dirty="0">
                <a:solidFill>
                  <a:srgbClr val="007A27"/>
                </a:solidFill>
                <a:latin typeface="Calibri" pitchFamily="34" charset="0"/>
                <a:ea typeface="Calibri" pitchFamily="34" charset="-122"/>
                <a:cs typeface="Calibri" pitchFamily="34" charset="-120"/>
              </a:rPr>
              <a:t>Caution: Do not present venture funding or buying model labels as comparative pricing evidence.</a:t>
            </a:r>
            <a:endParaRPr lang="en-US" sz="1150" dirty="0"/>
          </a:p>
        </p:txBody>
      </p:sp>
      <p:sp>
        <p:nvSpPr>
          <p:cNvPr id="10" name="Text 8"/>
          <p:cNvSpPr/>
          <p:nvPr/>
        </p:nvSpPr>
        <p:spPr>
          <a:xfrm>
            <a:off x="621792" y="6629400"/>
            <a:ext cx="5486400" cy="219456"/>
          </a:xfrm>
          <a:prstGeom prst="rect">
            <a:avLst/>
          </a:prstGeom>
          <a:noFill/>
          <a:ln/>
        </p:spPr>
        <p:txBody>
          <a:bodyPr wrap="square" rtlCol="0" anchor="ctr"/>
          <a:lstStyle/>
          <a:p>
            <a:pPr indent="0" marL="0">
              <a:buNone/>
            </a:pPr>
            <a:r>
              <a:rPr lang="en-US" sz="850" dirty="0">
                <a:solidFill>
                  <a:srgbClr val="5A625C"/>
                </a:solidFill>
                <a:latin typeface="Calibri" pitchFamily="34" charset="0"/>
                <a:ea typeface="Calibri" pitchFamily="34" charset="-122"/>
                <a:cs typeface="Calibri" pitchFamily="34" charset="-120"/>
              </a:rPr>
              <a:t>RA+ Strategy &amp; Roadmap · Confidential</a:t>
            </a:r>
            <a:endParaRPr lang="en-US" sz="850" dirty="0"/>
          </a:p>
        </p:txBody>
      </p:sp>
      <p:sp>
        <p:nvSpPr>
          <p:cNvPr id="11" name="Text 9"/>
          <p:cNvSpPr/>
          <p:nvPr/>
        </p:nvSpPr>
        <p:spPr>
          <a:xfrm>
            <a:off x="10655503" y="6629400"/>
            <a:ext cx="914400" cy="219456"/>
          </a:xfrm>
          <a:prstGeom prst="rect">
            <a:avLst/>
          </a:prstGeom>
          <a:noFill/>
          <a:ln/>
        </p:spPr>
        <p:txBody>
          <a:bodyPr wrap="square" rtlCol="0" anchor="ctr"/>
          <a:lstStyle/>
          <a:p>
            <a:pPr algn="r" indent="0" marL="0">
              <a:buNone/>
            </a:pPr>
            <a:r>
              <a:rPr lang="en-US" sz="850" dirty="0">
                <a:solidFill>
                  <a:srgbClr val="5A625C"/>
                </a:solidFill>
                <a:latin typeface="Calibri" pitchFamily="34" charset="0"/>
                <a:ea typeface="Calibri" pitchFamily="34" charset="-122"/>
                <a:cs typeface="Calibri" pitchFamily="34" charset="-120"/>
              </a:rPr>
              <a:t>10 / 28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659636"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786384" y="329184"/>
            <a:ext cx="1367028" cy="256032"/>
          </a:xfrm>
          <a:prstGeom prst="rect">
            <a:avLst/>
          </a:prstGeom>
          <a:noFill/>
          <a:ln/>
        </p:spPr>
        <p:txBody>
          <a:bodyPr wrap="none" rtlCol="0" anchor="ctr"/>
          <a:lstStyle/>
          <a:p>
            <a:pPr indent="0" marL="0">
              <a:buNone/>
            </a:pPr>
            <a:r>
              <a:rPr lang="en-US" sz="950" b="1" dirty="0">
                <a:solidFill>
                  <a:srgbClr val="007A27"/>
                </a:solidFill>
                <a:latin typeface="Calibri" pitchFamily="34" charset="0"/>
                <a:ea typeface="Calibri" pitchFamily="34" charset="-122"/>
                <a:cs typeface="Calibri" pitchFamily="34" charset="-120"/>
              </a:rPr>
              <a:t>COMPETITION</a:t>
            </a:r>
            <a:endParaRPr lang="en-US" sz="950" dirty="0"/>
          </a:p>
        </p:txBody>
      </p:sp>
      <p:sp>
        <p:nvSpPr>
          <p:cNvPr id="6" name="Text 4"/>
          <p:cNvSpPr/>
          <p:nvPr/>
        </p:nvSpPr>
        <p:spPr>
          <a:xfrm>
            <a:off x="621792" y="768096"/>
            <a:ext cx="10948111" cy="822960"/>
          </a:xfrm>
          <a:prstGeom prst="rect">
            <a:avLst/>
          </a:prstGeom>
          <a:noFill/>
          <a:ln/>
        </p:spPr>
        <p:txBody>
          <a:bodyPr wrap="square" rtlCol="0" anchor="t">
            <a:normAutofit/>
          </a:bodyPr>
          <a:lstStyle/>
          <a:p>
            <a:pPr indent="0" marL="0">
              <a:buNone/>
            </a:pPr>
            <a:r>
              <a:rPr lang="en-US" sz="2800" b="1" dirty="0">
                <a:solidFill>
                  <a:srgbClr val="1E2420"/>
                </a:solidFill>
                <a:latin typeface="Calibri" pitchFamily="34" charset="0"/>
                <a:ea typeface="Calibri" pitchFamily="34" charset="-122"/>
                <a:cs typeface="Calibri" pitchFamily="34" charset="-120"/>
              </a:rPr>
              <a:t>What evidence would prove durable differentiation?</a:t>
            </a:r>
            <a:endParaRPr lang="en-US" sz="2800" dirty="0"/>
          </a:p>
        </p:txBody>
      </p:sp>
      <p:sp>
        <p:nvSpPr>
          <p:cNvPr id="7" name="Text 5"/>
          <p:cNvSpPr/>
          <p:nvPr/>
        </p:nvSpPr>
        <p:spPr>
          <a:xfrm>
            <a:off x="621792" y="1691640"/>
            <a:ext cx="10948111" cy="868680"/>
          </a:xfrm>
          <a:prstGeom prst="rect">
            <a:avLst/>
          </a:prstGeom>
          <a:noFill/>
          <a:ln/>
        </p:spPr>
        <p:txBody>
          <a:bodyPr wrap="square" rtlCol="0" anchor="t"/>
          <a:lstStyle/>
          <a:p>
            <a:pPr indent="0" marL="0">
              <a:buNone/>
            </a:pPr>
            <a:r>
              <a:rPr lang="en-US" sz="1300" dirty="0">
                <a:solidFill>
                  <a:srgbClr val="1E2420"/>
                </a:solidFill>
                <a:latin typeface="Calibri" pitchFamily="34" charset="0"/>
                <a:ea typeface="Calibri" pitchFamily="34" charset="-122"/>
                <a:cs typeface="Calibri" pitchFamily="34" charset="-120"/>
              </a:rPr>
              <a:t>Referenceable clients who use the same governed data across two or more domains and can quantify time, cost or risk improvement. Our strongest claims are cobenefit recommendations linking energy, carbon and cost in one view, and value-chain climate risk priced beyond owned assets, where no rival currently combines both.</a:t>
            </a:r>
            <a:endParaRPr lang="en-US" sz="1300" dirty="0"/>
          </a:p>
        </p:txBody>
      </p:sp>
      <p:sp>
        <p:nvSpPr>
          <p:cNvPr id="8" name="Text 6"/>
          <p:cNvSpPr/>
          <p:nvPr/>
        </p:nvSpPr>
        <p:spPr>
          <a:xfrm>
            <a:off x="713232" y="2697480"/>
            <a:ext cx="10765231" cy="1371600"/>
          </a:xfrm>
          <a:prstGeom prst="rect">
            <a:avLst/>
          </a:prstGeom>
          <a:noFill/>
          <a:ln/>
        </p:spPr>
        <p:txBody>
          <a:bodyPr wrap="square" rtlCol="0" anchor="t"/>
          <a:lstStyle/>
          <a:p>
            <a:pPr marL="342900" indent="-342900">
              <a:buSzPct val="100000"/>
              <a:buChar char="•"/>
            </a:pPr>
            <a:r>
              <a:rPr lang="en-US" sz="1150" dirty="0">
                <a:solidFill>
                  <a:srgbClr val="5A625C"/>
                </a:solidFill>
                <a:latin typeface="Calibri" pitchFamily="34" charset="0"/>
                <a:ea typeface="Calibri" pitchFamily="34" charset="-122"/>
                <a:cs typeface="Calibri" pitchFamily="34" charset="-120"/>
              </a:rPr>
              <a:t>• Recommendations launch Q4 2026 as the only capability highlighting energy, carbon and cost cobenefits on one platform.</a:t>
            </a:r>
            <a:endParaRPr lang="en-US" sz="1150" dirty="0"/>
          </a:p>
          <a:p>
            <a:pPr marL="342900" indent="-342900">
              <a:buSzPct val="100000"/>
              <a:buChar char="•"/>
            </a:pPr>
            <a:r>
              <a:rPr lang="en-US" sz="1150" dirty="0">
                <a:solidFill>
                  <a:srgbClr val="5A625C"/>
                </a:solidFill>
                <a:latin typeface="Calibri" pitchFamily="34" charset="0"/>
                <a:ea typeface="Calibri" pitchFamily="34" charset="-122"/>
                <a:cs typeface="Calibri" pitchFamily="34" charset="-120"/>
              </a:rPr>
              <a:t>• ClimVar extends financially expressed climate risk into the value chain, a space supply chain risk tools do not cover.</a:t>
            </a:r>
            <a:endParaRPr lang="en-US" sz="1150" dirty="0"/>
          </a:p>
          <a:p>
            <a:pPr marL="342900" indent="-342900">
              <a:buSzPct val="100000"/>
              <a:buChar char="•"/>
            </a:pPr>
            <a:r>
              <a:rPr lang="en-US" sz="1150" dirty="0">
                <a:solidFill>
                  <a:srgbClr val="5A625C"/>
                </a:solidFill>
                <a:latin typeface="Calibri" pitchFamily="34" charset="0"/>
                <a:ea typeface="Calibri" pitchFamily="34" charset="-122"/>
                <a:cs typeface="Calibri" pitchFamily="34" charset="-120"/>
              </a:rPr>
              <a:t>• Lineage, evidence and audit trail are on parity with enterprise expectations, so differentiation must come from convergence and cobenefits.</a:t>
            </a:r>
            <a:endParaRPr lang="en-US" sz="1150" dirty="0"/>
          </a:p>
        </p:txBody>
      </p:sp>
      <p:sp>
        <p:nvSpPr>
          <p:cNvPr id="9" name="Text 7"/>
          <p:cNvSpPr/>
          <p:nvPr/>
        </p:nvSpPr>
        <p:spPr>
          <a:xfrm>
            <a:off x="621792" y="4251960"/>
            <a:ext cx="10948111" cy="1005840"/>
          </a:xfrm>
          <a:prstGeom prst="rect">
            <a:avLst/>
          </a:prstGeom>
          <a:noFill/>
          <a:ln/>
        </p:spPr>
        <p:txBody>
          <a:bodyPr wrap="square" rtlCol="0" anchor="t"/>
          <a:lstStyle/>
          <a:p>
            <a:pPr indent="0" marL="0">
              <a:buNone/>
            </a:pPr>
            <a:r>
              <a:rPr lang="en-US" sz="1150" i="1" dirty="0">
                <a:solidFill>
                  <a:srgbClr val="007A27"/>
                </a:solidFill>
                <a:latin typeface="Calibri" pitchFamily="34" charset="0"/>
                <a:ea typeface="Calibri" pitchFamily="34" charset="-122"/>
                <a:cs typeface="Calibri" pitchFamily="34" charset="-120"/>
              </a:rPr>
              <a:t>Implication: Prioritize lighthouse accounts and publish a repeatable proof pack for sales, delivery and leadership.</a:t>
            </a:r>
            <a:endParaRPr lang="en-US" sz="1150" dirty="0"/>
          </a:p>
        </p:txBody>
      </p:sp>
      <p:sp>
        <p:nvSpPr>
          <p:cNvPr id="10" name="Text 8"/>
          <p:cNvSpPr/>
          <p:nvPr/>
        </p:nvSpPr>
        <p:spPr>
          <a:xfrm>
            <a:off x="621792" y="6629400"/>
            <a:ext cx="5486400" cy="219456"/>
          </a:xfrm>
          <a:prstGeom prst="rect">
            <a:avLst/>
          </a:prstGeom>
          <a:noFill/>
          <a:ln/>
        </p:spPr>
        <p:txBody>
          <a:bodyPr wrap="square" rtlCol="0" anchor="ctr"/>
          <a:lstStyle/>
          <a:p>
            <a:pPr indent="0" marL="0">
              <a:buNone/>
            </a:pPr>
            <a:r>
              <a:rPr lang="en-US" sz="850" dirty="0">
                <a:solidFill>
                  <a:srgbClr val="5A625C"/>
                </a:solidFill>
                <a:latin typeface="Calibri" pitchFamily="34" charset="0"/>
                <a:ea typeface="Calibri" pitchFamily="34" charset="-122"/>
                <a:cs typeface="Calibri" pitchFamily="34" charset="-120"/>
              </a:rPr>
              <a:t>RA+ Strategy &amp; Roadmap · Confidential</a:t>
            </a:r>
            <a:endParaRPr lang="en-US" sz="850" dirty="0"/>
          </a:p>
        </p:txBody>
      </p:sp>
      <p:sp>
        <p:nvSpPr>
          <p:cNvPr id="11" name="Text 9"/>
          <p:cNvSpPr/>
          <p:nvPr/>
        </p:nvSpPr>
        <p:spPr>
          <a:xfrm>
            <a:off x="10655503" y="6629400"/>
            <a:ext cx="914400" cy="219456"/>
          </a:xfrm>
          <a:prstGeom prst="rect">
            <a:avLst/>
          </a:prstGeom>
          <a:noFill/>
          <a:ln/>
        </p:spPr>
        <p:txBody>
          <a:bodyPr wrap="square" rtlCol="0" anchor="ctr"/>
          <a:lstStyle/>
          <a:p>
            <a:pPr algn="r" indent="0" marL="0">
              <a:buNone/>
            </a:pPr>
            <a:r>
              <a:rPr lang="en-US" sz="850" dirty="0">
                <a:solidFill>
                  <a:srgbClr val="5A625C"/>
                </a:solidFill>
                <a:latin typeface="Calibri" pitchFamily="34" charset="0"/>
                <a:ea typeface="Calibri" pitchFamily="34" charset="-122"/>
                <a:cs typeface="Calibri" pitchFamily="34" charset="-120"/>
              </a:rPr>
              <a:t>11 / 28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659636"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786384" y="329184"/>
            <a:ext cx="1367028" cy="256032"/>
          </a:xfrm>
          <a:prstGeom prst="rect">
            <a:avLst/>
          </a:prstGeom>
          <a:noFill/>
          <a:ln/>
        </p:spPr>
        <p:txBody>
          <a:bodyPr wrap="none" rtlCol="0" anchor="ctr"/>
          <a:lstStyle/>
          <a:p>
            <a:pPr indent="0" marL="0">
              <a:buNone/>
            </a:pPr>
            <a:r>
              <a:rPr lang="en-US" sz="950" b="1" dirty="0">
                <a:solidFill>
                  <a:srgbClr val="007A27"/>
                </a:solidFill>
                <a:latin typeface="Calibri" pitchFamily="34" charset="0"/>
                <a:ea typeface="Calibri" pitchFamily="34" charset="-122"/>
                <a:cs typeface="Calibri" pitchFamily="34" charset="-120"/>
              </a:rPr>
              <a:t>COMPETITION</a:t>
            </a:r>
            <a:endParaRPr lang="en-US" sz="950" dirty="0"/>
          </a:p>
        </p:txBody>
      </p:sp>
      <p:sp>
        <p:nvSpPr>
          <p:cNvPr id="6" name="Text 4"/>
          <p:cNvSpPr/>
          <p:nvPr/>
        </p:nvSpPr>
        <p:spPr>
          <a:xfrm>
            <a:off x="621792" y="768096"/>
            <a:ext cx="10948111" cy="822960"/>
          </a:xfrm>
          <a:prstGeom prst="rect">
            <a:avLst/>
          </a:prstGeom>
          <a:noFill/>
          <a:ln/>
        </p:spPr>
        <p:txBody>
          <a:bodyPr wrap="square" rtlCol="0" anchor="t">
            <a:normAutofit/>
          </a:bodyPr>
          <a:lstStyle/>
          <a:p>
            <a:pPr indent="0" marL="0">
              <a:buNone/>
            </a:pPr>
            <a:r>
              <a:rPr lang="en-US" sz="2800" b="1" dirty="0">
                <a:solidFill>
                  <a:srgbClr val="1E2420"/>
                </a:solidFill>
                <a:latin typeface="Calibri" pitchFamily="34" charset="0"/>
                <a:ea typeface="Calibri" pitchFamily="34" charset="-122"/>
                <a:cs typeface="Calibri" pitchFamily="34" charset="-120"/>
              </a:rPr>
              <a:t>What is our supply chain edge against specialist tools?</a:t>
            </a:r>
            <a:endParaRPr lang="en-US" sz="2800" dirty="0"/>
          </a:p>
        </p:txBody>
      </p:sp>
      <p:sp>
        <p:nvSpPr>
          <p:cNvPr id="7" name="Text 5"/>
          <p:cNvSpPr/>
          <p:nvPr/>
        </p:nvSpPr>
        <p:spPr>
          <a:xfrm>
            <a:off x="621792" y="1691640"/>
            <a:ext cx="10948111" cy="868680"/>
          </a:xfrm>
          <a:prstGeom prst="rect">
            <a:avLst/>
          </a:prstGeom>
          <a:noFill/>
          <a:ln/>
        </p:spPr>
        <p:txBody>
          <a:bodyPr wrap="square" rtlCol="0" anchor="t"/>
          <a:lstStyle/>
          <a:p>
            <a:pPr indent="0" marL="0">
              <a:buNone/>
            </a:pPr>
            <a:r>
              <a:rPr lang="en-US" sz="1300" dirty="0">
                <a:solidFill>
                  <a:srgbClr val="1E2420"/>
                </a:solidFill>
                <a:latin typeface="Calibri" pitchFamily="34" charset="0"/>
                <a:ea typeface="Calibri" pitchFamily="34" charset="-122"/>
                <a:cs typeface="Calibri" pitchFamily="34" charset="-120"/>
              </a:rPr>
              <a:t>Zeigo Hub heritage: structured supplier education and learning paths, guided decarbonization programs, and a network of suppliers already onboarded and trained, not just a data-collection portal.</a:t>
            </a:r>
            <a:endParaRPr lang="en-US" sz="1300" dirty="0"/>
          </a:p>
        </p:txBody>
      </p:sp>
      <p:sp>
        <p:nvSpPr>
          <p:cNvPr id="8" name="Text 6"/>
          <p:cNvSpPr/>
          <p:nvPr/>
        </p:nvSpPr>
        <p:spPr>
          <a:xfrm>
            <a:off x="713232" y="2697480"/>
            <a:ext cx="10765231" cy="1371600"/>
          </a:xfrm>
          <a:prstGeom prst="rect">
            <a:avLst/>
          </a:prstGeom>
          <a:noFill/>
          <a:ln/>
        </p:spPr>
        <p:txBody>
          <a:bodyPr wrap="square" rtlCol="0" anchor="t"/>
          <a:lstStyle/>
          <a:p>
            <a:pPr marL="342900" indent="-342900">
              <a:buSzPct val="100000"/>
              <a:buChar char="•"/>
            </a:pPr>
            <a:r>
              <a:rPr lang="en-US" sz="1150" dirty="0">
                <a:solidFill>
                  <a:srgbClr val="5A625C"/>
                </a:solidFill>
                <a:latin typeface="Calibri" pitchFamily="34" charset="0"/>
                <a:ea typeface="Calibri" pitchFamily="34" charset="-122"/>
                <a:cs typeface="Calibri" pitchFamily="34" charset="-120"/>
              </a:rPr>
              <a:t>• Campaigns run at scale on an existing, trained supplier network.</a:t>
            </a:r>
            <a:endParaRPr lang="en-US" sz="1150" dirty="0"/>
          </a:p>
          <a:p>
            <a:pPr marL="342900" indent="-342900">
              <a:buSzPct val="100000"/>
              <a:buChar char="•"/>
            </a:pPr>
            <a:r>
              <a:rPr lang="en-US" sz="1150" dirty="0">
                <a:solidFill>
                  <a:srgbClr val="5A625C"/>
                </a:solidFill>
                <a:latin typeface="Calibri" pitchFamily="34" charset="0"/>
                <a:ea typeface="Calibri" pitchFamily="34" charset="-122"/>
                <a:cs typeface="Calibri" pitchFamily="34" charset="-120"/>
              </a:rPr>
              <a:t>• Supplier emissions abatement moves suppliers from reporting to reduction action.</a:t>
            </a:r>
            <a:endParaRPr lang="en-US" sz="1150" dirty="0"/>
          </a:p>
          <a:p>
            <a:pPr marL="342900" indent="-342900">
              <a:buSzPct val="100000"/>
              <a:buChar char="•"/>
            </a:pPr>
            <a:r>
              <a:rPr lang="en-US" sz="1150" dirty="0">
                <a:solidFill>
                  <a:srgbClr val="5A625C"/>
                </a:solidFill>
                <a:latin typeface="Calibri" pitchFamily="34" charset="0"/>
                <a:ea typeface="Calibri" pitchFamily="34" charset="-122"/>
                <a:cs typeface="Calibri" pitchFamily="34" charset="-120"/>
              </a:rPr>
              <a:t>• Specialist supplier tools lack climate risk capabilities; we combine supplier exposure with priced climate risk.</a:t>
            </a:r>
            <a:endParaRPr lang="en-US" sz="1150" dirty="0"/>
          </a:p>
        </p:txBody>
      </p:sp>
      <p:sp>
        <p:nvSpPr>
          <p:cNvPr id="9" name="Text 7"/>
          <p:cNvSpPr/>
          <p:nvPr/>
        </p:nvSpPr>
        <p:spPr>
          <a:xfrm>
            <a:off x="621792" y="4251960"/>
            <a:ext cx="10948111" cy="1005840"/>
          </a:xfrm>
          <a:prstGeom prst="rect">
            <a:avLst/>
          </a:prstGeom>
          <a:noFill/>
          <a:ln/>
        </p:spPr>
        <p:txBody>
          <a:bodyPr wrap="square" rtlCol="0" anchor="t"/>
          <a:lstStyle/>
          <a:p>
            <a:pPr indent="0" marL="0">
              <a:buNone/>
            </a:pPr>
            <a:r>
              <a:rPr lang="en-US" sz="1150" i="1" dirty="0">
                <a:solidFill>
                  <a:srgbClr val="007A27"/>
                </a:solidFill>
                <a:latin typeface="Calibri" pitchFamily="34" charset="0"/>
                <a:ea typeface="Calibri" pitchFamily="34" charset="-122"/>
                <a:cs typeface="Calibri" pitchFamily="34" charset="-120"/>
              </a:rPr>
              <a:t>Implication: Position Supply Chain as supplier action, not supplier surveying, and connect it to the Climate Risk value-chain story.</a:t>
            </a:r>
            <a:endParaRPr lang="en-US" sz="1150" dirty="0"/>
          </a:p>
        </p:txBody>
      </p:sp>
      <p:sp>
        <p:nvSpPr>
          <p:cNvPr id="10" name="Text 8"/>
          <p:cNvSpPr/>
          <p:nvPr/>
        </p:nvSpPr>
        <p:spPr>
          <a:xfrm>
            <a:off x="621792" y="6629400"/>
            <a:ext cx="5486400" cy="219456"/>
          </a:xfrm>
          <a:prstGeom prst="rect">
            <a:avLst/>
          </a:prstGeom>
          <a:noFill/>
          <a:ln/>
        </p:spPr>
        <p:txBody>
          <a:bodyPr wrap="square" rtlCol="0" anchor="ctr"/>
          <a:lstStyle/>
          <a:p>
            <a:pPr indent="0" marL="0">
              <a:buNone/>
            </a:pPr>
            <a:r>
              <a:rPr lang="en-US" sz="850" dirty="0">
                <a:solidFill>
                  <a:srgbClr val="5A625C"/>
                </a:solidFill>
                <a:latin typeface="Calibri" pitchFamily="34" charset="0"/>
                <a:ea typeface="Calibri" pitchFamily="34" charset="-122"/>
                <a:cs typeface="Calibri" pitchFamily="34" charset="-120"/>
              </a:rPr>
              <a:t>RA+ Strategy &amp; Roadmap · Confidential</a:t>
            </a:r>
            <a:endParaRPr lang="en-US" sz="850" dirty="0"/>
          </a:p>
        </p:txBody>
      </p:sp>
      <p:sp>
        <p:nvSpPr>
          <p:cNvPr id="11" name="Text 9"/>
          <p:cNvSpPr/>
          <p:nvPr/>
        </p:nvSpPr>
        <p:spPr>
          <a:xfrm>
            <a:off x="10655503" y="6629400"/>
            <a:ext cx="914400" cy="219456"/>
          </a:xfrm>
          <a:prstGeom prst="rect">
            <a:avLst/>
          </a:prstGeom>
          <a:noFill/>
          <a:ln/>
        </p:spPr>
        <p:txBody>
          <a:bodyPr wrap="square" rtlCol="0" anchor="ctr"/>
          <a:lstStyle/>
          <a:p>
            <a:pPr algn="r" indent="0" marL="0">
              <a:buNone/>
            </a:pPr>
            <a:r>
              <a:rPr lang="en-US" sz="850" dirty="0">
                <a:solidFill>
                  <a:srgbClr val="5A625C"/>
                </a:solidFill>
                <a:latin typeface="Calibri" pitchFamily="34" charset="0"/>
                <a:ea typeface="Calibri" pitchFamily="34" charset="-122"/>
                <a:cs typeface="Calibri" pitchFamily="34" charset="-120"/>
              </a:rPr>
              <a:t>12 / 28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659636"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786384" y="329184"/>
            <a:ext cx="1367028" cy="256032"/>
          </a:xfrm>
          <a:prstGeom prst="rect">
            <a:avLst/>
          </a:prstGeom>
          <a:noFill/>
          <a:ln/>
        </p:spPr>
        <p:txBody>
          <a:bodyPr wrap="none" rtlCol="0" anchor="ctr"/>
          <a:lstStyle/>
          <a:p>
            <a:pPr indent="0" marL="0">
              <a:buNone/>
            </a:pPr>
            <a:r>
              <a:rPr lang="en-US" sz="950" b="1" dirty="0">
                <a:solidFill>
                  <a:srgbClr val="007A27"/>
                </a:solidFill>
                <a:latin typeface="Calibri" pitchFamily="34" charset="0"/>
                <a:ea typeface="Calibri" pitchFamily="34" charset="-122"/>
                <a:cs typeface="Calibri" pitchFamily="34" charset="-120"/>
              </a:rPr>
              <a:t>COMPETITION</a:t>
            </a:r>
            <a:endParaRPr lang="en-US" sz="950" dirty="0"/>
          </a:p>
        </p:txBody>
      </p:sp>
      <p:sp>
        <p:nvSpPr>
          <p:cNvPr id="6" name="Text 4"/>
          <p:cNvSpPr/>
          <p:nvPr/>
        </p:nvSpPr>
        <p:spPr>
          <a:xfrm>
            <a:off x="621792" y="768096"/>
            <a:ext cx="10948111" cy="822960"/>
          </a:xfrm>
          <a:prstGeom prst="rect">
            <a:avLst/>
          </a:prstGeom>
          <a:noFill/>
          <a:ln/>
        </p:spPr>
        <p:txBody>
          <a:bodyPr wrap="square" rtlCol="0" anchor="t">
            <a:normAutofit/>
          </a:bodyPr>
          <a:lstStyle/>
          <a:p>
            <a:pPr indent="0" marL="0">
              <a:buNone/>
            </a:pPr>
            <a:r>
              <a:rPr lang="en-US" sz="2800" b="1" dirty="0">
                <a:solidFill>
                  <a:srgbClr val="1E2420"/>
                </a:solidFill>
                <a:latin typeface="Calibri" pitchFamily="34" charset="0"/>
                <a:ea typeface="Calibri" pitchFamily="34" charset="-122"/>
                <a:cs typeface="Calibri" pitchFamily="34" charset="-120"/>
              </a:rPr>
              <a:t>Is Envizi our only real energy management rival?</a:t>
            </a:r>
            <a:endParaRPr lang="en-US" sz="2800" dirty="0"/>
          </a:p>
        </p:txBody>
      </p:sp>
      <p:sp>
        <p:nvSpPr>
          <p:cNvPr id="7" name="Text 5"/>
          <p:cNvSpPr/>
          <p:nvPr/>
        </p:nvSpPr>
        <p:spPr>
          <a:xfrm>
            <a:off x="621792" y="1691640"/>
            <a:ext cx="10948111" cy="868680"/>
          </a:xfrm>
          <a:prstGeom prst="rect">
            <a:avLst/>
          </a:prstGeom>
          <a:noFill/>
          <a:ln/>
        </p:spPr>
        <p:txBody>
          <a:bodyPr wrap="square" rtlCol="0" anchor="t"/>
          <a:lstStyle/>
          <a:p>
            <a:pPr indent="0" marL="0">
              <a:buNone/>
            </a:pPr>
            <a:r>
              <a:rPr lang="en-US" sz="1300" dirty="0">
                <a:solidFill>
                  <a:srgbClr val="1E2420"/>
                </a:solidFill>
                <a:latin typeface="Calibri" pitchFamily="34" charset="0"/>
                <a:ea typeface="Calibri" pitchFamily="34" charset="-122"/>
                <a:cs typeface="Calibri" pitchFamily="34" charset="-120"/>
              </a:rPr>
              <a:t>No. The energy management field is crowded and we now compare against the whole field, not one name.</a:t>
            </a:r>
            <a:endParaRPr lang="en-US" sz="1300" dirty="0"/>
          </a:p>
        </p:txBody>
      </p:sp>
      <p:sp>
        <p:nvSpPr>
          <p:cNvPr id="8" name="Text 6"/>
          <p:cNvSpPr/>
          <p:nvPr/>
        </p:nvSpPr>
        <p:spPr>
          <a:xfrm>
            <a:off x="713232" y="2697480"/>
            <a:ext cx="10765231" cy="1371600"/>
          </a:xfrm>
          <a:prstGeom prst="rect">
            <a:avLst/>
          </a:prstGeom>
          <a:noFill/>
          <a:ln/>
        </p:spPr>
        <p:txBody>
          <a:bodyPr wrap="square" rtlCol="0" anchor="t"/>
          <a:lstStyle/>
          <a:p>
            <a:pPr marL="342900" indent="-342900">
              <a:buSzPct val="100000"/>
              <a:buChar char="•"/>
            </a:pPr>
            <a:r>
              <a:rPr lang="en-US" sz="1150" dirty="0">
                <a:solidFill>
                  <a:srgbClr val="5A625C"/>
                </a:solidFill>
                <a:latin typeface="Calibri" pitchFamily="34" charset="0"/>
                <a:ea typeface="Calibri" pitchFamily="34" charset="-122"/>
                <a:cs typeface="Calibri" pitchFamily="34" charset="-120"/>
              </a:rPr>
              <a:t>• IBM Envizi, EnergyCAP, Accruent, Arcadia and Honeywell Forge each cover part of the problem.</a:t>
            </a:r>
            <a:endParaRPr lang="en-US" sz="1150" dirty="0"/>
          </a:p>
          <a:p>
            <a:pPr marL="342900" indent="-342900">
              <a:buSzPct val="100000"/>
              <a:buChar char="•"/>
            </a:pPr>
            <a:r>
              <a:rPr lang="en-US" sz="1150" dirty="0">
                <a:solidFill>
                  <a:srgbClr val="5A625C"/>
                </a:solidFill>
                <a:latin typeface="Calibri" pitchFamily="34" charset="0"/>
                <a:ea typeface="Calibri" pitchFamily="34" charset="-122"/>
                <a:cs typeface="Calibri" pitchFamily="34" charset="-120"/>
              </a:rPr>
              <a:t>• EAC and renewables specialists, and demand response, VPP and DER specialists, compete in adjacent lanes.</a:t>
            </a:r>
            <a:endParaRPr lang="en-US" sz="1150" dirty="0"/>
          </a:p>
          <a:p>
            <a:pPr marL="342900" indent="-342900">
              <a:buSzPct val="100000"/>
              <a:buChar char="•"/>
            </a:pPr>
            <a:r>
              <a:rPr lang="en-US" sz="1150" dirty="0">
                <a:solidFill>
                  <a:srgbClr val="5A625C"/>
                </a:solidFill>
                <a:latin typeface="Calibri" pitchFamily="34" charset="0"/>
                <a:ea typeface="Calibri" pitchFamily="34" charset="-122"/>
                <a:cs typeface="Calibri" pitchFamily="34" charset="-120"/>
              </a:rPr>
              <a:t>• None of them take energy data through to carbon, sourcing, flexibility and funded action on one platform.</a:t>
            </a:r>
            <a:endParaRPr lang="en-US" sz="1150" dirty="0"/>
          </a:p>
        </p:txBody>
      </p:sp>
      <p:sp>
        <p:nvSpPr>
          <p:cNvPr id="9" name="Text 7"/>
          <p:cNvSpPr/>
          <p:nvPr/>
        </p:nvSpPr>
        <p:spPr>
          <a:xfrm>
            <a:off x="621792" y="4251960"/>
            <a:ext cx="10948111" cy="1005840"/>
          </a:xfrm>
          <a:prstGeom prst="rect">
            <a:avLst/>
          </a:prstGeom>
          <a:noFill/>
          <a:ln/>
        </p:spPr>
        <p:txBody>
          <a:bodyPr wrap="square" rtlCol="0" anchor="t"/>
          <a:lstStyle/>
          <a:p>
            <a:pPr indent="0" marL="0">
              <a:buNone/>
            </a:pPr>
            <a:r>
              <a:rPr lang="en-US" sz="1150" i="1" dirty="0">
                <a:solidFill>
                  <a:srgbClr val="007A27"/>
                </a:solidFill>
                <a:latin typeface="Calibri" pitchFamily="34" charset="0"/>
                <a:ea typeface="Calibri" pitchFamily="34" charset="-122"/>
                <a:cs typeface="Calibri" pitchFamily="34" charset="-120"/>
              </a:rPr>
              <a:t>Implication: Position RA+ against the field on convergence and cobenefits, and treat single-vendor comparisons as sales tools only.</a:t>
            </a:r>
            <a:endParaRPr lang="en-US" sz="1150" dirty="0"/>
          </a:p>
        </p:txBody>
      </p:sp>
      <p:sp>
        <p:nvSpPr>
          <p:cNvPr id="10" name="Text 8"/>
          <p:cNvSpPr/>
          <p:nvPr/>
        </p:nvSpPr>
        <p:spPr>
          <a:xfrm>
            <a:off x="621792" y="6629400"/>
            <a:ext cx="5486400" cy="219456"/>
          </a:xfrm>
          <a:prstGeom prst="rect">
            <a:avLst/>
          </a:prstGeom>
          <a:noFill/>
          <a:ln/>
        </p:spPr>
        <p:txBody>
          <a:bodyPr wrap="square" rtlCol="0" anchor="ctr"/>
          <a:lstStyle/>
          <a:p>
            <a:pPr indent="0" marL="0">
              <a:buNone/>
            </a:pPr>
            <a:r>
              <a:rPr lang="en-US" sz="850" dirty="0">
                <a:solidFill>
                  <a:srgbClr val="5A625C"/>
                </a:solidFill>
                <a:latin typeface="Calibri" pitchFamily="34" charset="0"/>
                <a:ea typeface="Calibri" pitchFamily="34" charset="-122"/>
                <a:cs typeface="Calibri" pitchFamily="34" charset="-120"/>
              </a:rPr>
              <a:t>RA+ Strategy &amp; Roadmap · Confidential</a:t>
            </a:r>
            <a:endParaRPr lang="en-US" sz="850" dirty="0"/>
          </a:p>
        </p:txBody>
      </p:sp>
      <p:sp>
        <p:nvSpPr>
          <p:cNvPr id="11" name="Text 9"/>
          <p:cNvSpPr/>
          <p:nvPr/>
        </p:nvSpPr>
        <p:spPr>
          <a:xfrm>
            <a:off x="10655503" y="6629400"/>
            <a:ext cx="914400" cy="219456"/>
          </a:xfrm>
          <a:prstGeom prst="rect">
            <a:avLst/>
          </a:prstGeom>
          <a:noFill/>
          <a:ln/>
        </p:spPr>
        <p:txBody>
          <a:bodyPr wrap="square" rtlCol="0" anchor="ctr"/>
          <a:lstStyle/>
          <a:p>
            <a:pPr algn="r" indent="0" marL="0">
              <a:buNone/>
            </a:pPr>
            <a:r>
              <a:rPr lang="en-US" sz="850" dirty="0">
                <a:solidFill>
                  <a:srgbClr val="5A625C"/>
                </a:solidFill>
                <a:latin typeface="Calibri" pitchFamily="34" charset="0"/>
                <a:ea typeface="Calibri" pitchFamily="34" charset="-122"/>
                <a:cs typeface="Calibri" pitchFamily="34" charset="-120"/>
              </a:rPr>
              <a:t>13 / 28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659636"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786384" y="329184"/>
            <a:ext cx="1367028" cy="256032"/>
          </a:xfrm>
          <a:prstGeom prst="rect">
            <a:avLst/>
          </a:prstGeom>
          <a:noFill/>
          <a:ln/>
        </p:spPr>
        <p:txBody>
          <a:bodyPr wrap="none" rtlCol="0" anchor="ctr"/>
          <a:lstStyle/>
          <a:p>
            <a:pPr indent="0" marL="0">
              <a:buNone/>
            </a:pPr>
            <a:r>
              <a:rPr lang="en-US" sz="950" b="1" dirty="0">
                <a:solidFill>
                  <a:srgbClr val="007A27"/>
                </a:solidFill>
                <a:latin typeface="Calibri" pitchFamily="34" charset="0"/>
                <a:ea typeface="Calibri" pitchFamily="34" charset="-122"/>
                <a:cs typeface="Calibri" pitchFamily="34" charset="-120"/>
              </a:rPr>
              <a:t>COMPETITION</a:t>
            </a:r>
            <a:endParaRPr lang="en-US" sz="950" dirty="0"/>
          </a:p>
        </p:txBody>
      </p:sp>
      <p:sp>
        <p:nvSpPr>
          <p:cNvPr id="6" name="Text 4"/>
          <p:cNvSpPr/>
          <p:nvPr/>
        </p:nvSpPr>
        <p:spPr>
          <a:xfrm>
            <a:off x="621792" y="768096"/>
            <a:ext cx="10948111" cy="822960"/>
          </a:xfrm>
          <a:prstGeom prst="rect">
            <a:avLst/>
          </a:prstGeom>
          <a:noFill/>
          <a:ln/>
        </p:spPr>
        <p:txBody>
          <a:bodyPr wrap="square" rtlCol="0" anchor="t">
            <a:normAutofit/>
          </a:bodyPr>
          <a:lstStyle/>
          <a:p>
            <a:pPr indent="0" marL="0">
              <a:buNone/>
            </a:pPr>
            <a:r>
              <a:rPr lang="en-US" sz="2800" b="1" dirty="0">
                <a:solidFill>
                  <a:srgbClr val="1E2420"/>
                </a:solidFill>
                <a:latin typeface="Calibri" pitchFamily="34" charset="0"/>
                <a:ea typeface="Calibri" pitchFamily="34" charset="-122"/>
                <a:cs typeface="Calibri" pitchFamily="34" charset="-120"/>
              </a:rPr>
              <a:t>Who do we actually face in Climate Risk?</a:t>
            </a:r>
            <a:endParaRPr lang="en-US" sz="2800" dirty="0"/>
          </a:p>
        </p:txBody>
      </p:sp>
      <p:sp>
        <p:nvSpPr>
          <p:cNvPr id="7" name="Text 5"/>
          <p:cNvSpPr/>
          <p:nvPr/>
        </p:nvSpPr>
        <p:spPr>
          <a:xfrm>
            <a:off x="621792" y="1691640"/>
            <a:ext cx="10948111" cy="868680"/>
          </a:xfrm>
          <a:prstGeom prst="rect">
            <a:avLst/>
          </a:prstGeom>
          <a:noFill/>
          <a:ln/>
        </p:spPr>
        <p:txBody>
          <a:bodyPr wrap="square" rtlCol="0" anchor="t"/>
          <a:lstStyle/>
          <a:p>
            <a:pPr indent="0" marL="0">
              <a:buNone/>
            </a:pPr>
            <a:r>
              <a:rPr lang="en-US" sz="1300" dirty="0">
                <a:solidFill>
                  <a:srgbClr val="1E2420"/>
                </a:solidFill>
                <a:latin typeface="Calibri" pitchFamily="34" charset="0"/>
                <a:ea typeface="Calibri" pitchFamily="34" charset="-122"/>
                <a:cs typeface="Calibri" pitchFamily="34" charset="-120"/>
              </a:rPr>
              <a:t>Climate risk specialists with strong hazard science, plus data and rule setters that shape what clients must produce.</a:t>
            </a:r>
            <a:endParaRPr lang="en-US" sz="1300" dirty="0"/>
          </a:p>
        </p:txBody>
      </p:sp>
      <p:sp>
        <p:nvSpPr>
          <p:cNvPr id="8" name="Text 6"/>
          <p:cNvSpPr/>
          <p:nvPr/>
        </p:nvSpPr>
        <p:spPr>
          <a:xfrm>
            <a:off x="713232" y="2697480"/>
            <a:ext cx="10765231" cy="1371600"/>
          </a:xfrm>
          <a:prstGeom prst="rect">
            <a:avLst/>
          </a:prstGeom>
          <a:noFill/>
          <a:ln/>
        </p:spPr>
        <p:txBody>
          <a:bodyPr wrap="square" rtlCol="0" anchor="t"/>
          <a:lstStyle/>
          <a:p>
            <a:pPr marL="342900" indent="-342900">
              <a:buSzPct val="100000"/>
              <a:buChar char="•"/>
            </a:pPr>
            <a:r>
              <a:rPr lang="en-US" sz="1150" dirty="0">
                <a:solidFill>
                  <a:srgbClr val="5A625C"/>
                </a:solidFill>
                <a:latin typeface="Calibri" pitchFamily="34" charset="0"/>
                <a:ea typeface="Calibri" pitchFamily="34" charset="-122"/>
                <a:cs typeface="Calibri" pitchFamily="34" charset="-120"/>
              </a:rPr>
              <a:t>• Climate X, XDI, Cotality, S&amp;P Global Climanomics, Risilience and Bloomberg are the competitive set.</a:t>
            </a:r>
            <a:endParaRPr lang="en-US" sz="1150" dirty="0"/>
          </a:p>
          <a:p>
            <a:pPr marL="342900" indent="-342900">
              <a:buSzPct val="100000"/>
              <a:buChar char="•"/>
            </a:pPr>
            <a:r>
              <a:rPr lang="en-US" sz="1150" dirty="0">
                <a:solidFill>
                  <a:srgbClr val="5A625C"/>
                </a:solidFill>
                <a:latin typeface="Calibri" pitchFamily="34" charset="0"/>
                <a:ea typeface="Calibri" pitchFamily="34" charset="-122"/>
                <a:cs typeface="Calibri" pitchFamily="34" charset="-120"/>
              </a:rPr>
              <a:t>• Copperleaf is adjacent on capital planning rather than a direct rival.</a:t>
            </a:r>
            <a:endParaRPr lang="en-US" sz="1150" dirty="0"/>
          </a:p>
          <a:p>
            <a:pPr marL="342900" indent="-342900">
              <a:buSzPct val="100000"/>
              <a:buChar char="•"/>
            </a:pPr>
            <a:r>
              <a:rPr lang="en-US" sz="1150" dirty="0">
                <a:solidFill>
                  <a:srgbClr val="5A625C"/>
                </a:solidFill>
                <a:latin typeface="Calibri" pitchFamily="34" charset="0"/>
                <a:ea typeface="Calibri" pitchFamily="34" charset="-122"/>
                <a:cs typeface="Calibri" pitchFamily="34" charset="-120"/>
              </a:rPr>
              <a:t>• EPA, SEC and WMO set data and rules, while Oxford and ECIU provide science credibility.</a:t>
            </a:r>
            <a:endParaRPr lang="en-US" sz="1150" dirty="0"/>
          </a:p>
        </p:txBody>
      </p:sp>
      <p:sp>
        <p:nvSpPr>
          <p:cNvPr id="9" name="Text 7"/>
          <p:cNvSpPr/>
          <p:nvPr/>
        </p:nvSpPr>
        <p:spPr>
          <a:xfrm>
            <a:off x="621792" y="4251960"/>
            <a:ext cx="10948111" cy="1005840"/>
          </a:xfrm>
          <a:prstGeom prst="rect">
            <a:avLst/>
          </a:prstGeom>
          <a:noFill/>
          <a:ln/>
        </p:spPr>
        <p:txBody>
          <a:bodyPr wrap="square" rtlCol="0" anchor="t"/>
          <a:lstStyle/>
          <a:p>
            <a:pPr indent="0" marL="0">
              <a:buNone/>
            </a:pPr>
            <a:r>
              <a:rPr lang="en-US" sz="1150" i="1" dirty="0">
                <a:solidFill>
                  <a:srgbClr val="007A27"/>
                </a:solidFill>
                <a:latin typeface="Calibri" pitchFamily="34" charset="0"/>
                <a:ea typeface="Calibri" pitchFamily="34" charset="-122"/>
                <a:cs typeface="Calibri" pitchFamily="34" charset="-120"/>
              </a:rPr>
              <a:t>Implication: Win on financially expressed value-chain risk connected to inventory and action, not on hazard modelling depth alone.</a:t>
            </a:r>
            <a:endParaRPr lang="en-US" sz="1150" dirty="0"/>
          </a:p>
          <a:p>
            <a:pPr indent="0" marL="0">
              <a:buNone/>
            </a:pPr>
            <a:r>
              <a:rPr lang="en-US" sz="1150" i="1" dirty="0">
                <a:solidFill>
                  <a:srgbClr val="007A27"/>
                </a:solidFill>
                <a:latin typeface="Calibri" pitchFamily="34" charset="0"/>
                <a:ea typeface="Calibri" pitchFamily="34" charset="-122"/>
                <a:cs typeface="Calibri" pitchFamily="34" charset="-120"/>
              </a:rPr>
              <a:t>Caution: Do not claim parity on proprietary hazard science without a validated methodology review.</a:t>
            </a:r>
            <a:endParaRPr lang="en-US" sz="1150" dirty="0"/>
          </a:p>
        </p:txBody>
      </p:sp>
      <p:sp>
        <p:nvSpPr>
          <p:cNvPr id="10" name="Text 8"/>
          <p:cNvSpPr/>
          <p:nvPr/>
        </p:nvSpPr>
        <p:spPr>
          <a:xfrm>
            <a:off x="621792" y="6629400"/>
            <a:ext cx="5486400" cy="219456"/>
          </a:xfrm>
          <a:prstGeom prst="rect">
            <a:avLst/>
          </a:prstGeom>
          <a:noFill/>
          <a:ln/>
        </p:spPr>
        <p:txBody>
          <a:bodyPr wrap="square" rtlCol="0" anchor="ctr"/>
          <a:lstStyle/>
          <a:p>
            <a:pPr indent="0" marL="0">
              <a:buNone/>
            </a:pPr>
            <a:r>
              <a:rPr lang="en-US" sz="850" dirty="0">
                <a:solidFill>
                  <a:srgbClr val="5A625C"/>
                </a:solidFill>
                <a:latin typeface="Calibri" pitchFamily="34" charset="0"/>
                <a:ea typeface="Calibri" pitchFamily="34" charset="-122"/>
                <a:cs typeface="Calibri" pitchFamily="34" charset="-120"/>
              </a:rPr>
              <a:t>RA+ Strategy &amp; Roadmap · Confidential</a:t>
            </a:r>
            <a:endParaRPr lang="en-US" sz="850" dirty="0"/>
          </a:p>
        </p:txBody>
      </p:sp>
      <p:sp>
        <p:nvSpPr>
          <p:cNvPr id="11" name="Text 9"/>
          <p:cNvSpPr/>
          <p:nvPr/>
        </p:nvSpPr>
        <p:spPr>
          <a:xfrm>
            <a:off x="10655503" y="6629400"/>
            <a:ext cx="914400" cy="219456"/>
          </a:xfrm>
          <a:prstGeom prst="rect">
            <a:avLst/>
          </a:prstGeom>
          <a:noFill/>
          <a:ln/>
        </p:spPr>
        <p:txBody>
          <a:bodyPr wrap="square" rtlCol="0" anchor="ctr"/>
          <a:lstStyle/>
          <a:p>
            <a:pPr algn="r" indent="0" marL="0">
              <a:buNone/>
            </a:pPr>
            <a:r>
              <a:rPr lang="en-US" sz="850" dirty="0">
                <a:solidFill>
                  <a:srgbClr val="5A625C"/>
                </a:solidFill>
                <a:latin typeface="Calibri" pitchFamily="34" charset="0"/>
                <a:ea typeface="Calibri" pitchFamily="34" charset="-122"/>
                <a:cs typeface="Calibri" pitchFamily="34" charset="-120"/>
              </a:rPr>
              <a:t>14 / 28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2468880"/>
            <a:ext cx="2560320" cy="457200"/>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22960" y="2514600"/>
            <a:ext cx="2286000" cy="365760"/>
          </a:xfrm>
          <a:prstGeom prst="rect">
            <a:avLst/>
          </a:prstGeom>
          <a:noFill/>
          <a:ln/>
        </p:spPr>
        <p:txBody>
          <a:bodyPr wrap="square" rtlCol="0" anchor="ctr"/>
          <a:lstStyle/>
          <a:p>
            <a:pPr indent="0" marL="0">
              <a:buNone/>
            </a:pPr>
            <a:r>
              <a:rPr lang="en-US" sz="1400" b="1" dirty="0">
                <a:solidFill>
                  <a:srgbClr val="007A27"/>
                </a:solidFill>
                <a:latin typeface="Calibri" pitchFamily="34" charset="0"/>
                <a:ea typeface="Calibri" pitchFamily="34" charset="-122"/>
                <a:cs typeface="Calibri" pitchFamily="34" charset="-120"/>
              </a:rPr>
              <a:t>VALUE CASE</a:t>
            </a:r>
            <a:endParaRPr lang="en-US" sz="1400" dirty="0"/>
          </a:p>
        </p:txBody>
      </p:sp>
      <p:sp>
        <p:nvSpPr>
          <p:cNvPr id="6" name="Text 4"/>
          <p:cNvSpPr/>
          <p:nvPr/>
        </p:nvSpPr>
        <p:spPr>
          <a:xfrm>
            <a:off x="621792" y="3200400"/>
            <a:ext cx="10948111" cy="731520"/>
          </a:xfrm>
          <a:prstGeom prst="rect">
            <a:avLst/>
          </a:prstGeom>
          <a:noFill/>
          <a:ln/>
        </p:spPr>
        <p:txBody>
          <a:bodyPr wrap="square" rtlCol="0" anchor="t"/>
          <a:lstStyle/>
          <a:p>
            <a:pPr indent="0" marL="0">
              <a:buNone/>
            </a:pPr>
            <a:r>
              <a:rPr lang="en-US" sz="4000" b="1" dirty="0">
                <a:solidFill>
                  <a:srgbClr val="1E2420"/>
                </a:solidFill>
                <a:latin typeface="Calibri" pitchFamily="34" charset="0"/>
                <a:ea typeface="Calibri" pitchFamily="34" charset="-122"/>
                <a:cs typeface="Calibri" pitchFamily="34" charset="-120"/>
              </a:rPr>
              <a:t>Leadership Q&amp;A</a:t>
            </a:r>
            <a:endParaRPr lang="en-US" sz="4000" dirty="0"/>
          </a:p>
        </p:txBody>
      </p:sp>
      <p:sp>
        <p:nvSpPr>
          <p:cNvPr id="7" name="Text 5"/>
          <p:cNvSpPr/>
          <p:nvPr/>
        </p:nvSpPr>
        <p:spPr>
          <a:xfrm>
            <a:off x="621792" y="6629400"/>
            <a:ext cx="5486400" cy="219456"/>
          </a:xfrm>
          <a:prstGeom prst="rect">
            <a:avLst/>
          </a:prstGeom>
          <a:noFill/>
          <a:ln/>
        </p:spPr>
        <p:txBody>
          <a:bodyPr wrap="square" rtlCol="0" anchor="ctr"/>
          <a:lstStyle/>
          <a:p>
            <a:pPr indent="0" marL="0">
              <a:buNone/>
            </a:pPr>
            <a:r>
              <a:rPr lang="en-US" sz="850" dirty="0">
                <a:solidFill>
                  <a:srgbClr val="5A625C"/>
                </a:solidFill>
                <a:latin typeface="Calibri" pitchFamily="34" charset="0"/>
                <a:ea typeface="Calibri" pitchFamily="34" charset="-122"/>
                <a:cs typeface="Calibri" pitchFamily="34" charset="-120"/>
              </a:rPr>
              <a:t>RA+ Strategy &amp; Roadmap · Confidential</a:t>
            </a:r>
            <a:endParaRPr lang="en-US" sz="850" dirty="0"/>
          </a:p>
        </p:txBody>
      </p:sp>
      <p:sp>
        <p:nvSpPr>
          <p:cNvPr id="8" name="Text 6"/>
          <p:cNvSpPr/>
          <p:nvPr/>
        </p:nvSpPr>
        <p:spPr>
          <a:xfrm>
            <a:off x="10655503" y="6629400"/>
            <a:ext cx="914400" cy="219456"/>
          </a:xfrm>
          <a:prstGeom prst="rect">
            <a:avLst/>
          </a:prstGeom>
          <a:noFill/>
          <a:ln/>
        </p:spPr>
        <p:txBody>
          <a:bodyPr wrap="square" rtlCol="0" anchor="ctr"/>
          <a:lstStyle/>
          <a:p>
            <a:pPr algn="r" indent="0" marL="0">
              <a:buNone/>
            </a:pPr>
            <a:r>
              <a:rPr lang="en-US" sz="850" dirty="0">
                <a:solidFill>
                  <a:srgbClr val="5A625C"/>
                </a:solidFill>
                <a:latin typeface="Calibri" pitchFamily="34" charset="0"/>
                <a:ea typeface="Calibri" pitchFamily="34" charset="-122"/>
                <a:cs typeface="Calibri" pitchFamily="34" charset="-120"/>
              </a:rPr>
              <a:t>15 / 28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554480"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786384" y="329184"/>
            <a:ext cx="1261872" cy="256032"/>
          </a:xfrm>
          <a:prstGeom prst="rect">
            <a:avLst/>
          </a:prstGeom>
          <a:noFill/>
          <a:ln/>
        </p:spPr>
        <p:txBody>
          <a:bodyPr wrap="none" rtlCol="0" anchor="ctr"/>
          <a:lstStyle/>
          <a:p>
            <a:pPr indent="0" marL="0">
              <a:buNone/>
            </a:pPr>
            <a:r>
              <a:rPr lang="en-US" sz="950" b="1" dirty="0">
                <a:solidFill>
                  <a:srgbClr val="007A27"/>
                </a:solidFill>
                <a:latin typeface="Calibri" pitchFamily="34" charset="0"/>
                <a:ea typeface="Calibri" pitchFamily="34" charset="-122"/>
                <a:cs typeface="Calibri" pitchFamily="34" charset="-120"/>
              </a:rPr>
              <a:t>VALUE CASE</a:t>
            </a:r>
            <a:endParaRPr lang="en-US" sz="950" dirty="0"/>
          </a:p>
        </p:txBody>
      </p:sp>
      <p:sp>
        <p:nvSpPr>
          <p:cNvPr id="6" name="Text 4"/>
          <p:cNvSpPr/>
          <p:nvPr/>
        </p:nvSpPr>
        <p:spPr>
          <a:xfrm>
            <a:off x="621792" y="768096"/>
            <a:ext cx="10948111" cy="822960"/>
          </a:xfrm>
          <a:prstGeom prst="rect">
            <a:avLst/>
          </a:prstGeom>
          <a:noFill/>
          <a:ln/>
        </p:spPr>
        <p:txBody>
          <a:bodyPr wrap="square" rtlCol="0" anchor="t">
            <a:normAutofit/>
          </a:bodyPr>
          <a:lstStyle/>
          <a:p>
            <a:pPr indent="0" marL="0">
              <a:buNone/>
            </a:pPr>
            <a:r>
              <a:rPr lang="en-US" sz="2800" b="1" dirty="0">
                <a:solidFill>
                  <a:srgbClr val="1E2420"/>
                </a:solidFill>
                <a:latin typeface="Calibri" pitchFamily="34" charset="0"/>
                <a:ea typeface="Calibri" pitchFamily="34" charset="-122"/>
                <a:cs typeface="Calibri" pitchFamily="34" charset="-120"/>
              </a:rPr>
              <a:t>Where does the financial value come from?</a:t>
            </a:r>
            <a:endParaRPr lang="en-US" sz="2800" dirty="0"/>
          </a:p>
        </p:txBody>
      </p:sp>
      <p:sp>
        <p:nvSpPr>
          <p:cNvPr id="7" name="Text 5"/>
          <p:cNvSpPr/>
          <p:nvPr/>
        </p:nvSpPr>
        <p:spPr>
          <a:xfrm>
            <a:off x="621792" y="1691640"/>
            <a:ext cx="10948111" cy="868680"/>
          </a:xfrm>
          <a:prstGeom prst="rect">
            <a:avLst/>
          </a:prstGeom>
          <a:noFill/>
          <a:ln/>
        </p:spPr>
        <p:txBody>
          <a:bodyPr wrap="square" rtlCol="0" anchor="t"/>
          <a:lstStyle/>
          <a:p>
            <a:pPr indent="0" marL="0">
              <a:buNone/>
            </a:pPr>
            <a:r>
              <a:rPr lang="en-US" sz="1300" dirty="0">
                <a:solidFill>
                  <a:srgbClr val="1E2420"/>
                </a:solidFill>
                <a:latin typeface="Calibri" pitchFamily="34" charset="0"/>
                <a:ea typeface="Calibri" pitchFamily="34" charset="-122"/>
                <a:cs typeface="Calibri" pitchFamily="34" charset="-120"/>
              </a:rPr>
              <a:t>Three mechanisms: protect and expand revenue, remove duplicated cost to serve, and avoid or reprice climate exposure.</a:t>
            </a:r>
            <a:endParaRPr lang="en-US" sz="1300" dirty="0"/>
          </a:p>
        </p:txBody>
      </p:sp>
      <p:sp>
        <p:nvSpPr>
          <p:cNvPr id="8" name="Text 6"/>
          <p:cNvSpPr/>
          <p:nvPr/>
        </p:nvSpPr>
        <p:spPr>
          <a:xfrm>
            <a:off x="713232" y="2697480"/>
            <a:ext cx="10765231" cy="1371600"/>
          </a:xfrm>
          <a:prstGeom prst="rect">
            <a:avLst/>
          </a:prstGeom>
          <a:noFill/>
          <a:ln/>
        </p:spPr>
        <p:txBody>
          <a:bodyPr wrap="square" rtlCol="0" anchor="t"/>
          <a:lstStyle/>
          <a:p>
            <a:pPr marL="342900" indent="-342900">
              <a:buSzPct val="100000"/>
              <a:buChar char="•"/>
            </a:pPr>
            <a:r>
              <a:rPr lang="en-US" sz="1150" dirty="0">
                <a:solidFill>
                  <a:srgbClr val="5A625C"/>
                </a:solidFill>
                <a:latin typeface="Calibri" pitchFamily="34" charset="0"/>
                <a:ea typeface="Calibri" pitchFamily="34" charset="-122"/>
                <a:cs typeface="Calibri" pitchFamily="34" charset="-120"/>
              </a:rPr>
              <a:t>• Growth: broader account relevance, cross-sell paths and platform consolidation.</a:t>
            </a:r>
            <a:endParaRPr lang="en-US" sz="1150" dirty="0"/>
          </a:p>
          <a:p>
            <a:pPr marL="342900" indent="-342900">
              <a:buSzPct val="100000"/>
              <a:buChar char="•"/>
            </a:pPr>
            <a:r>
              <a:rPr lang="en-US" sz="1150" dirty="0">
                <a:solidFill>
                  <a:srgbClr val="5A625C"/>
                </a:solidFill>
                <a:latin typeface="Calibri" pitchFamily="34" charset="0"/>
                <a:ea typeface="Calibri" pitchFamily="34" charset="-122"/>
                <a:cs typeface="Calibri" pitchFamily="34" charset="-120"/>
              </a:rPr>
              <a:t>• Efficiency: shared ingestion, calculations, evidence and AI-assisted workflows.</a:t>
            </a:r>
            <a:endParaRPr lang="en-US" sz="1150" dirty="0"/>
          </a:p>
          <a:p>
            <a:pPr marL="342900" indent="-342900">
              <a:buSzPct val="100000"/>
              <a:buChar char="•"/>
            </a:pPr>
            <a:r>
              <a:rPr lang="en-US" sz="1150" dirty="0">
                <a:solidFill>
                  <a:srgbClr val="5A625C"/>
                </a:solidFill>
                <a:latin typeface="Calibri" pitchFamily="34" charset="0"/>
                <a:ea typeface="Calibri" pitchFamily="34" charset="-122"/>
                <a:cs typeface="Calibri" pitchFamily="34" charset="-120"/>
              </a:rPr>
              <a:t>• Risk and capital: ClimVar, scenarios and adaptation actions direct funding to higher-value responses.</a:t>
            </a:r>
            <a:endParaRPr lang="en-US" sz="1150" dirty="0"/>
          </a:p>
        </p:txBody>
      </p:sp>
      <p:sp>
        <p:nvSpPr>
          <p:cNvPr id="9" name="Text 7"/>
          <p:cNvSpPr/>
          <p:nvPr/>
        </p:nvSpPr>
        <p:spPr>
          <a:xfrm>
            <a:off x="621792" y="4251960"/>
            <a:ext cx="10948111" cy="1005840"/>
          </a:xfrm>
          <a:prstGeom prst="rect">
            <a:avLst/>
          </a:prstGeom>
          <a:noFill/>
          <a:ln/>
        </p:spPr>
        <p:txBody>
          <a:bodyPr wrap="square" rtlCol="0" anchor="t"/>
          <a:lstStyle/>
          <a:p>
            <a:pPr indent="0" marL="0">
              <a:buNone/>
            </a:pPr>
            <a:r>
              <a:rPr lang="en-US" sz="1150" i="1" dirty="0">
                <a:solidFill>
                  <a:srgbClr val="007A27"/>
                </a:solidFill>
                <a:latin typeface="Calibri" pitchFamily="34" charset="0"/>
                <a:ea typeface="Calibri" pitchFamily="34" charset="-122"/>
                <a:cs typeface="Calibri" pitchFamily="34" charset="-120"/>
              </a:rPr>
              <a:t>Implication: The value case should be governed as three measurable ledgers, not one blended aspiration.</a:t>
            </a:r>
            <a:endParaRPr lang="en-US" sz="1150" dirty="0"/>
          </a:p>
        </p:txBody>
      </p:sp>
      <p:sp>
        <p:nvSpPr>
          <p:cNvPr id="10" name="Text 8"/>
          <p:cNvSpPr/>
          <p:nvPr/>
        </p:nvSpPr>
        <p:spPr>
          <a:xfrm>
            <a:off x="621792" y="6629400"/>
            <a:ext cx="5486400" cy="219456"/>
          </a:xfrm>
          <a:prstGeom prst="rect">
            <a:avLst/>
          </a:prstGeom>
          <a:noFill/>
          <a:ln/>
        </p:spPr>
        <p:txBody>
          <a:bodyPr wrap="square" rtlCol="0" anchor="ctr"/>
          <a:lstStyle/>
          <a:p>
            <a:pPr indent="0" marL="0">
              <a:buNone/>
            </a:pPr>
            <a:r>
              <a:rPr lang="en-US" sz="850" dirty="0">
                <a:solidFill>
                  <a:srgbClr val="5A625C"/>
                </a:solidFill>
                <a:latin typeface="Calibri" pitchFamily="34" charset="0"/>
                <a:ea typeface="Calibri" pitchFamily="34" charset="-122"/>
                <a:cs typeface="Calibri" pitchFamily="34" charset="-120"/>
              </a:rPr>
              <a:t>RA+ Strategy &amp; Roadmap · Confidential</a:t>
            </a:r>
            <a:endParaRPr lang="en-US" sz="850" dirty="0"/>
          </a:p>
        </p:txBody>
      </p:sp>
      <p:sp>
        <p:nvSpPr>
          <p:cNvPr id="11" name="Text 9"/>
          <p:cNvSpPr/>
          <p:nvPr/>
        </p:nvSpPr>
        <p:spPr>
          <a:xfrm>
            <a:off x="10655503" y="6629400"/>
            <a:ext cx="914400" cy="219456"/>
          </a:xfrm>
          <a:prstGeom prst="rect">
            <a:avLst/>
          </a:prstGeom>
          <a:noFill/>
          <a:ln/>
        </p:spPr>
        <p:txBody>
          <a:bodyPr wrap="square" rtlCol="0" anchor="ctr"/>
          <a:lstStyle/>
          <a:p>
            <a:pPr algn="r" indent="0" marL="0">
              <a:buNone/>
            </a:pPr>
            <a:r>
              <a:rPr lang="en-US" sz="850" dirty="0">
                <a:solidFill>
                  <a:srgbClr val="5A625C"/>
                </a:solidFill>
                <a:latin typeface="Calibri" pitchFamily="34" charset="0"/>
                <a:ea typeface="Calibri" pitchFamily="34" charset="-122"/>
                <a:cs typeface="Calibri" pitchFamily="34" charset="-120"/>
              </a:rPr>
              <a:t>16 / 28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554480"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786384" y="329184"/>
            <a:ext cx="1261872" cy="256032"/>
          </a:xfrm>
          <a:prstGeom prst="rect">
            <a:avLst/>
          </a:prstGeom>
          <a:noFill/>
          <a:ln/>
        </p:spPr>
        <p:txBody>
          <a:bodyPr wrap="none" rtlCol="0" anchor="ctr"/>
          <a:lstStyle/>
          <a:p>
            <a:pPr indent="0" marL="0">
              <a:buNone/>
            </a:pPr>
            <a:r>
              <a:rPr lang="en-US" sz="950" b="1" dirty="0">
                <a:solidFill>
                  <a:srgbClr val="007A27"/>
                </a:solidFill>
                <a:latin typeface="Calibri" pitchFamily="34" charset="0"/>
                <a:ea typeface="Calibri" pitchFamily="34" charset="-122"/>
                <a:cs typeface="Calibri" pitchFamily="34" charset="-120"/>
              </a:rPr>
              <a:t>VALUE CASE</a:t>
            </a:r>
            <a:endParaRPr lang="en-US" sz="950" dirty="0"/>
          </a:p>
        </p:txBody>
      </p:sp>
      <p:sp>
        <p:nvSpPr>
          <p:cNvPr id="6" name="Text 4"/>
          <p:cNvSpPr/>
          <p:nvPr/>
        </p:nvSpPr>
        <p:spPr>
          <a:xfrm>
            <a:off x="621792" y="768096"/>
            <a:ext cx="10948111" cy="822960"/>
          </a:xfrm>
          <a:prstGeom prst="rect">
            <a:avLst/>
          </a:prstGeom>
          <a:noFill/>
          <a:ln/>
        </p:spPr>
        <p:txBody>
          <a:bodyPr wrap="square" rtlCol="0" anchor="t">
            <a:normAutofit/>
          </a:bodyPr>
          <a:lstStyle/>
          <a:p>
            <a:pPr indent="0" marL="0">
              <a:buNone/>
            </a:pPr>
            <a:r>
              <a:rPr lang="en-US" sz="2800" b="1" dirty="0">
                <a:solidFill>
                  <a:srgbClr val="1E2420"/>
                </a:solidFill>
                <a:latin typeface="Calibri" pitchFamily="34" charset="0"/>
                <a:ea typeface="Calibri" pitchFamily="34" charset="-122"/>
                <a:cs typeface="Calibri" pitchFamily="34" charset="-120"/>
              </a:rPr>
              <a:t>Why are the euro values still blank?</a:t>
            </a:r>
            <a:endParaRPr lang="en-US" sz="2800" dirty="0"/>
          </a:p>
        </p:txBody>
      </p:sp>
      <p:sp>
        <p:nvSpPr>
          <p:cNvPr id="7" name="Text 5"/>
          <p:cNvSpPr/>
          <p:nvPr/>
        </p:nvSpPr>
        <p:spPr>
          <a:xfrm>
            <a:off x="621792" y="1691640"/>
            <a:ext cx="10948111" cy="868680"/>
          </a:xfrm>
          <a:prstGeom prst="rect">
            <a:avLst/>
          </a:prstGeom>
          <a:noFill/>
          <a:ln/>
        </p:spPr>
        <p:txBody>
          <a:bodyPr wrap="square" rtlCol="0" anchor="t"/>
          <a:lstStyle/>
          <a:p>
            <a:pPr indent="0" marL="0">
              <a:buNone/>
            </a:pPr>
            <a:r>
              <a:rPr lang="en-US" sz="1300" dirty="0">
                <a:solidFill>
                  <a:srgbClr val="1E2420"/>
                </a:solidFill>
                <a:latin typeface="Calibri" pitchFamily="34" charset="0"/>
                <a:ea typeface="Calibri" pitchFamily="34" charset="-122"/>
                <a:cs typeface="Calibri" pitchFamily="34" charset="-120"/>
              </a:rPr>
              <a:t>Because the deck does not contain validated baselines for ARR, cost to serve or financially expressed exposure, and inventing them would weaken the case.</a:t>
            </a:r>
            <a:endParaRPr lang="en-US" sz="1300" dirty="0"/>
          </a:p>
        </p:txBody>
      </p:sp>
      <p:sp>
        <p:nvSpPr>
          <p:cNvPr id="8" name="Text 6"/>
          <p:cNvSpPr/>
          <p:nvPr/>
        </p:nvSpPr>
        <p:spPr>
          <a:xfrm>
            <a:off x="713232" y="2697480"/>
            <a:ext cx="10765231" cy="1371600"/>
          </a:xfrm>
          <a:prstGeom prst="rect">
            <a:avLst/>
          </a:prstGeom>
          <a:noFill/>
          <a:ln/>
        </p:spPr>
        <p:txBody>
          <a:bodyPr wrap="square" rtlCol="0" anchor="t"/>
          <a:lstStyle/>
          <a:p>
            <a:pPr marL="342900" indent="-342900">
              <a:buSzPct val="100000"/>
              <a:buChar char="•"/>
            </a:pPr>
            <a:r>
              <a:rPr lang="en-US" sz="1150" dirty="0">
                <a:solidFill>
                  <a:srgbClr val="5A625C"/>
                </a:solidFill>
                <a:latin typeface="Calibri" pitchFamily="34" charset="0"/>
                <a:ea typeface="Calibri" pitchFamily="34" charset="-122"/>
                <a:cs typeface="Calibri" pitchFamily="34" charset="-120"/>
              </a:rPr>
              <a:t>• ARR protected and expanded needs account-level renewal and pipeline evidence.</a:t>
            </a:r>
            <a:endParaRPr lang="en-US" sz="1150" dirty="0"/>
          </a:p>
          <a:p>
            <a:pPr marL="342900" indent="-342900">
              <a:buSzPct val="100000"/>
              <a:buChar char="•"/>
            </a:pPr>
            <a:r>
              <a:rPr lang="en-US" sz="1150" dirty="0">
                <a:solidFill>
                  <a:srgbClr val="5A625C"/>
                </a:solidFill>
                <a:latin typeface="Calibri" pitchFamily="34" charset="0"/>
                <a:ea typeface="Calibri" pitchFamily="34" charset="-122"/>
                <a:cs typeface="Calibri" pitchFamily="34" charset="-120"/>
              </a:rPr>
              <a:t>• Annual cost removed needs current effort, run-cost and delivery baselines.</a:t>
            </a:r>
            <a:endParaRPr lang="en-US" sz="1150" dirty="0"/>
          </a:p>
          <a:p>
            <a:pPr marL="342900" indent="-342900">
              <a:buSzPct val="100000"/>
              <a:buChar char="•"/>
            </a:pPr>
            <a:r>
              <a:rPr lang="en-US" sz="1150" dirty="0">
                <a:solidFill>
                  <a:srgbClr val="5A625C"/>
                </a:solidFill>
                <a:latin typeface="Calibri" pitchFamily="34" charset="0"/>
                <a:ea typeface="Calibri" pitchFamily="34" charset="-122"/>
                <a:cs typeface="Calibri" pitchFamily="34" charset="-120"/>
              </a:rPr>
              <a:t>• Exposure avoided or repriced needs an agreed finance and risk methodology.</a:t>
            </a:r>
            <a:endParaRPr lang="en-US" sz="1150" dirty="0"/>
          </a:p>
        </p:txBody>
      </p:sp>
      <p:sp>
        <p:nvSpPr>
          <p:cNvPr id="9" name="Text 7"/>
          <p:cNvSpPr/>
          <p:nvPr/>
        </p:nvSpPr>
        <p:spPr>
          <a:xfrm>
            <a:off x="621792" y="4251960"/>
            <a:ext cx="10948111" cy="1005840"/>
          </a:xfrm>
          <a:prstGeom prst="rect">
            <a:avLst/>
          </a:prstGeom>
          <a:noFill/>
          <a:ln/>
        </p:spPr>
        <p:txBody>
          <a:bodyPr wrap="square" rtlCol="0" anchor="t"/>
          <a:lstStyle/>
          <a:p>
            <a:pPr indent="0" marL="0">
              <a:buNone/>
            </a:pPr>
            <a:r>
              <a:rPr lang="en-US" sz="1150" i="1" dirty="0">
                <a:solidFill>
                  <a:srgbClr val="007A27"/>
                </a:solidFill>
                <a:latin typeface="Calibri" pitchFamily="34" charset="0"/>
                <a:ea typeface="Calibri" pitchFamily="34" charset="-122"/>
                <a:cs typeface="Calibri" pitchFamily="34" charset="-120"/>
              </a:rPr>
              <a:t>Implication: Finance and Product should baseline all three measures before investment lock.</a:t>
            </a:r>
            <a:endParaRPr lang="en-US" sz="1150" dirty="0"/>
          </a:p>
          <a:p>
            <a:pPr indent="0" marL="0">
              <a:buNone/>
            </a:pPr>
            <a:r>
              <a:rPr lang="en-US" sz="1150" i="1" dirty="0">
                <a:solidFill>
                  <a:srgbClr val="007A27"/>
                </a:solidFill>
                <a:latin typeface="Calibri" pitchFamily="34" charset="0"/>
                <a:ea typeface="Calibri" pitchFamily="34" charset="-122"/>
                <a:cs typeface="Calibri" pitchFamily="34" charset="-120"/>
              </a:rPr>
              <a:t>Caution: Placeholders remain placeholders until owners, methods and source data are approved.</a:t>
            </a:r>
            <a:endParaRPr lang="en-US" sz="1150" dirty="0"/>
          </a:p>
        </p:txBody>
      </p:sp>
      <p:sp>
        <p:nvSpPr>
          <p:cNvPr id="10" name="Text 8"/>
          <p:cNvSpPr/>
          <p:nvPr/>
        </p:nvSpPr>
        <p:spPr>
          <a:xfrm>
            <a:off x="621792" y="6629400"/>
            <a:ext cx="5486400" cy="219456"/>
          </a:xfrm>
          <a:prstGeom prst="rect">
            <a:avLst/>
          </a:prstGeom>
          <a:noFill/>
          <a:ln/>
        </p:spPr>
        <p:txBody>
          <a:bodyPr wrap="square" rtlCol="0" anchor="ctr"/>
          <a:lstStyle/>
          <a:p>
            <a:pPr indent="0" marL="0">
              <a:buNone/>
            </a:pPr>
            <a:r>
              <a:rPr lang="en-US" sz="850" dirty="0">
                <a:solidFill>
                  <a:srgbClr val="5A625C"/>
                </a:solidFill>
                <a:latin typeface="Calibri" pitchFamily="34" charset="0"/>
                <a:ea typeface="Calibri" pitchFamily="34" charset="-122"/>
                <a:cs typeface="Calibri" pitchFamily="34" charset="-120"/>
              </a:rPr>
              <a:t>RA+ Strategy &amp; Roadmap · Confidential</a:t>
            </a:r>
            <a:endParaRPr lang="en-US" sz="850" dirty="0"/>
          </a:p>
        </p:txBody>
      </p:sp>
      <p:sp>
        <p:nvSpPr>
          <p:cNvPr id="11" name="Text 9"/>
          <p:cNvSpPr/>
          <p:nvPr/>
        </p:nvSpPr>
        <p:spPr>
          <a:xfrm>
            <a:off x="10655503" y="6629400"/>
            <a:ext cx="914400" cy="219456"/>
          </a:xfrm>
          <a:prstGeom prst="rect">
            <a:avLst/>
          </a:prstGeom>
          <a:noFill/>
          <a:ln/>
        </p:spPr>
        <p:txBody>
          <a:bodyPr wrap="square" rtlCol="0" anchor="ctr"/>
          <a:lstStyle/>
          <a:p>
            <a:pPr algn="r" indent="0" marL="0">
              <a:buNone/>
            </a:pPr>
            <a:r>
              <a:rPr lang="en-US" sz="850" dirty="0">
                <a:solidFill>
                  <a:srgbClr val="5A625C"/>
                </a:solidFill>
                <a:latin typeface="Calibri" pitchFamily="34" charset="0"/>
                <a:ea typeface="Calibri" pitchFamily="34" charset="-122"/>
                <a:cs typeface="Calibri" pitchFamily="34" charset="-120"/>
              </a:rPr>
              <a:t>17 / 28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554480"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786384" y="329184"/>
            <a:ext cx="1261872" cy="256032"/>
          </a:xfrm>
          <a:prstGeom prst="rect">
            <a:avLst/>
          </a:prstGeom>
          <a:noFill/>
          <a:ln/>
        </p:spPr>
        <p:txBody>
          <a:bodyPr wrap="none" rtlCol="0" anchor="ctr"/>
          <a:lstStyle/>
          <a:p>
            <a:pPr indent="0" marL="0">
              <a:buNone/>
            </a:pPr>
            <a:r>
              <a:rPr lang="en-US" sz="950" b="1" dirty="0">
                <a:solidFill>
                  <a:srgbClr val="007A27"/>
                </a:solidFill>
                <a:latin typeface="Calibri" pitchFamily="34" charset="0"/>
                <a:ea typeface="Calibri" pitchFamily="34" charset="-122"/>
                <a:cs typeface="Calibri" pitchFamily="34" charset="-120"/>
              </a:rPr>
              <a:t>VALUE CASE</a:t>
            </a:r>
            <a:endParaRPr lang="en-US" sz="950" dirty="0"/>
          </a:p>
        </p:txBody>
      </p:sp>
      <p:sp>
        <p:nvSpPr>
          <p:cNvPr id="6" name="Text 4"/>
          <p:cNvSpPr/>
          <p:nvPr/>
        </p:nvSpPr>
        <p:spPr>
          <a:xfrm>
            <a:off x="621792" y="768096"/>
            <a:ext cx="10948111" cy="822960"/>
          </a:xfrm>
          <a:prstGeom prst="rect">
            <a:avLst/>
          </a:prstGeom>
          <a:noFill/>
          <a:ln/>
        </p:spPr>
        <p:txBody>
          <a:bodyPr wrap="square" rtlCol="0" anchor="t">
            <a:normAutofit/>
          </a:bodyPr>
          <a:lstStyle/>
          <a:p>
            <a:pPr indent="0" marL="0">
              <a:buNone/>
            </a:pPr>
            <a:r>
              <a:rPr lang="en-US" sz="2800" b="1" dirty="0">
                <a:solidFill>
                  <a:srgbClr val="1E2420"/>
                </a:solidFill>
                <a:latin typeface="Calibri" pitchFamily="34" charset="0"/>
                <a:ea typeface="Calibri" pitchFamily="34" charset="-122"/>
                <a:cs typeface="Calibri" pitchFamily="34" charset="-120"/>
              </a:rPr>
              <a:t>How should we measure value without double counting?</a:t>
            </a:r>
            <a:endParaRPr lang="en-US" sz="2800" dirty="0"/>
          </a:p>
        </p:txBody>
      </p:sp>
      <p:sp>
        <p:nvSpPr>
          <p:cNvPr id="7" name="Text 5"/>
          <p:cNvSpPr/>
          <p:nvPr/>
        </p:nvSpPr>
        <p:spPr>
          <a:xfrm>
            <a:off x="621792" y="1691640"/>
            <a:ext cx="10948111" cy="868680"/>
          </a:xfrm>
          <a:prstGeom prst="rect">
            <a:avLst/>
          </a:prstGeom>
          <a:noFill/>
          <a:ln/>
        </p:spPr>
        <p:txBody>
          <a:bodyPr wrap="square" rtlCol="0" anchor="t"/>
          <a:lstStyle/>
          <a:p>
            <a:pPr indent="0" marL="0">
              <a:buNone/>
            </a:pPr>
            <a:r>
              <a:rPr lang="en-US" sz="1300" dirty="0">
                <a:solidFill>
                  <a:srgbClr val="1E2420"/>
                </a:solidFill>
                <a:latin typeface="Calibri" pitchFamily="34" charset="0"/>
                <a:ea typeface="Calibri" pitchFamily="34" charset="-122"/>
                <a:cs typeface="Calibri" pitchFamily="34" charset="-120"/>
              </a:rPr>
              <a:t>Assign one owner, baseline and realization rule to each benefit, then reconcile benefits at account and platform level.</a:t>
            </a:r>
            <a:endParaRPr lang="en-US" sz="1300" dirty="0"/>
          </a:p>
        </p:txBody>
      </p:sp>
      <p:sp>
        <p:nvSpPr>
          <p:cNvPr id="8" name="Text 6"/>
          <p:cNvSpPr/>
          <p:nvPr/>
        </p:nvSpPr>
        <p:spPr>
          <a:xfrm>
            <a:off x="713232" y="2697480"/>
            <a:ext cx="10765231" cy="1371600"/>
          </a:xfrm>
          <a:prstGeom prst="rect">
            <a:avLst/>
          </a:prstGeom>
          <a:noFill/>
          <a:ln/>
        </p:spPr>
        <p:txBody>
          <a:bodyPr wrap="square" rtlCol="0" anchor="t"/>
          <a:lstStyle/>
          <a:p>
            <a:pPr marL="342900" indent="-342900">
              <a:buSzPct val="100000"/>
              <a:buChar char="•"/>
            </a:pPr>
            <a:r>
              <a:rPr lang="en-US" sz="1150" dirty="0">
                <a:solidFill>
                  <a:srgbClr val="5A625C"/>
                </a:solidFill>
                <a:latin typeface="Calibri" pitchFamily="34" charset="0"/>
                <a:ea typeface="Calibri" pitchFamily="34" charset="-122"/>
                <a:cs typeface="Calibri" pitchFamily="34" charset="-120"/>
              </a:rPr>
              <a:t>• Revenue: renewal protected, expansion won and point-solution displacement.</a:t>
            </a:r>
            <a:endParaRPr lang="en-US" sz="1150" dirty="0"/>
          </a:p>
          <a:p>
            <a:pPr marL="342900" indent="-342900">
              <a:buSzPct val="100000"/>
              <a:buChar char="•"/>
            </a:pPr>
            <a:r>
              <a:rPr lang="en-US" sz="1150" dirty="0">
                <a:solidFill>
                  <a:srgbClr val="5A625C"/>
                </a:solidFill>
                <a:latin typeface="Calibri" pitchFamily="34" charset="0"/>
                <a:ea typeface="Calibri" pitchFamily="34" charset="-122"/>
                <a:cs typeface="Calibri" pitchFamily="34" charset="-120"/>
              </a:rPr>
              <a:t>• Cost: hours and run cost removed from ingestion, calculation, assurance and reporting.</a:t>
            </a:r>
            <a:endParaRPr lang="en-US" sz="1150" dirty="0"/>
          </a:p>
          <a:p>
            <a:pPr marL="342900" indent="-342900">
              <a:buSzPct val="100000"/>
              <a:buChar char="•"/>
            </a:pPr>
            <a:r>
              <a:rPr lang="en-US" sz="1150" dirty="0">
                <a:solidFill>
                  <a:srgbClr val="5A625C"/>
                </a:solidFill>
                <a:latin typeface="Calibri" pitchFamily="34" charset="0"/>
                <a:ea typeface="Calibri" pitchFamily="34" charset="-122"/>
                <a:cs typeface="Calibri" pitchFamily="34" charset="-120"/>
              </a:rPr>
              <a:t>• Risk: exposure repriced, capital redirected and loss avoided under the approved methodology.</a:t>
            </a:r>
            <a:endParaRPr lang="en-US" sz="1150" dirty="0"/>
          </a:p>
        </p:txBody>
      </p:sp>
      <p:sp>
        <p:nvSpPr>
          <p:cNvPr id="9" name="Text 7"/>
          <p:cNvSpPr/>
          <p:nvPr/>
        </p:nvSpPr>
        <p:spPr>
          <a:xfrm>
            <a:off x="621792" y="4251960"/>
            <a:ext cx="10948111" cy="1005840"/>
          </a:xfrm>
          <a:prstGeom prst="rect">
            <a:avLst/>
          </a:prstGeom>
          <a:noFill/>
          <a:ln/>
        </p:spPr>
        <p:txBody>
          <a:bodyPr wrap="square" rtlCol="0" anchor="t"/>
          <a:lstStyle/>
          <a:p>
            <a:pPr indent="0" marL="0">
              <a:buNone/>
            </a:pPr>
            <a:r>
              <a:rPr lang="en-US" sz="1150" i="1" dirty="0">
                <a:solidFill>
                  <a:srgbClr val="007A27"/>
                </a:solidFill>
                <a:latin typeface="Calibri" pitchFamily="34" charset="0"/>
                <a:ea typeface="Calibri" pitchFamily="34" charset="-122"/>
                <a:cs typeface="Calibri" pitchFamily="34" charset="-120"/>
              </a:rPr>
              <a:t>Implication: Report leading product adoption signals separately from realized financial outcomes.</a:t>
            </a:r>
            <a:endParaRPr lang="en-US" sz="1150" dirty="0"/>
          </a:p>
        </p:txBody>
      </p:sp>
      <p:sp>
        <p:nvSpPr>
          <p:cNvPr id="10" name="Text 8"/>
          <p:cNvSpPr/>
          <p:nvPr/>
        </p:nvSpPr>
        <p:spPr>
          <a:xfrm>
            <a:off x="621792" y="6629400"/>
            <a:ext cx="5486400" cy="219456"/>
          </a:xfrm>
          <a:prstGeom prst="rect">
            <a:avLst/>
          </a:prstGeom>
          <a:noFill/>
          <a:ln/>
        </p:spPr>
        <p:txBody>
          <a:bodyPr wrap="square" rtlCol="0" anchor="ctr"/>
          <a:lstStyle/>
          <a:p>
            <a:pPr indent="0" marL="0">
              <a:buNone/>
            </a:pPr>
            <a:r>
              <a:rPr lang="en-US" sz="850" dirty="0">
                <a:solidFill>
                  <a:srgbClr val="5A625C"/>
                </a:solidFill>
                <a:latin typeface="Calibri" pitchFamily="34" charset="0"/>
                <a:ea typeface="Calibri" pitchFamily="34" charset="-122"/>
                <a:cs typeface="Calibri" pitchFamily="34" charset="-120"/>
              </a:rPr>
              <a:t>RA+ Strategy &amp; Roadmap · Confidential</a:t>
            </a:r>
            <a:endParaRPr lang="en-US" sz="850" dirty="0"/>
          </a:p>
        </p:txBody>
      </p:sp>
      <p:sp>
        <p:nvSpPr>
          <p:cNvPr id="11" name="Text 9"/>
          <p:cNvSpPr/>
          <p:nvPr/>
        </p:nvSpPr>
        <p:spPr>
          <a:xfrm>
            <a:off x="10655503" y="6629400"/>
            <a:ext cx="914400" cy="219456"/>
          </a:xfrm>
          <a:prstGeom prst="rect">
            <a:avLst/>
          </a:prstGeom>
          <a:noFill/>
          <a:ln/>
        </p:spPr>
        <p:txBody>
          <a:bodyPr wrap="square" rtlCol="0" anchor="ctr"/>
          <a:lstStyle/>
          <a:p>
            <a:pPr algn="r" indent="0" marL="0">
              <a:buNone/>
            </a:pPr>
            <a:r>
              <a:rPr lang="en-US" sz="850" dirty="0">
                <a:solidFill>
                  <a:srgbClr val="5A625C"/>
                </a:solidFill>
                <a:latin typeface="Calibri" pitchFamily="34" charset="0"/>
                <a:ea typeface="Calibri" pitchFamily="34" charset="-122"/>
                <a:cs typeface="Calibri" pitchFamily="34" charset="-120"/>
              </a:rPr>
              <a:t>18 / 28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554480"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786384" y="329184"/>
            <a:ext cx="1261872" cy="256032"/>
          </a:xfrm>
          <a:prstGeom prst="rect">
            <a:avLst/>
          </a:prstGeom>
          <a:noFill/>
          <a:ln/>
        </p:spPr>
        <p:txBody>
          <a:bodyPr wrap="none" rtlCol="0" anchor="ctr"/>
          <a:lstStyle/>
          <a:p>
            <a:pPr indent="0" marL="0">
              <a:buNone/>
            </a:pPr>
            <a:r>
              <a:rPr lang="en-US" sz="950" b="1" dirty="0">
                <a:solidFill>
                  <a:srgbClr val="007A27"/>
                </a:solidFill>
                <a:latin typeface="Calibri" pitchFamily="34" charset="0"/>
                <a:ea typeface="Calibri" pitchFamily="34" charset="-122"/>
                <a:cs typeface="Calibri" pitchFamily="34" charset="-120"/>
              </a:rPr>
              <a:t>VALUE CASE</a:t>
            </a:r>
            <a:endParaRPr lang="en-US" sz="950" dirty="0"/>
          </a:p>
        </p:txBody>
      </p:sp>
      <p:sp>
        <p:nvSpPr>
          <p:cNvPr id="6" name="Text 4"/>
          <p:cNvSpPr/>
          <p:nvPr/>
        </p:nvSpPr>
        <p:spPr>
          <a:xfrm>
            <a:off x="621792" y="768096"/>
            <a:ext cx="10948111" cy="822960"/>
          </a:xfrm>
          <a:prstGeom prst="rect">
            <a:avLst/>
          </a:prstGeom>
          <a:noFill/>
          <a:ln/>
        </p:spPr>
        <p:txBody>
          <a:bodyPr wrap="square" rtlCol="0" anchor="t">
            <a:normAutofit/>
          </a:bodyPr>
          <a:lstStyle/>
          <a:p>
            <a:pPr indent="0" marL="0">
              <a:buNone/>
            </a:pPr>
            <a:r>
              <a:rPr lang="en-US" sz="2800" b="1" dirty="0">
                <a:solidFill>
                  <a:srgbClr val="1E2420"/>
                </a:solidFill>
                <a:latin typeface="Calibri" pitchFamily="34" charset="0"/>
                <a:ea typeface="Calibri" pitchFamily="34" charset="-122"/>
                <a:cs typeface="Calibri" pitchFamily="34" charset="-120"/>
              </a:rPr>
              <a:t>What should gate further investment?</a:t>
            </a:r>
            <a:endParaRPr lang="en-US" sz="2800" dirty="0"/>
          </a:p>
        </p:txBody>
      </p:sp>
      <p:sp>
        <p:nvSpPr>
          <p:cNvPr id="7" name="Text 5"/>
          <p:cNvSpPr/>
          <p:nvPr/>
        </p:nvSpPr>
        <p:spPr>
          <a:xfrm>
            <a:off x="621792" y="1691640"/>
            <a:ext cx="10948111" cy="868680"/>
          </a:xfrm>
          <a:prstGeom prst="rect">
            <a:avLst/>
          </a:prstGeom>
          <a:noFill/>
          <a:ln/>
        </p:spPr>
        <p:txBody>
          <a:bodyPr wrap="square" rtlCol="0" anchor="t"/>
          <a:lstStyle/>
          <a:p>
            <a:pPr indent="0" marL="0">
              <a:buNone/>
            </a:pPr>
            <a:r>
              <a:rPr lang="en-US" sz="1300" dirty="0">
                <a:solidFill>
                  <a:srgbClr val="1E2420"/>
                </a:solidFill>
                <a:latin typeface="Calibri" pitchFamily="34" charset="0"/>
                <a:ea typeface="Calibri" pitchFamily="34" charset="-122"/>
                <a:cs typeface="Calibri" pitchFamily="34" charset="-120"/>
              </a:rPr>
              <a:t>Evidence that the common platform is improving product delivery and client economics faster than isolated investment would.</a:t>
            </a:r>
            <a:endParaRPr lang="en-US" sz="1300" dirty="0"/>
          </a:p>
        </p:txBody>
      </p:sp>
      <p:sp>
        <p:nvSpPr>
          <p:cNvPr id="8" name="Text 6"/>
          <p:cNvSpPr/>
          <p:nvPr/>
        </p:nvSpPr>
        <p:spPr>
          <a:xfrm>
            <a:off x="713232" y="2697480"/>
            <a:ext cx="10765231" cy="1371600"/>
          </a:xfrm>
          <a:prstGeom prst="rect">
            <a:avLst/>
          </a:prstGeom>
          <a:noFill/>
          <a:ln/>
        </p:spPr>
        <p:txBody>
          <a:bodyPr wrap="square" rtlCol="0" anchor="t"/>
          <a:lstStyle/>
          <a:p>
            <a:pPr marL="342900" indent="-342900">
              <a:buSzPct val="100000"/>
              <a:buChar char="•"/>
            </a:pPr>
            <a:r>
              <a:rPr lang="en-US" sz="1150" dirty="0">
                <a:solidFill>
                  <a:srgbClr val="5A625C"/>
                </a:solidFill>
                <a:latin typeface="Calibri" pitchFamily="34" charset="0"/>
                <a:ea typeface="Calibri" pitchFamily="34" charset="-122"/>
                <a:cs typeface="Calibri" pitchFamily="34" charset="-120"/>
              </a:rPr>
              <a:t>• Architecture readiness and data-quality thresholds are met.</a:t>
            </a:r>
            <a:endParaRPr lang="en-US" sz="1150" dirty="0"/>
          </a:p>
          <a:p>
            <a:pPr marL="342900" indent="-342900">
              <a:buSzPct val="100000"/>
              <a:buChar char="•"/>
            </a:pPr>
            <a:r>
              <a:rPr lang="en-US" sz="1150" dirty="0">
                <a:solidFill>
                  <a:srgbClr val="5A625C"/>
                </a:solidFill>
                <a:latin typeface="Calibri" pitchFamily="34" charset="0"/>
                <a:ea typeface="Calibri" pitchFamily="34" charset="-122"/>
                <a:cs typeface="Calibri" pitchFamily="34" charset="-120"/>
              </a:rPr>
              <a:t>• At least one end-to-end workflow is adopted across connected products.</a:t>
            </a:r>
            <a:endParaRPr lang="en-US" sz="1150" dirty="0"/>
          </a:p>
          <a:p>
            <a:pPr marL="342900" indent="-342900">
              <a:buSzPct val="100000"/>
              <a:buChar char="•"/>
            </a:pPr>
            <a:r>
              <a:rPr lang="en-US" sz="1150" dirty="0">
                <a:solidFill>
                  <a:srgbClr val="5A625C"/>
                </a:solidFill>
                <a:latin typeface="Calibri" pitchFamily="34" charset="0"/>
                <a:ea typeface="Calibri" pitchFamily="34" charset="-122"/>
                <a:cs typeface="Calibri" pitchFamily="34" charset="-120"/>
              </a:rPr>
              <a:t>• Finance validates a measurable contribution to growth, cost or risk.</a:t>
            </a:r>
            <a:endParaRPr lang="en-US" sz="1150" dirty="0"/>
          </a:p>
        </p:txBody>
      </p:sp>
      <p:sp>
        <p:nvSpPr>
          <p:cNvPr id="9" name="Text 7"/>
          <p:cNvSpPr/>
          <p:nvPr/>
        </p:nvSpPr>
        <p:spPr>
          <a:xfrm>
            <a:off x="621792" y="4251960"/>
            <a:ext cx="10948111" cy="1005840"/>
          </a:xfrm>
          <a:prstGeom prst="rect">
            <a:avLst/>
          </a:prstGeom>
          <a:noFill/>
          <a:ln/>
        </p:spPr>
        <p:txBody>
          <a:bodyPr wrap="square" rtlCol="0" anchor="t"/>
          <a:lstStyle/>
          <a:p>
            <a:pPr indent="0" marL="0">
              <a:buNone/>
            </a:pPr>
            <a:r>
              <a:rPr lang="en-US" sz="1150" i="1" dirty="0">
                <a:solidFill>
                  <a:srgbClr val="007A27"/>
                </a:solidFill>
                <a:latin typeface="Calibri" pitchFamily="34" charset="0"/>
                <a:ea typeface="Calibri" pitchFamily="34" charset="-122"/>
                <a:cs typeface="Calibri" pitchFamily="34" charset="-120"/>
              </a:rPr>
              <a:t>Implication: Fund the next horizon against proof points, with explicit stop, adjust and scale decisions.</a:t>
            </a:r>
            <a:endParaRPr lang="en-US" sz="1150" dirty="0"/>
          </a:p>
        </p:txBody>
      </p:sp>
      <p:sp>
        <p:nvSpPr>
          <p:cNvPr id="10" name="Text 8"/>
          <p:cNvSpPr/>
          <p:nvPr/>
        </p:nvSpPr>
        <p:spPr>
          <a:xfrm>
            <a:off x="621792" y="6629400"/>
            <a:ext cx="5486400" cy="219456"/>
          </a:xfrm>
          <a:prstGeom prst="rect">
            <a:avLst/>
          </a:prstGeom>
          <a:noFill/>
          <a:ln/>
        </p:spPr>
        <p:txBody>
          <a:bodyPr wrap="square" rtlCol="0" anchor="ctr"/>
          <a:lstStyle/>
          <a:p>
            <a:pPr indent="0" marL="0">
              <a:buNone/>
            </a:pPr>
            <a:r>
              <a:rPr lang="en-US" sz="850" dirty="0">
                <a:solidFill>
                  <a:srgbClr val="5A625C"/>
                </a:solidFill>
                <a:latin typeface="Calibri" pitchFamily="34" charset="0"/>
                <a:ea typeface="Calibri" pitchFamily="34" charset="-122"/>
                <a:cs typeface="Calibri" pitchFamily="34" charset="-120"/>
              </a:rPr>
              <a:t>RA+ Strategy &amp; Roadmap · Confidential</a:t>
            </a:r>
            <a:endParaRPr lang="en-US" sz="850" dirty="0"/>
          </a:p>
        </p:txBody>
      </p:sp>
      <p:sp>
        <p:nvSpPr>
          <p:cNvPr id="11" name="Text 9"/>
          <p:cNvSpPr/>
          <p:nvPr/>
        </p:nvSpPr>
        <p:spPr>
          <a:xfrm>
            <a:off x="10655503" y="6629400"/>
            <a:ext cx="914400" cy="219456"/>
          </a:xfrm>
          <a:prstGeom prst="rect">
            <a:avLst/>
          </a:prstGeom>
          <a:noFill/>
          <a:ln/>
        </p:spPr>
        <p:txBody>
          <a:bodyPr wrap="square" rtlCol="0" anchor="ctr"/>
          <a:lstStyle/>
          <a:p>
            <a:pPr algn="r" indent="0" marL="0">
              <a:buNone/>
            </a:pPr>
            <a:r>
              <a:rPr lang="en-US" sz="850" dirty="0">
                <a:solidFill>
                  <a:srgbClr val="5A625C"/>
                </a:solidFill>
                <a:latin typeface="Calibri" pitchFamily="34" charset="0"/>
                <a:ea typeface="Calibri" pitchFamily="34" charset="-122"/>
                <a:cs typeface="Calibri" pitchFamily="34" charset="-120"/>
              </a:rPr>
              <a:t>19 / 28</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2468880"/>
            <a:ext cx="2560320" cy="457200"/>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22960" y="2514600"/>
            <a:ext cx="2286000" cy="365760"/>
          </a:xfrm>
          <a:prstGeom prst="rect">
            <a:avLst/>
          </a:prstGeom>
          <a:noFill/>
          <a:ln/>
        </p:spPr>
        <p:txBody>
          <a:bodyPr wrap="square" rtlCol="0" anchor="ctr"/>
          <a:lstStyle/>
          <a:p>
            <a:pPr indent="0" marL="0">
              <a:buNone/>
            </a:pPr>
            <a:r>
              <a:rPr lang="en-US" sz="1400" b="1" dirty="0">
                <a:solidFill>
                  <a:srgbClr val="007A27"/>
                </a:solidFill>
                <a:latin typeface="Calibri" pitchFamily="34" charset="0"/>
                <a:ea typeface="Calibri" pitchFamily="34" charset="-122"/>
                <a:cs typeface="Calibri" pitchFamily="34" charset="-120"/>
              </a:rPr>
              <a:t>GO TO MARKET</a:t>
            </a:r>
            <a:endParaRPr lang="en-US" sz="1400" dirty="0"/>
          </a:p>
        </p:txBody>
      </p:sp>
      <p:sp>
        <p:nvSpPr>
          <p:cNvPr id="6" name="Text 4"/>
          <p:cNvSpPr/>
          <p:nvPr/>
        </p:nvSpPr>
        <p:spPr>
          <a:xfrm>
            <a:off x="621792" y="3200400"/>
            <a:ext cx="10948111" cy="731520"/>
          </a:xfrm>
          <a:prstGeom prst="rect">
            <a:avLst/>
          </a:prstGeom>
          <a:noFill/>
          <a:ln/>
        </p:spPr>
        <p:txBody>
          <a:bodyPr wrap="square" rtlCol="0" anchor="t"/>
          <a:lstStyle/>
          <a:p>
            <a:pPr indent="0" marL="0">
              <a:buNone/>
            </a:pPr>
            <a:r>
              <a:rPr lang="en-US" sz="4000" b="1" dirty="0">
                <a:solidFill>
                  <a:srgbClr val="1E2420"/>
                </a:solidFill>
                <a:latin typeface="Calibri" pitchFamily="34" charset="0"/>
                <a:ea typeface="Calibri" pitchFamily="34" charset="-122"/>
                <a:cs typeface="Calibri" pitchFamily="34" charset="-120"/>
              </a:rPr>
              <a:t>Leadership Q&amp;A</a:t>
            </a:r>
            <a:endParaRPr lang="en-US" sz="4000" dirty="0"/>
          </a:p>
        </p:txBody>
      </p:sp>
      <p:sp>
        <p:nvSpPr>
          <p:cNvPr id="7" name="Text 5"/>
          <p:cNvSpPr/>
          <p:nvPr/>
        </p:nvSpPr>
        <p:spPr>
          <a:xfrm>
            <a:off x="621792" y="6629400"/>
            <a:ext cx="5486400" cy="219456"/>
          </a:xfrm>
          <a:prstGeom prst="rect">
            <a:avLst/>
          </a:prstGeom>
          <a:noFill/>
          <a:ln/>
        </p:spPr>
        <p:txBody>
          <a:bodyPr wrap="square" rtlCol="0" anchor="ctr"/>
          <a:lstStyle/>
          <a:p>
            <a:pPr indent="0" marL="0">
              <a:buNone/>
            </a:pPr>
            <a:r>
              <a:rPr lang="en-US" sz="850" dirty="0">
                <a:solidFill>
                  <a:srgbClr val="5A625C"/>
                </a:solidFill>
                <a:latin typeface="Calibri" pitchFamily="34" charset="0"/>
                <a:ea typeface="Calibri" pitchFamily="34" charset="-122"/>
                <a:cs typeface="Calibri" pitchFamily="34" charset="-120"/>
              </a:rPr>
              <a:t>RA+ Strategy &amp; Roadmap · Confidential</a:t>
            </a:r>
            <a:endParaRPr lang="en-US" sz="850" dirty="0"/>
          </a:p>
        </p:txBody>
      </p:sp>
      <p:sp>
        <p:nvSpPr>
          <p:cNvPr id="8" name="Text 6"/>
          <p:cNvSpPr/>
          <p:nvPr/>
        </p:nvSpPr>
        <p:spPr>
          <a:xfrm>
            <a:off x="10655503" y="6629400"/>
            <a:ext cx="914400" cy="219456"/>
          </a:xfrm>
          <a:prstGeom prst="rect">
            <a:avLst/>
          </a:prstGeom>
          <a:noFill/>
          <a:ln/>
        </p:spPr>
        <p:txBody>
          <a:bodyPr wrap="square" rtlCol="0" anchor="ctr"/>
          <a:lstStyle/>
          <a:p>
            <a:pPr algn="r" indent="0" marL="0">
              <a:buNone/>
            </a:pPr>
            <a:r>
              <a:rPr lang="en-US" sz="850" dirty="0">
                <a:solidFill>
                  <a:srgbClr val="5A625C"/>
                </a:solidFill>
                <a:latin typeface="Calibri" pitchFamily="34" charset="0"/>
                <a:ea typeface="Calibri" pitchFamily="34" charset="-122"/>
                <a:cs typeface="Calibri" pitchFamily="34" charset="-120"/>
              </a:rPr>
              <a:t>20 / 28</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764792"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786384" y="329184"/>
            <a:ext cx="1472184" cy="256032"/>
          </a:xfrm>
          <a:prstGeom prst="rect">
            <a:avLst/>
          </a:prstGeom>
          <a:noFill/>
          <a:ln/>
        </p:spPr>
        <p:txBody>
          <a:bodyPr wrap="none" rtlCol="0" anchor="ctr"/>
          <a:lstStyle/>
          <a:p>
            <a:pPr indent="0" marL="0">
              <a:buNone/>
            </a:pPr>
            <a:r>
              <a:rPr lang="en-US" sz="950" b="1" dirty="0">
                <a:solidFill>
                  <a:srgbClr val="007A27"/>
                </a:solidFill>
                <a:latin typeface="Calibri" pitchFamily="34" charset="0"/>
                <a:ea typeface="Calibri" pitchFamily="34" charset="-122"/>
                <a:cs typeface="Calibri" pitchFamily="34" charset="-120"/>
              </a:rPr>
              <a:t>GO TO MARKET</a:t>
            </a:r>
            <a:endParaRPr lang="en-US" sz="950" dirty="0"/>
          </a:p>
        </p:txBody>
      </p:sp>
      <p:sp>
        <p:nvSpPr>
          <p:cNvPr id="6" name="Text 4"/>
          <p:cNvSpPr/>
          <p:nvPr/>
        </p:nvSpPr>
        <p:spPr>
          <a:xfrm>
            <a:off x="621792" y="768096"/>
            <a:ext cx="10948111" cy="822960"/>
          </a:xfrm>
          <a:prstGeom prst="rect">
            <a:avLst/>
          </a:prstGeom>
          <a:noFill/>
          <a:ln/>
        </p:spPr>
        <p:txBody>
          <a:bodyPr wrap="square" rtlCol="0" anchor="t">
            <a:normAutofit/>
          </a:bodyPr>
          <a:lstStyle/>
          <a:p>
            <a:pPr indent="0" marL="0">
              <a:buNone/>
            </a:pPr>
            <a:r>
              <a:rPr lang="en-US" sz="2800" b="1" dirty="0">
                <a:solidFill>
                  <a:srgbClr val="1E2420"/>
                </a:solidFill>
                <a:latin typeface="Calibri" pitchFamily="34" charset="0"/>
                <a:ea typeface="Calibri" pitchFamily="34" charset="-122"/>
                <a:cs typeface="Calibri" pitchFamily="34" charset="-120"/>
              </a:rPr>
              <a:t>How does a single product deal become a platform relationship?</a:t>
            </a:r>
            <a:endParaRPr lang="en-US" sz="2800" dirty="0"/>
          </a:p>
        </p:txBody>
      </p:sp>
      <p:sp>
        <p:nvSpPr>
          <p:cNvPr id="7" name="Text 5"/>
          <p:cNvSpPr/>
          <p:nvPr/>
        </p:nvSpPr>
        <p:spPr>
          <a:xfrm>
            <a:off x="621792" y="1691640"/>
            <a:ext cx="10948111" cy="868680"/>
          </a:xfrm>
          <a:prstGeom prst="rect">
            <a:avLst/>
          </a:prstGeom>
          <a:noFill/>
          <a:ln/>
        </p:spPr>
        <p:txBody>
          <a:bodyPr wrap="square" rtlCol="0" anchor="t"/>
          <a:lstStyle/>
          <a:p>
            <a:pPr indent="0" marL="0">
              <a:buNone/>
            </a:pPr>
            <a:r>
              <a:rPr lang="en-US" sz="1300" dirty="0">
                <a:solidFill>
                  <a:srgbClr val="1E2420"/>
                </a:solidFill>
                <a:latin typeface="Calibri" pitchFamily="34" charset="0"/>
                <a:ea typeface="Calibri" pitchFamily="34" charset="-122"/>
                <a:cs typeface="Calibri" pitchFamily="34" charset="-120"/>
              </a:rPr>
              <a:t>Through a deliberate buyer journey: Land on one urgent problem, Prove measurable value in weeks, Expand to second and third products, then Standardize on RA+ as the corporate system of record.</a:t>
            </a:r>
            <a:endParaRPr lang="en-US" sz="1300" dirty="0"/>
          </a:p>
        </p:txBody>
      </p:sp>
      <p:sp>
        <p:nvSpPr>
          <p:cNvPr id="8" name="Text 6"/>
          <p:cNvSpPr/>
          <p:nvPr/>
        </p:nvSpPr>
        <p:spPr>
          <a:xfrm>
            <a:off x="713232" y="2697480"/>
            <a:ext cx="10765231" cy="1371600"/>
          </a:xfrm>
          <a:prstGeom prst="rect">
            <a:avLst/>
          </a:prstGeom>
          <a:noFill/>
          <a:ln/>
        </p:spPr>
        <p:txBody>
          <a:bodyPr wrap="square" rtlCol="0" anchor="t"/>
          <a:lstStyle/>
          <a:p>
            <a:pPr marL="342900" indent="-342900">
              <a:buSzPct val="100000"/>
              <a:buChar char="•"/>
            </a:pPr>
            <a:r>
              <a:rPr lang="en-US" sz="1150" dirty="0">
                <a:solidFill>
                  <a:srgbClr val="5A625C"/>
                </a:solidFill>
                <a:latin typeface="Calibri" pitchFamily="34" charset="0"/>
                <a:ea typeface="Calibri" pitchFamily="34" charset="-122"/>
                <a:cs typeface="Calibri" pitchFamily="34" charset="-120"/>
              </a:rPr>
              <a:t>• Land: Accor and Sanofi started on a single product with a compliance deadline.</a:t>
            </a:r>
            <a:endParaRPr lang="en-US" sz="1150" dirty="0"/>
          </a:p>
          <a:p>
            <a:pPr marL="342900" indent="-342900">
              <a:buSzPct val="100000"/>
              <a:buChar char="•"/>
            </a:pPr>
            <a:r>
              <a:rPr lang="en-US" sz="1150" dirty="0">
                <a:solidFill>
                  <a:srgbClr val="5A625C"/>
                </a:solidFill>
                <a:latin typeface="Calibri" pitchFamily="34" charset="0"/>
                <a:ea typeface="Calibri" pitchFamily="34" charset="-122"/>
                <a:cs typeface="Calibri" pitchFamily="34" charset="-120"/>
              </a:rPr>
              <a:t>• Prove: Schneider Electric runs a trusted inventory across Scope 1, 2 and 3, closing 31 December 2026.</a:t>
            </a:r>
            <a:endParaRPr lang="en-US" sz="1150" dirty="0"/>
          </a:p>
          <a:p>
            <a:pPr marL="342900" indent="-342900">
              <a:buSzPct val="100000"/>
              <a:buChar char="•"/>
            </a:pPr>
            <a:r>
              <a:rPr lang="en-US" sz="1150" dirty="0">
                <a:solidFill>
                  <a:srgbClr val="5A625C"/>
                </a:solidFill>
                <a:latin typeface="Calibri" pitchFamily="34" charset="0"/>
                <a:ea typeface="Calibri" pitchFamily="34" charset="-122"/>
                <a:cs typeface="Calibri" pitchFamily="34" charset="-120"/>
              </a:rPr>
              <a:t>• Expand: Newell Brands shows cross-product adoption once the baseline is shared.</a:t>
            </a:r>
            <a:endParaRPr lang="en-US" sz="1150" dirty="0"/>
          </a:p>
        </p:txBody>
      </p:sp>
      <p:sp>
        <p:nvSpPr>
          <p:cNvPr id="9" name="Text 7"/>
          <p:cNvSpPr/>
          <p:nvPr/>
        </p:nvSpPr>
        <p:spPr>
          <a:xfrm>
            <a:off x="621792" y="4251960"/>
            <a:ext cx="10948111" cy="1005840"/>
          </a:xfrm>
          <a:prstGeom prst="rect">
            <a:avLst/>
          </a:prstGeom>
          <a:noFill/>
          <a:ln/>
        </p:spPr>
        <p:txBody>
          <a:bodyPr wrap="square" rtlCol="0" anchor="t"/>
          <a:lstStyle/>
          <a:p>
            <a:pPr indent="0" marL="0">
              <a:buNone/>
            </a:pPr>
            <a:r>
              <a:rPr lang="en-US" sz="1150" i="1" dirty="0">
                <a:solidFill>
                  <a:srgbClr val="007A27"/>
                </a:solidFill>
                <a:latin typeface="Calibri" pitchFamily="34" charset="0"/>
                <a:ea typeface="Calibri" pitchFamily="34" charset="-122"/>
                <a:cs typeface="Calibri" pitchFamily="34" charset="-120"/>
              </a:rPr>
              <a:t>Implication: Price and package for expansion, not just for the first deal. Every stage of the journey deepens the moat because the data spine makes each next product cheaper to adopt.</a:t>
            </a:r>
            <a:endParaRPr lang="en-US" sz="1150" dirty="0"/>
          </a:p>
        </p:txBody>
      </p:sp>
      <p:sp>
        <p:nvSpPr>
          <p:cNvPr id="10" name="Text 8"/>
          <p:cNvSpPr/>
          <p:nvPr/>
        </p:nvSpPr>
        <p:spPr>
          <a:xfrm>
            <a:off x="621792" y="6629400"/>
            <a:ext cx="5486400" cy="219456"/>
          </a:xfrm>
          <a:prstGeom prst="rect">
            <a:avLst/>
          </a:prstGeom>
          <a:noFill/>
          <a:ln/>
        </p:spPr>
        <p:txBody>
          <a:bodyPr wrap="square" rtlCol="0" anchor="ctr"/>
          <a:lstStyle/>
          <a:p>
            <a:pPr indent="0" marL="0">
              <a:buNone/>
            </a:pPr>
            <a:r>
              <a:rPr lang="en-US" sz="850" dirty="0">
                <a:solidFill>
                  <a:srgbClr val="5A625C"/>
                </a:solidFill>
                <a:latin typeface="Calibri" pitchFamily="34" charset="0"/>
                <a:ea typeface="Calibri" pitchFamily="34" charset="-122"/>
                <a:cs typeface="Calibri" pitchFamily="34" charset="-120"/>
              </a:rPr>
              <a:t>RA+ Strategy &amp; Roadmap · Confidential</a:t>
            </a:r>
            <a:endParaRPr lang="en-US" sz="850" dirty="0"/>
          </a:p>
        </p:txBody>
      </p:sp>
      <p:sp>
        <p:nvSpPr>
          <p:cNvPr id="11" name="Text 9"/>
          <p:cNvSpPr/>
          <p:nvPr/>
        </p:nvSpPr>
        <p:spPr>
          <a:xfrm>
            <a:off x="10655503" y="6629400"/>
            <a:ext cx="914400" cy="219456"/>
          </a:xfrm>
          <a:prstGeom prst="rect">
            <a:avLst/>
          </a:prstGeom>
          <a:noFill/>
          <a:ln/>
        </p:spPr>
        <p:txBody>
          <a:bodyPr wrap="square" rtlCol="0" anchor="ctr"/>
          <a:lstStyle/>
          <a:p>
            <a:pPr algn="r" indent="0" marL="0">
              <a:buNone/>
            </a:pPr>
            <a:r>
              <a:rPr lang="en-US" sz="850" dirty="0">
                <a:solidFill>
                  <a:srgbClr val="5A625C"/>
                </a:solidFill>
                <a:latin typeface="Calibri" pitchFamily="34" charset="0"/>
                <a:ea typeface="Calibri" pitchFamily="34" charset="-122"/>
                <a:cs typeface="Calibri" pitchFamily="34" charset="-120"/>
              </a:rPr>
              <a:t>21 / 28</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764792"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786384" y="329184"/>
            <a:ext cx="1472184" cy="256032"/>
          </a:xfrm>
          <a:prstGeom prst="rect">
            <a:avLst/>
          </a:prstGeom>
          <a:noFill/>
          <a:ln/>
        </p:spPr>
        <p:txBody>
          <a:bodyPr wrap="none" rtlCol="0" anchor="ctr"/>
          <a:lstStyle/>
          <a:p>
            <a:pPr indent="0" marL="0">
              <a:buNone/>
            </a:pPr>
            <a:r>
              <a:rPr lang="en-US" sz="950" b="1" dirty="0">
                <a:solidFill>
                  <a:srgbClr val="007A27"/>
                </a:solidFill>
                <a:latin typeface="Calibri" pitchFamily="34" charset="0"/>
                <a:ea typeface="Calibri" pitchFamily="34" charset="-122"/>
                <a:cs typeface="Calibri" pitchFamily="34" charset="-120"/>
              </a:rPr>
              <a:t>GO TO MARKET</a:t>
            </a:r>
            <a:endParaRPr lang="en-US" sz="950" dirty="0"/>
          </a:p>
        </p:txBody>
      </p:sp>
      <p:sp>
        <p:nvSpPr>
          <p:cNvPr id="6" name="Text 4"/>
          <p:cNvSpPr/>
          <p:nvPr/>
        </p:nvSpPr>
        <p:spPr>
          <a:xfrm>
            <a:off x="621792" y="768096"/>
            <a:ext cx="10948111" cy="822960"/>
          </a:xfrm>
          <a:prstGeom prst="rect">
            <a:avLst/>
          </a:prstGeom>
          <a:noFill/>
          <a:ln/>
        </p:spPr>
        <p:txBody>
          <a:bodyPr wrap="square" rtlCol="0" anchor="t">
            <a:normAutofit/>
          </a:bodyPr>
          <a:lstStyle/>
          <a:p>
            <a:pPr indent="0" marL="0">
              <a:buNone/>
            </a:pPr>
            <a:r>
              <a:rPr lang="en-US" sz="2800" b="1" dirty="0">
                <a:solidFill>
                  <a:srgbClr val="1E2420"/>
                </a:solidFill>
                <a:latin typeface="Calibri" pitchFamily="34" charset="0"/>
                <a:ea typeface="Calibri" pitchFamily="34" charset="-122"/>
                <a:cs typeface="Calibri" pitchFamily="34" charset="-120"/>
              </a:rPr>
              <a:t>What exactly is in the Energy &amp; Efficiency family?</a:t>
            </a:r>
            <a:endParaRPr lang="en-US" sz="2800" dirty="0"/>
          </a:p>
        </p:txBody>
      </p:sp>
      <p:sp>
        <p:nvSpPr>
          <p:cNvPr id="7" name="Text 5"/>
          <p:cNvSpPr/>
          <p:nvPr/>
        </p:nvSpPr>
        <p:spPr>
          <a:xfrm>
            <a:off x="621792" y="1691640"/>
            <a:ext cx="10948111" cy="868680"/>
          </a:xfrm>
          <a:prstGeom prst="rect">
            <a:avLst/>
          </a:prstGeom>
          <a:noFill/>
          <a:ln/>
        </p:spPr>
        <p:txBody>
          <a:bodyPr wrap="square" rtlCol="0" anchor="t"/>
          <a:lstStyle/>
          <a:p>
            <a:pPr indent="0" marL="0">
              <a:buNone/>
            </a:pPr>
            <a:r>
              <a:rPr lang="en-US" sz="1300" dirty="0">
                <a:solidFill>
                  <a:srgbClr val="1E2420"/>
                </a:solidFill>
                <a:latin typeface="Calibri" pitchFamily="34" charset="0"/>
                <a:ea typeface="Calibri" pitchFamily="34" charset="-122"/>
                <a:cs typeface="Calibri" pitchFamily="34" charset="-120"/>
              </a:rPr>
              <a:t>Nine grounded products: Energy Efficiency, Capital Asset Planning, Utility Data Management, Energy Portfolio Management, Energy Sourcing, Renewables and EACs, Metering and Interval Data, Demand Response and Flexibility, and Electrification and DER Management, all on the same RA+ platform layer.</a:t>
            </a:r>
            <a:endParaRPr lang="en-US" sz="1300" dirty="0"/>
          </a:p>
        </p:txBody>
      </p:sp>
      <p:sp>
        <p:nvSpPr>
          <p:cNvPr id="8" name="Text 6"/>
          <p:cNvSpPr/>
          <p:nvPr/>
        </p:nvSpPr>
        <p:spPr>
          <a:xfrm>
            <a:off x="713232" y="2697480"/>
            <a:ext cx="10765231" cy="1371600"/>
          </a:xfrm>
          <a:prstGeom prst="rect">
            <a:avLst/>
          </a:prstGeom>
          <a:noFill/>
          <a:ln/>
        </p:spPr>
        <p:txBody>
          <a:bodyPr wrap="square" rtlCol="0" anchor="t"/>
          <a:lstStyle/>
          <a:p>
            <a:pPr marL="342900" indent="-342900">
              <a:buSzPct val="100000"/>
              <a:buChar char="•"/>
            </a:pPr>
            <a:r>
              <a:rPr lang="en-US" sz="1150" dirty="0">
                <a:solidFill>
                  <a:srgbClr val="5A625C"/>
                </a:solidFill>
                <a:latin typeface="Calibri" pitchFamily="34" charset="0"/>
                <a:ea typeface="Calibri" pitchFamily="34" charset="-122"/>
                <a:cs typeface="Calibri" pitchFamily="34" charset="-120"/>
              </a:rPr>
              <a:t>• Metering and Interval Data is the data spine feeding granular carbon performance, efficiency, utility data management and demand response.</a:t>
            </a:r>
            <a:endParaRPr lang="en-US" sz="1150" dirty="0"/>
          </a:p>
          <a:p>
            <a:pPr marL="342900" indent="-342900">
              <a:buSzPct val="100000"/>
              <a:buChar char="•"/>
            </a:pPr>
            <a:r>
              <a:rPr lang="en-US" sz="1150" dirty="0">
                <a:solidFill>
                  <a:srgbClr val="5A625C"/>
                </a:solidFill>
                <a:latin typeface="Calibri" pitchFamily="34" charset="0"/>
                <a:ea typeface="Calibri" pitchFamily="34" charset="-122"/>
                <a:cs typeface="Calibri" pitchFamily="34" charset="-120"/>
              </a:rPr>
              <a:t>• Energy Portfolio Management covers budgets, reforecasts and variance, not a standalone procurement product.</a:t>
            </a:r>
            <a:endParaRPr lang="en-US" sz="1150" dirty="0"/>
          </a:p>
          <a:p>
            <a:pPr marL="342900" indent="-342900">
              <a:buSzPct val="100000"/>
              <a:buChar char="•"/>
            </a:pPr>
            <a:r>
              <a:rPr lang="en-US" sz="1150" dirty="0">
                <a:solidFill>
                  <a:srgbClr val="5A625C"/>
                </a:solidFill>
                <a:latin typeface="Calibri" pitchFamily="34" charset="0"/>
                <a:ea typeface="Calibri" pitchFamily="34" charset="-122"/>
                <a:cs typeface="Calibri" pitchFamily="34" charset="-120"/>
              </a:rPr>
              <a:t>• Names come from the RA product strategy business brief, not invented labels.</a:t>
            </a:r>
            <a:endParaRPr lang="en-US" sz="1150" dirty="0"/>
          </a:p>
        </p:txBody>
      </p:sp>
      <p:sp>
        <p:nvSpPr>
          <p:cNvPr id="9" name="Text 7"/>
          <p:cNvSpPr/>
          <p:nvPr/>
        </p:nvSpPr>
        <p:spPr>
          <a:xfrm>
            <a:off x="621792" y="4251960"/>
            <a:ext cx="10948111" cy="1005840"/>
          </a:xfrm>
          <a:prstGeom prst="rect">
            <a:avLst/>
          </a:prstGeom>
          <a:noFill/>
          <a:ln/>
        </p:spPr>
        <p:txBody>
          <a:bodyPr wrap="square" rtlCol="0" anchor="t"/>
          <a:lstStyle/>
          <a:p>
            <a:pPr indent="0" marL="0">
              <a:buNone/>
            </a:pPr>
            <a:r>
              <a:rPr lang="en-US" sz="1150" i="1" dirty="0">
                <a:solidFill>
                  <a:srgbClr val="007A27"/>
                </a:solidFill>
                <a:latin typeface="Calibri" pitchFamily="34" charset="0"/>
                <a:ea typeface="Calibri" pitchFamily="34" charset="-122"/>
                <a:cs typeface="Calibri" pitchFamily="34" charset="-120"/>
              </a:rPr>
              <a:t>Implication: Convergence is a commercial argument: a client entering through energy data can add carbon, disclosure and risk without a new platform.</a:t>
            </a:r>
            <a:endParaRPr lang="en-US" sz="1150" dirty="0"/>
          </a:p>
        </p:txBody>
      </p:sp>
      <p:sp>
        <p:nvSpPr>
          <p:cNvPr id="10" name="Text 8"/>
          <p:cNvSpPr/>
          <p:nvPr/>
        </p:nvSpPr>
        <p:spPr>
          <a:xfrm>
            <a:off x="621792" y="6629400"/>
            <a:ext cx="5486400" cy="219456"/>
          </a:xfrm>
          <a:prstGeom prst="rect">
            <a:avLst/>
          </a:prstGeom>
          <a:noFill/>
          <a:ln/>
        </p:spPr>
        <p:txBody>
          <a:bodyPr wrap="square" rtlCol="0" anchor="ctr"/>
          <a:lstStyle/>
          <a:p>
            <a:pPr indent="0" marL="0">
              <a:buNone/>
            </a:pPr>
            <a:r>
              <a:rPr lang="en-US" sz="850" dirty="0">
                <a:solidFill>
                  <a:srgbClr val="5A625C"/>
                </a:solidFill>
                <a:latin typeface="Calibri" pitchFamily="34" charset="0"/>
                <a:ea typeface="Calibri" pitchFamily="34" charset="-122"/>
                <a:cs typeface="Calibri" pitchFamily="34" charset="-120"/>
              </a:rPr>
              <a:t>RA+ Strategy &amp; Roadmap · Confidential</a:t>
            </a:r>
            <a:endParaRPr lang="en-US" sz="850" dirty="0"/>
          </a:p>
        </p:txBody>
      </p:sp>
      <p:sp>
        <p:nvSpPr>
          <p:cNvPr id="11" name="Text 9"/>
          <p:cNvSpPr/>
          <p:nvPr/>
        </p:nvSpPr>
        <p:spPr>
          <a:xfrm>
            <a:off x="10655503" y="6629400"/>
            <a:ext cx="914400" cy="219456"/>
          </a:xfrm>
          <a:prstGeom prst="rect">
            <a:avLst/>
          </a:prstGeom>
          <a:noFill/>
          <a:ln/>
        </p:spPr>
        <p:txBody>
          <a:bodyPr wrap="square" rtlCol="0" anchor="ctr"/>
          <a:lstStyle/>
          <a:p>
            <a:pPr algn="r" indent="0" marL="0">
              <a:buNone/>
            </a:pPr>
            <a:r>
              <a:rPr lang="en-US" sz="850" dirty="0">
                <a:solidFill>
                  <a:srgbClr val="5A625C"/>
                </a:solidFill>
                <a:latin typeface="Calibri" pitchFamily="34" charset="0"/>
                <a:ea typeface="Calibri" pitchFamily="34" charset="-122"/>
                <a:cs typeface="Calibri" pitchFamily="34" charset="-120"/>
              </a:rPr>
              <a:t>22 / 28</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764792"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786384" y="329184"/>
            <a:ext cx="1472184" cy="256032"/>
          </a:xfrm>
          <a:prstGeom prst="rect">
            <a:avLst/>
          </a:prstGeom>
          <a:noFill/>
          <a:ln/>
        </p:spPr>
        <p:txBody>
          <a:bodyPr wrap="none" rtlCol="0" anchor="ctr"/>
          <a:lstStyle/>
          <a:p>
            <a:pPr indent="0" marL="0">
              <a:buNone/>
            </a:pPr>
            <a:r>
              <a:rPr lang="en-US" sz="950" b="1" dirty="0">
                <a:solidFill>
                  <a:srgbClr val="007A27"/>
                </a:solidFill>
                <a:latin typeface="Calibri" pitchFamily="34" charset="0"/>
                <a:ea typeface="Calibri" pitchFamily="34" charset="-122"/>
                <a:cs typeface="Calibri" pitchFamily="34" charset="-120"/>
              </a:rPr>
              <a:t>GO TO MARKET</a:t>
            </a:r>
            <a:endParaRPr lang="en-US" sz="950" dirty="0"/>
          </a:p>
        </p:txBody>
      </p:sp>
      <p:sp>
        <p:nvSpPr>
          <p:cNvPr id="6" name="Text 4"/>
          <p:cNvSpPr/>
          <p:nvPr/>
        </p:nvSpPr>
        <p:spPr>
          <a:xfrm>
            <a:off x="621792" y="768096"/>
            <a:ext cx="10948111" cy="822960"/>
          </a:xfrm>
          <a:prstGeom prst="rect">
            <a:avLst/>
          </a:prstGeom>
          <a:noFill/>
          <a:ln/>
        </p:spPr>
        <p:txBody>
          <a:bodyPr wrap="square" rtlCol="0" anchor="t">
            <a:normAutofit/>
          </a:bodyPr>
          <a:lstStyle/>
          <a:p>
            <a:pPr indent="0" marL="0">
              <a:buNone/>
            </a:pPr>
            <a:r>
              <a:rPr lang="en-US" sz="2800" b="1" dirty="0">
                <a:solidFill>
                  <a:srgbClr val="1E2420"/>
                </a:solidFill>
                <a:latin typeface="Calibri" pitchFamily="34" charset="0"/>
                <a:ea typeface="Calibri" pitchFamily="34" charset="-122"/>
                <a:cs typeface="Calibri" pitchFamily="34" charset="-120"/>
              </a:rPr>
              <a:t>What sits inside the sustainability family?</a:t>
            </a:r>
            <a:endParaRPr lang="en-US" sz="2800" dirty="0"/>
          </a:p>
        </p:txBody>
      </p:sp>
      <p:sp>
        <p:nvSpPr>
          <p:cNvPr id="7" name="Text 5"/>
          <p:cNvSpPr/>
          <p:nvPr/>
        </p:nvSpPr>
        <p:spPr>
          <a:xfrm>
            <a:off x="621792" y="1691640"/>
            <a:ext cx="10948111" cy="868680"/>
          </a:xfrm>
          <a:prstGeom prst="rect">
            <a:avLst/>
          </a:prstGeom>
          <a:noFill/>
          <a:ln/>
        </p:spPr>
        <p:txBody>
          <a:bodyPr wrap="square" rtlCol="0" anchor="t"/>
          <a:lstStyle/>
          <a:p>
            <a:pPr indent="0" marL="0">
              <a:buNone/>
            </a:pPr>
            <a:r>
              <a:rPr lang="en-US" sz="1300" dirty="0">
                <a:solidFill>
                  <a:srgbClr val="1E2420"/>
                </a:solidFill>
                <a:latin typeface="Calibri" pitchFamily="34" charset="0"/>
                <a:ea typeface="Calibri" pitchFamily="34" charset="-122"/>
                <a:cs typeface="Calibri" pitchFamily="34" charset="-120"/>
              </a:rPr>
              <a:t>Eight granular products on the same spine: Carbon Inventory, Decarbonization Planning and Initiatives, EAC and PPA Management, Supplier Engagement, Product Carbon Footprint, Disclosure Management, Indicator and Data Management, and Climate Risk and Adaptation.</a:t>
            </a:r>
            <a:endParaRPr lang="en-US" sz="1300" dirty="0"/>
          </a:p>
        </p:txBody>
      </p:sp>
      <p:sp>
        <p:nvSpPr>
          <p:cNvPr id="8" name="Text 6"/>
          <p:cNvSpPr/>
          <p:nvPr/>
        </p:nvSpPr>
        <p:spPr>
          <a:xfrm>
            <a:off x="713232" y="2697480"/>
            <a:ext cx="10765231" cy="1371600"/>
          </a:xfrm>
          <a:prstGeom prst="rect">
            <a:avLst/>
          </a:prstGeom>
          <a:noFill/>
          <a:ln/>
        </p:spPr>
        <p:txBody>
          <a:bodyPr wrap="square" rtlCol="0" anchor="t"/>
          <a:lstStyle/>
          <a:p>
            <a:pPr marL="342900" indent="-342900">
              <a:buSzPct val="100000"/>
              <a:buChar char="•"/>
            </a:pPr>
            <a:r>
              <a:rPr lang="en-US" sz="1150" dirty="0">
                <a:solidFill>
                  <a:srgbClr val="5A625C"/>
                </a:solidFill>
                <a:latin typeface="Calibri" pitchFamily="34" charset="0"/>
                <a:ea typeface="Calibri" pitchFamily="34" charset="-122"/>
                <a:cs typeface="Calibri" pitchFamily="34" charset="-120"/>
              </a:rPr>
              <a:t>• Each product has its own roadmap, use cases and proof points, with confirmed quarters kept separate from H1 and H2 bands.</a:t>
            </a:r>
            <a:endParaRPr lang="en-US" sz="1150" dirty="0"/>
          </a:p>
          <a:p>
            <a:pPr marL="342900" indent="-342900">
              <a:buSzPct val="100000"/>
              <a:buChar char="•"/>
            </a:pPr>
            <a:r>
              <a:rPr lang="en-US" sz="1150" dirty="0">
                <a:solidFill>
                  <a:srgbClr val="5A625C"/>
                </a:solidFill>
                <a:latin typeface="Calibri" pitchFamily="34" charset="0"/>
                <a:ea typeface="Calibri" pitchFamily="34" charset="-122"/>
                <a:cs typeface="Calibri" pitchFamily="34" charset="-120"/>
              </a:rPr>
              <a:t>• Carbon Inventory is the shared baseline every other product consumes or feeds.</a:t>
            </a:r>
            <a:endParaRPr lang="en-US" sz="1150" dirty="0"/>
          </a:p>
          <a:p>
            <a:pPr marL="342900" indent="-342900">
              <a:buSzPct val="100000"/>
              <a:buChar char="•"/>
            </a:pPr>
            <a:r>
              <a:rPr lang="en-US" sz="1150" dirty="0">
                <a:solidFill>
                  <a:srgbClr val="5A625C"/>
                </a:solidFill>
                <a:latin typeface="Calibri" pitchFamily="34" charset="0"/>
                <a:ea typeface="Calibri" pitchFamily="34" charset="-122"/>
                <a:cs typeface="Calibri" pitchFamily="34" charset="-120"/>
              </a:rPr>
              <a:t>• Climate Risk is governed as a distinct product, not a feature of reporting.</a:t>
            </a:r>
            <a:endParaRPr lang="en-US" sz="1150" dirty="0"/>
          </a:p>
        </p:txBody>
      </p:sp>
      <p:sp>
        <p:nvSpPr>
          <p:cNvPr id="9" name="Text 7"/>
          <p:cNvSpPr/>
          <p:nvPr/>
        </p:nvSpPr>
        <p:spPr>
          <a:xfrm>
            <a:off x="621792" y="4251960"/>
            <a:ext cx="10948111" cy="1005840"/>
          </a:xfrm>
          <a:prstGeom prst="rect">
            <a:avLst/>
          </a:prstGeom>
          <a:noFill/>
          <a:ln/>
        </p:spPr>
        <p:txBody>
          <a:bodyPr wrap="square" rtlCol="0" anchor="t"/>
          <a:lstStyle/>
          <a:p>
            <a:pPr indent="0" marL="0">
              <a:buNone/>
            </a:pPr>
            <a:r>
              <a:rPr lang="en-US" sz="1150" i="1" dirty="0">
                <a:solidFill>
                  <a:srgbClr val="007A27"/>
                </a:solidFill>
                <a:latin typeface="Calibri" pitchFamily="34" charset="0"/>
                <a:ea typeface="Calibri" pitchFamily="34" charset="-122"/>
                <a:cs typeface="Calibri" pitchFamily="34" charset="-120"/>
              </a:rPr>
              <a:t>Implication: Sell named products with clear owners, and use the shared spine as the expansion argument.</a:t>
            </a:r>
            <a:endParaRPr lang="en-US" sz="1150" dirty="0"/>
          </a:p>
        </p:txBody>
      </p:sp>
      <p:sp>
        <p:nvSpPr>
          <p:cNvPr id="10" name="Text 8"/>
          <p:cNvSpPr/>
          <p:nvPr/>
        </p:nvSpPr>
        <p:spPr>
          <a:xfrm>
            <a:off x="621792" y="6629400"/>
            <a:ext cx="5486400" cy="219456"/>
          </a:xfrm>
          <a:prstGeom prst="rect">
            <a:avLst/>
          </a:prstGeom>
          <a:noFill/>
          <a:ln/>
        </p:spPr>
        <p:txBody>
          <a:bodyPr wrap="square" rtlCol="0" anchor="ctr"/>
          <a:lstStyle/>
          <a:p>
            <a:pPr indent="0" marL="0">
              <a:buNone/>
            </a:pPr>
            <a:r>
              <a:rPr lang="en-US" sz="850" dirty="0">
                <a:solidFill>
                  <a:srgbClr val="5A625C"/>
                </a:solidFill>
                <a:latin typeface="Calibri" pitchFamily="34" charset="0"/>
                <a:ea typeface="Calibri" pitchFamily="34" charset="-122"/>
                <a:cs typeface="Calibri" pitchFamily="34" charset="-120"/>
              </a:rPr>
              <a:t>RA+ Strategy &amp; Roadmap · Confidential</a:t>
            </a:r>
            <a:endParaRPr lang="en-US" sz="850" dirty="0"/>
          </a:p>
        </p:txBody>
      </p:sp>
      <p:sp>
        <p:nvSpPr>
          <p:cNvPr id="11" name="Text 9"/>
          <p:cNvSpPr/>
          <p:nvPr/>
        </p:nvSpPr>
        <p:spPr>
          <a:xfrm>
            <a:off x="10655503" y="6629400"/>
            <a:ext cx="914400" cy="219456"/>
          </a:xfrm>
          <a:prstGeom prst="rect">
            <a:avLst/>
          </a:prstGeom>
          <a:noFill/>
          <a:ln/>
        </p:spPr>
        <p:txBody>
          <a:bodyPr wrap="square" rtlCol="0" anchor="ctr"/>
          <a:lstStyle/>
          <a:p>
            <a:pPr algn="r" indent="0" marL="0">
              <a:buNone/>
            </a:pPr>
            <a:r>
              <a:rPr lang="en-US" sz="850" dirty="0">
                <a:solidFill>
                  <a:srgbClr val="5A625C"/>
                </a:solidFill>
                <a:latin typeface="Calibri" pitchFamily="34" charset="0"/>
                <a:ea typeface="Calibri" pitchFamily="34" charset="-122"/>
                <a:cs typeface="Calibri" pitchFamily="34" charset="-120"/>
              </a:rPr>
              <a:t>23 / 28</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2468880"/>
            <a:ext cx="2560320" cy="457200"/>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22960" y="2514600"/>
            <a:ext cx="2286000" cy="365760"/>
          </a:xfrm>
          <a:prstGeom prst="rect">
            <a:avLst/>
          </a:prstGeom>
          <a:noFill/>
          <a:ln/>
        </p:spPr>
        <p:txBody>
          <a:bodyPr wrap="square" rtlCol="0" anchor="ctr"/>
          <a:lstStyle/>
          <a:p>
            <a:pPr indent="0" marL="0">
              <a:buNone/>
            </a:pPr>
            <a:r>
              <a:rPr lang="en-US" sz="1400" b="1" dirty="0">
                <a:solidFill>
                  <a:srgbClr val="007A27"/>
                </a:solidFill>
                <a:latin typeface="Calibri" pitchFamily="34" charset="0"/>
                <a:ea typeface="Calibri" pitchFamily="34" charset="-122"/>
                <a:cs typeface="Calibri" pitchFamily="34" charset="-120"/>
              </a:rPr>
              <a:t>TRUST</a:t>
            </a:r>
            <a:endParaRPr lang="en-US" sz="1400" dirty="0"/>
          </a:p>
        </p:txBody>
      </p:sp>
      <p:sp>
        <p:nvSpPr>
          <p:cNvPr id="6" name="Text 4"/>
          <p:cNvSpPr/>
          <p:nvPr/>
        </p:nvSpPr>
        <p:spPr>
          <a:xfrm>
            <a:off x="621792" y="3200400"/>
            <a:ext cx="10948111" cy="731520"/>
          </a:xfrm>
          <a:prstGeom prst="rect">
            <a:avLst/>
          </a:prstGeom>
          <a:noFill/>
          <a:ln/>
        </p:spPr>
        <p:txBody>
          <a:bodyPr wrap="square" rtlCol="0" anchor="t"/>
          <a:lstStyle/>
          <a:p>
            <a:pPr indent="0" marL="0">
              <a:buNone/>
            </a:pPr>
            <a:r>
              <a:rPr lang="en-US" sz="4000" b="1" dirty="0">
                <a:solidFill>
                  <a:srgbClr val="1E2420"/>
                </a:solidFill>
                <a:latin typeface="Calibri" pitchFamily="34" charset="0"/>
                <a:ea typeface="Calibri" pitchFamily="34" charset="-122"/>
                <a:cs typeface="Calibri" pitchFamily="34" charset="-120"/>
              </a:rPr>
              <a:t>Leadership Q&amp;A</a:t>
            </a:r>
            <a:endParaRPr lang="en-US" sz="4000" dirty="0"/>
          </a:p>
        </p:txBody>
      </p:sp>
      <p:sp>
        <p:nvSpPr>
          <p:cNvPr id="7" name="Text 5"/>
          <p:cNvSpPr/>
          <p:nvPr/>
        </p:nvSpPr>
        <p:spPr>
          <a:xfrm>
            <a:off x="621792" y="6629400"/>
            <a:ext cx="5486400" cy="219456"/>
          </a:xfrm>
          <a:prstGeom prst="rect">
            <a:avLst/>
          </a:prstGeom>
          <a:noFill/>
          <a:ln/>
        </p:spPr>
        <p:txBody>
          <a:bodyPr wrap="square" rtlCol="0" anchor="ctr"/>
          <a:lstStyle/>
          <a:p>
            <a:pPr indent="0" marL="0">
              <a:buNone/>
            </a:pPr>
            <a:r>
              <a:rPr lang="en-US" sz="850" dirty="0">
                <a:solidFill>
                  <a:srgbClr val="5A625C"/>
                </a:solidFill>
                <a:latin typeface="Calibri" pitchFamily="34" charset="0"/>
                <a:ea typeface="Calibri" pitchFamily="34" charset="-122"/>
                <a:cs typeface="Calibri" pitchFamily="34" charset="-120"/>
              </a:rPr>
              <a:t>RA+ Strategy &amp; Roadmap · Confidential</a:t>
            </a:r>
            <a:endParaRPr lang="en-US" sz="850" dirty="0"/>
          </a:p>
        </p:txBody>
      </p:sp>
      <p:sp>
        <p:nvSpPr>
          <p:cNvPr id="8" name="Text 6"/>
          <p:cNvSpPr/>
          <p:nvPr/>
        </p:nvSpPr>
        <p:spPr>
          <a:xfrm>
            <a:off x="10655503" y="6629400"/>
            <a:ext cx="914400" cy="219456"/>
          </a:xfrm>
          <a:prstGeom prst="rect">
            <a:avLst/>
          </a:prstGeom>
          <a:noFill/>
          <a:ln/>
        </p:spPr>
        <p:txBody>
          <a:bodyPr wrap="square" rtlCol="0" anchor="ctr"/>
          <a:lstStyle/>
          <a:p>
            <a:pPr algn="r" indent="0" marL="0">
              <a:buNone/>
            </a:pPr>
            <a:r>
              <a:rPr lang="en-US" sz="850" dirty="0">
                <a:solidFill>
                  <a:srgbClr val="5A625C"/>
                </a:solidFill>
                <a:latin typeface="Calibri" pitchFamily="34" charset="0"/>
                <a:ea typeface="Calibri" pitchFamily="34" charset="-122"/>
                <a:cs typeface="Calibri" pitchFamily="34" charset="-120"/>
              </a:rPr>
              <a:t>24 / 28</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028700"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786384" y="329184"/>
            <a:ext cx="736092" cy="256032"/>
          </a:xfrm>
          <a:prstGeom prst="rect">
            <a:avLst/>
          </a:prstGeom>
          <a:noFill/>
          <a:ln/>
        </p:spPr>
        <p:txBody>
          <a:bodyPr wrap="none" rtlCol="0" anchor="ctr"/>
          <a:lstStyle/>
          <a:p>
            <a:pPr indent="0" marL="0">
              <a:buNone/>
            </a:pPr>
            <a:r>
              <a:rPr lang="en-US" sz="950" b="1" dirty="0">
                <a:solidFill>
                  <a:srgbClr val="007A27"/>
                </a:solidFill>
                <a:latin typeface="Calibri" pitchFamily="34" charset="0"/>
                <a:ea typeface="Calibri" pitchFamily="34" charset="-122"/>
                <a:cs typeface="Calibri" pitchFamily="34" charset="-120"/>
              </a:rPr>
              <a:t>TRUST</a:t>
            </a:r>
            <a:endParaRPr lang="en-US" sz="950" dirty="0"/>
          </a:p>
        </p:txBody>
      </p:sp>
      <p:sp>
        <p:nvSpPr>
          <p:cNvPr id="6" name="Text 4"/>
          <p:cNvSpPr/>
          <p:nvPr/>
        </p:nvSpPr>
        <p:spPr>
          <a:xfrm>
            <a:off x="621792" y="768096"/>
            <a:ext cx="10948111" cy="822960"/>
          </a:xfrm>
          <a:prstGeom prst="rect">
            <a:avLst/>
          </a:prstGeom>
          <a:noFill/>
          <a:ln/>
        </p:spPr>
        <p:txBody>
          <a:bodyPr wrap="square" rtlCol="0" anchor="t">
            <a:normAutofit/>
          </a:bodyPr>
          <a:lstStyle/>
          <a:p>
            <a:pPr indent="0" marL="0">
              <a:buNone/>
            </a:pPr>
            <a:r>
              <a:rPr lang="en-US" sz="2800" b="1" dirty="0">
                <a:solidFill>
                  <a:srgbClr val="1E2420"/>
                </a:solidFill>
                <a:latin typeface="Calibri" pitchFamily="34" charset="0"/>
                <a:ea typeface="Calibri" pitchFamily="34" charset="-122"/>
                <a:cs typeface="Calibri" pitchFamily="34" charset="-120"/>
              </a:rPr>
              <a:t>Can we put AI-assisted outputs in front of auditors and regulators?</a:t>
            </a:r>
            <a:endParaRPr lang="en-US" sz="2800" dirty="0"/>
          </a:p>
        </p:txBody>
      </p:sp>
      <p:sp>
        <p:nvSpPr>
          <p:cNvPr id="7" name="Text 5"/>
          <p:cNvSpPr/>
          <p:nvPr/>
        </p:nvSpPr>
        <p:spPr>
          <a:xfrm>
            <a:off x="621792" y="1691640"/>
            <a:ext cx="10948111" cy="868680"/>
          </a:xfrm>
          <a:prstGeom prst="rect">
            <a:avLst/>
          </a:prstGeom>
          <a:noFill/>
          <a:ln/>
        </p:spPr>
        <p:txBody>
          <a:bodyPr wrap="square" rtlCol="0" anchor="t"/>
          <a:lstStyle/>
          <a:p>
            <a:pPr indent="0" marL="0">
              <a:buNone/>
            </a:pPr>
            <a:r>
              <a:rPr lang="en-US" sz="1300" dirty="0">
                <a:solidFill>
                  <a:srgbClr val="1E2420"/>
                </a:solidFill>
                <a:latin typeface="Calibri" pitchFamily="34" charset="0"/>
                <a:ea typeface="Calibri" pitchFamily="34" charset="-122"/>
                <a:cs typeface="Calibri" pitchFamily="34" charset="-120"/>
              </a:rPr>
              <a:t>Yes, because AI is assistive and governed: method transparency per data point, lineage and evidence on every number, and an audit trail across the inventory.</a:t>
            </a:r>
            <a:endParaRPr lang="en-US" sz="1300" dirty="0"/>
          </a:p>
        </p:txBody>
      </p:sp>
      <p:sp>
        <p:nvSpPr>
          <p:cNvPr id="8" name="Text 6"/>
          <p:cNvSpPr/>
          <p:nvPr/>
        </p:nvSpPr>
        <p:spPr>
          <a:xfrm>
            <a:off x="713232" y="2697480"/>
            <a:ext cx="10765231" cy="1371600"/>
          </a:xfrm>
          <a:prstGeom prst="rect">
            <a:avLst/>
          </a:prstGeom>
          <a:noFill/>
          <a:ln/>
        </p:spPr>
        <p:txBody>
          <a:bodyPr wrap="square" rtlCol="0" anchor="t"/>
          <a:lstStyle/>
          <a:p>
            <a:pPr marL="342900" indent="-342900">
              <a:buSzPct val="100000"/>
              <a:buChar char="•"/>
            </a:pPr>
            <a:r>
              <a:rPr lang="en-US" sz="1150" dirty="0">
                <a:solidFill>
                  <a:srgbClr val="5A625C"/>
                </a:solidFill>
                <a:latin typeface="Calibri" pitchFamily="34" charset="0"/>
                <a:ea typeface="Calibri" pitchFamily="34" charset="-122"/>
                <a:cs typeface="Calibri" pitchFamily="34" charset="-120"/>
              </a:rPr>
              <a:t>• Consultant-grade and AI-driven inventory with reproducible calculations.</a:t>
            </a:r>
            <a:endParaRPr lang="en-US" sz="1150" dirty="0"/>
          </a:p>
          <a:p>
            <a:pPr marL="342900" indent="-342900">
              <a:buSzPct val="100000"/>
              <a:buChar char="•"/>
            </a:pPr>
            <a:r>
              <a:rPr lang="en-US" sz="1150" dirty="0">
                <a:solidFill>
                  <a:srgbClr val="5A625C"/>
                </a:solidFill>
                <a:latin typeface="Calibri" pitchFamily="34" charset="0"/>
                <a:ea typeface="Calibri" pitchFamily="34" charset="-122"/>
                <a:cs typeface="Calibri" pitchFamily="34" charset="-120"/>
              </a:rPr>
              <a:t>• Sera guidance embedded across inventory and disclosure with human approval loops.</a:t>
            </a:r>
            <a:endParaRPr lang="en-US" sz="1150" dirty="0"/>
          </a:p>
          <a:p>
            <a:pPr marL="342900" indent="-342900">
              <a:buSzPct val="100000"/>
              <a:buChar char="•"/>
            </a:pPr>
            <a:r>
              <a:rPr lang="en-US" sz="1150" dirty="0">
                <a:solidFill>
                  <a:srgbClr val="5A625C"/>
                </a:solidFill>
                <a:latin typeface="Calibri" pitchFamily="34" charset="0"/>
                <a:ea typeface="Calibri" pitchFamily="34" charset="-122"/>
                <a:cs typeface="Calibri" pitchFamily="34" charset="-120"/>
              </a:rPr>
              <a:t>• Data quality, evidence and audit trail are core platform investments, not afterthoughts.</a:t>
            </a:r>
            <a:endParaRPr lang="en-US" sz="1150" dirty="0"/>
          </a:p>
        </p:txBody>
      </p:sp>
      <p:sp>
        <p:nvSpPr>
          <p:cNvPr id="9" name="Text 7"/>
          <p:cNvSpPr/>
          <p:nvPr/>
        </p:nvSpPr>
        <p:spPr>
          <a:xfrm>
            <a:off x="621792" y="4251960"/>
            <a:ext cx="10948111" cy="1005840"/>
          </a:xfrm>
          <a:prstGeom prst="rect">
            <a:avLst/>
          </a:prstGeom>
          <a:noFill/>
          <a:ln/>
        </p:spPr>
        <p:txBody>
          <a:bodyPr wrap="square" rtlCol="0" anchor="t"/>
          <a:lstStyle/>
          <a:p>
            <a:pPr indent="0" marL="0">
              <a:buNone/>
            </a:pPr>
            <a:r>
              <a:rPr lang="en-US" sz="1150" i="1" dirty="0">
                <a:solidFill>
                  <a:srgbClr val="007A27"/>
                </a:solidFill>
                <a:latin typeface="Calibri" pitchFamily="34" charset="0"/>
                <a:ea typeface="Calibri" pitchFamily="34" charset="-122"/>
                <a:cs typeface="Calibri" pitchFamily="34" charset="-120"/>
              </a:rPr>
              <a:t>Implication: Trust is a product feature we sell, and the reason the sequence puts governed data ahead of scaled AI.</a:t>
            </a:r>
            <a:endParaRPr lang="en-US" sz="1150" dirty="0"/>
          </a:p>
        </p:txBody>
      </p:sp>
      <p:sp>
        <p:nvSpPr>
          <p:cNvPr id="10" name="Text 8"/>
          <p:cNvSpPr/>
          <p:nvPr/>
        </p:nvSpPr>
        <p:spPr>
          <a:xfrm>
            <a:off x="621792" y="6629400"/>
            <a:ext cx="5486400" cy="219456"/>
          </a:xfrm>
          <a:prstGeom prst="rect">
            <a:avLst/>
          </a:prstGeom>
          <a:noFill/>
          <a:ln/>
        </p:spPr>
        <p:txBody>
          <a:bodyPr wrap="square" rtlCol="0" anchor="ctr"/>
          <a:lstStyle/>
          <a:p>
            <a:pPr indent="0" marL="0">
              <a:buNone/>
            </a:pPr>
            <a:r>
              <a:rPr lang="en-US" sz="850" dirty="0">
                <a:solidFill>
                  <a:srgbClr val="5A625C"/>
                </a:solidFill>
                <a:latin typeface="Calibri" pitchFamily="34" charset="0"/>
                <a:ea typeface="Calibri" pitchFamily="34" charset="-122"/>
                <a:cs typeface="Calibri" pitchFamily="34" charset="-120"/>
              </a:rPr>
              <a:t>RA+ Strategy &amp; Roadmap · Confidential</a:t>
            </a:r>
            <a:endParaRPr lang="en-US" sz="850" dirty="0"/>
          </a:p>
        </p:txBody>
      </p:sp>
      <p:sp>
        <p:nvSpPr>
          <p:cNvPr id="11" name="Text 9"/>
          <p:cNvSpPr/>
          <p:nvPr/>
        </p:nvSpPr>
        <p:spPr>
          <a:xfrm>
            <a:off x="10655503" y="6629400"/>
            <a:ext cx="914400" cy="219456"/>
          </a:xfrm>
          <a:prstGeom prst="rect">
            <a:avLst/>
          </a:prstGeom>
          <a:noFill/>
          <a:ln/>
        </p:spPr>
        <p:txBody>
          <a:bodyPr wrap="square" rtlCol="0" anchor="ctr"/>
          <a:lstStyle/>
          <a:p>
            <a:pPr algn="r" indent="0" marL="0">
              <a:buNone/>
            </a:pPr>
            <a:r>
              <a:rPr lang="en-US" sz="850" dirty="0">
                <a:solidFill>
                  <a:srgbClr val="5A625C"/>
                </a:solidFill>
                <a:latin typeface="Calibri" pitchFamily="34" charset="0"/>
                <a:ea typeface="Calibri" pitchFamily="34" charset="-122"/>
                <a:cs typeface="Calibri" pitchFamily="34" charset="-120"/>
              </a:rPr>
              <a:t>25 / 28</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2468880"/>
            <a:ext cx="2560320" cy="457200"/>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22960" y="2514600"/>
            <a:ext cx="2286000" cy="365760"/>
          </a:xfrm>
          <a:prstGeom prst="rect">
            <a:avLst/>
          </a:prstGeom>
          <a:noFill/>
          <a:ln/>
        </p:spPr>
        <p:txBody>
          <a:bodyPr wrap="square" rtlCol="0" anchor="ctr"/>
          <a:lstStyle/>
          <a:p>
            <a:pPr indent="0" marL="0">
              <a:buNone/>
            </a:pPr>
            <a:r>
              <a:rPr lang="en-US" sz="1400" b="1" dirty="0">
                <a:solidFill>
                  <a:srgbClr val="007A27"/>
                </a:solidFill>
                <a:latin typeface="Calibri" pitchFamily="34" charset="0"/>
                <a:ea typeface="Calibri" pitchFamily="34" charset="-122"/>
                <a:cs typeface="Calibri" pitchFamily="34" charset="-120"/>
              </a:rPr>
              <a:t>BEYOND 2027</a:t>
            </a:r>
            <a:endParaRPr lang="en-US" sz="1400" dirty="0"/>
          </a:p>
        </p:txBody>
      </p:sp>
      <p:sp>
        <p:nvSpPr>
          <p:cNvPr id="6" name="Text 4"/>
          <p:cNvSpPr/>
          <p:nvPr/>
        </p:nvSpPr>
        <p:spPr>
          <a:xfrm>
            <a:off x="621792" y="3200400"/>
            <a:ext cx="10948111" cy="731520"/>
          </a:xfrm>
          <a:prstGeom prst="rect">
            <a:avLst/>
          </a:prstGeom>
          <a:noFill/>
          <a:ln/>
        </p:spPr>
        <p:txBody>
          <a:bodyPr wrap="square" rtlCol="0" anchor="t"/>
          <a:lstStyle/>
          <a:p>
            <a:pPr indent="0" marL="0">
              <a:buNone/>
            </a:pPr>
            <a:r>
              <a:rPr lang="en-US" sz="4000" b="1" dirty="0">
                <a:solidFill>
                  <a:srgbClr val="1E2420"/>
                </a:solidFill>
                <a:latin typeface="Calibri" pitchFamily="34" charset="0"/>
                <a:ea typeface="Calibri" pitchFamily="34" charset="-122"/>
                <a:cs typeface="Calibri" pitchFamily="34" charset="-120"/>
              </a:rPr>
              <a:t>Leadership Q&amp;A</a:t>
            </a:r>
            <a:endParaRPr lang="en-US" sz="4000" dirty="0"/>
          </a:p>
        </p:txBody>
      </p:sp>
      <p:sp>
        <p:nvSpPr>
          <p:cNvPr id="7" name="Text 5"/>
          <p:cNvSpPr/>
          <p:nvPr/>
        </p:nvSpPr>
        <p:spPr>
          <a:xfrm>
            <a:off x="621792" y="6629400"/>
            <a:ext cx="5486400" cy="219456"/>
          </a:xfrm>
          <a:prstGeom prst="rect">
            <a:avLst/>
          </a:prstGeom>
          <a:noFill/>
          <a:ln/>
        </p:spPr>
        <p:txBody>
          <a:bodyPr wrap="square" rtlCol="0" anchor="ctr"/>
          <a:lstStyle/>
          <a:p>
            <a:pPr indent="0" marL="0">
              <a:buNone/>
            </a:pPr>
            <a:r>
              <a:rPr lang="en-US" sz="850" dirty="0">
                <a:solidFill>
                  <a:srgbClr val="5A625C"/>
                </a:solidFill>
                <a:latin typeface="Calibri" pitchFamily="34" charset="0"/>
                <a:ea typeface="Calibri" pitchFamily="34" charset="-122"/>
                <a:cs typeface="Calibri" pitchFamily="34" charset="-120"/>
              </a:rPr>
              <a:t>RA+ Strategy &amp; Roadmap · Confidential</a:t>
            </a:r>
            <a:endParaRPr lang="en-US" sz="850" dirty="0"/>
          </a:p>
        </p:txBody>
      </p:sp>
      <p:sp>
        <p:nvSpPr>
          <p:cNvPr id="8" name="Text 6"/>
          <p:cNvSpPr/>
          <p:nvPr/>
        </p:nvSpPr>
        <p:spPr>
          <a:xfrm>
            <a:off x="10655503" y="6629400"/>
            <a:ext cx="914400" cy="219456"/>
          </a:xfrm>
          <a:prstGeom prst="rect">
            <a:avLst/>
          </a:prstGeom>
          <a:noFill/>
          <a:ln/>
        </p:spPr>
        <p:txBody>
          <a:bodyPr wrap="square" rtlCol="0" anchor="ctr"/>
          <a:lstStyle/>
          <a:p>
            <a:pPr algn="r" indent="0" marL="0">
              <a:buNone/>
            </a:pPr>
            <a:r>
              <a:rPr lang="en-US" sz="850" dirty="0">
                <a:solidFill>
                  <a:srgbClr val="5A625C"/>
                </a:solidFill>
                <a:latin typeface="Calibri" pitchFamily="34" charset="0"/>
                <a:ea typeface="Calibri" pitchFamily="34" charset="-122"/>
                <a:cs typeface="Calibri" pitchFamily="34" charset="-120"/>
              </a:rPr>
              <a:t>26 / 28</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659636"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786384" y="329184"/>
            <a:ext cx="1367028" cy="256032"/>
          </a:xfrm>
          <a:prstGeom prst="rect">
            <a:avLst/>
          </a:prstGeom>
          <a:noFill/>
          <a:ln/>
        </p:spPr>
        <p:txBody>
          <a:bodyPr wrap="none" rtlCol="0" anchor="ctr"/>
          <a:lstStyle/>
          <a:p>
            <a:pPr indent="0" marL="0">
              <a:buNone/>
            </a:pPr>
            <a:r>
              <a:rPr lang="en-US" sz="950" b="1" dirty="0">
                <a:solidFill>
                  <a:srgbClr val="007A27"/>
                </a:solidFill>
                <a:latin typeface="Calibri" pitchFamily="34" charset="0"/>
                <a:ea typeface="Calibri" pitchFamily="34" charset="-122"/>
                <a:cs typeface="Calibri" pitchFamily="34" charset="-120"/>
              </a:rPr>
              <a:t>BEYOND 2027</a:t>
            </a:r>
            <a:endParaRPr lang="en-US" sz="950" dirty="0"/>
          </a:p>
        </p:txBody>
      </p:sp>
      <p:sp>
        <p:nvSpPr>
          <p:cNvPr id="6" name="Text 4"/>
          <p:cNvSpPr/>
          <p:nvPr/>
        </p:nvSpPr>
        <p:spPr>
          <a:xfrm>
            <a:off x="621792" y="768096"/>
            <a:ext cx="10948111" cy="822960"/>
          </a:xfrm>
          <a:prstGeom prst="rect">
            <a:avLst/>
          </a:prstGeom>
          <a:noFill/>
          <a:ln/>
        </p:spPr>
        <p:txBody>
          <a:bodyPr wrap="square" rtlCol="0" anchor="t">
            <a:normAutofit/>
          </a:bodyPr>
          <a:lstStyle/>
          <a:p>
            <a:pPr indent="0" marL="0">
              <a:buNone/>
            </a:pPr>
            <a:r>
              <a:rPr lang="en-US" sz="2800" b="1" dirty="0">
                <a:solidFill>
                  <a:srgbClr val="1E2420"/>
                </a:solidFill>
                <a:latin typeface="Calibri" pitchFamily="34" charset="0"/>
                <a:ea typeface="Calibri" pitchFamily="34" charset="-122"/>
                <a:cs typeface="Calibri" pitchFamily="34" charset="-120"/>
              </a:rPr>
              <a:t>Is the 2028 to 2030+ path a commitment?</a:t>
            </a:r>
            <a:endParaRPr lang="en-US" sz="2800" dirty="0"/>
          </a:p>
        </p:txBody>
      </p:sp>
      <p:sp>
        <p:nvSpPr>
          <p:cNvPr id="7" name="Text 5"/>
          <p:cNvSpPr/>
          <p:nvPr/>
        </p:nvSpPr>
        <p:spPr>
          <a:xfrm>
            <a:off x="621792" y="1691640"/>
            <a:ext cx="10948111" cy="868680"/>
          </a:xfrm>
          <a:prstGeom prst="rect">
            <a:avLst/>
          </a:prstGeom>
          <a:noFill/>
          <a:ln/>
        </p:spPr>
        <p:txBody>
          <a:bodyPr wrap="square" rtlCol="0" anchor="t"/>
          <a:lstStyle/>
          <a:p>
            <a:pPr indent="0" marL="0">
              <a:buNone/>
            </a:pPr>
            <a:r>
              <a:rPr lang="en-US" sz="1300" dirty="0">
                <a:solidFill>
                  <a:srgbClr val="1E2420"/>
                </a:solidFill>
                <a:latin typeface="Calibri" pitchFamily="34" charset="0"/>
                <a:ea typeface="Calibri" pitchFamily="34" charset="-122"/>
                <a:cs typeface="Calibri" pitchFamily="34" charset="-120"/>
              </a:rPr>
              <a:t>No. It is a strategic horizon showing how connected products could compound into governed, increasingly autonomous value.</a:t>
            </a:r>
            <a:endParaRPr lang="en-US" sz="1300" dirty="0"/>
          </a:p>
        </p:txBody>
      </p:sp>
      <p:sp>
        <p:nvSpPr>
          <p:cNvPr id="8" name="Text 6"/>
          <p:cNvSpPr/>
          <p:nvPr/>
        </p:nvSpPr>
        <p:spPr>
          <a:xfrm>
            <a:off x="713232" y="2697480"/>
            <a:ext cx="10765231" cy="1371600"/>
          </a:xfrm>
          <a:prstGeom prst="rect">
            <a:avLst/>
          </a:prstGeom>
          <a:noFill/>
          <a:ln/>
        </p:spPr>
        <p:txBody>
          <a:bodyPr wrap="square" rtlCol="0" anchor="t"/>
          <a:lstStyle/>
          <a:p>
            <a:pPr marL="342900" indent="-342900">
              <a:buSzPct val="100000"/>
              <a:buChar char="•"/>
            </a:pPr>
            <a:r>
              <a:rPr lang="en-US" sz="1150" dirty="0">
                <a:solidFill>
                  <a:srgbClr val="5A625C"/>
                </a:solidFill>
                <a:latin typeface="Calibri" pitchFamily="34" charset="0"/>
                <a:ea typeface="Calibri" pitchFamily="34" charset="-122"/>
                <a:cs typeface="Calibri" pitchFamily="34" charset="-120"/>
              </a:rPr>
              <a:t>• 2028 direction: scale the platform across the enterprise and extended value chain.</a:t>
            </a:r>
            <a:endParaRPr lang="en-US" sz="1150" dirty="0"/>
          </a:p>
          <a:p>
            <a:pPr marL="342900" indent="-342900">
              <a:buSzPct val="100000"/>
              <a:buChar char="•"/>
            </a:pPr>
            <a:r>
              <a:rPr lang="en-US" sz="1150" dirty="0">
                <a:solidFill>
                  <a:srgbClr val="5A625C"/>
                </a:solidFill>
                <a:latin typeface="Calibri" pitchFamily="34" charset="0"/>
                <a:ea typeface="Calibri" pitchFamily="34" charset="-122"/>
                <a:cs typeface="Calibri" pitchFamily="34" charset="-120"/>
              </a:rPr>
              <a:t>• 2029 direction: industrialize cross-domain intelligence and predictive controls.</a:t>
            </a:r>
            <a:endParaRPr lang="en-US" sz="1150" dirty="0"/>
          </a:p>
          <a:p>
            <a:pPr marL="342900" indent="-342900">
              <a:buSzPct val="100000"/>
              <a:buChar char="•"/>
            </a:pPr>
            <a:r>
              <a:rPr lang="en-US" sz="1150" dirty="0">
                <a:solidFill>
                  <a:srgbClr val="5A625C"/>
                </a:solidFill>
                <a:latin typeface="Calibri" pitchFamily="34" charset="0"/>
                <a:ea typeface="Calibri" pitchFamily="34" charset="-122"/>
                <a:cs typeface="Calibri" pitchFamily="34" charset="-120"/>
              </a:rPr>
              <a:t>• 2030+ direction: governed closed-loop execution and outcome-led services.</a:t>
            </a:r>
            <a:endParaRPr lang="en-US" sz="1150" dirty="0"/>
          </a:p>
        </p:txBody>
      </p:sp>
      <p:sp>
        <p:nvSpPr>
          <p:cNvPr id="9" name="Text 7"/>
          <p:cNvSpPr/>
          <p:nvPr/>
        </p:nvSpPr>
        <p:spPr>
          <a:xfrm>
            <a:off x="621792" y="4251960"/>
            <a:ext cx="10948111" cy="1005840"/>
          </a:xfrm>
          <a:prstGeom prst="rect">
            <a:avLst/>
          </a:prstGeom>
          <a:noFill/>
          <a:ln/>
        </p:spPr>
        <p:txBody>
          <a:bodyPr wrap="square" rtlCol="0" anchor="t"/>
          <a:lstStyle/>
          <a:p>
            <a:pPr indent="0" marL="0">
              <a:buNone/>
            </a:pPr>
            <a:r>
              <a:rPr lang="en-US" sz="1150" i="1" dirty="0">
                <a:solidFill>
                  <a:srgbClr val="007A27"/>
                </a:solidFill>
                <a:latin typeface="Calibri" pitchFamily="34" charset="0"/>
                <a:ea typeface="Calibri" pitchFamily="34" charset="-122"/>
                <a:cs typeface="Calibri" pitchFamily="34" charset="-120"/>
              </a:rPr>
              <a:t>Implication: Revalidate sequencing and investment annually against customer evidence, architecture readiness and portfolio choices.</a:t>
            </a:r>
            <a:endParaRPr lang="en-US" sz="1150" dirty="0"/>
          </a:p>
          <a:p>
            <a:pPr indent="0" marL="0">
              <a:buNone/>
            </a:pPr>
            <a:r>
              <a:rPr lang="en-US" sz="1150" i="1" dirty="0">
                <a:solidFill>
                  <a:srgbClr val="007A27"/>
                </a:solidFill>
                <a:latin typeface="Calibri" pitchFamily="34" charset="0"/>
                <a:ea typeface="Calibri" pitchFamily="34" charset="-122"/>
                <a:cs typeface="Calibri" pitchFamily="34" charset="-120"/>
              </a:rPr>
              <a:t>Caution: Directional horizons must not be represented as committed release dates.</a:t>
            </a:r>
            <a:endParaRPr lang="en-US" sz="1150" dirty="0"/>
          </a:p>
        </p:txBody>
      </p:sp>
      <p:sp>
        <p:nvSpPr>
          <p:cNvPr id="10" name="Text 8"/>
          <p:cNvSpPr/>
          <p:nvPr/>
        </p:nvSpPr>
        <p:spPr>
          <a:xfrm>
            <a:off x="621792" y="6629400"/>
            <a:ext cx="5486400" cy="219456"/>
          </a:xfrm>
          <a:prstGeom prst="rect">
            <a:avLst/>
          </a:prstGeom>
          <a:noFill/>
          <a:ln/>
        </p:spPr>
        <p:txBody>
          <a:bodyPr wrap="square" rtlCol="0" anchor="ctr"/>
          <a:lstStyle/>
          <a:p>
            <a:pPr indent="0" marL="0">
              <a:buNone/>
            </a:pPr>
            <a:r>
              <a:rPr lang="en-US" sz="850" dirty="0">
                <a:solidFill>
                  <a:srgbClr val="5A625C"/>
                </a:solidFill>
                <a:latin typeface="Calibri" pitchFamily="34" charset="0"/>
                <a:ea typeface="Calibri" pitchFamily="34" charset="-122"/>
                <a:cs typeface="Calibri" pitchFamily="34" charset="-120"/>
              </a:rPr>
              <a:t>RA+ Strategy &amp; Roadmap · Confidential</a:t>
            </a:r>
            <a:endParaRPr lang="en-US" sz="850" dirty="0"/>
          </a:p>
        </p:txBody>
      </p:sp>
      <p:sp>
        <p:nvSpPr>
          <p:cNvPr id="11" name="Text 9"/>
          <p:cNvSpPr/>
          <p:nvPr/>
        </p:nvSpPr>
        <p:spPr>
          <a:xfrm>
            <a:off x="10655503" y="6629400"/>
            <a:ext cx="914400" cy="219456"/>
          </a:xfrm>
          <a:prstGeom prst="rect">
            <a:avLst/>
          </a:prstGeom>
          <a:noFill/>
          <a:ln/>
        </p:spPr>
        <p:txBody>
          <a:bodyPr wrap="square" rtlCol="0" anchor="ctr"/>
          <a:lstStyle/>
          <a:p>
            <a:pPr algn="r" indent="0" marL="0">
              <a:buNone/>
            </a:pPr>
            <a:r>
              <a:rPr lang="en-US" sz="850" dirty="0">
                <a:solidFill>
                  <a:srgbClr val="5A625C"/>
                </a:solidFill>
                <a:latin typeface="Calibri" pitchFamily="34" charset="0"/>
                <a:ea typeface="Calibri" pitchFamily="34" charset="-122"/>
                <a:cs typeface="Calibri" pitchFamily="34" charset="-120"/>
              </a:rPr>
              <a:t>27 / 28</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Text 2"/>
          <p:cNvSpPr/>
          <p:nvPr/>
        </p:nvSpPr>
        <p:spPr>
          <a:xfrm>
            <a:off x="621792" y="457200"/>
            <a:ext cx="10948111" cy="640080"/>
          </a:xfrm>
          <a:prstGeom prst="rect">
            <a:avLst/>
          </a:prstGeom>
          <a:noFill/>
          <a:ln/>
        </p:spPr>
        <p:txBody>
          <a:bodyPr wrap="square" rtlCol="0" anchor="t"/>
          <a:lstStyle/>
          <a:p>
            <a:pPr indent="0" marL="0">
              <a:buNone/>
            </a:pPr>
            <a:r>
              <a:rPr lang="en-US" sz="3400" b="1" dirty="0">
                <a:solidFill>
                  <a:srgbClr val="1E2420"/>
                </a:solidFill>
                <a:latin typeface="Calibri" pitchFamily="34" charset="0"/>
                <a:ea typeface="Calibri" pitchFamily="34" charset="-122"/>
                <a:cs typeface="Calibri" pitchFamily="34" charset="-120"/>
              </a:rPr>
              <a:t>Decisions for leadership</a:t>
            </a:r>
            <a:endParaRPr lang="en-US" sz="3400" dirty="0"/>
          </a:p>
        </p:txBody>
      </p:sp>
      <p:sp>
        <p:nvSpPr>
          <p:cNvPr id="5" name="Shape 3"/>
          <p:cNvSpPr/>
          <p:nvPr/>
        </p:nvSpPr>
        <p:spPr>
          <a:xfrm>
            <a:off x="621792" y="1325880"/>
            <a:ext cx="10948111" cy="960120"/>
          </a:xfrm>
          <a:prstGeom prst="roundRect">
            <a:avLst>
              <a:gd name="adj" fmla="val 11429"/>
            </a:avLst>
          </a:prstGeom>
          <a:solidFill>
            <a:srgbClr val="F7F8F7"/>
          </a:solidFill>
          <a:ln w="12700">
            <a:solidFill>
              <a:srgbClr val="E2E6E2"/>
            </a:solidFill>
            <a:prstDash val="solid"/>
          </a:ln>
        </p:spPr>
      </p:sp>
      <p:sp>
        <p:nvSpPr>
          <p:cNvPr id="6" name="Text 4"/>
          <p:cNvSpPr/>
          <p:nvPr/>
        </p:nvSpPr>
        <p:spPr>
          <a:xfrm>
            <a:off x="786384" y="1435608"/>
            <a:ext cx="10618927" cy="292608"/>
          </a:xfrm>
          <a:prstGeom prst="rect">
            <a:avLst/>
          </a:prstGeom>
          <a:noFill/>
          <a:ln/>
        </p:spPr>
        <p:txBody>
          <a:bodyPr wrap="square" rtlCol="0" anchor="t"/>
          <a:lstStyle/>
          <a:p>
            <a:pPr indent="0" marL="0">
              <a:buNone/>
            </a:pPr>
            <a:r>
              <a:rPr lang="en-US" sz="1400" b="1" dirty="0">
                <a:solidFill>
                  <a:srgbClr val="1E2420"/>
                </a:solidFill>
                <a:latin typeface="Calibri" pitchFamily="34" charset="0"/>
                <a:ea typeface="Calibri" pitchFamily="34" charset="-122"/>
                <a:cs typeface="Calibri" pitchFamily="34" charset="-120"/>
              </a:rPr>
              <a:t>1. Protect the platform sequence</a:t>
            </a:r>
            <a:endParaRPr lang="en-US" sz="1400" dirty="0"/>
          </a:p>
        </p:txBody>
      </p:sp>
      <p:sp>
        <p:nvSpPr>
          <p:cNvPr id="7" name="Text 5"/>
          <p:cNvSpPr/>
          <p:nvPr/>
        </p:nvSpPr>
        <p:spPr>
          <a:xfrm>
            <a:off x="786384" y="1764792"/>
            <a:ext cx="10618927" cy="438912"/>
          </a:xfrm>
          <a:prstGeom prst="rect">
            <a:avLst/>
          </a:prstGeom>
          <a:noFill/>
          <a:ln/>
        </p:spPr>
        <p:txBody>
          <a:bodyPr wrap="square" rtlCol="0" anchor="t"/>
          <a:lstStyle/>
          <a:p>
            <a:pPr indent="0" marL="0">
              <a:buNone/>
            </a:pPr>
            <a:r>
              <a:rPr lang="en-US" sz="1150" dirty="0">
                <a:solidFill>
                  <a:srgbClr val="5A625C"/>
                </a:solidFill>
                <a:latin typeface="Calibri" pitchFamily="34" charset="0"/>
                <a:ea typeface="Calibri" pitchFamily="34" charset="-122"/>
                <a:cs typeface="Calibri" pitchFamily="34" charset="-120"/>
              </a:rPr>
              <a:t>Keep data, calculation governance and evidence ahead of scaled AI and automation.</a:t>
            </a:r>
            <a:endParaRPr lang="en-US" sz="1150" dirty="0"/>
          </a:p>
        </p:txBody>
      </p:sp>
      <p:sp>
        <p:nvSpPr>
          <p:cNvPr id="8" name="Shape 6"/>
          <p:cNvSpPr/>
          <p:nvPr/>
        </p:nvSpPr>
        <p:spPr>
          <a:xfrm>
            <a:off x="621792" y="2450592"/>
            <a:ext cx="10948111" cy="960120"/>
          </a:xfrm>
          <a:prstGeom prst="roundRect">
            <a:avLst>
              <a:gd name="adj" fmla="val 11429"/>
            </a:avLst>
          </a:prstGeom>
          <a:solidFill>
            <a:srgbClr val="F7F8F7"/>
          </a:solidFill>
          <a:ln w="12700">
            <a:solidFill>
              <a:srgbClr val="E2E6E2"/>
            </a:solidFill>
            <a:prstDash val="solid"/>
          </a:ln>
        </p:spPr>
      </p:sp>
      <p:sp>
        <p:nvSpPr>
          <p:cNvPr id="9" name="Text 7"/>
          <p:cNvSpPr/>
          <p:nvPr/>
        </p:nvSpPr>
        <p:spPr>
          <a:xfrm>
            <a:off x="786384" y="2560320"/>
            <a:ext cx="10618927" cy="292608"/>
          </a:xfrm>
          <a:prstGeom prst="rect">
            <a:avLst/>
          </a:prstGeom>
          <a:noFill/>
          <a:ln/>
        </p:spPr>
        <p:txBody>
          <a:bodyPr wrap="square" rtlCol="0" anchor="t"/>
          <a:lstStyle/>
          <a:p>
            <a:pPr indent="0" marL="0">
              <a:buNone/>
            </a:pPr>
            <a:r>
              <a:rPr lang="en-US" sz="1400" b="1" dirty="0">
                <a:solidFill>
                  <a:srgbClr val="1E2420"/>
                </a:solidFill>
                <a:latin typeface="Calibri" pitchFamily="34" charset="0"/>
                <a:ea typeface="Calibri" pitchFamily="34" charset="-122"/>
                <a:cs typeface="Calibri" pitchFamily="34" charset="-120"/>
              </a:rPr>
              <a:t>2. Demand commercial proof</a:t>
            </a:r>
            <a:endParaRPr lang="en-US" sz="1400" dirty="0"/>
          </a:p>
        </p:txBody>
      </p:sp>
      <p:sp>
        <p:nvSpPr>
          <p:cNvPr id="10" name="Text 8"/>
          <p:cNvSpPr/>
          <p:nvPr/>
        </p:nvSpPr>
        <p:spPr>
          <a:xfrm>
            <a:off x="786384" y="2889504"/>
            <a:ext cx="10618927" cy="438912"/>
          </a:xfrm>
          <a:prstGeom prst="rect">
            <a:avLst/>
          </a:prstGeom>
          <a:noFill/>
          <a:ln/>
        </p:spPr>
        <p:txBody>
          <a:bodyPr wrap="square" rtlCol="0" anchor="t"/>
          <a:lstStyle/>
          <a:p>
            <a:pPr indent="0" marL="0">
              <a:buNone/>
            </a:pPr>
            <a:r>
              <a:rPr lang="en-US" sz="1150" dirty="0">
                <a:solidFill>
                  <a:srgbClr val="5A625C"/>
                </a:solidFill>
                <a:latin typeface="Calibri" pitchFamily="34" charset="0"/>
                <a:ea typeface="Calibri" pitchFamily="34" charset="-122"/>
                <a:cs typeface="Calibri" pitchFamily="34" charset="-120"/>
              </a:rPr>
              <a:t>Select lighthouse accounts and validate cross-product adoption, TCO and expansion evidence at each stage of the buyer journey.</a:t>
            </a:r>
            <a:endParaRPr lang="en-US" sz="1150" dirty="0"/>
          </a:p>
        </p:txBody>
      </p:sp>
      <p:sp>
        <p:nvSpPr>
          <p:cNvPr id="11" name="Shape 9"/>
          <p:cNvSpPr/>
          <p:nvPr/>
        </p:nvSpPr>
        <p:spPr>
          <a:xfrm>
            <a:off x="621792" y="3575304"/>
            <a:ext cx="10948111" cy="960120"/>
          </a:xfrm>
          <a:prstGeom prst="roundRect">
            <a:avLst>
              <a:gd name="adj" fmla="val 11429"/>
            </a:avLst>
          </a:prstGeom>
          <a:solidFill>
            <a:srgbClr val="F7F8F7"/>
          </a:solidFill>
          <a:ln w="12700">
            <a:solidFill>
              <a:srgbClr val="E2E6E2"/>
            </a:solidFill>
            <a:prstDash val="solid"/>
          </a:ln>
        </p:spPr>
      </p:sp>
      <p:sp>
        <p:nvSpPr>
          <p:cNvPr id="12" name="Text 10"/>
          <p:cNvSpPr/>
          <p:nvPr/>
        </p:nvSpPr>
        <p:spPr>
          <a:xfrm>
            <a:off x="786384" y="3685032"/>
            <a:ext cx="10618927" cy="292608"/>
          </a:xfrm>
          <a:prstGeom prst="rect">
            <a:avLst/>
          </a:prstGeom>
          <a:noFill/>
          <a:ln/>
        </p:spPr>
        <p:txBody>
          <a:bodyPr wrap="square" rtlCol="0" anchor="t"/>
          <a:lstStyle/>
          <a:p>
            <a:pPr indent="0" marL="0">
              <a:buNone/>
            </a:pPr>
            <a:r>
              <a:rPr lang="en-US" sz="1400" b="1" dirty="0">
                <a:solidFill>
                  <a:srgbClr val="1E2420"/>
                </a:solidFill>
                <a:latin typeface="Calibri" pitchFamily="34" charset="0"/>
                <a:ea typeface="Calibri" pitchFamily="34" charset="-122"/>
                <a:cs typeface="Calibri" pitchFamily="34" charset="-120"/>
              </a:rPr>
              <a:t>3. Sell the journey, not the SKU</a:t>
            </a:r>
            <a:endParaRPr lang="en-US" sz="1400" dirty="0"/>
          </a:p>
        </p:txBody>
      </p:sp>
      <p:sp>
        <p:nvSpPr>
          <p:cNvPr id="13" name="Text 11"/>
          <p:cNvSpPr/>
          <p:nvPr/>
        </p:nvSpPr>
        <p:spPr>
          <a:xfrm>
            <a:off x="786384" y="4014216"/>
            <a:ext cx="10618927" cy="438912"/>
          </a:xfrm>
          <a:prstGeom prst="rect">
            <a:avLst/>
          </a:prstGeom>
          <a:noFill/>
          <a:ln/>
        </p:spPr>
        <p:txBody>
          <a:bodyPr wrap="square" rtlCol="0" anchor="t"/>
          <a:lstStyle/>
          <a:p>
            <a:pPr indent="0" marL="0">
              <a:buNone/>
            </a:pPr>
            <a:r>
              <a:rPr lang="en-US" sz="1150" dirty="0">
                <a:solidFill>
                  <a:srgbClr val="5A625C"/>
                </a:solidFill>
                <a:latin typeface="Calibri" pitchFamily="34" charset="0"/>
                <a:ea typeface="Calibri" pitchFamily="34" charset="-122"/>
                <a:cs typeface="Calibri" pitchFamily="34" charset="-120"/>
              </a:rPr>
              <a:t>Package Land, Prove, Expand, Standardize with platform-plus-product pricing so every first deal is structured to grow.</a:t>
            </a:r>
            <a:endParaRPr lang="en-US" sz="1150" dirty="0"/>
          </a:p>
        </p:txBody>
      </p:sp>
      <p:sp>
        <p:nvSpPr>
          <p:cNvPr id="14" name="Shape 12"/>
          <p:cNvSpPr/>
          <p:nvPr/>
        </p:nvSpPr>
        <p:spPr>
          <a:xfrm>
            <a:off x="621792" y="4700016"/>
            <a:ext cx="10948111" cy="960120"/>
          </a:xfrm>
          <a:prstGeom prst="roundRect">
            <a:avLst>
              <a:gd name="adj" fmla="val 11429"/>
            </a:avLst>
          </a:prstGeom>
          <a:solidFill>
            <a:srgbClr val="F7F8F7"/>
          </a:solidFill>
          <a:ln w="12700">
            <a:solidFill>
              <a:srgbClr val="E2E6E2"/>
            </a:solidFill>
            <a:prstDash val="solid"/>
          </a:ln>
        </p:spPr>
      </p:sp>
      <p:sp>
        <p:nvSpPr>
          <p:cNvPr id="15" name="Text 13"/>
          <p:cNvSpPr/>
          <p:nvPr/>
        </p:nvSpPr>
        <p:spPr>
          <a:xfrm>
            <a:off x="786384" y="4809744"/>
            <a:ext cx="10618927" cy="292608"/>
          </a:xfrm>
          <a:prstGeom prst="rect">
            <a:avLst/>
          </a:prstGeom>
          <a:noFill/>
          <a:ln/>
        </p:spPr>
        <p:txBody>
          <a:bodyPr wrap="square" rtlCol="0" anchor="t"/>
          <a:lstStyle/>
          <a:p>
            <a:pPr indent="0" marL="0">
              <a:buNone/>
            </a:pPr>
            <a:r>
              <a:rPr lang="en-US" sz="1400" b="1" dirty="0">
                <a:solidFill>
                  <a:srgbClr val="1E2420"/>
                </a:solidFill>
                <a:latin typeface="Calibri" pitchFamily="34" charset="0"/>
                <a:ea typeface="Calibri" pitchFamily="34" charset="-122"/>
                <a:cs typeface="Calibri" pitchFamily="34" charset="-120"/>
              </a:rPr>
              <a:t>4. Lock value ownership</a:t>
            </a:r>
            <a:endParaRPr lang="en-US" sz="1400" dirty="0"/>
          </a:p>
        </p:txBody>
      </p:sp>
      <p:sp>
        <p:nvSpPr>
          <p:cNvPr id="16" name="Text 14"/>
          <p:cNvSpPr/>
          <p:nvPr/>
        </p:nvSpPr>
        <p:spPr>
          <a:xfrm>
            <a:off x="786384" y="5138928"/>
            <a:ext cx="10618927" cy="438912"/>
          </a:xfrm>
          <a:prstGeom prst="rect">
            <a:avLst/>
          </a:prstGeom>
          <a:noFill/>
          <a:ln/>
        </p:spPr>
        <p:txBody>
          <a:bodyPr wrap="square" rtlCol="0" anchor="t"/>
          <a:lstStyle/>
          <a:p>
            <a:pPr indent="0" marL="0">
              <a:buNone/>
            </a:pPr>
            <a:r>
              <a:rPr lang="en-US" sz="1150" dirty="0">
                <a:solidFill>
                  <a:srgbClr val="5A625C"/>
                </a:solidFill>
                <a:latin typeface="Calibri" pitchFamily="34" charset="0"/>
                <a:ea typeface="Calibri" pitchFamily="34" charset="-122"/>
                <a:cs typeface="Calibri" pitchFamily="34" charset="-120"/>
              </a:rPr>
              <a:t>Finance and Product assign baselines, owners and realization rules to the three value ledgers.</a:t>
            </a:r>
            <a:endParaRPr lang="en-US" sz="1150" dirty="0"/>
          </a:p>
        </p:txBody>
      </p:sp>
      <p:sp>
        <p:nvSpPr>
          <p:cNvPr id="17" name="Shape 15"/>
          <p:cNvSpPr/>
          <p:nvPr/>
        </p:nvSpPr>
        <p:spPr>
          <a:xfrm>
            <a:off x="621792" y="5824728"/>
            <a:ext cx="10948111" cy="960120"/>
          </a:xfrm>
          <a:prstGeom prst="roundRect">
            <a:avLst>
              <a:gd name="adj" fmla="val 11429"/>
            </a:avLst>
          </a:prstGeom>
          <a:solidFill>
            <a:srgbClr val="F7F8F7"/>
          </a:solidFill>
          <a:ln w="12700">
            <a:solidFill>
              <a:srgbClr val="E2E6E2"/>
            </a:solidFill>
            <a:prstDash val="solid"/>
          </a:ln>
        </p:spPr>
      </p:sp>
      <p:sp>
        <p:nvSpPr>
          <p:cNvPr id="18" name="Text 16"/>
          <p:cNvSpPr/>
          <p:nvPr/>
        </p:nvSpPr>
        <p:spPr>
          <a:xfrm>
            <a:off x="786384" y="5934456"/>
            <a:ext cx="10618927" cy="292608"/>
          </a:xfrm>
          <a:prstGeom prst="rect">
            <a:avLst/>
          </a:prstGeom>
          <a:noFill/>
          <a:ln/>
        </p:spPr>
        <p:txBody>
          <a:bodyPr wrap="square" rtlCol="0" anchor="t"/>
          <a:lstStyle/>
          <a:p>
            <a:pPr indent="0" marL="0">
              <a:buNone/>
            </a:pPr>
            <a:r>
              <a:rPr lang="en-US" sz="1400" b="1" dirty="0">
                <a:solidFill>
                  <a:srgbClr val="1E2420"/>
                </a:solidFill>
                <a:latin typeface="Calibri" pitchFamily="34" charset="0"/>
                <a:ea typeface="Calibri" pitchFamily="34" charset="-122"/>
                <a:cs typeface="Calibri" pitchFamily="34" charset="-120"/>
              </a:rPr>
              <a:t>5. Gate the next horizon</a:t>
            </a:r>
            <a:endParaRPr lang="en-US" sz="1400" dirty="0"/>
          </a:p>
        </p:txBody>
      </p:sp>
      <p:sp>
        <p:nvSpPr>
          <p:cNvPr id="19" name="Text 17"/>
          <p:cNvSpPr/>
          <p:nvPr/>
        </p:nvSpPr>
        <p:spPr>
          <a:xfrm>
            <a:off x="786384" y="6263640"/>
            <a:ext cx="10618927" cy="438912"/>
          </a:xfrm>
          <a:prstGeom prst="rect">
            <a:avLst/>
          </a:prstGeom>
          <a:noFill/>
          <a:ln/>
        </p:spPr>
        <p:txBody>
          <a:bodyPr wrap="square" rtlCol="0" anchor="t"/>
          <a:lstStyle/>
          <a:p>
            <a:pPr indent="0" marL="0">
              <a:buNone/>
            </a:pPr>
            <a:r>
              <a:rPr lang="en-US" sz="1150" dirty="0">
                <a:solidFill>
                  <a:srgbClr val="5A625C"/>
                </a:solidFill>
                <a:latin typeface="Calibri" pitchFamily="34" charset="0"/>
                <a:ea typeface="Calibri" pitchFamily="34" charset="-122"/>
                <a:cs typeface="Calibri" pitchFamily="34" charset="-120"/>
              </a:rPr>
              <a:t>Use explicit stop, adjust and scale decisions before converting directional bets into commitments.</a:t>
            </a:r>
            <a:endParaRPr lang="en-US" sz="1150" dirty="0"/>
          </a:p>
        </p:txBody>
      </p:sp>
      <p:sp>
        <p:nvSpPr>
          <p:cNvPr id="20" name="Text 18"/>
          <p:cNvSpPr/>
          <p:nvPr/>
        </p:nvSpPr>
        <p:spPr>
          <a:xfrm>
            <a:off x="621792" y="6629400"/>
            <a:ext cx="5486400" cy="219456"/>
          </a:xfrm>
          <a:prstGeom prst="rect">
            <a:avLst/>
          </a:prstGeom>
          <a:noFill/>
          <a:ln/>
        </p:spPr>
        <p:txBody>
          <a:bodyPr wrap="square" rtlCol="0" anchor="ctr"/>
          <a:lstStyle/>
          <a:p>
            <a:pPr indent="0" marL="0">
              <a:buNone/>
            </a:pPr>
            <a:r>
              <a:rPr lang="en-US" sz="850" dirty="0">
                <a:solidFill>
                  <a:srgbClr val="5A625C"/>
                </a:solidFill>
                <a:latin typeface="Calibri" pitchFamily="34" charset="0"/>
                <a:ea typeface="Calibri" pitchFamily="34" charset="-122"/>
                <a:cs typeface="Calibri" pitchFamily="34" charset="-120"/>
              </a:rPr>
              <a:t>RA+ Strategy &amp; Roadmap · Confidential</a:t>
            </a:r>
            <a:endParaRPr lang="en-US" sz="850" dirty="0"/>
          </a:p>
        </p:txBody>
      </p:sp>
      <p:sp>
        <p:nvSpPr>
          <p:cNvPr id="21" name="Text 19"/>
          <p:cNvSpPr/>
          <p:nvPr/>
        </p:nvSpPr>
        <p:spPr>
          <a:xfrm>
            <a:off x="10655503" y="6629400"/>
            <a:ext cx="914400" cy="219456"/>
          </a:xfrm>
          <a:prstGeom prst="rect">
            <a:avLst/>
          </a:prstGeom>
          <a:noFill/>
          <a:ln/>
        </p:spPr>
        <p:txBody>
          <a:bodyPr wrap="square" rtlCol="0" anchor="ctr"/>
          <a:lstStyle/>
          <a:p>
            <a:pPr algn="r" indent="0" marL="0">
              <a:buNone/>
            </a:pPr>
            <a:r>
              <a:rPr lang="en-US" sz="850" dirty="0">
                <a:solidFill>
                  <a:srgbClr val="5A625C"/>
                </a:solidFill>
                <a:latin typeface="Calibri" pitchFamily="34" charset="0"/>
                <a:ea typeface="Calibri" pitchFamily="34" charset="-122"/>
                <a:cs typeface="Calibri" pitchFamily="34" charset="-120"/>
              </a:rPr>
              <a:t>28 / 28</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2026-09-07T11:17:55Z</dcterms:created>
  <dcterms:modified xsi:type="dcterms:W3CDTF">2026-09-07T11:17:55Z</dcterms:modified>
</cp:coreProperties>
</file>