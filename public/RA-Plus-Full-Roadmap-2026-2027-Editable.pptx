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notesMasterIdLst>
    <p:notesMasterId r:id="rId10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979408" y="64008"/>
            <a:ext cx="3212287" cy="6793992"/>
          </a:xfrm>
          <a:prstGeom prst="rect">
            <a:avLst/>
          </a:prstGeom>
          <a:solidFill>
            <a:srgbClr val="005730"/>
          </a:solidFill>
          <a:ln w="12700">
            <a:solidFill>
              <a:srgbClr val="005730"/>
            </a:solidFill>
            <a:prstDash val="solid"/>
          </a:ln>
        </p:spPr>
      </p:sp>
      <p:sp>
        <p:nvSpPr>
          <p:cNvPr id="5" name="Shape 3"/>
          <p:cNvSpPr/>
          <p:nvPr/>
        </p:nvSpPr>
        <p:spPr>
          <a:xfrm>
            <a:off x="9281160" y="777240"/>
            <a:ext cx="73152" cy="4480560"/>
          </a:xfrm>
          <a:prstGeom prst="rect">
            <a:avLst/>
          </a:prstGeom>
          <a:solidFill>
            <a:srgbClr val="3DCD58"/>
          </a:solidFill>
          <a:ln w="12700">
            <a:solidFill>
              <a:srgbClr val="3DCD58"/>
            </a:solidFill>
            <a:prstDash val="solid"/>
          </a:ln>
        </p:spPr>
      </p:sp>
      <p:sp>
        <p:nvSpPr>
          <p:cNvPr id="6" name="Text 4"/>
          <p:cNvSpPr/>
          <p:nvPr/>
        </p:nvSpPr>
        <p:spPr>
          <a:xfrm>
            <a:off x="9646920" y="960120"/>
            <a:ext cx="192024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2026</a:t>
            </a:r>
            <a:endParaRPr lang="en-US" sz="2800" dirty="0"/>
          </a:p>
        </p:txBody>
      </p:sp>
      <p:sp>
        <p:nvSpPr>
          <p:cNvPr id="7" name="Text 5"/>
          <p:cNvSpPr/>
          <p:nvPr/>
        </p:nvSpPr>
        <p:spPr>
          <a:xfrm>
            <a:off x="9646920" y="1481328"/>
            <a:ext cx="1920240" cy="274320"/>
          </a:xfrm>
          <a:prstGeom prst="rect">
            <a:avLst/>
          </a:prstGeom>
          <a:noFill/>
          <a:ln/>
        </p:spPr>
        <p:txBody>
          <a:bodyPr wrap="square" lIns="0" tIns="0" rIns="0" bIns="0" rtlCol="0" anchor="ctr"/>
          <a:lstStyle/>
          <a:p>
            <a:pPr indent="0" marL="0">
              <a:buNone/>
            </a:pPr>
            <a:r>
              <a:rPr lang="en-US" sz="1000" b="1" spc="120" kern="0" dirty="0">
                <a:solidFill>
                  <a:srgbClr val="BFE6CE"/>
                </a:solidFill>
                <a:latin typeface="Calibri" pitchFamily="34" charset="0"/>
                <a:ea typeface="Calibri" pitchFamily="34" charset="-122"/>
                <a:cs typeface="Calibri" pitchFamily="34" charset="-120"/>
              </a:rPr>
              <a:t>BUILD THE CORE</a:t>
            </a:r>
            <a:endParaRPr lang="en-US" sz="1000" dirty="0"/>
          </a:p>
        </p:txBody>
      </p:sp>
      <p:sp>
        <p:nvSpPr>
          <p:cNvPr id="8" name="Text 6"/>
          <p:cNvSpPr/>
          <p:nvPr/>
        </p:nvSpPr>
        <p:spPr>
          <a:xfrm>
            <a:off x="9646920" y="2788920"/>
            <a:ext cx="192024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2027</a:t>
            </a:r>
            <a:endParaRPr lang="en-US" sz="2800" dirty="0"/>
          </a:p>
        </p:txBody>
      </p:sp>
      <p:sp>
        <p:nvSpPr>
          <p:cNvPr id="9" name="Text 7"/>
          <p:cNvSpPr/>
          <p:nvPr/>
        </p:nvSpPr>
        <p:spPr>
          <a:xfrm>
            <a:off x="9646920" y="3310128"/>
            <a:ext cx="1920240" cy="274320"/>
          </a:xfrm>
          <a:prstGeom prst="rect">
            <a:avLst/>
          </a:prstGeom>
          <a:noFill/>
          <a:ln/>
        </p:spPr>
        <p:txBody>
          <a:bodyPr wrap="square" lIns="0" tIns="0" rIns="0" bIns="0" rtlCol="0" anchor="ctr"/>
          <a:lstStyle/>
          <a:p>
            <a:pPr indent="0" marL="0">
              <a:buNone/>
            </a:pPr>
            <a:r>
              <a:rPr lang="en-US" sz="1000" b="1" spc="120" kern="0" dirty="0">
                <a:solidFill>
                  <a:srgbClr val="BFE6CE"/>
                </a:solidFill>
                <a:latin typeface="Calibri" pitchFamily="34" charset="0"/>
                <a:ea typeface="Calibri" pitchFamily="34" charset="-122"/>
                <a:cs typeface="Calibri" pitchFamily="34" charset="-120"/>
              </a:rPr>
              <a:t>SCALE THE VALUE</a:t>
            </a:r>
            <a:endParaRPr lang="en-US" sz="1000" dirty="0"/>
          </a:p>
        </p:txBody>
      </p:sp>
      <p:sp>
        <p:nvSpPr>
          <p:cNvPr id="10" name="Text 8"/>
          <p:cNvSpPr/>
          <p:nvPr/>
        </p:nvSpPr>
        <p:spPr>
          <a:xfrm>
            <a:off x="621792" y="804672"/>
            <a:ext cx="7772400" cy="274320"/>
          </a:xfrm>
          <a:prstGeom prst="rect">
            <a:avLst/>
          </a:prstGeom>
          <a:noFill/>
          <a:ln/>
        </p:spPr>
        <p:txBody>
          <a:bodyPr wrap="square" lIns="0" tIns="0" rIns="0" bIns="0" rtlCol="0" anchor="ctr"/>
          <a:lstStyle/>
          <a:p>
            <a:pPr indent="0" marL="0">
              <a:buNone/>
            </a:pPr>
            <a:r>
              <a:rPr lang="en-US" sz="1100" b="1" spc="220" kern="0" dirty="0">
                <a:solidFill>
                  <a:srgbClr val="007A27"/>
                </a:solidFill>
                <a:latin typeface="Calibri" pitchFamily="34" charset="0"/>
                <a:ea typeface="Calibri" pitchFamily="34" charset="-122"/>
                <a:cs typeface="Calibri" pitchFamily="34" charset="-120"/>
              </a:rPr>
              <a:t>RA+ ENTERPRISE SUSTAINABILITY</a:t>
            </a:r>
            <a:endParaRPr lang="en-US" sz="1100" dirty="0"/>
          </a:p>
        </p:txBody>
      </p:sp>
      <p:sp>
        <p:nvSpPr>
          <p:cNvPr id="11" name="Text 9"/>
          <p:cNvSpPr/>
          <p:nvPr/>
        </p:nvSpPr>
        <p:spPr>
          <a:xfrm>
            <a:off x="621792" y="1298448"/>
            <a:ext cx="7726680" cy="1234440"/>
          </a:xfrm>
          <a:prstGeom prst="rect">
            <a:avLst/>
          </a:prstGeom>
          <a:noFill/>
          <a:ln/>
        </p:spPr>
        <p:txBody>
          <a:bodyPr wrap="square" lIns="0" tIns="0" rIns="0" bIns="0" rtlCol="0" anchor="ctr">
            <a:normAutofit/>
          </a:bodyPr>
          <a:lstStyle/>
          <a:p>
            <a:pPr indent="0" marL="0">
              <a:buNone/>
            </a:pPr>
            <a:r>
              <a:rPr lang="en-US" sz="3800" b="1" dirty="0">
                <a:solidFill>
                  <a:srgbClr val="1E2420"/>
                </a:solidFill>
                <a:latin typeface="Calibri" pitchFamily="34" charset="0"/>
                <a:ea typeface="Calibri" pitchFamily="34" charset="-122"/>
                <a:cs typeface="Calibri" pitchFamily="34" charset="-120"/>
              </a:rPr>
              <a:t>RA+ Platform Roadmap 2026 and 2027</a:t>
            </a:r>
            <a:endParaRPr lang="en-US" sz="3800" dirty="0"/>
          </a:p>
        </p:txBody>
      </p:sp>
      <p:sp>
        <p:nvSpPr>
          <p:cNvPr id="12" name="Shape 10"/>
          <p:cNvSpPr/>
          <p:nvPr/>
        </p:nvSpPr>
        <p:spPr>
          <a:xfrm>
            <a:off x="621792" y="2578608"/>
            <a:ext cx="1005840" cy="45720"/>
          </a:xfrm>
          <a:prstGeom prst="rect">
            <a:avLst/>
          </a:prstGeom>
          <a:solidFill>
            <a:srgbClr val="3DCD58"/>
          </a:solidFill>
          <a:ln w="12700">
            <a:solidFill>
              <a:srgbClr val="3DCD58"/>
            </a:solidFill>
            <a:prstDash val="solid"/>
          </a:ln>
        </p:spPr>
      </p:sp>
      <p:sp>
        <p:nvSpPr>
          <p:cNvPr id="13" name="Text 11"/>
          <p:cNvSpPr/>
          <p:nvPr/>
        </p:nvSpPr>
        <p:spPr>
          <a:xfrm>
            <a:off x="621792" y="2743200"/>
            <a:ext cx="7223760" cy="676656"/>
          </a:xfrm>
          <a:prstGeom prst="rect">
            <a:avLst/>
          </a:prstGeom>
          <a:noFill/>
          <a:ln/>
        </p:spPr>
        <p:txBody>
          <a:bodyPr wrap="square" lIns="0" tIns="0" rIns="0" bIns="0" rtlCol="0" anchor="t"/>
          <a:lstStyle/>
          <a:p>
            <a:pPr indent="0" marL="0">
              <a:buNone/>
            </a:pPr>
            <a:r>
              <a:rPr lang="en-US" sz="1500" dirty="0">
                <a:solidFill>
                  <a:srgbClr val="5A625C"/>
                </a:solidFill>
                <a:latin typeface="Calibri" pitchFamily="34" charset="0"/>
                <a:ea typeface="Calibri" pitchFamily="34" charset="-122"/>
                <a:cs typeface="Calibri" pitchFamily="34" charset="-120"/>
              </a:rPr>
              <a:t>Leadership review of the RA+ platform plan across Carbon Performance, Supply Chain, Reporting and Compliance, Climate Risk, Strategy and the core platform they all stand on.</a:t>
            </a:r>
            <a:endParaRPr lang="en-US" sz="1500" dirty="0"/>
          </a:p>
        </p:txBody>
      </p:sp>
      <p:sp>
        <p:nvSpPr>
          <p:cNvPr id="14" name="Text 12"/>
          <p:cNvSpPr/>
          <p:nvPr/>
        </p:nvSpPr>
        <p:spPr>
          <a:xfrm>
            <a:off x="621792" y="3520440"/>
            <a:ext cx="7680960" cy="256032"/>
          </a:xfrm>
          <a:prstGeom prst="rect">
            <a:avLst/>
          </a:prstGeom>
          <a:noFill/>
          <a:ln/>
        </p:spPr>
        <p:txBody>
          <a:bodyPr wrap="square" lIns="0" tIns="0" rIns="0" bIns="0" rtlCol="0" anchor="ctr"/>
          <a:lstStyle/>
          <a:p>
            <a:pPr indent="0" marL="0">
              <a:buNone/>
            </a:pPr>
            <a:r>
              <a:rPr lang="en-US" sz="1000" b="1" spc="70" kern="0" dirty="0">
                <a:solidFill>
                  <a:srgbClr val="303634"/>
                </a:solidFill>
                <a:latin typeface="Calibri" pitchFamily="34" charset="0"/>
                <a:ea typeface="Calibri" pitchFamily="34" charset="-122"/>
                <a:cs typeface="Calibri" pitchFamily="34" charset="-120"/>
              </a:rPr>
              <a:t>Schneider Electric   •   Sustainability Business   •   September 2026</a:t>
            </a:r>
            <a:endParaRPr lang="en-US" sz="1000" dirty="0"/>
          </a:p>
        </p:txBody>
      </p:sp>
      <p:sp>
        <p:nvSpPr>
          <p:cNvPr id="15" name="Shape 13"/>
          <p:cNvSpPr/>
          <p:nvPr/>
        </p:nvSpPr>
        <p:spPr>
          <a:xfrm>
            <a:off x="621792" y="4251960"/>
            <a:ext cx="2484120" cy="1280160"/>
          </a:xfrm>
          <a:prstGeom prst="roundRect">
            <a:avLst>
              <a:gd name="adj" fmla="val 4286"/>
            </a:avLst>
          </a:prstGeom>
          <a:solidFill>
            <a:srgbClr val="FFFFFF"/>
          </a:solidFill>
          <a:ln w="9525">
            <a:solidFill>
              <a:srgbClr val="E2E6E2"/>
            </a:solidFill>
            <a:prstDash val="solid"/>
          </a:ln>
          <a:effectLst>
            <a:outerShdw sx="100000" sy="100000" kx="0" ky="0" algn="bl" rotWithShape="0" blurRad="76200" dist="25400" dir="5400000">
              <a:srgbClr val="0A1F12">
                <a:alpha val="12000"/>
              </a:srgbClr>
            </a:outerShdw>
          </a:effectLst>
        </p:spPr>
      </p:sp>
      <p:sp>
        <p:nvSpPr>
          <p:cNvPr id="16" name="Shape 14"/>
          <p:cNvSpPr/>
          <p:nvPr/>
        </p:nvSpPr>
        <p:spPr>
          <a:xfrm>
            <a:off x="621792" y="4251960"/>
            <a:ext cx="45720" cy="1280160"/>
          </a:xfrm>
          <a:prstGeom prst="rect">
            <a:avLst/>
          </a:prstGeom>
          <a:solidFill>
            <a:srgbClr val="3DCD58"/>
          </a:solidFill>
          <a:ln w="12700">
            <a:solidFill>
              <a:srgbClr val="3DCD58"/>
            </a:solidFill>
            <a:prstDash val="solid"/>
          </a:ln>
        </p:spPr>
      </p:sp>
      <p:sp>
        <p:nvSpPr>
          <p:cNvPr id="17" name="Text 15"/>
          <p:cNvSpPr/>
          <p:nvPr/>
        </p:nvSpPr>
        <p:spPr>
          <a:xfrm>
            <a:off x="822960" y="4462272"/>
            <a:ext cx="2118360" cy="475488"/>
          </a:xfrm>
          <a:prstGeom prst="rect">
            <a:avLst/>
          </a:prstGeom>
          <a:noFill/>
          <a:ln/>
        </p:spPr>
        <p:txBody>
          <a:bodyPr wrap="square" lIns="0" tIns="0" rIns="0" bIns="0" rtlCol="0" anchor="ctr"/>
          <a:lstStyle/>
          <a:p>
            <a:pPr indent="0" marL="0">
              <a:buNone/>
            </a:pPr>
            <a:r>
              <a:rPr lang="en-US" sz="2700" b="1" dirty="0">
                <a:solidFill>
                  <a:srgbClr val="007A27"/>
                </a:solidFill>
                <a:latin typeface="Calibri" pitchFamily="34" charset="0"/>
                <a:ea typeface="Calibri" pitchFamily="34" charset="-122"/>
                <a:cs typeface="Calibri" pitchFamily="34" charset="-120"/>
              </a:rPr>
              <a:t>6</a:t>
            </a:r>
            <a:endParaRPr lang="en-US" sz="2700" dirty="0"/>
          </a:p>
        </p:txBody>
      </p:sp>
      <p:sp>
        <p:nvSpPr>
          <p:cNvPr id="18" name="Text 16"/>
          <p:cNvSpPr/>
          <p:nvPr/>
        </p:nvSpPr>
        <p:spPr>
          <a:xfrm>
            <a:off x="822960" y="5010912"/>
            <a:ext cx="2118360" cy="329184"/>
          </a:xfrm>
          <a:prstGeom prst="rect">
            <a:avLst/>
          </a:prstGeom>
          <a:noFill/>
          <a:ln/>
        </p:spPr>
        <p:txBody>
          <a:bodyPr wrap="square" lIns="0" tIns="0" rIns="0" bIns="0" rtlCol="0" anchor="t">
            <a:normAutofit/>
          </a:bodyPr>
          <a:lstStyle/>
          <a:p>
            <a:pPr indent="0" marL="0">
              <a:buNone/>
            </a:pPr>
            <a:r>
              <a:rPr lang="en-US" sz="1000" dirty="0">
                <a:solidFill>
                  <a:srgbClr val="5A625C"/>
                </a:solidFill>
                <a:latin typeface="Calibri" pitchFamily="34" charset="0"/>
                <a:ea typeface="Calibri" pitchFamily="34" charset="-122"/>
                <a:cs typeface="Calibri" pitchFamily="34" charset="-120"/>
              </a:rPr>
              <a:t>Products on one shared platform</a:t>
            </a:r>
            <a:endParaRPr lang="en-US" sz="1000" dirty="0"/>
          </a:p>
        </p:txBody>
      </p:sp>
      <p:sp>
        <p:nvSpPr>
          <p:cNvPr id="19" name="Shape 17"/>
          <p:cNvSpPr/>
          <p:nvPr/>
        </p:nvSpPr>
        <p:spPr>
          <a:xfrm>
            <a:off x="3380232" y="4251960"/>
            <a:ext cx="2484120" cy="1280160"/>
          </a:xfrm>
          <a:prstGeom prst="roundRect">
            <a:avLst>
              <a:gd name="adj" fmla="val 4286"/>
            </a:avLst>
          </a:prstGeom>
          <a:solidFill>
            <a:srgbClr val="FFFFFF"/>
          </a:solidFill>
          <a:ln w="9525">
            <a:solidFill>
              <a:srgbClr val="E2E6E2"/>
            </a:solidFill>
            <a:prstDash val="solid"/>
          </a:ln>
          <a:effectLst>
            <a:outerShdw sx="100000" sy="100000" kx="0" ky="0" algn="bl" rotWithShape="0" blurRad="967740000" dist="322580000" dir="324000000000">
              <a:srgbClr val="0A1F12">
                <a:alpha val="1200000000"/>
              </a:srgbClr>
            </a:outerShdw>
          </a:effectLst>
        </p:spPr>
      </p:sp>
      <p:sp>
        <p:nvSpPr>
          <p:cNvPr id="20" name="Shape 18"/>
          <p:cNvSpPr/>
          <p:nvPr/>
        </p:nvSpPr>
        <p:spPr>
          <a:xfrm>
            <a:off x="3380232" y="4251960"/>
            <a:ext cx="45720" cy="1280160"/>
          </a:xfrm>
          <a:prstGeom prst="rect">
            <a:avLst/>
          </a:prstGeom>
          <a:solidFill>
            <a:srgbClr val="3DCD58"/>
          </a:solidFill>
          <a:ln w="12700">
            <a:solidFill>
              <a:srgbClr val="3DCD58"/>
            </a:solidFill>
            <a:prstDash val="solid"/>
          </a:ln>
        </p:spPr>
      </p:sp>
      <p:sp>
        <p:nvSpPr>
          <p:cNvPr id="21" name="Text 19"/>
          <p:cNvSpPr/>
          <p:nvPr/>
        </p:nvSpPr>
        <p:spPr>
          <a:xfrm>
            <a:off x="3581400" y="4462272"/>
            <a:ext cx="2118360" cy="475488"/>
          </a:xfrm>
          <a:prstGeom prst="rect">
            <a:avLst/>
          </a:prstGeom>
          <a:noFill/>
          <a:ln/>
        </p:spPr>
        <p:txBody>
          <a:bodyPr wrap="square" lIns="0" tIns="0" rIns="0" bIns="0" rtlCol="0" anchor="ctr"/>
          <a:lstStyle/>
          <a:p>
            <a:pPr indent="0" marL="0">
              <a:buNone/>
            </a:pPr>
            <a:r>
              <a:rPr lang="en-US" sz="2700" b="1" dirty="0">
                <a:solidFill>
                  <a:srgbClr val="007A27"/>
                </a:solidFill>
                <a:latin typeface="Calibri" pitchFamily="34" charset="0"/>
                <a:ea typeface="Calibri" pitchFamily="34" charset="-122"/>
                <a:cs typeface="Calibri" pitchFamily="34" charset="-120"/>
              </a:rPr>
              <a:t>2027</a:t>
            </a:r>
            <a:endParaRPr lang="en-US" sz="2700" dirty="0"/>
          </a:p>
        </p:txBody>
      </p:sp>
      <p:sp>
        <p:nvSpPr>
          <p:cNvPr id="22" name="Text 20"/>
          <p:cNvSpPr/>
          <p:nvPr/>
        </p:nvSpPr>
        <p:spPr>
          <a:xfrm>
            <a:off x="3581400" y="5010912"/>
            <a:ext cx="2118360" cy="329184"/>
          </a:xfrm>
          <a:prstGeom prst="rect">
            <a:avLst/>
          </a:prstGeom>
          <a:noFill/>
          <a:ln/>
        </p:spPr>
        <p:txBody>
          <a:bodyPr wrap="square" lIns="0" tIns="0" rIns="0" bIns="0" rtlCol="0" anchor="t">
            <a:normAutofit/>
          </a:bodyPr>
          <a:lstStyle/>
          <a:p>
            <a:pPr indent="0" marL="0">
              <a:buNone/>
            </a:pPr>
            <a:r>
              <a:rPr lang="en-US" sz="1000" dirty="0">
                <a:solidFill>
                  <a:srgbClr val="5A625C"/>
                </a:solidFill>
                <a:latin typeface="Calibri" pitchFamily="34" charset="0"/>
                <a:ea typeface="Calibri" pitchFamily="34" charset="-122"/>
                <a:cs typeface="Calibri" pitchFamily="34" charset="-120"/>
              </a:rPr>
              <a:t>Direction mentioned in this plan</a:t>
            </a:r>
            <a:endParaRPr lang="en-US" sz="1000" dirty="0"/>
          </a:p>
        </p:txBody>
      </p:sp>
      <p:sp>
        <p:nvSpPr>
          <p:cNvPr id="23" name="Shape 21"/>
          <p:cNvSpPr/>
          <p:nvPr/>
        </p:nvSpPr>
        <p:spPr>
          <a:xfrm>
            <a:off x="6138672" y="4251960"/>
            <a:ext cx="2484120" cy="1280160"/>
          </a:xfrm>
          <a:prstGeom prst="roundRect">
            <a:avLst>
              <a:gd name="adj" fmla="val 4286"/>
            </a:avLst>
          </a:prstGeom>
          <a:solidFill>
            <a:srgbClr val="FFFFFF"/>
          </a:solidFill>
          <a:ln w="9525">
            <a:solidFill>
              <a:srgbClr val="E2E6E2"/>
            </a:solidFill>
            <a:prstDash val="solid"/>
          </a:ln>
          <a:effectLst>
            <a:outerShdw sx="100000" sy="100000" kx="0" ky="0" algn="bl" rotWithShape="0" blurRad="12290298000000" dist="4096766000000" dir="19440000000000000">
              <a:srgbClr val="0A1F12">
                <a:alpha val="120000000000000"/>
              </a:srgbClr>
            </a:outerShdw>
          </a:effectLst>
        </p:spPr>
      </p:sp>
      <p:sp>
        <p:nvSpPr>
          <p:cNvPr id="24" name="Shape 22"/>
          <p:cNvSpPr/>
          <p:nvPr/>
        </p:nvSpPr>
        <p:spPr>
          <a:xfrm>
            <a:off x="6138672" y="4251960"/>
            <a:ext cx="45720" cy="1280160"/>
          </a:xfrm>
          <a:prstGeom prst="rect">
            <a:avLst/>
          </a:prstGeom>
          <a:solidFill>
            <a:srgbClr val="3DCD58"/>
          </a:solidFill>
          <a:ln w="12700">
            <a:solidFill>
              <a:srgbClr val="3DCD58"/>
            </a:solidFill>
            <a:prstDash val="solid"/>
          </a:ln>
        </p:spPr>
      </p:sp>
      <p:sp>
        <p:nvSpPr>
          <p:cNvPr id="25" name="Text 23"/>
          <p:cNvSpPr/>
          <p:nvPr/>
        </p:nvSpPr>
        <p:spPr>
          <a:xfrm>
            <a:off x="6339840" y="4462272"/>
            <a:ext cx="2118360" cy="475488"/>
          </a:xfrm>
          <a:prstGeom prst="rect">
            <a:avLst/>
          </a:prstGeom>
          <a:noFill/>
          <a:ln/>
        </p:spPr>
        <p:txBody>
          <a:bodyPr wrap="square" lIns="0" tIns="0" rIns="0" bIns="0" rtlCol="0" anchor="ctr"/>
          <a:lstStyle/>
          <a:p>
            <a:pPr indent="0" marL="0">
              <a:buNone/>
            </a:pPr>
            <a:r>
              <a:rPr lang="en-US" sz="2700" b="1" dirty="0">
                <a:solidFill>
                  <a:srgbClr val="007A27"/>
                </a:solidFill>
                <a:latin typeface="Calibri" pitchFamily="34" charset="0"/>
                <a:ea typeface="Calibri" pitchFamily="34" charset="-122"/>
                <a:cs typeface="Calibri" pitchFamily="34" charset="-120"/>
              </a:rPr>
              <a:t>1</a:t>
            </a:r>
            <a:endParaRPr lang="en-US" sz="2700" dirty="0"/>
          </a:p>
        </p:txBody>
      </p:sp>
      <p:sp>
        <p:nvSpPr>
          <p:cNvPr id="26" name="Text 24"/>
          <p:cNvSpPr/>
          <p:nvPr/>
        </p:nvSpPr>
        <p:spPr>
          <a:xfrm>
            <a:off x="6339840" y="5010912"/>
            <a:ext cx="2118360" cy="329184"/>
          </a:xfrm>
          <a:prstGeom prst="rect">
            <a:avLst/>
          </a:prstGeom>
          <a:noFill/>
          <a:ln/>
        </p:spPr>
        <p:txBody>
          <a:bodyPr wrap="square" lIns="0" tIns="0" rIns="0" bIns="0" rtlCol="0" anchor="t">
            <a:normAutofit/>
          </a:bodyPr>
          <a:lstStyle/>
          <a:p>
            <a:pPr indent="0" marL="0">
              <a:buNone/>
            </a:pPr>
            <a:r>
              <a:rPr lang="en-US" sz="1000" dirty="0">
                <a:solidFill>
                  <a:srgbClr val="5A625C"/>
                </a:solidFill>
                <a:latin typeface="Calibri" pitchFamily="34" charset="0"/>
                <a:ea typeface="Calibri" pitchFamily="34" charset="-122"/>
                <a:cs typeface="Calibri" pitchFamily="34" charset="-120"/>
              </a:rPr>
              <a:t>Decision: fund the core first</a:t>
            </a:r>
            <a:endParaRPr lang="en-US" sz="10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13385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80467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AGENDA</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we will cover, and what we need from you (1 of 2)</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Ninety minutes, four decisions, one ask at the end.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1792" y="2084832"/>
          <a:ext cx="10948111" cy="914400"/>
        </p:xfrm>
        <a:graphic>
          <a:graphicData uri="http://schemas.openxmlformats.org/drawingml/2006/table">
            <a:tbl>
              <a:tblPr/>
              <a:tblGrid>
                <a:gridCol w="1005840"/>
                <a:gridCol w="4971136"/>
                <a:gridCol w="4971136"/>
              </a:tblGrid>
              <a:tr h="51206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SECTION</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COVERS</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WE NEED</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Narrative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Why sustainability data is now a board level asset</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Alignment</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Platform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One data spine, three domains, the convergence case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Alignment</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Product strategy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Three moves and the 2026 to 2028 shape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Direction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Market and competition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Where we lead, where rivals catch up, pricing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Challenge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bl>
          </a:graphicData>
        </a:graphic>
      </p:graphicFrame>
      <p:sp>
        <p:nvSpPr>
          <p:cNvPr id="10" name="Shape 7"/>
          <p:cNvSpPr/>
          <p:nvPr/>
        </p:nvSpPr>
        <p:spPr>
          <a:xfrm>
            <a:off x="621792" y="6437376"/>
            <a:ext cx="10948111" cy="0"/>
          </a:xfrm>
          <a:prstGeom prst="line">
            <a:avLst/>
          </a:prstGeom>
          <a:noFill/>
          <a:ln w="9525">
            <a:solidFill>
              <a:srgbClr val="E2E6E2"/>
            </a:solidFill>
            <a:prstDash val="solid"/>
          </a:ln>
        </p:spPr>
      </p:sp>
      <p:sp>
        <p:nvSpPr>
          <p:cNvPr id="11" name="Text 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2" name="Text 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13385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80467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AGENDA</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we will cover, and what we need from you (2 of 2)</a:t>
            </a:r>
            <a:endParaRPr lang="en-US" sz="3200" dirty="0"/>
          </a:p>
        </p:txBody>
      </p:sp>
      <p:sp>
        <p:nvSpPr>
          <p:cNvPr id="7" name="Shape 5"/>
          <p:cNvSpPr/>
          <p:nvPr/>
        </p:nvSpPr>
        <p:spPr>
          <a:xfrm>
            <a:off x="621792" y="1481328"/>
            <a:ext cx="10948111" cy="0"/>
          </a:xfrm>
          <a:prstGeom prst="line">
            <a:avLst/>
          </a:prstGeom>
          <a:noFill/>
          <a:ln w="9525">
            <a:solidFill>
              <a:srgbClr val="E2E6E2"/>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1792" y="1554480"/>
          <a:ext cx="10948111" cy="914400"/>
        </p:xfrm>
        <a:graphic>
          <a:graphicData uri="http://schemas.openxmlformats.org/drawingml/2006/table">
            <a:tbl>
              <a:tblPr/>
              <a:tblGrid>
                <a:gridCol w="1005840"/>
                <a:gridCol w="4971136"/>
                <a:gridCol w="4971136"/>
              </a:tblGrid>
              <a:tr h="51206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SECTION</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COVERS</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WE NEED</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Value case and investment</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Value pools, cost, assumptions, capacity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Validation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Roadmap</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2026 committed, 2027 direction, gates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Approval</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The ask</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Funding, capacity protection, governance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Decision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Appendix</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Product by product detail</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On request</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bl>
          </a:graphicData>
        </a:graphic>
      </p:graphicFrame>
      <p:sp>
        <p:nvSpPr>
          <p:cNvPr id="9" name="Shape 6"/>
          <p:cNvSpPr/>
          <p:nvPr/>
        </p:nvSpPr>
        <p:spPr>
          <a:xfrm>
            <a:off x="621792" y="6437376"/>
            <a:ext cx="10948111" cy="0"/>
          </a:xfrm>
          <a:prstGeom prst="line">
            <a:avLst/>
          </a:prstGeom>
          <a:noFill/>
          <a:ln w="9525">
            <a:solidFill>
              <a:srgbClr val="E2E6E2"/>
            </a:solidFill>
            <a:prstDash val="solid"/>
          </a:ln>
        </p:spPr>
      </p:sp>
      <p:sp>
        <p:nvSpPr>
          <p:cNvPr id="10" name="Text 7"/>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1" name="Text 8"/>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plan on one page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If the board reads one slide, this is it.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1874520"/>
          </a:xfrm>
          <a:prstGeom prst="roundRect">
            <a:avLst>
              <a:gd name="adj" fmla="val 2927"/>
            </a:avLst>
          </a:prstGeom>
          <a:solidFill>
            <a:srgbClr val="FFFFFF"/>
          </a:solidFill>
          <a:ln w="9525">
            <a:solidFill>
              <a:srgbClr val="E2E6E2"/>
            </a:solidFill>
            <a:prstDash val="solid"/>
          </a:ln>
          <a:effectLst>
            <a:outerShdw sx="100000" sy="100000" kx="0" ky="0" algn="bl" rotWithShape="0" blurRad="156086784600000000" dist="52028928200000000" dir="1.1664e+21">
              <a:srgbClr val="0A1F12">
                <a:alpha val="12000000000000000000"/>
              </a:srgbClr>
            </a:outerShdw>
          </a:effectLst>
        </p:spPr>
      </p:sp>
      <p:sp>
        <p:nvSpPr>
          <p:cNvPr id="10" name="Shape 8"/>
          <p:cNvSpPr/>
          <p:nvPr/>
        </p:nvSpPr>
        <p:spPr>
          <a:xfrm>
            <a:off x="621792" y="2084832"/>
            <a:ext cx="54864" cy="1874520"/>
          </a:xfrm>
          <a:prstGeom prst="rect">
            <a:avLst/>
          </a:prstGeom>
          <a:solidFill>
            <a:srgbClr val="3DCD58"/>
          </a:solidFill>
          <a:ln w="12700">
            <a:solidFill>
              <a:srgbClr val="3DCD58"/>
            </a:solidFill>
            <a:prstDash val="solid"/>
          </a:ln>
        </p:spPr>
      </p:sp>
      <p:sp>
        <p:nvSpPr>
          <p:cNvPr id="11" name="Text 9"/>
          <p:cNvSpPr/>
          <p:nvPr/>
        </p:nvSpPr>
        <p:spPr>
          <a:xfrm>
            <a:off x="877824" y="2249424"/>
            <a:ext cx="3009290" cy="566928"/>
          </a:xfrm>
          <a:prstGeom prst="rect">
            <a:avLst/>
          </a:prstGeom>
          <a:noFill/>
          <a:ln/>
        </p:spPr>
        <p:txBody>
          <a:bodyPr wrap="square" lIns="0" tIns="0" rIns="0" bIns="0" rtlCol="0" anchor="ctr"/>
          <a:lstStyle/>
          <a:p>
            <a:pPr indent="0" marL="0">
              <a:buNone/>
            </a:pPr>
            <a:r>
              <a:rPr lang="en-US" sz="3400" b="1" dirty="0">
                <a:solidFill>
                  <a:srgbClr val="007A27"/>
                </a:solidFill>
                <a:latin typeface="Calibri" pitchFamily="34" charset="0"/>
                <a:ea typeface="Calibri" pitchFamily="34" charset="-122"/>
                <a:cs typeface="Calibri" pitchFamily="34" charset="-120"/>
              </a:rPr>
              <a:t>1</a:t>
            </a:r>
            <a:endParaRPr lang="en-US" sz="3400" dirty="0"/>
          </a:p>
        </p:txBody>
      </p:sp>
      <p:sp>
        <p:nvSpPr>
          <p:cNvPr id="12" name="Text 10"/>
          <p:cNvSpPr/>
          <p:nvPr/>
        </p:nvSpPr>
        <p:spPr>
          <a:xfrm>
            <a:off x="850392" y="2889504"/>
            <a:ext cx="3009290" cy="502920"/>
          </a:xfrm>
          <a:prstGeom prst="rect">
            <a:avLst/>
          </a:prstGeom>
          <a:noFill/>
          <a:ln/>
        </p:spPr>
        <p:txBody>
          <a:bodyPr wrap="square" rtlCol="0" anchor="t"/>
          <a:lstStyle/>
          <a:p>
            <a:pPr indent="0" marL="0">
              <a:buNone/>
            </a:pPr>
            <a:r>
              <a:rPr lang="en-US" sz="1200" b="1" dirty="0">
                <a:solidFill>
                  <a:srgbClr val="1E2420"/>
                </a:solidFill>
                <a:latin typeface="Calibri" pitchFamily="34" charset="0"/>
                <a:ea typeface="Calibri" pitchFamily="34" charset="-122"/>
                <a:cs typeface="Calibri" pitchFamily="34" charset="-120"/>
              </a:rPr>
              <a:t>Platform</a:t>
            </a:r>
            <a:endParaRPr lang="en-US" sz="1200" dirty="0"/>
          </a:p>
        </p:txBody>
      </p:sp>
      <p:sp>
        <p:nvSpPr>
          <p:cNvPr id="13" name="Text 11"/>
          <p:cNvSpPr/>
          <p:nvPr/>
        </p:nvSpPr>
        <p:spPr>
          <a:xfrm>
            <a:off x="850392" y="3419856"/>
            <a:ext cx="3009290" cy="457200"/>
          </a:xfrm>
          <a:prstGeom prst="rect">
            <a:avLst/>
          </a:prstGeom>
          <a:noFill/>
          <a:ln/>
        </p:spPr>
        <p:txBody>
          <a:bodyPr wrap="square" rtlCol="0" anchor="t"/>
          <a:lstStyle/>
          <a:p>
            <a:pPr indent="0" marL="0">
              <a:buNone/>
            </a:pPr>
            <a:r>
              <a:rPr lang="en-US" sz="1000" dirty="0">
                <a:solidFill>
                  <a:srgbClr val="5A625C"/>
                </a:solidFill>
                <a:latin typeface="Calibri" pitchFamily="34" charset="0"/>
                <a:ea typeface="Calibri" pitchFamily="34" charset="-122"/>
                <a:cs typeface="Calibri" pitchFamily="34" charset="-120"/>
              </a:rPr>
              <a:t>One spine under six products</a:t>
            </a:r>
            <a:endParaRPr lang="en-US" sz="1000" dirty="0"/>
          </a:p>
        </p:txBody>
      </p:sp>
      <p:sp>
        <p:nvSpPr>
          <p:cNvPr id="14" name="Shape 12"/>
          <p:cNvSpPr/>
          <p:nvPr/>
        </p:nvSpPr>
        <p:spPr>
          <a:xfrm>
            <a:off x="4362602" y="2084832"/>
            <a:ext cx="3466490" cy="1874520"/>
          </a:xfrm>
          <a:prstGeom prst="roundRect">
            <a:avLst>
              <a:gd name="adj" fmla="val 2927"/>
            </a:avLst>
          </a:prstGeom>
          <a:solidFill>
            <a:srgbClr val="FFFFFF"/>
          </a:solidFill>
          <a:ln w="9525">
            <a:solidFill>
              <a:srgbClr val="E2E6E2"/>
            </a:solidFill>
            <a:prstDash val="solid"/>
          </a:ln>
          <a:effectLst>
            <a:outerShdw sx="100000" sy="100000" kx="0" ky="0" algn="bl" rotWithShape="0" blurRad="1.98230216442e+21" dist="660767388140000000000" dir="6.9984e+25">
              <a:srgbClr val="0A1F12">
                <a:alpha val="1.2e+24"/>
              </a:srgbClr>
            </a:outerShdw>
          </a:effectLst>
        </p:spPr>
      </p:sp>
      <p:sp>
        <p:nvSpPr>
          <p:cNvPr id="15" name="Shape 13"/>
          <p:cNvSpPr/>
          <p:nvPr/>
        </p:nvSpPr>
        <p:spPr>
          <a:xfrm>
            <a:off x="4362602" y="2084832"/>
            <a:ext cx="54864" cy="1874520"/>
          </a:xfrm>
          <a:prstGeom prst="rect">
            <a:avLst/>
          </a:prstGeom>
          <a:solidFill>
            <a:srgbClr val="3DCD58"/>
          </a:solidFill>
          <a:ln w="12700">
            <a:solidFill>
              <a:srgbClr val="3DCD58"/>
            </a:solidFill>
            <a:prstDash val="solid"/>
          </a:ln>
        </p:spPr>
      </p:sp>
      <p:sp>
        <p:nvSpPr>
          <p:cNvPr id="16" name="Text 14"/>
          <p:cNvSpPr/>
          <p:nvPr/>
        </p:nvSpPr>
        <p:spPr>
          <a:xfrm>
            <a:off x="4618634" y="2249424"/>
            <a:ext cx="3009290" cy="566928"/>
          </a:xfrm>
          <a:prstGeom prst="rect">
            <a:avLst/>
          </a:prstGeom>
          <a:noFill/>
          <a:ln/>
        </p:spPr>
        <p:txBody>
          <a:bodyPr wrap="square" lIns="0" tIns="0" rIns="0" bIns="0" rtlCol="0" anchor="ctr"/>
          <a:lstStyle/>
          <a:p>
            <a:pPr indent="0" marL="0">
              <a:buNone/>
            </a:pPr>
            <a:r>
              <a:rPr lang="en-US" sz="3400" b="1" dirty="0">
                <a:solidFill>
                  <a:srgbClr val="007A27"/>
                </a:solidFill>
                <a:latin typeface="Calibri" pitchFamily="34" charset="0"/>
                <a:ea typeface="Calibri" pitchFamily="34" charset="-122"/>
                <a:cs typeface="Calibri" pitchFamily="34" charset="-120"/>
              </a:rPr>
              <a:t>3</a:t>
            </a:r>
            <a:endParaRPr lang="en-US" sz="3400" dirty="0"/>
          </a:p>
        </p:txBody>
      </p:sp>
      <p:sp>
        <p:nvSpPr>
          <p:cNvPr id="17" name="Text 15"/>
          <p:cNvSpPr/>
          <p:nvPr/>
        </p:nvSpPr>
        <p:spPr>
          <a:xfrm>
            <a:off x="4591202" y="2889504"/>
            <a:ext cx="3009290" cy="502920"/>
          </a:xfrm>
          <a:prstGeom prst="rect">
            <a:avLst/>
          </a:prstGeom>
          <a:noFill/>
          <a:ln/>
        </p:spPr>
        <p:txBody>
          <a:bodyPr wrap="square" rtlCol="0" anchor="t"/>
          <a:lstStyle/>
          <a:p>
            <a:pPr indent="0" marL="0">
              <a:buNone/>
            </a:pPr>
            <a:r>
              <a:rPr lang="en-US" sz="1200" b="1" dirty="0">
                <a:solidFill>
                  <a:srgbClr val="1E2420"/>
                </a:solidFill>
                <a:latin typeface="Calibri" pitchFamily="34" charset="0"/>
                <a:ea typeface="Calibri" pitchFamily="34" charset="-122"/>
                <a:cs typeface="Calibri" pitchFamily="34" charset="-120"/>
              </a:rPr>
              <a:t>Strategic moves</a:t>
            </a:r>
            <a:endParaRPr lang="en-US" sz="1200" dirty="0"/>
          </a:p>
        </p:txBody>
      </p:sp>
      <p:sp>
        <p:nvSpPr>
          <p:cNvPr id="18" name="Text 16"/>
          <p:cNvSpPr/>
          <p:nvPr/>
        </p:nvSpPr>
        <p:spPr>
          <a:xfrm>
            <a:off x="4591202" y="3419856"/>
            <a:ext cx="3009290" cy="457200"/>
          </a:xfrm>
          <a:prstGeom prst="rect">
            <a:avLst/>
          </a:prstGeom>
          <a:noFill/>
          <a:ln/>
        </p:spPr>
        <p:txBody>
          <a:bodyPr wrap="square" rtlCol="0" anchor="t"/>
          <a:lstStyle/>
          <a:p>
            <a:pPr indent="0" marL="0">
              <a:buNone/>
            </a:pPr>
            <a:r>
              <a:rPr lang="en-US" sz="1000" dirty="0">
                <a:solidFill>
                  <a:srgbClr val="5A625C"/>
                </a:solidFill>
                <a:latin typeface="Calibri" pitchFamily="34" charset="0"/>
                <a:ea typeface="Calibri" pitchFamily="34" charset="-122"/>
                <a:cs typeface="Calibri" pitchFamily="34" charset="-120"/>
              </a:rPr>
              <a:t>Own the spine, cover the footprint, decide and act</a:t>
            </a:r>
            <a:endParaRPr lang="en-US" sz="1000" dirty="0"/>
          </a:p>
        </p:txBody>
      </p:sp>
      <p:sp>
        <p:nvSpPr>
          <p:cNvPr id="19" name="Shape 17"/>
          <p:cNvSpPr/>
          <p:nvPr/>
        </p:nvSpPr>
        <p:spPr>
          <a:xfrm>
            <a:off x="8103413" y="2084832"/>
            <a:ext cx="3466490" cy="1874520"/>
          </a:xfrm>
          <a:prstGeom prst="roundRect">
            <a:avLst>
              <a:gd name="adj" fmla="val 2927"/>
            </a:avLst>
          </a:prstGeom>
          <a:solidFill>
            <a:srgbClr val="FFFFFF"/>
          </a:solidFill>
          <a:ln w="9525">
            <a:solidFill>
              <a:srgbClr val="E2E6E2"/>
            </a:solidFill>
            <a:prstDash val="solid"/>
          </a:ln>
          <a:effectLst>
            <a:outerShdw sx="100000" sy="100000" kx="0" ky="0" algn="bl" rotWithShape="0" blurRad="2.5175237488134e+25" dist="8.391745829378e+24" dir="4.19904e+30">
              <a:srgbClr val="0A1F12">
                <a:alpha val="1.2e+29"/>
              </a:srgbClr>
            </a:outerShdw>
          </a:effectLst>
        </p:spPr>
      </p:sp>
      <p:sp>
        <p:nvSpPr>
          <p:cNvPr id="20" name="Shape 18"/>
          <p:cNvSpPr/>
          <p:nvPr/>
        </p:nvSpPr>
        <p:spPr>
          <a:xfrm>
            <a:off x="8103413" y="2084832"/>
            <a:ext cx="54864" cy="1874520"/>
          </a:xfrm>
          <a:prstGeom prst="rect">
            <a:avLst/>
          </a:prstGeom>
          <a:solidFill>
            <a:srgbClr val="3DCD58"/>
          </a:solidFill>
          <a:ln w="12700">
            <a:solidFill>
              <a:srgbClr val="3DCD58"/>
            </a:solidFill>
            <a:prstDash val="solid"/>
          </a:ln>
        </p:spPr>
      </p:sp>
      <p:sp>
        <p:nvSpPr>
          <p:cNvPr id="21" name="Text 19"/>
          <p:cNvSpPr/>
          <p:nvPr/>
        </p:nvSpPr>
        <p:spPr>
          <a:xfrm>
            <a:off x="8359445" y="2249424"/>
            <a:ext cx="3009290" cy="566928"/>
          </a:xfrm>
          <a:prstGeom prst="rect">
            <a:avLst/>
          </a:prstGeom>
          <a:noFill/>
          <a:ln/>
        </p:spPr>
        <p:txBody>
          <a:bodyPr wrap="square" lIns="0" tIns="0" rIns="0" bIns="0" rtlCol="0" anchor="ctr"/>
          <a:lstStyle/>
          <a:p>
            <a:pPr indent="0" marL="0">
              <a:buNone/>
            </a:pPr>
            <a:r>
              <a:rPr lang="en-US" sz="3400" b="1" dirty="0">
                <a:solidFill>
                  <a:srgbClr val="007A27"/>
                </a:solidFill>
                <a:latin typeface="Calibri" pitchFamily="34" charset="0"/>
                <a:ea typeface="Calibri" pitchFamily="34" charset="-122"/>
                <a:cs typeface="Calibri" pitchFamily="34" charset="-120"/>
              </a:rPr>
              <a:t>[€]</a:t>
            </a:r>
            <a:endParaRPr lang="en-US" sz="3400" dirty="0"/>
          </a:p>
        </p:txBody>
      </p:sp>
      <p:sp>
        <p:nvSpPr>
          <p:cNvPr id="22" name="Text 20"/>
          <p:cNvSpPr/>
          <p:nvPr/>
        </p:nvSpPr>
        <p:spPr>
          <a:xfrm>
            <a:off x="8332013" y="2889504"/>
            <a:ext cx="3009290" cy="502920"/>
          </a:xfrm>
          <a:prstGeom prst="rect">
            <a:avLst/>
          </a:prstGeom>
          <a:noFill/>
          <a:ln/>
        </p:spPr>
        <p:txBody>
          <a:bodyPr wrap="square" rtlCol="0" anchor="t"/>
          <a:lstStyle/>
          <a:p>
            <a:pPr indent="0" marL="0">
              <a:buNone/>
            </a:pPr>
            <a:r>
              <a:rPr lang="en-US" sz="1200" b="1" dirty="0">
                <a:solidFill>
                  <a:srgbClr val="1E2420"/>
                </a:solidFill>
                <a:latin typeface="Calibri" pitchFamily="34" charset="0"/>
                <a:ea typeface="Calibri" pitchFamily="34" charset="-122"/>
                <a:cs typeface="Calibri" pitchFamily="34" charset="-120"/>
              </a:rPr>
              <a:t>Incremental investment</a:t>
            </a:r>
            <a:endParaRPr lang="en-US" sz="1200" dirty="0"/>
          </a:p>
        </p:txBody>
      </p:sp>
      <p:sp>
        <p:nvSpPr>
          <p:cNvPr id="23" name="Text 21"/>
          <p:cNvSpPr/>
          <p:nvPr/>
        </p:nvSpPr>
        <p:spPr>
          <a:xfrm>
            <a:off x="8332013" y="3419856"/>
            <a:ext cx="3009290" cy="457200"/>
          </a:xfrm>
          <a:prstGeom prst="rect">
            <a:avLst/>
          </a:prstGeom>
          <a:noFill/>
          <a:ln/>
        </p:spPr>
        <p:txBody>
          <a:bodyPr wrap="square" rtlCol="0" anchor="t"/>
          <a:lstStyle/>
          <a:p>
            <a:pPr indent="0" marL="0">
              <a:buNone/>
            </a:pPr>
            <a:r>
              <a:rPr lang="en-US" sz="1000" dirty="0">
                <a:solidFill>
                  <a:srgbClr val="5A625C"/>
                </a:solidFill>
                <a:latin typeface="Calibri" pitchFamily="34" charset="0"/>
                <a:ea typeface="Calibri" pitchFamily="34" charset="-122"/>
                <a:cs typeface="Calibri" pitchFamily="34" charset="-120"/>
              </a:rPr>
              <a:t>Placeholder pending Finance validation</a:t>
            </a:r>
            <a:endParaRPr lang="en-US" sz="1000" dirty="0"/>
          </a:p>
        </p:txBody>
      </p:sp>
      <p:sp>
        <p:nvSpPr>
          <p:cNvPr id="24" name="Shape 22"/>
          <p:cNvSpPr/>
          <p:nvPr/>
        </p:nvSpPr>
        <p:spPr>
          <a:xfrm>
            <a:off x="621792" y="4233672"/>
            <a:ext cx="3466490" cy="1298448"/>
          </a:xfrm>
          <a:prstGeom prst="roundRect">
            <a:avLst>
              <a:gd name="adj" fmla="val 4225"/>
            </a:avLst>
          </a:prstGeom>
          <a:solidFill>
            <a:srgbClr val="F7F8F7"/>
          </a:solidFill>
          <a:ln w="9525">
            <a:solidFill>
              <a:srgbClr val="E2E6E2"/>
            </a:solidFill>
            <a:prstDash val="solid"/>
          </a:ln>
          <a:effectLst>
            <a:outerShdw sx="100000" sy="100000" kx="0" ky="0" algn="bl" rotWithShape="0" blurRad="3.197255160993018e+29" dist="1.0657517203310059e+29" dir="2.519424e+35">
              <a:srgbClr val="0A1F12">
                <a:alpha val="1.2e+34"/>
              </a:srgbClr>
            </a:outerShdw>
          </a:effectLst>
        </p:spPr>
      </p:sp>
      <p:sp>
        <p:nvSpPr>
          <p:cNvPr id="25" name="Text 23"/>
          <p:cNvSpPr/>
          <p:nvPr/>
        </p:nvSpPr>
        <p:spPr>
          <a:xfrm>
            <a:off x="850392" y="4398264"/>
            <a:ext cx="3009290" cy="365760"/>
          </a:xfrm>
          <a:prstGeom prst="rect">
            <a:avLst/>
          </a:prstGeom>
          <a:noFill/>
          <a:ln/>
        </p:spPr>
        <p:txBody>
          <a:bodyPr wrap="square" rtlCol="0" anchor="ctr"/>
          <a:lstStyle/>
          <a:p>
            <a:pPr indent="0" marL="0">
              <a:buNone/>
            </a:pPr>
            <a:r>
              <a:rPr lang="en-US" sz="1400" b="1" dirty="0">
                <a:solidFill>
                  <a:srgbClr val="1E2420"/>
                </a:solidFill>
                <a:latin typeface="Calibri" pitchFamily="34" charset="0"/>
                <a:ea typeface="Calibri" pitchFamily="34" charset="-122"/>
                <a:cs typeface="Calibri" pitchFamily="34" charset="-120"/>
              </a:rPr>
              <a:t>Decision 1: fund the core first</a:t>
            </a:r>
            <a:endParaRPr lang="en-US" sz="1400" dirty="0"/>
          </a:p>
        </p:txBody>
      </p:sp>
      <p:sp>
        <p:nvSpPr>
          <p:cNvPr id="26" name="Text 24"/>
          <p:cNvSpPr/>
          <p:nvPr/>
        </p:nvSpPr>
        <p:spPr>
          <a:xfrm>
            <a:off x="850392" y="4800600"/>
            <a:ext cx="3009290" cy="566928"/>
          </a:xfrm>
          <a:prstGeom prst="rect">
            <a:avLst/>
          </a:prstGeom>
          <a:noFill/>
          <a:ln/>
        </p:spPr>
        <p:txBody>
          <a:bodyPr wrap="square" rtlCol="0" anchor="t"/>
          <a:lstStyle/>
          <a:p>
            <a:pPr indent="0" marL="0">
              <a:buNone/>
            </a:pPr>
            <a:r>
              <a:rPr lang="en-US" sz="1200" dirty="0">
                <a:solidFill>
                  <a:srgbClr val="5A625C"/>
                </a:solidFill>
                <a:latin typeface="Calibri" pitchFamily="34" charset="0"/>
                <a:ea typeface="Calibri" pitchFamily="34" charset="-122"/>
                <a:cs typeface="Calibri" pitchFamily="34" charset="-120"/>
              </a:rPr>
              <a:t>Protect a sufficient build capacity for the shared data ingestion and lineage, data quality, hierarchy, analytics and dashboards, and user workflows.</a:t>
            </a:r>
            <a:endParaRPr lang="en-US" sz="1200" dirty="0"/>
          </a:p>
        </p:txBody>
      </p:sp>
      <p:sp>
        <p:nvSpPr>
          <p:cNvPr id="27" name="Shape 25"/>
          <p:cNvSpPr/>
          <p:nvPr/>
        </p:nvSpPr>
        <p:spPr>
          <a:xfrm>
            <a:off x="4362602" y="4233672"/>
            <a:ext cx="3466490" cy="1298448"/>
          </a:xfrm>
          <a:prstGeom prst="roundRect">
            <a:avLst>
              <a:gd name="adj" fmla="val 4225"/>
            </a:avLst>
          </a:prstGeom>
          <a:solidFill>
            <a:srgbClr val="F7F8F7"/>
          </a:solidFill>
          <a:ln w="9525">
            <a:solidFill>
              <a:srgbClr val="E2E6E2"/>
            </a:solidFill>
            <a:prstDash val="solid"/>
          </a:ln>
          <a:effectLst>
            <a:outerShdw sx="100000" sy="100000" kx="0" ky="0" algn="bl" rotWithShape="0" blurRad="4.0605140544611325e+33" dist="1.3535046848203775e+33" dir="1.5116544e+40">
              <a:srgbClr val="0A1F12">
                <a:alpha val="1.1999999999999999e+39"/>
              </a:srgbClr>
            </a:outerShdw>
          </a:effectLst>
        </p:spPr>
      </p:sp>
      <p:sp>
        <p:nvSpPr>
          <p:cNvPr id="28" name="Text 26"/>
          <p:cNvSpPr/>
          <p:nvPr/>
        </p:nvSpPr>
        <p:spPr>
          <a:xfrm>
            <a:off x="4591202" y="4398264"/>
            <a:ext cx="3009290" cy="365760"/>
          </a:xfrm>
          <a:prstGeom prst="rect">
            <a:avLst/>
          </a:prstGeom>
          <a:noFill/>
          <a:ln/>
        </p:spPr>
        <p:txBody>
          <a:bodyPr wrap="square" rtlCol="0" anchor="ctr"/>
          <a:lstStyle/>
          <a:p>
            <a:pPr indent="0" marL="0">
              <a:buNone/>
            </a:pPr>
            <a:r>
              <a:rPr lang="en-US" sz="1400" b="1" dirty="0">
                <a:solidFill>
                  <a:srgbClr val="1E2420"/>
                </a:solidFill>
                <a:latin typeface="Calibri" pitchFamily="34" charset="0"/>
                <a:ea typeface="Calibri" pitchFamily="34" charset="-122"/>
                <a:cs typeface="Calibri" pitchFamily="34" charset="-120"/>
              </a:rPr>
              <a:t>Decision 2: commit 2026, gate 2027 for Energy and Efficiency</a:t>
            </a:r>
            <a:endParaRPr lang="en-US" sz="1400" dirty="0"/>
          </a:p>
        </p:txBody>
      </p:sp>
      <p:sp>
        <p:nvSpPr>
          <p:cNvPr id="29" name="Text 27"/>
          <p:cNvSpPr/>
          <p:nvPr/>
        </p:nvSpPr>
        <p:spPr>
          <a:xfrm>
            <a:off x="4591202" y="4800600"/>
            <a:ext cx="3009290" cy="566928"/>
          </a:xfrm>
          <a:prstGeom prst="rect">
            <a:avLst/>
          </a:prstGeom>
          <a:noFill/>
          <a:ln/>
        </p:spPr>
        <p:txBody>
          <a:bodyPr wrap="square" rtlCol="0" anchor="t"/>
          <a:lstStyle/>
          <a:p>
            <a:pPr indent="0" marL="0">
              <a:buNone/>
            </a:pPr>
            <a:r>
              <a:rPr lang="en-US" sz="1200" dirty="0">
                <a:solidFill>
                  <a:srgbClr val="5A625C"/>
                </a:solidFill>
                <a:latin typeface="Calibri" pitchFamily="34" charset="0"/>
                <a:ea typeface="Calibri" pitchFamily="34" charset="-122"/>
                <a:cs typeface="Calibri" pitchFamily="34" charset="-120"/>
              </a:rPr>
              <a:t>2026 dates are firm. Only Energy and Efficiency stays gated in 2027, released once its business plan is finalised and validated.</a:t>
            </a:r>
            <a:endParaRPr lang="en-US" sz="1200" dirty="0"/>
          </a:p>
        </p:txBody>
      </p:sp>
      <p:sp>
        <p:nvSpPr>
          <p:cNvPr id="30" name="Shape 28"/>
          <p:cNvSpPr/>
          <p:nvPr/>
        </p:nvSpPr>
        <p:spPr>
          <a:xfrm>
            <a:off x="8103413" y="4233672"/>
            <a:ext cx="3466490" cy="1298448"/>
          </a:xfrm>
          <a:prstGeom prst="roundRect">
            <a:avLst>
              <a:gd name="adj" fmla="val 4225"/>
            </a:avLst>
          </a:prstGeom>
          <a:solidFill>
            <a:srgbClr val="F7F8F7"/>
          </a:solidFill>
          <a:ln w="9525">
            <a:solidFill>
              <a:srgbClr val="E2E6E2"/>
            </a:solidFill>
            <a:prstDash val="solid"/>
          </a:ln>
          <a:effectLst>
            <a:outerShdw sx="100000" sy="100000" kx="0" ky="0" algn="bl" rotWithShape="0" blurRad="5.156852849165638e+37" dist="1.7189509497218795e+37" dir="9.069926400000001e+44">
              <a:srgbClr val="0A1F12">
                <a:alpha val="1.1999999999999999e+44"/>
              </a:srgbClr>
            </a:outerShdw>
          </a:effectLst>
        </p:spPr>
      </p:sp>
      <p:sp>
        <p:nvSpPr>
          <p:cNvPr id="31" name="Text 29"/>
          <p:cNvSpPr/>
          <p:nvPr/>
        </p:nvSpPr>
        <p:spPr>
          <a:xfrm>
            <a:off x="8332013" y="4398264"/>
            <a:ext cx="3009290" cy="365760"/>
          </a:xfrm>
          <a:prstGeom prst="rect">
            <a:avLst/>
          </a:prstGeom>
          <a:noFill/>
          <a:ln/>
        </p:spPr>
        <p:txBody>
          <a:bodyPr wrap="square" rtlCol="0" anchor="ctr"/>
          <a:lstStyle/>
          <a:p>
            <a:pPr indent="0" marL="0">
              <a:buNone/>
            </a:pPr>
            <a:r>
              <a:rPr lang="en-US" sz="1400" b="1" dirty="0">
                <a:solidFill>
                  <a:srgbClr val="1E2420"/>
                </a:solidFill>
                <a:latin typeface="Calibri" pitchFamily="34" charset="0"/>
                <a:ea typeface="Calibri" pitchFamily="34" charset="-122"/>
                <a:cs typeface="Calibri" pitchFamily="34" charset="-120"/>
              </a:rPr>
              <a:t>Decision 3: back convergence over point features</a:t>
            </a:r>
            <a:endParaRPr lang="en-US" sz="1400" dirty="0"/>
          </a:p>
        </p:txBody>
      </p:sp>
      <p:sp>
        <p:nvSpPr>
          <p:cNvPr id="32" name="Text 30"/>
          <p:cNvSpPr/>
          <p:nvPr/>
        </p:nvSpPr>
        <p:spPr>
          <a:xfrm>
            <a:off x="8332013" y="4800600"/>
            <a:ext cx="3009290" cy="566928"/>
          </a:xfrm>
          <a:prstGeom prst="rect">
            <a:avLst/>
          </a:prstGeom>
          <a:noFill/>
          <a:ln/>
        </p:spPr>
        <p:txBody>
          <a:bodyPr wrap="square" rtlCol="0" anchor="t"/>
          <a:lstStyle/>
          <a:p>
            <a:pPr indent="0" marL="0">
              <a:buNone/>
            </a:pPr>
            <a:r>
              <a:rPr lang="en-US" sz="1200" dirty="0">
                <a:solidFill>
                  <a:srgbClr val="5A625C"/>
                </a:solidFill>
                <a:latin typeface="Calibri" pitchFamily="34" charset="0"/>
                <a:ea typeface="Calibri" pitchFamily="34" charset="-122"/>
                <a:cs typeface="Calibri" pitchFamily="34" charset="-120"/>
              </a:rPr>
              <a:t>We win by connecting Sustainability, Energy and Efficiency, not by matching every rival feature.</a:t>
            </a:r>
            <a:endParaRPr lang="en-US" sz="1200" dirty="0"/>
          </a:p>
        </p:txBody>
      </p:sp>
      <p:sp>
        <p:nvSpPr>
          <p:cNvPr id="33" name="Shape 31"/>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6.549203118440361e+41" dist="2.183067706146787e+41" dir="5.44195584e+49">
              <a:srgbClr val="0A1F12">
                <a:alpha val="1.2e+49"/>
              </a:srgbClr>
            </a:outerShdw>
          </a:effectLst>
        </p:spPr>
      </p:sp>
      <p:sp>
        <p:nvSpPr>
          <p:cNvPr id="34" name="Shape 32"/>
          <p:cNvSpPr/>
          <p:nvPr/>
        </p:nvSpPr>
        <p:spPr>
          <a:xfrm>
            <a:off x="676656" y="5760720"/>
            <a:ext cx="45720" cy="365760"/>
          </a:xfrm>
          <a:prstGeom prst="rect">
            <a:avLst/>
          </a:prstGeom>
          <a:solidFill>
            <a:srgbClr val="3DCD58"/>
          </a:solidFill>
          <a:ln w="12700">
            <a:solidFill>
              <a:srgbClr val="3DCD58"/>
            </a:solidFill>
            <a:prstDash val="solid"/>
          </a:ln>
        </p:spPr>
      </p:sp>
      <p:sp>
        <p:nvSpPr>
          <p:cNvPr id="35" name="Text 33"/>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All euro figures in this deck are placeholders pending Finance validation.</a:t>
            </a:r>
            <a:endParaRPr lang="en-US" sz="1200" dirty="0"/>
          </a:p>
        </p:txBody>
      </p:sp>
      <p:sp>
        <p:nvSpPr>
          <p:cNvPr id="36" name="Shape 34"/>
          <p:cNvSpPr/>
          <p:nvPr/>
        </p:nvSpPr>
        <p:spPr>
          <a:xfrm>
            <a:off x="621792" y="6437376"/>
            <a:ext cx="10948111" cy="0"/>
          </a:xfrm>
          <a:prstGeom prst="line">
            <a:avLst/>
          </a:prstGeom>
          <a:noFill/>
          <a:ln w="9525">
            <a:solidFill>
              <a:srgbClr val="E2E6E2"/>
            </a:solidFill>
            <a:prstDash val="solid"/>
          </a:ln>
        </p:spPr>
      </p:sp>
      <p:sp>
        <p:nvSpPr>
          <p:cNvPr id="37" name="Text 3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8" name="Text 3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60604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27685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SINCE THE LAST BOARD</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changed since we last met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Three shifts that explain why this plan differs from the previous review.</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8.317487960419258e+45" dist="2.7724959868064195e+45" dir="3.2651735040000005e+54">
              <a:srgbClr val="0A1F12">
                <a:alpha val="1.2e+54"/>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DELIVERED</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landed</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Q3 2026 shipped against the committed scope.</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hierarchy and factor foundations in build</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revamp with per gas breakdown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Config engine, calculation methods and templates</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1.0563209709732457e+50" dist="3.5210699032441527e+49" dir="1.9591041024000004e+59">
              <a:srgbClr val="0A1F12">
                <a:alpha val="1.2e+59"/>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CHANGED</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we adjusted</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Scope moved where evidence or capacity demanded it.</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for carbon inventory pulled forward into Q4 2026</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expressed as H1 and H2, not invented quarters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Zeigo Activate sunset, replaced by a light CP calculator</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1.341527633136022e+54" dist="4.471758777120074e+53" dir="1.1754624614400003e+64">
              <a:srgbClr val="0A1F12">
                <a:alpha val="1.2000000000000001e+64"/>
              </a:srgbClr>
            </a:outerShdw>
          </a:effectLst>
        </p:spPr>
      </p:sp>
      <p:sp>
        <p:nvSpPr>
          <p:cNvPr id="22" name="Shape 20"/>
          <p:cNvSpPr/>
          <p:nvPr/>
        </p:nvSpPr>
        <p:spPr>
          <a:xfrm>
            <a:off x="8103413" y="2084832"/>
            <a:ext cx="3466490" cy="73152"/>
          </a:xfrm>
          <a:prstGeom prst="rect">
            <a:avLst/>
          </a:prstGeom>
          <a:solidFill>
            <a:srgbClr val="275B7F"/>
          </a:solidFill>
          <a:ln w="12700">
            <a:solidFill>
              <a:srgbClr val="275B7F"/>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STILL OPEN</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is not settled</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Items the board should expect to see again.</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Finance validation of every euro figure in this deck</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Capacity confirmation for unranked 2027 themes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Post 2027 horizons remain directional</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LEADERSHIP NARRATIVE</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00</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story the leadership team needs to believe</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Five slides on why RA+ is the bet, why it wins, and why half measures will not work.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60604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27685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LEADERSHIP NARRATIVE</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Sustainability is becoming a boardroom weapon, not a report</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Three forces are turning compliance data into competitive advantage. The question is who owns it.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1.7037400940827478e+58" dist="5.679133646942494e+57" dir="7.052774768640002e+68">
              <a:srgbClr val="0A1F12">
                <a:alpha val="1.2e+69"/>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FORCE 1</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Regulation is now a moat</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CSRD and assurance punish weak data and reward the platform that can prove lineage.</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is no longer a PDF exercise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Auditors ask for lineage, not spreadsheets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The cost of weak data is now board level</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2.16374991948509e+62" dist="7.212499731616968e+61" dir="4.2316648611840007e+73">
              <a:srgbClr val="0A1F12">
                <a:alpha val="1.2e+74"/>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FORCE 2</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Carbon is a P&amp;L line</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Procurement, logistics, and product teams now price carbon into every major decision.</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Customers demand product level footprints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Suppliers are scored on emissions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Energy and carbon budgets are merged</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2.747962397746064e+66" dist="9.15987465915355e+65" dir="2.5389989167104004e+78">
              <a:srgbClr val="0A1F12">
                <a:alpha val="1.2000000000000001e+79"/>
              </a:srgbClr>
            </a:outerShdw>
          </a:effectLst>
        </p:spPr>
      </p:sp>
      <p:sp>
        <p:nvSpPr>
          <p:cNvPr id="22" name="Shape 20"/>
          <p:cNvSpPr/>
          <p:nvPr/>
        </p:nvSpPr>
        <p:spPr>
          <a:xfrm>
            <a:off x="8103413" y="2084832"/>
            <a:ext cx="3466490" cy="73152"/>
          </a:xfrm>
          <a:prstGeom prst="rect">
            <a:avLst/>
          </a:prstGeom>
          <a:solidFill>
            <a:srgbClr val="FFB04C"/>
          </a:solidFill>
          <a:ln w="12700">
            <a:solidFill>
              <a:srgbClr val="FFB04C"/>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FORCE 3</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AI has raised the bar</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Executives expect answers in minutes. Manual inventories and point tools look obsolete.</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Manual inventories cannot keep pace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Point tools create data silos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The winner owns the trusted data spine</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60604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27685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LEADERSHIP NARRATIVE</a:t>
            </a:r>
            <a:endParaRPr lang="en-US" sz="950" dirty="0"/>
          </a:p>
        </p:txBody>
      </p:sp>
      <p:sp>
        <p:nvSpPr>
          <p:cNvPr id="6" name="Text 4"/>
          <p:cNvSpPr/>
          <p:nvPr/>
        </p:nvSpPr>
        <p:spPr>
          <a:xfrm>
            <a:off x="621792" y="768096"/>
            <a:ext cx="10948111" cy="914400"/>
          </a:xfrm>
          <a:prstGeom prst="rect">
            <a:avLst/>
          </a:prstGeom>
          <a:noFill/>
          <a:ln/>
        </p:spPr>
        <p:txBody>
          <a:bodyPr wrap="square" lIns="0" tIns="0" rIns="0" bIns="0" rtlCol="0" anchor="t">
            <a:normAutofit/>
          </a:bodyPr>
          <a:lstStyle/>
          <a:p>
            <a:pPr indent="0" marL="0">
              <a:buNone/>
            </a:pPr>
            <a:r>
              <a:rPr lang="en-US" sz="2500" b="1" dirty="0">
                <a:solidFill>
                  <a:srgbClr val="1E2420"/>
                </a:solidFill>
                <a:latin typeface="Calibri" pitchFamily="34" charset="0"/>
                <a:ea typeface="Calibri" pitchFamily="34" charset="-122"/>
                <a:cs typeface="Calibri" pitchFamily="34" charset="-120"/>
              </a:rPr>
              <a:t>The real opportunity is Sustainability, Energy and Efficiency as one operating picture</a:t>
            </a:r>
            <a:endParaRPr lang="en-US" sz="2500" dirty="0"/>
          </a:p>
        </p:txBody>
      </p:sp>
      <p:sp>
        <p:nvSpPr>
          <p:cNvPr id="7" name="Text 5"/>
          <p:cNvSpPr/>
          <p:nvPr/>
        </p:nvSpPr>
        <p:spPr>
          <a:xfrm>
            <a:off x="621792" y="173736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Customers do not buy carbon, energy, or efficiency as separate problems. They buy one view of how their operations perform, and what to do next.</a:t>
            </a:r>
            <a:endParaRPr lang="en-US" sz="1250" dirty="0"/>
          </a:p>
        </p:txBody>
      </p:sp>
      <p:sp>
        <p:nvSpPr>
          <p:cNvPr id="8" name="Shape 6"/>
          <p:cNvSpPr/>
          <p:nvPr/>
        </p:nvSpPr>
        <p:spPr>
          <a:xfrm>
            <a:off x="621792" y="2084832"/>
            <a:ext cx="10948111" cy="0"/>
          </a:xfrm>
          <a:prstGeom prst="line">
            <a:avLst/>
          </a:prstGeom>
          <a:noFill/>
          <a:ln w="9525">
            <a:solidFill>
              <a:srgbClr val="E2E6E2"/>
            </a:solidFill>
            <a:prstDash val="solid"/>
          </a:ln>
        </p:spPr>
      </p:sp>
      <p:sp>
        <p:nvSpPr>
          <p:cNvPr id="9" name="Shape 7"/>
          <p:cNvSpPr/>
          <p:nvPr/>
        </p:nvSpPr>
        <p:spPr>
          <a:xfrm>
            <a:off x="621792" y="2249424"/>
            <a:ext cx="3466490" cy="4014216"/>
          </a:xfrm>
          <a:prstGeom prst="roundRect">
            <a:avLst>
              <a:gd name="adj" fmla="val 1583"/>
            </a:avLst>
          </a:prstGeom>
          <a:solidFill>
            <a:srgbClr val="FFFFFF"/>
          </a:solidFill>
          <a:ln w="9525">
            <a:solidFill>
              <a:srgbClr val="E2E6E2"/>
            </a:solidFill>
            <a:prstDash val="solid"/>
          </a:ln>
          <a:effectLst>
            <a:outerShdw sx="100000" sy="100000" kx="0" ky="0" algn="bl" rotWithShape="0" blurRad="3.4899122451375014e+70" dist="1.1633040817125008e+70" dir="1.5233993500262402e+83">
              <a:srgbClr val="0A1F12">
                <a:alpha val="1.2000000000000002e+84"/>
              </a:srgbClr>
            </a:outerShdw>
          </a:effectLst>
        </p:spPr>
      </p:sp>
      <p:sp>
        <p:nvSpPr>
          <p:cNvPr id="10" name="Shape 8"/>
          <p:cNvSpPr/>
          <p:nvPr/>
        </p:nvSpPr>
        <p:spPr>
          <a:xfrm>
            <a:off x="621792" y="2249424"/>
            <a:ext cx="3466490" cy="73152"/>
          </a:xfrm>
          <a:prstGeom prst="rect">
            <a:avLst/>
          </a:prstGeom>
          <a:solidFill>
            <a:srgbClr val="3DCD58"/>
          </a:solidFill>
          <a:ln w="12700">
            <a:solidFill>
              <a:srgbClr val="3DCD58"/>
            </a:solidFill>
            <a:prstDash val="solid"/>
          </a:ln>
        </p:spPr>
      </p:sp>
      <p:sp>
        <p:nvSpPr>
          <p:cNvPr id="11" name="Text 9"/>
          <p:cNvSpPr/>
          <p:nvPr/>
        </p:nvSpPr>
        <p:spPr>
          <a:xfrm>
            <a:off x="822960" y="2450592"/>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SUSTAINABILITY</a:t>
            </a:r>
            <a:endParaRPr lang="en-US" sz="900" dirty="0"/>
          </a:p>
        </p:txBody>
      </p:sp>
      <p:sp>
        <p:nvSpPr>
          <p:cNvPr id="12" name="Text 10"/>
          <p:cNvSpPr/>
          <p:nvPr/>
        </p:nvSpPr>
        <p:spPr>
          <a:xfrm>
            <a:off x="822960" y="2734056"/>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The scoreboard</a:t>
            </a:r>
            <a:endParaRPr lang="en-US" sz="1600" dirty="0"/>
          </a:p>
        </p:txBody>
      </p:sp>
      <p:sp>
        <p:nvSpPr>
          <p:cNvPr id="13" name="Text 11"/>
          <p:cNvSpPr/>
          <p:nvPr/>
        </p:nvSpPr>
        <p:spPr>
          <a:xfrm>
            <a:off x="804672" y="3209544"/>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Carbon inventory, climate risk, disclosure, and targets set the enterprise ambition.</a:t>
            </a:r>
            <a:endParaRPr lang="en-US" sz="1100" dirty="0"/>
          </a:p>
        </p:txBody>
      </p:sp>
      <p:sp>
        <p:nvSpPr>
          <p:cNvPr id="14" name="Text 12"/>
          <p:cNvSpPr/>
          <p:nvPr/>
        </p:nvSpPr>
        <p:spPr>
          <a:xfrm>
            <a:off x="822960" y="3941064"/>
            <a:ext cx="3100730" cy="210312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Board grade inventory and assurance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Scope 3, supply chain, and financed emissions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CSRD, SEC, and voluntary frameworks</a:t>
            </a:r>
            <a:endParaRPr lang="en-US" sz="1100" dirty="0"/>
          </a:p>
        </p:txBody>
      </p:sp>
      <p:sp>
        <p:nvSpPr>
          <p:cNvPr id="15" name="Shape 13"/>
          <p:cNvSpPr/>
          <p:nvPr/>
        </p:nvSpPr>
        <p:spPr>
          <a:xfrm>
            <a:off x="4362602" y="2249424"/>
            <a:ext cx="3466490" cy="4014216"/>
          </a:xfrm>
          <a:prstGeom prst="roundRect">
            <a:avLst>
              <a:gd name="adj" fmla="val 1583"/>
            </a:avLst>
          </a:prstGeom>
          <a:solidFill>
            <a:srgbClr val="FFFFFF"/>
          </a:solidFill>
          <a:ln w="9525">
            <a:solidFill>
              <a:srgbClr val="E2E6E2"/>
            </a:solidFill>
            <a:prstDash val="solid"/>
          </a:ln>
          <a:effectLst>
            <a:outerShdw sx="100000" sy="100000" kx="0" ky="0" algn="bl" rotWithShape="0" blurRad="4.432188551324627e+74" dist="1.477396183774876e+74" dir="9.14039610015744e+87">
              <a:srgbClr val="0A1F12">
                <a:alpha val="1.2000000000000002e+89"/>
              </a:srgbClr>
            </a:outerShdw>
          </a:effectLst>
        </p:spPr>
      </p:sp>
      <p:sp>
        <p:nvSpPr>
          <p:cNvPr id="16" name="Shape 14"/>
          <p:cNvSpPr/>
          <p:nvPr/>
        </p:nvSpPr>
        <p:spPr>
          <a:xfrm>
            <a:off x="4362602" y="2249424"/>
            <a:ext cx="3466490" cy="73152"/>
          </a:xfrm>
          <a:prstGeom prst="rect">
            <a:avLst/>
          </a:prstGeom>
          <a:solidFill>
            <a:srgbClr val="007A27"/>
          </a:solidFill>
          <a:ln w="12700">
            <a:solidFill>
              <a:srgbClr val="007A27"/>
            </a:solidFill>
            <a:prstDash val="solid"/>
          </a:ln>
        </p:spPr>
      </p:sp>
      <p:sp>
        <p:nvSpPr>
          <p:cNvPr id="17" name="Text 15"/>
          <p:cNvSpPr/>
          <p:nvPr/>
        </p:nvSpPr>
        <p:spPr>
          <a:xfrm>
            <a:off x="4563770" y="2450592"/>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ENERGY AND EFFICIENCY</a:t>
            </a:r>
            <a:endParaRPr lang="en-US" sz="900" dirty="0"/>
          </a:p>
        </p:txBody>
      </p:sp>
      <p:sp>
        <p:nvSpPr>
          <p:cNvPr id="18" name="Text 16"/>
          <p:cNvSpPr/>
          <p:nvPr/>
        </p:nvSpPr>
        <p:spPr>
          <a:xfrm>
            <a:off x="4563770" y="2734056"/>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The levers</a:t>
            </a:r>
            <a:endParaRPr lang="en-US" sz="1600" dirty="0"/>
          </a:p>
        </p:txBody>
      </p:sp>
      <p:sp>
        <p:nvSpPr>
          <p:cNvPr id="19" name="Text 17"/>
          <p:cNvSpPr/>
          <p:nvPr/>
        </p:nvSpPr>
        <p:spPr>
          <a:xfrm>
            <a:off x="4545482" y="3209544"/>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Energy spend, contracts, efficiency projects, and verified savings are where targets become action.</a:t>
            </a:r>
            <a:endParaRPr lang="en-US" sz="1100" dirty="0"/>
          </a:p>
        </p:txBody>
      </p:sp>
      <p:sp>
        <p:nvSpPr>
          <p:cNvPr id="20" name="Text 18"/>
          <p:cNvSpPr/>
          <p:nvPr/>
        </p:nvSpPr>
        <p:spPr>
          <a:xfrm>
            <a:off x="4563770" y="3941064"/>
            <a:ext cx="3100730" cy="210312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Utility data, metering, and interval grade signals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Energy sourcing, renewables, and EAC management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ECM pipeline, M&amp;V, demand response, and electrification</a:t>
            </a:r>
            <a:endParaRPr lang="en-US" sz="1100" dirty="0"/>
          </a:p>
        </p:txBody>
      </p:sp>
      <p:sp>
        <p:nvSpPr>
          <p:cNvPr id="21" name="Shape 19"/>
          <p:cNvSpPr/>
          <p:nvPr/>
        </p:nvSpPr>
        <p:spPr>
          <a:xfrm>
            <a:off x="8103413" y="2249424"/>
            <a:ext cx="3466490" cy="4014216"/>
          </a:xfrm>
          <a:prstGeom prst="roundRect">
            <a:avLst>
              <a:gd name="adj" fmla="val 1583"/>
            </a:avLst>
          </a:prstGeom>
          <a:solidFill>
            <a:srgbClr val="FFFFFF"/>
          </a:solidFill>
          <a:ln w="9525">
            <a:solidFill>
              <a:srgbClr val="E2E6E2"/>
            </a:solidFill>
            <a:prstDash val="solid"/>
          </a:ln>
          <a:effectLst>
            <a:outerShdw sx="100000" sy="100000" kx="0" ky="0" algn="bl" rotWithShape="0" blurRad="5.628879460182276e+78" dist="1.8762931533940924e+78" dir="5.484237660094465e+92">
              <a:srgbClr val="0A1F12">
                <a:alpha val="1.2000000000000001e+94"/>
              </a:srgbClr>
            </a:outerShdw>
          </a:effectLst>
        </p:spPr>
      </p:sp>
      <p:sp>
        <p:nvSpPr>
          <p:cNvPr id="22" name="Shape 20"/>
          <p:cNvSpPr/>
          <p:nvPr/>
        </p:nvSpPr>
        <p:spPr>
          <a:xfrm>
            <a:off x="8103413" y="2249424"/>
            <a:ext cx="3466490" cy="73152"/>
          </a:xfrm>
          <a:prstGeom prst="rect">
            <a:avLst/>
          </a:prstGeom>
          <a:solidFill>
            <a:srgbClr val="FFB04C"/>
          </a:solidFill>
          <a:ln w="12700">
            <a:solidFill>
              <a:srgbClr val="FFB04C"/>
            </a:solidFill>
            <a:prstDash val="solid"/>
          </a:ln>
        </p:spPr>
      </p:sp>
      <p:sp>
        <p:nvSpPr>
          <p:cNvPr id="23" name="Text 21"/>
          <p:cNvSpPr/>
          <p:nvPr/>
        </p:nvSpPr>
        <p:spPr>
          <a:xfrm>
            <a:off x="8304581" y="2450592"/>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CONVERGENCE</a:t>
            </a:r>
            <a:endParaRPr lang="en-US" sz="900" dirty="0"/>
          </a:p>
        </p:txBody>
      </p:sp>
      <p:sp>
        <p:nvSpPr>
          <p:cNvPr id="24" name="Text 22"/>
          <p:cNvSpPr/>
          <p:nvPr/>
        </p:nvSpPr>
        <p:spPr>
          <a:xfrm>
            <a:off x="8304581" y="2734056"/>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The operating system</a:t>
            </a:r>
            <a:endParaRPr lang="en-US" sz="1600" dirty="0"/>
          </a:p>
        </p:txBody>
      </p:sp>
      <p:sp>
        <p:nvSpPr>
          <p:cNvPr id="25" name="Text 23"/>
          <p:cNvSpPr/>
          <p:nvPr/>
        </p:nvSpPr>
        <p:spPr>
          <a:xfrm>
            <a:off x="8286293" y="3209544"/>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Only RA+ connects all three on one spine. That is the defensible position.</a:t>
            </a:r>
            <a:endParaRPr lang="en-US" sz="1100" dirty="0"/>
          </a:p>
        </p:txBody>
      </p:sp>
      <p:sp>
        <p:nvSpPr>
          <p:cNvPr id="26" name="Text 24"/>
          <p:cNvSpPr/>
          <p:nvPr/>
        </p:nvSpPr>
        <p:spPr>
          <a:xfrm>
            <a:off x="8304581" y="3941064"/>
            <a:ext cx="3100730" cy="210312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Carbon targets informed by live energy spend</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Efficiency projects ranked by carbon and financial return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backed by operational data, not surveys</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60604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27685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LEADERSHIP NARRATIVE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legacy enterprise sustainability stack is a mess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Our buyers are paying three times for the same data. That is not a feature gap, it is a market opportunity.</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1874520"/>
          </a:xfrm>
          <a:prstGeom prst="roundRect">
            <a:avLst>
              <a:gd name="adj" fmla="val 2927"/>
            </a:avLst>
          </a:prstGeom>
          <a:solidFill>
            <a:srgbClr val="FFFFFF"/>
          </a:solidFill>
          <a:ln w="9525">
            <a:solidFill>
              <a:srgbClr val="E2E6E2"/>
            </a:solidFill>
            <a:prstDash val="solid"/>
          </a:ln>
          <a:effectLst>
            <a:outerShdw sx="100000" sy="100000" kx="0" ky="0" algn="bl" rotWithShape="0" blurRad="7.14867691443149e+82" dist="2.3828923048104974e+82" dir="3.2905425960566786e+97">
              <a:srgbClr val="0A1F12">
                <a:alpha val="1.2e+99"/>
              </a:srgbClr>
            </a:outerShdw>
          </a:effectLst>
        </p:spPr>
      </p:sp>
      <p:sp>
        <p:nvSpPr>
          <p:cNvPr id="10" name="Shape 8"/>
          <p:cNvSpPr/>
          <p:nvPr/>
        </p:nvSpPr>
        <p:spPr>
          <a:xfrm>
            <a:off x="621792" y="2084832"/>
            <a:ext cx="54864" cy="1874520"/>
          </a:xfrm>
          <a:prstGeom prst="rect">
            <a:avLst/>
          </a:prstGeom>
          <a:solidFill>
            <a:srgbClr val="3DCD58"/>
          </a:solidFill>
          <a:ln w="12700">
            <a:solidFill>
              <a:srgbClr val="3DCD58"/>
            </a:solidFill>
            <a:prstDash val="solid"/>
          </a:ln>
        </p:spPr>
      </p:sp>
      <p:sp>
        <p:nvSpPr>
          <p:cNvPr id="11" name="Text 9"/>
          <p:cNvSpPr/>
          <p:nvPr/>
        </p:nvSpPr>
        <p:spPr>
          <a:xfrm>
            <a:off x="877824" y="2249424"/>
            <a:ext cx="3009290" cy="566928"/>
          </a:xfrm>
          <a:prstGeom prst="rect">
            <a:avLst/>
          </a:prstGeom>
          <a:noFill/>
          <a:ln/>
        </p:spPr>
        <p:txBody>
          <a:bodyPr wrap="square" lIns="0" tIns="0" rIns="0" bIns="0" rtlCol="0" anchor="ctr"/>
          <a:lstStyle/>
          <a:p>
            <a:pPr indent="0" marL="0">
              <a:buNone/>
            </a:pPr>
            <a:r>
              <a:rPr lang="en-US" sz="3400" b="1" dirty="0">
                <a:solidFill>
                  <a:srgbClr val="007A27"/>
                </a:solidFill>
                <a:latin typeface="Calibri" pitchFamily="34" charset="0"/>
                <a:ea typeface="Calibri" pitchFamily="34" charset="-122"/>
                <a:cs typeface="Calibri" pitchFamily="34" charset="-120"/>
              </a:rPr>
              <a:t>3+</a:t>
            </a:r>
            <a:endParaRPr lang="en-US" sz="3400" dirty="0"/>
          </a:p>
        </p:txBody>
      </p:sp>
      <p:sp>
        <p:nvSpPr>
          <p:cNvPr id="12" name="Text 10"/>
          <p:cNvSpPr/>
          <p:nvPr/>
        </p:nvSpPr>
        <p:spPr>
          <a:xfrm>
            <a:off x="850392" y="2889504"/>
            <a:ext cx="3009290" cy="502920"/>
          </a:xfrm>
          <a:prstGeom prst="rect">
            <a:avLst/>
          </a:prstGeom>
          <a:noFill/>
          <a:ln/>
        </p:spPr>
        <p:txBody>
          <a:bodyPr wrap="square" rtlCol="0" anchor="t"/>
          <a:lstStyle/>
          <a:p>
            <a:pPr indent="0" marL="0">
              <a:buNone/>
            </a:pPr>
            <a:r>
              <a:rPr lang="en-US" sz="1200" b="1" dirty="0">
                <a:solidFill>
                  <a:srgbClr val="1E2420"/>
                </a:solidFill>
                <a:latin typeface="Calibri" pitchFamily="34" charset="0"/>
                <a:ea typeface="Calibri" pitchFamily="34" charset="-122"/>
                <a:cs typeface="Calibri" pitchFamily="34" charset="-120"/>
              </a:rPr>
              <a:t>Tools in a typical enterprise sustainability stack</a:t>
            </a:r>
            <a:endParaRPr lang="en-US" sz="1200" dirty="0"/>
          </a:p>
        </p:txBody>
      </p:sp>
      <p:sp>
        <p:nvSpPr>
          <p:cNvPr id="13" name="Shape 11"/>
          <p:cNvSpPr/>
          <p:nvPr/>
        </p:nvSpPr>
        <p:spPr>
          <a:xfrm>
            <a:off x="4362602" y="2084832"/>
            <a:ext cx="3466490" cy="1874520"/>
          </a:xfrm>
          <a:prstGeom prst="roundRect">
            <a:avLst>
              <a:gd name="adj" fmla="val 2927"/>
            </a:avLst>
          </a:prstGeom>
          <a:solidFill>
            <a:srgbClr val="FFFFFF"/>
          </a:solidFill>
          <a:ln w="9525">
            <a:solidFill>
              <a:srgbClr val="E2E6E2"/>
            </a:solidFill>
            <a:prstDash val="solid"/>
          </a:ln>
          <a:effectLst>
            <a:outerShdw sx="100000" sy="100000" kx="0" ky="0" algn="bl" rotWithShape="0" blurRad="9.078819681327992e+86" dist="3.0262732271093317e+86" dir="1.9743255576340073e+102">
              <a:srgbClr val="0A1F12">
                <a:alpha val="1.2e+104"/>
              </a:srgbClr>
            </a:outerShdw>
          </a:effectLst>
        </p:spPr>
      </p:sp>
      <p:sp>
        <p:nvSpPr>
          <p:cNvPr id="14" name="Shape 12"/>
          <p:cNvSpPr/>
          <p:nvPr/>
        </p:nvSpPr>
        <p:spPr>
          <a:xfrm>
            <a:off x="4362602" y="2084832"/>
            <a:ext cx="54864" cy="1874520"/>
          </a:xfrm>
          <a:prstGeom prst="rect">
            <a:avLst/>
          </a:prstGeom>
          <a:solidFill>
            <a:srgbClr val="3DCD58"/>
          </a:solidFill>
          <a:ln w="12700">
            <a:solidFill>
              <a:srgbClr val="3DCD58"/>
            </a:solidFill>
            <a:prstDash val="solid"/>
          </a:ln>
        </p:spPr>
      </p:sp>
      <p:sp>
        <p:nvSpPr>
          <p:cNvPr id="15" name="Text 13"/>
          <p:cNvSpPr/>
          <p:nvPr/>
        </p:nvSpPr>
        <p:spPr>
          <a:xfrm>
            <a:off x="4618634" y="2249424"/>
            <a:ext cx="3009290" cy="566928"/>
          </a:xfrm>
          <a:prstGeom prst="rect">
            <a:avLst/>
          </a:prstGeom>
          <a:noFill/>
          <a:ln/>
        </p:spPr>
        <p:txBody>
          <a:bodyPr wrap="square" lIns="0" tIns="0" rIns="0" bIns="0" rtlCol="0" anchor="ctr"/>
          <a:lstStyle/>
          <a:p>
            <a:pPr indent="0" marL="0">
              <a:buNone/>
            </a:pPr>
            <a:r>
              <a:rPr lang="en-US" sz="3400" b="1" dirty="0">
                <a:solidFill>
                  <a:srgbClr val="007A27"/>
                </a:solidFill>
                <a:latin typeface="Calibri" pitchFamily="34" charset="0"/>
                <a:ea typeface="Calibri" pitchFamily="34" charset="-122"/>
                <a:cs typeface="Calibri" pitchFamily="34" charset="-120"/>
              </a:rPr>
              <a:t>6-12 mo</a:t>
            </a:r>
            <a:endParaRPr lang="en-US" sz="3400" dirty="0"/>
          </a:p>
        </p:txBody>
      </p:sp>
      <p:sp>
        <p:nvSpPr>
          <p:cNvPr id="16" name="Text 14"/>
          <p:cNvSpPr/>
          <p:nvPr/>
        </p:nvSpPr>
        <p:spPr>
          <a:xfrm>
            <a:off x="4591202" y="2889504"/>
            <a:ext cx="3009290" cy="502920"/>
          </a:xfrm>
          <a:prstGeom prst="rect">
            <a:avLst/>
          </a:prstGeom>
          <a:noFill/>
          <a:ln/>
        </p:spPr>
        <p:txBody>
          <a:bodyPr wrap="square" rtlCol="0" anchor="t"/>
          <a:lstStyle/>
          <a:p>
            <a:pPr indent="0" marL="0">
              <a:buNone/>
            </a:pPr>
            <a:r>
              <a:rPr lang="en-US" sz="1200" b="1" dirty="0">
                <a:solidFill>
                  <a:srgbClr val="1E2420"/>
                </a:solidFill>
                <a:latin typeface="Calibri" pitchFamily="34" charset="0"/>
                <a:ea typeface="Calibri" pitchFamily="34" charset="-122"/>
                <a:cs typeface="Calibri" pitchFamily="34" charset="-120"/>
              </a:rPr>
              <a:t>To assemble a consultant grade inventory manually</a:t>
            </a:r>
            <a:endParaRPr lang="en-US" sz="1200" dirty="0"/>
          </a:p>
        </p:txBody>
      </p:sp>
      <p:sp>
        <p:nvSpPr>
          <p:cNvPr id="17" name="Shape 15"/>
          <p:cNvSpPr/>
          <p:nvPr/>
        </p:nvSpPr>
        <p:spPr>
          <a:xfrm>
            <a:off x="8103413" y="2084832"/>
            <a:ext cx="3466490" cy="1874520"/>
          </a:xfrm>
          <a:prstGeom prst="roundRect">
            <a:avLst>
              <a:gd name="adj" fmla="val 2927"/>
            </a:avLst>
          </a:prstGeom>
          <a:solidFill>
            <a:srgbClr val="FFFFFF"/>
          </a:solidFill>
          <a:ln w="9525">
            <a:solidFill>
              <a:srgbClr val="E2E6E2"/>
            </a:solidFill>
            <a:prstDash val="solid"/>
          </a:ln>
          <a:effectLst>
            <a:outerShdw sx="100000" sy="100000" kx="0" ky="0" algn="bl" rotWithShape="0" blurRad="1.153010099528655e+91" dist="3.8433669984288512e+90" dir="1.1845953345804043e+107">
              <a:srgbClr val="0A1F12">
                <a:alpha val="1.2e+109"/>
              </a:srgbClr>
            </a:outerShdw>
          </a:effectLst>
        </p:spPr>
      </p:sp>
      <p:sp>
        <p:nvSpPr>
          <p:cNvPr id="18" name="Shape 16"/>
          <p:cNvSpPr/>
          <p:nvPr/>
        </p:nvSpPr>
        <p:spPr>
          <a:xfrm>
            <a:off x="8103413" y="2084832"/>
            <a:ext cx="54864" cy="1874520"/>
          </a:xfrm>
          <a:prstGeom prst="rect">
            <a:avLst/>
          </a:prstGeom>
          <a:solidFill>
            <a:srgbClr val="3DCD58"/>
          </a:solidFill>
          <a:ln w="12700">
            <a:solidFill>
              <a:srgbClr val="3DCD58"/>
            </a:solidFill>
            <a:prstDash val="solid"/>
          </a:ln>
        </p:spPr>
      </p:sp>
      <p:sp>
        <p:nvSpPr>
          <p:cNvPr id="19" name="Text 17"/>
          <p:cNvSpPr/>
          <p:nvPr/>
        </p:nvSpPr>
        <p:spPr>
          <a:xfrm>
            <a:off x="8359445" y="2249424"/>
            <a:ext cx="3009290" cy="566928"/>
          </a:xfrm>
          <a:prstGeom prst="rect">
            <a:avLst/>
          </a:prstGeom>
          <a:noFill/>
          <a:ln/>
        </p:spPr>
        <p:txBody>
          <a:bodyPr wrap="square" lIns="0" tIns="0" rIns="0" bIns="0" rtlCol="0" anchor="ctr"/>
          <a:lstStyle/>
          <a:p>
            <a:pPr indent="0" marL="0">
              <a:buNone/>
            </a:pPr>
            <a:r>
              <a:rPr lang="en-US" sz="3400" b="1" dirty="0">
                <a:solidFill>
                  <a:srgbClr val="007A27"/>
                </a:solidFill>
                <a:latin typeface="Calibri" pitchFamily="34" charset="0"/>
                <a:ea typeface="Calibri" pitchFamily="34" charset="-122"/>
                <a:cs typeface="Calibri" pitchFamily="34" charset="-120"/>
              </a:rPr>
              <a:t>1</a:t>
            </a:r>
            <a:endParaRPr lang="en-US" sz="3400" dirty="0"/>
          </a:p>
        </p:txBody>
      </p:sp>
      <p:sp>
        <p:nvSpPr>
          <p:cNvPr id="20" name="Text 18"/>
          <p:cNvSpPr/>
          <p:nvPr/>
        </p:nvSpPr>
        <p:spPr>
          <a:xfrm>
            <a:off x="8332013" y="2889504"/>
            <a:ext cx="3009290" cy="502920"/>
          </a:xfrm>
          <a:prstGeom prst="rect">
            <a:avLst/>
          </a:prstGeom>
          <a:noFill/>
          <a:ln/>
        </p:spPr>
        <p:txBody>
          <a:bodyPr wrap="square" rtlCol="0" anchor="t"/>
          <a:lstStyle/>
          <a:p>
            <a:pPr indent="0" marL="0">
              <a:buNone/>
            </a:pPr>
            <a:r>
              <a:rPr lang="en-US" sz="1200" b="1" dirty="0">
                <a:solidFill>
                  <a:srgbClr val="1E2420"/>
                </a:solidFill>
                <a:latin typeface="Calibri" pitchFamily="34" charset="0"/>
                <a:ea typeface="Calibri" pitchFamily="34" charset="-122"/>
                <a:cs typeface="Calibri" pitchFamily="34" charset="-120"/>
              </a:rPr>
              <a:t>Platform that could replace all of it</a:t>
            </a:r>
            <a:endParaRPr lang="en-US" sz="1200" dirty="0"/>
          </a:p>
        </p:txBody>
      </p:sp>
      <p:sp>
        <p:nvSpPr>
          <p:cNvPr id="21" name="Shape 19"/>
          <p:cNvSpPr/>
          <p:nvPr/>
        </p:nvSpPr>
        <p:spPr>
          <a:xfrm>
            <a:off x="621792" y="4233672"/>
            <a:ext cx="3466490" cy="2029968"/>
          </a:xfrm>
          <a:prstGeom prst="roundRect">
            <a:avLst>
              <a:gd name="adj" fmla="val 2703"/>
            </a:avLst>
          </a:prstGeom>
          <a:solidFill>
            <a:srgbClr val="F7F8F7"/>
          </a:solidFill>
          <a:ln w="9525">
            <a:solidFill>
              <a:srgbClr val="E2E6E2"/>
            </a:solidFill>
            <a:prstDash val="solid"/>
          </a:ln>
          <a:effectLst>
            <a:outerShdw sx="100000" sy="100000" kx="0" ky="0" algn="bl" rotWithShape="0" blurRad="1.4643228264013918e+95" dist="4.8810760880046414e+94" dir="7.107572007482426e+111">
              <a:srgbClr val="0A1F12">
                <a:alpha val="1.1999999999999999e+114"/>
              </a:srgbClr>
            </a:outerShdw>
          </a:effectLst>
        </p:spPr>
      </p:sp>
      <p:sp>
        <p:nvSpPr>
          <p:cNvPr id="22" name="Text 20"/>
          <p:cNvSpPr/>
          <p:nvPr/>
        </p:nvSpPr>
        <p:spPr>
          <a:xfrm>
            <a:off x="850392" y="4398264"/>
            <a:ext cx="3009290" cy="365760"/>
          </a:xfrm>
          <a:prstGeom prst="rect">
            <a:avLst/>
          </a:prstGeom>
          <a:noFill/>
          <a:ln/>
        </p:spPr>
        <p:txBody>
          <a:bodyPr wrap="square" rtlCol="0" anchor="ctr"/>
          <a:lstStyle/>
          <a:p>
            <a:pPr indent="0" marL="0">
              <a:buNone/>
            </a:pPr>
            <a:r>
              <a:rPr lang="en-US" sz="1400" b="1" dirty="0">
                <a:solidFill>
                  <a:srgbClr val="1E2420"/>
                </a:solidFill>
                <a:latin typeface="Calibri" pitchFamily="34" charset="0"/>
                <a:ea typeface="Calibri" pitchFamily="34" charset="-122"/>
                <a:cs typeface="Calibri" pitchFamily="34" charset="-120"/>
              </a:rPr>
              <a:t>Fragmented data</a:t>
            </a:r>
            <a:endParaRPr lang="en-US" sz="1400" dirty="0"/>
          </a:p>
        </p:txBody>
      </p:sp>
      <p:sp>
        <p:nvSpPr>
          <p:cNvPr id="23" name="Text 21"/>
          <p:cNvSpPr/>
          <p:nvPr/>
        </p:nvSpPr>
        <p:spPr>
          <a:xfrm>
            <a:off x="850392" y="4800600"/>
            <a:ext cx="3009290" cy="1298448"/>
          </a:xfrm>
          <a:prstGeom prst="rect">
            <a:avLst/>
          </a:prstGeom>
          <a:noFill/>
          <a:ln/>
        </p:spPr>
        <p:txBody>
          <a:bodyPr wrap="square" rtlCol="0" anchor="t"/>
          <a:lstStyle/>
          <a:p>
            <a:pPr indent="0" marL="0">
              <a:buNone/>
            </a:pPr>
            <a:r>
              <a:rPr lang="en-US" sz="1200" dirty="0">
                <a:solidFill>
                  <a:srgbClr val="5A625C"/>
                </a:solidFill>
                <a:latin typeface="Calibri" pitchFamily="34" charset="0"/>
                <a:ea typeface="Calibri" pitchFamily="34" charset="-122"/>
                <a:cs typeface="Calibri" pitchFamily="34" charset="-120"/>
              </a:rPr>
              <a:t>Energy, carbon, supply chain, and climate risk data live in separate systems with separate owners.</a:t>
            </a:r>
            <a:endParaRPr lang="en-US" sz="1200" dirty="0"/>
          </a:p>
        </p:txBody>
      </p:sp>
      <p:sp>
        <p:nvSpPr>
          <p:cNvPr id="24" name="Shape 22"/>
          <p:cNvSpPr/>
          <p:nvPr/>
        </p:nvSpPr>
        <p:spPr>
          <a:xfrm>
            <a:off x="4362602" y="4233672"/>
            <a:ext cx="3466490" cy="2029968"/>
          </a:xfrm>
          <a:prstGeom prst="roundRect">
            <a:avLst>
              <a:gd name="adj" fmla="val 2703"/>
            </a:avLst>
          </a:prstGeom>
          <a:solidFill>
            <a:srgbClr val="F7F8F7"/>
          </a:solidFill>
          <a:ln w="9525">
            <a:solidFill>
              <a:srgbClr val="E2E6E2"/>
            </a:solidFill>
            <a:prstDash val="solid"/>
          </a:ln>
          <a:effectLst>
            <a:outerShdw sx="100000" sy="100000" kx="0" ky="0" algn="bl" rotWithShape="0" blurRad="1.8596899895297677e+99" dist="6.198966631765894e+98" dir="4.2645432044894554e+116">
              <a:srgbClr val="0A1F12">
                <a:alpha val="1.1999999999999998e+119"/>
              </a:srgbClr>
            </a:outerShdw>
          </a:effectLst>
        </p:spPr>
      </p:sp>
      <p:sp>
        <p:nvSpPr>
          <p:cNvPr id="25" name="Text 23"/>
          <p:cNvSpPr/>
          <p:nvPr/>
        </p:nvSpPr>
        <p:spPr>
          <a:xfrm>
            <a:off x="4591202" y="4398264"/>
            <a:ext cx="3009290" cy="365760"/>
          </a:xfrm>
          <a:prstGeom prst="rect">
            <a:avLst/>
          </a:prstGeom>
          <a:noFill/>
          <a:ln/>
        </p:spPr>
        <p:txBody>
          <a:bodyPr wrap="square" rtlCol="0" anchor="ctr"/>
          <a:lstStyle/>
          <a:p>
            <a:pPr indent="0" marL="0">
              <a:buNone/>
            </a:pPr>
            <a:r>
              <a:rPr lang="en-US" sz="1400" b="1" dirty="0">
                <a:solidFill>
                  <a:srgbClr val="1E2420"/>
                </a:solidFill>
                <a:latin typeface="Calibri" pitchFamily="34" charset="0"/>
                <a:ea typeface="Calibri" pitchFamily="34" charset="-122"/>
                <a:cs typeface="Calibri" pitchFamily="34" charset="-120"/>
              </a:rPr>
              <a:t>Repeated cost</a:t>
            </a:r>
            <a:endParaRPr lang="en-US" sz="1400" dirty="0"/>
          </a:p>
        </p:txBody>
      </p:sp>
      <p:sp>
        <p:nvSpPr>
          <p:cNvPr id="26" name="Text 24"/>
          <p:cNvSpPr/>
          <p:nvPr/>
        </p:nvSpPr>
        <p:spPr>
          <a:xfrm>
            <a:off x="4591202" y="4800600"/>
            <a:ext cx="3009290" cy="1298448"/>
          </a:xfrm>
          <a:prstGeom prst="rect">
            <a:avLst/>
          </a:prstGeom>
          <a:noFill/>
          <a:ln/>
        </p:spPr>
        <p:txBody>
          <a:bodyPr wrap="square" rtlCol="0" anchor="t"/>
          <a:lstStyle/>
          <a:p>
            <a:pPr indent="0" marL="0">
              <a:buNone/>
            </a:pPr>
            <a:r>
              <a:rPr lang="en-US" sz="1200" dirty="0">
                <a:solidFill>
                  <a:srgbClr val="5A625C"/>
                </a:solidFill>
                <a:latin typeface="Calibri" pitchFamily="34" charset="0"/>
                <a:ea typeface="Calibri" pitchFamily="34" charset="-122"/>
                <a:cs typeface="Calibri" pitchFamily="34" charset="-120"/>
              </a:rPr>
              <a:t>The same data is collected, cleaned, and reconciled once per tool, once per framework, once per audit.</a:t>
            </a:r>
            <a:endParaRPr lang="en-US" sz="1200" dirty="0"/>
          </a:p>
        </p:txBody>
      </p:sp>
      <p:sp>
        <p:nvSpPr>
          <p:cNvPr id="27" name="Shape 25"/>
          <p:cNvSpPr/>
          <p:nvPr/>
        </p:nvSpPr>
        <p:spPr>
          <a:xfrm>
            <a:off x="8103413" y="4233672"/>
            <a:ext cx="3466490" cy="2029968"/>
          </a:xfrm>
          <a:prstGeom prst="roundRect">
            <a:avLst>
              <a:gd name="adj" fmla="val 2703"/>
            </a:avLst>
          </a:prstGeom>
          <a:solidFill>
            <a:srgbClr val="F7F8F7"/>
          </a:solidFill>
          <a:ln w="9525">
            <a:solidFill>
              <a:srgbClr val="E2E6E2"/>
            </a:solidFill>
            <a:prstDash val="solid"/>
          </a:ln>
          <a:effectLst>
            <a:outerShdw sx="100000" sy="100000" kx="0" ky="0" algn="bl" rotWithShape="0" blurRad="2.361806286702805e+103" dist="7.872687622342685e+102" dir="2.5587259226936733e+121">
              <a:srgbClr val="0A1F12">
                <a:alpha val="1.1999999999999998e+124"/>
              </a:srgbClr>
            </a:outerShdw>
          </a:effectLst>
        </p:spPr>
      </p:sp>
      <p:sp>
        <p:nvSpPr>
          <p:cNvPr id="28" name="Text 26"/>
          <p:cNvSpPr/>
          <p:nvPr/>
        </p:nvSpPr>
        <p:spPr>
          <a:xfrm>
            <a:off x="8332013" y="4398264"/>
            <a:ext cx="3009290" cy="365760"/>
          </a:xfrm>
          <a:prstGeom prst="rect">
            <a:avLst/>
          </a:prstGeom>
          <a:noFill/>
          <a:ln/>
        </p:spPr>
        <p:txBody>
          <a:bodyPr wrap="square" rtlCol="0" anchor="ctr"/>
          <a:lstStyle/>
          <a:p>
            <a:pPr indent="0" marL="0">
              <a:buNone/>
            </a:pPr>
            <a:r>
              <a:rPr lang="en-US" sz="1400" b="1" dirty="0">
                <a:solidFill>
                  <a:srgbClr val="1E2420"/>
                </a:solidFill>
                <a:latin typeface="Calibri" pitchFamily="34" charset="0"/>
                <a:ea typeface="Calibri" pitchFamily="34" charset="-122"/>
                <a:cs typeface="Calibri" pitchFamily="34" charset="-120"/>
              </a:rPr>
              <a:t>No compounding</a:t>
            </a:r>
            <a:endParaRPr lang="en-US" sz="1400" dirty="0"/>
          </a:p>
        </p:txBody>
      </p:sp>
      <p:sp>
        <p:nvSpPr>
          <p:cNvPr id="29" name="Text 27"/>
          <p:cNvSpPr/>
          <p:nvPr/>
        </p:nvSpPr>
        <p:spPr>
          <a:xfrm>
            <a:off x="8332013" y="4800600"/>
            <a:ext cx="3009290" cy="1298448"/>
          </a:xfrm>
          <a:prstGeom prst="rect">
            <a:avLst/>
          </a:prstGeom>
          <a:noFill/>
          <a:ln/>
        </p:spPr>
        <p:txBody>
          <a:bodyPr wrap="square" rtlCol="0" anchor="t"/>
          <a:lstStyle/>
          <a:p>
            <a:pPr indent="0" marL="0">
              <a:buNone/>
            </a:pPr>
            <a:r>
              <a:rPr lang="en-US" sz="1200" dirty="0">
                <a:solidFill>
                  <a:srgbClr val="5A625C"/>
                </a:solidFill>
                <a:latin typeface="Calibri" pitchFamily="34" charset="0"/>
                <a:ea typeface="Calibri" pitchFamily="34" charset="-122"/>
                <a:cs typeface="Calibri" pitchFamily="34" charset="-120"/>
              </a:rPr>
              <a:t>Nothing one product learns makes the next product smarter. Every tool starts from zero.</a:t>
            </a:r>
            <a:endParaRPr lang="en-US" sz="12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60604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27685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LEADERSHIP NARRATIVE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RA+ is built to own the system of record</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One AI-native platform across Sustainability, Energy, and Efficiency. Competitors sell tools. We sell the spine.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2.999493984112562e+107" dist="9.998313280375211e+106" dir="1.535235553616204e+126">
              <a:srgbClr val="0A1F12">
                <a:alpha val="1.1999999999999998e+129"/>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THE PLATFORM</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RA+ core</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AI layer, one hierarchy, one user workflows, one analytics, one audit trail.</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Built once, inherited by every product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assisted from the first workflow</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Consultant grade and board grade by design</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3.809357359822954e+111" dist="1.2697857866076517e+111" dir="9.211413321697224e+130">
              <a:srgbClr val="0A1F12">
                <a:alpha val="1.1999999999999998e+134"/>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THE PRODUCTS</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Connected, not bundled</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Carbon Performance, Supply Chain, Reporting and Compliance, Climate Risk, Strategy.</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Each owns a customer outcome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Each writes back to the shared spine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Every new product makes the others stronger</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4.837883846975152e+115" dist="1.6126279489917177e+115" dir="5.526847993018334e+135">
              <a:srgbClr val="0A1F12">
                <a:alpha val="1.1999999999999998e+139"/>
              </a:srgbClr>
            </a:outerShdw>
          </a:effectLst>
        </p:spPr>
      </p:sp>
      <p:sp>
        <p:nvSpPr>
          <p:cNvPr id="22" name="Shape 20"/>
          <p:cNvSpPr/>
          <p:nvPr/>
        </p:nvSpPr>
        <p:spPr>
          <a:xfrm>
            <a:off x="8103413" y="2084832"/>
            <a:ext cx="3466490" cy="73152"/>
          </a:xfrm>
          <a:prstGeom prst="rect">
            <a:avLst/>
          </a:prstGeom>
          <a:solidFill>
            <a:srgbClr val="275B7F"/>
          </a:solidFill>
          <a:ln w="12700">
            <a:solidFill>
              <a:srgbClr val="275B7F"/>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THE ECONOMICS</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Compounding advantage</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fourth product costs a fraction of the first and lands with the data already in place.</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Acquisition cost falls per product added</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Switching cost rises with every domain adopted</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Competitors must rebuild what we build</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60604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27685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LEADERSHIP NARRATIVE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Fund the spine, or watch the products compete for scraps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Everything in this deck hangs off one decision: build the platform first, then scale the products on top of it.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6.144112485658443e+119" dist="2.0480374952194813e+119" dir="3.3161087958110005e+140">
              <a:srgbClr val="0A1F12">
                <a:alpha val="1.1999999999999999e+144"/>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WHAT WE COMMIT</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 sequenced, gated roadmap</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Now, Next, Later across product areas, with explicit capacity math.</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Quarterly 2026 commitments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H1 and H2 2027 bands until ranked</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Stop, adjust, scale gates every cycle</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7.803022856786223e+123" dist="2.6010076189287412e+123" dir="1.9896652774866004e+145">
              <a:srgbClr val="0A1F12">
                <a:alpha val="1.1999999999999998e+149"/>
              </a:srgbClr>
            </a:outerShdw>
          </a:effectLst>
        </p:spPr>
      </p:sp>
      <p:sp>
        <p:nvSpPr>
          <p:cNvPr id="16" name="Shape 14"/>
          <p:cNvSpPr/>
          <p:nvPr/>
        </p:nvSpPr>
        <p:spPr>
          <a:xfrm>
            <a:off x="4362602" y="2084832"/>
            <a:ext cx="3466490" cy="73152"/>
          </a:xfrm>
          <a:prstGeom prst="rect">
            <a:avLst/>
          </a:prstGeom>
          <a:solidFill>
            <a:srgbClr val="FFB04C"/>
          </a:solidFill>
          <a:ln w="12700">
            <a:solidFill>
              <a:srgbClr val="FFB04C"/>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WHAT WE NEED</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Capacity held for the core</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Product and R&amp;D capacity reserved for the shared platform.</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spine before product breadth</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governance before AI scale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Migration paths that protect the base</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9.909839028118503e+127" dist="3.303279676039501e+127" dir="1.1937991664919603e+150">
              <a:srgbClr val="0A1F12">
                <a:alpha val="1.1999999999999998e+154"/>
              </a:srgbClr>
            </a:outerShdw>
          </a:effectLst>
        </p:spPr>
      </p:sp>
      <p:sp>
        <p:nvSpPr>
          <p:cNvPr id="22" name="Shape 20"/>
          <p:cNvSpPr/>
          <p:nvPr/>
        </p:nvSpPr>
        <p:spPr>
          <a:xfrm>
            <a:off x="8103413" y="2084832"/>
            <a:ext cx="3466490" cy="73152"/>
          </a:xfrm>
          <a:prstGeom prst="rect">
            <a:avLst/>
          </a:prstGeom>
          <a:solidFill>
            <a:srgbClr val="007A27"/>
          </a:solidFill>
          <a:ln w="12700">
            <a:solidFill>
              <a:srgbClr val="007A27"/>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WHAT YOU GET</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A compounding platform position</a:t>
            </a:r>
            <a:endParaRPr lang="en-US" sz="14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reporting vendor to the intelligence layer of the enterprise.</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platform story to the market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Defensible data moat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Optionality on every adjacent domain</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1</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01</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platform we are building</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One data spine, three domains, and the convergence that no point solution can copy.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Trust: data, AI and security</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 system of record only works if customers and auditors trust how it handles their data.</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1.2585495565710499e+132" dist="4.195165188570166e+131" dir="7.162794998951762e+154">
              <a:srgbClr val="0A1F12">
                <a:alpha val="1.1999999999999998e+159"/>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DATA</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Traceable by design</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Every number can be explained back to its source.</a:t>
            </a:r>
            <a:endParaRPr lang="en-US" sz="1100" dirty="0"/>
          </a:p>
        </p:txBody>
      </p:sp>
      <p:sp>
        <p:nvSpPr>
          <p:cNvPr id="14" name="Text 12"/>
          <p:cNvSpPr/>
          <p:nvPr/>
        </p:nvSpPr>
        <p:spPr>
          <a:xfrm>
            <a:off x="82296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Lineage from source record to disclosed figure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and audit trail held with the data</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data definitions and controls applied consistently across products</a:t>
            </a:r>
            <a:endParaRPr lang="en-US" sz="1100" dirty="0"/>
          </a:p>
        </p:txBody>
      </p:sp>
      <p:sp>
        <p:nvSpPr>
          <p:cNvPr id="15" name="Shape 13"/>
          <p:cNvSpPr/>
          <p:nvPr/>
        </p:nvSpPr>
        <p:spPr>
          <a:xfrm>
            <a:off x="436260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1.5983579368452334e+136" dist="5.327859789484111e+135" dir="4.297676999371057e+159">
              <a:srgbClr val="0A1F12">
                <a:alpha val="1.1999999999999998e+164"/>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AI</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Assisted, never unaccountable</a:t>
            </a:r>
            <a:endParaRPr lang="en-US" sz="14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AI accelerates the work, humans keep the sign off.</a:t>
            </a:r>
            <a:endParaRPr lang="en-US" sz="1100" dirty="0"/>
          </a:p>
        </p:txBody>
      </p:sp>
      <p:sp>
        <p:nvSpPr>
          <p:cNvPr id="20" name="Text 18"/>
          <p:cNvSpPr/>
          <p:nvPr/>
        </p:nvSpPr>
        <p:spPr>
          <a:xfrm>
            <a:off x="456377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suggestions are reviewable and reversible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Method and factor choices remain transparent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No AI output enters a disclosure without human approval</a:t>
            </a:r>
            <a:endParaRPr lang="en-US" sz="1100" dirty="0"/>
          </a:p>
        </p:txBody>
      </p:sp>
      <p:sp>
        <p:nvSpPr>
          <p:cNvPr id="21" name="Shape 19"/>
          <p:cNvSpPr/>
          <p:nvPr/>
        </p:nvSpPr>
        <p:spPr>
          <a:xfrm>
            <a:off x="8103413"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2.0299145797934463e+140" dist="6.766381932644821e+139" dir="2.5786061996226343e+164">
              <a:srgbClr val="0A1F12">
                <a:alpha val="1.1999999999999998e+169"/>
              </a:srgbClr>
            </a:outerShdw>
          </a:effectLst>
        </p:spPr>
      </p:sp>
      <p:sp>
        <p:nvSpPr>
          <p:cNvPr id="22" name="Shape 20"/>
          <p:cNvSpPr/>
          <p:nvPr/>
        </p:nvSpPr>
        <p:spPr>
          <a:xfrm>
            <a:off x="8103413" y="2084832"/>
            <a:ext cx="3466490" cy="73152"/>
          </a:xfrm>
          <a:prstGeom prst="rect">
            <a:avLst/>
          </a:prstGeom>
          <a:solidFill>
            <a:srgbClr val="275B7F"/>
          </a:solidFill>
          <a:ln w="12700">
            <a:solidFill>
              <a:srgbClr val="275B7F"/>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SECURITY</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Enterprise grade controls</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Aligned to Schneider Electric enterprise standards.</a:t>
            </a:r>
            <a:endParaRPr lang="en-US" sz="1100" dirty="0"/>
          </a:p>
        </p:txBody>
      </p:sp>
      <p:sp>
        <p:nvSpPr>
          <p:cNvPr id="26" name="Text 24"/>
          <p:cNvSpPr/>
          <p:nvPr/>
        </p:nvSpPr>
        <p:spPr>
          <a:xfrm>
            <a:off x="8304581"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access across products and hierarchy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Segregated customer data with controlled sharing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Security and compliance posture confirmed with the internal teams</a:t>
            </a:r>
            <a:endParaRPr lang="en-US" sz="1100" dirty="0"/>
          </a:p>
        </p:txBody>
      </p:sp>
      <p:sp>
        <p:nvSpPr>
          <p:cNvPr id="27" name="Shape 25"/>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2.577991516337677e+144" dist="8.593305054458923e+143" dir="1.5471637197735807e+169">
              <a:srgbClr val="0A1F12">
                <a:alpha val="1.1999999999999997e+174"/>
              </a:srgbClr>
            </a:outerShdw>
          </a:effectLst>
        </p:spPr>
      </p:sp>
      <p:sp>
        <p:nvSpPr>
          <p:cNvPr id="28" name="Shape 26"/>
          <p:cNvSpPr/>
          <p:nvPr/>
        </p:nvSpPr>
        <p:spPr>
          <a:xfrm>
            <a:off x="676656" y="5760720"/>
            <a:ext cx="45720" cy="365760"/>
          </a:xfrm>
          <a:prstGeom prst="rect">
            <a:avLst/>
          </a:prstGeom>
          <a:solidFill>
            <a:srgbClr val="3DCD58"/>
          </a:solidFill>
          <a:ln w="12700">
            <a:solidFill>
              <a:srgbClr val="3DCD58"/>
            </a:solidFill>
            <a:prstDash val="solid"/>
          </a:ln>
        </p:spPr>
      </p:sp>
      <p:sp>
        <p:nvSpPr>
          <p:cNvPr id="29" name="Text 27"/>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Certification and audit statements to be confirmed with Security and Legal before external use.</a:t>
            </a:r>
            <a:endParaRPr lang="en-US" sz="12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5848" cy="73152"/>
          </a:xfrm>
          <a:prstGeom prst="rect">
            <a:avLst/>
          </a:prstGeom>
          <a:solidFill>
            <a:srgbClr val="3DCD58"/>
          </a:solidFill>
          <a:ln w="12700">
            <a:solidFill>
              <a:srgbClr val="3DCD58">
                <a:alpha val="0"/>
              </a:srgbClr>
            </a:solidFill>
            <a:prstDash val="solid"/>
          </a:ln>
        </p:spPr>
      </p:sp>
      <p:sp>
        <p:nvSpPr>
          <p:cNvPr id="3" name="Shape 1"/>
          <p:cNvSpPr/>
          <p:nvPr/>
        </p:nvSpPr>
        <p:spPr>
          <a:xfrm>
            <a:off x="4724248" y="685800"/>
            <a:ext cx="2743200" cy="384048"/>
          </a:xfrm>
          <a:prstGeom prst="roundRect">
            <a:avLst>
              <a:gd name="adj" fmla="val 50000"/>
            </a:avLst>
          </a:prstGeom>
          <a:solidFill>
            <a:srgbClr val="EAF8ED"/>
          </a:solidFill>
          <a:ln w="12700">
            <a:solidFill>
              <a:srgbClr val="EAF8ED"/>
            </a:solidFill>
            <a:prstDash val="solid"/>
          </a:ln>
        </p:spPr>
      </p:sp>
      <p:sp>
        <p:nvSpPr>
          <p:cNvPr id="4" name="Text 2"/>
          <p:cNvSpPr/>
          <p:nvPr/>
        </p:nvSpPr>
        <p:spPr>
          <a:xfrm>
            <a:off x="4724248" y="685800"/>
            <a:ext cx="2743200" cy="384048"/>
          </a:xfrm>
          <a:prstGeom prst="rect">
            <a:avLst/>
          </a:prstGeom>
          <a:noFill/>
          <a:ln/>
        </p:spPr>
        <p:txBody>
          <a:bodyPr wrap="square" lIns="0" tIns="0" rIns="0" bIns="0" rtlCol="0" anchor="ctr"/>
          <a:lstStyle/>
          <a:p>
            <a:pPr algn="ctr" indent="0" marL="0">
              <a:buNone/>
            </a:pPr>
            <a:r>
              <a:rPr lang="en-US" sz="1200" b="1" spc="100" kern="0" dirty="0">
                <a:solidFill>
                  <a:srgbClr val="3DCD58"/>
                </a:solidFill>
                <a:latin typeface="Calibri" pitchFamily="34" charset="0"/>
                <a:ea typeface="Calibri" pitchFamily="34" charset="-122"/>
                <a:cs typeface="Calibri" pitchFamily="34" charset="-120"/>
              </a:rPr>
              <a:t>✦  RA+ STRATEGY 2026</a:t>
            </a:r>
            <a:endParaRPr lang="en-US" sz="1200" dirty="0"/>
          </a:p>
        </p:txBody>
      </p:sp>
      <p:sp>
        <p:nvSpPr>
          <p:cNvPr id="5" name="Text 3"/>
          <p:cNvSpPr/>
          <p:nvPr/>
        </p:nvSpPr>
        <p:spPr>
          <a:xfrm>
            <a:off x="621792" y="1554480"/>
            <a:ext cx="10948111" cy="914400"/>
          </a:xfrm>
          <a:prstGeom prst="rect">
            <a:avLst/>
          </a:prstGeom>
          <a:noFill/>
          <a:ln/>
        </p:spPr>
        <p:txBody>
          <a:bodyPr wrap="square" lIns="0" tIns="0" rIns="0" bIns="0" rtlCol="0" anchor="ctr">
            <a:normAutofit/>
          </a:bodyPr>
          <a:lstStyle/>
          <a:p>
            <a:pPr algn="ctr" indent="0" marL="0">
              <a:buNone/>
            </a:pPr>
            <a:r>
              <a:rPr lang="en-US" sz="4400" b="1" dirty="0">
                <a:solidFill>
                  <a:srgbClr val="1E2420"/>
                </a:solidFill>
                <a:latin typeface="Calibri" pitchFamily="34" charset="0"/>
                <a:ea typeface="Calibri" pitchFamily="34" charset="-122"/>
                <a:cs typeface="Calibri" pitchFamily="34" charset="-120"/>
              </a:rPr>
              <a:t>One platform.</a:t>
            </a:r>
            <a:endParaRPr lang="en-US" sz="4400" dirty="0"/>
          </a:p>
        </p:txBody>
      </p:sp>
      <p:sp>
        <p:nvSpPr>
          <p:cNvPr id="6" name="Text 4"/>
          <p:cNvSpPr/>
          <p:nvPr/>
        </p:nvSpPr>
        <p:spPr>
          <a:xfrm>
            <a:off x="621792" y="2514600"/>
            <a:ext cx="10948111" cy="960120"/>
          </a:xfrm>
          <a:prstGeom prst="rect">
            <a:avLst/>
          </a:prstGeom>
          <a:noFill/>
          <a:ln/>
        </p:spPr>
        <p:txBody>
          <a:bodyPr wrap="square" lIns="0" tIns="0" rIns="0" bIns="0" rtlCol="0" anchor="ctr">
            <a:normAutofit/>
          </a:bodyPr>
          <a:lstStyle/>
          <a:p>
            <a:pPr algn="ctr" indent="0" marL="0">
              <a:buNone/>
            </a:pPr>
            <a:r>
              <a:rPr lang="en-US" sz="4400" b="1" dirty="0">
                <a:solidFill>
                  <a:srgbClr val="3DCD58"/>
                </a:solidFill>
                <a:latin typeface="Calibri" pitchFamily="34" charset="0"/>
                <a:ea typeface="Calibri" pitchFamily="34" charset="-122"/>
                <a:cs typeface="Calibri" pitchFamily="34" charset="-120"/>
              </a:rPr>
              <a:t>Sustainability, Energy, Efficiency.</a:t>
            </a:r>
            <a:endParaRPr lang="en-US" sz="4400" dirty="0"/>
          </a:p>
        </p:txBody>
      </p:sp>
      <p:sp>
        <p:nvSpPr>
          <p:cNvPr id="7" name="Text 5"/>
          <p:cNvSpPr/>
          <p:nvPr/>
        </p:nvSpPr>
        <p:spPr>
          <a:xfrm>
            <a:off x="621792" y="3703320"/>
            <a:ext cx="10948111" cy="411480"/>
          </a:xfrm>
          <a:prstGeom prst="rect">
            <a:avLst/>
          </a:prstGeom>
          <a:noFill/>
          <a:ln/>
        </p:spPr>
        <p:txBody>
          <a:bodyPr wrap="square" lIns="0" tIns="0" rIns="0" bIns="0" rtlCol="0" anchor="ctr"/>
          <a:lstStyle/>
          <a:p>
            <a:pPr algn="ctr" indent="0" marL="0">
              <a:buNone/>
            </a:pPr>
            <a:r>
              <a:rPr lang="en-US" sz="2000" b="1" dirty="0">
                <a:solidFill>
                  <a:srgbClr val="3DCD58"/>
                </a:solidFill>
                <a:latin typeface="Calibri" pitchFamily="34" charset="0"/>
                <a:ea typeface="Calibri" pitchFamily="34" charset="-122"/>
                <a:cs typeface="Calibri" pitchFamily="34" charset="-120"/>
              </a:rPr>
              <a:t>End-to-end value, only we can deliver.</a:t>
            </a:r>
            <a:endParaRPr lang="en-US" sz="2000" dirty="0"/>
          </a:p>
        </p:txBody>
      </p:sp>
      <p:sp>
        <p:nvSpPr>
          <p:cNvPr id="8" name="Text 6"/>
          <p:cNvSpPr/>
          <p:nvPr/>
        </p:nvSpPr>
        <p:spPr>
          <a:xfrm>
            <a:off x="2346808" y="4206240"/>
            <a:ext cx="7498080" cy="777240"/>
          </a:xfrm>
          <a:prstGeom prst="rect">
            <a:avLst/>
          </a:prstGeom>
          <a:noFill/>
          <a:ln/>
        </p:spPr>
        <p:txBody>
          <a:bodyPr wrap="square" lIns="0" tIns="0" rIns="0" bIns="0" rtlCol="0" anchor="t">
            <a:normAutofit/>
          </a:bodyPr>
          <a:lstStyle/>
          <a:p>
            <a:pPr algn="ctr" indent="0" marL="0">
              <a:buNone/>
            </a:pPr>
            <a:r>
              <a:rPr lang="en-US" sz="1300" dirty="0">
                <a:solidFill>
                  <a:srgbClr val="5A625C"/>
                </a:solidFill>
                <a:latin typeface="Calibri" pitchFamily="34" charset="0"/>
                <a:ea typeface="Calibri" pitchFamily="34" charset="-122"/>
                <a:cs typeface="Calibri" pitchFamily="34" charset="-120"/>
              </a:rPr>
              <a:t>Sustainability data, energy &amp; supply intelligence, and efficiency expertise, converged onto a single, AI-native platform. One source of truth, one trusted advisor, one path to measurable savings.</a:t>
            </a:r>
            <a:endParaRPr lang="en-US" sz="1300" dirty="0"/>
          </a:p>
        </p:txBody>
      </p:sp>
      <p:sp>
        <p:nvSpPr>
          <p:cNvPr id="9" name="Shape 7"/>
          <p:cNvSpPr/>
          <p:nvPr/>
        </p:nvSpPr>
        <p:spPr>
          <a:xfrm>
            <a:off x="3535528" y="5257800"/>
            <a:ext cx="1554480" cy="384048"/>
          </a:xfrm>
          <a:prstGeom prst="roundRect">
            <a:avLst>
              <a:gd name="adj" fmla="val 50000"/>
            </a:avLst>
          </a:prstGeom>
          <a:solidFill>
            <a:srgbClr val="FFFFFF"/>
          </a:solidFill>
          <a:ln w="12700">
            <a:solidFill>
              <a:srgbClr val="E2E6E2"/>
            </a:solidFill>
            <a:prstDash val="solid"/>
          </a:ln>
        </p:spPr>
      </p:sp>
      <p:sp>
        <p:nvSpPr>
          <p:cNvPr id="10" name="Text 8"/>
          <p:cNvSpPr/>
          <p:nvPr/>
        </p:nvSpPr>
        <p:spPr>
          <a:xfrm>
            <a:off x="3535528" y="5257800"/>
            <a:ext cx="1554480" cy="384048"/>
          </a:xfrm>
          <a:prstGeom prst="rect">
            <a:avLst/>
          </a:prstGeom>
          <a:noFill/>
          <a:ln/>
        </p:spPr>
        <p:txBody>
          <a:bodyPr wrap="square" lIns="0" tIns="0" rIns="0" bIns="0" rtlCol="0" anchor="ctr"/>
          <a:lstStyle/>
          <a:p>
            <a:pPr algn="ctr" indent="0" marL="0">
              <a:buNone/>
            </a:pPr>
            <a:r>
              <a:rPr lang="en-US" sz="1300" b="1" dirty="0">
                <a:solidFill>
                  <a:srgbClr val="1E2420"/>
                </a:solidFill>
                <a:latin typeface="Calibri" pitchFamily="34" charset="0"/>
                <a:ea typeface="Calibri" pitchFamily="34" charset="-122"/>
                <a:cs typeface="Calibri" pitchFamily="34" charset="-120"/>
              </a:rPr>
              <a:t>Unified</a:t>
            </a:r>
            <a:endParaRPr lang="en-US" sz="1300" dirty="0"/>
          </a:p>
        </p:txBody>
      </p:sp>
      <p:sp>
        <p:nvSpPr>
          <p:cNvPr id="11" name="Shape 9"/>
          <p:cNvSpPr/>
          <p:nvPr/>
        </p:nvSpPr>
        <p:spPr>
          <a:xfrm>
            <a:off x="5318608" y="5257800"/>
            <a:ext cx="1554480" cy="384048"/>
          </a:xfrm>
          <a:prstGeom prst="roundRect">
            <a:avLst>
              <a:gd name="adj" fmla="val 50000"/>
            </a:avLst>
          </a:prstGeom>
          <a:solidFill>
            <a:srgbClr val="FFFFFF"/>
          </a:solidFill>
          <a:ln w="12700">
            <a:solidFill>
              <a:srgbClr val="E2E6E2"/>
            </a:solidFill>
            <a:prstDash val="solid"/>
          </a:ln>
        </p:spPr>
      </p:sp>
      <p:sp>
        <p:nvSpPr>
          <p:cNvPr id="12" name="Text 10"/>
          <p:cNvSpPr/>
          <p:nvPr/>
        </p:nvSpPr>
        <p:spPr>
          <a:xfrm>
            <a:off x="5318608" y="5257800"/>
            <a:ext cx="1554480" cy="384048"/>
          </a:xfrm>
          <a:prstGeom prst="rect">
            <a:avLst/>
          </a:prstGeom>
          <a:noFill/>
          <a:ln/>
        </p:spPr>
        <p:txBody>
          <a:bodyPr wrap="square" lIns="0" tIns="0" rIns="0" bIns="0" rtlCol="0" anchor="ctr"/>
          <a:lstStyle/>
          <a:p>
            <a:pPr algn="ctr" indent="0" marL="0">
              <a:buNone/>
            </a:pPr>
            <a:r>
              <a:rPr lang="en-US" sz="1300" b="1" dirty="0">
                <a:solidFill>
                  <a:srgbClr val="1E2420"/>
                </a:solidFill>
                <a:latin typeface="Calibri" pitchFamily="34" charset="0"/>
                <a:ea typeface="Calibri" pitchFamily="34" charset="-122"/>
                <a:cs typeface="Calibri" pitchFamily="34" charset="-120"/>
              </a:rPr>
              <a:t>Proactive</a:t>
            </a:r>
            <a:endParaRPr lang="en-US" sz="1300" dirty="0"/>
          </a:p>
        </p:txBody>
      </p:sp>
      <p:sp>
        <p:nvSpPr>
          <p:cNvPr id="13" name="Shape 11"/>
          <p:cNvSpPr/>
          <p:nvPr/>
        </p:nvSpPr>
        <p:spPr>
          <a:xfrm>
            <a:off x="7101688" y="5257800"/>
            <a:ext cx="1554480" cy="384048"/>
          </a:xfrm>
          <a:prstGeom prst="roundRect">
            <a:avLst>
              <a:gd name="adj" fmla="val 50000"/>
            </a:avLst>
          </a:prstGeom>
          <a:solidFill>
            <a:srgbClr val="FFFFFF"/>
          </a:solidFill>
          <a:ln w="12700">
            <a:solidFill>
              <a:srgbClr val="E2E6E2"/>
            </a:solidFill>
            <a:prstDash val="solid"/>
          </a:ln>
        </p:spPr>
      </p:sp>
      <p:sp>
        <p:nvSpPr>
          <p:cNvPr id="14" name="Text 12"/>
          <p:cNvSpPr/>
          <p:nvPr/>
        </p:nvSpPr>
        <p:spPr>
          <a:xfrm>
            <a:off x="7101688" y="5257800"/>
            <a:ext cx="1554480" cy="384048"/>
          </a:xfrm>
          <a:prstGeom prst="rect">
            <a:avLst/>
          </a:prstGeom>
          <a:noFill/>
          <a:ln/>
        </p:spPr>
        <p:txBody>
          <a:bodyPr wrap="square" lIns="0" tIns="0" rIns="0" bIns="0" rtlCol="0" anchor="ctr"/>
          <a:lstStyle/>
          <a:p>
            <a:pPr algn="ctr" indent="0" marL="0">
              <a:buNone/>
            </a:pPr>
            <a:r>
              <a:rPr lang="en-US" sz="1300" b="1" dirty="0">
                <a:solidFill>
                  <a:srgbClr val="1E2420"/>
                </a:solidFill>
                <a:latin typeface="Calibri" pitchFamily="34" charset="0"/>
                <a:ea typeface="Calibri" pitchFamily="34" charset="-122"/>
                <a:cs typeface="Calibri" pitchFamily="34" charset="-120"/>
              </a:rPr>
              <a:t>Adaptive</a:t>
            </a:r>
            <a:endParaRPr lang="en-US" sz="1300" dirty="0"/>
          </a:p>
        </p:txBody>
      </p:sp>
      <p:sp>
        <p:nvSpPr>
          <p:cNvPr id="15" name="Text 13"/>
          <p:cNvSpPr/>
          <p:nvPr/>
        </p:nvSpPr>
        <p:spPr>
          <a:xfrm>
            <a:off x="621792" y="6492240"/>
            <a:ext cx="3200400" cy="201168"/>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Property of Schneider Electric</a:t>
            </a:r>
            <a:endParaRPr lang="en-US" sz="850" dirty="0"/>
          </a:p>
        </p:txBody>
      </p:sp>
      <p:sp>
        <p:nvSpPr>
          <p:cNvPr id="16" name="Text 14"/>
          <p:cNvSpPr/>
          <p:nvPr/>
        </p:nvSpPr>
        <p:spPr>
          <a:xfrm>
            <a:off x="5181448" y="6492240"/>
            <a:ext cx="1828800" cy="201168"/>
          </a:xfrm>
          <a:prstGeom prst="rect">
            <a:avLst/>
          </a:prstGeom>
          <a:noFill/>
          <a:ln/>
        </p:spPr>
        <p:txBody>
          <a:bodyPr wrap="square" lIns="0" tIns="0" rIns="0" bIns="0" rtlCol="0" anchor="ctr"/>
          <a:lstStyle/>
          <a:p>
            <a:pPr algn="ctr" indent="0" marL="0">
              <a:buNone/>
            </a:pPr>
            <a:r>
              <a:rPr lang="en-US" sz="850" dirty="0">
                <a:solidFill>
                  <a:srgbClr val="5A625C"/>
                </a:solidFill>
                <a:latin typeface="Calibri" pitchFamily="34" charset="0"/>
                <a:ea typeface="Calibri" pitchFamily="34" charset="-122"/>
                <a:cs typeface="Calibri" pitchFamily="34" charset="-120"/>
              </a:rPr>
              <a:t>General</a:t>
            </a:r>
            <a:endParaRPr lang="en-US" sz="850" dirty="0"/>
          </a:p>
        </p:txBody>
      </p:sp>
      <p:sp>
        <p:nvSpPr>
          <p:cNvPr id="17" name="Text 15"/>
          <p:cNvSpPr/>
          <p:nvPr/>
        </p:nvSpPr>
        <p:spPr>
          <a:xfrm>
            <a:off x="8460943" y="6446520"/>
            <a:ext cx="3108960" cy="274320"/>
          </a:xfrm>
          <a:prstGeom prst="rect">
            <a:avLst/>
          </a:prstGeom>
          <a:noFill/>
          <a:ln/>
        </p:spPr>
        <p:txBody>
          <a:bodyPr wrap="square" lIns="0" tIns="0" rIns="0" bIns="0" rtlCol="0" anchor="ctr"/>
          <a:lstStyle/>
          <a:p>
            <a:pPr algn="r" indent="0" marL="0">
              <a:buNone/>
            </a:pPr>
            <a:r>
              <a:rPr lang="en-US" sz="1300" b="1" dirty="0">
                <a:solidFill>
                  <a:srgbClr val="3DCD58"/>
                </a:solidFill>
                <a:latin typeface="Calibri" pitchFamily="34" charset="0"/>
                <a:ea typeface="Calibri" pitchFamily="34" charset="-122"/>
                <a:cs typeface="Calibri" pitchFamily="34" charset="-120"/>
              </a:rPr>
              <a:t>SE </a:t>
            </a:r>
            <a:pPr algn="r" indent="0" marL="0">
              <a:buNone/>
            </a:pPr>
            <a:r>
              <a:rPr lang="en-US" sz="1300" b="1" dirty="0">
                <a:solidFill>
                  <a:srgbClr val="5A625C"/>
                </a:solidFill>
                <a:latin typeface="Calibri" pitchFamily="34" charset="0"/>
                <a:ea typeface="Calibri" pitchFamily="34" charset="-122"/>
                <a:cs typeface="Calibri" pitchFamily="34" charset="-120"/>
              </a:rPr>
              <a:t>ADVISORY SERVICES</a:t>
            </a:r>
            <a:endParaRPr lang="en-US" sz="1300" dirty="0"/>
          </a:p>
        </p:txBody>
      </p:sp>
      <p:sp>
        <p:nvSpPr>
          <p:cNvPr id="25" name="Slide Number Placeholder 0"/>
          <p:cNvSpPr>
            <a:spLocks noGrp="1"/>
          </p:cNvSpPr>
          <p:nvPr>
            <p:ph type="sldNum" sz="quarter" idx="4294967295"/>
          </p:nvPr>
        </p:nvSpPr>
        <p:spPr>
          <a:xfrm>
            <a:off x="10929823" y="617220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5848" cy="73152"/>
          </a:xfrm>
          <a:prstGeom prst="rect">
            <a:avLst/>
          </a:prstGeom>
          <a:solidFill>
            <a:srgbClr val="3DCD58"/>
          </a:solidFill>
          <a:ln w="12700">
            <a:solidFill>
              <a:srgbClr val="3DCD58">
                <a:alpha val="0"/>
              </a:srgbClr>
            </a:solidFill>
            <a:prstDash val="solid"/>
          </a:ln>
        </p:spPr>
      </p:sp>
      <p:sp>
        <p:nvSpPr>
          <p:cNvPr id="3" name="Text 1"/>
          <p:cNvSpPr/>
          <p:nvPr/>
        </p:nvSpPr>
        <p:spPr>
          <a:xfrm>
            <a:off x="621792" y="640080"/>
            <a:ext cx="10948111" cy="1051560"/>
          </a:xfrm>
          <a:prstGeom prst="rect">
            <a:avLst/>
          </a:prstGeom>
          <a:noFill/>
          <a:ln/>
        </p:spPr>
        <p:txBody>
          <a:bodyPr wrap="square" lIns="0" tIns="0" rIns="0" bIns="0" rtlCol="0" anchor="ctr">
            <a:normAutofit/>
          </a:bodyPr>
          <a:lstStyle/>
          <a:p>
            <a:pPr algn="ctr" indent="0" marL="0">
              <a:buNone/>
            </a:pPr>
            <a:r>
              <a:rPr lang="en-US" sz="3400" b="1" dirty="0">
                <a:solidFill>
                  <a:srgbClr val="1E2420"/>
                </a:solidFill>
                <a:latin typeface="Calibri" pitchFamily="34" charset="0"/>
                <a:ea typeface="Calibri" pitchFamily="34" charset="-122"/>
                <a:cs typeface="Calibri" pitchFamily="34" charset="-120"/>
              </a:rPr>
              <a:t>One Data Spine. Three Domains. Infinite Combinations.</a:t>
            </a:r>
            <a:endParaRPr lang="en-US" sz="3400" dirty="0"/>
          </a:p>
        </p:txBody>
      </p:sp>
      <p:sp>
        <p:nvSpPr>
          <p:cNvPr id="4" name="Text 2"/>
          <p:cNvSpPr/>
          <p:nvPr/>
        </p:nvSpPr>
        <p:spPr>
          <a:xfrm>
            <a:off x="1889608" y="1783080"/>
            <a:ext cx="8412480" cy="822960"/>
          </a:xfrm>
          <a:prstGeom prst="rect">
            <a:avLst/>
          </a:prstGeom>
          <a:noFill/>
          <a:ln/>
        </p:spPr>
        <p:txBody>
          <a:bodyPr wrap="square" lIns="0" tIns="0" rIns="0" bIns="0" rtlCol="0" anchor="t">
            <a:normAutofit/>
          </a:bodyPr>
          <a:lstStyle/>
          <a:p>
            <a:pPr algn="ctr" indent="0" marL="0">
              <a:buNone/>
            </a:pPr>
            <a:r>
              <a:rPr lang="en-US" sz="1250" dirty="0">
                <a:solidFill>
                  <a:srgbClr val="5A625C"/>
                </a:solidFill>
                <a:latin typeface="Calibri" pitchFamily="34" charset="0"/>
                <a:ea typeface="Calibri" pitchFamily="34" charset="-122"/>
                <a:cs typeface="Calibri" pitchFamily="34" charset="-120"/>
              </a:rPr>
              <a:t>Every domain runs on a common architecture and data model with seamless data flows between products: improved ingestion, transformation and quality, advanced dashboards and analytics with smart AI insights, and a consistent user experience.</a:t>
            </a:r>
            <a:endParaRPr lang="en-US" sz="1250" dirty="0"/>
          </a:p>
        </p:txBody>
      </p:sp>
      <p:sp>
        <p:nvSpPr>
          <p:cNvPr id="5" name="Shape 3"/>
          <p:cNvSpPr/>
          <p:nvPr/>
        </p:nvSpPr>
        <p:spPr>
          <a:xfrm>
            <a:off x="1889608" y="2880360"/>
            <a:ext cx="8412480" cy="960120"/>
          </a:xfrm>
          <a:prstGeom prst="roundRect">
            <a:avLst>
              <a:gd name="adj" fmla="val 5714"/>
            </a:avLst>
          </a:prstGeom>
          <a:solidFill>
            <a:srgbClr val="F7F8F7"/>
          </a:solidFill>
          <a:ln w="10160">
            <a:solidFill>
              <a:srgbClr val="E2E6E2"/>
            </a:solidFill>
            <a:prstDash val="solid"/>
          </a:ln>
        </p:spPr>
      </p:sp>
      <p:sp>
        <p:nvSpPr>
          <p:cNvPr id="6" name="Shape 4"/>
          <p:cNvSpPr/>
          <p:nvPr/>
        </p:nvSpPr>
        <p:spPr>
          <a:xfrm>
            <a:off x="2163928" y="3081528"/>
            <a:ext cx="566928" cy="566928"/>
          </a:xfrm>
          <a:prstGeom prst="roundRect">
            <a:avLst>
              <a:gd name="adj" fmla="val 9677"/>
            </a:avLst>
          </a:prstGeom>
          <a:solidFill>
            <a:srgbClr val="EAF8ED"/>
          </a:solidFill>
          <a:ln w="12700">
            <a:solidFill>
              <a:srgbClr val="EAF8ED"/>
            </a:solidFill>
            <a:prstDash val="solid"/>
          </a:ln>
        </p:spPr>
      </p:sp>
      <p:sp>
        <p:nvSpPr>
          <p:cNvPr id="7" name="Text 5"/>
          <p:cNvSpPr/>
          <p:nvPr/>
        </p:nvSpPr>
        <p:spPr>
          <a:xfrm>
            <a:off x="2163928" y="3081528"/>
            <a:ext cx="566928" cy="566928"/>
          </a:xfrm>
          <a:prstGeom prst="rect">
            <a:avLst/>
          </a:prstGeom>
          <a:noFill/>
          <a:ln/>
        </p:spPr>
        <p:txBody>
          <a:bodyPr wrap="square" lIns="0" tIns="0" rIns="0" bIns="0" rtlCol="0" anchor="ctr"/>
          <a:lstStyle/>
          <a:p>
            <a:pPr algn="ctr" indent="0" marL="0">
              <a:buNone/>
            </a:pPr>
            <a:r>
              <a:rPr lang="en-US" sz="1800" b="1" dirty="0">
                <a:solidFill>
                  <a:srgbClr val="3DCD58"/>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2895448" y="3026664"/>
            <a:ext cx="7132320" cy="329184"/>
          </a:xfrm>
          <a:prstGeom prst="rect">
            <a:avLst/>
          </a:prstGeom>
          <a:noFill/>
          <a:ln/>
        </p:spPr>
        <p:txBody>
          <a:bodyPr wrap="square" lIns="0" tIns="0" rIns="0" bIns="0" rtlCol="0" anchor="ctr">
            <a:normAutofit/>
          </a:bodyPr>
          <a:lstStyle/>
          <a:p>
            <a:pPr indent="0" marL="0">
              <a:buNone/>
            </a:pPr>
            <a:r>
              <a:rPr lang="en-US" sz="1700" b="1" dirty="0">
                <a:solidFill>
                  <a:srgbClr val="1E2420"/>
                </a:solidFill>
                <a:latin typeface="Calibri" pitchFamily="34" charset="0"/>
                <a:ea typeface="Calibri" pitchFamily="34" charset="-122"/>
                <a:cs typeface="Calibri" pitchFamily="34" charset="-120"/>
              </a:rPr>
              <a:t>Unified Data Foundation</a:t>
            </a:r>
            <a:endParaRPr lang="en-US" sz="1700" dirty="0"/>
          </a:p>
        </p:txBody>
      </p:sp>
      <p:sp>
        <p:nvSpPr>
          <p:cNvPr id="9" name="Text 7"/>
          <p:cNvSpPr/>
          <p:nvPr/>
        </p:nvSpPr>
        <p:spPr>
          <a:xfrm>
            <a:off x="2895448" y="3383280"/>
            <a:ext cx="7132320" cy="310896"/>
          </a:xfrm>
          <a:prstGeom prst="rect">
            <a:avLst/>
          </a:prstGeom>
          <a:noFill/>
          <a:ln/>
        </p:spPr>
        <p:txBody>
          <a:bodyPr wrap="square" lIns="0" tIns="0" rIns="0" bIns="0" rtlCol="0" anchor="ctr">
            <a:normAutofit/>
          </a:bodyPr>
          <a:lstStyle/>
          <a:p>
            <a:pPr indent="0" marL="0">
              <a:buNone/>
            </a:pPr>
            <a:r>
              <a:rPr lang="en-US" sz="1200" dirty="0">
                <a:solidFill>
                  <a:srgbClr val="5A625C"/>
                </a:solidFill>
                <a:latin typeface="Calibri" pitchFamily="34" charset="0"/>
                <a:ea typeface="Calibri" pitchFamily="34" charset="-122"/>
                <a:cs typeface="Calibri" pitchFamily="34" charset="-120"/>
              </a:rPr>
              <a:t>RA+ spine   ·   Sustainability graph   ·   Identity registry   ·   Common data model</a:t>
            </a:r>
            <a:endParaRPr lang="en-US" sz="1200" dirty="0"/>
          </a:p>
        </p:txBody>
      </p:sp>
      <p:sp>
        <p:nvSpPr>
          <p:cNvPr id="10" name="Shape 8"/>
          <p:cNvSpPr/>
          <p:nvPr/>
        </p:nvSpPr>
        <p:spPr>
          <a:xfrm>
            <a:off x="1889608" y="4059936"/>
            <a:ext cx="8412480" cy="960120"/>
          </a:xfrm>
          <a:prstGeom prst="roundRect">
            <a:avLst>
              <a:gd name="adj" fmla="val 5714"/>
            </a:avLst>
          </a:prstGeom>
          <a:solidFill>
            <a:srgbClr val="F7F8F7"/>
          </a:solidFill>
          <a:ln w="10160">
            <a:solidFill>
              <a:srgbClr val="E2E6E2"/>
            </a:solidFill>
            <a:prstDash val="solid"/>
          </a:ln>
        </p:spPr>
      </p:sp>
      <p:sp>
        <p:nvSpPr>
          <p:cNvPr id="11" name="Shape 9"/>
          <p:cNvSpPr/>
          <p:nvPr/>
        </p:nvSpPr>
        <p:spPr>
          <a:xfrm>
            <a:off x="2163928" y="4261104"/>
            <a:ext cx="566928" cy="566928"/>
          </a:xfrm>
          <a:prstGeom prst="roundRect">
            <a:avLst>
              <a:gd name="adj" fmla="val 9677"/>
            </a:avLst>
          </a:prstGeom>
          <a:solidFill>
            <a:srgbClr val="EAF8ED"/>
          </a:solidFill>
          <a:ln w="12700">
            <a:solidFill>
              <a:srgbClr val="EAF8ED"/>
            </a:solidFill>
            <a:prstDash val="solid"/>
          </a:ln>
        </p:spPr>
      </p:sp>
      <p:sp>
        <p:nvSpPr>
          <p:cNvPr id="12" name="Text 10"/>
          <p:cNvSpPr/>
          <p:nvPr/>
        </p:nvSpPr>
        <p:spPr>
          <a:xfrm>
            <a:off x="2163928" y="4261104"/>
            <a:ext cx="566928" cy="566928"/>
          </a:xfrm>
          <a:prstGeom prst="rect">
            <a:avLst/>
          </a:prstGeom>
          <a:noFill/>
          <a:ln/>
        </p:spPr>
        <p:txBody>
          <a:bodyPr wrap="square" lIns="0" tIns="0" rIns="0" bIns="0" rtlCol="0" anchor="ctr"/>
          <a:lstStyle/>
          <a:p>
            <a:pPr algn="ctr" indent="0" marL="0">
              <a:buNone/>
            </a:pPr>
            <a:r>
              <a:rPr lang="en-US" sz="1800" b="1" dirty="0">
                <a:solidFill>
                  <a:srgbClr val="3DCD58"/>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2895448" y="4206240"/>
            <a:ext cx="7132320" cy="329184"/>
          </a:xfrm>
          <a:prstGeom prst="rect">
            <a:avLst/>
          </a:prstGeom>
          <a:noFill/>
          <a:ln/>
        </p:spPr>
        <p:txBody>
          <a:bodyPr wrap="square" lIns="0" tIns="0" rIns="0" bIns="0" rtlCol="0" anchor="ctr">
            <a:normAutofit/>
          </a:bodyPr>
          <a:lstStyle/>
          <a:p>
            <a:pPr indent="0" marL="0">
              <a:buNone/>
            </a:pPr>
            <a:r>
              <a:rPr lang="en-US" sz="1700" b="1" dirty="0">
                <a:solidFill>
                  <a:srgbClr val="1E2420"/>
                </a:solidFill>
                <a:latin typeface="Calibri" pitchFamily="34" charset="0"/>
                <a:ea typeface="Calibri" pitchFamily="34" charset="-122"/>
                <a:cs typeface="Calibri" pitchFamily="34" charset="-120"/>
              </a:rPr>
              <a:t>Shared Intelligence Layer</a:t>
            </a:r>
            <a:endParaRPr lang="en-US" sz="1700" dirty="0"/>
          </a:p>
        </p:txBody>
      </p:sp>
      <p:sp>
        <p:nvSpPr>
          <p:cNvPr id="14" name="Text 12"/>
          <p:cNvSpPr/>
          <p:nvPr/>
        </p:nvSpPr>
        <p:spPr>
          <a:xfrm>
            <a:off x="2895448" y="4562856"/>
            <a:ext cx="7132320" cy="310896"/>
          </a:xfrm>
          <a:prstGeom prst="rect">
            <a:avLst/>
          </a:prstGeom>
          <a:noFill/>
          <a:ln/>
        </p:spPr>
        <p:txBody>
          <a:bodyPr wrap="square" lIns="0" tIns="0" rIns="0" bIns="0" rtlCol="0" anchor="ctr">
            <a:normAutofit/>
          </a:bodyPr>
          <a:lstStyle/>
          <a:p>
            <a:pPr indent="0" marL="0">
              <a:buNone/>
            </a:pPr>
            <a:r>
              <a:rPr lang="en-US" sz="1200" dirty="0">
                <a:solidFill>
                  <a:srgbClr val="5A625C"/>
                </a:solidFill>
                <a:latin typeface="Calibri" pitchFamily="34" charset="0"/>
                <a:ea typeface="Calibri" pitchFamily="34" charset="-122"/>
                <a:cs typeface="Calibri" pitchFamily="34" charset="-120"/>
              </a:rPr>
              <a:t>AI agents   ·   Recommendation engine   ·   Anomaly detection   ·   Forecasting models</a:t>
            </a:r>
            <a:endParaRPr lang="en-US" sz="1200" dirty="0"/>
          </a:p>
        </p:txBody>
      </p:sp>
      <p:sp>
        <p:nvSpPr>
          <p:cNvPr id="15" name="Shape 13"/>
          <p:cNvSpPr/>
          <p:nvPr/>
        </p:nvSpPr>
        <p:spPr>
          <a:xfrm>
            <a:off x="1889608" y="5239512"/>
            <a:ext cx="8412480" cy="960120"/>
          </a:xfrm>
          <a:prstGeom prst="roundRect">
            <a:avLst>
              <a:gd name="adj" fmla="val 5714"/>
            </a:avLst>
          </a:prstGeom>
          <a:solidFill>
            <a:srgbClr val="F7F8F7"/>
          </a:solidFill>
          <a:ln w="10160">
            <a:solidFill>
              <a:srgbClr val="E2E6E2"/>
            </a:solidFill>
            <a:prstDash val="solid"/>
          </a:ln>
        </p:spPr>
      </p:sp>
      <p:sp>
        <p:nvSpPr>
          <p:cNvPr id="16" name="Shape 14"/>
          <p:cNvSpPr/>
          <p:nvPr/>
        </p:nvSpPr>
        <p:spPr>
          <a:xfrm>
            <a:off x="2163928" y="5440680"/>
            <a:ext cx="566928" cy="566928"/>
          </a:xfrm>
          <a:prstGeom prst="roundRect">
            <a:avLst>
              <a:gd name="adj" fmla="val 9677"/>
            </a:avLst>
          </a:prstGeom>
          <a:solidFill>
            <a:srgbClr val="EAF8ED"/>
          </a:solidFill>
          <a:ln w="12700">
            <a:solidFill>
              <a:srgbClr val="EAF8ED"/>
            </a:solidFill>
            <a:prstDash val="solid"/>
          </a:ln>
        </p:spPr>
      </p:sp>
      <p:sp>
        <p:nvSpPr>
          <p:cNvPr id="17" name="Text 15"/>
          <p:cNvSpPr/>
          <p:nvPr/>
        </p:nvSpPr>
        <p:spPr>
          <a:xfrm>
            <a:off x="2163928" y="5440680"/>
            <a:ext cx="566928" cy="566928"/>
          </a:xfrm>
          <a:prstGeom prst="rect">
            <a:avLst/>
          </a:prstGeom>
          <a:noFill/>
          <a:ln/>
        </p:spPr>
        <p:txBody>
          <a:bodyPr wrap="square" lIns="0" tIns="0" rIns="0" bIns="0" rtlCol="0" anchor="ctr"/>
          <a:lstStyle/>
          <a:p>
            <a:pPr algn="ctr" indent="0" marL="0">
              <a:buNone/>
            </a:pPr>
            <a:r>
              <a:rPr lang="en-US" sz="1800" b="1" dirty="0">
                <a:solidFill>
                  <a:srgbClr val="3DCD58"/>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2895448" y="5385816"/>
            <a:ext cx="7132320" cy="329184"/>
          </a:xfrm>
          <a:prstGeom prst="rect">
            <a:avLst/>
          </a:prstGeom>
          <a:noFill/>
          <a:ln/>
        </p:spPr>
        <p:txBody>
          <a:bodyPr wrap="square" lIns="0" tIns="0" rIns="0" bIns="0" rtlCol="0" anchor="ctr">
            <a:normAutofit/>
          </a:bodyPr>
          <a:lstStyle/>
          <a:p>
            <a:pPr indent="0" marL="0">
              <a:buNone/>
            </a:pPr>
            <a:r>
              <a:rPr lang="en-US" sz="1700" b="1" dirty="0">
                <a:solidFill>
                  <a:srgbClr val="1E2420"/>
                </a:solidFill>
                <a:latin typeface="Calibri" pitchFamily="34" charset="0"/>
                <a:ea typeface="Calibri" pitchFamily="34" charset="-122"/>
                <a:cs typeface="Calibri" pitchFamily="34" charset="-120"/>
              </a:rPr>
              <a:t>Common Experience</a:t>
            </a:r>
            <a:endParaRPr lang="en-US" sz="1700" dirty="0"/>
          </a:p>
        </p:txBody>
      </p:sp>
      <p:sp>
        <p:nvSpPr>
          <p:cNvPr id="19" name="Text 17"/>
          <p:cNvSpPr/>
          <p:nvPr/>
        </p:nvSpPr>
        <p:spPr>
          <a:xfrm>
            <a:off x="2895448" y="5742432"/>
            <a:ext cx="7132320" cy="310896"/>
          </a:xfrm>
          <a:prstGeom prst="rect">
            <a:avLst/>
          </a:prstGeom>
          <a:noFill/>
          <a:ln/>
        </p:spPr>
        <p:txBody>
          <a:bodyPr wrap="square" lIns="0" tIns="0" rIns="0" bIns="0" rtlCol="0" anchor="ctr">
            <a:normAutofit/>
          </a:bodyPr>
          <a:lstStyle/>
          <a:p>
            <a:pPr indent="0" marL="0">
              <a:buNone/>
            </a:pPr>
            <a:r>
              <a:rPr lang="en-US" sz="1200" dirty="0">
                <a:solidFill>
                  <a:srgbClr val="5A625C"/>
                </a:solidFill>
                <a:latin typeface="Calibri" pitchFamily="34" charset="0"/>
                <a:ea typeface="Calibri" pitchFamily="34" charset="-122"/>
                <a:cs typeface="Calibri" pitchFamily="34" charset="-120"/>
              </a:rPr>
              <a:t>Product domains   ·   Dashboards   ·   Workflows   ·   Disclosures   ·   Client self-serve</a:t>
            </a:r>
            <a:endParaRPr lang="en-US" sz="12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3B25"/>
        </a:solidFill>
      </p:bgPr>
    </p:bg>
    <p:spTree>
      <p:nvGrpSpPr>
        <p:cNvPr id="1" name=""/>
        <p:cNvGrpSpPr/>
        <p:nvPr/>
      </p:nvGrpSpPr>
      <p:grpSpPr>
        <a:xfrm>
          <a:off x="0" y="0"/>
          <a:ext cx="0" cy="0"/>
          <a:chOff x="0" y="0"/>
          <a:chExt cx="0" cy="0"/>
        </a:xfrm>
      </p:grpSpPr>
      <p:sp>
        <p:nvSpPr>
          <p:cNvPr id="2" name="Text 0"/>
          <p:cNvSpPr/>
          <p:nvPr/>
        </p:nvSpPr>
        <p:spPr>
          <a:xfrm>
            <a:off x="621792" y="457200"/>
            <a:ext cx="10948111" cy="868680"/>
          </a:xfrm>
          <a:prstGeom prst="rect">
            <a:avLst/>
          </a:prstGeom>
          <a:noFill/>
          <a:ln/>
        </p:spPr>
        <p:txBody>
          <a:bodyPr wrap="square" lIns="0" tIns="0" rIns="0" bIns="0" rtlCol="0" anchor="ctr">
            <a:normAutofit/>
          </a:bodyPr>
          <a:lstStyle/>
          <a:p>
            <a:pPr algn="ctr" indent="0" marL="0">
              <a:buNone/>
            </a:pPr>
            <a:r>
              <a:rPr lang="en-US" sz="2600" b="1" dirty="0">
                <a:solidFill>
                  <a:srgbClr val="3DCD58"/>
                </a:solidFill>
                <a:latin typeface="Calibri" pitchFamily="34" charset="0"/>
                <a:ea typeface="Calibri" pitchFamily="34" charset="-122"/>
                <a:cs typeface="Calibri" pitchFamily="34" charset="-120"/>
              </a:rPr>
              <a:t>We're Building </a:t>
            </a:r>
            <a:pPr algn="ctr" indent="0" marL="0">
              <a:buNone/>
            </a:pPr>
            <a:r>
              <a:rPr lang="en-US" sz="2600" b="1" dirty="0">
                <a:solidFill>
                  <a:srgbClr val="FFFFFF"/>
                </a:solidFill>
                <a:latin typeface="Calibri" pitchFamily="34" charset="0"/>
                <a:ea typeface="Calibri" pitchFamily="34" charset="-122"/>
                <a:cs typeface="Calibri" pitchFamily="34" charset="-120"/>
              </a:rPr>
              <a:t>One</a:t>
            </a:r>
            <a:pPr algn="ctr" indent="0" marL="0">
              <a:buNone/>
            </a:pPr>
            <a:r>
              <a:rPr lang="en-US" sz="2600" b="1" dirty="0">
                <a:solidFill>
                  <a:srgbClr val="3DCD58"/>
                </a:solidFill>
                <a:latin typeface="Calibri" pitchFamily="34" charset="0"/>
                <a:ea typeface="Calibri" pitchFamily="34" charset="-122"/>
                <a:cs typeface="Calibri" pitchFamily="34" charset="-120"/>
              </a:rPr>
              <a:t> AI-Native Platform with Multiple Connected Products</a:t>
            </a:r>
            <a:endParaRPr lang="en-US" sz="2600" dirty="0"/>
          </a:p>
        </p:txBody>
      </p:sp>
      <p:sp>
        <p:nvSpPr>
          <p:cNvPr id="3" name="Text 1"/>
          <p:cNvSpPr/>
          <p:nvPr/>
        </p:nvSpPr>
        <p:spPr>
          <a:xfrm>
            <a:off x="621792" y="1463040"/>
            <a:ext cx="10948111" cy="548640"/>
          </a:xfrm>
          <a:prstGeom prst="rect">
            <a:avLst/>
          </a:prstGeom>
          <a:noFill/>
          <a:ln/>
        </p:spPr>
        <p:txBody>
          <a:bodyPr wrap="square" lIns="0" tIns="0" rIns="0" bIns="0" rtlCol="0" anchor="ctr"/>
          <a:lstStyle/>
          <a:p>
            <a:pPr algn="ctr" indent="0" marL="0">
              <a:buNone/>
            </a:pPr>
            <a:r>
              <a:rPr lang="en-US" sz="2700" spc="100" kern="0" dirty="0">
                <a:solidFill>
                  <a:srgbClr val="FFFFFF"/>
                </a:solidFill>
                <a:latin typeface="Calibri" pitchFamily="34" charset="0"/>
                <a:ea typeface="Calibri" pitchFamily="34" charset="-122"/>
                <a:cs typeface="Calibri" pitchFamily="34" charset="-120"/>
              </a:rPr>
              <a:t>RESOURCE </a:t>
            </a:r>
            <a:pPr algn="ctr" indent="0" marL="0">
              <a:buNone/>
            </a:pPr>
            <a:r>
              <a:rPr lang="en-US" sz="2700" b="1" spc="100" kern="0" dirty="0">
                <a:solidFill>
                  <a:srgbClr val="FFFFFF"/>
                </a:solidFill>
                <a:latin typeface="Calibri" pitchFamily="34" charset="0"/>
                <a:ea typeface="Calibri" pitchFamily="34" charset="-122"/>
                <a:cs typeface="Calibri" pitchFamily="34" charset="-120"/>
              </a:rPr>
              <a:t>ADVISOR</a:t>
            </a:r>
            <a:pPr algn="ctr" indent="0" marL="0">
              <a:buNone/>
            </a:pPr>
            <a:r>
              <a:rPr lang="en-US" sz="2700" b="1" baseline="30000" spc="100" kern="0" dirty="0">
                <a:solidFill>
                  <a:srgbClr val="FFFFFF"/>
                </a:solidFill>
                <a:latin typeface="Calibri" pitchFamily="34" charset="0"/>
                <a:ea typeface="Calibri" pitchFamily="34" charset="-122"/>
                <a:cs typeface="Calibri" pitchFamily="34" charset="-120"/>
              </a:rPr>
              <a:t>+</a:t>
            </a:r>
            <a:endParaRPr lang="en-US" sz="2700" dirty="0"/>
          </a:p>
        </p:txBody>
      </p:sp>
      <p:sp>
        <p:nvSpPr>
          <p:cNvPr id="4" name="Text 2"/>
          <p:cNvSpPr/>
          <p:nvPr/>
        </p:nvSpPr>
        <p:spPr>
          <a:xfrm>
            <a:off x="621792" y="2240280"/>
            <a:ext cx="3314090" cy="237744"/>
          </a:xfrm>
          <a:prstGeom prst="rect">
            <a:avLst/>
          </a:prstGeom>
          <a:noFill/>
          <a:ln/>
        </p:spPr>
        <p:txBody>
          <a:bodyPr wrap="square" lIns="0" tIns="0" rIns="0" bIns="0" rtlCol="0" anchor="ctr"/>
          <a:lstStyle/>
          <a:p>
            <a:pPr algn="ctr" indent="0" marL="0">
              <a:buNone/>
            </a:pPr>
            <a:r>
              <a:rPr lang="en-US" sz="1300" b="1" dirty="0">
                <a:solidFill>
                  <a:srgbClr val="CDFC57"/>
                </a:solidFill>
                <a:latin typeface="Calibri" pitchFamily="34" charset="0"/>
                <a:ea typeface="Calibri" pitchFamily="34" charset="-122"/>
                <a:cs typeface="Calibri" pitchFamily="34" charset="-120"/>
              </a:rPr>
              <a:t>Sustainability</a:t>
            </a:r>
            <a:endParaRPr lang="en-US" sz="1300" dirty="0"/>
          </a:p>
        </p:txBody>
      </p:sp>
      <p:sp>
        <p:nvSpPr>
          <p:cNvPr id="5" name="Text 3"/>
          <p:cNvSpPr/>
          <p:nvPr/>
        </p:nvSpPr>
        <p:spPr>
          <a:xfrm>
            <a:off x="621792" y="2478024"/>
            <a:ext cx="3314090"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6" name="Shape 4"/>
          <p:cNvSpPr/>
          <p:nvPr/>
        </p:nvSpPr>
        <p:spPr>
          <a:xfrm>
            <a:off x="621792" y="2743200"/>
            <a:ext cx="1583893" cy="1234440"/>
          </a:xfrm>
          <a:prstGeom prst="roundRect">
            <a:avLst>
              <a:gd name="adj" fmla="val 2963"/>
            </a:avLst>
          </a:prstGeom>
          <a:solidFill>
            <a:srgbClr val="0F4A2E"/>
          </a:solidFill>
          <a:ln w="13970">
            <a:solidFill>
              <a:srgbClr val="CDFC57"/>
            </a:solidFill>
            <a:prstDash val="solid"/>
          </a:ln>
        </p:spPr>
      </p:sp>
      <p:sp>
        <p:nvSpPr>
          <p:cNvPr id="7" name="Text 5"/>
          <p:cNvSpPr/>
          <p:nvPr/>
        </p:nvSpPr>
        <p:spPr>
          <a:xfrm>
            <a:off x="694944"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REPORTING &amp; COMPLIANCE</a:t>
            </a:r>
            <a:endParaRPr lang="en-US" sz="1100" dirty="0"/>
          </a:p>
        </p:txBody>
      </p:sp>
      <p:sp>
        <p:nvSpPr>
          <p:cNvPr id="8" name="Shape 6"/>
          <p:cNvSpPr/>
          <p:nvPr/>
        </p:nvSpPr>
        <p:spPr>
          <a:xfrm>
            <a:off x="2351989" y="2743200"/>
            <a:ext cx="1583893" cy="1234440"/>
          </a:xfrm>
          <a:prstGeom prst="roundRect">
            <a:avLst>
              <a:gd name="adj" fmla="val 2963"/>
            </a:avLst>
          </a:prstGeom>
          <a:solidFill>
            <a:srgbClr val="0F4A2E"/>
          </a:solidFill>
          <a:ln w="13970">
            <a:solidFill>
              <a:srgbClr val="CDFC57"/>
            </a:solidFill>
            <a:prstDash val="solid"/>
          </a:ln>
        </p:spPr>
      </p:sp>
      <p:sp>
        <p:nvSpPr>
          <p:cNvPr id="9" name="Text 7"/>
          <p:cNvSpPr/>
          <p:nvPr/>
        </p:nvSpPr>
        <p:spPr>
          <a:xfrm>
            <a:off x="2425141"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SUPPLY CHAIN</a:t>
            </a:r>
            <a:endParaRPr lang="en-US" sz="1100" dirty="0"/>
          </a:p>
        </p:txBody>
      </p:sp>
      <p:sp>
        <p:nvSpPr>
          <p:cNvPr id="10" name="Shape 8"/>
          <p:cNvSpPr/>
          <p:nvPr/>
        </p:nvSpPr>
        <p:spPr>
          <a:xfrm>
            <a:off x="621792" y="4123944"/>
            <a:ext cx="1583893" cy="1234440"/>
          </a:xfrm>
          <a:prstGeom prst="roundRect">
            <a:avLst>
              <a:gd name="adj" fmla="val 2963"/>
            </a:avLst>
          </a:prstGeom>
          <a:solidFill>
            <a:srgbClr val="0F4A2E"/>
          </a:solidFill>
          <a:ln w="13970">
            <a:solidFill>
              <a:srgbClr val="CDFC57"/>
            </a:solidFill>
            <a:prstDash val="solid"/>
          </a:ln>
        </p:spPr>
      </p:sp>
      <p:sp>
        <p:nvSpPr>
          <p:cNvPr id="11" name="Text 9"/>
          <p:cNvSpPr/>
          <p:nvPr/>
        </p:nvSpPr>
        <p:spPr>
          <a:xfrm>
            <a:off x="694944"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CLIMATE RISK</a:t>
            </a:r>
            <a:endParaRPr lang="en-US" sz="1100" dirty="0"/>
          </a:p>
        </p:txBody>
      </p:sp>
      <p:sp>
        <p:nvSpPr>
          <p:cNvPr id="12" name="Shape 10"/>
          <p:cNvSpPr/>
          <p:nvPr/>
        </p:nvSpPr>
        <p:spPr>
          <a:xfrm>
            <a:off x="2351989" y="4123944"/>
            <a:ext cx="1583893" cy="1234440"/>
          </a:xfrm>
          <a:prstGeom prst="roundRect">
            <a:avLst>
              <a:gd name="adj" fmla="val 2963"/>
            </a:avLst>
          </a:prstGeom>
          <a:solidFill>
            <a:srgbClr val="0F4A2E"/>
          </a:solidFill>
          <a:ln w="13970">
            <a:solidFill>
              <a:srgbClr val="CDFC57"/>
            </a:solidFill>
            <a:prstDash val="solid"/>
          </a:ln>
        </p:spPr>
      </p:sp>
      <p:sp>
        <p:nvSpPr>
          <p:cNvPr id="13" name="Text 11"/>
          <p:cNvSpPr/>
          <p:nvPr/>
        </p:nvSpPr>
        <p:spPr>
          <a:xfrm>
            <a:off x="2425141"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CARBON PERFORMANCE</a:t>
            </a:r>
            <a:endParaRPr lang="en-US" sz="1100" dirty="0"/>
          </a:p>
        </p:txBody>
      </p:sp>
      <p:sp>
        <p:nvSpPr>
          <p:cNvPr id="14" name="Text 12"/>
          <p:cNvSpPr/>
          <p:nvPr/>
        </p:nvSpPr>
        <p:spPr>
          <a:xfrm>
            <a:off x="4438802" y="2240280"/>
            <a:ext cx="3314090" cy="237744"/>
          </a:xfrm>
          <a:prstGeom prst="rect">
            <a:avLst/>
          </a:prstGeom>
          <a:noFill/>
          <a:ln/>
        </p:spPr>
        <p:txBody>
          <a:bodyPr wrap="square" lIns="0" tIns="0" rIns="0" bIns="0" rtlCol="0" anchor="ctr"/>
          <a:lstStyle/>
          <a:p>
            <a:pPr algn="ctr" indent="0" marL="0">
              <a:buNone/>
            </a:pPr>
            <a:r>
              <a:rPr lang="en-US" sz="1300" b="1" dirty="0">
                <a:solidFill>
                  <a:srgbClr val="3DCD58"/>
                </a:solidFill>
                <a:latin typeface="Calibri" pitchFamily="34" charset="0"/>
                <a:ea typeface="Calibri" pitchFamily="34" charset="-122"/>
                <a:cs typeface="Calibri" pitchFamily="34" charset="-120"/>
              </a:rPr>
              <a:t>Energy</a:t>
            </a:r>
            <a:endParaRPr lang="en-US" sz="1300" dirty="0"/>
          </a:p>
        </p:txBody>
      </p:sp>
      <p:sp>
        <p:nvSpPr>
          <p:cNvPr id="15" name="Text 13"/>
          <p:cNvSpPr/>
          <p:nvPr/>
        </p:nvSpPr>
        <p:spPr>
          <a:xfrm>
            <a:off x="4438802" y="2478024"/>
            <a:ext cx="3314090"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16" name="Shape 14"/>
          <p:cNvSpPr/>
          <p:nvPr/>
        </p:nvSpPr>
        <p:spPr>
          <a:xfrm>
            <a:off x="4438802" y="2743200"/>
            <a:ext cx="1583893" cy="1234440"/>
          </a:xfrm>
          <a:prstGeom prst="roundRect">
            <a:avLst>
              <a:gd name="adj" fmla="val 2963"/>
            </a:avLst>
          </a:prstGeom>
          <a:solidFill>
            <a:srgbClr val="0F4A2E"/>
          </a:solidFill>
          <a:ln w="13970">
            <a:solidFill>
              <a:srgbClr val="3DCD58"/>
            </a:solidFill>
            <a:prstDash val="solid"/>
          </a:ln>
        </p:spPr>
      </p:sp>
      <p:sp>
        <p:nvSpPr>
          <p:cNvPr id="17" name="Text 15"/>
          <p:cNvSpPr/>
          <p:nvPr/>
        </p:nvSpPr>
        <p:spPr>
          <a:xfrm>
            <a:off x="4511954"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UTILITY ACCOUNTING</a:t>
            </a:r>
            <a:endParaRPr lang="en-US" sz="1100" dirty="0"/>
          </a:p>
        </p:txBody>
      </p:sp>
      <p:sp>
        <p:nvSpPr>
          <p:cNvPr id="18" name="Shape 16"/>
          <p:cNvSpPr/>
          <p:nvPr/>
        </p:nvSpPr>
        <p:spPr>
          <a:xfrm>
            <a:off x="6169000" y="2743200"/>
            <a:ext cx="1583893" cy="1234440"/>
          </a:xfrm>
          <a:prstGeom prst="roundRect">
            <a:avLst>
              <a:gd name="adj" fmla="val 2963"/>
            </a:avLst>
          </a:prstGeom>
          <a:solidFill>
            <a:srgbClr val="0F4A2E"/>
          </a:solidFill>
          <a:ln w="13970">
            <a:solidFill>
              <a:srgbClr val="3DCD58"/>
            </a:solidFill>
            <a:prstDash val="solid"/>
          </a:ln>
        </p:spPr>
      </p:sp>
      <p:sp>
        <p:nvSpPr>
          <p:cNvPr id="19" name="Text 17"/>
          <p:cNvSpPr/>
          <p:nvPr/>
        </p:nvSpPr>
        <p:spPr>
          <a:xfrm>
            <a:off x="6242152"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ENERGY PROCUREMENT</a:t>
            </a:r>
            <a:endParaRPr lang="en-US" sz="1100" dirty="0"/>
          </a:p>
        </p:txBody>
      </p:sp>
      <p:sp>
        <p:nvSpPr>
          <p:cNvPr id="20" name="Shape 18"/>
          <p:cNvSpPr/>
          <p:nvPr/>
        </p:nvSpPr>
        <p:spPr>
          <a:xfrm>
            <a:off x="4438802" y="4123944"/>
            <a:ext cx="1583893" cy="1234440"/>
          </a:xfrm>
          <a:prstGeom prst="roundRect">
            <a:avLst>
              <a:gd name="adj" fmla="val 2963"/>
            </a:avLst>
          </a:prstGeom>
          <a:solidFill>
            <a:srgbClr val="0F4A2E"/>
          </a:solidFill>
          <a:ln w="13970">
            <a:solidFill>
              <a:srgbClr val="3DCD58"/>
            </a:solidFill>
            <a:prstDash val="solid"/>
          </a:ln>
        </p:spPr>
      </p:sp>
      <p:sp>
        <p:nvSpPr>
          <p:cNvPr id="21" name="Text 19"/>
          <p:cNvSpPr/>
          <p:nvPr/>
        </p:nvSpPr>
        <p:spPr>
          <a:xfrm>
            <a:off x="4511954"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RENEWABLE ENERGY</a:t>
            </a:r>
            <a:endParaRPr lang="en-US" sz="1100" dirty="0"/>
          </a:p>
        </p:txBody>
      </p:sp>
      <p:sp>
        <p:nvSpPr>
          <p:cNvPr id="22" name="Shape 20"/>
          <p:cNvSpPr/>
          <p:nvPr/>
        </p:nvSpPr>
        <p:spPr>
          <a:xfrm>
            <a:off x="6169000" y="4123944"/>
            <a:ext cx="1583893" cy="1234440"/>
          </a:xfrm>
          <a:prstGeom prst="roundRect">
            <a:avLst>
              <a:gd name="adj" fmla="val 2963"/>
            </a:avLst>
          </a:prstGeom>
          <a:solidFill>
            <a:srgbClr val="0F4A2E"/>
          </a:solidFill>
          <a:ln w="13970">
            <a:solidFill>
              <a:srgbClr val="3DCD58"/>
            </a:solidFill>
            <a:prstDash val="solid"/>
          </a:ln>
        </p:spPr>
      </p:sp>
      <p:sp>
        <p:nvSpPr>
          <p:cNvPr id="23" name="Text 21"/>
          <p:cNvSpPr/>
          <p:nvPr/>
        </p:nvSpPr>
        <p:spPr>
          <a:xfrm>
            <a:off x="6242152"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FUTURE PRODUCT</a:t>
            </a:r>
            <a:endParaRPr lang="en-US" sz="1100" dirty="0"/>
          </a:p>
        </p:txBody>
      </p:sp>
      <p:sp>
        <p:nvSpPr>
          <p:cNvPr id="24" name="Text 22"/>
          <p:cNvSpPr/>
          <p:nvPr/>
        </p:nvSpPr>
        <p:spPr>
          <a:xfrm>
            <a:off x="8255813" y="2240280"/>
            <a:ext cx="3314090" cy="237744"/>
          </a:xfrm>
          <a:prstGeom prst="rect">
            <a:avLst/>
          </a:prstGeom>
          <a:noFill/>
          <a:ln/>
        </p:spPr>
        <p:txBody>
          <a:bodyPr wrap="square" lIns="0" tIns="0" rIns="0" bIns="0" rtlCol="0" anchor="ctr"/>
          <a:lstStyle/>
          <a:p>
            <a:pPr algn="ctr" indent="0" marL="0">
              <a:buNone/>
            </a:pPr>
            <a:r>
              <a:rPr lang="en-US" sz="1300" b="1" dirty="0">
                <a:solidFill>
                  <a:srgbClr val="A0E7EE"/>
                </a:solidFill>
                <a:latin typeface="Calibri" pitchFamily="34" charset="0"/>
                <a:ea typeface="Calibri" pitchFamily="34" charset="-122"/>
                <a:cs typeface="Calibri" pitchFamily="34" charset="-120"/>
              </a:rPr>
              <a:t>Efficiency</a:t>
            </a:r>
            <a:endParaRPr lang="en-US" sz="1300" dirty="0"/>
          </a:p>
        </p:txBody>
      </p:sp>
      <p:sp>
        <p:nvSpPr>
          <p:cNvPr id="25" name="Text 23"/>
          <p:cNvSpPr/>
          <p:nvPr/>
        </p:nvSpPr>
        <p:spPr>
          <a:xfrm>
            <a:off x="8255813" y="2478024"/>
            <a:ext cx="3314090"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26" name="Shape 24"/>
          <p:cNvSpPr/>
          <p:nvPr/>
        </p:nvSpPr>
        <p:spPr>
          <a:xfrm>
            <a:off x="9120911" y="2743200"/>
            <a:ext cx="1583893" cy="1234440"/>
          </a:xfrm>
          <a:prstGeom prst="roundRect">
            <a:avLst>
              <a:gd name="adj" fmla="val 2963"/>
            </a:avLst>
          </a:prstGeom>
          <a:solidFill>
            <a:srgbClr val="0F4A2E"/>
          </a:solidFill>
          <a:ln w="13970">
            <a:solidFill>
              <a:srgbClr val="A0E7EE"/>
            </a:solidFill>
            <a:prstDash val="solid"/>
          </a:ln>
        </p:spPr>
      </p:sp>
      <p:sp>
        <p:nvSpPr>
          <p:cNvPr id="27" name="Text 25"/>
          <p:cNvSpPr/>
          <p:nvPr/>
        </p:nvSpPr>
        <p:spPr>
          <a:xfrm>
            <a:off x="9194063"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ENERGY EFFICIENCY</a:t>
            </a:r>
            <a:endParaRPr lang="en-US" sz="1100" dirty="0"/>
          </a:p>
        </p:txBody>
      </p:sp>
      <p:sp>
        <p:nvSpPr>
          <p:cNvPr id="28" name="Shape 26"/>
          <p:cNvSpPr/>
          <p:nvPr/>
        </p:nvSpPr>
        <p:spPr>
          <a:xfrm>
            <a:off x="9120911" y="4123944"/>
            <a:ext cx="1583893" cy="1234440"/>
          </a:xfrm>
          <a:prstGeom prst="roundRect">
            <a:avLst>
              <a:gd name="adj" fmla="val 2963"/>
            </a:avLst>
          </a:prstGeom>
          <a:solidFill>
            <a:srgbClr val="0F4A2E"/>
          </a:solidFill>
          <a:ln w="13970">
            <a:solidFill>
              <a:srgbClr val="A0E7EE"/>
            </a:solidFill>
            <a:prstDash val="solid"/>
          </a:ln>
        </p:spPr>
      </p:sp>
      <p:sp>
        <p:nvSpPr>
          <p:cNvPr id="29" name="Text 27"/>
          <p:cNvSpPr/>
          <p:nvPr/>
        </p:nvSpPr>
        <p:spPr>
          <a:xfrm>
            <a:off x="9194063"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FUTURE PRODUCT</a:t>
            </a:r>
            <a:endParaRPr lang="en-US" sz="1100" dirty="0"/>
          </a:p>
        </p:txBody>
      </p:sp>
      <p:sp>
        <p:nvSpPr>
          <p:cNvPr id="30" name="Text 28"/>
          <p:cNvSpPr/>
          <p:nvPr/>
        </p:nvSpPr>
        <p:spPr>
          <a:xfrm>
            <a:off x="8460943" y="6080760"/>
            <a:ext cx="3108960" cy="274320"/>
          </a:xfrm>
          <a:prstGeom prst="rect">
            <a:avLst/>
          </a:prstGeom>
          <a:noFill/>
          <a:ln/>
        </p:spPr>
        <p:txBody>
          <a:bodyPr wrap="square" lIns="0" tIns="0" rIns="0" bIns="0" rtlCol="0" anchor="ctr"/>
          <a:lstStyle/>
          <a:p>
            <a:pPr algn="r" indent="0" marL="0">
              <a:buNone/>
            </a:pPr>
            <a:r>
              <a:rPr lang="en-US" sz="1400" b="1" dirty="0">
                <a:solidFill>
                  <a:srgbClr val="3DCD58"/>
                </a:solidFill>
                <a:latin typeface="Calibri" pitchFamily="34" charset="0"/>
                <a:ea typeface="Calibri" pitchFamily="34" charset="-122"/>
                <a:cs typeface="Calibri" pitchFamily="34" charset="-120"/>
              </a:rPr>
              <a:t>SE </a:t>
            </a:r>
            <a:pPr algn="r" indent="0" marL="0">
              <a:buNone/>
            </a:pPr>
            <a:r>
              <a:rPr lang="en-US" sz="1400" dirty="0">
                <a:solidFill>
                  <a:srgbClr val="FFFFFF"/>
                </a:solidFill>
                <a:latin typeface="Calibri" pitchFamily="34" charset="0"/>
                <a:ea typeface="Calibri" pitchFamily="34" charset="-122"/>
                <a:cs typeface="Calibri" pitchFamily="34" charset="-120"/>
              </a:rPr>
              <a:t>ADVISORY SERVICES</a:t>
            </a:r>
            <a:endParaRPr lang="en-US" sz="14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5848" cy="73152"/>
          </a:xfrm>
          <a:prstGeom prst="rect">
            <a:avLst/>
          </a:prstGeom>
          <a:solidFill>
            <a:srgbClr val="3DCD58"/>
          </a:solidFill>
          <a:ln w="12700">
            <a:solidFill>
              <a:srgbClr val="3DCD58">
                <a:alpha val="0"/>
              </a:srgbClr>
            </a:solidFill>
            <a:prstDash val="solid"/>
          </a:ln>
        </p:spPr>
      </p:sp>
      <p:sp>
        <p:nvSpPr>
          <p:cNvPr id="3" name="Shape 1"/>
          <p:cNvSpPr/>
          <p:nvPr/>
        </p:nvSpPr>
        <p:spPr>
          <a:xfrm>
            <a:off x="4998568" y="502920"/>
            <a:ext cx="2194560" cy="329184"/>
          </a:xfrm>
          <a:prstGeom prst="roundRect">
            <a:avLst>
              <a:gd name="adj" fmla="val 50000"/>
            </a:avLst>
          </a:prstGeom>
          <a:solidFill>
            <a:srgbClr val="EAF8ED"/>
          </a:solidFill>
          <a:ln w="12700">
            <a:solidFill>
              <a:srgbClr val="EAF8ED"/>
            </a:solidFill>
            <a:prstDash val="solid"/>
          </a:ln>
        </p:spPr>
      </p:sp>
      <p:sp>
        <p:nvSpPr>
          <p:cNvPr id="4" name="Text 2"/>
          <p:cNvSpPr/>
          <p:nvPr/>
        </p:nvSpPr>
        <p:spPr>
          <a:xfrm>
            <a:off x="4998568" y="502920"/>
            <a:ext cx="2194560" cy="329184"/>
          </a:xfrm>
          <a:prstGeom prst="rect">
            <a:avLst/>
          </a:prstGeom>
          <a:noFill/>
          <a:ln/>
        </p:spPr>
        <p:txBody>
          <a:bodyPr wrap="square" lIns="0" tIns="0" rIns="0" bIns="0" rtlCol="0" anchor="ctr"/>
          <a:lstStyle/>
          <a:p>
            <a:pPr algn="ctr" indent="0" marL="0">
              <a:buNone/>
            </a:pPr>
            <a:r>
              <a:rPr lang="en-US" sz="1000" b="1" spc="100" kern="0" dirty="0">
                <a:solidFill>
                  <a:srgbClr val="3DCD58"/>
                </a:solidFill>
                <a:latin typeface="Calibri" pitchFamily="34" charset="0"/>
                <a:ea typeface="Calibri" pitchFamily="34" charset="-122"/>
                <a:cs typeface="Calibri" pitchFamily="34" charset="-120"/>
              </a:rPr>
              <a:t>DATA SPINE</a:t>
            </a:r>
            <a:endParaRPr lang="en-US" sz="1000" dirty="0"/>
          </a:p>
        </p:txBody>
      </p:sp>
      <p:sp>
        <p:nvSpPr>
          <p:cNvPr id="5" name="Text 3"/>
          <p:cNvSpPr/>
          <p:nvPr/>
        </p:nvSpPr>
        <p:spPr>
          <a:xfrm>
            <a:off x="621792" y="1005840"/>
            <a:ext cx="10948111" cy="868680"/>
          </a:xfrm>
          <a:prstGeom prst="rect">
            <a:avLst/>
          </a:prstGeom>
          <a:noFill/>
          <a:ln/>
        </p:spPr>
        <p:txBody>
          <a:bodyPr wrap="square" lIns="0" tIns="0" rIns="0" bIns="0" rtlCol="0" anchor="ctr">
            <a:normAutofit/>
          </a:bodyPr>
          <a:lstStyle/>
          <a:p>
            <a:pPr algn="ctr" indent="0" marL="0">
              <a:buNone/>
            </a:pPr>
            <a:r>
              <a:rPr lang="en-US" sz="3200" b="1" dirty="0">
                <a:solidFill>
                  <a:srgbClr val="1E2420"/>
                </a:solidFill>
                <a:latin typeface="Calibri" pitchFamily="34" charset="0"/>
                <a:ea typeface="Calibri" pitchFamily="34" charset="-122"/>
                <a:cs typeface="Calibri" pitchFamily="34" charset="-120"/>
              </a:rPr>
              <a:t>Metering &amp; Interval Data is the data spine</a:t>
            </a:r>
            <a:endParaRPr lang="en-US" sz="3200" dirty="0"/>
          </a:p>
        </p:txBody>
      </p:sp>
      <p:sp>
        <p:nvSpPr>
          <p:cNvPr id="6" name="Text 4"/>
          <p:cNvSpPr/>
          <p:nvPr/>
        </p:nvSpPr>
        <p:spPr>
          <a:xfrm>
            <a:off x="1889608" y="1874520"/>
            <a:ext cx="8412480" cy="457200"/>
          </a:xfrm>
          <a:prstGeom prst="rect">
            <a:avLst/>
          </a:prstGeom>
          <a:noFill/>
          <a:ln/>
        </p:spPr>
        <p:txBody>
          <a:bodyPr wrap="square" lIns="0" tIns="0" rIns="0" bIns="0" rtlCol="0" anchor="t">
            <a:normAutofit/>
          </a:bodyPr>
          <a:lstStyle/>
          <a:p>
            <a:pPr algn="ctr" indent="0" marL="0">
              <a:buNone/>
            </a:pPr>
            <a:r>
              <a:rPr lang="en-US" sz="1250" dirty="0">
                <a:solidFill>
                  <a:srgbClr val="5A625C"/>
                </a:solidFill>
                <a:latin typeface="Calibri" pitchFamily="34" charset="0"/>
                <a:ea typeface="Calibri" pitchFamily="34" charset="-122"/>
                <a:cs typeface="Calibri" pitchFamily="34" charset="-120"/>
              </a:rPr>
              <a:t>Interval-grade data feeds every granular use case on the platform.</a:t>
            </a:r>
            <a:endParaRPr lang="en-US" sz="1250" dirty="0"/>
          </a:p>
        </p:txBody>
      </p:sp>
      <p:sp>
        <p:nvSpPr>
          <p:cNvPr id="7" name="Shape 5"/>
          <p:cNvSpPr/>
          <p:nvPr/>
        </p:nvSpPr>
        <p:spPr>
          <a:xfrm>
            <a:off x="621792" y="2743200"/>
            <a:ext cx="2926080" cy="2377440"/>
          </a:xfrm>
          <a:prstGeom prst="roundRect">
            <a:avLst>
              <a:gd name="adj" fmla="val 4615"/>
            </a:avLst>
          </a:prstGeom>
          <a:solidFill>
            <a:srgbClr val="EAF8ED"/>
          </a:solidFill>
          <a:ln w="19050">
            <a:solidFill>
              <a:srgbClr val="3DCD58"/>
            </a:solidFill>
            <a:prstDash val="solid"/>
          </a:ln>
        </p:spPr>
      </p:sp>
      <p:sp>
        <p:nvSpPr>
          <p:cNvPr id="8" name="Text 6"/>
          <p:cNvSpPr/>
          <p:nvPr/>
        </p:nvSpPr>
        <p:spPr>
          <a:xfrm>
            <a:off x="621792" y="2926080"/>
            <a:ext cx="2926080" cy="274320"/>
          </a:xfrm>
          <a:prstGeom prst="rect">
            <a:avLst/>
          </a:prstGeom>
          <a:noFill/>
          <a:ln/>
        </p:spPr>
        <p:txBody>
          <a:bodyPr wrap="square" lIns="0" tIns="0" rIns="0" bIns="0" rtlCol="0" anchor="ctr"/>
          <a:lstStyle/>
          <a:p>
            <a:pPr algn="ctr" indent="0" marL="0">
              <a:buNone/>
            </a:pPr>
            <a:r>
              <a:rPr lang="en-US" sz="1000" b="1" spc="100" kern="0" dirty="0">
                <a:solidFill>
                  <a:srgbClr val="3DCD58"/>
                </a:solidFill>
                <a:latin typeface="Calibri" pitchFamily="34" charset="0"/>
                <a:ea typeface="Calibri" pitchFamily="34" charset="-122"/>
                <a:cs typeface="Calibri" pitchFamily="34" charset="-120"/>
              </a:rPr>
              <a:t>DATA SPINE</a:t>
            </a:r>
            <a:endParaRPr lang="en-US" sz="1000" dirty="0"/>
          </a:p>
        </p:txBody>
      </p:sp>
      <p:sp>
        <p:nvSpPr>
          <p:cNvPr id="9" name="Text 7"/>
          <p:cNvSpPr/>
          <p:nvPr/>
        </p:nvSpPr>
        <p:spPr>
          <a:xfrm>
            <a:off x="621792" y="3246120"/>
            <a:ext cx="2926080" cy="502920"/>
          </a:xfrm>
          <a:prstGeom prst="rect">
            <a:avLst/>
          </a:prstGeom>
          <a:noFill/>
          <a:ln/>
        </p:spPr>
        <p:txBody>
          <a:bodyPr wrap="square" lIns="0" tIns="0" rIns="0" bIns="0" rtlCol="0" anchor="ctr">
            <a:normAutofit/>
          </a:bodyPr>
          <a:lstStyle/>
          <a:p>
            <a:pPr algn="ctr" indent="0" marL="0">
              <a:buNone/>
            </a:pPr>
            <a:r>
              <a:rPr lang="en-US" sz="1700" b="1" dirty="0">
                <a:solidFill>
                  <a:srgbClr val="1E2420"/>
                </a:solidFill>
                <a:latin typeface="Calibri" pitchFamily="34" charset="0"/>
                <a:ea typeface="Calibri" pitchFamily="34" charset="-122"/>
                <a:cs typeface="Calibri" pitchFamily="34" charset="-120"/>
              </a:rPr>
              <a:t>Metering &amp; Interval Data</a:t>
            </a:r>
            <a:endParaRPr lang="en-US" sz="1700" dirty="0"/>
          </a:p>
        </p:txBody>
      </p:sp>
      <p:sp>
        <p:nvSpPr>
          <p:cNvPr id="10" name="Text 8"/>
          <p:cNvSpPr/>
          <p:nvPr/>
        </p:nvSpPr>
        <p:spPr>
          <a:xfrm>
            <a:off x="804672" y="3794760"/>
            <a:ext cx="2560320" cy="1097280"/>
          </a:xfrm>
          <a:prstGeom prst="rect">
            <a:avLst/>
          </a:prstGeom>
          <a:noFill/>
          <a:ln/>
        </p:spPr>
        <p:txBody>
          <a:bodyPr wrap="square" lIns="0" tIns="0" rIns="0" bIns="0" rtlCol="0" anchor="ctr"/>
          <a:lstStyle/>
          <a:p>
            <a:pPr algn="ctr" indent="0" marL="0">
              <a:lnSpc>
                <a:spcPct val="135000"/>
              </a:lnSpc>
              <a:buNone/>
            </a:pPr>
            <a:r>
              <a:rPr lang="en-US" sz="1100" dirty="0">
                <a:solidFill>
                  <a:srgbClr val="5A625C"/>
                </a:solidFill>
                <a:latin typeface="Calibri" pitchFamily="34" charset="0"/>
                <a:ea typeface="Calibri" pitchFamily="34" charset="-122"/>
                <a:cs typeface="Calibri" pitchFamily="34" charset="-120"/>
              </a:rPr>
              <a:t>Interval data capture</a:t>
            </a:r>
            <a:endParaRPr lang="en-US" sz="1100" dirty="0"/>
          </a:p>
          <a:p>
            <a:pPr algn="ctr" indent="0" marL="0">
              <a:lnSpc>
                <a:spcPct val="135000"/>
              </a:lnSpc>
              <a:buNone/>
            </a:pPr>
            <a:r>
              <a:rPr lang="en-US" sz="1100" dirty="0">
                <a:solidFill>
                  <a:srgbClr val="5A625C"/>
                </a:solidFill>
                <a:latin typeface="Calibri" pitchFamily="34" charset="0"/>
                <a:ea typeface="Calibri" pitchFamily="34" charset="-122"/>
                <a:cs typeface="Calibri" pitchFamily="34" charset="-120"/>
              </a:rPr>
              <a:t>M&amp;V baselines</a:t>
            </a:r>
            <a:endParaRPr lang="en-US" sz="1100" dirty="0"/>
          </a:p>
          <a:p>
            <a:pPr algn="ctr" indent="0" marL="0">
              <a:lnSpc>
                <a:spcPct val="135000"/>
              </a:lnSpc>
              <a:buNone/>
            </a:pPr>
            <a:r>
              <a:rPr lang="en-US" sz="1100" dirty="0">
                <a:solidFill>
                  <a:srgbClr val="5A625C"/>
                </a:solidFill>
                <a:latin typeface="Calibri" pitchFamily="34" charset="0"/>
                <a:ea typeface="Calibri" pitchFamily="34" charset="-122"/>
                <a:cs typeface="Calibri" pitchFamily="34" charset="-120"/>
              </a:rPr>
              <a:t>Utility connectivity</a:t>
            </a:r>
            <a:endParaRPr lang="en-US" sz="1100" dirty="0"/>
          </a:p>
          <a:p>
            <a:pPr algn="ctr" indent="0" marL="0">
              <a:lnSpc>
                <a:spcPct val="135000"/>
              </a:lnSpc>
              <a:buNone/>
            </a:pPr>
            <a:r>
              <a:rPr lang="en-US" sz="1100" dirty="0">
                <a:solidFill>
                  <a:srgbClr val="5A625C"/>
                </a:solidFill>
                <a:latin typeface="Calibri" pitchFamily="34" charset="0"/>
                <a:ea typeface="Calibri" pitchFamily="34" charset="-122"/>
                <a:cs typeface="Calibri" pitchFamily="34" charset="-120"/>
              </a:rPr>
              <a:t>Granular signals</a:t>
            </a:r>
            <a:endParaRPr lang="en-US" sz="1100" dirty="0"/>
          </a:p>
        </p:txBody>
      </p:sp>
      <p:sp>
        <p:nvSpPr>
          <p:cNvPr id="11" name="Shape 9"/>
          <p:cNvSpPr/>
          <p:nvPr/>
        </p:nvSpPr>
        <p:spPr>
          <a:xfrm>
            <a:off x="3685032" y="3931920"/>
            <a:ext cx="640080" cy="0"/>
          </a:xfrm>
          <a:prstGeom prst="line">
            <a:avLst/>
          </a:prstGeom>
          <a:noFill/>
          <a:ln w="19050">
            <a:solidFill>
              <a:srgbClr val="3DCD58"/>
            </a:solidFill>
            <a:prstDash val="solid"/>
            <a:tailEnd type="arrow"/>
          </a:ln>
        </p:spPr>
      </p:sp>
      <p:sp>
        <p:nvSpPr>
          <p:cNvPr id="12" name="Shape 10"/>
          <p:cNvSpPr/>
          <p:nvPr/>
        </p:nvSpPr>
        <p:spPr>
          <a:xfrm>
            <a:off x="4462272" y="2331720"/>
            <a:ext cx="4114800" cy="1051560"/>
          </a:xfrm>
          <a:prstGeom prst="roundRect">
            <a:avLst>
              <a:gd name="adj" fmla="val 6957"/>
            </a:avLst>
          </a:prstGeom>
          <a:solidFill>
            <a:srgbClr val="F7F8F7"/>
          </a:solidFill>
          <a:ln w="10160">
            <a:solidFill>
              <a:srgbClr val="E2E6E2"/>
            </a:solidFill>
            <a:prstDash val="solid"/>
          </a:ln>
        </p:spPr>
      </p:sp>
      <p:sp>
        <p:nvSpPr>
          <p:cNvPr id="13" name="Text 11"/>
          <p:cNvSpPr/>
          <p:nvPr/>
        </p:nvSpPr>
        <p:spPr>
          <a:xfrm>
            <a:off x="4645152" y="2441448"/>
            <a:ext cx="3749040" cy="292608"/>
          </a:xfrm>
          <a:prstGeom prst="rect">
            <a:avLst/>
          </a:prstGeom>
          <a:noFill/>
          <a:ln/>
        </p:spPr>
        <p:txBody>
          <a:bodyPr wrap="square" lIns="0" tIns="0" rIns="0" bIns="0" rtlCol="0" anchor="ctr">
            <a:normAutofit/>
          </a:bodyPr>
          <a:lstStyle/>
          <a:p>
            <a:pPr indent="0" marL="0">
              <a:buNone/>
            </a:pPr>
            <a:r>
              <a:rPr lang="en-US" sz="1300" b="1" dirty="0">
                <a:solidFill>
                  <a:srgbClr val="1E2420"/>
                </a:solidFill>
                <a:latin typeface="Calibri" pitchFamily="34" charset="0"/>
                <a:ea typeface="Calibri" pitchFamily="34" charset="-122"/>
                <a:cs typeface="Calibri" pitchFamily="34" charset="-120"/>
              </a:rPr>
              <a:t>Granular Carbon Performance</a:t>
            </a:r>
            <a:endParaRPr lang="en-US" sz="1300" dirty="0"/>
          </a:p>
        </p:txBody>
      </p:sp>
      <p:sp>
        <p:nvSpPr>
          <p:cNvPr id="14" name="Text 12"/>
          <p:cNvSpPr/>
          <p:nvPr/>
        </p:nvSpPr>
        <p:spPr>
          <a:xfrm>
            <a:off x="4645152" y="2788920"/>
            <a:ext cx="3749040" cy="438912"/>
          </a:xfrm>
          <a:prstGeom prst="rect">
            <a:avLst/>
          </a:prstGeom>
          <a:noFill/>
          <a:ln/>
        </p:spPr>
        <p:txBody>
          <a:bodyPr wrap="square" lIns="0" tIns="0" rIns="0" bIns="0" rtlCol="0" anchor="ctr">
            <a:normAutofit/>
          </a:bodyPr>
          <a:lstStyle/>
          <a:p>
            <a:pPr indent="0" marL="0">
              <a:buNone/>
            </a:pPr>
            <a:r>
              <a:rPr lang="en-US" sz="1050" dirty="0">
                <a:solidFill>
                  <a:srgbClr val="5A625C"/>
                </a:solidFill>
                <a:latin typeface="Calibri" pitchFamily="34" charset="0"/>
                <a:ea typeface="Calibri" pitchFamily="34" charset="-122"/>
                <a:cs typeface="Calibri" pitchFamily="34" charset="-120"/>
              </a:rPr>
              <a:t>Hourly emissions   ·   Activity-based factors   ·   Scope 3 hotspot mapping</a:t>
            </a:r>
            <a:endParaRPr lang="en-US" sz="1050" dirty="0"/>
          </a:p>
        </p:txBody>
      </p:sp>
      <p:sp>
        <p:nvSpPr>
          <p:cNvPr id="15" name="Shape 13"/>
          <p:cNvSpPr/>
          <p:nvPr/>
        </p:nvSpPr>
        <p:spPr>
          <a:xfrm>
            <a:off x="4325112" y="3931920"/>
            <a:ext cx="91440" cy="-1074420"/>
          </a:xfrm>
          <a:prstGeom prst="line">
            <a:avLst/>
          </a:prstGeom>
          <a:noFill/>
          <a:ln w="12700">
            <a:solidFill>
              <a:srgbClr val="3DCD58"/>
            </a:solidFill>
            <a:prstDash val="dash"/>
          </a:ln>
        </p:spPr>
      </p:sp>
      <p:sp>
        <p:nvSpPr>
          <p:cNvPr id="16" name="Shape 14"/>
          <p:cNvSpPr/>
          <p:nvPr/>
        </p:nvSpPr>
        <p:spPr>
          <a:xfrm>
            <a:off x="4462272" y="3584448"/>
            <a:ext cx="4114800" cy="1051560"/>
          </a:xfrm>
          <a:prstGeom prst="roundRect">
            <a:avLst>
              <a:gd name="adj" fmla="val 6957"/>
            </a:avLst>
          </a:prstGeom>
          <a:solidFill>
            <a:srgbClr val="F7F8F7"/>
          </a:solidFill>
          <a:ln w="10160">
            <a:solidFill>
              <a:srgbClr val="E2E6E2"/>
            </a:solidFill>
            <a:prstDash val="solid"/>
          </a:ln>
        </p:spPr>
      </p:sp>
      <p:sp>
        <p:nvSpPr>
          <p:cNvPr id="17" name="Text 15"/>
          <p:cNvSpPr/>
          <p:nvPr/>
        </p:nvSpPr>
        <p:spPr>
          <a:xfrm>
            <a:off x="4645152" y="3694176"/>
            <a:ext cx="3749040" cy="292608"/>
          </a:xfrm>
          <a:prstGeom prst="rect">
            <a:avLst/>
          </a:prstGeom>
          <a:noFill/>
          <a:ln/>
        </p:spPr>
        <p:txBody>
          <a:bodyPr wrap="square" lIns="0" tIns="0" rIns="0" bIns="0" rtlCol="0" anchor="ctr">
            <a:normAutofit/>
          </a:bodyPr>
          <a:lstStyle/>
          <a:p>
            <a:pPr indent="0" marL="0">
              <a:buNone/>
            </a:pPr>
            <a:r>
              <a:rPr lang="en-US" sz="1300" b="1" dirty="0">
                <a:solidFill>
                  <a:srgbClr val="1E2420"/>
                </a:solidFill>
                <a:latin typeface="Calibri" pitchFamily="34" charset="0"/>
                <a:ea typeface="Calibri" pitchFamily="34" charset="-122"/>
                <a:cs typeface="Calibri" pitchFamily="34" charset="-120"/>
              </a:rPr>
              <a:t>Energy Efficiency</a:t>
            </a:r>
            <a:endParaRPr lang="en-US" sz="1300" dirty="0"/>
          </a:p>
        </p:txBody>
      </p:sp>
      <p:sp>
        <p:nvSpPr>
          <p:cNvPr id="18" name="Text 16"/>
          <p:cNvSpPr/>
          <p:nvPr/>
        </p:nvSpPr>
        <p:spPr>
          <a:xfrm>
            <a:off x="4645152" y="4041648"/>
            <a:ext cx="3749040" cy="438912"/>
          </a:xfrm>
          <a:prstGeom prst="rect">
            <a:avLst/>
          </a:prstGeom>
          <a:noFill/>
          <a:ln/>
        </p:spPr>
        <p:txBody>
          <a:bodyPr wrap="square" lIns="0" tIns="0" rIns="0" bIns="0" rtlCol="0" anchor="ctr">
            <a:normAutofit/>
          </a:bodyPr>
          <a:lstStyle/>
          <a:p>
            <a:pPr indent="0" marL="0">
              <a:buNone/>
            </a:pPr>
            <a:r>
              <a:rPr lang="en-US" sz="1050" dirty="0">
                <a:solidFill>
                  <a:srgbClr val="5A625C"/>
                </a:solidFill>
                <a:latin typeface="Calibri" pitchFamily="34" charset="0"/>
                <a:ea typeface="Calibri" pitchFamily="34" charset="-122"/>
                <a:cs typeface="Calibri" pitchFamily="34" charset="-120"/>
              </a:rPr>
              <a:t>Baseline calibration   ·   Verified savings   ·   ECM targeting</a:t>
            </a:r>
            <a:endParaRPr lang="en-US" sz="1050" dirty="0"/>
          </a:p>
        </p:txBody>
      </p:sp>
      <p:sp>
        <p:nvSpPr>
          <p:cNvPr id="19" name="Shape 17"/>
          <p:cNvSpPr/>
          <p:nvPr/>
        </p:nvSpPr>
        <p:spPr>
          <a:xfrm>
            <a:off x="4325112" y="3931920"/>
            <a:ext cx="91440" cy="178308"/>
          </a:xfrm>
          <a:prstGeom prst="line">
            <a:avLst/>
          </a:prstGeom>
          <a:noFill/>
          <a:ln w="12700">
            <a:solidFill>
              <a:srgbClr val="3DCD58"/>
            </a:solidFill>
            <a:prstDash val="dash"/>
          </a:ln>
        </p:spPr>
      </p:sp>
      <p:sp>
        <p:nvSpPr>
          <p:cNvPr id="20" name="Shape 18"/>
          <p:cNvSpPr/>
          <p:nvPr/>
        </p:nvSpPr>
        <p:spPr>
          <a:xfrm>
            <a:off x="4462272" y="4837176"/>
            <a:ext cx="4114800" cy="1051560"/>
          </a:xfrm>
          <a:prstGeom prst="roundRect">
            <a:avLst>
              <a:gd name="adj" fmla="val 6957"/>
            </a:avLst>
          </a:prstGeom>
          <a:solidFill>
            <a:srgbClr val="F7F8F7"/>
          </a:solidFill>
          <a:ln w="10160">
            <a:solidFill>
              <a:srgbClr val="E2E6E2"/>
            </a:solidFill>
            <a:prstDash val="solid"/>
          </a:ln>
        </p:spPr>
      </p:sp>
      <p:sp>
        <p:nvSpPr>
          <p:cNvPr id="21" name="Text 19"/>
          <p:cNvSpPr/>
          <p:nvPr/>
        </p:nvSpPr>
        <p:spPr>
          <a:xfrm>
            <a:off x="4645152" y="4946904"/>
            <a:ext cx="3749040" cy="292608"/>
          </a:xfrm>
          <a:prstGeom prst="rect">
            <a:avLst/>
          </a:prstGeom>
          <a:noFill/>
          <a:ln/>
        </p:spPr>
        <p:txBody>
          <a:bodyPr wrap="square" lIns="0" tIns="0" rIns="0" bIns="0" rtlCol="0" anchor="ctr">
            <a:normAutofit/>
          </a:bodyPr>
          <a:lstStyle/>
          <a:p>
            <a:pPr indent="0" marL="0">
              <a:buNone/>
            </a:pPr>
            <a:r>
              <a:rPr lang="en-US" sz="1300" b="1" dirty="0">
                <a:solidFill>
                  <a:srgbClr val="1E2420"/>
                </a:solidFill>
                <a:latin typeface="Calibri" pitchFamily="34" charset="0"/>
                <a:ea typeface="Calibri" pitchFamily="34" charset="-122"/>
                <a:cs typeface="Calibri" pitchFamily="34" charset="-120"/>
              </a:rPr>
              <a:t>Energy Portfolio Management</a:t>
            </a:r>
            <a:endParaRPr lang="en-US" sz="1300" dirty="0"/>
          </a:p>
        </p:txBody>
      </p:sp>
      <p:sp>
        <p:nvSpPr>
          <p:cNvPr id="22" name="Text 20"/>
          <p:cNvSpPr/>
          <p:nvPr/>
        </p:nvSpPr>
        <p:spPr>
          <a:xfrm>
            <a:off x="4645152" y="5294376"/>
            <a:ext cx="3749040" cy="438912"/>
          </a:xfrm>
          <a:prstGeom prst="rect">
            <a:avLst/>
          </a:prstGeom>
          <a:noFill/>
          <a:ln/>
        </p:spPr>
        <p:txBody>
          <a:bodyPr wrap="square" lIns="0" tIns="0" rIns="0" bIns="0" rtlCol="0" anchor="ctr">
            <a:normAutofit/>
          </a:bodyPr>
          <a:lstStyle/>
          <a:p>
            <a:pPr indent="0" marL="0">
              <a:buNone/>
            </a:pPr>
            <a:r>
              <a:rPr lang="en-US" sz="1050" dirty="0">
                <a:solidFill>
                  <a:srgbClr val="5A625C"/>
                </a:solidFill>
                <a:latin typeface="Calibri" pitchFamily="34" charset="0"/>
                <a:ea typeface="Calibri" pitchFamily="34" charset="-122"/>
                <a:cs typeface="Calibri" pitchFamily="34" charset="-120"/>
              </a:rPr>
              <a:t>Invoice validation   ·   Budgets and reforecasts   ·   Variance explained</a:t>
            </a:r>
            <a:endParaRPr lang="en-US" sz="1050" dirty="0"/>
          </a:p>
        </p:txBody>
      </p:sp>
      <p:sp>
        <p:nvSpPr>
          <p:cNvPr id="23" name="Shape 21"/>
          <p:cNvSpPr/>
          <p:nvPr/>
        </p:nvSpPr>
        <p:spPr>
          <a:xfrm>
            <a:off x="4325112" y="3931920"/>
            <a:ext cx="91440" cy="1431036"/>
          </a:xfrm>
          <a:prstGeom prst="line">
            <a:avLst/>
          </a:prstGeom>
          <a:noFill/>
          <a:ln w="12700">
            <a:solidFill>
              <a:srgbClr val="3DCD58"/>
            </a:solidFill>
            <a:prstDash val="dash"/>
          </a:ln>
        </p:spPr>
      </p:sp>
      <p:sp>
        <p:nvSpPr>
          <p:cNvPr id="24" name="Shape 22"/>
          <p:cNvSpPr/>
          <p:nvPr/>
        </p:nvSpPr>
        <p:spPr>
          <a:xfrm>
            <a:off x="4462272" y="6089904"/>
            <a:ext cx="4114800" cy="1051560"/>
          </a:xfrm>
          <a:prstGeom prst="roundRect">
            <a:avLst>
              <a:gd name="adj" fmla="val 6957"/>
            </a:avLst>
          </a:prstGeom>
          <a:solidFill>
            <a:srgbClr val="F7F8F7"/>
          </a:solidFill>
          <a:ln w="10160">
            <a:solidFill>
              <a:srgbClr val="E2E6E2"/>
            </a:solidFill>
            <a:prstDash val="solid"/>
          </a:ln>
        </p:spPr>
      </p:sp>
      <p:sp>
        <p:nvSpPr>
          <p:cNvPr id="25" name="Text 23"/>
          <p:cNvSpPr/>
          <p:nvPr/>
        </p:nvSpPr>
        <p:spPr>
          <a:xfrm>
            <a:off x="4645152" y="6199632"/>
            <a:ext cx="3749040" cy="292608"/>
          </a:xfrm>
          <a:prstGeom prst="rect">
            <a:avLst/>
          </a:prstGeom>
          <a:noFill/>
          <a:ln/>
        </p:spPr>
        <p:txBody>
          <a:bodyPr wrap="square" lIns="0" tIns="0" rIns="0" bIns="0" rtlCol="0" anchor="ctr">
            <a:normAutofit/>
          </a:bodyPr>
          <a:lstStyle/>
          <a:p>
            <a:pPr indent="0" marL="0">
              <a:buNone/>
            </a:pPr>
            <a:r>
              <a:rPr lang="en-US" sz="1300" b="1" dirty="0">
                <a:solidFill>
                  <a:srgbClr val="1E2420"/>
                </a:solidFill>
                <a:latin typeface="Calibri" pitchFamily="34" charset="0"/>
                <a:ea typeface="Calibri" pitchFamily="34" charset="-122"/>
                <a:cs typeface="Calibri" pitchFamily="34" charset="-120"/>
              </a:rPr>
              <a:t>Demand Response &amp; Flexibility</a:t>
            </a:r>
            <a:endParaRPr lang="en-US" sz="1300" dirty="0"/>
          </a:p>
        </p:txBody>
      </p:sp>
      <p:sp>
        <p:nvSpPr>
          <p:cNvPr id="26" name="Text 24"/>
          <p:cNvSpPr/>
          <p:nvPr/>
        </p:nvSpPr>
        <p:spPr>
          <a:xfrm>
            <a:off x="4645152" y="6547104"/>
            <a:ext cx="3749040" cy="438912"/>
          </a:xfrm>
          <a:prstGeom prst="rect">
            <a:avLst/>
          </a:prstGeom>
          <a:noFill/>
          <a:ln/>
        </p:spPr>
        <p:txBody>
          <a:bodyPr wrap="square" lIns="0" tIns="0" rIns="0" bIns="0" rtlCol="0" anchor="ctr">
            <a:normAutofit/>
          </a:bodyPr>
          <a:lstStyle/>
          <a:p>
            <a:pPr indent="0" marL="0">
              <a:buNone/>
            </a:pPr>
            <a:r>
              <a:rPr lang="en-US" sz="1050" dirty="0">
                <a:solidFill>
                  <a:srgbClr val="5A625C"/>
                </a:solidFill>
                <a:latin typeface="Calibri" pitchFamily="34" charset="0"/>
                <a:ea typeface="Calibri" pitchFamily="34" charset="-122"/>
                <a:cs typeface="Calibri" pitchFamily="34" charset="-120"/>
              </a:rPr>
              <a:t>Peak shaving   ·   Grid signals   ·   Flexibility monetization</a:t>
            </a:r>
            <a:endParaRPr lang="en-US" sz="1050" dirty="0"/>
          </a:p>
        </p:txBody>
      </p:sp>
      <p:sp>
        <p:nvSpPr>
          <p:cNvPr id="27" name="Shape 25"/>
          <p:cNvSpPr/>
          <p:nvPr/>
        </p:nvSpPr>
        <p:spPr>
          <a:xfrm>
            <a:off x="4325112" y="3931920"/>
            <a:ext cx="91440" cy="2683764"/>
          </a:xfrm>
          <a:prstGeom prst="line">
            <a:avLst/>
          </a:prstGeom>
          <a:noFill/>
          <a:ln w="12700">
            <a:solidFill>
              <a:srgbClr val="3DCD58"/>
            </a:solidFill>
            <a:prstDash val="dash"/>
          </a:ln>
        </p:spPr>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convergence math: 1 + 1 + 1 = 10</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Not 1+1=3. On one platform, three converged domains multiply, unlocking value none can deliver alone.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36896"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3.2740492257488497e+148" dist="1.0913497419162833e+148" dir="9.282982318641485e+173">
              <a:srgbClr val="0A1F12">
                <a:alpha val="1.1999999999999996e+179"/>
              </a:srgbClr>
            </a:outerShdw>
          </a:effectLst>
        </p:spPr>
      </p:sp>
      <p:sp>
        <p:nvSpPr>
          <p:cNvPr id="10" name="Shape 8"/>
          <p:cNvSpPr/>
          <p:nvPr/>
        </p:nvSpPr>
        <p:spPr>
          <a:xfrm>
            <a:off x="621792" y="2084832"/>
            <a:ext cx="5336896" cy="73152"/>
          </a:xfrm>
          <a:prstGeom prst="rect">
            <a:avLst/>
          </a:prstGeom>
          <a:solidFill>
            <a:srgbClr val="3DCD58"/>
          </a:solidFill>
          <a:ln w="12700">
            <a:solidFill>
              <a:srgbClr val="3DCD58"/>
            </a:solidFill>
            <a:prstDash val="solid"/>
          </a:ln>
        </p:spPr>
      </p:sp>
      <p:sp>
        <p:nvSpPr>
          <p:cNvPr id="11" name="Text 9"/>
          <p:cNvSpPr/>
          <p:nvPr/>
        </p:nvSpPr>
        <p:spPr>
          <a:xfrm>
            <a:off x="822960" y="2286000"/>
            <a:ext cx="4971136"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THE THREE DOMAINS</a:t>
            </a:r>
            <a:endParaRPr lang="en-US" sz="900" dirty="0"/>
          </a:p>
        </p:txBody>
      </p:sp>
      <p:sp>
        <p:nvSpPr>
          <p:cNvPr id="12" name="Text 10"/>
          <p:cNvSpPr/>
          <p:nvPr/>
        </p:nvSpPr>
        <p:spPr>
          <a:xfrm>
            <a:off x="822960" y="2569464"/>
            <a:ext cx="4971136"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Sustainability + Energy &amp; Supply + Efficiency</a:t>
            </a:r>
            <a:endParaRPr lang="en-US" sz="1400" dirty="0"/>
          </a:p>
        </p:txBody>
      </p:sp>
      <p:sp>
        <p:nvSpPr>
          <p:cNvPr id="13" name="Text 11"/>
          <p:cNvSpPr/>
          <p:nvPr/>
        </p:nvSpPr>
        <p:spPr>
          <a:xfrm>
            <a:off x="804672" y="3044952"/>
            <a:ext cx="4971136"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Each is strong alone. Together they are exponential.</a:t>
            </a:r>
            <a:endParaRPr lang="en-US" sz="1100" dirty="0"/>
          </a:p>
        </p:txBody>
      </p:sp>
      <p:sp>
        <p:nvSpPr>
          <p:cNvPr id="14" name="Text 12"/>
          <p:cNvSpPr/>
          <p:nvPr/>
        </p:nvSpPr>
        <p:spPr>
          <a:xfrm>
            <a:off x="822960" y="3776472"/>
            <a:ext cx="4971136"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Sustainability: carbon inventory, disclosure and targets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Energy and Supply: procurement, contracts and invoices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Efficiency: ECM pipeline, budgets and verified savings</a:t>
            </a:r>
            <a:endParaRPr lang="en-US" sz="1100" dirty="0"/>
          </a:p>
        </p:txBody>
      </p:sp>
      <p:sp>
        <p:nvSpPr>
          <p:cNvPr id="15" name="Shape 13"/>
          <p:cNvSpPr/>
          <p:nvPr/>
        </p:nvSpPr>
        <p:spPr>
          <a:xfrm>
            <a:off x="6233008" y="2084832"/>
            <a:ext cx="5336896"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4.158042516701039e+152" dist="1.38601417223368e+152" dir="5.569789391184891e+178">
              <a:srgbClr val="0A1F12">
                <a:alpha val="1.1999999999999996e+184"/>
              </a:srgbClr>
            </a:outerShdw>
          </a:effectLst>
        </p:spPr>
      </p:sp>
      <p:sp>
        <p:nvSpPr>
          <p:cNvPr id="16" name="Shape 14"/>
          <p:cNvSpPr/>
          <p:nvPr/>
        </p:nvSpPr>
        <p:spPr>
          <a:xfrm>
            <a:off x="6233008" y="2084832"/>
            <a:ext cx="5336896" cy="73152"/>
          </a:xfrm>
          <a:prstGeom prst="rect">
            <a:avLst/>
          </a:prstGeom>
          <a:solidFill>
            <a:srgbClr val="007A27"/>
          </a:solidFill>
          <a:ln w="12700">
            <a:solidFill>
              <a:srgbClr val="007A27"/>
            </a:solidFill>
            <a:prstDash val="solid"/>
          </a:ln>
        </p:spPr>
      </p:sp>
      <p:sp>
        <p:nvSpPr>
          <p:cNvPr id="17" name="Text 15"/>
          <p:cNvSpPr/>
          <p:nvPr/>
        </p:nvSpPr>
        <p:spPr>
          <a:xfrm>
            <a:off x="6434176" y="2286000"/>
            <a:ext cx="4971136"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WHAT ONLY CONVERGENCE UNLOCKS</a:t>
            </a:r>
            <a:endParaRPr lang="en-US" sz="900" dirty="0"/>
          </a:p>
        </p:txBody>
      </p:sp>
      <p:sp>
        <p:nvSpPr>
          <p:cNvPr id="18" name="Text 16"/>
          <p:cNvSpPr/>
          <p:nvPr/>
        </p:nvSpPr>
        <p:spPr>
          <a:xfrm>
            <a:off x="6434176" y="2569464"/>
            <a:ext cx="4971136"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Exponential value</a:t>
            </a:r>
            <a:endParaRPr lang="en-US" sz="1600" dirty="0"/>
          </a:p>
        </p:txBody>
      </p:sp>
      <p:sp>
        <p:nvSpPr>
          <p:cNvPr id="19" name="Text 17"/>
          <p:cNvSpPr/>
          <p:nvPr/>
        </p:nvSpPr>
        <p:spPr>
          <a:xfrm>
            <a:off x="6415888" y="3044952"/>
            <a:ext cx="4971136"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Combinations no standalone product can deliver.</a:t>
            </a:r>
            <a:endParaRPr lang="en-US" sz="1100" dirty="0"/>
          </a:p>
        </p:txBody>
      </p:sp>
      <p:sp>
        <p:nvSpPr>
          <p:cNvPr id="20" name="Text 18"/>
          <p:cNvSpPr/>
          <p:nvPr/>
        </p:nvSpPr>
        <p:spPr>
          <a:xfrm>
            <a:off x="6434176" y="3776472"/>
            <a:ext cx="4971136"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Sustainability + Energy &amp; Supply: disclosures wired to live invoices and contracts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Energy &amp; Supply + Efficiency: budgets that already reflect every ECM in the pipeline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Efficiency + Sustainability: closed loop M&amp;V from carbon goal to verified savings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 three + AI agents: decision ready answers across the whole estate, in minutes</a:t>
            </a:r>
            <a:endParaRPr lang="en-US" sz="1100" dirty="0"/>
          </a:p>
        </p:txBody>
      </p:sp>
      <p:sp>
        <p:nvSpPr>
          <p:cNvPr id="21" name="Shape 19"/>
          <p:cNvSpPr/>
          <p:nvPr/>
        </p:nvSpPr>
        <p:spPr>
          <a:xfrm>
            <a:off x="621792" y="6437376"/>
            <a:ext cx="10948111" cy="0"/>
          </a:xfrm>
          <a:prstGeom prst="line">
            <a:avLst/>
          </a:prstGeom>
          <a:noFill/>
          <a:ln w="9525">
            <a:solidFill>
              <a:srgbClr val="E2E6E2"/>
            </a:solidFill>
            <a:prstDash val="solid"/>
          </a:ln>
        </p:spPr>
      </p:sp>
      <p:sp>
        <p:nvSpPr>
          <p:cNvPr id="22" name="Text 20"/>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3" name="Text 21"/>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3B25"/>
        </a:solidFill>
      </p:bgPr>
    </p:bg>
    <p:spTree>
      <p:nvGrpSpPr>
        <p:cNvPr id="1" name=""/>
        <p:cNvGrpSpPr/>
        <p:nvPr/>
      </p:nvGrpSpPr>
      <p:grpSpPr>
        <a:xfrm>
          <a:off x="0" y="0"/>
          <a:ext cx="0" cy="0"/>
          <a:chOff x="0" y="0"/>
          <a:chExt cx="0" cy="0"/>
        </a:xfrm>
      </p:grpSpPr>
      <p:sp>
        <p:nvSpPr>
          <p:cNvPr id="2" name="Text 0"/>
          <p:cNvSpPr/>
          <p:nvPr/>
        </p:nvSpPr>
        <p:spPr>
          <a:xfrm>
            <a:off x="621792" y="457200"/>
            <a:ext cx="10948111" cy="868680"/>
          </a:xfrm>
          <a:prstGeom prst="rect">
            <a:avLst/>
          </a:prstGeom>
          <a:noFill/>
          <a:ln/>
        </p:spPr>
        <p:txBody>
          <a:bodyPr wrap="square" lIns="0" tIns="0" rIns="0" bIns="0" rtlCol="0" anchor="ctr">
            <a:normAutofit/>
          </a:bodyPr>
          <a:lstStyle/>
          <a:p>
            <a:pPr algn="ctr" indent="0" marL="0">
              <a:buNone/>
            </a:pPr>
            <a:r>
              <a:rPr lang="en-US" sz="2600" b="1" dirty="0">
                <a:solidFill>
                  <a:srgbClr val="3DCD58"/>
                </a:solidFill>
                <a:latin typeface="Calibri" pitchFamily="34" charset="0"/>
                <a:ea typeface="Calibri" pitchFamily="34" charset="-122"/>
                <a:cs typeface="Calibri" pitchFamily="34" charset="-120"/>
              </a:rPr>
              <a:t>Two Families, </a:t>
            </a:r>
            <a:pPr algn="ctr" indent="0" marL="0">
              <a:buNone/>
            </a:pPr>
            <a:r>
              <a:rPr lang="en-US" sz="2600" b="1" dirty="0">
                <a:solidFill>
                  <a:srgbClr val="FFFFFF"/>
                </a:solidFill>
                <a:latin typeface="Calibri" pitchFamily="34" charset="0"/>
                <a:ea typeface="Calibri" pitchFamily="34" charset="-122"/>
                <a:cs typeface="Calibri" pitchFamily="34" charset="-120"/>
              </a:rPr>
              <a:t>One</a:t>
            </a:r>
            <a:pPr algn="ctr" indent="0" marL="0">
              <a:buNone/>
            </a:pPr>
            <a:r>
              <a:rPr lang="en-US" sz="2600" b="1" dirty="0">
                <a:solidFill>
                  <a:srgbClr val="3DCD58"/>
                </a:solidFill>
                <a:latin typeface="Calibri" pitchFamily="34" charset="0"/>
                <a:ea typeface="Calibri" pitchFamily="34" charset="-122"/>
                <a:cs typeface="Calibri" pitchFamily="34" charset="-120"/>
              </a:rPr>
              <a:t> Platform: The Convergence in Practice</a:t>
            </a:r>
            <a:endParaRPr lang="en-US" sz="2600" dirty="0"/>
          </a:p>
        </p:txBody>
      </p:sp>
      <p:sp>
        <p:nvSpPr>
          <p:cNvPr id="3" name="Text 1"/>
          <p:cNvSpPr/>
          <p:nvPr/>
        </p:nvSpPr>
        <p:spPr>
          <a:xfrm>
            <a:off x="621792" y="1463040"/>
            <a:ext cx="10948111" cy="548640"/>
          </a:xfrm>
          <a:prstGeom prst="rect">
            <a:avLst/>
          </a:prstGeom>
          <a:noFill/>
          <a:ln/>
        </p:spPr>
        <p:txBody>
          <a:bodyPr wrap="square" lIns="0" tIns="0" rIns="0" bIns="0" rtlCol="0" anchor="ctr"/>
          <a:lstStyle/>
          <a:p>
            <a:pPr algn="ctr" indent="0" marL="0">
              <a:buNone/>
            </a:pPr>
            <a:r>
              <a:rPr lang="en-US" sz="2700" spc="100" kern="0" dirty="0">
                <a:solidFill>
                  <a:srgbClr val="FFFFFF"/>
                </a:solidFill>
                <a:latin typeface="Calibri" pitchFamily="34" charset="0"/>
                <a:ea typeface="Calibri" pitchFamily="34" charset="-122"/>
                <a:cs typeface="Calibri" pitchFamily="34" charset="-120"/>
              </a:rPr>
              <a:t>RESOURCE </a:t>
            </a:r>
            <a:pPr algn="ctr" indent="0" marL="0">
              <a:buNone/>
            </a:pPr>
            <a:r>
              <a:rPr lang="en-US" sz="2700" b="1" spc="100" kern="0" dirty="0">
                <a:solidFill>
                  <a:srgbClr val="FFFFFF"/>
                </a:solidFill>
                <a:latin typeface="Calibri" pitchFamily="34" charset="0"/>
                <a:ea typeface="Calibri" pitchFamily="34" charset="-122"/>
                <a:cs typeface="Calibri" pitchFamily="34" charset="-120"/>
              </a:rPr>
              <a:t>ADVISOR</a:t>
            </a:r>
            <a:pPr algn="ctr" indent="0" marL="0">
              <a:buNone/>
            </a:pPr>
            <a:r>
              <a:rPr lang="en-US" sz="2700" b="1" baseline="30000" spc="100" kern="0" dirty="0">
                <a:solidFill>
                  <a:srgbClr val="FFFFFF"/>
                </a:solidFill>
                <a:latin typeface="Calibri" pitchFamily="34" charset="0"/>
                <a:ea typeface="Calibri" pitchFamily="34" charset="-122"/>
                <a:cs typeface="Calibri" pitchFamily="34" charset="-120"/>
              </a:rPr>
              <a:t>+</a:t>
            </a:r>
            <a:endParaRPr lang="en-US" sz="2700" dirty="0"/>
          </a:p>
        </p:txBody>
      </p:sp>
      <p:sp>
        <p:nvSpPr>
          <p:cNvPr id="4" name="Text 2"/>
          <p:cNvSpPr/>
          <p:nvPr/>
        </p:nvSpPr>
        <p:spPr>
          <a:xfrm>
            <a:off x="621792" y="2240280"/>
            <a:ext cx="5222596" cy="237744"/>
          </a:xfrm>
          <a:prstGeom prst="rect">
            <a:avLst/>
          </a:prstGeom>
          <a:noFill/>
          <a:ln/>
        </p:spPr>
        <p:txBody>
          <a:bodyPr wrap="square" lIns="0" tIns="0" rIns="0" bIns="0" rtlCol="0" anchor="ctr"/>
          <a:lstStyle/>
          <a:p>
            <a:pPr algn="ctr" indent="0" marL="0">
              <a:buNone/>
            </a:pPr>
            <a:r>
              <a:rPr lang="en-US" sz="1300" b="1" dirty="0">
                <a:solidFill>
                  <a:srgbClr val="CDFC57"/>
                </a:solidFill>
                <a:latin typeface="Calibri" pitchFamily="34" charset="0"/>
                <a:ea typeface="Calibri" pitchFamily="34" charset="-122"/>
                <a:cs typeface="Calibri" pitchFamily="34" charset="-120"/>
              </a:rPr>
              <a:t>Sustainability</a:t>
            </a:r>
            <a:endParaRPr lang="en-US" sz="1300" dirty="0"/>
          </a:p>
        </p:txBody>
      </p:sp>
      <p:sp>
        <p:nvSpPr>
          <p:cNvPr id="5" name="Text 3"/>
          <p:cNvSpPr/>
          <p:nvPr/>
        </p:nvSpPr>
        <p:spPr>
          <a:xfrm>
            <a:off x="621792" y="2478024"/>
            <a:ext cx="5222596"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6" name="Shape 4"/>
          <p:cNvSpPr/>
          <p:nvPr/>
        </p:nvSpPr>
        <p:spPr>
          <a:xfrm>
            <a:off x="621792" y="2743200"/>
            <a:ext cx="2538146" cy="1234440"/>
          </a:xfrm>
          <a:prstGeom prst="roundRect">
            <a:avLst>
              <a:gd name="adj" fmla="val 2963"/>
            </a:avLst>
          </a:prstGeom>
          <a:solidFill>
            <a:srgbClr val="0F4A2E"/>
          </a:solidFill>
          <a:ln w="13970">
            <a:solidFill>
              <a:srgbClr val="CDFC57"/>
            </a:solidFill>
            <a:prstDash val="solid"/>
          </a:ln>
        </p:spPr>
      </p:sp>
      <p:sp>
        <p:nvSpPr>
          <p:cNvPr id="7" name="Text 5"/>
          <p:cNvSpPr/>
          <p:nvPr/>
        </p:nvSpPr>
        <p:spPr>
          <a:xfrm>
            <a:off x="694944" y="2743200"/>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CARBON PERFORMANCE</a:t>
            </a:r>
            <a:endParaRPr lang="en-US" sz="1100" dirty="0"/>
          </a:p>
        </p:txBody>
      </p:sp>
      <p:sp>
        <p:nvSpPr>
          <p:cNvPr id="8" name="Shape 6"/>
          <p:cNvSpPr/>
          <p:nvPr/>
        </p:nvSpPr>
        <p:spPr>
          <a:xfrm>
            <a:off x="3306242" y="2743200"/>
            <a:ext cx="2538146" cy="1234440"/>
          </a:xfrm>
          <a:prstGeom prst="roundRect">
            <a:avLst>
              <a:gd name="adj" fmla="val 2963"/>
            </a:avLst>
          </a:prstGeom>
          <a:solidFill>
            <a:srgbClr val="0F4A2E"/>
          </a:solidFill>
          <a:ln w="13970">
            <a:solidFill>
              <a:srgbClr val="CDFC57"/>
            </a:solidFill>
            <a:prstDash val="solid"/>
          </a:ln>
        </p:spPr>
      </p:sp>
      <p:sp>
        <p:nvSpPr>
          <p:cNvPr id="9" name="Text 7"/>
          <p:cNvSpPr/>
          <p:nvPr/>
        </p:nvSpPr>
        <p:spPr>
          <a:xfrm>
            <a:off x="3379394" y="2743200"/>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SUPPLY CHAIN</a:t>
            </a:r>
            <a:endParaRPr lang="en-US" sz="1100" dirty="0"/>
          </a:p>
        </p:txBody>
      </p:sp>
      <p:sp>
        <p:nvSpPr>
          <p:cNvPr id="10" name="Shape 8"/>
          <p:cNvSpPr/>
          <p:nvPr/>
        </p:nvSpPr>
        <p:spPr>
          <a:xfrm>
            <a:off x="621792" y="4123944"/>
            <a:ext cx="2538146" cy="1234440"/>
          </a:xfrm>
          <a:prstGeom prst="roundRect">
            <a:avLst>
              <a:gd name="adj" fmla="val 2963"/>
            </a:avLst>
          </a:prstGeom>
          <a:solidFill>
            <a:srgbClr val="0F4A2E"/>
          </a:solidFill>
          <a:ln w="13970">
            <a:solidFill>
              <a:srgbClr val="CDFC57"/>
            </a:solidFill>
            <a:prstDash val="solid"/>
          </a:ln>
        </p:spPr>
      </p:sp>
      <p:sp>
        <p:nvSpPr>
          <p:cNvPr id="11" name="Text 9"/>
          <p:cNvSpPr/>
          <p:nvPr/>
        </p:nvSpPr>
        <p:spPr>
          <a:xfrm>
            <a:off x="694944" y="4123944"/>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REPORTING &amp; COMPLIANCE</a:t>
            </a:r>
            <a:endParaRPr lang="en-US" sz="1100" dirty="0"/>
          </a:p>
        </p:txBody>
      </p:sp>
      <p:sp>
        <p:nvSpPr>
          <p:cNvPr id="12" name="Shape 10"/>
          <p:cNvSpPr/>
          <p:nvPr/>
        </p:nvSpPr>
        <p:spPr>
          <a:xfrm>
            <a:off x="3306242" y="4123944"/>
            <a:ext cx="2538146" cy="1234440"/>
          </a:xfrm>
          <a:prstGeom prst="roundRect">
            <a:avLst>
              <a:gd name="adj" fmla="val 2963"/>
            </a:avLst>
          </a:prstGeom>
          <a:solidFill>
            <a:srgbClr val="0F4A2E"/>
          </a:solidFill>
          <a:ln w="13970">
            <a:solidFill>
              <a:srgbClr val="CDFC57"/>
            </a:solidFill>
            <a:prstDash val="solid"/>
          </a:ln>
        </p:spPr>
      </p:sp>
      <p:sp>
        <p:nvSpPr>
          <p:cNvPr id="13" name="Text 11"/>
          <p:cNvSpPr/>
          <p:nvPr/>
        </p:nvSpPr>
        <p:spPr>
          <a:xfrm>
            <a:off x="3379394" y="4123944"/>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CLIMATE RISK</a:t>
            </a:r>
            <a:endParaRPr lang="en-US" sz="1100" dirty="0"/>
          </a:p>
        </p:txBody>
      </p:sp>
      <p:sp>
        <p:nvSpPr>
          <p:cNvPr id="14" name="Shape 12"/>
          <p:cNvSpPr/>
          <p:nvPr/>
        </p:nvSpPr>
        <p:spPr>
          <a:xfrm>
            <a:off x="621792" y="5504688"/>
            <a:ext cx="2538146" cy="1234440"/>
          </a:xfrm>
          <a:prstGeom prst="roundRect">
            <a:avLst>
              <a:gd name="adj" fmla="val 2963"/>
            </a:avLst>
          </a:prstGeom>
          <a:solidFill>
            <a:srgbClr val="0F4A2E"/>
          </a:solidFill>
          <a:ln w="13970">
            <a:solidFill>
              <a:srgbClr val="CDFC57"/>
            </a:solidFill>
            <a:prstDash val="solid"/>
          </a:ln>
        </p:spPr>
      </p:sp>
      <p:sp>
        <p:nvSpPr>
          <p:cNvPr id="15" name="Text 13"/>
          <p:cNvSpPr/>
          <p:nvPr/>
        </p:nvSpPr>
        <p:spPr>
          <a:xfrm>
            <a:off x="694944" y="5504688"/>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STRATEGY</a:t>
            </a:r>
            <a:endParaRPr lang="en-US" sz="1100" dirty="0"/>
          </a:p>
        </p:txBody>
      </p:sp>
      <p:sp>
        <p:nvSpPr>
          <p:cNvPr id="16" name="Text 14"/>
          <p:cNvSpPr/>
          <p:nvPr/>
        </p:nvSpPr>
        <p:spPr>
          <a:xfrm>
            <a:off x="6347308" y="2240280"/>
            <a:ext cx="5222596" cy="237744"/>
          </a:xfrm>
          <a:prstGeom prst="rect">
            <a:avLst/>
          </a:prstGeom>
          <a:noFill/>
          <a:ln/>
        </p:spPr>
        <p:txBody>
          <a:bodyPr wrap="square" lIns="0" tIns="0" rIns="0" bIns="0" rtlCol="0" anchor="ctr"/>
          <a:lstStyle/>
          <a:p>
            <a:pPr algn="ctr" indent="0" marL="0">
              <a:buNone/>
            </a:pPr>
            <a:r>
              <a:rPr lang="en-US" sz="1300" b="1" dirty="0">
                <a:solidFill>
                  <a:srgbClr val="3DCD58"/>
                </a:solidFill>
                <a:latin typeface="Calibri" pitchFamily="34" charset="0"/>
                <a:ea typeface="Calibri" pitchFamily="34" charset="-122"/>
                <a:cs typeface="Calibri" pitchFamily="34" charset="-120"/>
              </a:rPr>
              <a:t>Energy &amp; Efficiency</a:t>
            </a:r>
            <a:endParaRPr lang="en-US" sz="1300" dirty="0"/>
          </a:p>
        </p:txBody>
      </p:sp>
      <p:sp>
        <p:nvSpPr>
          <p:cNvPr id="17" name="Text 15"/>
          <p:cNvSpPr/>
          <p:nvPr/>
        </p:nvSpPr>
        <p:spPr>
          <a:xfrm>
            <a:off x="6347308" y="2478024"/>
            <a:ext cx="5222596"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18" name="Shape 16"/>
          <p:cNvSpPr/>
          <p:nvPr/>
        </p:nvSpPr>
        <p:spPr>
          <a:xfrm>
            <a:off x="6347308" y="2743200"/>
            <a:ext cx="1643329" cy="749808"/>
          </a:xfrm>
          <a:prstGeom prst="roundRect">
            <a:avLst>
              <a:gd name="adj" fmla="val 4878"/>
            </a:avLst>
          </a:prstGeom>
          <a:solidFill>
            <a:srgbClr val="0F4A2E"/>
          </a:solidFill>
          <a:ln w="13970">
            <a:solidFill>
              <a:srgbClr val="3DCD58"/>
            </a:solidFill>
            <a:prstDash val="solid"/>
          </a:ln>
        </p:spPr>
      </p:sp>
      <p:sp>
        <p:nvSpPr>
          <p:cNvPr id="19" name="Text 17"/>
          <p:cNvSpPr/>
          <p:nvPr/>
        </p:nvSpPr>
        <p:spPr>
          <a:xfrm>
            <a:off x="6420460" y="2743200"/>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ENERGY EFFICIENCY</a:t>
            </a:r>
            <a:endParaRPr lang="en-US" sz="900" dirty="0"/>
          </a:p>
        </p:txBody>
      </p:sp>
      <p:sp>
        <p:nvSpPr>
          <p:cNvPr id="20" name="Shape 18"/>
          <p:cNvSpPr/>
          <p:nvPr/>
        </p:nvSpPr>
        <p:spPr>
          <a:xfrm>
            <a:off x="8136941" y="2743200"/>
            <a:ext cx="1643329" cy="749808"/>
          </a:xfrm>
          <a:prstGeom prst="roundRect">
            <a:avLst>
              <a:gd name="adj" fmla="val 4878"/>
            </a:avLst>
          </a:prstGeom>
          <a:solidFill>
            <a:srgbClr val="0F4A2E"/>
          </a:solidFill>
          <a:ln w="13970">
            <a:solidFill>
              <a:srgbClr val="3DCD58"/>
            </a:solidFill>
            <a:prstDash val="solid"/>
          </a:ln>
        </p:spPr>
      </p:sp>
      <p:sp>
        <p:nvSpPr>
          <p:cNvPr id="21" name="Text 19"/>
          <p:cNvSpPr/>
          <p:nvPr/>
        </p:nvSpPr>
        <p:spPr>
          <a:xfrm>
            <a:off x="8210093" y="2743200"/>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CAPITAL ASSET PLANNING</a:t>
            </a:r>
            <a:endParaRPr lang="en-US" sz="900" dirty="0"/>
          </a:p>
        </p:txBody>
      </p:sp>
      <p:sp>
        <p:nvSpPr>
          <p:cNvPr id="22" name="Shape 20"/>
          <p:cNvSpPr/>
          <p:nvPr/>
        </p:nvSpPr>
        <p:spPr>
          <a:xfrm>
            <a:off x="9926574" y="2743200"/>
            <a:ext cx="1643329" cy="749808"/>
          </a:xfrm>
          <a:prstGeom prst="roundRect">
            <a:avLst>
              <a:gd name="adj" fmla="val 4878"/>
            </a:avLst>
          </a:prstGeom>
          <a:solidFill>
            <a:srgbClr val="0F4A2E"/>
          </a:solidFill>
          <a:ln w="13970">
            <a:solidFill>
              <a:srgbClr val="3DCD58"/>
            </a:solidFill>
            <a:prstDash val="solid"/>
          </a:ln>
        </p:spPr>
      </p:sp>
      <p:sp>
        <p:nvSpPr>
          <p:cNvPr id="23" name="Text 21"/>
          <p:cNvSpPr/>
          <p:nvPr/>
        </p:nvSpPr>
        <p:spPr>
          <a:xfrm>
            <a:off x="9999726" y="2743200"/>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UTILITY DATA MANAGEMENT</a:t>
            </a:r>
            <a:endParaRPr lang="en-US" sz="900" dirty="0"/>
          </a:p>
        </p:txBody>
      </p:sp>
      <p:sp>
        <p:nvSpPr>
          <p:cNvPr id="24" name="Shape 22"/>
          <p:cNvSpPr/>
          <p:nvPr/>
        </p:nvSpPr>
        <p:spPr>
          <a:xfrm>
            <a:off x="6347308" y="3639312"/>
            <a:ext cx="1643329" cy="749808"/>
          </a:xfrm>
          <a:prstGeom prst="roundRect">
            <a:avLst>
              <a:gd name="adj" fmla="val 4878"/>
            </a:avLst>
          </a:prstGeom>
          <a:solidFill>
            <a:srgbClr val="0F4A2E"/>
          </a:solidFill>
          <a:ln w="13970">
            <a:solidFill>
              <a:srgbClr val="3DCD58"/>
            </a:solidFill>
            <a:prstDash val="solid"/>
          </a:ln>
        </p:spPr>
      </p:sp>
      <p:sp>
        <p:nvSpPr>
          <p:cNvPr id="25" name="Text 23"/>
          <p:cNvSpPr/>
          <p:nvPr/>
        </p:nvSpPr>
        <p:spPr>
          <a:xfrm>
            <a:off x="6420460" y="3639312"/>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ENERGY PORTFOLIO MANAGEMENT</a:t>
            </a:r>
            <a:endParaRPr lang="en-US" sz="900" dirty="0"/>
          </a:p>
        </p:txBody>
      </p:sp>
      <p:sp>
        <p:nvSpPr>
          <p:cNvPr id="26" name="Shape 24"/>
          <p:cNvSpPr/>
          <p:nvPr/>
        </p:nvSpPr>
        <p:spPr>
          <a:xfrm>
            <a:off x="8136941" y="3639312"/>
            <a:ext cx="1643329" cy="749808"/>
          </a:xfrm>
          <a:prstGeom prst="roundRect">
            <a:avLst>
              <a:gd name="adj" fmla="val 4878"/>
            </a:avLst>
          </a:prstGeom>
          <a:solidFill>
            <a:srgbClr val="0F4A2E"/>
          </a:solidFill>
          <a:ln w="13970">
            <a:solidFill>
              <a:srgbClr val="3DCD58"/>
            </a:solidFill>
            <a:prstDash val="solid"/>
          </a:ln>
        </p:spPr>
      </p:sp>
      <p:sp>
        <p:nvSpPr>
          <p:cNvPr id="27" name="Text 25"/>
          <p:cNvSpPr/>
          <p:nvPr/>
        </p:nvSpPr>
        <p:spPr>
          <a:xfrm>
            <a:off x="8210093" y="3639312"/>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ENERGY SOURCING</a:t>
            </a:r>
            <a:endParaRPr lang="en-US" sz="900" dirty="0"/>
          </a:p>
        </p:txBody>
      </p:sp>
      <p:sp>
        <p:nvSpPr>
          <p:cNvPr id="28" name="Shape 26"/>
          <p:cNvSpPr/>
          <p:nvPr/>
        </p:nvSpPr>
        <p:spPr>
          <a:xfrm>
            <a:off x="9926574" y="3639312"/>
            <a:ext cx="1643329" cy="749808"/>
          </a:xfrm>
          <a:prstGeom prst="roundRect">
            <a:avLst>
              <a:gd name="adj" fmla="val 4878"/>
            </a:avLst>
          </a:prstGeom>
          <a:solidFill>
            <a:srgbClr val="0F4A2E"/>
          </a:solidFill>
          <a:ln w="13970">
            <a:solidFill>
              <a:srgbClr val="3DCD58"/>
            </a:solidFill>
            <a:prstDash val="solid"/>
          </a:ln>
        </p:spPr>
      </p:sp>
      <p:sp>
        <p:nvSpPr>
          <p:cNvPr id="29" name="Text 27"/>
          <p:cNvSpPr/>
          <p:nvPr/>
        </p:nvSpPr>
        <p:spPr>
          <a:xfrm>
            <a:off x="9999726" y="3639312"/>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RENEWABLES &amp; EACS</a:t>
            </a:r>
            <a:endParaRPr lang="en-US" sz="900" dirty="0"/>
          </a:p>
        </p:txBody>
      </p:sp>
      <p:sp>
        <p:nvSpPr>
          <p:cNvPr id="30" name="Shape 28"/>
          <p:cNvSpPr/>
          <p:nvPr/>
        </p:nvSpPr>
        <p:spPr>
          <a:xfrm>
            <a:off x="6347308" y="4535424"/>
            <a:ext cx="1643329" cy="749808"/>
          </a:xfrm>
          <a:prstGeom prst="roundRect">
            <a:avLst>
              <a:gd name="adj" fmla="val 4878"/>
            </a:avLst>
          </a:prstGeom>
          <a:solidFill>
            <a:srgbClr val="0F4A2E"/>
          </a:solidFill>
          <a:ln w="13970">
            <a:solidFill>
              <a:srgbClr val="3DCD58"/>
            </a:solidFill>
            <a:prstDash val="solid"/>
          </a:ln>
        </p:spPr>
      </p:sp>
      <p:sp>
        <p:nvSpPr>
          <p:cNvPr id="31" name="Text 29"/>
          <p:cNvSpPr/>
          <p:nvPr/>
        </p:nvSpPr>
        <p:spPr>
          <a:xfrm>
            <a:off x="6420460" y="4535424"/>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METERING &amp; INTERVAL DATA</a:t>
            </a:r>
            <a:endParaRPr lang="en-US" sz="900" dirty="0"/>
          </a:p>
        </p:txBody>
      </p:sp>
      <p:sp>
        <p:nvSpPr>
          <p:cNvPr id="32" name="Shape 30"/>
          <p:cNvSpPr/>
          <p:nvPr/>
        </p:nvSpPr>
        <p:spPr>
          <a:xfrm>
            <a:off x="8136941" y="4535424"/>
            <a:ext cx="1643329" cy="749808"/>
          </a:xfrm>
          <a:prstGeom prst="roundRect">
            <a:avLst>
              <a:gd name="adj" fmla="val 4878"/>
            </a:avLst>
          </a:prstGeom>
          <a:solidFill>
            <a:srgbClr val="0F4A2E"/>
          </a:solidFill>
          <a:ln w="13970">
            <a:solidFill>
              <a:srgbClr val="3DCD58"/>
            </a:solidFill>
            <a:prstDash val="solid"/>
          </a:ln>
        </p:spPr>
      </p:sp>
      <p:sp>
        <p:nvSpPr>
          <p:cNvPr id="33" name="Text 31"/>
          <p:cNvSpPr/>
          <p:nvPr/>
        </p:nvSpPr>
        <p:spPr>
          <a:xfrm>
            <a:off x="8210093" y="4535424"/>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DEMAND RESPONSE &amp; FLEXIBILITY</a:t>
            </a:r>
            <a:endParaRPr lang="en-US" sz="900" dirty="0"/>
          </a:p>
        </p:txBody>
      </p:sp>
      <p:sp>
        <p:nvSpPr>
          <p:cNvPr id="34" name="Shape 32"/>
          <p:cNvSpPr/>
          <p:nvPr/>
        </p:nvSpPr>
        <p:spPr>
          <a:xfrm>
            <a:off x="9926574" y="4535424"/>
            <a:ext cx="1643329" cy="749808"/>
          </a:xfrm>
          <a:prstGeom prst="roundRect">
            <a:avLst>
              <a:gd name="adj" fmla="val 4878"/>
            </a:avLst>
          </a:prstGeom>
          <a:solidFill>
            <a:srgbClr val="0F4A2E"/>
          </a:solidFill>
          <a:ln w="13970">
            <a:solidFill>
              <a:srgbClr val="3DCD58"/>
            </a:solidFill>
            <a:prstDash val="solid"/>
          </a:ln>
        </p:spPr>
      </p:sp>
      <p:sp>
        <p:nvSpPr>
          <p:cNvPr id="35" name="Text 33"/>
          <p:cNvSpPr/>
          <p:nvPr/>
        </p:nvSpPr>
        <p:spPr>
          <a:xfrm>
            <a:off x="9999726" y="4535424"/>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ELECTRIFICATION &amp; DER MANAGEMENT</a:t>
            </a:r>
            <a:endParaRPr lang="en-US" sz="900" dirty="0"/>
          </a:p>
        </p:txBody>
      </p:sp>
      <p:sp>
        <p:nvSpPr>
          <p:cNvPr id="36" name="Shape 34"/>
          <p:cNvSpPr/>
          <p:nvPr/>
        </p:nvSpPr>
        <p:spPr>
          <a:xfrm>
            <a:off x="621792" y="5532120"/>
            <a:ext cx="10948111" cy="384048"/>
          </a:xfrm>
          <a:prstGeom prst="roundRect">
            <a:avLst>
              <a:gd name="adj" fmla="val 19048"/>
            </a:avLst>
          </a:prstGeom>
          <a:solidFill>
            <a:srgbClr val="1A4A2E"/>
          </a:solidFill>
          <a:ln w="12700">
            <a:solidFill>
              <a:srgbClr val="CDFC57"/>
            </a:solidFill>
            <a:prstDash val="solid"/>
          </a:ln>
        </p:spPr>
      </p:sp>
      <p:sp>
        <p:nvSpPr>
          <p:cNvPr id="37" name="Text 35"/>
          <p:cNvSpPr/>
          <p:nvPr/>
        </p:nvSpPr>
        <p:spPr>
          <a:xfrm>
            <a:off x="621792" y="5532120"/>
            <a:ext cx="10948111" cy="384048"/>
          </a:xfrm>
          <a:prstGeom prst="rect">
            <a:avLst/>
          </a:prstGeom>
          <a:noFill/>
          <a:ln/>
        </p:spPr>
        <p:txBody>
          <a:bodyPr wrap="square" lIns="0" tIns="0" rIns="0" bIns="0" rtlCol="0" anchor="ctr"/>
          <a:lstStyle/>
          <a:p>
            <a:pPr algn="ctr" indent="0" marL="0">
              <a:buNone/>
            </a:pPr>
            <a:r>
              <a:rPr lang="en-US" sz="1300" b="1" dirty="0">
                <a:solidFill>
                  <a:srgbClr val="CDFC57"/>
                </a:solidFill>
                <a:latin typeface="Calibri" pitchFamily="34" charset="0"/>
                <a:ea typeface="Calibri" pitchFamily="34" charset="-122"/>
                <a:cs typeface="Calibri" pitchFamily="34" charset="-120"/>
              </a:rPr>
              <a:t>All products run on the same RA+ platform layer</a:t>
            </a:r>
            <a:endParaRPr lang="en-US" sz="1300" dirty="0"/>
          </a:p>
        </p:txBody>
      </p:sp>
      <p:sp>
        <p:nvSpPr>
          <p:cNvPr id="38" name="Text 36"/>
          <p:cNvSpPr/>
          <p:nvPr/>
        </p:nvSpPr>
        <p:spPr>
          <a:xfrm>
            <a:off x="8460943" y="6080760"/>
            <a:ext cx="3108960" cy="274320"/>
          </a:xfrm>
          <a:prstGeom prst="rect">
            <a:avLst/>
          </a:prstGeom>
          <a:noFill/>
          <a:ln/>
        </p:spPr>
        <p:txBody>
          <a:bodyPr wrap="square" lIns="0" tIns="0" rIns="0" bIns="0" rtlCol="0" anchor="ctr"/>
          <a:lstStyle/>
          <a:p>
            <a:pPr algn="r" indent="0" marL="0">
              <a:buNone/>
            </a:pPr>
            <a:r>
              <a:rPr lang="en-US" sz="1400" b="1" dirty="0">
                <a:solidFill>
                  <a:srgbClr val="3DCD58"/>
                </a:solidFill>
                <a:latin typeface="Calibri" pitchFamily="34" charset="0"/>
                <a:ea typeface="Calibri" pitchFamily="34" charset="-122"/>
                <a:cs typeface="Calibri" pitchFamily="34" charset="-120"/>
              </a:rPr>
              <a:t>SE </a:t>
            </a:r>
            <a:pPr algn="r" indent="0" marL="0">
              <a:buNone/>
            </a:pPr>
            <a:r>
              <a:rPr lang="en-US" sz="1400" dirty="0">
                <a:solidFill>
                  <a:srgbClr val="FFFFFF"/>
                </a:solidFill>
                <a:latin typeface="Calibri" pitchFamily="34" charset="0"/>
                <a:ea typeface="Calibri" pitchFamily="34" charset="-122"/>
                <a:cs typeface="Calibri" pitchFamily="34" charset="-120"/>
              </a:rPr>
              <a:t>ADVISORY SERVICES</a:t>
            </a:r>
            <a:endParaRPr lang="en-US" sz="14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PRODUCT STRATEGY</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00</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product strategy on one board</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What we are building, in what order, and the visual roadmap that holds it together.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Three moves, one platform</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Every roadmap item in this deck serves one of three strategic moves. Nothing else gets funded.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5.28071399621032e+156" dist="1.7602379987367734e+156" dir="3.3418736347109347e+183">
              <a:srgbClr val="0A1F12">
                <a:alpha val="1.1999999999999995e+189"/>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359152"/>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Own the data spine</a:t>
            </a:r>
            <a:endParaRPr lang="en-US" sz="1600" dirty="0"/>
          </a:p>
        </p:txBody>
      </p:sp>
      <p:sp>
        <p:nvSpPr>
          <p:cNvPr id="12" name="Text 10"/>
          <p:cNvSpPr/>
          <p:nvPr/>
        </p:nvSpPr>
        <p:spPr>
          <a:xfrm>
            <a:off x="804672" y="286207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Built once, inherited by every product</a:t>
            </a:r>
            <a:endParaRPr lang="en-US" sz="1100" dirty="0"/>
          </a:p>
        </p:txBody>
      </p:sp>
      <p:sp>
        <p:nvSpPr>
          <p:cNvPr id="13" name="Text 11"/>
          <p:cNvSpPr/>
          <p:nvPr/>
        </p:nvSpPr>
        <p:spPr>
          <a:xfrm>
            <a:off x="822960" y="3593592"/>
            <a:ext cx="3100730"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hierarchy, one user workflow, one analytics engine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Ingestion, transformation and data quality as a shared service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Lineage, evidence and audit trail on every number</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Roughly a third of delivery capacity reserved for the core</a:t>
            </a:r>
            <a:endParaRPr lang="en-US" sz="1100" dirty="0"/>
          </a:p>
        </p:txBody>
      </p:sp>
      <p:sp>
        <p:nvSpPr>
          <p:cNvPr id="14" name="Shape 12"/>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6.706506775187106e+160" dist="2.235502258395702e+160" dir="2.0051241808265608e+188">
              <a:srgbClr val="0A1F12">
                <a:alpha val="1.1999999999999995e+194"/>
              </a:srgbClr>
            </a:outerShdw>
          </a:effectLst>
        </p:spPr>
      </p:sp>
      <p:sp>
        <p:nvSpPr>
          <p:cNvPr id="15" name="Shape 13"/>
          <p:cNvSpPr/>
          <p:nvPr/>
        </p:nvSpPr>
        <p:spPr>
          <a:xfrm>
            <a:off x="4362602" y="2084832"/>
            <a:ext cx="3466490" cy="73152"/>
          </a:xfrm>
          <a:prstGeom prst="rect">
            <a:avLst/>
          </a:prstGeom>
          <a:solidFill>
            <a:srgbClr val="007A27"/>
          </a:solidFill>
          <a:ln w="12700">
            <a:solidFill>
              <a:srgbClr val="007A27"/>
            </a:solidFill>
            <a:prstDash val="solid"/>
          </a:ln>
        </p:spPr>
      </p:sp>
      <p:sp>
        <p:nvSpPr>
          <p:cNvPr id="16" name="Text 14"/>
          <p:cNvSpPr/>
          <p:nvPr/>
        </p:nvSpPr>
        <p:spPr>
          <a:xfrm>
            <a:off x="4563770" y="2359152"/>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Cover the full sustainability agenda</a:t>
            </a:r>
            <a:endParaRPr lang="en-US" sz="1400" dirty="0"/>
          </a:p>
        </p:txBody>
      </p:sp>
      <p:sp>
        <p:nvSpPr>
          <p:cNvPr id="17" name="Text 15"/>
          <p:cNvSpPr/>
          <p:nvPr/>
        </p:nvSpPr>
        <p:spPr>
          <a:xfrm>
            <a:off x="4545482" y="286207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fragmented data to decision grade sustainability coverage</a:t>
            </a:r>
            <a:endParaRPr lang="en-US" sz="1100" dirty="0"/>
          </a:p>
        </p:txBody>
      </p:sp>
      <p:sp>
        <p:nvSpPr>
          <p:cNvPr id="18" name="Text 16"/>
          <p:cNvSpPr/>
          <p:nvPr/>
        </p:nvSpPr>
        <p:spPr>
          <a:xfrm>
            <a:off x="4563770" y="3593592"/>
            <a:ext cx="3100730"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Scope 1, 2 and 3 closed out to a consultant grade inventory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emissions and product level carbon footprint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Climate risk priced in financial terms, not risk scores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automated from the same governed inventory</a:t>
            </a:r>
            <a:endParaRPr lang="en-US" sz="1100" dirty="0"/>
          </a:p>
        </p:txBody>
      </p:sp>
      <p:sp>
        <p:nvSpPr>
          <p:cNvPr id="19" name="Shape 17"/>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8.517263604487625e+164" dist="2.8390878681625417e+164" dir="1.2030745084959364e+193">
              <a:srgbClr val="0A1F12">
                <a:alpha val="1.1999999999999994e+199"/>
              </a:srgbClr>
            </a:outerShdw>
          </a:effectLst>
        </p:spPr>
      </p:sp>
      <p:sp>
        <p:nvSpPr>
          <p:cNvPr id="20" name="Shape 18"/>
          <p:cNvSpPr/>
          <p:nvPr/>
        </p:nvSpPr>
        <p:spPr>
          <a:xfrm>
            <a:off x="8103413" y="2084832"/>
            <a:ext cx="3466490" cy="73152"/>
          </a:xfrm>
          <a:prstGeom prst="rect">
            <a:avLst/>
          </a:prstGeom>
          <a:solidFill>
            <a:srgbClr val="FFB04C"/>
          </a:solidFill>
          <a:ln w="12700">
            <a:solidFill>
              <a:srgbClr val="FFB04C"/>
            </a:solidFill>
            <a:prstDash val="solid"/>
          </a:ln>
        </p:spPr>
      </p:sp>
      <p:sp>
        <p:nvSpPr>
          <p:cNvPr id="21" name="Text 19"/>
          <p:cNvSpPr/>
          <p:nvPr/>
        </p:nvSpPr>
        <p:spPr>
          <a:xfrm>
            <a:off x="8304581" y="2359152"/>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Turn data into decisions</a:t>
            </a:r>
            <a:endParaRPr lang="en-US" sz="1600" dirty="0"/>
          </a:p>
        </p:txBody>
      </p:sp>
      <p:sp>
        <p:nvSpPr>
          <p:cNvPr id="22" name="Text 20"/>
          <p:cNvSpPr/>
          <p:nvPr/>
        </p:nvSpPr>
        <p:spPr>
          <a:xfrm>
            <a:off x="8286293" y="286207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AI native, from reporting to acting</a:t>
            </a:r>
            <a:endParaRPr lang="en-US" sz="1100" dirty="0"/>
          </a:p>
        </p:txBody>
      </p:sp>
      <p:sp>
        <p:nvSpPr>
          <p:cNvPr id="23" name="Text 21"/>
          <p:cNvSpPr/>
          <p:nvPr/>
        </p:nvSpPr>
        <p:spPr>
          <a:xfrm>
            <a:off x="8304581" y="3593592"/>
            <a:ext cx="3100730"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guidance embedded across inventory and disclosure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 analysis, initiatives and actions management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Energy, efficiency and carbon planned in one place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Board grade outputs, assured and repeatable</a:t>
            </a:r>
            <a:endParaRPr lang="en-US" sz="1100" dirty="0"/>
          </a:p>
        </p:txBody>
      </p:sp>
      <p:sp>
        <p:nvSpPr>
          <p:cNvPr id="24" name="Shape 22"/>
          <p:cNvSpPr/>
          <p:nvPr/>
        </p:nvSpPr>
        <p:spPr>
          <a:xfrm>
            <a:off x="621792" y="6437376"/>
            <a:ext cx="10948111" cy="0"/>
          </a:xfrm>
          <a:prstGeom prst="line">
            <a:avLst/>
          </a:prstGeom>
          <a:noFill/>
          <a:ln w="9525">
            <a:solidFill>
              <a:srgbClr val="E2E6E2"/>
            </a:solidFill>
            <a:prstDash val="solid"/>
          </a:ln>
        </p:spPr>
      </p:sp>
      <p:sp>
        <p:nvSpPr>
          <p:cNvPr id="25" name="Text 2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6" name="Text 2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97510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64592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VISUAL ROADMAP</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platform, three years of compounding value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High level shape of the strategy. Dates are firm through 2026, directional beyond.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13255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4808677"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548480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616092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616092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683704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751316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818929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Text 19"/>
          <p:cNvSpPr/>
          <p:nvPr/>
        </p:nvSpPr>
        <p:spPr>
          <a:xfrm>
            <a:off x="8865413"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2028</a:t>
            </a:r>
            <a:endParaRPr lang="en-US" sz="1200" dirty="0"/>
          </a:p>
        </p:txBody>
      </p:sp>
      <p:sp>
        <p:nvSpPr>
          <p:cNvPr id="22" name="Text 20"/>
          <p:cNvSpPr/>
          <p:nvPr/>
        </p:nvSpPr>
        <p:spPr>
          <a:xfrm>
            <a:off x="8865413"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23" name="Text 21"/>
          <p:cNvSpPr/>
          <p:nvPr/>
        </p:nvSpPr>
        <p:spPr>
          <a:xfrm>
            <a:off x="954153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24" name="Text 22"/>
          <p:cNvSpPr/>
          <p:nvPr/>
        </p:nvSpPr>
        <p:spPr>
          <a:xfrm>
            <a:off x="1021765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5" name="Text 23"/>
          <p:cNvSpPr/>
          <p:nvPr/>
        </p:nvSpPr>
        <p:spPr>
          <a:xfrm>
            <a:off x="10893781"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6" name="Shape 24"/>
          <p:cNvSpPr/>
          <p:nvPr/>
        </p:nvSpPr>
        <p:spPr>
          <a:xfrm>
            <a:off x="3456432" y="2103120"/>
            <a:ext cx="0" cy="3794760"/>
          </a:xfrm>
          <a:prstGeom prst="line">
            <a:avLst/>
          </a:prstGeom>
          <a:noFill/>
          <a:ln w="11430">
            <a:solidFill>
              <a:srgbClr val="C8CECA"/>
            </a:solidFill>
            <a:prstDash val="solid"/>
          </a:ln>
        </p:spPr>
      </p:sp>
      <p:sp>
        <p:nvSpPr>
          <p:cNvPr id="27" name="Shape 25"/>
          <p:cNvSpPr/>
          <p:nvPr/>
        </p:nvSpPr>
        <p:spPr>
          <a:xfrm>
            <a:off x="4132555" y="2103120"/>
            <a:ext cx="0" cy="3794760"/>
          </a:xfrm>
          <a:prstGeom prst="line">
            <a:avLst/>
          </a:prstGeom>
          <a:noFill/>
          <a:ln w="4445">
            <a:solidFill>
              <a:srgbClr val="E2E6E2"/>
            </a:solidFill>
            <a:prstDash val="solid"/>
          </a:ln>
        </p:spPr>
      </p:sp>
      <p:sp>
        <p:nvSpPr>
          <p:cNvPr id="28" name="Shape 26"/>
          <p:cNvSpPr/>
          <p:nvPr/>
        </p:nvSpPr>
        <p:spPr>
          <a:xfrm>
            <a:off x="4808677" y="2103120"/>
            <a:ext cx="0" cy="3794760"/>
          </a:xfrm>
          <a:prstGeom prst="line">
            <a:avLst/>
          </a:prstGeom>
          <a:noFill/>
          <a:ln w="4445">
            <a:solidFill>
              <a:srgbClr val="E2E6E2"/>
            </a:solidFill>
            <a:prstDash val="solid"/>
          </a:ln>
        </p:spPr>
      </p:sp>
      <p:sp>
        <p:nvSpPr>
          <p:cNvPr id="29" name="Shape 27"/>
          <p:cNvSpPr/>
          <p:nvPr/>
        </p:nvSpPr>
        <p:spPr>
          <a:xfrm>
            <a:off x="5484800" y="2103120"/>
            <a:ext cx="0" cy="3794760"/>
          </a:xfrm>
          <a:prstGeom prst="line">
            <a:avLst/>
          </a:prstGeom>
          <a:noFill/>
          <a:ln w="4445">
            <a:solidFill>
              <a:srgbClr val="E2E6E2"/>
            </a:solidFill>
            <a:prstDash val="solid"/>
          </a:ln>
        </p:spPr>
      </p:sp>
      <p:sp>
        <p:nvSpPr>
          <p:cNvPr id="30" name="Shape 28"/>
          <p:cNvSpPr/>
          <p:nvPr/>
        </p:nvSpPr>
        <p:spPr>
          <a:xfrm>
            <a:off x="6160922" y="2103120"/>
            <a:ext cx="0" cy="3794760"/>
          </a:xfrm>
          <a:prstGeom prst="line">
            <a:avLst/>
          </a:prstGeom>
          <a:noFill/>
          <a:ln w="11430">
            <a:solidFill>
              <a:srgbClr val="C8CECA"/>
            </a:solidFill>
            <a:prstDash val="solid"/>
          </a:ln>
        </p:spPr>
      </p:sp>
      <p:sp>
        <p:nvSpPr>
          <p:cNvPr id="31" name="Shape 29"/>
          <p:cNvSpPr/>
          <p:nvPr/>
        </p:nvSpPr>
        <p:spPr>
          <a:xfrm>
            <a:off x="6837045" y="2103120"/>
            <a:ext cx="0" cy="3794760"/>
          </a:xfrm>
          <a:prstGeom prst="line">
            <a:avLst/>
          </a:prstGeom>
          <a:noFill/>
          <a:ln w="4445">
            <a:solidFill>
              <a:srgbClr val="E2E6E2"/>
            </a:solidFill>
            <a:prstDash val="solid"/>
          </a:ln>
        </p:spPr>
      </p:sp>
      <p:sp>
        <p:nvSpPr>
          <p:cNvPr id="32" name="Shape 30"/>
          <p:cNvSpPr/>
          <p:nvPr/>
        </p:nvSpPr>
        <p:spPr>
          <a:xfrm>
            <a:off x="7513168" y="2103120"/>
            <a:ext cx="0" cy="3794760"/>
          </a:xfrm>
          <a:prstGeom prst="line">
            <a:avLst/>
          </a:prstGeom>
          <a:noFill/>
          <a:ln w="4445">
            <a:solidFill>
              <a:srgbClr val="E2E6E2"/>
            </a:solidFill>
            <a:prstDash val="solid"/>
          </a:ln>
        </p:spPr>
      </p:sp>
      <p:sp>
        <p:nvSpPr>
          <p:cNvPr id="33" name="Shape 31"/>
          <p:cNvSpPr/>
          <p:nvPr/>
        </p:nvSpPr>
        <p:spPr>
          <a:xfrm>
            <a:off x="8189290" y="2103120"/>
            <a:ext cx="0" cy="3794760"/>
          </a:xfrm>
          <a:prstGeom prst="line">
            <a:avLst/>
          </a:prstGeom>
          <a:noFill/>
          <a:ln w="4445">
            <a:solidFill>
              <a:srgbClr val="E2E6E2"/>
            </a:solidFill>
            <a:prstDash val="solid"/>
          </a:ln>
        </p:spPr>
      </p:sp>
      <p:sp>
        <p:nvSpPr>
          <p:cNvPr id="34" name="Shape 32"/>
          <p:cNvSpPr/>
          <p:nvPr/>
        </p:nvSpPr>
        <p:spPr>
          <a:xfrm>
            <a:off x="8865413" y="2103120"/>
            <a:ext cx="0" cy="3794760"/>
          </a:xfrm>
          <a:prstGeom prst="line">
            <a:avLst/>
          </a:prstGeom>
          <a:noFill/>
          <a:ln w="11430">
            <a:solidFill>
              <a:srgbClr val="C8CECA"/>
            </a:solidFill>
            <a:prstDash val="solid"/>
          </a:ln>
        </p:spPr>
      </p:sp>
      <p:sp>
        <p:nvSpPr>
          <p:cNvPr id="35" name="Shape 33"/>
          <p:cNvSpPr/>
          <p:nvPr/>
        </p:nvSpPr>
        <p:spPr>
          <a:xfrm>
            <a:off x="9541535" y="2103120"/>
            <a:ext cx="0" cy="3794760"/>
          </a:xfrm>
          <a:prstGeom prst="line">
            <a:avLst/>
          </a:prstGeom>
          <a:noFill/>
          <a:ln w="4445">
            <a:solidFill>
              <a:srgbClr val="E2E6E2"/>
            </a:solidFill>
            <a:prstDash val="solid"/>
          </a:ln>
        </p:spPr>
      </p:sp>
      <p:sp>
        <p:nvSpPr>
          <p:cNvPr id="36" name="Shape 34"/>
          <p:cNvSpPr/>
          <p:nvPr/>
        </p:nvSpPr>
        <p:spPr>
          <a:xfrm>
            <a:off x="10217658" y="2103120"/>
            <a:ext cx="0" cy="3794760"/>
          </a:xfrm>
          <a:prstGeom prst="line">
            <a:avLst/>
          </a:prstGeom>
          <a:noFill/>
          <a:ln w="4445">
            <a:solidFill>
              <a:srgbClr val="E2E6E2"/>
            </a:solidFill>
            <a:prstDash val="solid"/>
          </a:ln>
        </p:spPr>
      </p:sp>
      <p:sp>
        <p:nvSpPr>
          <p:cNvPr id="37" name="Shape 35"/>
          <p:cNvSpPr/>
          <p:nvPr/>
        </p:nvSpPr>
        <p:spPr>
          <a:xfrm>
            <a:off x="10893781" y="2103120"/>
            <a:ext cx="0" cy="3794760"/>
          </a:xfrm>
          <a:prstGeom prst="line">
            <a:avLst/>
          </a:prstGeom>
          <a:noFill/>
          <a:ln w="4445">
            <a:solidFill>
              <a:srgbClr val="E2E6E2"/>
            </a:solidFill>
            <a:prstDash val="solid"/>
          </a:ln>
        </p:spPr>
      </p:sp>
      <p:sp>
        <p:nvSpPr>
          <p:cNvPr id="38" name="Shape 36"/>
          <p:cNvSpPr/>
          <p:nvPr/>
        </p:nvSpPr>
        <p:spPr>
          <a:xfrm>
            <a:off x="11569903" y="2103120"/>
            <a:ext cx="0" cy="3794760"/>
          </a:xfrm>
          <a:prstGeom prst="line">
            <a:avLst/>
          </a:prstGeom>
          <a:noFill/>
          <a:ln w="11430">
            <a:solidFill>
              <a:srgbClr val="C8CECA"/>
            </a:solidFill>
            <a:prstDash val="solid"/>
          </a:ln>
        </p:spPr>
      </p:sp>
      <p:sp>
        <p:nvSpPr>
          <p:cNvPr id="39" name="Shape 37"/>
          <p:cNvSpPr/>
          <p:nvPr/>
        </p:nvSpPr>
        <p:spPr>
          <a:xfrm>
            <a:off x="621792" y="2331720"/>
            <a:ext cx="411480" cy="1296785"/>
          </a:xfrm>
          <a:prstGeom prst="rect">
            <a:avLst/>
          </a:prstGeom>
          <a:solidFill>
            <a:srgbClr val="3DCD58"/>
          </a:solidFill>
          <a:ln w="7620">
            <a:solidFill>
              <a:srgbClr val="FFFFFF"/>
            </a:solidFill>
            <a:prstDash val="solid"/>
          </a:ln>
        </p:spPr>
      </p:sp>
      <p:sp>
        <p:nvSpPr>
          <p:cNvPr id="40" name="Text 38"/>
          <p:cNvSpPr/>
          <p:nvPr/>
        </p:nvSpPr>
        <p:spPr>
          <a:xfrm>
            <a:off x="685800" y="2377440"/>
            <a:ext cx="283464" cy="1205345"/>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CORE PLATFORM</a:t>
            </a:r>
            <a:endParaRPr lang="en-US" sz="750" dirty="0"/>
          </a:p>
        </p:txBody>
      </p:sp>
      <p:sp>
        <p:nvSpPr>
          <p:cNvPr id="41" name="Shape 39"/>
          <p:cNvSpPr/>
          <p:nvPr/>
        </p:nvSpPr>
        <p:spPr>
          <a:xfrm>
            <a:off x="1033272" y="2655916"/>
            <a:ext cx="10536631" cy="0"/>
          </a:xfrm>
          <a:prstGeom prst="line">
            <a:avLst/>
          </a:prstGeom>
          <a:noFill/>
          <a:ln w="4445">
            <a:solidFill>
              <a:srgbClr val="E2E6E2"/>
            </a:solidFill>
            <a:prstDash val="solid"/>
          </a:ln>
        </p:spPr>
      </p:sp>
      <p:sp>
        <p:nvSpPr>
          <p:cNvPr id="42" name="Shape 40"/>
          <p:cNvSpPr/>
          <p:nvPr/>
        </p:nvSpPr>
        <p:spPr>
          <a:xfrm>
            <a:off x="1143000" y="2384090"/>
            <a:ext cx="45720" cy="219456"/>
          </a:xfrm>
          <a:prstGeom prst="roundRect">
            <a:avLst>
              <a:gd name="adj" fmla="val 60000"/>
            </a:avLst>
          </a:prstGeom>
          <a:solidFill>
            <a:srgbClr val="3DCD58"/>
          </a:solidFill>
          <a:ln w="12700">
            <a:solidFill>
              <a:srgbClr val="3DCD58"/>
            </a:solidFill>
            <a:prstDash val="solid"/>
          </a:ln>
        </p:spPr>
      </p:sp>
      <p:sp>
        <p:nvSpPr>
          <p:cNvPr id="43" name="Text 41"/>
          <p:cNvSpPr/>
          <p:nvPr/>
        </p:nvSpPr>
        <p:spPr>
          <a:xfrm>
            <a:off x="1243584" y="2347514"/>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Shared hierarchy and factors</a:t>
            </a:r>
            <a:endParaRPr lang="en-US" sz="950" dirty="0"/>
          </a:p>
        </p:txBody>
      </p:sp>
      <p:sp>
        <p:nvSpPr>
          <p:cNvPr id="44" name="Shape 42"/>
          <p:cNvSpPr/>
          <p:nvPr/>
        </p:nvSpPr>
        <p:spPr>
          <a:xfrm>
            <a:off x="4808677" y="2438705"/>
            <a:ext cx="2028368" cy="110227"/>
          </a:xfrm>
          <a:prstGeom prst="roundRect">
            <a:avLst>
              <a:gd name="adj" fmla="val 33182"/>
            </a:avLst>
          </a:prstGeom>
          <a:solidFill>
            <a:srgbClr val="3DCD58"/>
          </a:solidFill>
          <a:ln w="12700">
            <a:solidFill>
              <a:srgbClr val="3DCD58"/>
            </a:solidFill>
            <a:prstDash val="solid"/>
          </a:ln>
        </p:spPr>
      </p:sp>
      <p:sp>
        <p:nvSpPr>
          <p:cNvPr id="45" name="Shape 43"/>
          <p:cNvSpPr/>
          <p:nvPr/>
        </p:nvSpPr>
        <p:spPr>
          <a:xfrm>
            <a:off x="6837045" y="2438705"/>
            <a:ext cx="4732858" cy="110227"/>
          </a:xfrm>
          <a:prstGeom prst="roundRect">
            <a:avLst>
              <a:gd name="adj" fmla="val 33182"/>
            </a:avLst>
          </a:prstGeom>
          <a:solidFill>
            <a:srgbClr val="3DCD58">
              <a:alpha val="22000"/>
            </a:srgbClr>
          </a:solidFill>
          <a:ln w="12700">
            <a:solidFill>
              <a:srgbClr val="3DCD58">
                <a:alpha val="22000"/>
              </a:srgbClr>
            </a:solidFill>
            <a:prstDash val="solid"/>
          </a:ln>
        </p:spPr>
      </p:sp>
      <p:sp>
        <p:nvSpPr>
          <p:cNvPr id="46" name="Shape 44"/>
          <p:cNvSpPr/>
          <p:nvPr/>
        </p:nvSpPr>
        <p:spPr>
          <a:xfrm>
            <a:off x="6763893" y="2420666"/>
            <a:ext cx="146304" cy="146304"/>
          </a:xfrm>
          <a:prstGeom prst="ellipse">
            <a:avLst/>
          </a:prstGeom>
          <a:solidFill>
            <a:srgbClr val="007A27"/>
          </a:solidFill>
          <a:ln w="15240">
            <a:solidFill>
              <a:srgbClr val="FFFFFF"/>
            </a:solidFill>
            <a:prstDash val="solid"/>
          </a:ln>
        </p:spPr>
      </p:sp>
      <p:sp>
        <p:nvSpPr>
          <p:cNvPr id="47" name="Shape 45"/>
          <p:cNvSpPr/>
          <p:nvPr/>
        </p:nvSpPr>
        <p:spPr>
          <a:xfrm>
            <a:off x="1033272" y="2980113"/>
            <a:ext cx="10536631" cy="0"/>
          </a:xfrm>
          <a:prstGeom prst="line">
            <a:avLst/>
          </a:prstGeom>
          <a:noFill/>
          <a:ln w="4445">
            <a:solidFill>
              <a:srgbClr val="E2E6E2"/>
            </a:solidFill>
            <a:prstDash val="solid"/>
          </a:ln>
        </p:spPr>
      </p:sp>
      <p:sp>
        <p:nvSpPr>
          <p:cNvPr id="48" name="Shape 46"/>
          <p:cNvSpPr/>
          <p:nvPr/>
        </p:nvSpPr>
        <p:spPr>
          <a:xfrm>
            <a:off x="1143000" y="2708287"/>
            <a:ext cx="45720" cy="219456"/>
          </a:xfrm>
          <a:prstGeom prst="roundRect">
            <a:avLst>
              <a:gd name="adj" fmla="val 60000"/>
            </a:avLst>
          </a:prstGeom>
          <a:solidFill>
            <a:srgbClr val="3DCD58"/>
          </a:solidFill>
          <a:ln w="12700">
            <a:solidFill>
              <a:srgbClr val="3DCD58"/>
            </a:solidFill>
            <a:prstDash val="solid"/>
          </a:ln>
        </p:spPr>
      </p:sp>
      <p:sp>
        <p:nvSpPr>
          <p:cNvPr id="49" name="Text 47"/>
          <p:cNvSpPr/>
          <p:nvPr/>
        </p:nvSpPr>
        <p:spPr>
          <a:xfrm>
            <a:off x="1243584" y="2671711"/>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Ingestion and data quality</a:t>
            </a:r>
            <a:endParaRPr lang="en-US" sz="950" dirty="0"/>
          </a:p>
        </p:txBody>
      </p:sp>
      <p:sp>
        <p:nvSpPr>
          <p:cNvPr id="50" name="Shape 48"/>
          <p:cNvSpPr/>
          <p:nvPr/>
        </p:nvSpPr>
        <p:spPr>
          <a:xfrm>
            <a:off x="5484800" y="2762901"/>
            <a:ext cx="2704490" cy="110227"/>
          </a:xfrm>
          <a:prstGeom prst="roundRect">
            <a:avLst>
              <a:gd name="adj" fmla="val 33182"/>
            </a:avLst>
          </a:prstGeom>
          <a:solidFill>
            <a:srgbClr val="3DCD58"/>
          </a:solidFill>
          <a:ln w="12700">
            <a:solidFill>
              <a:srgbClr val="3DCD58"/>
            </a:solidFill>
            <a:prstDash val="solid"/>
          </a:ln>
        </p:spPr>
      </p:sp>
      <p:sp>
        <p:nvSpPr>
          <p:cNvPr id="51" name="Shape 49"/>
          <p:cNvSpPr/>
          <p:nvPr/>
        </p:nvSpPr>
        <p:spPr>
          <a:xfrm>
            <a:off x="8189290" y="2762901"/>
            <a:ext cx="3380613" cy="110227"/>
          </a:xfrm>
          <a:prstGeom prst="roundRect">
            <a:avLst>
              <a:gd name="adj" fmla="val 33182"/>
            </a:avLst>
          </a:prstGeom>
          <a:solidFill>
            <a:srgbClr val="3DCD58">
              <a:alpha val="22000"/>
            </a:srgbClr>
          </a:solidFill>
          <a:ln w="12700">
            <a:solidFill>
              <a:srgbClr val="3DCD58">
                <a:alpha val="22000"/>
              </a:srgbClr>
            </a:solidFill>
            <a:prstDash val="solid"/>
          </a:ln>
        </p:spPr>
      </p:sp>
      <p:sp>
        <p:nvSpPr>
          <p:cNvPr id="52" name="Shape 50"/>
          <p:cNvSpPr/>
          <p:nvPr/>
        </p:nvSpPr>
        <p:spPr>
          <a:xfrm>
            <a:off x="6087770" y="2744863"/>
            <a:ext cx="146304" cy="146304"/>
          </a:xfrm>
          <a:prstGeom prst="ellipse">
            <a:avLst/>
          </a:prstGeom>
          <a:solidFill>
            <a:srgbClr val="FFB04C"/>
          </a:solidFill>
          <a:ln w="15240">
            <a:solidFill>
              <a:srgbClr val="FFFFFF"/>
            </a:solidFill>
            <a:prstDash val="solid"/>
          </a:ln>
        </p:spPr>
      </p:sp>
      <p:sp>
        <p:nvSpPr>
          <p:cNvPr id="53" name="Shape 51"/>
          <p:cNvSpPr/>
          <p:nvPr/>
        </p:nvSpPr>
        <p:spPr>
          <a:xfrm>
            <a:off x="1033272" y="3304309"/>
            <a:ext cx="10536631" cy="0"/>
          </a:xfrm>
          <a:prstGeom prst="line">
            <a:avLst/>
          </a:prstGeom>
          <a:noFill/>
          <a:ln w="4445">
            <a:solidFill>
              <a:srgbClr val="E2E6E2"/>
            </a:solidFill>
            <a:prstDash val="solid"/>
          </a:ln>
        </p:spPr>
      </p:sp>
      <p:sp>
        <p:nvSpPr>
          <p:cNvPr id="54" name="Shape 52"/>
          <p:cNvSpPr/>
          <p:nvPr/>
        </p:nvSpPr>
        <p:spPr>
          <a:xfrm>
            <a:off x="1143000" y="3032483"/>
            <a:ext cx="45720" cy="219456"/>
          </a:xfrm>
          <a:prstGeom prst="roundRect">
            <a:avLst>
              <a:gd name="adj" fmla="val 60000"/>
            </a:avLst>
          </a:prstGeom>
          <a:solidFill>
            <a:srgbClr val="3DCD58"/>
          </a:solidFill>
          <a:ln w="12700">
            <a:solidFill>
              <a:srgbClr val="3DCD58"/>
            </a:solidFill>
            <a:prstDash val="solid"/>
          </a:ln>
        </p:spPr>
      </p:sp>
      <p:sp>
        <p:nvSpPr>
          <p:cNvPr id="55" name="Text 53"/>
          <p:cNvSpPr/>
          <p:nvPr/>
        </p:nvSpPr>
        <p:spPr>
          <a:xfrm>
            <a:off x="1243584" y="2995907"/>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Lineage, evidence and audit trail</a:t>
            </a:r>
            <a:endParaRPr lang="en-US" sz="950" dirty="0"/>
          </a:p>
        </p:txBody>
      </p:sp>
      <p:sp>
        <p:nvSpPr>
          <p:cNvPr id="56" name="Shape 54"/>
          <p:cNvSpPr/>
          <p:nvPr/>
        </p:nvSpPr>
        <p:spPr>
          <a:xfrm>
            <a:off x="6837045" y="3087098"/>
            <a:ext cx="2704490" cy="110227"/>
          </a:xfrm>
          <a:prstGeom prst="roundRect">
            <a:avLst>
              <a:gd name="adj" fmla="val 33182"/>
            </a:avLst>
          </a:prstGeom>
          <a:solidFill>
            <a:srgbClr val="3DCD58"/>
          </a:solidFill>
          <a:ln w="12700">
            <a:solidFill>
              <a:srgbClr val="3DCD58"/>
            </a:solidFill>
            <a:prstDash val="solid"/>
          </a:ln>
        </p:spPr>
      </p:sp>
      <p:sp>
        <p:nvSpPr>
          <p:cNvPr id="57" name="Shape 55"/>
          <p:cNvSpPr/>
          <p:nvPr/>
        </p:nvSpPr>
        <p:spPr>
          <a:xfrm>
            <a:off x="9541535" y="3087098"/>
            <a:ext cx="2028368" cy="110227"/>
          </a:xfrm>
          <a:prstGeom prst="roundRect">
            <a:avLst>
              <a:gd name="adj" fmla="val 33182"/>
            </a:avLst>
          </a:prstGeom>
          <a:solidFill>
            <a:srgbClr val="3DCD58">
              <a:alpha val="22000"/>
            </a:srgbClr>
          </a:solidFill>
          <a:ln w="12700">
            <a:solidFill>
              <a:srgbClr val="3DCD58">
                <a:alpha val="22000"/>
              </a:srgbClr>
            </a:solidFill>
            <a:prstDash val="solid"/>
          </a:ln>
        </p:spPr>
      </p:sp>
      <p:sp>
        <p:nvSpPr>
          <p:cNvPr id="58" name="Shape 56"/>
          <p:cNvSpPr/>
          <p:nvPr/>
        </p:nvSpPr>
        <p:spPr>
          <a:xfrm>
            <a:off x="1033272" y="3628505"/>
            <a:ext cx="10536631" cy="0"/>
          </a:xfrm>
          <a:prstGeom prst="line">
            <a:avLst/>
          </a:prstGeom>
          <a:noFill/>
          <a:ln w="4445">
            <a:solidFill>
              <a:srgbClr val="E2E6E2"/>
            </a:solidFill>
            <a:prstDash val="solid"/>
          </a:ln>
        </p:spPr>
      </p:sp>
      <p:sp>
        <p:nvSpPr>
          <p:cNvPr id="59" name="Shape 57"/>
          <p:cNvSpPr/>
          <p:nvPr/>
        </p:nvSpPr>
        <p:spPr>
          <a:xfrm>
            <a:off x="1143000" y="3356679"/>
            <a:ext cx="45720" cy="219456"/>
          </a:xfrm>
          <a:prstGeom prst="roundRect">
            <a:avLst>
              <a:gd name="adj" fmla="val 60000"/>
            </a:avLst>
          </a:prstGeom>
          <a:solidFill>
            <a:srgbClr val="3DCD58"/>
          </a:solidFill>
          <a:ln w="12700">
            <a:solidFill>
              <a:srgbClr val="3DCD58"/>
            </a:solidFill>
            <a:prstDash val="solid"/>
          </a:ln>
        </p:spPr>
      </p:sp>
      <p:sp>
        <p:nvSpPr>
          <p:cNvPr id="60" name="Text 58"/>
          <p:cNvSpPr/>
          <p:nvPr/>
        </p:nvSpPr>
        <p:spPr>
          <a:xfrm>
            <a:off x="1243584" y="3320103"/>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Enterprise scale and AI services</a:t>
            </a:r>
            <a:endParaRPr lang="en-US" sz="950" dirty="0"/>
          </a:p>
        </p:txBody>
      </p:sp>
      <p:sp>
        <p:nvSpPr>
          <p:cNvPr id="61" name="Shape 59"/>
          <p:cNvSpPr/>
          <p:nvPr/>
        </p:nvSpPr>
        <p:spPr>
          <a:xfrm>
            <a:off x="8865413" y="3411294"/>
            <a:ext cx="2704490" cy="110227"/>
          </a:xfrm>
          <a:prstGeom prst="roundRect">
            <a:avLst>
              <a:gd name="adj" fmla="val 33182"/>
            </a:avLst>
          </a:prstGeom>
          <a:solidFill>
            <a:srgbClr val="3DCD58"/>
          </a:solidFill>
          <a:ln w="12700">
            <a:solidFill>
              <a:srgbClr val="3DCD58"/>
            </a:solidFill>
            <a:prstDash val="solid"/>
          </a:ln>
        </p:spPr>
      </p:sp>
      <p:sp>
        <p:nvSpPr>
          <p:cNvPr id="62" name="Shape 60"/>
          <p:cNvSpPr/>
          <p:nvPr/>
        </p:nvSpPr>
        <p:spPr>
          <a:xfrm>
            <a:off x="621792" y="3628505"/>
            <a:ext cx="411480" cy="1296785"/>
          </a:xfrm>
          <a:prstGeom prst="rect">
            <a:avLst/>
          </a:prstGeom>
          <a:solidFill>
            <a:srgbClr val="007A27"/>
          </a:solidFill>
          <a:ln w="7620">
            <a:solidFill>
              <a:srgbClr val="FFFFFF"/>
            </a:solidFill>
            <a:prstDash val="solid"/>
          </a:ln>
        </p:spPr>
      </p:sp>
      <p:sp>
        <p:nvSpPr>
          <p:cNvPr id="63" name="Text 61"/>
          <p:cNvSpPr/>
          <p:nvPr/>
        </p:nvSpPr>
        <p:spPr>
          <a:xfrm>
            <a:off x="685800" y="3674225"/>
            <a:ext cx="283464" cy="1205345"/>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SUSTAINABILITY PRODUCTS</a:t>
            </a:r>
            <a:endParaRPr lang="en-US" sz="750" dirty="0"/>
          </a:p>
        </p:txBody>
      </p:sp>
      <p:sp>
        <p:nvSpPr>
          <p:cNvPr id="64" name="Shape 62"/>
          <p:cNvSpPr/>
          <p:nvPr/>
        </p:nvSpPr>
        <p:spPr>
          <a:xfrm>
            <a:off x="1033272" y="3952702"/>
            <a:ext cx="10536631" cy="0"/>
          </a:xfrm>
          <a:prstGeom prst="line">
            <a:avLst/>
          </a:prstGeom>
          <a:noFill/>
          <a:ln w="4445">
            <a:solidFill>
              <a:srgbClr val="E2E6E2"/>
            </a:solidFill>
            <a:prstDash val="solid"/>
          </a:ln>
        </p:spPr>
      </p:sp>
      <p:sp>
        <p:nvSpPr>
          <p:cNvPr id="65" name="Shape 63"/>
          <p:cNvSpPr/>
          <p:nvPr/>
        </p:nvSpPr>
        <p:spPr>
          <a:xfrm>
            <a:off x="1143000" y="3680876"/>
            <a:ext cx="45720" cy="219456"/>
          </a:xfrm>
          <a:prstGeom prst="roundRect">
            <a:avLst>
              <a:gd name="adj" fmla="val 60000"/>
            </a:avLst>
          </a:prstGeom>
          <a:solidFill>
            <a:srgbClr val="007A27"/>
          </a:solidFill>
          <a:ln w="12700">
            <a:solidFill>
              <a:srgbClr val="007A27"/>
            </a:solidFill>
            <a:prstDash val="solid"/>
          </a:ln>
        </p:spPr>
      </p:sp>
      <p:sp>
        <p:nvSpPr>
          <p:cNvPr id="66" name="Text 64"/>
          <p:cNvSpPr/>
          <p:nvPr/>
        </p:nvSpPr>
        <p:spPr>
          <a:xfrm>
            <a:off x="1243584" y="3644300"/>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Carbon Performance inventory</a:t>
            </a:r>
            <a:endParaRPr lang="en-US" sz="950" dirty="0"/>
          </a:p>
        </p:txBody>
      </p:sp>
      <p:sp>
        <p:nvSpPr>
          <p:cNvPr id="67" name="Shape 65"/>
          <p:cNvSpPr/>
          <p:nvPr/>
        </p:nvSpPr>
        <p:spPr>
          <a:xfrm>
            <a:off x="4808677" y="3735490"/>
            <a:ext cx="2704490" cy="110227"/>
          </a:xfrm>
          <a:prstGeom prst="roundRect">
            <a:avLst>
              <a:gd name="adj" fmla="val 33182"/>
            </a:avLst>
          </a:prstGeom>
          <a:solidFill>
            <a:srgbClr val="007A27"/>
          </a:solidFill>
          <a:ln w="12700">
            <a:solidFill>
              <a:srgbClr val="007A27"/>
            </a:solidFill>
            <a:prstDash val="solid"/>
          </a:ln>
        </p:spPr>
      </p:sp>
      <p:sp>
        <p:nvSpPr>
          <p:cNvPr id="68" name="Shape 66"/>
          <p:cNvSpPr/>
          <p:nvPr/>
        </p:nvSpPr>
        <p:spPr>
          <a:xfrm>
            <a:off x="7513168" y="3735490"/>
            <a:ext cx="4056736" cy="110227"/>
          </a:xfrm>
          <a:prstGeom prst="roundRect">
            <a:avLst>
              <a:gd name="adj" fmla="val 33182"/>
            </a:avLst>
          </a:prstGeom>
          <a:solidFill>
            <a:srgbClr val="007A27">
              <a:alpha val="22000"/>
            </a:srgbClr>
          </a:solidFill>
          <a:ln w="12700">
            <a:solidFill>
              <a:srgbClr val="007A27">
                <a:alpha val="22000"/>
              </a:srgbClr>
            </a:solidFill>
            <a:prstDash val="solid"/>
          </a:ln>
        </p:spPr>
      </p:sp>
      <p:sp>
        <p:nvSpPr>
          <p:cNvPr id="69" name="Shape 67"/>
          <p:cNvSpPr/>
          <p:nvPr/>
        </p:nvSpPr>
        <p:spPr>
          <a:xfrm>
            <a:off x="5411648" y="3717452"/>
            <a:ext cx="146304" cy="146304"/>
          </a:xfrm>
          <a:prstGeom prst="ellipse">
            <a:avLst/>
          </a:prstGeom>
          <a:solidFill>
            <a:srgbClr val="FFB04C"/>
          </a:solidFill>
          <a:ln w="15240">
            <a:solidFill>
              <a:srgbClr val="FFFFFF"/>
            </a:solidFill>
            <a:prstDash val="solid"/>
          </a:ln>
        </p:spPr>
      </p:sp>
      <p:sp>
        <p:nvSpPr>
          <p:cNvPr id="70" name="Shape 68"/>
          <p:cNvSpPr/>
          <p:nvPr/>
        </p:nvSpPr>
        <p:spPr>
          <a:xfrm>
            <a:off x="7440016" y="3717452"/>
            <a:ext cx="146304" cy="146304"/>
          </a:xfrm>
          <a:prstGeom prst="ellipse">
            <a:avLst/>
          </a:prstGeom>
          <a:solidFill>
            <a:srgbClr val="007A27"/>
          </a:solidFill>
          <a:ln w="15240">
            <a:solidFill>
              <a:srgbClr val="FFFFFF"/>
            </a:solidFill>
            <a:prstDash val="solid"/>
          </a:ln>
        </p:spPr>
      </p:sp>
      <p:sp>
        <p:nvSpPr>
          <p:cNvPr id="71" name="Shape 69"/>
          <p:cNvSpPr/>
          <p:nvPr/>
        </p:nvSpPr>
        <p:spPr>
          <a:xfrm>
            <a:off x="1033272" y="4276898"/>
            <a:ext cx="10536631" cy="0"/>
          </a:xfrm>
          <a:prstGeom prst="line">
            <a:avLst/>
          </a:prstGeom>
          <a:noFill/>
          <a:ln w="4445">
            <a:solidFill>
              <a:srgbClr val="E2E6E2"/>
            </a:solidFill>
            <a:prstDash val="solid"/>
          </a:ln>
        </p:spPr>
      </p:sp>
      <p:sp>
        <p:nvSpPr>
          <p:cNvPr id="72" name="Shape 70"/>
          <p:cNvSpPr/>
          <p:nvPr/>
        </p:nvSpPr>
        <p:spPr>
          <a:xfrm>
            <a:off x="1143000" y="4005072"/>
            <a:ext cx="45720" cy="219456"/>
          </a:xfrm>
          <a:prstGeom prst="roundRect">
            <a:avLst>
              <a:gd name="adj" fmla="val 60000"/>
            </a:avLst>
          </a:prstGeom>
          <a:solidFill>
            <a:srgbClr val="007A27"/>
          </a:solidFill>
          <a:ln w="12700">
            <a:solidFill>
              <a:srgbClr val="007A27"/>
            </a:solidFill>
            <a:prstDash val="solid"/>
          </a:ln>
        </p:spPr>
      </p:sp>
      <p:sp>
        <p:nvSpPr>
          <p:cNvPr id="73" name="Text 71"/>
          <p:cNvSpPr/>
          <p:nvPr/>
        </p:nvSpPr>
        <p:spPr>
          <a:xfrm>
            <a:off x="1243584" y="39684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Supply chain and PCF</a:t>
            </a:r>
            <a:endParaRPr lang="en-US" sz="950" dirty="0"/>
          </a:p>
        </p:txBody>
      </p:sp>
      <p:sp>
        <p:nvSpPr>
          <p:cNvPr id="74" name="Shape 72"/>
          <p:cNvSpPr/>
          <p:nvPr/>
        </p:nvSpPr>
        <p:spPr>
          <a:xfrm>
            <a:off x="5484800" y="4059687"/>
            <a:ext cx="3380613" cy="110227"/>
          </a:xfrm>
          <a:prstGeom prst="roundRect">
            <a:avLst>
              <a:gd name="adj" fmla="val 33182"/>
            </a:avLst>
          </a:prstGeom>
          <a:solidFill>
            <a:srgbClr val="007A27"/>
          </a:solidFill>
          <a:ln w="12700">
            <a:solidFill>
              <a:srgbClr val="007A27"/>
            </a:solidFill>
            <a:prstDash val="solid"/>
          </a:ln>
        </p:spPr>
      </p:sp>
      <p:sp>
        <p:nvSpPr>
          <p:cNvPr id="75" name="Shape 73"/>
          <p:cNvSpPr/>
          <p:nvPr/>
        </p:nvSpPr>
        <p:spPr>
          <a:xfrm>
            <a:off x="8865413" y="4059687"/>
            <a:ext cx="2704490" cy="110227"/>
          </a:xfrm>
          <a:prstGeom prst="roundRect">
            <a:avLst>
              <a:gd name="adj" fmla="val 33182"/>
            </a:avLst>
          </a:prstGeom>
          <a:solidFill>
            <a:srgbClr val="007A27">
              <a:alpha val="22000"/>
            </a:srgbClr>
          </a:solidFill>
          <a:ln w="12700">
            <a:solidFill>
              <a:srgbClr val="007A27">
                <a:alpha val="22000"/>
              </a:srgbClr>
            </a:solidFill>
            <a:prstDash val="solid"/>
          </a:ln>
        </p:spPr>
      </p:sp>
      <p:sp>
        <p:nvSpPr>
          <p:cNvPr id="76" name="Shape 74"/>
          <p:cNvSpPr/>
          <p:nvPr/>
        </p:nvSpPr>
        <p:spPr>
          <a:xfrm>
            <a:off x="8792261" y="4041648"/>
            <a:ext cx="146304" cy="146304"/>
          </a:xfrm>
          <a:prstGeom prst="ellipse">
            <a:avLst/>
          </a:prstGeom>
          <a:solidFill>
            <a:srgbClr val="007A27"/>
          </a:solidFill>
          <a:ln w="15240">
            <a:solidFill>
              <a:srgbClr val="FFFFFF"/>
            </a:solidFill>
            <a:prstDash val="solid"/>
          </a:ln>
        </p:spPr>
      </p:sp>
      <p:sp>
        <p:nvSpPr>
          <p:cNvPr id="77" name="Shape 75"/>
          <p:cNvSpPr/>
          <p:nvPr/>
        </p:nvSpPr>
        <p:spPr>
          <a:xfrm>
            <a:off x="1033272" y="4601095"/>
            <a:ext cx="10536631" cy="0"/>
          </a:xfrm>
          <a:prstGeom prst="line">
            <a:avLst/>
          </a:prstGeom>
          <a:noFill/>
          <a:ln w="4445">
            <a:solidFill>
              <a:srgbClr val="E2E6E2"/>
            </a:solidFill>
            <a:prstDash val="solid"/>
          </a:ln>
        </p:spPr>
      </p:sp>
      <p:sp>
        <p:nvSpPr>
          <p:cNvPr id="78" name="Shape 76"/>
          <p:cNvSpPr/>
          <p:nvPr/>
        </p:nvSpPr>
        <p:spPr>
          <a:xfrm>
            <a:off x="1143000" y="4329268"/>
            <a:ext cx="45720" cy="219456"/>
          </a:xfrm>
          <a:prstGeom prst="roundRect">
            <a:avLst>
              <a:gd name="adj" fmla="val 60000"/>
            </a:avLst>
          </a:prstGeom>
          <a:solidFill>
            <a:srgbClr val="007A27"/>
          </a:solidFill>
          <a:ln w="12700">
            <a:solidFill>
              <a:srgbClr val="007A27"/>
            </a:solidFill>
            <a:prstDash val="solid"/>
          </a:ln>
        </p:spPr>
      </p:sp>
      <p:sp>
        <p:nvSpPr>
          <p:cNvPr id="79" name="Text 77"/>
          <p:cNvSpPr/>
          <p:nvPr/>
        </p:nvSpPr>
        <p:spPr>
          <a:xfrm>
            <a:off x="1243584" y="4292692"/>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Configure, collect, disclose</a:t>
            </a:r>
            <a:endParaRPr lang="en-US" sz="950" dirty="0"/>
          </a:p>
        </p:txBody>
      </p:sp>
      <p:sp>
        <p:nvSpPr>
          <p:cNvPr id="80" name="Shape 78"/>
          <p:cNvSpPr/>
          <p:nvPr/>
        </p:nvSpPr>
        <p:spPr>
          <a:xfrm>
            <a:off x="5484800" y="4383883"/>
            <a:ext cx="2704490" cy="110227"/>
          </a:xfrm>
          <a:prstGeom prst="roundRect">
            <a:avLst>
              <a:gd name="adj" fmla="val 33182"/>
            </a:avLst>
          </a:prstGeom>
          <a:solidFill>
            <a:srgbClr val="007A27"/>
          </a:solidFill>
          <a:ln w="12700">
            <a:solidFill>
              <a:srgbClr val="007A27"/>
            </a:solidFill>
            <a:prstDash val="solid"/>
          </a:ln>
        </p:spPr>
      </p:sp>
      <p:sp>
        <p:nvSpPr>
          <p:cNvPr id="81" name="Shape 79"/>
          <p:cNvSpPr/>
          <p:nvPr/>
        </p:nvSpPr>
        <p:spPr>
          <a:xfrm>
            <a:off x="8189290" y="4383883"/>
            <a:ext cx="3380613" cy="110227"/>
          </a:xfrm>
          <a:prstGeom prst="roundRect">
            <a:avLst>
              <a:gd name="adj" fmla="val 33182"/>
            </a:avLst>
          </a:prstGeom>
          <a:solidFill>
            <a:srgbClr val="007A27">
              <a:alpha val="22000"/>
            </a:srgbClr>
          </a:solidFill>
          <a:ln w="12700">
            <a:solidFill>
              <a:srgbClr val="007A27">
                <a:alpha val="22000"/>
              </a:srgbClr>
            </a:solidFill>
            <a:prstDash val="solid"/>
          </a:ln>
        </p:spPr>
      </p:sp>
      <p:sp>
        <p:nvSpPr>
          <p:cNvPr id="82" name="Shape 80"/>
          <p:cNvSpPr/>
          <p:nvPr/>
        </p:nvSpPr>
        <p:spPr>
          <a:xfrm>
            <a:off x="6763893" y="4365844"/>
            <a:ext cx="146304" cy="146304"/>
          </a:xfrm>
          <a:prstGeom prst="ellipse">
            <a:avLst/>
          </a:prstGeom>
          <a:solidFill>
            <a:srgbClr val="FFB04C"/>
          </a:solidFill>
          <a:ln w="15240">
            <a:solidFill>
              <a:srgbClr val="FFFFFF"/>
            </a:solidFill>
            <a:prstDash val="solid"/>
          </a:ln>
        </p:spPr>
      </p:sp>
      <p:sp>
        <p:nvSpPr>
          <p:cNvPr id="83" name="Shape 81"/>
          <p:cNvSpPr/>
          <p:nvPr/>
        </p:nvSpPr>
        <p:spPr>
          <a:xfrm>
            <a:off x="1033272" y="4925291"/>
            <a:ext cx="10536631" cy="0"/>
          </a:xfrm>
          <a:prstGeom prst="line">
            <a:avLst/>
          </a:prstGeom>
          <a:noFill/>
          <a:ln w="4445">
            <a:solidFill>
              <a:srgbClr val="E2E6E2"/>
            </a:solidFill>
            <a:prstDash val="solid"/>
          </a:ln>
        </p:spPr>
      </p:sp>
      <p:sp>
        <p:nvSpPr>
          <p:cNvPr id="84" name="Shape 82"/>
          <p:cNvSpPr/>
          <p:nvPr/>
        </p:nvSpPr>
        <p:spPr>
          <a:xfrm>
            <a:off x="1143000" y="4653465"/>
            <a:ext cx="45720" cy="219456"/>
          </a:xfrm>
          <a:prstGeom prst="roundRect">
            <a:avLst>
              <a:gd name="adj" fmla="val 60000"/>
            </a:avLst>
          </a:prstGeom>
          <a:solidFill>
            <a:srgbClr val="007A27"/>
          </a:solidFill>
          <a:ln w="12700">
            <a:solidFill>
              <a:srgbClr val="007A27"/>
            </a:solidFill>
            <a:prstDash val="solid"/>
          </a:ln>
        </p:spPr>
      </p:sp>
      <p:sp>
        <p:nvSpPr>
          <p:cNvPr id="85" name="Text 83"/>
          <p:cNvSpPr/>
          <p:nvPr/>
        </p:nvSpPr>
        <p:spPr>
          <a:xfrm>
            <a:off x="1243584" y="4616889"/>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Climate risk to value at risk</a:t>
            </a:r>
            <a:endParaRPr lang="en-US" sz="950" dirty="0"/>
          </a:p>
        </p:txBody>
      </p:sp>
      <p:sp>
        <p:nvSpPr>
          <p:cNvPr id="86" name="Shape 84"/>
          <p:cNvSpPr/>
          <p:nvPr/>
        </p:nvSpPr>
        <p:spPr>
          <a:xfrm>
            <a:off x="6160922" y="4708079"/>
            <a:ext cx="3380613" cy="110227"/>
          </a:xfrm>
          <a:prstGeom prst="roundRect">
            <a:avLst>
              <a:gd name="adj" fmla="val 33182"/>
            </a:avLst>
          </a:prstGeom>
          <a:solidFill>
            <a:srgbClr val="007A27"/>
          </a:solidFill>
          <a:ln w="12700">
            <a:solidFill>
              <a:srgbClr val="007A27"/>
            </a:solidFill>
            <a:prstDash val="solid"/>
          </a:ln>
        </p:spPr>
      </p:sp>
      <p:sp>
        <p:nvSpPr>
          <p:cNvPr id="87" name="Shape 85"/>
          <p:cNvSpPr/>
          <p:nvPr/>
        </p:nvSpPr>
        <p:spPr>
          <a:xfrm>
            <a:off x="9541535" y="4708079"/>
            <a:ext cx="2028368" cy="110227"/>
          </a:xfrm>
          <a:prstGeom prst="roundRect">
            <a:avLst>
              <a:gd name="adj" fmla="val 33182"/>
            </a:avLst>
          </a:prstGeom>
          <a:solidFill>
            <a:srgbClr val="007A27">
              <a:alpha val="22000"/>
            </a:srgbClr>
          </a:solidFill>
          <a:ln w="12700">
            <a:solidFill>
              <a:srgbClr val="007A27">
                <a:alpha val="22000"/>
              </a:srgbClr>
            </a:solidFill>
            <a:prstDash val="solid"/>
          </a:ln>
        </p:spPr>
      </p:sp>
      <p:sp>
        <p:nvSpPr>
          <p:cNvPr id="88" name="Shape 86"/>
          <p:cNvSpPr/>
          <p:nvPr/>
        </p:nvSpPr>
        <p:spPr>
          <a:xfrm>
            <a:off x="7440016" y="4690041"/>
            <a:ext cx="146304" cy="146304"/>
          </a:xfrm>
          <a:prstGeom prst="ellipse">
            <a:avLst/>
          </a:prstGeom>
          <a:solidFill>
            <a:srgbClr val="FFB04C"/>
          </a:solidFill>
          <a:ln w="15240">
            <a:solidFill>
              <a:srgbClr val="FFFFFF"/>
            </a:solidFill>
            <a:prstDash val="solid"/>
          </a:ln>
        </p:spPr>
      </p:sp>
      <p:sp>
        <p:nvSpPr>
          <p:cNvPr id="89" name="Shape 87"/>
          <p:cNvSpPr/>
          <p:nvPr/>
        </p:nvSpPr>
        <p:spPr>
          <a:xfrm>
            <a:off x="621792" y="4925291"/>
            <a:ext cx="411480" cy="972589"/>
          </a:xfrm>
          <a:prstGeom prst="rect">
            <a:avLst/>
          </a:prstGeom>
          <a:solidFill>
            <a:srgbClr val="FFB04C"/>
          </a:solidFill>
          <a:ln w="7620">
            <a:solidFill>
              <a:srgbClr val="FFFFFF"/>
            </a:solidFill>
            <a:prstDash val="solid"/>
          </a:ln>
        </p:spPr>
      </p:sp>
      <p:sp>
        <p:nvSpPr>
          <p:cNvPr id="90" name="Text 88"/>
          <p:cNvSpPr/>
          <p:nvPr/>
        </p:nvSpPr>
        <p:spPr>
          <a:xfrm>
            <a:off x="685800" y="4971011"/>
            <a:ext cx="283464" cy="881149"/>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CONVERGENCE</a:t>
            </a:r>
            <a:endParaRPr lang="en-US" sz="750" dirty="0"/>
          </a:p>
        </p:txBody>
      </p:sp>
      <p:sp>
        <p:nvSpPr>
          <p:cNvPr id="91" name="Shape 89"/>
          <p:cNvSpPr/>
          <p:nvPr/>
        </p:nvSpPr>
        <p:spPr>
          <a:xfrm>
            <a:off x="1033272" y="5249487"/>
            <a:ext cx="10536631" cy="0"/>
          </a:xfrm>
          <a:prstGeom prst="line">
            <a:avLst/>
          </a:prstGeom>
          <a:noFill/>
          <a:ln w="4445">
            <a:solidFill>
              <a:srgbClr val="E2E6E2"/>
            </a:solidFill>
            <a:prstDash val="solid"/>
          </a:ln>
        </p:spPr>
      </p:sp>
      <p:sp>
        <p:nvSpPr>
          <p:cNvPr id="92" name="Shape 90"/>
          <p:cNvSpPr/>
          <p:nvPr/>
        </p:nvSpPr>
        <p:spPr>
          <a:xfrm>
            <a:off x="1143000" y="4977661"/>
            <a:ext cx="45720" cy="219456"/>
          </a:xfrm>
          <a:prstGeom prst="roundRect">
            <a:avLst>
              <a:gd name="adj" fmla="val 60000"/>
            </a:avLst>
          </a:prstGeom>
          <a:solidFill>
            <a:srgbClr val="FFB04C"/>
          </a:solidFill>
          <a:ln w="12700">
            <a:solidFill>
              <a:srgbClr val="FFB04C"/>
            </a:solidFill>
            <a:prstDash val="solid"/>
          </a:ln>
        </p:spPr>
      </p:sp>
      <p:sp>
        <p:nvSpPr>
          <p:cNvPr id="93" name="Text 91"/>
          <p:cNvSpPr/>
          <p:nvPr/>
        </p:nvSpPr>
        <p:spPr>
          <a:xfrm>
            <a:off x="1243584" y="4941085"/>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Plan to execution</a:t>
            </a:r>
            <a:endParaRPr lang="en-US" sz="950" dirty="0"/>
          </a:p>
        </p:txBody>
      </p:sp>
      <p:sp>
        <p:nvSpPr>
          <p:cNvPr id="94" name="Shape 92"/>
          <p:cNvSpPr/>
          <p:nvPr/>
        </p:nvSpPr>
        <p:spPr>
          <a:xfrm>
            <a:off x="6837045" y="5032276"/>
            <a:ext cx="2704490" cy="110227"/>
          </a:xfrm>
          <a:prstGeom prst="roundRect">
            <a:avLst>
              <a:gd name="adj" fmla="val 33182"/>
            </a:avLst>
          </a:prstGeom>
          <a:solidFill>
            <a:srgbClr val="FFB04C"/>
          </a:solidFill>
          <a:ln w="12700">
            <a:solidFill>
              <a:srgbClr val="FFB04C"/>
            </a:solidFill>
            <a:prstDash val="solid"/>
          </a:ln>
        </p:spPr>
      </p:sp>
      <p:sp>
        <p:nvSpPr>
          <p:cNvPr id="95" name="Shape 93"/>
          <p:cNvSpPr/>
          <p:nvPr/>
        </p:nvSpPr>
        <p:spPr>
          <a:xfrm>
            <a:off x="9541535" y="5032276"/>
            <a:ext cx="2028368" cy="110227"/>
          </a:xfrm>
          <a:prstGeom prst="roundRect">
            <a:avLst>
              <a:gd name="adj" fmla="val 33182"/>
            </a:avLst>
          </a:prstGeom>
          <a:solidFill>
            <a:srgbClr val="FFB04C">
              <a:alpha val="22000"/>
            </a:srgbClr>
          </a:solidFill>
          <a:ln w="12700">
            <a:solidFill>
              <a:srgbClr val="FFB04C">
                <a:alpha val="22000"/>
              </a:srgbClr>
            </a:solidFill>
            <a:prstDash val="solid"/>
          </a:ln>
        </p:spPr>
      </p:sp>
      <p:sp>
        <p:nvSpPr>
          <p:cNvPr id="96" name="Shape 94"/>
          <p:cNvSpPr/>
          <p:nvPr/>
        </p:nvSpPr>
        <p:spPr>
          <a:xfrm>
            <a:off x="1033272" y="5573684"/>
            <a:ext cx="10536631" cy="0"/>
          </a:xfrm>
          <a:prstGeom prst="line">
            <a:avLst/>
          </a:prstGeom>
          <a:noFill/>
          <a:ln w="4445">
            <a:solidFill>
              <a:srgbClr val="E2E6E2"/>
            </a:solidFill>
            <a:prstDash val="solid"/>
          </a:ln>
        </p:spPr>
      </p:sp>
      <p:sp>
        <p:nvSpPr>
          <p:cNvPr id="97" name="Shape 95"/>
          <p:cNvSpPr/>
          <p:nvPr/>
        </p:nvSpPr>
        <p:spPr>
          <a:xfrm>
            <a:off x="1143000" y="5301857"/>
            <a:ext cx="45720" cy="219456"/>
          </a:xfrm>
          <a:prstGeom prst="roundRect">
            <a:avLst>
              <a:gd name="adj" fmla="val 60000"/>
            </a:avLst>
          </a:prstGeom>
          <a:solidFill>
            <a:srgbClr val="FFB04C"/>
          </a:solidFill>
          <a:ln w="12700">
            <a:solidFill>
              <a:srgbClr val="FFB04C"/>
            </a:solidFill>
            <a:prstDash val="solid"/>
          </a:ln>
        </p:spPr>
      </p:sp>
      <p:sp>
        <p:nvSpPr>
          <p:cNvPr id="98" name="Text 96"/>
          <p:cNvSpPr/>
          <p:nvPr/>
        </p:nvSpPr>
        <p:spPr>
          <a:xfrm>
            <a:off x="1243584" y="5265281"/>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Energy and carbon converged</a:t>
            </a:r>
            <a:endParaRPr lang="en-US" sz="950" dirty="0"/>
          </a:p>
        </p:txBody>
      </p:sp>
      <p:sp>
        <p:nvSpPr>
          <p:cNvPr id="99" name="Shape 97"/>
          <p:cNvSpPr/>
          <p:nvPr/>
        </p:nvSpPr>
        <p:spPr>
          <a:xfrm>
            <a:off x="8189290" y="5356472"/>
            <a:ext cx="2704490" cy="110227"/>
          </a:xfrm>
          <a:prstGeom prst="roundRect">
            <a:avLst>
              <a:gd name="adj" fmla="val 33182"/>
            </a:avLst>
          </a:prstGeom>
          <a:solidFill>
            <a:srgbClr val="FFB04C"/>
          </a:solidFill>
          <a:ln w="12700">
            <a:solidFill>
              <a:srgbClr val="FFB04C"/>
            </a:solidFill>
            <a:prstDash val="solid"/>
          </a:ln>
        </p:spPr>
      </p:sp>
      <p:sp>
        <p:nvSpPr>
          <p:cNvPr id="100" name="Shape 98"/>
          <p:cNvSpPr/>
          <p:nvPr/>
        </p:nvSpPr>
        <p:spPr>
          <a:xfrm>
            <a:off x="10893781" y="5356472"/>
            <a:ext cx="676123" cy="110227"/>
          </a:xfrm>
          <a:prstGeom prst="roundRect">
            <a:avLst>
              <a:gd name="adj" fmla="val 33182"/>
            </a:avLst>
          </a:prstGeom>
          <a:solidFill>
            <a:srgbClr val="FFB04C">
              <a:alpha val="22000"/>
            </a:srgbClr>
          </a:solidFill>
          <a:ln w="12700">
            <a:solidFill>
              <a:srgbClr val="FFB04C">
                <a:alpha val="22000"/>
              </a:srgbClr>
            </a:solidFill>
            <a:prstDash val="solid"/>
          </a:ln>
        </p:spPr>
      </p:sp>
      <p:sp>
        <p:nvSpPr>
          <p:cNvPr id="101" name="Shape 99"/>
          <p:cNvSpPr/>
          <p:nvPr/>
        </p:nvSpPr>
        <p:spPr>
          <a:xfrm>
            <a:off x="1033272" y="5897880"/>
            <a:ext cx="10536631" cy="0"/>
          </a:xfrm>
          <a:prstGeom prst="line">
            <a:avLst/>
          </a:prstGeom>
          <a:noFill/>
          <a:ln w="4445">
            <a:solidFill>
              <a:srgbClr val="E2E6E2"/>
            </a:solidFill>
            <a:prstDash val="solid"/>
          </a:ln>
        </p:spPr>
      </p:sp>
      <p:sp>
        <p:nvSpPr>
          <p:cNvPr id="102" name="Shape 100"/>
          <p:cNvSpPr/>
          <p:nvPr/>
        </p:nvSpPr>
        <p:spPr>
          <a:xfrm>
            <a:off x="1143000" y="5626054"/>
            <a:ext cx="45720" cy="219456"/>
          </a:xfrm>
          <a:prstGeom prst="roundRect">
            <a:avLst>
              <a:gd name="adj" fmla="val 60000"/>
            </a:avLst>
          </a:prstGeom>
          <a:solidFill>
            <a:srgbClr val="FFB04C"/>
          </a:solidFill>
          <a:ln w="12700">
            <a:solidFill>
              <a:srgbClr val="FFB04C"/>
            </a:solidFill>
            <a:prstDash val="solid"/>
          </a:ln>
        </p:spPr>
      </p:sp>
      <p:sp>
        <p:nvSpPr>
          <p:cNvPr id="103" name="Text 101"/>
          <p:cNvSpPr/>
          <p:nvPr/>
        </p:nvSpPr>
        <p:spPr>
          <a:xfrm>
            <a:off x="1243584" y="5589478"/>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Autonomous decision support</a:t>
            </a:r>
            <a:endParaRPr lang="en-US" sz="950" dirty="0"/>
          </a:p>
        </p:txBody>
      </p:sp>
      <p:sp>
        <p:nvSpPr>
          <p:cNvPr id="104" name="Shape 102"/>
          <p:cNvSpPr/>
          <p:nvPr/>
        </p:nvSpPr>
        <p:spPr>
          <a:xfrm>
            <a:off x="9541535" y="5680668"/>
            <a:ext cx="2028368" cy="110227"/>
          </a:xfrm>
          <a:prstGeom prst="roundRect">
            <a:avLst>
              <a:gd name="adj" fmla="val 33182"/>
            </a:avLst>
          </a:prstGeom>
          <a:solidFill>
            <a:srgbClr val="FFB04C"/>
          </a:solidFill>
          <a:ln w="12700">
            <a:solidFill>
              <a:srgbClr val="FFB04C"/>
            </a:solidFill>
            <a:prstDash val="solid"/>
          </a:ln>
        </p:spPr>
      </p:sp>
      <p:sp>
        <p:nvSpPr>
          <p:cNvPr id="105" name="Shape 103"/>
          <p:cNvSpPr/>
          <p:nvPr/>
        </p:nvSpPr>
        <p:spPr>
          <a:xfrm>
            <a:off x="7315200" y="6080760"/>
            <a:ext cx="146304" cy="146304"/>
          </a:xfrm>
          <a:prstGeom prst="ellipse">
            <a:avLst/>
          </a:prstGeom>
          <a:solidFill>
            <a:srgbClr val="FFB04C"/>
          </a:solidFill>
          <a:ln w="10160">
            <a:solidFill>
              <a:srgbClr val="FFFFFF"/>
            </a:solidFill>
            <a:prstDash val="solid"/>
          </a:ln>
        </p:spPr>
      </p:sp>
      <p:sp>
        <p:nvSpPr>
          <p:cNvPr id="106" name="Text 104"/>
          <p:cNvSpPr/>
          <p:nvPr/>
        </p:nvSpPr>
        <p:spPr>
          <a:xfrm>
            <a:off x="7534656" y="6071616"/>
            <a:ext cx="5029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MVP</a:t>
            </a:r>
            <a:endParaRPr lang="en-US" sz="850" dirty="0"/>
          </a:p>
        </p:txBody>
      </p:sp>
      <p:sp>
        <p:nvSpPr>
          <p:cNvPr id="107" name="Shape 105"/>
          <p:cNvSpPr/>
          <p:nvPr/>
        </p:nvSpPr>
        <p:spPr>
          <a:xfrm>
            <a:off x="8183880" y="6080760"/>
            <a:ext cx="146304" cy="146304"/>
          </a:xfrm>
          <a:prstGeom prst="ellipse">
            <a:avLst/>
          </a:prstGeom>
          <a:solidFill>
            <a:srgbClr val="007A27"/>
          </a:solidFill>
          <a:ln w="10160">
            <a:solidFill>
              <a:srgbClr val="FFFFFF"/>
            </a:solidFill>
            <a:prstDash val="solid"/>
          </a:ln>
        </p:spPr>
      </p:sp>
      <p:sp>
        <p:nvSpPr>
          <p:cNvPr id="108" name="Text 106"/>
          <p:cNvSpPr/>
          <p:nvPr/>
        </p:nvSpPr>
        <p:spPr>
          <a:xfrm>
            <a:off x="8403336" y="6071616"/>
            <a:ext cx="7315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Full GA</a:t>
            </a:r>
            <a:endParaRPr lang="en-US" sz="850" dirty="0"/>
          </a:p>
        </p:txBody>
      </p:sp>
      <p:sp>
        <p:nvSpPr>
          <p:cNvPr id="109" name="Shape 107"/>
          <p:cNvSpPr/>
          <p:nvPr/>
        </p:nvSpPr>
        <p:spPr>
          <a:xfrm>
            <a:off x="9326880" y="6099048"/>
            <a:ext cx="457200" cy="109728"/>
          </a:xfrm>
          <a:prstGeom prst="roundRect">
            <a:avLst>
              <a:gd name="adj" fmla="val 25000"/>
            </a:avLst>
          </a:prstGeom>
          <a:solidFill>
            <a:srgbClr val="3DCD58">
              <a:alpha val="22000"/>
            </a:srgbClr>
          </a:solidFill>
          <a:ln w="12700">
            <a:solidFill>
              <a:srgbClr val="3DCD58">
                <a:alpha val="22000"/>
              </a:srgbClr>
            </a:solidFill>
            <a:prstDash val="solid"/>
          </a:ln>
        </p:spPr>
      </p:sp>
      <p:sp>
        <p:nvSpPr>
          <p:cNvPr id="110" name="Text 108"/>
          <p:cNvSpPr/>
          <p:nvPr/>
        </p:nvSpPr>
        <p:spPr>
          <a:xfrm>
            <a:off x="9857232" y="6071616"/>
            <a:ext cx="173736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Continuous investment after GA</a:t>
            </a:r>
            <a:endParaRPr lang="en-US" sz="850" dirty="0"/>
          </a:p>
        </p:txBody>
      </p:sp>
      <p:sp>
        <p:nvSpPr>
          <p:cNvPr id="111" name="Shape 109"/>
          <p:cNvSpPr/>
          <p:nvPr/>
        </p:nvSpPr>
        <p:spPr>
          <a:xfrm>
            <a:off x="621792" y="6437376"/>
            <a:ext cx="10948111" cy="0"/>
          </a:xfrm>
          <a:prstGeom prst="line">
            <a:avLst/>
          </a:prstGeom>
          <a:noFill/>
          <a:ln w="9525">
            <a:solidFill>
              <a:srgbClr val="E2E6E2"/>
            </a:solidFill>
            <a:prstDash val="solid"/>
          </a:ln>
        </p:spPr>
      </p:sp>
      <p:sp>
        <p:nvSpPr>
          <p:cNvPr id="112" name="Text 110"/>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13" name="Text 111"/>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92150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59232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WHERE WE PLACE THE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we fund, what we defer</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Sequencing is the strategy. The core is funded first because everything else depends on it.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1.0816924777699284e+169" dist="3.605641592566428e+168" dir="7.218447050975619e+197">
              <a:srgbClr val="0A1F12">
                <a:alpha val="1.1999999999999994e+204"/>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Fund now</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2026 commitments already ranked and capacity confirmed</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Core platform foundations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Carbon inventory depth and defensibility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Supply chain migration off legacy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Reporting foundations for the CSRD cycle</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1.3737494467678092e+173" dist="4.579164822559364e+172" dir="4.3310682305853715e+202">
              <a:srgbClr val="0A1F12">
                <a:alpha val="1.1999999999999994e+209"/>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Fund next</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2027, gated on the core landing</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Product level carbon footprint and supplier action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Value at risk and adaptation planning</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AI assisted disclosure and assurance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Rebaselining and method transparency</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1.7446617973951177e+177" dist="5.815539324650392e+176" dir="2.598640938351223e+207">
              <a:srgbClr val="0A1F12">
                <a:alpha val="1.1999999999999993e+214"/>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Deliberately defer</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Directional until ranked and capacity confirmed</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Specialised standards beyond core demand</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Domain specific point solutions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Anything that forks the shared data model</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Scale work ahead of proven demand</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2</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02</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market and the competition</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Who we are up against, where we win, and how we make RA+ easier to buy.</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9730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6438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MARKET CONTEXT | ANALYST EVIDENCE</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The market moved from net zero at all costs to business value at all times</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What independent analysts published for 2026 and beyond, and why it validates a converged energy, efficiency and sustainability platform.</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2.2157204826917993e+181" dist="7.385734942305998e+180" dir="1.5591845630107338e+212">
              <a:srgbClr val="0A1F12">
                <a:alpha val="1.1999999999999994e+219"/>
              </a:srgbClr>
            </a:outerShdw>
          </a:effectLst>
        </p:spPr>
      </p:sp>
      <p:sp>
        <p:nvSpPr>
          <p:cNvPr id="10" name="Shape 8"/>
          <p:cNvSpPr/>
          <p:nvPr/>
        </p:nvSpPr>
        <p:spPr>
          <a:xfrm>
            <a:off x="621792" y="2084832"/>
            <a:ext cx="64008" cy="3419856"/>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Energy</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Resilience is now the buying trigger</a:t>
            </a:r>
            <a:endParaRPr lang="en-US" sz="1100" dirty="0"/>
          </a:p>
        </p:txBody>
      </p:sp>
      <p:sp>
        <p:nvSpPr>
          <p:cNvPr id="15" name="Text 13"/>
          <p:cNvSpPr/>
          <p:nvPr/>
        </p:nvSpPr>
        <p:spPr>
          <a:xfrm>
            <a:off x="850392" y="3685032"/>
            <a:ext cx="3009290" cy="1636776"/>
          </a:xfrm>
          <a:prstGeom prst="rect">
            <a:avLst/>
          </a:prstGeom>
          <a:noFill/>
          <a:ln/>
        </p:spPr>
        <p:txBody>
          <a:bodyPr wrap="square" lIns="0" tIns="0" rIns="0" bIns="0" rtlCol="0" anchor="t">
            <a:normAutofit/>
          </a:bodyPr>
          <a:lstStyle/>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Verdantix 2026 predictions: focus shifts from net zero at all costs to business value at all times, with outage avoidance and efficiency first</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64 percent of corporate real estate respondents rate enhanced energy monitoring and control a priority in the 2026 Verdantix survey</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Insurance and uptime pressure: premiums up 88 percent over five years, insurers now asking for resilience measures</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Energy transition programme management is called out as a market heading towards 1 billion dollars by 2030</a:t>
            </a:r>
            <a:endParaRPr lang="en-US" sz="900" dirty="0"/>
          </a:p>
        </p:txBody>
      </p:sp>
      <p:sp>
        <p:nvSpPr>
          <p:cNvPr id="16" name="Shape 14"/>
          <p:cNvSpPr/>
          <p:nvPr/>
        </p:nvSpPr>
        <p:spPr>
          <a:xfrm>
            <a:off x="436260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2.813965013018585e+185" dist="9.379883376728618e+184" dir="9.355107378064403e+216">
              <a:srgbClr val="0A1F12">
                <a:alpha val="1.1999999999999994e+224"/>
              </a:srgbClr>
            </a:outerShdw>
          </a:effectLst>
        </p:spPr>
      </p:sp>
      <p:sp>
        <p:nvSpPr>
          <p:cNvPr id="17" name="Shape 15"/>
          <p:cNvSpPr/>
          <p:nvPr/>
        </p:nvSpPr>
        <p:spPr>
          <a:xfrm>
            <a:off x="4362602" y="2084832"/>
            <a:ext cx="64008" cy="3419856"/>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Decarbonization</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Resilient decarbonization is the new frame</a:t>
            </a:r>
            <a:endParaRPr lang="en-US" sz="1100" dirty="0"/>
          </a:p>
        </p:txBody>
      </p:sp>
      <p:sp>
        <p:nvSpPr>
          <p:cNvPr id="22" name="Text 20"/>
          <p:cNvSpPr/>
          <p:nvPr/>
        </p:nvSpPr>
        <p:spPr>
          <a:xfrm>
            <a:off x="4591202" y="3685032"/>
            <a:ext cx="3009290" cy="1636776"/>
          </a:xfrm>
          <a:prstGeom prst="rect">
            <a:avLst/>
          </a:prstGeom>
          <a:noFill/>
          <a:ln/>
        </p:spPr>
        <p:txBody>
          <a:bodyPr wrap="square" lIns="0" tIns="0" rIns="0" bIns="0" rtlCol="0" anchor="t">
            <a:normAutofit/>
          </a:bodyPr>
          <a:lstStyle/>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Verdantix positions resilient decarbonization as linking carbon reduction with energy reliability and cost stability</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Emissions only strategies are judged inadequate against operational, financial and regulatory risk</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Schneider Electric is profiled by Verdantix as reframing decarbonization through a resilience lens across hardware, software and services</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This is exactly the cobenefit logic behind our ECM library and recommendations</a:t>
            </a:r>
            <a:endParaRPr lang="en-US" sz="900" dirty="0"/>
          </a:p>
        </p:txBody>
      </p:sp>
      <p:sp>
        <p:nvSpPr>
          <p:cNvPr id="23" name="Shape 21"/>
          <p:cNvSpPr/>
          <p:nvPr/>
        </p:nvSpPr>
        <p:spPr>
          <a:xfrm>
            <a:off x="8103413"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3.5737355665336036e+189" dist="1.1912451888445345e+189" dir="5.613064426838642e+221">
              <a:srgbClr val="0A1F12">
                <a:alpha val="1.1999999999999994e+229"/>
              </a:srgbClr>
            </a:outerShdw>
          </a:effectLst>
        </p:spPr>
      </p:sp>
      <p:sp>
        <p:nvSpPr>
          <p:cNvPr id="24" name="Shape 22"/>
          <p:cNvSpPr/>
          <p:nvPr/>
        </p:nvSpPr>
        <p:spPr>
          <a:xfrm>
            <a:off x="8103413" y="2084832"/>
            <a:ext cx="64008" cy="3419856"/>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Supply chain</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Transparency and orchestration win the budget</a:t>
            </a:r>
            <a:endParaRPr lang="en-US" sz="1100" dirty="0"/>
          </a:p>
        </p:txBody>
      </p:sp>
      <p:sp>
        <p:nvSpPr>
          <p:cNvPr id="29" name="Text 27"/>
          <p:cNvSpPr/>
          <p:nvPr/>
        </p:nvSpPr>
        <p:spPr>
          <a:xfrm>
            <a:off x="8332013" y="3685032"/>
            <a:ext cx="3009290" cy="1636776"/>
          </a:xfrm>
          <a:prstGeom prst="rect">
            <a:avLst/>
          </a:prstGeom>
          <a:noFill/>
          <a:ln/>
        </p:spPr>
        <p:txBody>
          <a:bodyPr wrap="square" lIns="0" tIns="0" rIns="0" bIns="0" rtlCol="0" anchor="t">
            <a:normAutofit/>
          </a:bodyPr>
          <a:lstStyle/>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Verdantix future of supply chain sustainability: investment concentrates on data transparency and orchestration</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Supply chain teams become strategic partners, raising these decisions to C level</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Multi tier supplier data accuracy and timeliness is the enabling capability, not scorecards alone</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Long term direction is transparency plus AI enabled decision support, which matches our 2027 supplier bets</a:t>
            </a:r>
            <a:endParaRPr lang="en-US" sz="900" dirty="0"/>
          </a:p>
        </p:txBody>
      </p:sp>
      <p:sp>
        <p:nvSpPr>
          <p:cNvPr id="30" name="Shape 28"/>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4.5386441694976765e+193" dist="1.5128813898325588e+193" dir="3.367838656103185e+226">
              <a:srgbClr val="0A1F12">
                <a:alpha val="1.1999999999999994e+234"/>
              </a:srgbClr>
            </a:outerShdw>
          </a:effectLst>
        </p:spPr>
      </p:sp>
      <p:sp>
        <p:nvSpPr>
          <p:cNvPr id="31" name="Shape 29"/>
          <p:cNvSpPr/>
          <p:nvPr/>
        </p:nvSpPr>
        <p:spPr>
          <a:xfrm>
            <a:off x="676656" y="5760720"/>
            <a:ext cx="45720" cy="365760"/>
          </a:xfrm>
          <a:prstGeom prst="rect">
            <a:avLst/>
          </a:prstGeom>
          <a:solidFill>
            <a:srgbClr val="3DCD58"/>
          </a:solidFill>
          <a:ln w="12700">
            <a:solidFill>
              <a:srgbClr val="3DCD58"/>
            </a:solidFill>
            <a:prstDash val="solid"/>
          </a:ln>
        </p:spPr>
      </p:sp>
      <p:sp>
        <p:nvSpPr>
          <p:cNvPr id="32" name="Text 30"/>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050" dirty="0">
                <a:solidFill>
                  <a:srgbClr val="3A423C"/>
                </a:solidFill>
                <a:latin typeface="Calibri" pitchFamily="34" charset="0"/>
                <a:ea typeface="Calibri" pitchFamily="34" charset="-122"/>
                <a:cs typeface="Calibri" pitchFamily="34" charset="-120"/>
              </a:rPr>
              <a:t>Sources: Verdantix Market Insight 10 Predictions For Energy Leaders In 2026 And Beyond (January 2026), Strategic Focus The Rise Of Resilient Decarbonization (November 2025), Strategic Focus Building The Business Case For Energy Resilience, Future Of Supply Chain Sustainability (January 2026), Powering Resilient Decarbonization With Schneider Electric. Licensed analyst content, summarized for internal board use.</a:t>
            </a:r>
            <a:endParaRPr lang="en-US" sz="105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71119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38201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COMPETITIVE LANDSCAPE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platform. $1B+ of venture backed rivals.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They each raised hundreds of millions for single point tools. We unify carbon, energy and efficiency, at Schneider scale.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21792" y="2084832"/>
          <a:ext cx="10948111" cy="914400"/>
        </p:xfrm>
        <a:graphic>
          <a:graphicData uri="http://schemas.openxmlformats.org/drawingml/2006/table">
            <a:tbl>
              <a:tblPr/>
              <a:tblGrid>
                <a:gridCol w="1005840"/>
                <a:gridCol w="4971136"/>
                <a:gridCol w="4971136"/>
              </a:tblGrid>
              <a:tr h="51206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TOTAL FUNDING RAISED</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Arcadia</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~$566M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arcadia.com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osapiens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~$247M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osapiens.com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Watershed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~$185M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watershed.com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Deepki</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~$177M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deepki.com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EnergyCAP</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Undisclosed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energycap.com, one PE round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Top rivals combined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~$1.2B+ raised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Our advantage: one platform, one data spine, at Schneider scale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bl>
          </a:graphicData>
        </a:graphic>
      </p:graphicFrame>
      <p:sp>
        <p:nvSpPr>
          <p:cNvPr id="10" name="Shape 7"/>
          <p:cNvSpPr/>
          <p:nvPr/>
        </p:nvSpPr>
        <p:spPr>
          <a:xfrm>
            <a:off x="621792" y="6437376"/>
            <a:ext cx="10948111" cy="0"/>
          </a:xfrm>
          <a:prstGeom prst="line">
            <a:avLst/>
          </a:prstGeom>
          <a:noFill/>
          <a:ln w="9525">
            <a:solidFill>
              <a:srgbClr val="E2E6E2"/>
            </a:solidFill>
            <a:prstDash val="solid"/>
          </a:ln>
        </p:spPr>
      </p:sp>
      <p:sp>
        <p:nvSpPr>
          <p:cNvPr id="11" name="Text 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2" name="Text 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Text 2"/>
          <p:cNvSpPr/>
          <p:nvPr/>
        </p:nvSpPr>
        <p:spPr>
          <a:xfrm>
            <a:off x="621792" y="320040"/>
            <a:ext cx="7132320" cy="228600"/>
          </a:xfrm>
          <a:prstGeom prst="rect">
            <a:avLst/>
          </a:prstGeom>
          <a:noFill/>
          <a:ln/>
        </p:spPr>
        <p:txBody>
          <a:bodyPr wrap="square" lIns="0" tIns="0" rIns="0" bIns="0" rtlCol="0" anchor="ctr"/>
          <a:lstStyle/>
          <a:p>
            <a:pPr indent="0" marL="0">
              <a:buNone/>
            </a:pPr>
            <a:r>
              <a:rPr lang="en-US" sz="900" b="1" spc="150" kern="0" dirty="0">
                <a:solidFill>
                  <a:srgbClr val="007A27"/>
                </a:solidFill>
                <a:latin typeface="Calibri" pitchFamily="34" charset="0"/>
                <a:ea typeface="Calibri" pitchFamily="34" charset="-122"/>
                <a:cs typeface="Calibri" pitchFamily="34" charset="-120"/>
              </a:rPr>
              <a:t>COMPETITIVE POSITION | SEPTEMBER 2026</a:t>
            </a:r>
            <a:endParaRPr lang="en-US" sz="900" dirty="0"/>
          </a:p>
        </p:txBody>
      </p:sp>
      <p:sp>
        <p:nvSpPr>
          <p:cNvPr id="5" name="Text 3"/>
          <p:cNvSpPr/>
          <p:nvPr/>
        </p:nvSpPr>
        <p:spPr>
          <a:xfrm>
            <a:off x="621792" y="676656"/>
            <a:ext cx="10948111" cy="658368"/>
          </a:xfrm>
          <a:prstGeom prst="rect">
            <a:avLst/>
          </a:prstGeom>
          <a:noFill/>
          <a:ln/>
        </p:spPr>
        <p:txBody>
          <a:bodyPr wrap="square" lIns="0" tIns="0" rIns="0" bIns="0" rtlCol="0" anchor="ctr">
            <a:normAutofit/>
          </a:bodyPr>
          <a:lstStyle/>
          <a:p>
            <a:pPr indent="0" marL="0">
              <a:buNone/>
            </a:pPr>
            <a:r>
              <a:rPr lang="en-US" sz="2700" b="1" dirty="0">
                <a:solidFill>
                  <a:srgbClr val="1E2420"/>
                </a:solidFill>
                <a:latin typeface="Calibri" pitchFamily="34" charset="0"/>
                <a:ea typeface="Calibri" pitchFamily="34" charset="-122"/>
                <a:cs typeface="Calibri" pitchFamily="34" charset="-120"/>
              </a:rPr>
              <a:t>RA+ competes on breadth and convergence, not a point solution feature race</a:t>
            </a:r>
            <a:endParaRPr lang="en-US" sz="2700" dirty="0"/>
          </a:p>
        </p:txBody>
      </p:sp>
      <p:sp>
        <p:nvSpPr>
          <p:cNvPr id="6" name="Text 4"/>
          <p:cNvSpPr/>
          <p:nvPr/>
        </p:nvSpPr>
        <p:spPr>
          <a:xfrm>
            <a:off x="621792" y="1353312"/>
            <a:ext cx="10948111" cy="457200"/>
          </a:xfrm>
          <a:prstGeom prst="rect">
            <a:avLst/>
          </a:prstGeom>
          <a:noFill/>
          <a:ln/>
        </p:spPr>
        <p:txBody>
          <a:bodyPr wrap="square" lIns="0" tIns="0" rIns="0" bIns="0" rtlCol="0" anchor="ctr">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Public pricing is not disclosed across the peer set. The decision therefore turns on scope, AI embedded in workflows, and the cost of integrating multiple platforms.</a:t>
            </a:r>
            <a:endParaRPr lang="en-US" sz="1100" dirty="0"/>
          </a:p>
        </p:txBody>
      </p:sp>
      <p:sp>
        <p:nvSpPr>
          <p:cNvPr id="7" name="Shape 5"/>
          <p:cNvSpPr/>
          <p:nvPr/>
        </p:nvSpPr>
        <p:spPr>
          <a:xfrm>
            <a:off x="621792" y="1965960"/>
            <a:ext cx="1051560" cy="393192"/>
          </a:xfrm>
          <a:prstGeom prst="rect">
            <a:avLst/>
          </a:prstGeom>
          <a:solidFill>
            <a:srgbClr val="005730"/>
          </a:solidFill>
          <a:ln w="5715">
            <a:solidFill>
              <a:srgbClr val="397257"/>
            </a:solidFill>
            <a:prstDash val="solid"/>
          </a:ln>
        </p:spPr>
      </p:sp>
      <p:sp>
        <p:nvSpPr>
          <p:cNvPr id="8" name="Text 6"/>
          <p:cNvSpPr/>
          <p:nvPr/>
        </p:nvSpPr>
        <p:spPr>
          <a:xfrm>
            <a:off x="713232" y="1965960"/>
            <a:ext cx="86868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PLATFORM</a:t>
            </a:r>
            <a:endParaRPr lang="en-US" sz="760" dirty="0"/>
          </a:p>
        </p:txBody>
      </p:sp>
      <p:sp>
        <p:nvSpPr>
          <p:cNvPr id="9" name="Shape 7"/>
          <p:cNvSpPr/>
          <p:nvPr/>
        </p:nvSpPr>
        <p:spPr>
          <a:xfrm>
            <a:off x="1673352" y="1965960"/>
            <a:ext cx="1417320" cy="393192"/>
          </a:xfrm>
          <a:prstGeom prst="rect">
            <a:avLst/>
          </a:prstGeom>
          <a:solidFill>
            <a:srgbClr val="005730"/>
          </a:solidFill>
          <a:ln w="5715">
            <a:solidFill>
              <a:srgbClr val="397257"/>
            </a:solidFill>
            <a:prstDash val="solid"/>
          </a:ln>
        </p:spPr>
      </p:sp>
      <p:sp>
        <p:nvSpPr>
          <p:cNvPr id="10" name="Text 8"/>
          <p:cNvSpPr/>
          <p:nvPr/>
        </p:nvSpPr>
        <p:spPr>
          <a:xfrm>
            <a:off x="1764792" y="1965960"/>
            <a:ext cx="123444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PRICE</a:t>
            </a:r>
            <a:endParaRPr lang="en-US" sz="760" dirty="0"/>
          </a:p>
        </p:txBody>
      </p:sp>
      <p:sp>
        <p:nvSpPr>
          <p:cNvPr id="11" name="Shape 9"/>
          <p:cNvSpPr/>
          <p:nvPr/>
        </p:nvSpPr>
        <p:spPr>
          <a:xfrm>
            <a:off x="3090672" y="1965960"/>
            <a:ext cx="3749040" cy="393192"/>
          </a:xfrm>
          <a:prstGeom prst="rect">
            <a:avLst/>
          </a:prstGeom>
          <a:solidFill>
            <a:srgbClr val="005730"/>
          </a:solidFill>
          <a:ln w="5715">
            <a:solidFill>
              <a:srgbClr val="397257"/>
            </a:solidFill>
            <a:prstDash val="solid"/>
          </a:ln>
        </p:spPr>
      </p:sp>
      <p:sp>
        <p:nvSpPr>
          <p:cNvPr id="12" name="Text 10"/>
          <p:cNvSpPr/>
          <p:nvPr/>
        </p:nvSpPr>
        <p:spPr>
          <a:xfrm>
            <a:off x="3182112" y="1965960"/>
            <a:ext cx="356616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SUSTAINABILITY SCOPE</a:t>
            </a:r>
            <a:endParaRPr lang="en-US" sz="760" dirty="0"/>
          </a:p>
        </p:txBody>
      </p:sp>
      <p:sp>
        <p:nvSpPr>
          <p:cNvPr id="13" name="Shape 11"/>
          <p:cNvSpPr/>
          <p:nvPr/>
        </p:nvSpPr>
        <p:spPr>
          <a:xfrm>
            <a:off x="6839712" y="1965960"/>
            <a:ext cx="1325880" cy="393192"/>
          </a:xfrm>
          <a:prstGeom prst="rect">
            <a:avLst/>
          </a:prstGeom>
          <a:solidFill>
            <a:srgbClr val="005730"/>
          </a:solidFill>
          <a:ln w="5715">
            <a:solidFill>
              <a:srgbClr val="397257"/>
            </a:solidFill>
            <a:prstDash val="solid"/>
          </a:ln>
        </p:spPr>
      </p:sp>
      <p:sp>
        <p:nvSpPr>
          <p:cNvPr id="14" name="Text 12"/>
          <p:cNvSpPr/>
          <p:nvPr/>
        </p:nvSpPr>
        <p:spPr>
          <a:xfrm>
            <a:off x="6931152" y="1965960"/>
            <a:ext cx="114300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AI MATURITY</a:t>
            </a:r>
            <a:endParaRPr lang="en-US" sz="760" dirty="0"/>
          </a:p>
        </p:txBody>
      </p:sp>
      <p:sp>
        <p:nvSpPr>
          <p:cNvPr id="15" name="Shape 13"/>
          <p:cNvSpPr/>
          <p:nvPr/>
        </p:nvSpPr>
        <p:spPr>
          <a:xfrm>
            <a:off x="8165592" y="1965960"/>
            <a:ext cx="3657600" cy="393192"/>
          </a:xfrm>
          <a:prstGeom prst="rect">
            <a:avLst/>
          </a:prstGeom>
          <a:solidFill>
            <a:srgbClr val="005730"/>
          </a:solidFill>
          <a:ln w="5715">
            <a:solidFill>
              <a:srgbClr val="397257"/>
            </a:solidFill>
            <a:prstDash val="solid"/>
          </a:ln>
        </p:spPr>
      </p:sp>
      <p:sp>
        <p:nvSpPr>
          <p:cNvPr id="16" name="Text 14"/>
          <p:cNvSpPr/>
          <p:nvPr/>
        </p:nvSpPr>
        <p:spPr>
          <a:xfrm>
            <a:off x="8257032" y="1965960"/>
            <a:ext cx="347472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STRATEGIC POSITION</a:t>
            </a:r>
            <a:endParaRPr lang="en-US" sz="760" dirty="0"/>
          </a:p>
        </p:txBody>
      </p:sp>
      <p:sp>
        <p:nvSpPr>
          <p:cNvPr id="17" name="Shape 15"/>
          <p:cNvSpPr/>
          <p:nvPr/>
        </p:nvSpPr>
        <p:spPr>
          <a:xfrm>
            <a:off x="621792" y="2359152"/>
            <a:ext cx="1051560" cy="566928"/>
          </a:xfrm>
          <a:prstGeom prst="rect">
            <a:avLst/>
          </a:prstGeom>
          <a:solidFill>
            <a:srgbClr val="EAF8ED"/>
          </a:solidFill>
          <a:ln w="5715">
            <a:solidFill>
              <a:srgbClr val="E2E6E2"/>
            </a:solidFill>
            <a:prstDash val="solid"/>
          </a:ln>
        </p:spPr>
      </p:sp>
      <p:sp>
        <p:nvSpPr>
          <p:cNvPr id="18" name="Text 16"/>
          <p:cNvSpPr/>
          <p:nvPr/>
        </p:nvSpPr>
        <p:spPr>
          <a:xfrm>
            <a:off x="713232" y="2432304"/>
            <a:ext cx="868680" cy="420624"/>
          </a:xfrm>
          <a:prstGeom prst="rect">
            <a:avLst/>
          </a:prstGeom>
          <a:noFill/>
          <a:ln/>
        </p:spPr>
        <p:txBody>
          <a:bodyPr wrap="square" lIns="0" tIns="0" rIns="0" bIns="0" rtlCol="0" anchor="ctr">
            <a:normAutofit/>
          </a:bodyPr>
          <a:lstStyle/>
          <a:p>
            <a:pPr indent="0" marL="0">
              <a:buNone/>
            </a:pPr>
            <a:r>
              <a:rPr lang="en-US" sz="920" b="1" dirty="0">
                <a:solidFill>
                  <a:srgbClr val="007A27"/>
                </a:solidFill>
                <a:latin typeface="Calibri" pitchFamily="34" charset="0"/>
                <a:ea typeface="Calibri" pitchFamily="34" charset="-122"/>
                <a:cs typeface="Calibri" pitchFamily="34" charset="-120"/>
              </a:rPr>
              <a:t>RA+</a:t>
            </a:r>
            <a:endParaRPr lang="en-US" sz="920" dirty="0"/>
          </a:p>
        </p:txBody>
      </p:sp>
      <p:sp>
        <p:nvSpPr>
          <p:cNvPr id="19" name="Shape 17"/>
          <p:cNvSpPr/>
          <p:nvPr/>
        </p:nvSpPr>
        <p:spPr>
          <a:xfrm>
            <a:off x="1673352" y="2359152"/>
            <a:ext cx="1417320" cy="566928"/>
          </a:xfrm>
          <a:prstGeom prst="rect">
            <a:avLst/>
          </a:prstGeom>
          <a:solidFill>
            <a:srgbClr val="EAF8ED"/>
          </a:solidFill>
          <a:ln w="5715">
            <a:solidFill>
              <a:srgbClr val="E2E6E2"/>
            </a:solidFill>
            <a:prstDash val="solid"/>
          </a:ln>
        </p:spPr>
      </p:sp>
      <p:sp>
        <p:nvSpPr>
          <p:cNvPr id="20" name="Text 18"/>
          <p:cNvSpPr/>
          <p:nvPr/>
        </p:nvSpPr>
        <p:spPr>
          <a:xfrm>
            <a:off x="1764792" y="2432304"/>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Enterprise quote</a:t>
            </a:r>
            <a:endParaRPr lang="en-US" sz="810" dirty="0"/>
          </a:p>
        </p:txBody>
      </p:sp>
      <p:sp>
        <p:nvSpPr>
          <p:cNvPr id="21" name="Shape 19"/>
          <p:cNvSpPr/>
          <p:nvPr/>
        </p:nvSpPr>
        <p:spPr>
          <a:xfrm>
            <a:off x="3090672" y="2359152"/>
            <a:ext cx="3749040" cy="566928"/>
          </a:xfrm>
          <a:prstGeom prst="rect">
            <a:avLst/>
          </a:prstGeom>
          <a:solidFill>
            <a:srgbClr val="EAF8ED"/>
          </a:solidFill>
          <a:ln w="5715">
            <a:solidFill>
              <a:srgbClr val="E2E6E2"/>
            </a:solidFill>
            <a:prstDash val="solid"/>
          </a:ln>
        </p:spPr>
      </p:sp>
      <p:sp>
        <p:nvSpPr>
          <p:cNvPr id="22" name="Text 20"/>
          <p:cNvSpPr/>
          <p:nvPr/>
        </p:nvSpPr>
        <p:spPr>
          <a:xfrm>
            <a:off x="3182112" y="2432304"/>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Broadest: carbon, supply chain, reporting, climate risk, energy and efficiency</a:t>
            </a:r>
            <a:endParaRPr lang="en-US" sz="810" dirty="0"/>
          </a:p>
        </p:txBody>
      </p:sp>
      <p:sp>
        <p:nvSpPr>
          <p:cNvPr id="23" name="Shape 21"/>
          <p:cNvSpPr/>
          <p:nvPr/>
        </p:nvSpPr>
        <p:spPr>
          <a:xfrm>
            <a:off x="6839712" y="2359152"/>
            <a:ext cx="1325880" cy="566928"/>
          </a:xfrm>
          <a:prstGeom prst="rect">
            <a:avLst/>
          </a:prstGeom>
          <a:solidFill>
            <a:srgbClr val="EAF8ED"/>
          </a:solidFill>
          <a:ln w="5715">
            <a:solidFill>
              <a:srgbClr val="E2E6E2"/>
            </a:solidFill>
            <a:prstDash val="solid"/>
          </a:ln>
        </p:spPr>
      </p:sp>
      <p:sp>
        <p:nvSpPr>
          <p:cNvPr id="24" name="Shape 22"/>
          <p:cNvSpPr/>
          <p:nvPr/>
        </p:nvSpPr>
        <p:spPr>
          <a:xfrm>
            <a:off x="6949440" y="2523744"/>
            <a:ext cx="1106424" cy="246888"/>
          </a:xfrm>
          <a:prstGeom prst="roundRect">
            <a:avLst>
              <a:gd name="adj" fmla="val 44444"/>
            </a:avLst>
          </a:prstGeom>
          <a:solidFill>
            <a:srgbClr val="EAF8ED"/>
          </a:solidFill>
          <a:ln w="6350">
            <a:solidFill>
              <a:srgbClr val="3DCD58">
                <a:alpha val="45000"/>
              </a:srgbClr>
            </a:solidFill>
            <a:prstDash val="solid"/>
          </a:ln>
        </p:spPr>
      </p:sp>
      <p:sp>
        <p:nvSpPr>
          <p:cNvPr id="25" name="Text 23"/>
          <p:cNvSpPr/>
          <p:nvPr/>
        </p:nvSpPr>
        <p:spPr>
          <a:xfrm>
            <a:off x="6949440" y="2523744"/>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Embedded, scaling</a:t>
            </a:r>
            <a:endParaRPr lang="en-US" sz="770" dirty="0"/>
          </a:p>
        </p:txBody>
      </p:sp>
      <p:sp>
        <p:nvSpPr>
          <p:cNvPr id="26" name="Shape 24"/>
          <p:cNvSpPr/>
          <p:nvPr/>
        </p:nvSpPr>
        <p:spPr>
          <a:xfrm>
            <a:off x="8165592" y="2359152"/>
            <a:ext cx="3657600" cy="566928"/>
          </a:xfrm>
          <a:prstGeom prst="rect">
            <a:avLst/>
          </a:prstGeom>
          <a:solidFill>
            <a:srgbClr val="EAF8ED"/>
          </a:solidFill>
          <a:ln w="5715">
            <a:solidFill>
              <a:srgbClr val="E2E6E2"/>
            </a:solidFill>
            <a:prstDash val="solid"/>
          </a:ln>
        </p:spPr>
      </p:sp>
      <p:sp>
        <p:nvSpPr>
          <p:cNvPr id="27" name="Text 25"/>
          <p:cNvSpPr/>
          <p:nvPr/>
        </p:nvSpPr>
        <p:spPr>
          <a:xfrm>
            <a:off x="8257032" y="2432304"/>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One data spine plus advisory depth</a:t>
            </a:r>
            <a:endParaRPr lang="en-US" sz="810" dirty="0"/>
          </a:p>
        </p:txBody>
      </p:sp>
      <p:sp>
        <p:nvSpPr>
          <p:cNvPr id="28" name="Shape 26"/>
          <p:cNvSpPr/>
          <p:nvPr/>
        </p:nvSpPr>
        <p:spPr>
          <a:xfrm>
            <a:off x="621792" y="2926080"/>
            <a:ext cx="1051560" cy="566928"/>
          </a:xfrm>
          <a:prstGeom prst="rect">
            <a:avLst/>
          </a:prstGeom>
          <a:solidFill>
            <a:srgbClr val="F1F3F2"/>
          </a:solidFill>
          <a:ln w="5715">
            <a:solidFill>
              <a:srgbClr val="E2E6E2"/>
            </a:solidFill>
            <a:prstDash val="solid"/>
          </a:ln>
        </p:spPr>
      </p:sp>
      <p:sp>
        <p:nvSpPr>
          <p:cNvPr id="29" name="Text 27"/>
          <p:cNvSpPr/>
          <p:nvPr/>
        </p:nvSpPr>
        <p:spPr>
          <a:xfrm>
            <a:off x="713232" y="2999232"/>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Watershed</a:t>
            </a:r>
            <a:endParaRPr lang="en-US" sz="920" dirty="0"/>
          </a:p>
        </p:txBody>
      </p:sp>
      <p:sp>
        <p:nvSpPr>
          <p:cNvPr id="30" name="Shape 28"/>
          <p:cNvSpPr/>
          <p:nvPr/>
        </p:nvSpPr>
        <p:spPr>
          <a:xfrm>
            <a:off x="1673352" y="2926080"/>
            <a:ext cx="1417320" cy="566928"/>
          </a:xfrm>
          <a:prstGeom prst="rect">
            <a:avLst/>
          </a:prstGeom>
          <a:solidFill>
            <a:srgbClr val="F1F3F2"/>
          </a:solidFill>
          <a:ln w="5715">
            <a:solidFill>
              <a:srgbClr val="E2E6E2"/>
            </a:solidFill>
            <a:prstDash val="solid"/>
          </a:ln>
        </p:spPr>
      </p:sp>
      <p:sp>
        <p:nvSpPr>
          <p:cNvPr id="31" name="Text 29"/>
          <p:cNvSpPr/>
          <p:nvPr/>
        </p:nvSpPr>
        <p:spPr>
          <a:xfrm>
            <a:off x="1764792" y="2999232"/>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Not publicly disclosed</a:t>
            </a:r>
            <a:endParaRPr lang="en-US" sz="810" dirty="0"/>
          </a:p>
        </p:txBody>
      </p:sp>
      <p:sp>
        <p:nvSpPr>
          <p:cNvPr id="32" name="Shape 30"/>
          <p:cNvSpPr/>
          <p:nvPr/>
        </p:nvSpPr>
        <p:spPr>
          <a:xfrm>
            <a:off x="3090672" y="2926080"/>
            <a:ext cx="3749040" cy="566928"/>
          </a:xfrm>
          <a:prstGeom prst="rect">
            <a:avLst/>
          </a:prstGeom>
          <a:solidFill>
            <a:srgbClr val="F1F3F2"/>
          </a:solidFill>
          <a:ln w="5715">
            <a:solidFill>
              <a:srgbClr val="E2E6E2"/>
            </a:solidFill>
            <a:prstDash val="solid"/>
          </a:ln>
        </p:spPr>
      </p:sp>
      <p:sp>
        <p:nvSpPr>
          <p:cNvPr id="33" name="Text 31"/>
          <p:cNvSpPr/>
          <p:nvPr/>
        </p:nvSpPr>
        <p:spPr>
          <a:xfrm>
            <a:off x="3182112" y="2999232"/>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Broad sustainability: carbon, disclosure, decarbonization and supply chain</a:t>
            </a:r>
            <a:endParaRPr lang="en-US" sz="810" dirty="0"/>
          </a:p>
        </p:txBody>
      </p:sp>
      <p:sp>
        <p:nvSpPr>
          <p:cNvPr id="34" name="Shape 32"/>
          <p:cNvSpPr/>
          <p:nvPr/>
        </p:nvSpPr>
        <p:spPr>
          <a:xfrm>
            <a:off x="6839712" y="2926080"/>
            <a:ext cx="1325880" cy="566928"/>
          </a:xfrm>
          <a:prstGeom prst="rect">
            <a:avLst/>
          </a:prstGeom>
          <a:solidFill>
            <a:srgbClr val="F1F3F2"/>
          </a:solidFill>
          <a:ln w="5715">
            <a:solidFill>
              <a:srgbClr val="E2E6E2"/>
            </a:solidFill>
            <a:prstDash val="solid"/>
          </a:ln>
        </p:spPr>
      </p:sp>
      <p:sp>
        <p:nvSpPr>
          <p:cNvPr id="35" name="Shape 33"/>
          <p:cNvSpPr/>
          <p:nvPr/>
        </p:nvSpPr>
        <p:spPr>
          <a:xfrm>
            <a:off x="6949440" y="3090672"/>
            <a:ext cx="1106424" cy="246888"/>
          </a:xfrm>
          <a:prstGeom prst="roundRect">
            <a:avLst>
              <a:gd name="adj" fmla="val 44444"/>
            </a:avLst>
          </a:prstGeom>
          <a:solidFill>
            <a:srgbClr val="FFF4E3"/>
          </a:solidFill>
          <a:ln w="6350">
            <a:solidFill>
              <a:srgbClr val="FFB04C">
                <a:alpha val="45000"/>
              </a:srgbClr>
            </a:solidFill>
            <a:prstDash val="solid"/>
          </a:ln>
        </p:spPr>
      </p:sp>
      <p:sp>
        <p:nvSpPr>
          <p:cNvPr id="36" name="Text 34"/>
          <p:cNvSpPr/>
          <p:nvPr/>
        </p:nvSpPr>
        <p:spPr>
          <a:xfrm>
            <a:off x="6949440" y="3090672"/>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A65B00"/>
                </a:solidFill>
                <a:latin typeface="Calibri" pitchFamily="34" charset="0"/>
                <a:ea typeface="Calibri" pitchFamily="34" charset="-122"/>
                <a:cs typeface="Calibri" pitchFamily="34" charset="-120"/>
              </a:rPr>
              <a:t>Advanced</a:t>
            </a:r>
            <a:endParaRPr lang="en-US" sz="770" dirty="0"/>
          </a:p>
        </p:txBody>
      </p:sp>
      <p:sp>
        <p:nvSpPr>
          <p:cNvPr id="37" name="Shape 35"/>
          <p:cNvSpPr/>
          <p:nvPr/>
        </p:nvSpPr>
        <p:spPr>
          <a:xfrm>
            <a:off x="8165592" y="2926080"/>
            <a:ext cx="3657600" cy="566928"/>
          </a:xfrm>
          <a:prstGeom prst="rect">
            <a:avLst/>
          </a:prstGeom>
          <a:solidFill>
            <a:srgbClr val="F1F3F2"/>
          </a:solidFill>
          <a:ln w="5715">
            <a:solidFill>
              <a:srgbClr val="E2E6E2"/>
            </a:solidFill>
            <a:prstDash val="solid"/>
          </a:ln>
        </p:spPr>
      </p:sp>
      <p:sp>
        <p:nvSpPr>
          <p:cNvPr id="38" name="Text 36"/>
          <p:cNvSpPr/>
          <p:nvPr/>
        </p:nvSpPr>
        <p:spPr>
          <a:xfrm>
            <a:off x="8257032" y="2999232"/>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Strongest AI-native sustainability challenger</a:t>
            </a:r>
            <a:endParaRPr lang="en-US" sz="810" dirty="0"/>
          </a:p>
        </p:txBody>
      </p:sp>
      <p:sp>
        <p:nvSpPr>
          <p:cNvPr id="39" name="Shape 37"/>
          <p:cNvSpPr/>
          <p:nvPr/>
        </p:nvSpPr>
        <p:spPr>
          <a:xfrm>
            <a:off x="621792" y="3493008"/>
            <a:ext cx="1051560" cy="566928"/>
          </a:xfrm>
          <a:prstGeom prst="rect">
            <a:avLst/>
          </a:prstGeom>
          <a:solidFill>
            <a:srgbClr val="FFFFFF"/>
          </a:solidFill>
          <a:ln w="5715">
            <a:solidFill>
              <a:srgbClr val="E2E6E2"/>
            </a:solidFill>
            <a:prstDash val="solid"/>
          </a:ln>
        </p:spPr>
      </p:sp>
      <p:sp>
        <p:nvSpPr>
          <p:cNvPr id="40" name="Text 38"/>
          <p:cNvSpPr/>
          <p:nvPr/>
        </p:nvSpPr>
        <p:spPr>
          <a:xfrm>
            <a:off x="713232" y="3566160"/>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osapiens</a:t>
            </a:r>
            <a:endParaRPr lang="en-US" sz="920" dirty="0"/>
          </a:p>
        </p:txBody>
      </p:sp>
      <p:sp>
        <p:nvSpPr>
          <p:cNvPr id="41" name="Shape 39"/>
          <p:cNvSpPr/>
          <p:nvPr/>
        </p:nvSpPr>
        <p:spPr>
          <a:xfrm>
            <a:off x="1673352" y="3493008"/>
            <a:ext cx="1417320" cy="566928"/>
          </a:xfrm>
          <a:prstGeom prst="rect">
            <a:avLst/>
          </a:prstGeom>
          <a:solidFill>
            <a:srgbClr val="FFFFFF"/>
          </a:solidFill>
          <a:ln w="5715">
            <a:solidFill>
              <a:srgbClr val="E2E6E2"/>
            </a:solidFill>
            <a:prstDash val="solid"/>
          </a:ln>
        </p:spPr>
      </p:sp>
      <p:sp>
        <p:nvSpPr>
          <p:cNvPr id="42" name="Text 40"/>
          <p:cNvSpPr/>
          <p:nvPr/>
        </p:nvSpPr>
        <p:spPr>
          <a:xfrm>
            <a:off x="1764792" y="3566160"/>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Custom quote</a:t>
            </a:r>
            <a:endParaRPr lang="en-US" sz="810" dirty="0"/>
          </a:p>
        </p:txBody>
      </p:sp>
      <p:sp>
        <p:nvSpPr>
          <p:cNvPr id="43" name="Shape 41"/>
          <p:cNvSpPr/>
          <p:nvPr/>
        </p:nvSpPr>
        <p:spPr>
          <a:xfrm>
            <a:off x="3090672" y="3493008"/>
            <a:ext cx="3749040" cy="566928"/>
          </a:xfrm>
          <a:prstGeom prst="rect">
            <a:avLst/>
          </a:prstGeom>
          <a:solidFill>
            <a:srgbClr val="FFFFFF"/>
          </a:solidFill>
          <a:ln w="5715">
            <a:solidFill>
              <a:srgbClr val="E2E6E2"/>
            </a:solidFill>
            <a:prstDash val="solid"/>
          </a:ln>
        </p:spPr>
      </p:sp>
      <p:sp>
        <p:nvSpPr>
          <p:cNvPr id="44" name="Text 42"/>
          <p:cNvSpPr/>
          <p:nvPr/>
        </p:nvSpPr>
        <p:spPr>
          <a:xfrm>
            <a:off x="3182112" y="3566160"/>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Broad ESG compliance with deep supplier and product regulation coverage</a:t>
            </a:r>
            <a:endParaRPr lang="en-US" sz="810" dirty="0"/>
          </a:p>
        </p:txBody>
      </p:sp>
      <p:sp>
        <p:nvSpPr>
          <p:cNvPr id="45" name="Shape 43"/>
          <p:cNvSpPr/>
          <p:nvPr/>
        </p:nvSpPr>
        <p:spPr>
          <a:xfrm>
            <a:off x="6839712" y="3493008"/>
            <a:ext cx="1325880" cy="566928"/>
          </a:xfrm>
          <a:prstGeom prst="rect">
            <a:avLst/>
          </a:prstGeom>
          <a:solidFill>
            <a:srgbClr val="FFFFFF"/>
          </a:solidFill>
          <a:ln w="5715">
            <a:solidFill>
              <a:srgbClr val="E2E6E2"/>
            </a:solidFill>
            <a:prstDash val="solid"/>
          </a:ln>
        </p:spPr>
      </p:sp>
      <p:sp>
        <p:nvSpPr>
          <p:cNvPr id="46" name="Shape 44"/>
          <p:cNvSpPr/>
          <p:nvPr/>
        </p:nvSpPr>
        <p:spPr>
          <a:xfrm>
            <a:off x="6949440" y="3657600"/>
            <a:ext cx="1106424" cy="246888"/>
          </a:xfrm>
          <a:prstGeom prst="roundRect">
            <a:avLst>
              <a:gd name="adj" fmla="val 44444"/>
            </a:avLst>
          </a:prstGeom>
          <a:solidFill>
            <a:srgbClr val="EAF8ED"/>
          </a:solidFill>
          <a:ln w="6350">
            <a:solidFill>
              <a:srgbClr val="3DCD58">
                <a:alpha val="45000"/>
              </a:srgbClr>
            </a:solidFill>
            <a:prstDash val="solid"/>
          </a:ln>
        </p:spPr>
      </p:sp>
      <p:sp>
        <p:nvSpPr>
          <p:cNvPr id="47" name="Text 45"/>
          <p:cNvSpPr/>
          <p:nvPr/>
        </p:nvSpPr>
        <p:spPr>
          <a:xfrm>
            <a:off x="6949440" y="3657600"/>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Embedded</a:t>
            </a:r>
            <a:endParaRPr lang="en-US" sz="770" dirty="0"/>
          </a:p>
        </p:txBody>
      </p:sp>
      <p:sp>
        <p:nvSpPr>
          <p:cNvPr id="48" name="Shape 46"/>
          <p:cNvSpPr/>
          <p:nvPr/>
        </p:nvSpPr>
        <p:spPr>
          <a:xfrm>
            <a:off x="8165592" y="3493008"/>
            <a:ext cx="3657600" cy="566928"/>
          </a:xfrm>
          <a:prstGeom prst="rect">
            <a:avLst/>
          </a:prstGeom>
          <a:solidFill>
            <a:srgbClr val="FFFFFF"/>
          </a:solidFill>
          <a:ln w="5715">
            <a:solidFill>
              <a:srgbClr val="E2E6E2"/>
            </a:solidFill>
            <a:prstDash val="solid"/>
          </a:ln>
        </p:spPr>
      </p:sp>
      <p:sp>
        <p:nvSpPr>
          <p:cNvPr id="49" name="Text 47"/>
          <p:cNvSpPr/>
          <p:nvPr/>
        </p:nvSpPr>
        <p:spPr>
          <a:xfrm>
            <a:off x="8257032" y="3566160"/>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EU compliance and supplier intelligence specialist</a:t>
            </a:r>
            <a:endParaRPr lang="en-US" sz="810" dirty="0"/>
          </a:p>
        </p:txBody>
      </p:sp>
      <p:sp>
        <p:nvSpPr>
          <p:cNvPr id="50" name="Shape 48"/>
          <p:cNvSpPr/>
          <p:nvPr/>
        </p:nvSpPr>
        <p:spPr>
          <a:xfrm>
            <a:off x="621792" y="4059936"/>
            <a:ext cx="1051560" cy="566928"/>
          </a:xfrm>
          <a:prstGeom prst="rect">
            <a:avLst/>
          </a:prstGeom>
          <a:solidFill>
            <a:srgbClr val="F1F3F2"/>
          </a:solidFill>
          <a:ln w="5715">
            <a:solidFill>
              <a:srgbClr val="E2E6E2"/>
            </a:solidFill>
            <a:prstDash val="solid"/>
          </a:ln>
        </p:spPr>
      </p:sp>
      <p:sp>
        <p:nvSpPr>
          <p:cNvPr id="51" name="Text 49"/>
          <p:cNvSpPr/>
          <p:nvPr/>
        </p:nvSpPr>
        <p:spPr>
          <a:xfrm>
            <a:off x="713232" y="4133088"/>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Arcadia</a:t>
            </a:r>
            <a:endParaRPr lang="en-US" sz="920" dirty="0"/>
          </a:p>
        </p:txBody>
      </p:sp>
      <p:sp>
        <p:nvSpPr>
          <p:cNvPr id="52" name="Shape 50"/>
          <p:cNvSpPr/>
          <p:nvPr/>
        </p:nvSpPr>
        <p:spPr>
          <a:xfrm>
            <a:off x="1673352" y="4059936"/>
            <a:ext cx="1417320" cy="566928"/>
          </a:xfrm>
          <a:prstGeom prst="rect">
            <a:avLst/>
          </a:prstGeom>
          <a:solidFill>
            <a:srgbClr val="F1F3F2"/>
          </a:solidFill>
          <a:ln w="5715">
            <a:solidFill>
              <a:srgbClr val="E2E6E2"/>
            </a:solidFill>
            <a:prstDash val="solid"/>
          </a:ln>
        </p:spPr>
      </p:sp>
      <p:sp>
        <p:nvSpPr>
          <p:cNvPr id="53" name="Text 51"/>
          <p:cNvSpPr/>
          <p:nvPr/>
        </p:nvSpPr>
        <p:spPr>
          <a:xfrm>
            <a:off x="1764792" y="4133088"/>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Custom quote</a:t>
            </a:r>
            <a:endParaRPr lang="en-US" sz="810" dirty="0"/>
          </a:p>
        </p:txBody>
      </p:sp>
      <p:sp>
        <p:nvSpPr>
          <p:cNvPr id="54" name="Shape 52"/>
          <p:cNvSpPr/>
          <p:nvPr/>
        </p:nvSpPr>
        <p:spPr>
          <a:xfrm>
            <a:off x="3090672" y="4059936"/>
            <a:ext cx="3749040" cy="566928"/>
          </a:xfrm>
          <a:prstGeom prst="rect">
            <a:avLst/>
          </a:prstGeom>
          <a:solidFill>
            <a:srgbClr val="F1F3F2"/>
          </a:solidFill>
          <a:ln w="5715">
            <a:solidFill>
              <a:srgbClr val="E2E6E2"/>
            </a:solidFill>
            <a:prstDash val="solid"/>
          </a:ln>
        </p:spPr>
      </p:sp>
      <p:sp>
        <p:nvSpPr>
          <p:cNvPr id="55" name="Text 53"/>
          <p:cNvSpPr/>
          <p:nvPr/>
        </p:nvSpPr>
        <p:spPr>
          <a:xfrm>
            <a:off x="3182112" y="4133088"/>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Focused: utility data, energy intelligence and Scope 1 and 2 enablement</a:t>
            </a:r>
            <a:endParaRPr lang="en-US" sz="810" dirty="0"/>
          </a:p>
        </p:txBody>
      </p:sp>
      <p:sp>
        <p:nvSpPr>
          <p:cNvPr id="56" name="Shape 54"/>
          <p:cNvSpPr/>
          <p:nvPr/>
        </p:nvSpPr>
        <p:spPr>
          <a:xfrm>
            <a:off x="6839712" y="4059936"/>
            <a:ext cx="1325880" cy="566928"/>
          </a:xfrm>
          <a:prstGeom prst="rect">
            <a:avLst/>
          </a:prstGeom>
          <a:solidFill>
            <a:srgbClr val="F1F3F2"/>
          </a:solidFill>
          <a:ln w="5715">
            <a:solidFill>
              <a:srgbClr val="E2E6E2"/>
            </a:solidFill>
            <a:prstDash val="solid"/>
          </a:ln>
        </p:spPr>
      </p:sp>
      <p:sp>
        <p:nvSpPr>
          <p:cNvPr id="57" name="Shape 55"/>
          <p:cNvSpPr/>
          <p:nvPr/>
        </p:nvSpPr>
        <p:spPr>
          <a:xfrm>
            <a:off x="6949440" y="4224528"/>
            <a:ext cx="1106424" cy="246888"/>
          </a:xfrm>
          <a:prstGeom prst="roundRect">
            <a:avLst>
              <a:gd name="adj" fmla="val 44444"/>
            </a:avLst>
          </a:prstGeom>
          <a:solidFill>
            <a:srgbClr val="EAF8ED"/>
          </a:solidFill>
          <a:ln w="6350">
            <a:solidFill>
              <a:srgbClr val="3DCD58">
                <a:alpha val="45000"/>
              </a:srgbClr>
            </a:solidFill>
            <a:prstDash val="solid"/>
          </a:ln>
        </p:spPr>
      </p:sp>
      <p:sp>
        <p:nvSpPr>
          <p:cNvPr id="58" name="Text 56"/>
          <p:cNvSpPr/>
          <p:nvPr/>
        </p:nvSpPr>
        <p:spPr>
          <a:xfrm>
            <a:off x="6949440" y="4224528"/>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Expanding</a:t>
            </a:r>
            <a:endParaRPr lang="en-US" sz="770" dirty="0"/>
          </a:p>
        </p:txBody>
      </p:sp>
      <p:sp>
        <p:nvSpPr>
          <p:cNvPr id="59" name="Shape 57"/>
          <p:cNvSpPr/>
          <p:nvPr/>
        </p:nvSpPr>
        <p:spPr>
          <a:xfrm>
            <a:off x="8165592" y="4059936"/>
            <a:ext cx="3657600" cy="566928"/>
          </a:xfrm>
          <a:prstGeom prst="rect">
            <a:avLst/>
          </a:prstGeom>
          <a:solidFill>
            <a:srgbClr val="F1F3F2"/>
          </a:solidFill>
          <a:ln w="5715">
            <a:solidFill>
              <a:srgbClr val="E2E6E2"/>
            </a:solidFill>
            <a:prstDash val="solid"/>
          </a:ln>
        </p:spPr>
      </p:sp>
      <p:sp>
        <p:nvSpPr>
          <p:cNvPr id="60" name="Text 58"/>
          <p:cNvSpPr/>
          <p:nvPr/>
        </p:nvSpPr>
        <p:spPr>
          <a:xfrm>
            <a:off x="8257032" y="4133088"/>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Deep energy data infrastructure</a:t>
            </a:r>
            <a:endParaRPr lang="en-US" sz="810" dirty="0"/>
          </a:p>
        </p:txBody>
      </p:sp>
      <p:sp>
        <p:nvSpPr>
          <p:cNvPr id="61" name="Shape 59"/>
          <p:cNvSpPr/>
          <p:nvPr/>
        </p:nvSpPr>
        <p:spPr>
          <a:xfrm>
            <a:off x="621792" y="4626864"/>
            <a:ext cx="1051560" cy="566928"/>
          </a:xfrm>
          <a:prstGeom prst="rect">
            <a:avLst/>
          </a:prstGeom>
          <a:solidFill>
            <a:srgbClr val="FFFFFF"/>
          </a:solidFill>
          <a:ln w="5715">
            <a:solidFill>
              <a:srgbClr val="E2E6E2"/>
            </a:solidFill>
            <a:prstDash val="solid"/>
          </a:ln>
        </p:spPr>
      </p:sp>
      <p:sp>
        <p:nvSpPr>
          <p:cNvPr id="62" name="Text 60"/>
          <p:cNvSpPr/>
          <p:nvPr/>
        </p:nvSpPr>
        <p:spPr>
          <a:xfrm>
            <a:off x="713232" y="4700016"/>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Deepki</a:t>
            </a:r>
            <a:endParaRPr lang="en-US" sz="920" dirty="0"/>
          </a:p>
        </p:txBody>
      </p:sp>
      <p:sp>
        <p:nvSpPr>
          <p:cNvPr id="63" name="Shape 61"/>
          <p:cNvSpPr/>
          <p:nvPr/>
        </p:nvSpPr>
        <p:spPr>
          <a:xfrm>
            <a:off x="1673352" y="4626864"/>
            <a:ext cx="1417320" cy="566928"/>
          </a:xfrm>
          <a:prstGeom prst="rect">
            <a:avLst/>
          </a:prstGeom>
          <a:solidFill>
            <a:srgbClr val="FFFFFF"/>
          </a:solidFill>
          <a:ln w="5715">
            <a:solidFill>
              <a:srgbClr val="E2E6E2"/>
            </a:solidFill>
            <a:prstDash val="solid"/>
          </a:ln>
        </p:spPr>
      </p:sp>
      <p:sp>
        <p:nvSpPr>
          <p:cNvPr id="64" name="Text 62"/>
          <p:cNvSpPr/>
          <p:nvPr/>
        </p:nvSpPr>
        <p:spPr>
          <a:xfrm>
            <a:off x="1764792" y="4700016"/>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Not publicly disclosed</a:t>
            </a:r>
            <a:endParaRPr lang="en-US" sz="810" dirty="0"/>
          </a:p>
        </p:txBody>
      </p:sp>
      <p:sp>
        <p:nvSpPr>
          <p:cNvPr id="65" name="Shape 63"/>
          <p:cNvSpPr/>
          <p:nvPr/>
        </p:nvSpPr>
        <p:spPr>
          <a:xfrm>
            <a:off x="3090672" y="4626864"/>
            <a:ext cx="3749040" cy="566928"/>
          </a:xfrm>
          <a:prstGeom prst="rect">
            <a:avLst/>
          </a:prstGeom>
          <a:solidFill>
            <a:srgbClr val="FFFFFF"/>
          </a:solidFill>
          <a:ln w="5715">
            <a:solidFill>
              <a:srgbClr val="E2E6E2"/>
            </a:solidFill>
            <a:prstDash val="solid"/>
          </a:ln>
        </p:spPr>
      </p:sp>
      <p:sp>
        <p:nvSpPr>
          <p:cNvPr id="66" name="Text 64"/>
          <p:cNvSpPr/>
          <p:nvPr/>
        </p:nvSpPr>
        <p:spPr>
          <a:xfrm>
            <a:off x="3182112" y="4700016"/>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Focused: real estate ESG, energy performance and climate risk</a:t>
            </a:r>
            <a:endParaRPr lang="en-US" sz="810" dirty="0"/>
          </a:p>
        </p:txBody>
      </p:sp>
      <p:sp>
        <p:nvSpPr>
          <p:cNvPr id="67" name="Shape 65"/>
          <p:cNvSpPr/>
          <p:nvPr/>
        </p:nvSpPr>
        <p:spPr>
          <a:xfrm>
            <a:off x="6839712" y="4626864"/>
            <a:ext cx="1325880" cy="566928"/>
          </a:xfrm>
          <a:prstGeom prst="rect">
            <a:avLst/>
          </a:prstGeom>
          <a:solidFill>
            <a:srgbClr val="FFFFFF"/>
          </a:solidFill>
          <a:ln w="5715">
            <a:solidFill>
              <a:srgbClr val="E2E6E2"/>
            </a:solidFill>
            <a:prstDash val="solid"/>
          </a:ln>
        </p:spPr>
      </p:sp>
      <p:sp>
        <p:nvSpPr>
          <p:cNvPr id="68" name="Shape 66"/>
          <p:cNvSpPr/>
          <p:nvPr/>
        </p:nvSpPr>
        <p:spPr>
          <a:xfrm>
            <a:off x="6949440" y="4791456"/>
            <a:ext cx="1106424" cy="246888"/>
          </a:xfrm>
          <a:prstGeom prst="roundRect">
            <a:avLst>
              <a:gd name="adj" fmla="val 44444"/>
            </a:avLst>
          </a:prstGeom>
          <a:solidFill>
            <a:srgbClr val="EAF8ED"/>
          </a:solidFill>
          <a:ln w="6350">
            <a:solidFill>
              <a:srgbClr val="3DCD58">
                <a:alpha val="45000"/>
              </a:srgbClr>
            </a:solidFill>
            <a:prstDash val="solid"/>
          </a:ln>
        </p:spPr>
      </p:sp>
      <p:sp>
        <p:nvSpPr>
          <p:cNvPr id="69" name="Text 67"/>
          <p:cNvSpPr/>
          <p:nvPr/>
        </p:nvSpPr>
        <p:spPr>
          <a:xfrm>
            <a:off x="6949440" y="4791456"/>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Expanding</a:t>
            </a:r>
            <a:endParaRPr lang="en-US" sz="770" dirty="0"/>
          </a:p>
        </p:txBody>
      </p:sp>
      <p:sp>
        <p:nvSpPr>
          <p:cNvPr id="70" name="Shape 68"/>
          <p:cNvSpPr/>
          <p:nvPr/>
        </p:nvSpPr>
        <p:spPr>
          <a:xfrm>
            <a:off x="8165592" y="4626864"/>
            <a:ext cx="3657600" cy="566928"/>
          </a:xfrm>
          <a:prstGeom prst="rect">
            <a:avLst/>
          </a:prstGeom>
          <a:solidFill>
            <a:srgbClr val="FFFFFF"/>
          </a:solidFill>
          <a:ln w="5715">
            <a:solidFill>
              <a:srgbClr val="E2E6E2"/>
            </a:solidFill>
            <a:prstDash val="solid"/>
          </a:ln>
        </p:spPr>
      </p:sp>
      <p:sp>
        <p:nvSpPr>
          <p:cNvPr id="71" name="Text 69"/>
          <p:cNvSpPr/>
          <p:nvPr/>
        </p:nvSpPr>
        <p:spPr>
          <a:xfrm>
            <a:off x="8257032" y="4700016"/>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Deep built-environment specialization</a:t>
            </a:r>
            <a:endParaRPr lang="en-US" sz="810" dirty="0"/>
          </a:p>
        </p:txBody>
      </p:sp>
      <p:sp>
        <p:nvSpPr>
          <p:cNvPr id="72" name="Shape 70"/>
          <p:cNvSpPr/>
          <p:nvPr/>
        </p:nvSpPr>
        <p:spPr>
          <a:xfrm>
            <a:off x="621792" y="5376672"/>
            <a:ext cx="10948111" cy="612648"/>
          </a:xfrm>
          <a:prstGeom prst="roundRect">
            <a:avLst>
              <a:gd name="adj" fmla="val 5970"/>
            </a:avLst>
          </a:prstGeom>
          <a:solidFill>
            <a:srgbClr val="005730"/>
          </a:solidFill>
          <a:ln w="12700">
            <a:solidFill>
              <a:srgbClr val="005730"/>
            </a:solidFill>
            <a:prstDash val="solid"/>
          </a:ln>
        </p:spPr>
      </p:sp>
      <p:sp>
        <p:nvSpPr>
          <p:cNvPr id="73" name="Shape 71"/>
          <p:cNvSpPr/>
          <p:nvPr/>
        </p:nvSpPr>
        <p:spPr>
          <a:xfrm>
            <a:off x="621792" y="5376672"/>
            <a:ext cx="1508760" cy="612648"/>
          </a:xfrm>
          <a:prstGeom prst="rect">
            <a:avLst/>
          </a:prstGeom>
          <a:solidFill>
            <a:srgbClr val="3DCD58"/>
          </a:solidFill>
          <a:ln w="12700">
            <a:solidFill>
              <a:srgbClr val="3DCD58"/>
            </a:solidFill>
            <a:prstDash val="solid"/>
          </a:ln>
        </p:spPr>
      </p:sp>
      <p:sp>
        <p:nvSpPr>
          <p:cNvPr id="74" name="Text 72"/>
          <p:cNvSpPr/>
          <p:nvPr/>
        </p:nvSpPr>
        <p:spPr>
          <a:xfrm>
            <a:off x="740664" y="5376672"/>
            <a:ext cx="1271016" cy="612648"/>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5" name="Text 73"/>
          <p:cNvSpPr/>
          <p:nvPr/>
        </p:nvSpPr>
        <p:spPr>
          <a:xfrm>
            <a:off x="2322576" y="5449824"/>
            <a:ext cx="9046159" cy="466344"/>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Win where clients value one accountable platform across sustainability, energy and efficiency. Close the gap on visible AI workflow maturity and prove lower total cost through shared data, calculations and assurance.</a:t>
            </a:r>
            <a:endParaRPr lang="en-US" sz="950" dirty="0"/>
          </a:p>
        </p:txBody>
      </p:sp>
      <p:sp>
        <p:nvSpPr>
          <p:cNvPr id="76" name="Text 74"/>
          <p:cNvSpPr/>
          <p:nvPr/>
        </p:nvSpPr>
        <p:spPr>
          <a:xfrm>
            <a:off x="621792" y="6080760"/>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Public vendor materials reviewed September 2026. Price indicates public transparency and buying model, not relative contract value. AI maturity reflects evidenced product capabilities, not vendor claims alone.</a:t>
            </a:r>
            <a:endParaRPr lang="en-US" sz="720" dirty="0"/>
          </a:p>
        </p:txBody>
      </p:sp>
      <p:sp>
        <p:nvSpPr>
          <p:cNvPr id="77" name="Shape 75"/>
          <p:cNvSpPr/>
          <p:nvPr/>
        </p:nvSpPr>
        <p:spPr>
          <a:xfrm>
            <a:off x="621792" y="6437376"/>
            <a:ext cx="10948111" cy="0"/>
          </a:xfrm>
          <a:prstGeom prst="line">
            <a:avLst/>
          </a:prstGeom>
          <a:noFill/>
          <a:ln w="9525">
            <a:solidFill>
              <a:srgbClr val="E2E6E2"/>
            </a:solidFill>
            <a:prstDash val="solid"/>
          </a:ln>
        </p:spPr>
      </p:sp>
      <p:sp>
        <p:nvSpPr>
          <p:cNvPr id="78" name="Text 7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9" name="Text 7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3B25"/>
        </a:solidFill>
      </p:bgPr>
    </p:bg>
    <p:spTree>
      <p:nvGrpSpPr>
        <p:cNvPr id="1" name=""/>
        <p:cNvGrpSpPr/>
        <p:nvPr/>
      </p:nvGrpSpPr>
      <p:grpSpPr>
        <a:xfrm>
          <a:off x="0" y="0"/>
          <a:ext cx="0" cy="0"/>
          <a:chOff x="0" y="0"/>
          <a:chExt cx="0" cy="0"/>
        </a:xfrm>
      </p:grpSpPr>
      <p:sp>
        <p:nvSpPr>
          <p:cNvPr id="2" name="Shape 0"/>
          <p:cNvSpPr/>
          <p:nvPr/>
        </p:nvSpPr>
        <p:spPr>
          <a:xfrm>
            <a:off x="621792" y="320040"/>
            <a:ext cx="2651760" cy="292608"/>
          </a:xfrm>
          <a:prstGeom prst="roundRect">
            <a:avLst>
              <a:gd name="adj" fmla="val 50000"/>
            </a:avLst>
          </a:prstGeom>
          <a:solidFill>
            <a:srgbClr val="0C3B25"/>
          </a:solidFill>
          <a:ln w="12700">
            <a:solidFill>
              <a:srgbClr val="CDFC57"/>
            </a:solidFill>
            <a:prstDash val="solid"/>
          </a:ln>
        </p:spPr>
      </p:sp>
      <p:sp>
        <p:nvSpPr>
          <p:cNvPr id="3" name="Text 1"/>
          <p:cNvSpPr/>
          <p:nvPr/>
        </p:nvSpPr>
        <p:spPr>
          <a:xfrm>
            <a:off x="621792" y="320040"/>
            <a:ext cx="2651760" cy="292608"/>
          </a:xfrm>
          <a:prstGeom prst="rect">
            <a:avLst/>
          </a:prstGeom>
          <a:noFill/>
          <a:ln/>
        </p:spPr>
        <p:txBody>
          <a:bodyPr wrap="square" lIns="0" tIns="0" rIns="0" bIns="0" rtlCol="0" anchor="ctr"/>
          <a:lstStyle/>
          <a:p>
            <a:pPr algn="ctr" indent="0" marL="0">
              <a:buNone/>
            </a:pPr>
            <a:r>
              <a:rPr lang="en-US" sz="900" b="1" spc="180" kern="0" dirty="0">
                <a:solidFill>
                  <a:srgbClr val="CDFC57"/>
                </a:solidFill>
                <a:latin typeface="Calibri" pitchFamily="34" charset="0"/>
                <a:ea typeface="Calibri" pitchFamily="34" charset="-122"/>
                <a:cs typeface="Calibri" pitchFamily="34" charset="-120"/>
              </a:rPr>
              <a:t>Competitive roadmap | 2026 to 2028</a:t>
            </a:r>
            <a:endParaRPr lang="en-US" sz="900" dirty="0"/>
          </a:p>
        </p:txBody>
      </p:sp>
      <p:sp>
        <p:nvSpPr>
          <p:cNvPr id="4" name="Text 2"/>
          <p:cNvSpPr/>
          <p:nvPr/>
        </p:nvSpPr>
        <p:spPr>
          <a:xfrm>
            <a:off x="621792" y="731520"/>
            <a:ext cx="10948111" cy="50292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Where we lead, and where rivals catch up</a:t>
            </a:r>
            <a:endParaRPr lang="en-US" sz="2300" dirty="0"/>
          </a:p>
        </p:txBody>
      </p:sp>
      <p:sp>
        <p:nvSpPr>
          <p:cNvPr id="5" name="Text 3"/>
          <p:cNvSpPr/>
          <p:nvPr/>
        </p:nvSpPr>
        <p:spPr>
          <a:xfrm>
            <a:off x="621792" y="1280160"/>
            <a:ext cx="10424160" cy="365760"/>
          </a:xfrm>
          <a:prstGeom prst="rect">
            <a:avLst/>
          </a:prstGeom>
          <a:noFill/>
          <a:ln/>
        </p:spPr>
        <p:txBody>
          <a:bodyPr wrap="square" lIns="0" tIns="0" rIns="0" bIns="0" rtlCol="0" anchor="t">
            <a:normAutofit/>
          </a:bodyPr>
          <a:lstStyle/>
          <a:p>
            <a:pPr indent="0" marL="0">
              <a:buNone/>
            </a:pPr>
            <a:r>
              <a:rPr lang="en-US" sz="1050" dirty="0">
                <a:solidFill>
                  <a:srgbClr val="BFD9C9"/>
                </a:solidFill>
                <a:latin typeface="Calibri" pitchFamily="34" charset="0"/>
                <a:ea typeface="Calibri" pitchFamily="34" charset="-122"/>
                <a:cs typeface="Calibri" pitchFamily="34" charset="-120"/>
              </a:rPr>
              <a:t>Our three year plan against the direction of travel visible in competitor public product roadmaps and market commentary. Competitor columns are directional, not committed dates.</a:t>
            </a:r>
            <a:endParaRPr lang="en-US" sz="1050" dirty="0"/>
          </a:p>
        </p:txBody>
      </p:sp>
      <p:sp>
        <p:nvSpPr>
          <p:cNvPr id="6" name="Shape 4"/>
          <p:cNvSpPr/>
          <p:nvPr/>
        </p:nvSpPr>
        <p:spPr>
          <a:xfrm>
            <a:off x="2569464" y="2167128"/>
            <a:ext cx="2744114" cy="0"/>
          </a:xfrm>
          <a:prstGeom prst="line">
            <a:avLst/>
          </a:prstGeom>
          <a:noFill/>
          <a:ln w="10160">
            <a:solidFill>
              <a:srgbClr val="5E806E"/>
            </a:solidFill>
            <a:prstDash val="solid"/>
          </a:ln>
        </p:spPr>
      </p:sp>
      <p:sp>
        <p:nvSpPr>
          <p:cNvPr id="7" name="Shape 5"/>
          <p:cNvSpPr/>
          <p:nvPr/>
        </p:nvSpPr>
        <p:spPr>
          <a:xfrm>
            <a:off x="2569464" y="1783080"/>
            <a:ext cx="713232" cy="274320"/>
          </a:xfrm>
          <a:prstGeom prst="roundRect">
            <a:avLst>
              <a:gd name="adj" fmla="val 13333"/>
            </a:avLst>
          </a:prstGeom>
          <a:solidFill>
            <a:srgbClr val="0C3B25"/>
          </a:solidFill>
          <a:ln w="12700">
            <a:solidFill>
              <a:srgbClr val="CDFC57"/>
            </a:solidFill>
            <a:prstDash val="solid"/>
          </a:ln>
        </p:spPr>
      </p:sp>
      <p:sp>
        <p:nvSpPr>
          <p:cNvPr id="8" name="Text 6"/>
          <p:cNvSpPr/>
          <p:nvPr/>
        </p:nvSpPr>
        <p:spPr>
          <a:xfrm>
            <a:off x="2569464" y="1783080"/>
            <a:ext cx="713232" cy="274320"/>
          </a:xfrm>
          <a:prstGeom prst="rect">
            <a:avLst/>
          </a:prstGeom>
          <a:noFill/>
          <a:ln/>
        </p:spPr>
        <p:txBody>
          <a:bodyPr wrap="square" lIns="0" tIns="0" rIns="0" bIns="0" rtlCol="0" anchor="ctr"/>
          <a:lstStyle/>
          <a:p>
            <a:pPr algn="ctr" indent="0" marL="0">
              <a:buNone/>
            </a:pPr>
            <a:r>
              <a:rPr lang="en-US" sz="950" b="1" dirty="0">
                <a:solidFill>
                  <a:srgbClr val="CDFC57"/>
                </a:solidFill>
                <a:latin typeface="Calibri" pitchFamily="34" charset="0"/>
                <a:ea typeface="Calibri" pitchFamily="34" charset="-122"/>
                <a:cs typeface="Calibri" pitchFamily="34" charset="-120"/>
              </a:rPr>
              <a:t>2026</a:t>
            </a:r>
            <a:endParaRPr lang="en-US" sz="950" dirty="0"/>
          </a:p>
        </p:txBody>
      </p:sp>
      <p:sp>
        <p:nvSpPr>
          <p:cNvPr id="9" name="Text 7"/>
          <p:cNvSpPr/>
          <p:nvPr/>
        </p:nvSpPr>
        <p:spPr>
          <a:xfrm>
            <a:off x="3392424" y="1783080"/>
            <a:ext cx="1921154" cy="27432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Foundations</a:t>
            </a:r>
            <a:endParaRPr lang="en-US" sz="1150" dirty="0"/>
          </a:p>
        </p:txBody>
      </p:sp>
      <p:sp>
        <p:nvSpPr>
          <p:cNvPr id="10" name="Shape 8"/>
          <p:cNvSpPr/>
          <p:nvPr/>
        </p:nvSpPr>
        <p:spPr>
          <a:xfrm>
            <a:off x="5569610" y="2167128"/>
            <a:ext cx="2744114" cy="0"/>
          </a:xfrm>
          <a:prstGeom prst="line">
            <a:avLst/>
          </a:prstGeom>
          <a:noFill/>
          <a:ln w="10160">
            <a:solidFill>
              <a:srgbClr val="5E806E"/>
            </a:solidFill>
            <a:prstDash val="solid"/>
          </a:ln>
        </p:spPr>
      </p:sp>
      <p:sp>
        <p:nvSpPr>
          <p:cNvPr id="11" name="Shape 9"/>
          <p:cNvSpPr/>
          <p:nvPr/>
        </p:nvSpPr>
        <p:spPr>
          <a:xfrm>
            <a:off x="5569610" y="1783080"/>
            <a:ext cx="713232" cy="274320"/>
          </a:xfrm>
          <a:prstGeom prst="roundRect">
            <a:avLst>
              <a:gd name="adj" fmla="val 13333"/>
            </a:avLst>
          </a:prstGeom>
          <a:solidFill>
            <a:srgbClr val="0C3B25"/>
          </a:solidFill>
          <a:ln w="12700">
            <a:solidFill>
              <a:srgbClr val="CDFC57"/>
            </a:solidFill>
            <a:prstDash val="solid"/>
          </a:ln>
        </p:spPr>
      </p:sp>
      <p:sp>
        <p:nvSpPr>
          <p:cNvPr id="12" name="Text 10"/>
          <p:cNvSpPr/>
          <p:nvPr/>
        </p:nvSpPr>
        <p:spPr>
          <a:xfrm>
            <a:off x="5569610" y="1783080"/>
            <a:ext cx="713232" cy="274320"/>
          </a:xfrm>
          <a:prstGeom prst="rect">
            <a:avLst/>
          </a:prstGeom>
          <a:noFill/>
          <a:ln/>
        </p:spPr>
        <p:txBody>
          <a:bodyPr wrap="square" lIns="0" tIns="0" rIns="0" bIns="0" rtlCol="0" anchor="ctr"/>
          <a:lstStyle/>
          <a:p>
            <a:pPr algn="ctr" indent="0" marL="0">
              <a:buNone/>
            </a:pPr>
            <a:r>
              <a:rPr lang="en-US" sz="950" b="1" dirty="0">
                <a:solidFill>
                  <a:srgbClr val="CDFC57"/>
                </a:solidFill>
                <a:latin typeface="Calibri" pitchFamily="34" charset="0"/>
                <a:ea typeface="Calibri" pitchFamily="34" charset="-122"/>
                <a:cs typeface="Calibri" pitchFamily="34" charset="-120"/>
              </a:rPr>
              <a:t>2027</a:t>
            </a:r>
            <a:endParaRPr lang="en-US" sz="950" dirty="0"/>
          </a:p>
        </p:txBody>
      </p:sp>
      <p:sp>
        <p:nvSpPr>
          <p:cNvPr id="13" name="Text 11"/>
          <p:cNvSpPr/>
          <p:nvPr/>
        </p:nvSpPr>
        <p:spPr>
          <a:xfrm>
            <a:off x="6392570" y="1783080"/>
            <a:ext cx="1921154" cy="27432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Depth and trust</a:t>
            </a:r>
            <a:endParaRPr lang="en-US" sz="1150" dirty="0"/>
          </a:p>
        </p:txBody>
      </p:sp>
      <p:sp>
        <p:nvSpPr>
          <p:cNvPr id="14" name="Shape 12"/>
          <p:cNvSpPr/>
          <p:nvPr/>
        </p:nvSpPr>
        <p:spPr>
          <a:xfrm>
            <a:off x="8569757" y="2167128"/>
            <a:ext cx="2744114" cy="0"/>
          </a:xfrm>
          <a:prstGeom prst="line">
            <a:avLst/>
          </a:prstGeom>
          <a:noFill/>
          <a:ln w="10160">
            <a:solidFill>
              <a:srgbClr val="5E806E"/>
            </a:solidFill>
            <a:prstDash val="solid"/>
          </a:ln>
        </p:spPr>
      </p:sp>
      <p:sp>
        <p:nvSpPr>
          <p:cNvPr id="15" name="Shape 13"/>
          <p:cNvSpPr/>
          <p:nvPr/>
        </p:nvSpPr>
        <p:spPr>
          <a:xfrm>
            <a:off x="8569757" y="1783080"/>
            <a:ext cx="713232" cy="274320"/>
          </a:xfrm>
          <a:prstGeom prst="roundRect">
            <a:avLst>
              <a:gd name="adj" fmla="val 13333"/>
            </a:avLst>
          </a:prstGeom>
          <a:solidFill>
            <a:srgbClr val="0C3B25"/>
          </a:solidFill>
          <a:ln w="12700">
            <a:solidFill>
              <a:srgbClr val="CDFC57"/>
            </a:solidFill>
            <a:prstDash val="solid"/>
          </a:ln>
        </p:spPr>
      </p:sp>
      <p:sp>
        <p:nvSpPr>
          <p:cNvPr id="16" name="Text 14"/>
          <p:cNvSpPr/>
          <p:nvPr/>
        </p:nvSpPr>
        <p:spPr>
          <a:xfrm>
            <a:off x="8569757" y="1783080"/>
            <a:ext cx="713232" cy="274320"/>
          </a:xfrm>
          <a:prstGeom prst="rect">
            <a:avLst/>
          </a:prstGeom>
          <a:noFill/>
          <a:ln/>
        </p:spPr>
        <p:txBody>
          <a:bodyPr wrap="square" lIns="0" tIns="0" rIns="0" bIns="0" rtlCol="0" anchor="ctr"/>
          <a:lstStyle/>
          <a:p>
            <a:pPr algn="ctr" indent="0" marL="0">
              <a:buNone/>
            </a:pPr>
            <a:r>
              <a:rPr lang="en-US" sz="950" b="1" dirty="0">
                <a:solidFill>
                  <a:srgbClr val="CDFC57"/>
                </a:solidFill>
                <a:latin typeface="Calibri" pitchFamily="34" charset="0"/>
                <a:ea typeface="Calibri" pitchFamily="34" charset="-122"/>
                <a:cs typeface="Calibri" pitchFamily="34" charset="-120"/>
              </a:rPr>
              <a:t>2028 and beyond</a:t>
            </a:r>
            <a:endParaRPr lang="en-US" sz="950" dirty="0"/>
          </a:p>
        </p:txBody>
      </p:sp>
      <p:sp>
        <p:nvSpPr>
          <p:cNvPr id="17" name="Text 15"/>
          <p:cNvSpPr/>
          <p:nvPr/>
        </p:nvSpPr>
        <p:spPr>
          <a:xfrm>
            <a:off x="9392717" y="1783080"/>
            <a:ext cx="1921154" cy="27432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Scale and intelligence</a:t>
            </a:r>
            <a:endParaRPr lang="en-US" sz="1150" dirty="0"/>
          </a:p>
        </p:txBody>
      </p:sp>
      <p:sp>
        <p:nvSpPr>
          <p:cNvPr id="18" name="Shape 16"/>
          <p:cNvSpPr/>
          <p:nvPr/>
        </p:nvSpPr>
        <p:spPr>
          <a:xfrm>
            <a:off x="640080" y="2450592"/>
            <a:ext cx="91440" cy="91440"/>
          </a:xfrm>
          <a:prstGeom prst="ellipse">
            <a:avLst/>
          </a:prstGeom>
          <a:solidFill>
            <a:srgbClr val="3DCD58"/>
          </a:solidFill>
          <a:ln w="12700">
            <a:solidFill>
              <a:srgbClr val="3DCD58"/>
            </a:solidFill>
            <a:prstDash val="solid"/>
          </a:ln>
        </p:spPr>
      </p:sp>
      <p:sp>
        <p:nvSpPr>
          <p:cNvPr id="19" name="Text 17"/>
          <p:cNvSpPr/>
          <p:nvPr/>
        </p:nvSpPr>
        <p:spPr>
          <a:xfrm>
            <a:off x="804672" y="226771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RA+</a:t>
            </a:r>
            <a:endParaRPr lang="en-US" sz="1000" dirty="0"/>
          </a:p>
        </p:txBody>
      </p:sp>
      <p:sp>
        <p:nvSpPr>
          <p:cNvPr id="20" name="Shape 18"/>
          <p:cNvSpPr/>
          <p:nvPr/>
        </p:nvSpPr>
        <p:spPr>
          <a:xfrm>
            <a:off x="2569464" y="2267712"/>
            <a:ext cx="2744114" cy="457200"/>
          </a:xfrm>
          <a:prstGeom prst="roundRect">
            <a:avLst>
              <a:gd name="adj" fmla="val 10000"/>
            </a:avLst>
          </a:prstGeom>
          <a:solidFill>
            <a:srgbClr val="124A30"/>
          </a:solidFill>
          <a:ln w="9525">
            <a:solidFill>
              <a:srgbClr val="315D47"/>
            </a:solidFill>
            <a:prstDash val="solid"/>
          </a:ln>
        </p:spPr>
      </p:sp>
      <p:sp>
        <p:nvSpPr>
          <p:cNvPr id="21" name="Text 19"/>
          <p:cNvSpPr/>
          <p:nvPr/>
        </p:nvSpPr>
        <p:spPr>
          <a:xfrm>
            <a:off x="2697480" y="226771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One data spine: shared hierarchy, factors and calculation engine, plus consultant grade inventory</a:t>
            </a:r>
            <a:endParaRPr lang="en-US" sz="850" dirty="0"/>
          </a:p>
        </p:txBody>
      </p:sp>
      <p:sp>
        <p:nvSpPr>
          <p:cNvPr id="22" name="Shape 20"/>
          <p:cNvSpPr/>
          <p:nvPr/>
        </p:nvSpPr>
        <p:spPr>
          <a:xfrm>
            <a:off x="5569610" y="2267712"/>
            <a:ext cx="2744114" cy="457200"/>
          </a:xfrm>
          <a:prstGeom prst="roundRect">
            <a:avLst>
              <a:gd name="adj" fmla="val 10000"/>
            </a:avLst>
          </a:prstGeom>
          <a:solidFill>
            <a:srgbClr val="124A30"/>
          </a:solidFill>
          <a:ln w="9525">
            <a:solidFill>
              <a:srgbClr val="315D47"/>
            </a:solidFill>
            <a:prstDash val="solid"/>
          </a:ln>
        </p:spPr>
      </p:sp>
      <p:sp>
        <p:nvSpPr>
          <p:cNvPr id="23" name="Text 21"/>
          <p:cNvSpPr/>
          <p:nvPr/>
        </p:nvSpPr>
        <p:spPr>
          <a:xfrm>
            <a:off x="5697626" y="226771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Priced climate risk, product linked transport, cross product disclosure and AI assisted inventory</a:t>
            </a:r>
            <a:endParaRPr lang="en-US" sz="850" dirty="0"/>
          </a:p>
        </p:txBody>
      </p:sp>
      <p:sp>
        <p:nvSpPr>
          <p:cNvPr id="24" name="Shape 22"/>
          <p:cNvSpPr/>
          <p:nvPr/>
        </p:nvSpPr>
        <p:spPr>
          <a:xfrm>
            <a:off x="8569757" y="2267712"/>
            <a:ext cx="2744114" cy="457200"/>
          </a:xfrm>
          <a:prstGeom prst="roundRect">
            <a:avLst>
              <a:gd name="adj" fmla="val 10000"/>
            </a:avLst>
          </a:prstGeom>
          <a:solidFill>
            <a:srgbClr val="124A30"/>
          </a:solidFill>
          <a:ln w="9525">
            <a:solidFill>
              <a:srgbClr val="315D47"/>
            </a:solidFill>
            <a:prstDash val="solid"/>
          </a:ln>
        </p:spPr>
      </p:sp>
      <p:sp>
        <p:nvSpPr>
          <p:cNvPr id="25" name="Text 23"/>
          <p:cNvSpPr/>
          <p:nvPr/>
        </p:nvSpPr>
        <p:spPr>
          <a:xfrm>
            <a:off x="8697773" y="226771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Converged sustainability, energy and efficiency decisioning on one governed platform</a:t>
            </a:r>
            <a:endParaRPr lang="en-US" sz="850" dirty="0"/>
          </a:p>
        </p:txBody>
      </p:sp>
      <p:sp>
        <p:nvSpPr>
          <p:cNvPr id="26" name="Shape 24"/>
          <p:cNvSpPr/>
          <p:nvPr/>
        </p:nvSpPr>
        <p:spPr>
          <a:xfrm>
            <a:off x="640080" y="2999232"/>
            <a:ext cx="91440" cy="91440"/>
          </a:xfrm>
          <a:prstGeom prst="ellipse">
            <a:avLst/>
          </a:prstGeom>
          <a:solidFill>
            <a:srgbClr val="CDFC57"/>
          </a:solidFill>
          <a:ln w="12700">
            <a:solidFill>
              <a:srgbClr val="CDFC57"/>
            </a:solidFill>
            <a:prstDash val="solid"/>
          </a:ln>
        </p:spPr>
      </p:sp>
      <p:sp>
        <p:nvSpPr>
          <p:cNvPr id="27" name="Text 25"/>
          <p:cNvSpPr/>
          <p:nvPr/>
        </p:nvSpPr>
        <p:spPr>
          <a:xfrm>
            <a:off x="804672" y="281635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Watershed</a:t>
            </a:r>
            <a:endParaRPr lang="en-US" sz="1000" dirty="0"/>
          </a:p>
        </p:txBody>
      </p:sp>
      <p:sp>
        <p:nvSpPr>
          <p:cNvPr id="28" name="Shape 26"/>
          <p:cNvSpPr/>
          <p:nvPr/>
        </p:nvSpPr>
        <p:spPr>
          <a:xfrm>
            <a:off x="2569464" y="2816352"/>
            <a:ext cx="2744114" cy="457200"/>
          </a:xfrm>
          <a:prstGeom prst="roundRect">
            <a:avLst>
              <a:gd name="adj" fmla="val 10000"/>
            </a:avLst>
          </a:prstGeom>
          <a:solidFill>
            <a:srgbClr val="124A30"/>
          </a:solidFill>
          <a:ln w="9525">
            <a:solidFill>
              <a:srgbClr val="315D47"/>
            </a:solidFill>
            <a:prstDash val="solid"/>
          </a:ln>
        </p:spPr>
      </p:sp>
      <p:sp>
        <p:nvSpPr>
          <p:cNvPr id="29" name="Text 27"/>
          <p:cNvSpPr/>
          <p:nvPr/>
        </p:nvSpPr>
        <p:spPr>
          <a:xfrm>
            <a:off x="2697480" y="281635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AI native carbon and disclosure workflows already strong</a:t>
            </a:r>
            <a:endParaRPr lang="en-US" sz="850" dirty="0"/>
          </a:p>
        </p:txBody>
      </p:sp>
      <p:sp>
        <p:nvSpPr>
          <p:cNvPr id="30" name="Shape 28"/>
          <p:cNvSpPr/>
          <p:nvPr/>
        </p:nvSpPr>
        <p:spPr>
          <a:xfrm>
            <a:off x="5569610" y="2816352"/>
            <a:ext cx="2744114" cy="457200"/>
          </a:xfrm>
          <a:prstGeom prst="roundRect">
            <a:avLst>
              <a:gd name="adj" fmla="val 10000"/>
            </a:avLst>
          </a:prstGeom>
          <a:solidFill>
            <a:srgbClr val="124A30"/>
          </a:solidFill>
          <a:ln w="9525">
            <a:solidFill>
              <a:srgbClr val="315D47"/>
            </a:solidFill>
            <a:prstDash val="solid"/>
          </a:ln>
        </p:spPr>
      </p:sp>
      <p:sp>
        <p:nvSpPr>
          <p:cNvPr id="31" name="Text 29"/>
          <p:cNvSpPr/>
          <p:nvPr/>
        </p:nvSpPr>
        <p:spPr>
          <a:xfrm>
            <a:off x="5697626" y="281635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Likely to extend supply chain depth and assurance grade evidence</a:t>
            </a:r>
            <a:endParaRPr lang="en-US" sz="850" dirty="0"/>
          </a:p>
        </p:txBody>
      </p:sp>
      <p:sp>
        <p:nvSpPr>
          <p:cNvPr id="32" name="Shape 30"/>
          <p:cNvSpPr/>
          <p:nvPr/>
        </p:nvSpPr>
        <p:spPr>
          <a:xfrm>
            <a:off x="8569757" y="2816352"/>
            <a:ext cx="2744114" cy="457200"/>
          </a:xfrm>
          <a:prstGeom prst="roundRect">
            <a:avLst>
              <a:gd name="adj" fmla="val 10000"/>
            </a:avLst>
          </a:prstGeom>
          <a:solidFill>
            <a:srgbClr val="124A30"/>
          </a:solidFill>
          <a:ln w="9525">
            <a:solidFill>
              <a:srgbClr val="315D47"/>
            </a:solidFill>
            <a:prstDash val="solid"/>
          </a:ln>
        </p:spPr>
      </p:sp>
      <p:sp>
        <p:nvSpPr>
          <p:cNvPr id="33" name="Text 31"/>
          <p:cNvSpPr/>
          <p:nvPr/>
        </p:nvSpPr>
        <p:spPr>
          <a:xfrm>
            <a:off x="8697773" y="281635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Pressure point: they close the AI experience gap before we close the breadth gap</a:t>
            </a:r>
            <a:endParaRPr lang="en-US" sz="850" dirty="0"/>
          </a:p>
        </p:txBody>
      </p:sp>
      <p:sp>
        <p:nvSpPr>
          <p:cNvPr id="34" name="Shape 32"/>
          <p:cNvSpPr/>
          <p:nvPr/>
        </p:nvSpPr>
        <p:spPr>
          <a:xfrm>
            <a:off x="640080" y="3547872"/>
            <a:ext cx="91440" cy="91440"/>
          </a:xfrm>
          <a:prstGeom prst="ellipse">
            <a:avLst/>
          </a:prstGeom>
          <a:solidFill>
            <a:srgbClr val="CDFC57"/>
          </a:solidFill>
          <a:ln w="12700">
            <a:solidFill>
              <a:srgbClr val="CDFC57"/>
            </a:solidFill>
            <a:prstDash val="solid"/>
          </a:ln>
        </p:spPr>
      </p:sp>
      <p:sp>
        <p:nvSpPr>
          <p:cNvPr id="35" name="Text 33"/>
          <p:cNvSpPr/>
          <p:nvPr/>
        </p:nvSpPr>
        <p:spPr>
          <a:xfrm>
            <a:off x="804672" y="336499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osapiens</a:t>
            </a:r>
            <a:endParaRPr lang="en-US" sz="1000" dirty="0"/>
          </a:p>
        </p:txBody>
      </p:sp>
      <p:sp>
        <p:nvSpPr>
          <p:cNvPr id="36" name="Shape 34"/>
          <p:cNvSpPr/>
          <p:nvPr/>
        </p:nvSpPr>
        <p:spPr>
          <a:xfrm>
            <a:off x="2569464" y="3364992"/>
            <a:ext cx="2744114" cy="457200"/>
          </a:xfrm>
          <a:prstGeom prst="roundRect">
            <a:avLst>
              <a:gd name="adj" fmla="val 10000"/>
            </a:avLst>
          </a:prstGeom>
          <a:solidFill>
            <a:srgbClr val="124A30"/>
          </a:solidFill>
          <a:ln w="9525">
            <a:solidFill>
              <a:srgbClr val="315D47"/>
            </a:solidFill>
            <a:prstDash val="solid"/>
          </a:ln>
        </p:spPr>
      </p:sp>
      <p:sp>
        <p:nvSpPr>
          <p:cNvPr id="37" name="Text 35"/>
          <p:cNvSpPr/>
          <p:nvPr/>
        </p:nvSpPr>
        <p:spPr>
          <a:xfrm>
            <a:off x="2697480" y="336499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Deep EU regulatory and supplier compliance coverage</a:t>
            </a:r>
            <a:endParaRPr lang="en-US" sz="850" dirty="0"/>
          </a:p>
        </p:txBody>
      </p:sp>
      <p:sp>
        <p:nvSpPr>
          <p:cNvPr id="38" name="Shape 36"/>
          <p:cNvSpPr/>
          <p:nvPr/>
        </p:nvSpPr>
        <p:spPr>
          <a:xfrm>
            <a:off x="5569610" y="3364992"/>
            <a:ext cx="2744114" cy="457200"/>
          </a:xfrm>
          <a:prstGeom prst="roundRect">
            <a:avLst>
              <a:gd name="adj" fmla="val 10000"/>
            </a:avLst>
          </a:prstGeom>
          <a:solidFill>
            <a:srgbClr val="124A30"/>
          </a:solidFill>
          <a:ln w="9525">
            <a:solidFill>
              <a:srgbClr val="315D47"/>
            </a:solidFill>
            <a:prstDash val="solid"/>
          </a:ln>
        </p:spPr>
      </p:sp>
      <p:sp>
        <p:nvSpPr>
          <p:cNvPr id="39" name="Text 37"/>
          <p:cNvSpPr/>
          <p:nvPr/>
        </p:nvSpPr>
        <p:spPr>
          <a:xfrm>
            <a:off x="5697626" y="336499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Expected expansion into product level and broader carbon reporting</a:t>
            </a:r>
            <a:endParaRPr lang="en-US" sz="850" dirty="0"/>
          </a:p>
        </p:txBody>
      </p:sp>
      <p:sp>
        <p:nvSpPr>
          <p:cNvPr id="40" name="Shape 38"/>
          <p:cNvSpPr/>
          <p:nvPr/>
        </p:nvSpPr>
        <p:spPr>
          <a:xfrm>
            <a:off x="8569757" y="3364992"/>
            <a:ext cx="2744114" cy="457200"/>
          </a:xfrm>
          <a:prstGeom prst="roundRect">
            <a:avLst>
              <a:gd name="adj" fmla="val 10000"/>
            </a:avLst>
          </a:prstGeom>
          <a:solidFill>
            <a:srgbClr val="124A30"/>
          </a:solidFill>
          <a:ln w="9525">
            <a:solidFill>
              <a:srgbClr val="315D47"/>
            </a:solidFill>
            <a:prstDash val="solid"/>
          </a:ln>
        </p:spPr>
      </p:sp>
      <p:sp>
        <p:nvSpPr>
          <p:cNvPr id="41" name="Text 39"/>
          <p:cNvSpPr/>
          <p:nvPr/>
        </p:nvSpPr>
        <p:spPr>
          <a:xfrm>
            <a:off x="8697773" y="336499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Pressure point: compliance breadth becomes table stakes across the market</a:t>
            </a:r>
            <a:endParaRPr lang="en-US" sz="850" dirty="0"/>
          </a:p>
        </p:txBody>
      </p:sp>
      <p:sp>
        <p:nvSpPr>
          <p:cNvPr id="42" name="Shape 40"/>
          <p:cNvSpPr/>
          <p:nvPr/>
        </p:nvSpPr>
        <p:spPr>
          <a:xfrm>
            <a:off x="640080" y="4096512"/>
            <a:ext cx="91440" cy="91440"/>
          </a:xfrm>
          <a:prstGeom prst="ellipse">
            <a:avLst/>
          </a:prstGeom>
          <a:solidFill>
            <a:srgbClr val="5A625C"/>
          </a:solidFill>
          <a:ln w="12700">
            <a:solidFill>
              <a:srgbClr val="5A625C"/>
            </a:solidFill>
            <a:prstDash val="solid"/>
          </a:ln>
        </p:spPr>
      </p:sp>
      <p:sp>
        <p:nvSpPr>
          <p:cNvPr id="43" name="Text 41"/>
          <p:cNvSpPr/>
          <p:nvPr/>
        </p:nvSpPr>
        <p:spPr>
          <a:xfrm>
            <a:off x="804672" y="391363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Arcadia and Deepki</a:t>
            </a:r>
            <a:endParaRPr lang="en-US" sz="1000" dirty="0"/>
          </a:p>
        </p:txBody>
      </p:sp>
      <p:sp>
        <p:nvSpPr>
          <p:cNvPr id="44" name="Shape 42"/>
          <p:cNvSpPr/>
          <p:nvPr/>
        </p:nvSpPr>
        <p:spPr>
          <a:xfrm>
            <a:off x="2569464" y="3913632"/>
            <a:ext cx="2744114" cy="457200"/>
          </a:xfrm>
          <a:prstGeom prst="roundRect">
            <a:avLst>
              <a:gd name="adj" fmla="val 10000"/>
            </a:avLst>
          </a:prstGeom>
          <a:solidFill>
            <a:srgbClr val="124A30"/>
          </a:solidFill>
          <a:ln w="9525">
            <a:solidFill>
              <a:srgbClr val="315D47"/>
            </a:solidFill>
            <a:prstDash val="solid"/>
          </a:ln>
        </p:spPr>
      </p:sp>
      <p:sp>
        <p:nvSpPr>
          <p:cNvPr id="45" name="Text 43"/>
          <p:cNvSpPr/>
          <p:nvPr/>
        </p:nvSpPr>
        <p:spPr>
          <a:xfrm>
            <a:off x="2697480" y="391363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Strong energy data and real estate ESG positions</a:t>
            </a:r>
            <a:endParaRPr lang="en-US" sz="850" dirty="0"/>
          </a:p>
        </p:txBody>
      </p:sp>
      <p:sp>
        <p:nvSpPr>
          <p:cNvPr id="46" name="Shape 44"/>
          <p:cNvSpPr/>
          <p:nvPr/>
        </p:nvSpPr>
        <p:spPr>
          <a:xfrm>
            <a:off x="5569610" y="3913632"/>
            <a:ext cx="2744114" cy="457200"/>
          </a:xfrm>
          <a:prstGeom prst="roundRect">
            <a:avLst>
              <a:gd name="adj" fmla="val 10000"/>
            </a:avLst>
          </a:prstGeom>
          <a:solidFill>
            <a:srgbClr val="124A30"/>
          </a:solidFill>
          <a:ln w="9525">
            <a:solidFill>
              <a:srgbClr val="315D47"/>
            </a:solidFill>
            <a:prstDash val="solid"/>
          </a:ln>
        </p:spPr>
      </p:sp>
      <p:sp>
        <p:nvSpPr>
          <p:cNvPr id="47" name="Text 45"/>
          <p:cNvSpPr/>
          <p:nvPr/>
        </p:nvSpPr>
        <p:spPr>
          <a:xfrm>
            <a:off x="5697626" y="391363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Expected move upward into carbon and risk reporting adjacent to their data</a:t>
            </a:r>
            <a:endParaRPr lang="en-US" sz="850" dirty="0"/>
          </a:p>
        </p:txBody>
      </p:sp>
      <p:sp>
        <p:nvSpPr>
          <p:cNvPr id="48" name="Shape 46"/>
          <p:cNvSpPr/>
          <p:nvPr/>
        </p:nvSpPr>
        <p:spPr>
          <a:xfrm>
            <a:off x="8569757" y="3913632"/>
            <a:ext cx="2744114" cy="457200"/>
          </a:xfrm>
          <a:prstGeom prst="roundRect">
            <a:avLst>
              <a:gd name="adj" fmla="val 10000"/>
            </a:avLst>
          </a:prstGeom>
          <a:solidFill>
            <a:srgbClr val="124A30"/>
          </a:solidFill>
          <a:ln w="9525">
            <a:solidFill>
              <a:srgbClr val="315D47"/>
            </a:solidFill>
            <a:prstDash val="solid"/>
          </a:ln>
        </p:spPr>
      </p:sp>
      <p:sp>
        <p:nvSpPr>
          <p:cNvPr id="49" name="Text 47"/>
          <p:cNvSpPr/>
          <p:nvPr/>
        </p:nvSpPr>
        <p:spPr>
          <a:xfrm>
            <a:off x="8697773" y="391363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Pressure point: energy data advantage narrows if we do not exploit ours first</a:t>
            </a:r>
            <a:endParaRPr lang="en-US" sz="850" dirty="0"/>
          </a:p>
        </p:txBody>
      </p:sp>
      <p:sp>
        <p:nvSpPr>
          <p:cNvPr id="50" name="Shape 48"/>
          <p:cNvSpPr/>
          <p:nvPr/>
        </p:nvSpPr>
        <p:spPr>
          <a:xfrm>
            <a:off x="621792" y="4590288"/>
            <a:ext cx="10948111" cy="0"/>
          </a:xfrm>
          <a:prstGeom prst="line">
            <a:avLst/>
          </a:prstGeom>
          <a:noFill/>
          <a:ln w="10160">
            <a:solidFill>
              <a:srgbClr val="5E806E"/>
            </a:solidFill>
            <a:prstDash val="solid"/>
          </a:ln>
        </p:spPr>
      </p:sp>
      <p:sp>
        <p:nvSpPr>
          <p:cNvPr id="51" name="Text 49"/>
          <p:cNvSpPr/>
          <p:nvPr/>
        </p:nvSpPr>
        <p:spPr>
          <a:xfrm>
            <a:off x="621792" y="4681728"/>
            <a:ext cx="2194560" cy="182880"/>
          </a:xfrm>
          <a:prstGeom prst="rect">
            <a:avLst/>
          </a:prstGeom>
          <a:noFill/>
          <a:ln/>
        </p:spPr>
        <p:txBody>
          <a:bodyPr wrap="square" lIns="0" tIns="0" rIns="0" bIns="0" rtlCol="0" anchor="ctr"/>
          <a:lstStyle/>
          <a:p>
            <a:pPr indent="0" marL="0">
              <a:buNone/>
            </a:pPr>
            <a:r>
              <a:rPr lang="en-US" sz="900" b="1" spc="180" kern="0" dirty="0">
                <a:solidFill>
                  <a:srgbClr val="CDFC57"/>
                </a:solidFill>
                <a:latin typeface="Calibri" pitchFamily="34" charset="0"/>
                <a:ea typeface="Calibri" pitchFamily="34" charset="-122"/>
                <a:cs typeface="Calibri" pitchFamily="34" charset="-120"/>
              </a:rPr>
              <a:t>STRATEGIC DRIVERS</a:t>
            </a:r>
            <a:endParaRPr lang="en-US" sz="900" dirty="0"/>
          </a:p>
        </p:txBody>
      </p:sp>
      <p:sp>
        <p:nvSpPr>
          <p:cNvPr id="52" name="Text 50"/>
          <p:cNvSpPr/>
          <p:nvPr/>
        </p:nvSpPr>
        <p:spPr>
          <a:xfrm>
            <a:off x="621792"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We lead on convergence</a:t>
            </a:r>
            <a:endParaRPr lang="en-US" sz="1000" dirty="0"/>
          </a:p>
        </p:txBody>
      </p:sp>
      <p:sp>
        <p:nvSpPr>
          <p:cNvPr id="53" name="Text 51"/>
          <p:cNvSpPr/>
          <p:nvPr/>
        </p:nvSpPr>
        <p:spPr>
          <a:xfrm>
            <a:off x="621792"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No rival combines sustainability, energy and efficiency on one governed data spine with advisory depth.</a:t>
            </a:r>
            <a:endParaRPr lang="en-US" sz="800" dirty="0"/>
          </a:p>
        </p:txBody>
      </p:sp>
      <p:sp>
        <p:nvSpPr>
          <p:cNvPr id="54" name="Text 52"/>
          <p:cNvSpPr/>
          <p:nvPr/>
        </p:nvSpPr>
        <p:spPr>
          <a:xfrm>
            <a:off x="3427400"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We lead on priced risk</a:t>
            </a:r>
            <a:endParaRPr lang="en-US" sz="1000" dirty="0"/>
          </a:p>
        </p:txBody>
      </p:sp>
      <p:sp>
        <p:nvSpPr>
          <p:cNvPr id="55" name="Text 53"/>
          <p:cNvSpPr/>
          <p:nvPr/>
        </p:nvSpPr>
        <p:spPr>
          <a:xfrm>
            <a:off x="3427400"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Value at risk expressed in financial terms and flowing into disclosure is a genuine wedge.</a:t>
            </a:r>
            <a:endParaRPr lang="en-US" sz="800" dirty="0"/>
          </a:p>
        </p:txBody>
      </p:sp>
      <p:sp>
        <p:nvSpPr>
          <p:cNvPr id="56" name="Text 54"/>
          <p:cNvSpPr/>
          <p:nvPr/>
        </p:nvSpPr>
        <p:spPr>
          <a:xfrm>
            <a:off x="6233008"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They catch up on AI experience</a:t>
            </a:r>
            <a:endParaRPr lang="en-US" sz="1000" dirty="0"/>
          </a:p>
        </p:txBody>
      </p:sp>
      <p:sp>
        <p:nvSpPr>
          <p:cNvPr id="57" name="Text 55"/>
          <p:cNvSpPr/>
          <p:nvPr/>
        </p:nvSpPr>
        <p:spPr>
          <a:xfrm>
            <a:off x="6233008"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AI assisted workflows are the fastest moving area. Our 2027 window is where the gap either closes or widens.</a:t>
            </a:r>
            <a:endParaRPr lang="en-US" sz="800" dirty="0"/>
          </a:p>
        </p:txBody>
      </p:sp>
      <p:sp>
        <p:nvSpPr>
          <p:cNvPr id="58" name="Text 56"/>
          <p:cNvSpPr/>
          <p:nvPr/>
        </p:nvSpPr>
        <p:spPr>
          <a:xfrm>
            <a:off x="9038615"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They catch up on breadth</a:t>
            </a:r>
            <a:endParaRPr lang="en-US" sz="1000" dirty="0"/>
          </a:p>
        </p:txBody>
      </p:sp>
      <p:sp>
        <p:nvSpPr>
          <p:cNvPr id="59" name="Text 57"/>
          <p:cNvSpPr/>
          <p:nvPr/>
        </p:nvSpPr>
        <p:spPr>
          <a:xfrm>
            <a:off x="9038615"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Compliance and supplier coverage commoditise. Breadth alone will not defend us after 2027.</a:t>
            </a:r>
            <a:endParaRPr lang="en-US" sz="800" dirty="0"/>
          </a:p>
        </p:txBody>
      </p:sp>
      <p:sp>
        <p:nvSpPr>
          <p:cNvPr id="60" name="Text 58"/>
          <p:cNvSpPr/>
          <p:nvPr/>
        </p:nvSpPr>
        <p:spPr>
          <a:xfrm>
            <a:off x="621792" y="6601968"/>
            <a:ext cx="10058400" cy="164592"/>
          </a:xfrm>
          <a:prstGeom prst="rect">
            <a:avLst/>
          </a:prstGeom>
          <a:noFill/>
          <a:ln/>
        </p:spPr>
        <p:txBody>
          <a:bodyPr wrap="square" lIns="0" tIns="0" rIns="0" bIns="0" rtlCol="0" anchor="ctr">
            <a:normAutofit/>
          </a:bodyPr>
          <a:lstStyle/>
          <a:p>
            <a:pPr indent="0" marL="0">
              <a:buNone/>
            </a:pPr>
            <a:r>
              <a:rPr lang="en-US" sz="700" i="1" dirty="0">
                <a:solidFill>
                  <a:srgbClr val="769585"/>
                </a:solidFill>
                <a:latin typeface="Calibri" pitchFamily="34" charset="0"/>
                <a:ea typeface="Calibri" pitchFamily="34" charset="-122"/>
                <a:cs typeface="Calibri" pitchFamily="34" charset="-120"/>
              </a:rPr>
              <a:t>Board implication: fund the spine and the AI assisted layer in 2026 and 2027, while the convergence and priced risk advantages are still unique. Competitor timing is directional, based on public materials reviewed September 2026.</a:t>
            </a:r>
            <a:endParaRPr lang="en-US" sz="700" dirty="0"/>
          </a:p>
        </p:txBody>
      </p:sp>
      <p:sp>
        <p:nvSpPr>
          <p:cNvPr id="25" name="Slide Number Placeholder 0"/>
          <p:cNvSpPr>
            <a:spLocks noGrp="1"/>
          </p:cNvSpPr>
          <p:nvPr>
            <p:ph type="sldNum" sz="quarter" idx="4294967295"/>
          </p:nvPr>
        </p:nvSpPr>
        <p:spPr>
          <a:xfrm>
            <a:off x="10929823" y="658368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13182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80263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HONEST READ | COMPETITIVE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Why we win, and why we might lose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board should hold both sides of this argument at the same time.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5.764078095262049e+197" dist="1.9213593650873497e+197" dir="2.020703193661911e+231">
              <a:srgbClr val="0A1F12">
                <a:alpha val="1.1999999999999992e+239"/>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WHY WE WIN</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Structural advantages</a:t>
            </a:r>
            <a:endParaRPr lang="en-US" sz="1600" dirty="0"/>
          </a:p>
        </p:txBody>
      </p:sp>
      <p:sp>
        <p:nvSpPr>
          <p:cNvPr id="13" name="Text 11"/>
          <p:cNvSpPr/>
          <p:nvPr/>
        </p:nvSpPr>
        <p:spPr>
          <a:xfrm>
            <a:off x="822960"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accountable platform across sustainability, energy and efficiency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data spine, so evidence and calculations are reused, not rebuilt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Schneider scale, advisory depth and existing enterprise relationships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Total cost argument that goes beyond a single license price</a:t>
            </a:r>
            <a:endParaRPr lang="en-US" sz="1100" dirty="0"/>
          </a:p>
        </p:txBody>
      </p:sp>
      <p:sp>
        <p:nvSpPr>
          <p:cNvPr id="14" name="Shape 12"/>
          <p:cNvSpPr/>
          <p:nvPr/>
        </p:nvSpPr>
        <p:spPr>
          <a:xfrm>
            <a:off x="3427400"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7.320379180982803e+201" dist="2.440126393660934e+201" dir="1.2124219161971466e+236">
              <a:srgbClr val="0A1F12">
                <a:alpha val="1.1999999999999992e+244"/>
              </a:srgbClr>
            </a:outerShdw>
          </a:effectLst>
        </p:spPr>
      </p:sp>
      <p:sp>
        <p:nvSpPr>
          <p:cNvPr id="15" name="Shape 13"/>
          <p:cNvSpPr/>
          <p:nvPr/>
        </p:nvSpPr>
        <p:spPr>
          <a:xfrm>
            <a:off x="3427400" y="2084832"/>
            <a:ext cx="2531288" cy="73152"/>
          </a:xfrm>
          <a:prstGeom prst="rect">
            <a:avLst/>
          </a:prstGeom>
          <a:solidFill>
            <a:srgbClr val="007A27"/>
          </a:solidFill>
          <a:ln w="12700">
            <a:solidFill>
              <a:srgbClr val="007A27"/>
            </a:solidFill>
            <a:prstDash val="solid"/>
          </a:ln>
        </p:spPr>
      </p:sp>
      <p:sp>
        <p:nvSpPr>
          <p:cNvPr id="16" name="Text 14"/>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WHY WE WIN</a:t>
            </a:r>
            <a:endParaRPr lang="en-US" sz="900" dirty="0"/>
          </a:p>
        </p:txBody>
      </p:sp>
      <p:sp>
        <p:nvSpPr>
          <p:cNvPr id="17" name="Text 15"/>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Client proof points to build</a:t>
            </a:r>
            <a:endParaRPr lang="en-US" sz="1400" dirty="0"/>
          </a:p>
        </p:txBody>
      </p:sp>
      <p:sp>
        <p:nvSpPr>
          <p:cNvPr id="18" name="Text 16"/>
          <p:cNvSpPr/>
          <p:nvPr/>
        </p:nvSpPr>
        <p:spPr>
          <a:xfrm>
            <a:off x="3628568"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Cross-product adoption inside strategic accounts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Shorter reporting cycles versus fragmented tooling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Traceable, reproducible AI-assisted decisions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Displacement of point solutions at renewal</a:t>
            </a:r>
            <a:endParaRPr lang="en-US" sz="1100" dirty="0"/>
          </a:p>
        </p:txBody>
      </p:sp>
      <p:sp>
        <p:nvSpPr>
          <p:cNvPr id="19" name="Shape 17"/>
          <p:cNvSpPr/>
          <p:nvPr/>
        </p:nvSpPr>
        <p:spPr>
          <a:xfrm>
            <a:off x="6233008"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9.296881559848159e+205" dist="3.0989605199493864e+205" dir="7.27453149718288e+240">
              <a:srgbClr val="0A1F12">
                <a:alpha val="1.1999999999999991e+249"/>
              </a:srgbClr>
            </a:outerShdw>
          </a:effectLst>
        </p:spPr>
      </p:sp>
      <p:sp>
        <p:nvSpPr>
          <p:cNvPr id="20" name="Shape 18"/>
          <p:cNvSpPr/>
          <p:nvPr/>
        </p:nvSpPr>
        <p:spPr>
          <a:xfrm>
            <a:off x="6233008" y="2084832"/>
            <a:ext cx="2531288" cy="73152"/>
          </a:xfrm>
          <a:prstGeom prst="rect">
            <a:avLst/>
          </a:prstGeom>
          <a:solidFill>
            <a:srgbClr val="FFB04C"/>
          </a:solidFill>
          <a:ln w="12700">
            <a:solidFill>
              <a:srgbClr val="FFB04C"/>
            </a:solidFill>
            <a:prstDash val="solid"/>
          </a:ln>
        </p:spPr>
      </p:sp>
      <p:sp>
        <p:nvSpPr>
          <p:cNvPr id="21" name="Text 19"/>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WHY WE MIGHT LOSE</a:t>
            </a:r>
            <a:endParaRPr lang="en-US" sz="900" dirty="0"/>
          </a:p>
        </p:txBody>
      </p:sp>
      <p:sp>
        <p:nvSpPr>
          <p:cNvPr id="22" name="Text 20"/>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Where we are exposed</a:t>
            </a:r>
            <a:endParaRPr lang="en-US" sz="1600" dirty="0"/>
          </a:p>
        </p:txBody>
      </p:sp>
      <p:sp>
        <p:nvSpPr>
          <p:cNvPr id="23" name="Text 21"/>
          <p:cNvSpPr/>
          <p:nvPr/>
        </p:nvSpPr>
        <p:spPr>
          <a:xfrm>
            <a:off x="6434176"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Specialists look sharper in a single visible domain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AI-native challengers move faster on workflow polish</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Breadth can read as complexity during evaluation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Migration and data quality slow the first proof point</a:t>
            </a:r>
            <a:endParaRPr lang="en-US" sz="1100" dirty="0"/>
          </a:p>
        </p:txBody>
      </p:sp>
      <p:sp>
        <p:nvSpPr>
          <p:cNvPr id="24" name="Shape 22"/>
          <p:cNvSpPr/>
          <p:nvPr/>
        </p:nvSpPr>
        <p:spPr>
          <a:xfrm>
            <a:off x="9038615"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1.1807039581007161e+210" dist="3.9356798603357206e+209" dir="4.364718898309728e+245">
              <a:srgbClr val="0A1F12">
                <a:alpha val="1.1999999999999991e+254"/>
              </a:srgbClr>
            </a:outerShdw>
          </a:effectLst>
        </p:spPr>
      </p:sp>
      <p:sp>
        <p:nvSpPr>
          <p:cNvPr id="25" name="Shape 23"/>
          <p:cNvSpPr/>
          <p:nvPr/>
        </p:nvSpPr>
        <p:spPr>
          <a:xfrm>
            <a:off x="9038615" y="2084832"/>
            <a:ext cx="2531288" cy="73152"/>
          </a:xfrm>
          <a:prstGeom prst="rect">
            <a:avLst/>
          </a:prstGeom>
          <a:solidFill>
            <a:srgbClr val="275B7F"/>
          </a:solidFill>
          <a:ln w="12700">
            <a:solidFill>
              <a:srgbClr val="275B7F"/>
            </a:solidFill>
            <a:prstDash val="solid"/>
          </a:ln>
        </p:spPr>
      </p:sp>
      <p:sp>
        <p:nvSpPr>
          <p:cNvPr id="26" name="Text 24"/>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WHY WE MIGHT LOSE</a:t>
            </a:r>
            <a:endParaRPr lang="en-US" sz="900" dirty="0"/>
          </a:p>
        </p:txBody>
      </p:sp>
      <p:sp>
        <p:nvSpPr>
          <p:cNvPr id="27" name="Text 25"/>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we must not claim</a:t>
            </a:r>
            <a:endParaRPr lang="en-US" sz="1600" dirty="0"/>
          </a:p>
        </p:txBody>
      </p:sp>
      <p:sp>
        <p:nvSpPr>
          <p:cNvPr id="28" name="Text 26"/>
          <p:cNvSpPr/>
          <p:nvPr/>
        </p:nvSpPr>
        <p:spPr>
          <a:xfrm>
            <a:off x="9239783"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 price advantage without matched-account evidence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Feature parity in every specialist domain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maturity that is not visible in the product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Directional horizons presented as commitments</a:t>
            </a:r>
            <a:endParaRPr lang="en-US" sz="1100" dirty="0"/>
          </a:p>
        </p:txBody>
      </p:sp>
      <p:sp>
        <p:nvSpPr>
          <p:cNvPr id="29" name="Shape 27"/>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1.4994940267879094e+214" dist="4.9983134226263654e+213" dir="2.6188313389858368e+250">
              <a:srgbClr val="0A1F12">
                <a:alpha val="1.1999999999999991e+259"/>
              </a:srgbClr>
            </a:outerShdw>
          </a:effectLst>
        </p:spPr>
      </p:sp>
      <p:sp>
        <p:nvSpPr>
          <p:cNvPr id="30" name="Shape 28"/>
          <p:cNvSpPr/>
          <p:nvPr/>
        </p:nvSpPr>
        <p:spPr>
          <a:xfrm>
            <a:off x="676656" y="5760720"/>
            <a:ext cx="45720" cy="365760"/>
          </a:xfrm>
          <a:prstGeom prst="rect">
            <a:avLst/>
          </a:prstGeom>
          <a:solidFill>
            <a:srgbClr val="3DCD58"/>
          </a:solidFill>
          <a:ln w="12700">
            <a:solidFill>
              <a:srgbClr val="3DCD58"/>
            </a:solidFill>
            <a:prstDash val="solid"/>
          </a:ln>
        </p:spPr>
      </p:sp>
      <p:sp>
        <p:nvSpPr>
          <p:cNvPr id="31" name="Text 29"/>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The winning position is integrated outcomes with visible AI, not a feature-by-feature race.</a:t>
            </a:r>
            <a:endParaRPr lang="en-US" sz="1200" dirty="0"/>
          </a:p>
        </p:txBody>
      </p:sp>
      <p:sp>
        <p:nvSpPr>
          <p:cNvPr id="32" name="Shape 30"/>
          <p:cNvSpPr/>
          <p:nvPr/>
        </p:nvSpPr>
        <p:spPr>
          <a:xfrm>
            <a:off x="621792" y="6437376"/>
            <a:ext cx="10948111" cy="0"/>
          </a:xfrm>
          <a:prstGeom prst="line">
            <a:avLst/>
          </a:prstGeom>
          <a:noFill/>
          <a:ln w="9525">
            <a:solidFill>
              <a:srgbClr val="E2E6E2"/>
            </a:solidFill>
            <a:prstDash val="solid"/>
          </a:ln>
        </p:spPr>
      </p:sp>
      <p:sp>
        <p:nvSpPr>
          <p:cNvPr id="33" name="Text 31"/>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4" name="Text 32"/>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42885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95935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FEATURE POSITION: CARBON PERFORMANCE</a:t>
            </a:r>
            <a:endParaRPr lang="en-US" sz="950" dirty="0"/>
          </a:p>
        </p:txBody>
      </p:sp>
      <p:sp>
        <p:nvSpPr>
          <p:cNvPr id="6" name="Text 4"/>
          <p:cNvSpPr/>
          <p:nvPr/>
        </p:nvSpPr>
        <p:spPr>
          <a:xfrm>
            <a:off x="621792" y="768096"/>
            <a:ext cx="10948111" cy="914400"/>
          </a:xfrm>
          <a:prstGeom prst="rect">
            <a:avLst/>
          </a:prstGeom>
          <a:noFill/>
          <a:ln/>
        </p:spPr>
        <p:txBody>
          <a:bodyPr wrap="square" lIns="0" tIns="0" rIns="0" bIns="0" rtlCol="0" anchor="t">
            <a:normAutofit/>
          </a:bodyPr>
          <a:lstStyle/>
          <a:p>
            <a:pPr indent="0" marL="0">
              <a:buNone/>
            </a:pPr>
            <a:r>
              <a:rPr lang="en-US" sz="2500" b="1" dirty="0">
                <a:solidFill>
                  <a:srgbClr val="1E2420"/>
                </a:solidFill>
                <a:latin typeface="Calibri" pitchFamily="34" charset="0"/>
                <a:ea typeface="Calibri" pitchFamily="34" charset="-122"/>
                <a:cs typeface="Calibri" pitchFamily="34" charset="-120"/>
              </a:rPr>
              <a:t>Carbon Performance: leading on energy grade data, on parity on the inventory</a:t>
            </a:r>
            <a:endParaRPr lang="en-US" sz="2500" dirty="0"/>
          </a:p>
        </p:txBody>
      </p:sp>
      <p:sp>
        <p:nvSpPr>
          <p:cNvPr id="7" name="Text 5"/>
          <p:cNvSpPr/>
          <p:nvPr/>
        </p:nvSpPr>
        <p:spPr>
          <a:xfrm>
            <a:off x="621792" y="173736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Capability by capability, where we lead the market, where we match it, and where we are still closing a gap.</a:t>
            </a:r>
            <a:endParaRPr lang="en-US" sz="1250" dirty="0"/>
          </a:p>
        </p:txBody>
      </p:sp>
      <p:sp>
        <p:nvSpPr>
          <p:cNvPr id="8" name="Shape 6"/>
          <p:cNvSpPr/>
          <p:nvPr/>
        </p:nvSpPr>
        <p:spPr>
          <a:xfrm>
            <a:off x="621792" y="2084832"/>
            <a:ext cx="10948111" cy="0"/>
          </a:xfrm>
          <a:prstGeom prst="line">
            <a:avLst/>
          </a:prstGeom>
          <a:noFill/>
          <a:ln w="9525">
            <a:solidFill>
              <a:srgbClr val="E2E6E2"/>
            </a:solidFill>
            <a:prstDash val="solid"/>
          </a:ln>
        </p:spPr>
      </p:sp>
      <p:sp>
        <p:nvSpPr>
          <p:cNvPr id="9" name="Shape 7"/>
          <p:cNvSpPr/>
          <p:nvPr/>
        </p:nvSpPr>
        <p:spPr>
          <a:xfrm>
            <a:off x="621792" y="2249424"/>
            <a:ext cx="2011680" cy="365760"/>
          </a:xfrm>
          <a:prstGeom prst="rect">
            <a:avLst/>
          </a:prstGeom>
          <a:solidFill>
            <a:srgbClr val="005730"/>
          </a:solidFill>
          <a:ln w="5715">
            <a:solidFill>
              <a:srgbClr val="397257"/>
            </a:solidFill>
            <a:prstDash val="solid"/>
          </a:ln>
        </p:spPr>
      </p:sp>
      <p:sp>
        <p:nvSpPr>
          <p:cNvPr id="10" name="Text 8"/>
          <p:cNvSpPr/>
          <p:nvPr/>
        </p:nvSpPr>
        <p:spPr>
          <a:xfrm>
            <a:off x="713232" y="2249424"/>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249424"/>
            <a:ext cx="3794760" cy="365760"/>
          </a:xfrm>
          <a:prstGeom prst="rect">
            <a:avLst/>
          </a:prstGeom>
          <a:solidFill>
            <a:srgbClr val="005730"/>
          </a:solidFill>
          <a:ln w="5715">
            <a:solidFill>
              <a:srgbClr val="397257"/>
            </a:solidFill>
            <a:prstDash val="solid"/>
          </a:ln>
        </p:spPr>
      </p:sp>
      <p:sp>
        <p:nvSpPr>
          <p:cNvPr id="12" name="Text 10"/>
          <p:cNvSpPr/>
          <p:nvPr/>
        </p:nvSpPr>
        <p:spPr>
          <a:xfrm>
            <a:off x="2724912" y="2249424"/>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249424"/>
            <a:ext cx="1371600" cy="365760"/>
          </a:xfrm>
          <a:prstGeom prst="rect">
            <a:avLst/>
          </a:prstGeom>
          <a:solidFill>
            <a:srgbClr val="005730"/>
          </a:solidFill>
          <a:ln w="5715">
            <a:solidFill>
              <a:srgbClr val="397257"/>
            </a:solidFill>
            <a:prstDash val="solid"/>
          </a:ln>
        </p:spPr>
      </p:sp>
      <p:sp>
        <p:nvSpPr>
          <p:cNvPr id="14" name="Text 12"/>
          <p:cNvSpPr/>
          <p:nvPr/>
        </p:nvSpPr>
        <p:spPr>
          <a:xfrm>
            <a:off x="6519672" y="2249424"/>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POSITION</a:t>
            </a:r>
            <a:endParaRPr lang="en-US" sz="760" dirty="0"/>
          </a:p>
        </p:txBody>
      </p:sp>
      <p:sp>
        <p:nvSpPr>
          <p:cNvPr id="15" name="Shape 13"/>
          <p:cNvSpPr/>
          <p:nvPr/>
        </p:nvSpPr>
        <p:spPr>
          <a:xfrm>
            <a:off x="7799832" y="2249424"/>
            <a:ext cx="3767328" cy="365760"/>
          </a:xfrm>
          <a:prstGeom prst="rect">
            <a:avLst/>
          </a:prstGeom>
          <a:solidFill>
            <a:srgbClr val="005730"/>
          </a:solidFill>
          <a:ln w="5715">
            <a:solidFill>
              <a:srgbClr val="397257"/>
            </a:solidFill>
            <a:prstDash val="solid"/>
          </a:ln>
        </p:spPr>
      </p:sp>
      <p:sp>
        <p:nvSpPr>
          <p:cNvPr id="16" name="Text 14"/>
          <p:cNvSpPr/>
          <p:nvPr/>
        </p:nvSpPr>
        <p:spPr>
          <a:xfrm>
            <a:off x="7891272" y="2249424"/>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615184"/>
            <a:ext cx="2011680" cy="440436"/>
          </a:xfrm>
          <a:prstGeom prst="rect">
            <a:avLst/>
          </a:prstGeom>
          <a:solidFill>
            <a:srgbClr val="FFFFFF"/>
          </a:solidFill>
          <a:ln w="5715">
            <a:solidFill>
              <a:srgbClr val="E2E6E2"/>
            </a:solidFill>
            <a:prstDash val="solid"/>
          </a:ln>
        </p:spPr>
      </p:sp>
      <p:sp>
        <p:nvSpPr>
          <p:cNvPr id="18" name="Text 16"/>
          <p:cNvSpPr/>
          <p:nvPr/>
        </p:nvSpPr>
        <p:spPr>
          <a:xfrm>
            <a:off x="713232" y="266090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Energy and utility data</a:t>
            </a:r>
            <a:endParaRPr lang="en-US" sz="900" dirty="0"/>
          </a:p>
        </p:txBody>
      </p:sp>
      <p:sp>
        <p:nvSpPr>
          <p:cNvPr id="19" name="Shape 17"/>
          <p:cNvSpPr/>
          <p:nvPr/>
        </p:nvSpPr>
        <p:spPr>
          <a:xfrm>
            <a:off x="2633472" y="2615184"/>
            <a:ext cx="3794760" cy="440436"/>
          </a:xfrm>
          <a:prstGeom prst="rect">
            <a:avLst/>
          </a:prstGeom>
          <a:solidFill>
            <a:srgbClr val="FFFFFF"/>
          </a:solidFill>
          <a:ln w="5715">
            <a:solidFill>
              <a:srgbClr val="E2E6E2"/>
            </a:solidFill>
            <a:prstDash val="solid"/>
          </a:ln>
        </p:spPr>
      </p:sp>
      <p:sp>
        <p:nvSpPr>
          <p:cNvPr id="20" name="Text 18"/>
          <p:cNvSpPr/>
          <p:nvPr/>
        </p:nvSpPr>
        <p:spPr>
          <a:xfrm>
            <a:off x="2724912" y="266090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Metered energy, EAC and PPA management fed by the Schneider energy expertise.</a:t>
            </a:r>
            <a:endParaRPr lang="en-US" sz="800" dirty="0"/>
          </a:p>
        </p:txBody>
      </p:sp>
      <p:sp>
        <p:nvSpPr>
          <p:cNvPr id="21" name="Shape 19"/>
          <p:cNvSpPr/>
          <p:nvPr/>
        </p:nvSpPr>
        <p:spPr>
          <a:xfrm>
            <a:off x="6428232" y="2615184"/>
            <a:ext cx="1371600" cy="440436"/>
          </a:xfrm>
          <a:prstGeom prst="rect">
            <a:avLst/>
          </a:prstGeom>
          <a:solidFill>
            <a:srgbClr val="FFFFFF"/>
          </a:solidFill>
          <a:ln w="5715">
            <a:solidFill>
              <a:srgbClr val="E2E6E2"/>
            </a:solidFill>
            <a:prstDash val="solid"/>
          </a:ln>
        </p:spPr>
      </p:sp>
      <p:sp>
        <p:nvSpPr>
          <p:cNvPr id="22" name="Shape 20"/>
          <p:cNvSpPr/>
          <p:nvPr/>
        </p:nvSpPr>
        <p:spPr>
          <a:xfrm>
            <a:off x="6501384" y="2716530"/>
            <a:ext cx="1225296" cy="237744"/>
          </a:xfrm>
          <a:prstGeom prst="roundRect">
            <a:avLst>
              <a:gd name="adj" fmla="val 46154"/>
            </a:avLst>
          </a:prstGeom>
          <a:solidFill>
            <a:srgbClr val="EAF8ED"/>
          </a:solidFill>
          <a:ln w="6350">
            <a:solidFill>
              <a:srgbClr val="3DCD58"/>
            </a:solidFill>
            <a:prstDash val="solid"/>
          </a:ln>
        </p:spPr>
      </p:sp>
      <p:sp>
        <p:nvSpPr>
          <p:cNvPr id="23" name="Text 21"/>
          <p:cNvSpPr/>
          <p:nvPr/>
        </p:nvSpPr>
        <p:spPr>
          <a:xfrm>
            <a:off x="6501384" y="271653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24" name="Shape 22"/>
          <p:cNvSpPr/>
          <p:nvPr/>
        </p:nvSpPr>
        <p:spPr>
          <a:xfrm>
            <a:off x="7799832" y="2615184"/>
            <a:ext cx="3767328" cy="440436"/>
          </a:xfrm>
          <a:prstGeom prst="rect">
            <a:avLst/>
          </a:prstGeom>
          <a:solidFill>
            <a:srgbClr val="FFFFFF"/>
          </a:solidFill>
          <a:ln w="5715">
            <a:solidFill>
              <a:srgbClr val="E2E6E2"/>
            </a:solidFill>
            <a:prstDash val="solid"/>
          </a:ln>
        </p:spPr>
      </p:sp>
      <p:sp>
        <p:nvSpPr>
          <p:cNvPr id="25" name="Text 23"/>
          <p:cNvSpPr/>
          <p:nvPr/>
        </p:nvSpPr>
        <p:spPr>
          <a:xfrm>
            <a:off x="7891272" y="266090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Carbon only vendors buy or infer this data instead of owning the meter relationship.</a:t>
            </a:r>
            <a:endParaRPr lang="en-US" sz="800" dirty="0"/>
          </a:p>
        </p:txBody>
      </p:sp>
      <p:sp>
        <p:nvSpPr>
          <p:cNvPr id="26" name="Shape 24"/>
          <p:cNvSpPr/>
          <p:nvPr/>
        </p:nvSpPr>
        <p:spPr>
          <a:xfrm>
            <a:off x="621792" y="3055620"/>
            <a:ext cx="2011680" cy="440436"/>
          </a:xfrm>
          <a:prstGeom prst="rect">
            <a:avLst/>
          </a:prstGeom>
          <a:solidFill>
            <a:srgbClr val="F1F3F2"/>
          </a:solidFill>
          <a:ln w="5715">
            <a:solidFill>
              <a:srgbClr val="E2E6E2"/>
            </a:solidFill>
            <a:prstDash val="solid"/>
          </a:ln>
        </p:spPr>
      </p:sp>
      <p:sp>
        <p:nvSpPr>
          <p:cNvPr id="27" name="Text 25"/>
          <p:cNvSpPr/>
          <p:nvPr/>
        </p:nvSpPr>
        <p:spPr>
          <a:xfrm>
            <a:off x="713232" y="3101340"/>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Scope 1, 2 and 3 inventory</a:t>
            </a:r>
            <a:endParaRPr lang="en-US" sz="900" dirty="0"/>
          </a:p>
        </p:txBody>
      </p:sp>
      <p:sp>
        <p:nvSpPr>
          <p:cNvPr id="28" name="Shape 26"/>
          <p:cNvSpPr/>
          <p:nvPr/>
        </p:nvSpPr>
        <p:spPr>
          <a:xfrm>
            <a:off x="2633472" y="3055620"/>
            <a:ext cx="3794760" cy="440436"/>
          </a:xfrm>
          <a:prstGeom prst="rect">
            <a:avLst/>
          </a:prstGeom>
          <a:solidFill>
            <a:srgbClr val="F1F3F2"/>
          </a:solidFill>
          <a:ln w="5715">
            <a:solidFill>
              <a:srgbClr val="E2E6E2"/>
            </a:solidFill>
            <a:prstDash val="solid"/>
          </a:ln>
        </p:spPr>
      </p:sp>
      <p:sp>
        <p:nvSpPr>
          <p:cNvPr id="29" name="Text 27"/>
          <p:cNvSpPr/>
          <p:nvPr/>
        </p:nvSpPr>
        <p:spPr>
          <a:xfrm>
            <a:off x="2724912" y="3101340"/>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Consultant grade, audit ready inventory across all scopes with per gas breakdown.</a:t>
            </a:r>
            <a:endParaRPr lang="en-US" sz="800" dirty="0"/>
          </a:p>
        </p:txBody>
      </p:sp>
      <p:sp>
        <p:nvSpPr>
          <p:cNvPr id="30" name="Shape 28"/>
          <p:cNvSpPr/>
          <p:nvPr/>
        </p:nvSpPr>
        <p:spPr>
          <a:xfrm>
            <a:off x="6428232" y="3055620"/>
            <a:ext cx="1371600" cy="440436"/>
          </a:xfrm>
          <a:prstGeom prst="rect">
            <a:avLst/>
          </a:prstGeom>
          <a:solidFill>
            <a:srgbClr val="F1F3F2"/>
          </a:solidFill>
          <a:ln w="5715">
            <a:solidFill>
              <a:srgbClr val="E2E6E2"/>
            </a:solidFill>
            <a:prstDash val="solid"/>
          </a:ln>
        </p:spPr>
      </p:sp>
      <p:sp>
        <p:nvSpPr>
          <p:cNvPr id="31" name="Shape 29"/>
          <p:cNvSpPr/>
          <p:nvPr/>
        </p:nvSpPr>
        <p:spPr>
          <a:xfrm>
            <a:off x="6501384" y="3156966"/>
            <a:ext cx="1225296" cy="237744"/>
          </a:xfrm>
          <a:prstGeom prst="roundRect">
            <a:avLst>
              <a:gd name="adj" fmla="val 46154"/>
            </a:avLst>
          </a:prstGeom>
          <a:solidFill>
            <a:srgbClr val="F1F3F2"/>
          </a:solidFill>
          <a:ln w="6350">
            <a:solidFill>
              <a:srgbClr val="E2E6E2"/>
            </a:solidFill>
            <a:prstDash val="solid"/>
          </a:ln>
        </p:spPr>
      </p:sp>
      <p:sp>
        <p:nvSpPr>
          <p:cNvPr id="32" name="Text 30"/>
          <p:cNvSpPr/>
          <p:nvPr/>
        </p:nvSpPr>
        <p:spPr>
          <a:xfrm>
            <a:off x="6501384" y="315696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33" name="Shape 31"/>
          <p:cNvSpPr/>
          <p:nvPr/>
        </p:nvSpPr>
        <p:spPr>
          <a:xfrm>
            <a:off x="7799832" y="3055620"/>
            <a:ext cx="3767328" cy="440436"/>
          </a:xfrm>
          <a:prstGeom prst="rect">
            <a:avLst/>
          </a:prstGeom>
          <a:solidFill>
            <a:srgbClr val="F1F3F2"/>
          </a:solidFill>
          <a:ln w="5715">
            <a:solidFill>
              <a:srgbClr val="E2E6E2"/>
            </a:solidFill>
            <a:prstDash val="solid"/>
          </a:ln>
        </p:spPr>
      </p:sp>
      <p:sp>
        <p:nvSpPr>
          <p:cNvPr id="34" name="Text 32"/>
          <p:cNvSpPr/>
          <p:nvPr/>
        </p:nvSpPr>
        <p:spPr>
          <a:xfrm>
            <a:off x="7891272" y="3101340"/>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Table stakes for every enterprise carbon vendor benchmarked by Verdantix.</a:t>
            </a:r>
            <a:endParaRPr lang="en-US" sz="800" dirty="0"/>
          </a:p>
        </p:txBody>
      </p:sp>
      <p:sp>
        <p:nvSpPr>
          <p:cNvPr id="35" name="Shape 33"/>
          <p:cNvSpPr/>
          <p:nvPr/>
        </p:nvSpPr>
        <p:spPr>
          <a:xfrm>
            <a:off x="621792" y="3496056"/>
            <a:ext cx="2011680" cy="440436"/>
          </a:xfrm>
          <a:prstGeom prst="rect">
            <a:avLst/>
          </a:prstGeom>
          <a:solidFill>
            <a:srgbClr val="FFFFFF"/>
          </a:solidFill>
          <a:ln w="5715">
            <a:solidFill>
              <a:srgbClr val="E2E6E2"/>
            </a:solidFill>
            <a:prstDash val="solid"/>
          </a:ln>
        </p:spPr>
      </p:sp>
      <p:sp>
        <p:nvSpPr>
          <p:cNvPr id="36" name="Text 34"/>
          <p:cNvSpPr/>
          <p:nvPr/>
        </p:nvSpPr>
        <p:spPr>
          <a:xfrm>
            <a:off x="713232" y="3541776"/>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Emission factors and method depth</a:t>
            </a:r>
            <a:endParaRPr lang="en-US" sz="900" dirty="0"/>
          </a:p>
        </p:txBody>
      </p:sp>
      <p:sp>
        <p:nvSpPr>
          <p:cNvPr id="37" name="Shape 35"/>
          <p:cNvSpPr/>
          <p:nvPr/>
        </p:nvSpPr>
        <p:spPr>
          <a:xfrm>
            <a:off x="2633472" y="3496056"/>
            <a:ext cx="3794760" cy="440436"/>
          </a:xfrm>
          <a:prstGeom prst="rect">
            <a:avLst/>
          </a:prstGeom>
          <a:solidFill>
            <a:srgbClr val="FFFFFF"/>
          </a:solidFill>
          <a:ln w="5715">
            <a:solidFill>
              <a:srgbClr val="E2E6E2"/>
            </a:solidFill>
            <a:prstDash val="solid"/>
          </a:ln>
        </p:spPr>
      </p:sp>
      <p:sp>
        <p:nvSpPr>
          <p:cNvPr id="38" name="Text 36"/>
          <p:cNvSpPr/>
          <p:nvPr/>
        </p:nvSpPr>
        <p:spPr>
          <a:xfrm>
            <a:off x="2724912" y="3541776"/>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Q4 2026 wedge: factor coverage, method transparency per data point, rebaselining.</a:t>
            </a:r>
            <a:endParaRPr lang="en-US" sz="800" dirty="0"/>
          </a:p>
        </p:txBody>
      </p:sp>
      <p:sp>
        <p:nvSpPr>
          <p:cNvPr id="39" name="Shape 37"/>
          <p:cNvSpPr/>
          <p:nvPr/>
        </p:nvSpPr>
        <p:spPr>
          <a:xfrm>
            <a:off x="6428232" y="3496056"/>
            <a:ext cx="1371600" cy="440436"/>
          </a:xfrm>
          <a:prstGeom prst="rect">
            <a:avLst/>
          </a:prstGeom>
          <a:solidFill>
            <a:srgbClr val="FFFFFF"/>
          </a:solidFill>
          <a:ln w="5715">
            <a:solidFill>
              <a:srgbClr val="E2E6E2"/>
            </a:solidFill>
            <a:prstDash val="solid"/>
          </a:ln>
        </p:spPr>
      </p:sp>
      <p:sp>
        <p:nvSpPr>
          <p:cNvPr id="40" name="Shape 38"/>
          <p:cNvSpPr/>
          <p:nvPr/>
        </p:nvSpPr>
        <p:spPr>
          <a:xfrm>
            <a:off x="6501384" y="3597402"/>
            <a:ext cx="1225296" cy="237744"/>
          </a:xfrm>
          <a:prstGeom prst="roundRect">
            <a:avLst>
              <a:gd name="adj" fmla="val 46154"/>
            </a:avLst>
          </a:prstGeom>
          <a:solidFill>
            <a:srgbClr val="FFF4E3"/>
          </a:solidFill>
          <a:ln w="6350">
            <a:solidFill>
              <a:srgbClr val="FFB04C"/>
            </a:solidFill>
            <a:prstDash val="solid"/>
          </a:ln>
        </p:spPr>
      </p:sp>
      <p:sp>
        <p:nvSpPr>
          <p:cNvPr id="41" name="Text 39"/>
          <p:cNvSpPr/>
          <p:nvPr/>
        </p:nvSpPr>
        <p:spPr>
          <a:xfrm>
            <a:off x="6501384" y="359740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42" name="Shape 40"/>
          <p:cNvSpPr/>
          <p:nvPr/>
        </p:nvSpPr>
        <p:spPr>
          <a:xfrm>
            <a:off x="7799832" y="3496056"/>
            <a:ext cx="3767328" cy="440436"/>
          </a:xfrm>
          <a:prstGeom prst="rect">
            <a:avLst/>
          </a:prstGeom>
          <a:solidFill>
            <a:srgbClr val="FFFFFF"/>
          </a:solidFill>
          <a:ln w="5715">
            <a:solidFill>
              <a:srgbClr val="E2E6E2"/>
            </a:solidFill>
            <a:prstDash val="solid"/>
          </a:ln>
        </p:spPr>
      </p:sp>
      <p:sp>
        <p:nvSpPr>
          <p:cNvPr id="43" name="Text 41"/>
          <p:cNvSpPr/>
          <p:nvPr/>
        </p:nvSpPr>
        <p:spPr>
          <a:xfrm>
            <a:off x="7891272" y="3541776"/>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Leaders already expose method and factor lineage at data point level.</a:t>
            </a:r>
            <a:endParaRPr lang="en-US" sz="800" dirty="0"/>
          </a:p>
        </p:txBody>
      </p:sp>
      <p:sp>
        <p:nvSpPr>
          <p:cNvPr id="44" name="Shape 42"/>
          <p:cNvSpPr/>
          <p:nvPr/>
        </p:nvSpPr>
        <p:spPr>
          <a:xfrm>
            <a:off x="621792" y="3936492"/>
            <a:ext cx="2011680" cy="440436"/>
          </a:xfrm>
          <a:prstGeom prst="rect">
            <a:avLst/>
          </a:prstGeom>
          <a:solidFill>
            <a:srgbClr val="F1F3F2"/>
          </a:solidFill>
          <a:ln w="5715">
            <a:solidFill>
              <a:srgbClr val="E2E6E2"/>
            </a:solidFill>
            <a:prstDash val="solid"/>
          </a:ln>
        </p:spPr>
      </p:sp>
      <p:sp>
        <p:nvSpPr>
          <p:cNvPr id="45" name="Text 43"/>
          <p:cNvSpPr/>
          <p:nvPr/>
        </p:nvSpPr>
        <p:spPr>
          <a:xfrm>
            <a:off x="713232" y="3982212"/>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AI assistance</a:t>
            </a:r>
            <a:endParaRPr lang="en-US" sz="900" dirty="0"/>
          </a:p>
        </p:txBody>
      </p:sp>
      <p:sp>
        <p:nvSpPr>
          <p:cNvPr id="46" name="Shape 44"/>
          <p:cNvSpPr/>
          <p:nvPr/>
        </p:nvSpPr>
        <p:spPr>
          <a:xfrm>
            <a:off x="2633472" y="3936492"/>
            <a:ext cx="3794760" cy="440436"/>
          </a:xfrm>
          <a:prstGeom prst="rect">
            <a:avLst/>
          </a:prstGeom>
          <a:solidFill>
            <a:srgbClr val="F1F3F2"/>
          </a:solidFill>
          <a:ln w="5715">
            <a:solidFill>
              <a:srgbClr val="E2E6E2"/>
            </a:solidFill>
            <a:prstDash val="solid"/>
          </a:ln>
        </p:spPr>
      </p:sp>
      <p:sp>
        <p:nvSpPr>
          <p:cNvPr id="47" name="Text 45"/>
          <p:cNvSpPr/>
          <p:nvPr/>
        </p:nvSpPr>
        <p:spPr>
          <a:xfrm>
            <a:off x="2724912" y="3982212"/>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Sera brought forward to Q4 2026 for carbon inventory tasks.</a:t>
            </a:r>
            <a:endParaRPr lang="en-US" sz="800" dirty="0"/>
          </a:p>
        </p:txBody>
      </p:sp>
      <p:sp>
        <p:nvSpPr>
          <p:cNvPr id="48" name="Shape 46"/>
          <p:cNvSpPr/>
          <p:nvPr/>
        </p:nvSpPr>
        <p:spPr>
          <a:xfrm>
            <a:off x="6428232" y="3936492"/>
            <a:ext cx="1371600" cy="440436"/>
          </a:xfrm>
          <a:prstGeom prst="rect">
            <a:avLst/>
          </a:prstGeom>
          <a:solidFill>
            <a:srgbClr val="F1F3F2"/>
          </a:solidFill>
          <a:ln w="5715">
            <a:solidFill>
              <a:srgbClr val="E2E6E2"/>
            </a:solidFill>
            <a:prstDash val="solid"/>
          </a:ln>
        </p:spPr>
      </p:sp>
      <p:sp>
        <p:nvSpPr>
          <p:cNvPr id="49" name="Shape 47"/>
          <p:cNvSpPr/>
          <p:nvPr/>
        </p:nvSpPr>
        <p:spPr>
          <a:xfrm>
            <a:off x="6501384" y="4037838"/>
            <a:ext cx="1225296" cy="237744"/>
          </a:xfrm>
          <a:prstGeom prst="roundRect">
            <a:avLst>
              <a:gd name="adj" fmla="val 46154"/>
            </a:avLst>
          </a:prstGeom>
          <a:solidFill>
            <a:srgbClr val="FFF4E3"/>
          </a:solidFill>
          <a:ln w="6350">
            <a:solidFill>
              <a:srgbClr val="FFB04C"/>
            </a:solidFill>
            <a:prstDash val="solid"/>
          </a:ln>
        </p:spPr>
      </p:sp>
      <p:sp>
        <p:nvSpPr>
          <p:cNvPr id="50" name="Text 48"/>
          <p:cNvSpPr/>
          <p:nvPr/>
        </p:nvSpPr>
        <p:spPr>
          <a:xfrm>
            <a:off x="6501384" y="403783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51" name="Shape 49"/>
          <p:cNvSpPr/>
          <p:nvPr/>
        </p:nvSpPr>
        <p:spPr>
          <a:xfrm>
            <a:off x="7799832" y="3936492"/>
            <a:ext cx="3767328" cy="440436"/>
          </a:xfrm>
          <a:prstGeom prst="rect">
            <a:avLst/>
          </a:prstGeom>
          <a:solidFill>
            <a:srgbClr val="F1F3F2"/>
          </a:solidFill>
          <a:ln w="5715">
            <a:solidFill>
              <a:srgbClr val="E2E6E2"/>
            </a:solidFill>
            <a:prstDash val="solid"/>
          </a:ln>
        </p:spPr>
      </p:sp>
      <p:sp>
        <p:nvSpPr>
          <p:cNvPr id="52" name="Text 50"/>
          <p:cNvSpPr/>
          <p:nvPr/>
        </p:nvSpPr>
        <p:spPr>
          <a:xfrm>
            <a:off x="7891272" y="3982212"/>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AI copilots are now a headline claim across the benchmarked field.</a:t>
            </a:r>
            <a:endParaRPr lang="en-US" sz="800" dirty="0"/>
          </a:p>
        </p:txBody>
      </p:sp>
      <p:sp>
        <p:nvSpPr>
          <p:cNvPr id="53" name="Shape 51"/>
          <p:cNvSpPr/>
          <p:nvPr/>
        </p:nvSpPr>
        <p:spPr>
          <a:xfrm>
            <a:off x="621792" y="4376928"/>
            <a:ext cx="2011680" cy="440436"/>
          </a:xfrm>
          <a:prstGeom prst="rect">
            <a:avLst/>
          </a:prstGeom>
          <a:solidFill>
            <a:srgbClr val="FFFFFF"/>
          </a:solidFill>
          <a:ln w="5715">
            <a:solidFill>
              <a:srgbClr val="E2E6E2"/>
            </a:solidFill>
            <a:prstDash val="solid"/>
          </a:ln>
        </p:spPr>
      </p:sp>
      <p:sp>
        <p:nvSpPr>
          <p:cNvPr id="54" name="Text 52"/>
          <p:cNvSpPr/>
          <p:nvPr/>
        </p:nvSpPr>
        <p:spPr>
          <a:xfrm>
            <a:off x="713232" y="4422648"/>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Decarbonisation planning</a:t>
            </a:r>
            <a:endParaRPr lang="en-US" sz="900" dirty="0"/>
          </a:p>
        </p:txBody>
      </p:sp>
      <p:sp>
        <p:nvSpPr>
          <p:cNvPr id="55" name="Shape 53"/>
          <p:cNvSpPr/>
          <p:nvPr/>
        </p:nvSpPr>
        <p:spPr>
          <a:xfrm>
            <a:off x="2633472" y="4376928"/>
            <a:ext cx="3794760" cy="440436"/>
          </a:xfrm>
          <a:prstGeom prst="rect">
            <a:avLst/>
          </a:prstGeom>
          <a:solidFill>
            <a:srgbClr val="FFFFFF"/>
          </a:solidFill>
          <a:ln w="5715">
            <a:solidFill>
              <a:srgbClr val="E2E6E2"/>
            </a:solidFill>
            <a:prstDash val="solid"/>
          </a:ln>
        </p:spPr>
      </p:sp>
      <p:sp>
        <p:nvSpPr>
          <p:cNvPr id="56" name="Text 54"/>
          <p:cNvSpPr/>
          <p:nvPr/>
        </p:nvSpPr>
        <p:spPr>
          <a:xfrm>
            <a:off x="2724912" y="4422648"/>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Advanced scenario analysis and ECM library with energy and carbon cobenefits.</a:t>
            </a:r>
            <a:endParaRPr lang="en-US" sz="800" dirty="0"/>
          </a:p>
        </p:txBody>
      </p:sp>
      <p:sp>
        <p:nvSpPr>
          <p:cNvPr id="57" name="Shape 55"/>
          <p:cNvSpPr/>
          <p:nvPr/>
        </p:nvSpPr>
        <p:spPr>
          <a:xfrm>
            <a:off x="6428232" y="4376928"/>
            <a:ext cx="1371600" cy="440436"/>
          </a:xfrm>
          <a:prstGeom prst="rect">
            <a:avLst/>
          </a:prstGeom>
          <a:solidFill>
            <a:srgbClr val="FFFFFF"/>
          </a:solidFill>
          <a:ln w="5715">
            <a:solidFill>
              <a:srgbClr val="E2E6E2"/>
            </a:solidFill>
            <a:prstDash val="solid"/>
          </a:ln>
        </p:spPr>
      </p:sp>
      <p:sp>
        <p:nvSpPr>
          <p:cNvPr id="58" name="Shape 56"/>
          <p:cNvSpPr/>
          <p:nvPr/>
        </p:nvSpPr>
        <p:spPr>
          <a:xfrm>
            <a:off x="6501384" y="4478274"/>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7827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76928"/>
            <a:ext cx="3767328" cy="440436"/>
          </a:xfrm>
          <a:prstGeom prst="rect">
            <a:avLst/>
          </a:prstGeom>
          <a:solidFill>
            <a:srgbClr val="FFFFFF"/>
          </a:solidFill>
          <a:ln w="5715">
            <a:solidFill>
              <a:srgbClr val="E2E6E2"/>
            </a:solidFill>
            <a:prstDash val="solid"/>
          </a:ln>
        </p:spPr>
      </p:sp>
      <p:sp>
        <p:nvSpPr>
          <p:cNvPr id="61" name="Text 59"/>
          <p:cNvSpPr/>
          <p:nvPr/>
        </p:nvSpPr>
        <p:spPr>
          <a:xfrm>
            <a:off x="7891272" y="4422648"/>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Few carbon vendors can price an efficiency measure and its carbon effect together.</a:t>
            </a:r>
            <a:endParaRPr lang="en-US" sz="800" dirty="0"/>
          </a:p>
        </p:txBody>
      </p:sp>
      <p:sp>
        <p:nvSpPr>
          <p:cNvPr id="62" name="Shape 60"/>
          <p:cNvSpPr/>
          <p:nvPr/>
        </p:nvSpPr>
        <p:spPr>
          <a:xfrm>
            <a:off x="621792" y="4817364"/>
            <a:ext cx="2011680" cy="440436"/>
          </a:xfrm>
          <a:prstGeom prst="rect">
            <a:avLst/>
          </a:prstGeom>
          <a:solidFill>
            <a:srgbClr val="F1F3F2"/>
          </a:solidFill>
          <a:ln w="5715">
            <a:solidFill>
              <a:srgbClr val="E2E6E2"/>
            </a:solidFill>
            <a:prstDash val="solid"/>
          </a:ln>
        </p:spPr>
      </p:sp>
      <p:sp>
        <p:nvSpPr>
          <p:cNvPr id="63" name="Text 61"/>
          <p:cNvSpPr/>
          <p:nvPr/>
        </p:nvSpPr>
        <p:spPr>
          <a:xfrm>
            <a:off x="713232" y="486308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Assurance and governance</a:t>
            </a:r>
            <a:endParaRPr lang="en-US" sz="900" dirty="0"/>
          </a:p>
        </p:txBody>
      </p:sp>
      <p:sp>
        <p:nvSpPr>
          <p:cNvPr id="64" name="Shape 62"/>
          <p:cNvSpPr/>
          <p:nvPr/>
        </p:nvSpPr>
        <p:spPr>
          <a:xfrm>
            <a:off x="2633472" y="4817364"/>
            <a:ext cx="3794760" cy="440436"/>
          </a:xfrm>
          <a:prstGeom prst="rect">
            <a:avLst/>
          </a:prstGeom>
          <a:solidFill>
            <a:srgbClr val="F1F3F2"/>
          </a:solidFill>
          <a:ln w="5715">
            <a:solidFill>
              <a:srgbClr val="E2E6E2"/>
            </a:solidFill>
            <a:prstDash val="solid"/>
          </a:ln>
        </p:spPr>
      </p:sp>
      <p:sp>
        <p:nvSpPr>
          <p:cNvPr id="65" name="Text 63"/>
          <p:cNvSpPr/>
          <p:nvPr/>
        </p:nvSpPr>
        <p:spPr>
          <a:xfrm>
            <a:off x="2724912" y="486308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Boundaries, approvals and audit trail on the shared inventory.</a:t>
            </a:r>
            <a:endParaRPr lang="en-US" sz="800" dirty="0"/>
          </a:p>
        </p:txBody>
      </p:sp>
      <p:sp>
        <p:nvSpPr>
          <p:cNvPr id="66" name="Shape 64"/>
          <p:cNvSpPr/>
          <p:nvPr/>
        </p:nvSpPr>
        <p:spPr>
          <a:xfrm>
            <a:off x="6428232" y="4817364"/>
            <a:ext cx="1371600" cy="440436"/>
          </a:xfrm>
          <a:prstGeom prst="rect">
            <a:avLst/>
          </a:prstGeom>
          <a:solidFill>
            <a:srgbClr val="F1F3F2"/>
          </a:solidFill>
          <a:ln w="5715">
            <a:solidFill>
              <a:srgbClr val="E2E6E2"/>
            </a:solidFill>
            <a:prstDash val="solid"/>
          </a:ln>
        </p:spPr>
      </p:sp>
      <p:sp>
        <p:nvSpPr>
          <p:cNvPr id="67" name="Shape 65"/>
          <p:cNvSpPr/>
          <p:nvPr/>
        </p:nvSpPr>
        <p:spPr>
          <a:xfrm>
            <a:off x="6501384" y="4918710"/>
            <a:ext cx="1225296" cy="237744"/>
          </a:xfrm>
          <a:prstGeom prst="roundRect">
            <a:avLst>
              <a:gd name="adj" fmla="val 46154"/>
            </a:avLst>
          </a:prstGeom>
          <a:solidFill>
            <a:srgbClr val="F1F3F2"/>
          </a:solidFill>
          <a:ln w="6350">
            <a:solidFill>
              <a:srgbClr val="E2E6E2"/>
            </a:solidFill>
            <a:prstDash val="solid"/>
          </a:ln>
        </p:spPr>
      </p:sp>
      <p:sp>
        <p:nvSpPr>
          <p:cNvPr id="68" name="Text 66"/>
          <p:cNvSpPr/>
          <p:nvPr/>
        </p:nvSpPr>
        <p:spPr>
          <a:xfrm>
            <a:off x="6501384" y="491871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9" name="Shape 67"/>
          <p:cNvSpPr/>
          <p:nvPr/>
        </p:nvSpPr>
        <p:spPr>
          <a:xfrm>
            <a:off x="7799832" y="4817364"/>
            <a:ext cx="3767328" cy="440436"/>
          </a:xfrm>
          <a:prstGeom prst="rect">
            <a:avLst/>
          </a:prstGeom>
          <a:solidFill>
            <a:srgbClr val="F1F3F2"/>
          </a:solidFill>
          <a:ln w="5715">
            <a:solidFill>
              <a:srgbClr val="E2E6E2"/>
            </a:solidFill>
            <a:prstDash val="solid"/>
          </a:ln>
        </p:spPr>
      </p:sp>
      <p:sp>
        <p:nvSpPr>
          <p:cNvPr id="70" name="Text 68"/>
          <p:cNvSpPr/>
          <p:nvPr/>
        </p:nvSpPr>
        <p:spPr>
          <a:xfrm>
            <a:off x="7891272" y="486308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by CSRD ready buyers.</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Our differentiation is energy grade data and cobenefit planning. The Q4 factor and method work is what removes the last credibility gap.</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 and Verdantix Green Quadrant Enterprise Carbon Management Software 2026 market framing. Positions are our own assessment, not a vendor certification.</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65760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32841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FEATURE POSITION: SUPPLY CHAIN</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Supply Chain: strong network reach, still closing the automated PCF gap</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most contested product line in the market, and the one where our 2027 bets matter most.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011680" cy="365760"/>
          </a:xfrm>
          <a:prstGeom prst="rect">
            <a:avLst/>
          </a:prstGeom>
          <a:solidFill>
            <a:srgbClr val="005730"/>
          </a:solidFill>
          <a:ln w="5715">
            <a:solidFill>
              <a:srgbClr val="397257"/>
            </a:solidFill>
            <a:prstDash val="solid"/>
          </a:ln>
        </p:spPr>
      </p:sp>
      <p:sp>
        <p:nvSpPr>
          <p:cNvPr id="10" name="Text 8"/>
          <p:cNvSpPr/>
          <p:nvPr/>
        </p:nvSpPr>
        <p:spPr>
          <a:xfrm>
            <a:off x="713232" y="2084832"/>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084832"/>
            <a:ext cx="3794760" cy="365760"/>
          </a:xfrm>
          <a:prstGeom prst="rect">
            <a:avLst/>
          </a:prstGeom>
          <a:solidFill>
            <a:srgbClr val="005730"/>
          </a:solidFill>
          <a:ln w="5715">
            <a:solidFill>
              <a:srgbClr val="397257"/>
            </a:solidFill>
            <a:prstDash val="solid"/>
          </a:ln>
        </p:spPr>
      </p:sp>
      <p:sp>
        <p:nvSpPr>
          <p:cNvPr id="12" name="Text 10"/>
          <p:cNvSpPr/>
          <p:nvPr/>
        </p:nvSpPr>
        <p:spPr>
          <a:xfrm>
            <a:off x="2724912" y="2084832"/>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084832"/>
            <a:ext cx="1371600" cy="365760"/>
          </a:xfrm>
          <a:prstGeom prst="rect">
            <a:avLst/>
          </a:prstGeom>
          <a:solidFill>
            <a:srgbClr val="005730"/>
          </a:solidFill>
          <a:ln w="5715">
            <a:solidFill>
              <a:srgbClr val="397257"/>
            </a:solidFill>
            <a:prstDash val="solid"/>
          </a:ln>
        </p:spPr>
      </p:sp>
      <p:sp>
        <p:nvSpPr>
          <p:cNvPr id="14" name="Text 12"/>
          <p:cNvSpPr/>
          <p:nvPr/>
        </p:nvSpPr>
        <p:spPr>
          <a:xfrm>
            <a:off x="6519672" y="2084832"/>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POSITION</a:t>
            </a:r>
            <a:endParaRPr lang="en-US" sz="760" dirty="0"/>
          </a:p>
        </p:txBody>
      </p:sp>
      <p:sp>
        <p:nvSpPr>
          <p:cNvPr id="15" name="Shape 13"/>
          <p:cNvSpPr/>
          <p:nvPr/>
        </p:nvSpPr>
        <p:spPr>
          <a:xfrm>
            <a:off x="7799832" y="2084832"/>
            <a:ext cx="3767328" cy="365760"/>
          </a:xfrm>
          <a:prstGeom prst="rect">
            <a:avLst/>
          </a:prstGeom>
          <a:solidFill>
            <a:srgbClr val="005730"/>
          </a:solidFill>
          <a:ln w="5715">
            <a:solidFill>
              <a:srgbClr val="397257"/>
            </a:solidFill>
            <a:prstDash val="solid"/>
          </a:ln>
        </p:spPr>
      </p:sp>
      <p:sp>
        <p:nvSpPr>
          <p:cNvPr id="16" name="Text 14"/>
          <p:cNvSpPr/>
          <p:nvPr/>
        </p:nvSpPr>
        <p:spPr>
          <a:xfrm>
            <a:off x="7891272" y="2084832"/>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450592"/>
            <a:ext cx="2011680" cy="467868"/>
          </a:xfrm>
          <a:prstGeom prst="rect">
            <a:avLst/>
          </a:prstGeom>
          <a:solidFill>
            <a:srgbClr val="FFFFFF"/>
          </a:solidFill>
          <a:ln w="5715">
            <a:solidFill>
              <a:srgbClr val="E2E6E2"/>
            </a:solidFill>
            <a:prstDash val="solid"/>
          </a:ln>
        </p:spPr>
      </p:sp>
      <p:sp>
        <p:nvSpPr>
          <p:cNvPr id="18" name="Text 16"/>
          <p:cNvSpPr/>
          <p:nvPr/>
        </p:nvSpPr>
        <p:spPr>
          <a:xfrm>
            <a:off x="713232" y="249631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Supplier engagement reach</a:t>
            </a:r>
            <a:endParaRPr lang="en-US" sz="900" dirty="0"/>
          </a:p>
        </p:txBody>
      </p:sp>
      <p:sp>
        <p:nvSpPr>
          <p:cNvPr id="19" name="Shape 17"/>
          <p:cNvSpPr/>
          <p:nvPr/>
        </p:nvSpPr>
        <p:spPr>
          <a:xfrm>
            <a:off x="2633472" y="2450592"/>
            <a:ext cx="3794760" cy="467868"/>
          </a:xfrm>
          <a:prstGeom prst="rect">
            <a:avLst/>
          </a:prstGeom>
          <a:solidFill>
            <a:srgbClr val="FFFFFF"/>
          </a:solidFill>
          <a:ln w="5715">
            <a:solidFill>
              <a:srgbClr val="E2E6E2"/>
            </a:solidFill>
            <a:prstDash val="solid"/>
          </a:ln>
        </p:spPr>
      </p:sp>
      <p:sp>
        <p:nvSpPr>
          <p:cNvPr id="20" name="Text 18"/>
          <p:cNvSpPr/>
          <p:nvPr/>
        </p:nvSpPr>
        <p:spPr>
          <a:xfrm>
            <a:off x="2724912" y="249631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Built on Zeigo Hub heritage: campaigns at scale, structured supplier education programs and learning paths, plus the Zeigo network of suppliers already onboarded and trained.</a:t>
            </a:r>
            <a:endParaRPr lang="en-US" sz="800" dirty="0"/>
          </a:p>
        </p:txBody>
      </p:sp>
      <p:sp>
        <p:nvSpPr>
          <p:cNvPr id="21" name="Shape 19"/>
          <p:cNvSpPr/>
          <p:nvPr/>
        </p:nvSpPr>
        <p:spPr>
          <a:xfrm>
            <a:off x="6428232" y="2450592"/>
            <a:ext cx="1371600" cy="467868"/>
          </a:xfrm>
          <a:prstGeom prst="rect">
            <a:avLst/>
          </a:prstGeom>
          <a:solidFill>
            <a:srgbClr val="FFFFFF"/>
          </a:solidFill>
          <a:ln w="5715">
            <a:solidFill>
              <a:srgbClr val="E2E6E2"/>
            </a:solidFill>
            <a:prstDash val="solid"/>
          </a:ln>
        </p:spPr>
      </p:sp>
      <p:sp>
        <p:nvSpPr>
          <p:cNvPr id="22" name="Shape 20"/>
          <p:cNvSpPr/>
          <p:nvPr/>
        </p:nvSpPr>
        <p:spPr>
          <a:xfrm>
            <a:off x="6501384" y="2565654"/>
            <a:ext cx="1225296" cy="237744"/>
          </a:xfrm>
          <a:prstGeom prst="roundRect">
            <a:avLst>
              <a:gd name="adj" fmla="val 46154"/>
            </a:avLst>
          </a:prstGeom>
          <a:solidFill>
            <a:srgbClr val="EAF8ED"/>
          </a:solidFill>
          <a:ln w="6350">
            <a:solidFill>
              <a:srgbClr val="3DCD58"/>
            </a:solidFill>
            <a:prstDash val="solid"/>
          </a:ln>
        </p:spPr>
      </p:sp>
      <p:sp>
        <p:nvSpPr>
          <p:cNvPr id="23" name="Text 21"/>
          <p:cNvSpPr/>
          <p:nvPr/>
        </p:nvSpPr>
        <p:spPr>
          <a:xfrm>
            <a:off x="6501384" y="256565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24" name="Shape 22"/>
          <p:cNvSpPr/>
          <p:nvPr/>
        </p:nvSpPr>
        <p:spPr>
          <a:xfrm>
            <a:off x="7799832" y="2450592"/>
            <a:ext cx="3767328" cy="467868"/>
          </a:xfrm>
          <a:prstGeom prst="rect">
            <a:avLst/>
          </a:prstGeom>
          <a:solidFill>
            <a:srgbClr val="FFFFFF"/>
          </a:solidFill>
          <a:ln w="5715">
            <a:solidFill>
              <a:srgbClr val="E2E6E2"/>
            </a:solidFill>
            <a:prstDash val="solid"/>
          </a:ln>
        </p:spPr>
      </p:sp>
      <p:sp>
        <p:nvSpPr>
          <p:cNvPr id="25" name="Text 23"/>
          <p:cNvSpPr/>
          <p:nvPr/>
        </p:nvSpPr>
        <p:spPr>
          <a:xfrm>
            <a:off x="7891272" y="249631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Reach at this scale is rare outside the largest platforms.</a:t>
            </a:r>
            <a:endParaRPr lang="en-US" sz="800" dirty="0"/>
          </a:p>
        </p:txBody>
      </p:sp>
      <p:sp>
        <p:nvSpPr>
          <p:cNvPr id="26" name="Shape 24"/>
          <p:cNvSpPr/>
          <p:nvPr/>
        </p:nvSpPr>
        <p:spPr>
          <a:xfrm>
            <a:off x="621792" y="2918460"/>
            <a:ext cx="2011680" cy="467868"/>
          </a:xfrm>
          <a:prstGeom prst="rect">
            <a:avLst/>
          </a:prstGeom>
          <a:solidFill>
            <a:srgbClr val="F1F3F2"/>
          </a:solidFill>
          <a:ln w="5715">
            <a:solidFill>
              <a:srgbClr val="E2E6E2"/>
            </a:solidFill>
            <a:prstDash val="solid"/>
          </a:ln>
        </p:spPr>
      </p:sp>
      <p:sp>
        <p:nvSpPr>
          <p:cNvPr id="27" name="Text 25"/>
          <p:cNvSpPr/>
          <p:nvPr/>
        </p:nvSpPr>
        <p:spPr>
          <a:xfrm>
            <a:off x="713232" y="2964180"/>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Product carbon footprint</a:t>
            </a:r>
            <a:endParaRPr lang="en-US" sz="900" dirty="0"/>
          </a:p>
        </p:txBody>
      </p:sp>
      <p:sp>
        <p:nvSpPr>
          <p:cNvPr id="28" name="Shape 26"/>
          <p:cNvSpPr/>
          <p:nvPr/>
        </p:nvSpPr>
        <p:spPr>
          <a:xfrm>
            <a:off x="2633472" y="2918460"/>
            <a:ext cx="3794760" cy="467868"/>
          </a:xfrm>
          <a:prstGeom prst="rect">
            <a:avLst/>
          </a:prstGeom>
          <a:solidFill>
            <a:srgbClr val="F1F3F2"/>
          </a:solidFill>
          <a:ln w="5715">
            <a:solidFill>
              <a:srgbClr val="E2E6E2"/>
            </a:solidFill>
            <a:prstDash val="solid"/>
          </a:ln>
        </p:spPr>
      </p:sp>
      <p:sp>
        <p:nvSpPr>
          <p:cNvPr id="29" name="Text 27"/>
          <p:cNvSpPr/>
          <p:nvPr/>
        </p:nvSpPr>
        <p:spPr>
          <a:xfrm>
            <a:off x="2724912" y="2964180"/>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Light PCF calculator in 2027 H1, deeper PCF after.</a:t>
            </a:r>
            <a:endParaRPr lang="en-US" sz="800" dirty="0"/>
          </a:p>
        </p:txBody>
      </p:sp>
      <p:sp>
        <p:nvSpPr>
          <p:cNvPr id="30" name="Shape 28"/>
          <p:cNvSpPr/>
          <p:nvPr/>
        </p:nvSpPr>
        <p:spPr>
          <a:xfrm>
            <a:off x="6428232" y="2918460"/>
            <a:ext cx="1371600" cy="467868"/>
          </a:xfrm>
          <a:prstGeom prst="rect">
            <a:avLst/>
          </a:prstGeom>
          <a:solidFill>
            <a:srgbClr val="F1F3F2"/>
          </a:solidFill>
          <a:ln w="5715">
            <a:solidFill>
              <a:srgbClr val="E2E6E2"/>
            </a:solidFill>
            <a:prstDash val="solid"/>
          </a:ln>
        </p:spPr>
      </p:sp>
      <p:sp>
        <p:nvSpPr>
          <p:cNvPr id="31" name="Shape 29"/>
          <p:cNvSpPr/>
          <p:nvPr/>
        </p:nvSpPr>
        <p:spPr>
          <a:xfrm>
            <a:off x="6501384" y="3033522"/>
            <a:ext cx="1225296" cy="237744"/>
          </a:xfrm>
          <a:prstGeom prst="roundRect">
            <a:avLst>
              <a:gd name="adj" fmla="val 46154"/>
            </a:avLst>
          </a:prstGeom>
          <a:solidFill>
            <a:srgbClr val="FFF4E3"/>
          </a:solidFill>
          <a:ln w="6350">
            <a:solidFill>
              <a:srgbClr val="FFB04C"/>
            </a:solidFill>
            <a:prstDash val="solid"/>
          </a:ln>
        </p:spPr>
      </p:sp>
      <p:sp>
        <p:nvSpPr>
          <p:cNvPr id="32" name="Text 30"/>
          <p:cNvSpPr/>
          <p:nvPr/>
        </p:nvSpPr>
        <p:spPr>
          <a:xfrm>
            <a:off x="6501384" y="303352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Behind</a:t>
            </a:r>
            <a:endParaRPr lang="en-US" sz="740" dirty="0"/>
          </a:p>
        </p:txBody>
      </p:sp>
      <p:sp>
        <p:nvSpPr>
          <p:cNvPr id="33" name="Shape 31"/>
          <p:cNvSpPr/>
          <p:nvPr/>
        </p:nvSpPr>
        <p:spPr>
          <a:xfrm>
            <a:off x="7799832" y="2918460"/>
            <a:ext cx="3767328" cy="467868"/>
          </a:xfrm>
          <a:prstGeom prst="rect">
            <a:avLst/>
          </a:prstGeom>
          <a:solidFill>
            <a:srgbClr val="F1F3F2"/>
          </a:solidFill>
          <a:ln w="5715">
            <a:solidFill>
              <a:srgbClr val="E2E6E2"/>
            </a:solidFill>
            <a:prstDash val="solid"/>
          </a:ln>
        </p:spPr>
      </p:sp>
      <p:sp>
        <p:nvSpPr>
          <p:cNvPr id="34" name="Text 32"/>
          <p:cNvSpPr/>
          <p:nvPr/>
        </p:nvSpPr>
        <p:spPr>
          <a:xfrm>
            <a:off x="7891272" y="2964180"/>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osapiens and Watershed market BoM driven, largely automated PCF creation today.</a:t>
            </a:r>
            <a:endParaRPr lang="en-US" sz="800" dirty="0"/>
          </a:p>
        </p:txBody>
      </p:sp>
      <p:sp>
        <p:nvSpPr>
          <p:cNvPr id="35" name="Shape 33"/>
          <p:cNvSpPr/>
          <p:nvPr/>
        </p:nvSpPr>
        <p:spPr>
          <a:xfrm>
            <a:off x="621792" y="3386328"/>
            <a:ext cx="2011680" cy="467868"/>
          </a:xfrm>
          <a:prstGeom prst="rect">
            <a:avLst/>
          </a:prstGeom>
          <a:solidFill>
            <a:srgbClr val="FFFFFF"/>
          </a:solidFill>
          <a:ln w="5715">
            <a:solidFill>
              <a:srgbClr val="E2E6E2"/>
            </a:solidFill>
            <a:prstDash val="solid"/>
          </a:ln>
        </p:spPr>
      </p:sp>
      <p:sp>
        <p:nvSpPr>
          <p:cNvPr id="36" name="Text 34"/>
          <p:cNvSpPr/>
          <p:nvPr/>
        </p:nvSpPr>
        <p:spPr>
          <a:xfrm>
            <a:off x="713232" y="3432048"/>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Category 1 and 4 data into the inventory</a:t>
            </a:r>
            <a:endParaRPr lang="en-US" sz="900" dirty="0"/>
          </a:p>
        </p:txBody>
      </p:sp>
      <p:sp>
        <p:nvSpPr>
          <p:cNvPr id="37" name="Shape 35"/>
          <p:cNvSpPr/>
          <p:nvPr/>
        </p:nvSpPr>
        <p:spPr>
          <a:xfrm>
            <a:off x="2633472" y="3386328"/>
            <a:ext cx="3794760" cy="467868"/>
          </a:xfrm>
          <a:prstGeom prst="rect">
            <a:avLst/>
          </a:prstGeom>
          <a:solidFill>
            <a:srgbClr val="FFFFFF"/>
          </a:solidFill>
          <a:ln w="5715">
            <a:solidFill>
              <a:srgbClr val="E2E6E2"/>
            </a:solidFill>
            <a:prstDash val="solid"/>
          </a:ln>
        </p:spPr>
      </p:sp>
      <p:sp>
        <p:nvSpPr>
          <p:cNvPr id="38" name="Text 36"/>
          <p:cNvSpPr/>
          <p:nvPr/>
        </p:nvSpPr>
        <p:spPr>
          <a:xfrm>
            <a:off x="2724912" y="3432048"/>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Supplier and transport data flows straight into the shared carbon inventory.</a:t>
            </a:r>
            <a:endParaRPr lang="en-US" sz="800" dirty="0"/>
          </a:p>
        </p:txBody>
      </p:sp>
      <p:sp>
        <p:nvSpPr>
          <p:cNvPr id="39" name="Shape 37"/>
          <p:cNvSpPr/>
          <p:nvPr/>
        </p:nvSpPr>
        <p:spPr>
          <a:xfrm>
            <a:off x="6428232" y="3386328"/>
            <a:ext cx="1371600" cy="467868"/>
          </a:xfrm>
          <a:prstGeom prst="rect">
            <a:avLst/>
          </a:prstGeom>
          <a:solidFill>
            <a:srgbClr val="FFFFFF"/>
          </a:solidFill>
          <a:ln w="5715">
            <a:solidFill>
              <a:srgbClr val="E2E6E2"/>
            </a:solidFill>
            <a:prstDash val="solid"/>
          </a:ln>
        </p:spPr>
      </p:sp>
      <p:sp>
        <p:nvSpPr>
          <p:cNvPr id="40" name="Shape 38"/>
          <p:cNvSpPr/>
          <p:nvPr/>
        </p:nvSpPr>
        <p:spPr>
          <a:xfrm>
            <a:off x="6501384" y="3501390"/>
            <a:ext cx="1225296" cy="237744"/>
          </a:xfrm>
          <a:prstGeom prst="roundRect">
            <a:avLst>
              <a:gd name="adj" fmla="val 46154"/>
            </a:avLst>
          </a:prstGeom>
          <a:solidFill>
            <a:srgbClr val="EAF8ED"/>
          </a:solidFill>
          <a:ln w="6350">
            <a:solidFill>
              <a:srgbClr val="3DCD58"/>
            </a:solidFill>
            <a:prstDash val="solid"/>
          </a:ln>
        </p:spPr>
      </p:sp>
      <p:sp>
        <p:nvSpPr>
          <p:cNvPr id="41" name="Text 39"/>
          <p:cNvSpPr/>
          <p:nvPr/>
        </p:nvSpPr>
        <p:spPr>
          <a:xfrm>
            <a:off x="6501384" y="350139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42" name="Shape 40"/>
          <p:cNvSpPr/>
          <p:nvPr/>
        </p:nvSpPr>
        <p:spPr>
          <a:xfrm>
            <a:off x="7799832" y="3386328"/>
            <a:ext cx="3767328" cy="467868"/>
          </a:xfrm>
          <a:prstGeom prst="rect">
            <a:avLst/>
          </a:prstGeom>
          <a:solidFill>
            <a:srgbClr val="FFFFFF"/>
          </a:solidFill>
          <a:ln w="5715">
            <a:solidFill>
              <a:srgbClr val="E2E6E2"/>
            </a:solidFill>
            <a:prstDash val="solid"/>
          </a:ln>
        </p:spPr>
      </p:sp>
      <p:sp>
        <p:nvSpPr>
          <p:cNvPr id="43" name="Text 41"/>
          <p:cNvSpPr/>
          <p:nvPr/>
        </p:nvSpPr>
        <p:spPr>
          <a:xfrm>
            <a:off x="7891272" y="3432048"/>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Most rivals move this data between separate tools.</a:t>
            </a:r>
            <a:endParaRPr lang="en-US" sz="800" dirty="0"/>
          </a:p>
        </p:txBody>
      </p:sp>
      <p:sp>
        <p:nvSpPr>
          <p:cNvPr id="44" name="Shape 42"/>
          <p:cNvSpPr/>
          <p:nvPr/>
        </p:nvSpPr>
        <p:spPr>
          <a:xfrm>
            <a:off x="621792" y="3854196"/>
            <a:ext cx="2011680" cy="467868"/>
          </a:xfrm>
          <a:prstGeom prst="rect">
            <a:avLst/>
          </a:prstGeom>
          <a:solidFill>
            <a:srgbClr val="F1F3F2"/>
          </a:solidFill>
          <a:ln w="5715">
            <a:solidFill>
              <a:srgbClr val="E2E6E2"/>
            </a:solidFill>
            <a:prstDash val="solid"/>
          </a:ln>
        </p:spPr>
      </p:sp>
      <p:sp>
        <p:nvSpPr>
          <p:cNvPr id="45" name="Text 43"/>
          <p:cNvSpPr/>
          <p:nvPr/>
        </p:nvSpPr>
        <p:spPr>
          <a:xfrm>
            <a:off x="713232" y="3899916"/>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Data quality assurance</a:t>
            </a:r>
            <a:endParaRPr lang="en-US" sz="900" dirty="0"/>
          </a:p>
        </p:txBody>
      </p:sp>
      <p:sp>
        <p:nvSpPr>
          <p:cNvPr id="46" name="Shape 44"/>
          <p:cNvSpPr/>
          <p:nvPr/>
        </p:nvSpPr>
        <p:spPr>
          <a:xfrm>
            <a:off x="2633472" y="3854196"/>
            <a:ext cx="3794760" cy="467868"/>
          </a:xfrm>
          <a:prstGeom prst="rect">
            <a:avLst/>
          </a:prstGeom>
          <a:solidFill>
            <a:srgbClr val="F1F3F2"/>
          </a:solidFill>
          <a:ln w="5715">
            <a:solidFill>
              <a:srgbClr val="E2E6E2"/>
            </a:solidFill>
            <a:prstDash val="solid"/>
          </a:ln>
        </p:spPr>
      </p:sp>
      <p:sp>
        <p:nvSpPr>
          <p:cNvPr id="47" name="Text 45"/>
          <p:cNvSpPr/>
          <p:nvPr/>
        </p:nvSpPr>
        <p:spPr>
          <a:xfrm>
            <a:off x="2724912" y="3899916"/>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Improved data quality assurance and scoring on collected supplier data.</a:t>
            </a:r>
            <a:endParaRPr lang="en-US" sz="800" dirty="0"/>
          </a:p>
        </p:txBody>
      </p:sp>
      <p:sp>
        <p:nvSpPr>
          <p:cNvPr id="48" name="Shape 46"/>
          <p:cNvSpPr/>
          <p:nvPr/>
        </p:nvSpPr>
        <p:spPr>
          <a:xfrm>
            <a:off x="6428232" y="3854196"/>
            <a:ext cx="1371600" cy="467868"/>
          </a:xfrm>
          <a:prstGeom prst="rect">
            <a:avLst/>
          </a:prstGeom>
          <a:solidFill>
            <a:srgbClr val="F1F3F2"/>
          </a:solidFill>
          <a:ln w="5715">
            <a:solidFill>
              <a:srgbClr val="E2E6E2"/>
            </a:solidFill>
            <a:prstDash val="solid"/>
          </a:ln>
        </p:spPr>
      </p:sp>
      <p:sp>
        <p:nvSpPr>
          <p:cNvPr id="49" name="Shape 47"/>
          <p:cNvSpPr/>
          <p:nvPr/>
        </p:nvSpPr>
        <p:spPr>
          <a:xfrm>
            <a:off x="6501384" y="3969258"/>
            <a:ext cx="1225296" cy="237744"/>
          </a:xfrm>
          <a:prstGeom prst="roundRect">
            <a:avLst>
              <a:gd name="adj" fmla="val 46154"/>
            </a:avLst>
          </a:prstGeom>
          <a:solidFill>
            <a:srgbClr val="F1F3F2"/>
          </a:solidFill>
          <a:ln w="6350">
            <a:solidFill>
              <a:srgbClr val="E2E6E2"/>
            </a:solidFill>
            <a:prstDash val="solid"/>
          </a:ln>
        </p:spPr>
      </p:sp>
      <p:sp>
        <p:nvSpPr>
          <p:cNvPr id="50" name="Text 48"/>
          <p:cNvSpPr/>
          <p:nvPr/>
        </p:nvSpPr>
        <p:spPr>
          <a:xfrm>
            <a:off x="6501384" y="396925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51" name="Shape 49"/>
          <p:cNvSpPr/>
          <p:nvPr/>
        </p:nvSpPr>
        <p:spPr>
          <a:xfrm>
            <a:off x="7799832" y="3854196"/>
            <a:ext cx="3767328" cy="467868"/>
          </a:xfrm>
          <a:prstGeom prst="rect">
            <a:avLst/>
          </a:prstGeom>
          <a:solidFill>
            <a:srgbClr val="F1F3F2"/>
          </a:solidFill>
          <a:ln w="5715">
            <a:solidFill>
              <a:srgbClr val="E2E6E2"/>
            </a:solidFill>
            <a:prstDash val="solid"/>
          </a:ln>
        </p:spPr>
      </p:sp>
      <p:sp>
        <p:nvSpPr>
          <p:cNvPr id="52" name="Text 50"/>
          <p:cNvSpPr/>
          <p:nvPr/>
        </p:nvSpPr>
        <p:spPr>
          <a:xfrm>
            <a:off x="7891272" y="3899916"/>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Standard across the benchmarked field.</a:t>
            </a:r>
            <a:endParaRPr lang="en-US" sz="800" dirty="0"/>
          </a:p>
        </p:txBody>
      </p:sp>
      <p:sp>
        <p:nvSpPr>
          <p:cNvPr id="53" name="Shape 51"/>
          <p:cNvSpPr/>
          <p:nvPr/>
        </p:nvSpPr>
        <p:spPr>
          <a:xfrm>
            <a:off x="621792" y="4322064"/>
            <a:ext cx="2011680" cy="467868"/>
          </a:xfrm>
          <a:prstGeom prst="rect">
            <a:avLst/>
          </a:prstGeom>
          <a:solidFill>
            <a:srgbClr val="FFFFFF"/>
          </a:solidFill>
          <a:ln w="5715">
            <a:solidFill>
              <a:srgbClr val="E2E6E2"/>
            </a:solidFill>
            <a:prstDash val="solid"/>
          </a:ln>
        </p:spPr>
      </p:sp>
      <p:sp>
        <p:nvSpPr>
          <p:cNvPr id="54" name="Text 52"/>
          <p:cNvSpPr/>
          <p:nvPr/>
        </p:nvSpPr>
        <p:spPr>
          <a:xfrm>
            <a:off x="713232" y="4367784"/>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Supplier abatement</a:t>
            </a:r>
            <a:endParaRPr lang="en-US" sz="900" dirty="0"/>
          </a:p>
        </p:txBody>
      </p:sp>
      <p:sp>
        <p:nvSpPr>
          <p:cNvPr id="55" name="Shape 53"/>
          <p:cNvSpPr/>
          <p:nvPr/>
        </p:nvSpPr>
        <p:spPr>
          <a:xfrm>
            <a:off x="2633472" y="4322064"/>
            <a:ext cx="3794760" cy="467868"/>
          </a:xfrm>
          <a:prstGeom prst="rect">
            <a:avLst/>
          </a:prstGeom>
          <a:solidFill>
            <a:srgbClr val="FFFFFF"/>
          </a:solidFill>
          <a:ln w="5715">
            <a:solidFill>
              <a:srgbClr val="E2E6E2"/>
            </a:solidFill>
            <a:prstDash val="solid"/>
          </a:ln>
        </p:spPr>
      </p:sp>
      <p:sp>
        <p:nvSpPr>
          <p:cNvPr id="56" name="Text 54"/>
          <p:cNvSpPr/>
          <p:nvPr/>
        </p:nvSpPr>
        <p:spPr>
          <a:xfrm>
            <a:off x="2724912" y="4367784"/>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Guided decarbonisation and supplier action, sequenced for 2027.</a:t>
            </a:r>
            <a:endParaRPr lang="en-US" sz="800" dirty="0"/>
          </a:p>
        </p:txBody>
      </p:sp>
      <p:sp>
        <p:nvSpPr>
          <p:cNvPr id="57" name="Shape 55"/>
          <p:cNvSpPr/>
          <p:nvPr/>
        </p:nvSpPr>
        <p:spPr>
          <a:xfrm>
            <a:off x="6428232" y="4322064"/>
            <a:ext cx="1371600" cy="467868"/>
          </a:xfrm>
          <a:prstGeom prst="rect">
            <a:avLst/>
          </a:prstGeom>
          <a:solidFill>
            <a:srgbClr val="FFFFFF"/>
          </a:solidFill>
          <a:ln w="5715">
            <a:solidFill>
              <a:srgbClr val="E2E6E2"/>
            </a:solidFill>
            <a:prstDash val="solid"/>
          </a:ln>
        </p:spPr>
      </p:sp>
      <p:sp>
        <p:nvSpPr>
          <p:cNvPr id="58" name="Shape 56"/>
          <p:cNvSpPr/>
          <p:nvPr/>
        </p:nvSpPr>
        <p:spPr>
          <a:xfrm>
            <a:off x="6501384" y="4437126"/>
            <a:ext cx="1225296" cy="237744"/>
          </a:xfrm>
          <a:prstGeom prst="roundRect">
            <a:avLst>
              <a:gd name="adj" fmla="val 46154"/>
            </a:avLst>
          </a:prstGeom>
          <a:solidFill>
            <a:srgbClr val="FFF4E3"/>
          </a:solidFill>
          <a:ln w="6350">
            <a:solidFill>
              <a:srgbClr val="FFB04C"/>
            </a:solidFill>
            <a:prstDash val="solid"/>
          </a:ln>
        </p:spPr>
      </p:sp>
      <p:sp>
        <p:nvSpPr>
          <p:cNvPr id="59" name="Text 57"/>
          <p:cNvSpPr/>
          <p:nvPr/>
        </p:nvSpPr>
        <p:spPr>
          <a:xfrm>
            <a:off x="6501384" y="443712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60" name="Shape 58"/>
          <p:cNvSpPr/>
          <p:nvPr/>
        </p:nvSpPr>
        <p:spPr>
          <a:xfrm>
            <a:off x="7799832" y="4322064"/>
            <a:ext cx="3767328" cy="467868"/>
          </a:xfrm>
          <a:prstGeom prst="rect">
            <a:avLst/>
          </a:prstGeom>
          <a:solidFill>
            <a:srgbClr val="FFFFFF"/>
          </a:solidFill>
          <a:ln w="5715">
            <a:solidFill>
              <a:srgbClr val="E2E6E2"/>
            </a:solidFill>
            <a:prstDash val="solid"/>
          </a:ln>
        </p:spPr>
      </p:sp>
      <p:sp>
        <p:nvSpPr>
          <p:cNvPr id="61" name="Text 59"/>
          <p:cNvSpPr/>
          <p:nvPr/>
        </p:nvSpPr>
        <p:spPr>
          <a:xfrm>
            <a:off x="7891272" y="4367784"/>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Leaders already market supplier abatement programmes, not just collection.</a:t>
            </a:r>
            <a:endParaRPr lang="en-US" sz="800" dirty="0"/>
          </a:p>
        </p:txBody>
      </p:sp>
      <p:sp>
        <p:nvSpPr>
          <p:cNvPr id="62" name="Shape 60"/>
          <p:cNvSpPr/>
          <p:nvPr/>
        </p:nvSpPr>
        <p:spPr>
          <a:xfrm>
            <a:off x="621792" y="4789932"/>
            <a:ext cx="2011680" cy="467868"/>
          </a:xfrm>
          <a:prstGeom prst="rect">
            <a:avLst/>
          </a:prstGeom>
          <a:solidFill>
            <a:srgbClr val="F1F3F2"/>
          </a:solidFill>
          <a:ln w="5715">
            <a:solidFill>
              <a:srgbClr val="E2E6E2"/>
            </a:solidFill>
            <a:prstDash val="solid"/>
          </a:ln>
        </p:spPr>
      </p:sp>
      <p:sp>
        <p:nvSpPr>
          <p:cNvPr id="63" name="Text 61"/>
          <p:cNvSpPr/>
          <p:nvPr/>
        </p:nvSpPr>
        <p:spPr>
          <a:xfrm>
            <a:off x="713232" y="483565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Upstream and downstream transport</a:t>
            </a:r>
            <a:endParaRPr lang="en-US" sz="900" dirty="0"/>
          </a:p>
        </p:txBody>
      </p:sp>
      <p:sp>
        <p:nvSpPr>
          <p:cNvPr id="64" name="Shape 62"/>
          <p:cNvSpPr/>
          <p:nvPr/>
        </p:nvSpPr>
        <p:spPr>
          <a:xfrm>
            <a:off x="2633472" y="4789932"/>
            <a:ext cx="3794760" cy="467868"/>
          </a:xfrm>
          <a:prstGeom prst="rect">
            <a:avLst/>
          </a:prstGeom>
          <a:solidFill>
            <a:srgbClr val="F1F3F2"/>
          </a:solidFill>
          <a:ln w="5715">
            <a:solidFill>
              <a:srgbClr val="E2E6E2"/>
            </a:solidFill>
            <a:prstDash val="solid"/>
          </a:ln>
        </p:spPr>
      </p:sp>
      <p:sp>
        <p:nvSpPr>
          <p:cNvPr id="65" name="Text 63"/>
          <p:cNvSpPr/>
          <p:nvPr/>
        </p:nvSpPr>
        <p:spPr>
          <a:xfrm>
            <a:off x="2724912" y="483565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Category 4 and 9 product linked transport in 2027 H1.</a:t>
            </a:r>
            <a:endParaRPr lang="en-US" sz="800" dirty="0"/>
          </a:p>
        </p:txBody>
      </p:sp>
      <p:sp>
        <p:nvSpPr>
          <p:cNvPr id="66" name="Shape 64"/>
          <p:cNvSpPr/>
          <p:nvPr/>
        </p:nvSpPr>
        <p:spPr>
          <a:xfrm>
            <a:off x="6428232" y="4789932"/>
            <a:ext cx="1371600" cy="467868"/>
          </a:xfrm>
          <a:prstGeom prst="rect">
            <a:avLst/>
          </a:prstGeom>
          <a:solidFill>
            <a:srgbClr val="F1F3F2"/>
          </a:solidFill>
          <a:ln w="5715">
            <a:solidFill>
              <a:srgbClr val="E2E6E2"/>
            </a:solidFill>
            <a:prstDash val="solid"/>
          </a:ln>
        </p:spPr>
      </p:sp>
      <p:sp>
        <p:nvSpPr>
          <p:cNvPr id="67" name="Shape 65"/>
          <p:cNvSpPr/>
          <p:nvPr/>
        </p:nvSpPr>
        <p:spPr>
          <a:xfrm>
            <a:off x="6501384" y="4904994"/>
            <a:ext cx="1225296" cy="237744"/>
          </a:xfrm>
          <a:prstGeom prst="roundRect">
            <a:avLst>
              <a:gd name="adj" fmla="val 46154"/>
            </a:avLst>
          </a:prstGeom>
          <a:solidFill>
            <a:srgbClr val="F1F3F2"/>
          </a:solidFill>
          <a:ln w="6350">
            <a:solidFill>
              <a:srgbClr val="E2E6E2"/>
            </a:solidFill>
            <a:prstDash val="solid"/>
          </a:ln>
        </p:spPr>
      </p:sp>
      <p:sp>
        <p:nvSpPr>
          <p:cNvPr id="68" name="Text 66"/>
          <p:cNvSpPr/>
          <p:nvPr/>
        </p:nvSpPr>
        <p:spPr>
          <a:xfrm>
            <a:off x="6501384" y="490499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9" name="Shape 67"/>
          <p:cNvSpPr/>
          <p:nvPr/>
        </p:nvSpPr>
        <p:spPr>
          <a:xfrm>
            <a:off x="7799832" y="4789932"/>
            <a:ext cx="3767328" cy="467868"/>
          </a:xfrm>
          <a:prstGeom prst="rect">
            <a:avLst/>
          </a:prstGeom>
          <a:solidFill>
            <a:srgbClr val="F1F3F2"/>
          </a:solidFill>
          <a:ln w="5715">
            <a:solidFill>
              <a:srgbClr val="E2E6E2"/>
            </a:solidFill>
            <a:prstDash val="solid"/>
          </a:ln>
        </p:spPr>
      </p:sp>
      <p:sp>
        <p:nvSpPr>
          <p:cNvPr id="70" name="Text 68"/>
          <p:cNvSpPr/>
          <p:nvPr/>
        </p:nvSpPr>
        <p:spPr>
          <a:xfrm>
            <a:off x="7891272" y="483565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Covered by logistics focused rivals.</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We win on reach and on one inventory. PCF automation is the single capability where we are visibly behind and it needs protected capacity.</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 and Verdantix Green Quadrant Enterprise Carbon Management Software 2026 market framing. Positions are our own assessment, not a vendor certification.</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47548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442569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FEATURE POSITION: REPORTING AND COMPLIANCE</a:t>
            </a:r>
            <a:endParaRPr lang="en-US" sz="950" dirty="0"/>
          </a:p>
        </p:txBody>
      </p:sp>
      <p:sp>
        <p:nvSpPr>
          <p:cNvPr id="6" name="Text 4"/>
          <p:cNvSpPr/>
          <p:nvPr/>
        </p:nvSpPr>
        <p:spPr>
          <a:xfrm>
            <a:off x="621792" y="768096"/>
            <a:ext cx="10948111" cy="914400"/>
          </a:xfrm>
          <a:prstGeom prst="rect">
            <a:avLst/>
          </a:prstGeom>
          <a:noFill/>
          <a:ln/>
        </p:spPr>
        <p:txBody>
          <a:bodyPr wrap="square" lIns="0" tIns="0" rIns="0" bIns="0" rtlCol="0" anchor="t">
            <a:normAutofit/>
          </a:bodyPr>
          <a:lstStyle/>
          <a:p>
            <a:pPr indent="0" marL="0">
              <a:buNone/>
            </a:pPr>
            <a:r>
              <a:rPr lang="en-US" sz="2500" b="1" dirty="0">
                <a:solidFill>
                  <a:srgbClr val="1E2420"/>
                </a:solidFill>
                <a:latin typeface="Calibri" pitchFamily="34" charset="0"/>
                <a:ea typeface="Calibri" pitchFamily="34" charset="-122"/>
                <a:cs typeface="Calibri" pitchFamily="34" charset="-120"/>
              </a:rPr>
              <a:t>Reporting and Compliance: parity is the target, speed of standing up is the risk</a:t>
            </a:r>
            <a:endParaRPr lang="en-US" sz="2500" dirty="0"/>
          </a:p>
        </p:txBody>
      </p:sp>
      <p:sp>
        <p:nvSpPr>
          <p:cNvPr id="7" name="Text 5"/>
          <p:cNvSpPr/>
          <p:nvPr/>
        </p:nvSpPr>
        <p:spPr>
          <a:xfrm>
            <a:off x="621792" y="173736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This is a crowded, regulation driven segment. Credibility comes from evidence and lineage, not feature count.</a:t>
            </a:r>
            <a:endParaRPr lang="en-US" sz="1250" dirty="0"/>
          </a:p>
        </p:txBody>
      </p:sp>
      <p:sp>
        <p:nvSpPr>
          <p:cNvPr id="8" name="Shape 6"/>
          <p:cNvSpPr/>
          <p:nvPr/>
        </p:nvSpPr>
        <p:spPr>
          <a:xfrm>
            <a:off x="621792" y="2084832"/>
            <a:ext cx="10948111" cy="0"/>
          </a:xfrm>
          <a:prstGeom prst="line">
            <a:avLst/>
          </a:prstGeom>
          <a:noFill/>
          <a:ln w="9525">
            <a:solidFill>
              <a:srgbClr val="E2E6E2"/>
            </a:solidFill>
            <a:prstDash val="solid"/>
          </a:ln>
        </p:spPr>
      </p:sp>
      <p:sp>
        <p:nvSpPr>
          <p:cNvPr id="9" name="Shape 7"/>
          <p:cNvSpPr/>
          <p:nvPr/>
        </p:nvSpPr>
        <p:spPr>
          <a:xfrm>
            <a:off x="621792" y="2249424"/>
            <a:ext cx="2011680" cy="365760"/>
          </a:xfrm>
          <a:prstGeom prst="rect">
            <a:avLst/>
          </a:prstGeom>
          <a:solidFill>
            <a:srgbClr val="005730"/>
          </a:solidFill>
          <a:ln w="5715">
            <a:solidFill>
              <a:srgbClr val="397257"/>
            </a:solidFill>
            <a:prstDash val="solid"/>
          </a:ln>
        </p:spPr>
      </p:sp>
      <p:sp>
        <p:nvSpPr>
          <p:cNvPr id="10" name="Text 8"/>
          <p:cNvSpPr/>
          <p:nvPr/>
        </p:nvSpPr>
        <p:spPr>
          <a:xfrm>
            <a:off x="713232" y="2249424"/>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249424"/>
            <a:ext cx="3794760" cy="365760"/>
          </a:xfrm>
          <a:prstGeom prst="rect">
            <a:avLst/>
          </a:prstGeom>
          <a:solidFill>
            <a:srgbClr val="005730"/>
          </a:solidFill>
          <a:ln w="5715">
            <a:solidFill>
              <a:srgbClr val="397257"/>
            </a:solidFill>
            <a:prstDash val="solid"/>
          </a:ln>
        </p:spPr>
      </p:sp>
      <p:sp>
        <p:nvSpPr>
          <p:cNvPr id="12" name="Text 10"/>
          <p:cNvSpPr/>
          <p:nvPr/>
        </p:nvSpPr>
        <p:spPr>
          <a:xfrm>
            <a:off x="2724912" y="2249424"/>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249424"/>
            <a:ext cx="1371600" cy="365760"/>
          </a:xfrm>
          <a:prstGeom prst="rect">
            <a:avLst/>
          </a:prstGeom>
          <a:solidFill>
            <a:srgbClr val="005730"/>
          </a:solidFill>
          <a:ln w="5715">
            <a:solidFill>
              <a:srgbClr val="397257"/>
            </a:solidFill>
            <a:prstDash val="solid"/>
          </a:ln>
        </p:spPr>
      </p:sp>
      <p:sp>
        <p:nvSpPr>
          <p:cNvPr id="14" name="Text 12"/>
          <p:cNvSpPr/>
          <p:nvPr/>
        </p:nvSpPr>
        <p:spPr>
          <a:xfrm>
            <a:off x="6519672" y="2249424"/>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POSITION</a:t>
            </a:r>
            <a:endParaRPr lang="en-US" sz="760" dirty="0"/>
          </a:p>
        </p:txBody>
      </p:sp>
      <p:sp>
        <p:nvSpPr>
          <p:cNvPr id="15" name="Shape 13"/>
          <p:cNvSpPr/>
          <p:nvPr/>
        </p:nvSpPr>
        <p:spPr>
          <a:xfrm>
            <a:off x="7799832" y="2249424"/>
            <a:ext cx="3767328" cy="365760"/>
          </a:xfrm>
          <a:prstGeom prst="rect">
            <a:avLst/>
          </a:prstGeom>
          <a:solidFill>
            <a:srgbClr val="005730"/>
          </a:solidFill>
          <a:ln w="5715">
            <a:solidFill>
              <a:srgbClr val="397257"/>
            </a:solidFill>
            <a:prstDash val="solid"/>
          </a:ln>
        </p:spPr>
      </p:sp>
      <p:sp>
        <p:nvSpPr>
          <p:cNvPr id="16" name="Text 14"/>
          <p:cNvSpPr/>
          <p:nvPr/>
        </p:nvSpPr>
        <p:spPr>
          <a:xfrm>
            <a:off x="7891272" y="2249424"/>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615184"/>
            <a:ext cx="2011680" cy="440436"/>
          </a:xfrm>
          <a:prstGeom prst="rect">
            <a:avLst/>
          </a:prstGeom>
          <a:solidFill>
            <a:srgbClr val="FFFFFF"/>
          </a:solidFill>
          <a:ln w="5715">
            <a:solidFill>
              <a:srgbClr val="E2E6E2"/>
            </a:solidFill>
            <a:prstDash val="solid"/>
          </a:ln>
        </p:spPr>
      </p:sp>
      <p:sp>
        <p:nvSpPr>
          <p:cNvPr id="18" name="Text 16"/>
          <p:cNvSpPr/>
          <p:nvPr/>
        </p:nvSpPr>
        <p:spPr>
          <a:xfrm>
            <a:off x="713232" y="266090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Framework library</a:t>
            </a:r>
            <a:endParaRPr lang="en-US" sz="900" dirty="0"/>
          </a:p>
        </p:txBody>
      </p:sp>
      <p:sp>
        <p:nvSpPr>
          <p:cNvPr id="19" name="Shape 17"/>
          <p:cNvSpPr/>
          <p:nvPr/>
        </p:nvSpPr>
        <p:spPr>
          <a:xfrm>
            <a:off x="2633472" y="2615184"/>
            <a:ext cx="3794760" cy="440436"/>
          </a:xfrm>
          <a:prstGeom prst="rect">
            <a:avLst/>
          </a:prstGeom>
          <a:solidFill>
            <a:srgbClr val="FFFFFF"/>
          </a:solidFill>
          <a:ln w="5715">
            <a:solidFill>
              <a:srgbClr val="E2E6E2"/>
            </a:solidFill>
            <a:prstDash val="solid"/>
          </a:ln>
        </p:spPr>
      </p:sp>
      <p:sp>
        <p:nvSpPr>
          <p:cNvPr id="20" name="Text 18"/>
          <p:cNvSpPr/>
          <p:nvPr/>
        </p:nvSpPr>
        <p:spPr>
          <a:xfrm>
            <a:off x="2724912" y="266090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CSRD foundations built in 2026, wider frameworks after.</a:t>
            </a:r>
            <a:endParaRPr lang="en-US" sz="800" dirty="0"/>
          </a:p>
        </p:txBody>
      </p:sp>
      <p:sp>
        <p:nvSpPr>
          <p:cNvPr id="21" name="Shape 19"/>
          <p:cNvSpPr/>
          <p:nvPr/>
        </p:nvSpPr>
        <p:spPr>
          <a:xfrm>
            <a:off x="6428232" y="2615184"/>
            <a:ext cx="1371600" cy="440436"/>
          </a:xfrm>
          <a:prstGeom prst="rect">
            <a:avLst/>
          </a:prstGeom>
          <a:solidFill>
            <a:srgbClr val="FFFFFF"/>
          </a:solidFill>
          <a:ln w="5715">
            <a:solidFill>
              <a:srgbClr val="E2E6E2"/>
            </a:solidFill>
            <a:prstDash val="solid"/>
          </a:ln>
        </p:spPr>
      </p:sp>
      <p:sp>
        <p:nvSpPr>
          <p:cNvPr id="22" name="Shape 20"/>
          <p:cNvSpPr/>
          <p:nvPr/>
        </p:nvSpPr>
        <p:spPr>
          <a:xfrm>
            <a:off x="6501384" y="2716530"/>
            <a:ext cx="1225296" cy="237744"/>
          </a:xfrm>
          <a:prstGeom prst="roundRect">
            <a:avLst>
              <a:gd name="adj" fmla="val 46154"/>
            </a:avLst>
          </a:prstGeom>
          <a:solidFill>
            <a:srgbClr val="FFF4E3"/>
          </a:solidFill>
          <a:ln w="6350">
            <a:solidFill>
              <a:srgbClr val="FFB04C"/>
            </a:solidFill>
            <a:prstDash val="solid"/>
          </a:ln>
        </p:spPr>
      </p:sp>
      <p:sp>
        <p:nvSpPr>
          <p:cNvPr id="23" name="Text 21"/>
          <p:cNvSpPr/>
          <p:nvPr/>
        </p:nvSpPr>
        <p:spPr>
          <a:xfrm>
            <a:off x="6501384" y="271653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24" name="Shape 22"/>
          <p:cNvSpPr/>
          <p:nvPr/>
        </p:nvSpPr>
        <p:spPr>
          <a:xfrm>
            <a:off x="7799832" y="2615184"/>
            <a:ext cx="3767328" cy="440436"/>
          </a:xfrm>
          <a:prstGeom prst="rect">
            <a:avLst/>
          </a:prstGeom>
          <a:solidFill>
            <a:srgbClr val="FFFFFF"/>
          </a:solidFill>
          <a:ln w="5715">
            <a:solidFill>
              <a:srgbClr val="E2E6E2"/>
            </a:solidFill>
            <a:prstDash val="solid"/>
          </a:ln>
        </p:spPr>
      </p:sp>
      <p:sp>
        <p:nvSpPr>
          <p:cNvPr id="25" name="Text 23"/>
          <p:cNvSpPr/>
          <p:nvPr/>
        </p:nvSpPr>
        <p:spPr>
          <a:xfrm>
            <a:off x="7891272" y="266090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osapiens and compliance specialists ship broad framework libraries out of the box.</a:t>
            </a:r>
            <a:endParaRPr lang="en-US" sz="800" dirty="0"/>
          </a:p>
        </p:txBody>
      </p:sp>
      <p:sp>
        <p:nvSpPr>
          <p:cNvPr id="26" name="Shape 24"/>
          <p:cNvSpPr/>
          <p:nvPr/>
        </p:nvSpPr>
        <p:spPr>
          <a:xfrm>
            <a:off x="621792" y="3055620"/>
            <a:ext cx="2011680" cy="440436"/>
          </a:xfrm>
          <a:prstGeom prst="rect">
            <a:avLst/>
          </a:prstGeom>
          <a:solidFill>
            <a:srgbClr val="F1F3F2"/>
          </a:solidFill>
          <a:ln w="5715">
            <a:solidFill>
              <a:srgbClr val="E2E6E2"/>
            </a:solidFill>
            <a:prstDash val="solid"/>
          </a:ln>
        </p:spPr>
      </p:sp>
      <p:sp>
        <p:nvSpPr>
          <p:cNvPr id="27" name="Text 25"/>
          <p:cNvSpPr/>
          <p:nvPr/>
        </p:nvSpPr>
        <p:spPr>
          <a:xfrm>
            <a:off x="713232" y="3101340"/>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Indicator management</a:t>
            </a:r>
            <a:endParaRPr lang="en-US" sz="900" dirty="0"/>
          </a:p>
        </p:txBody>
      </p:sp>
      <p:sp>
        <p:nvSpPr>
          <p:cNvPr id="28" name="Shape 26"/>
          <p:cNvSpPr/>
          <p:nvPr/>
        </p:nvSpPr>
        <p:spPr>
          <a:xfrm>
            <a:off x="2633472" y="3055620"/>
            <a:ext cx="3794760" cy="440436"/>
          </a:xfrm>
          <a:prstGeom prst="rect">
            <a:avLst/>
          </a:prstGeom>
          <a:solidFill>
            <a:srgbClr val="F1F3F2"/>
          </a:solidFill>
          <a:ln w="5715">
            <a:solidFill>
              <a:srgbClr val="E2E6E2"/>
            </a:solidFill>
            <a:prstDash val="solid"/>
          </a:ln>
        </p:spPr>
      </p:sp>
      <p:sp>
        <p:nvSpPr>
          <p:cNvPr id="29" name="Text 27"/>
          <p:cNvSpPr/>
          <p:nvPr/>
        </p:nvSpPr>
        <p:spPr>
          <a:xfrm>
            <a:off x="2724912" y="3101340"/>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Indicator library foundation, approval hierarchies and bulk assignment in Q4 2026.</a:t>
            </a:r>
            <a:endParaRPr lang="en-US" sz="800" dirty="0"/>
          </a:p>
        </p:txBody>
      </p:sp>
      <p:sp>
        <p:nvSpPr>
          <p:cNvPr id="30" name="Shape 28"/>
          <p:cNvSpPr/>
          <p:nvPr/>
        </p:nvSpPr>
        <p:spPr>
          <a:xfrm>
            <a:off x="6428232" y="3055620"/>
            <a:ext cx="1371600" cy="440436"/>
          </a:xfrm>
          <a:prstGeom prst="rect">
            <a:avLst/>
          </a:prstGeom>
          <a:solidFill>
            <a:srgbClr val="F1F3F2"/>
          </a:solidFill>
          <a:ln w="5715">
            <a:solidFill>
              <a:srgbClr val="E2E6E2"/>
            </a:solidFill>
            <a:prstDash val="solid"/>
          </a:ln>
        </p:spPr>
      </p:sp>
      <p:sp>
        <p:nvSpPr>
          <p:cNvPr id="31" name="Shape 29"/>
          <p:cNvSpPr/>
          <p:nvPr/>
        </p:nvSpPr>
        <p:spPr>
          <a:xfrm>
            <a:off x="6501384" y="3156966"/>
            <a:ext cx="1225296" cy="237744"/>
          </a:xfrm>
          <a:prstGeom prst="roundRect">
            <a:avLst>
              <a:gd name="adj" fmla="val 46154"/>
            </a:avLst>
          </a:prstGeom>
          <a:solidFill>
            <a:srgbClr val="F1F3F2"/>
          </a:solidFill>
          <a:ln w="6350">
            <a:solidFill>
              <a:srgbClr val="E2E6E2"/>
            </a:solidFill>
            <a:prstDash val="solid"/>
          </a:ln>
        </p:spPr>
      </p:sp>
      <p:sp>
        <p:nvSpPr>
          <p:cNvPr id="32" name="Text 30"/>
          <p:cNvSpPr/>
          <p:nvPr/>
        </p:nvSpPr>
        <p:spPr>
          <a:xfrm>
            <a:off x="6501384" y="315696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33" name="Shape 31"/>
          <p:cNvSpPr/>
          <p:nvPr/>
        </p:nvSpPr>
        <p:spPr>
          <a:xfrm>
            <a:off x="7799832" y="3055620"/>
            <a:ext cx="3767328" cy="440436"/>
          </a:xfrm>
          <a:prstGeom prst="rect">
            <a:avLst/>
          </a:prstGeom>
          <a:solidFill>
            <a:srgbClr val="F1F3F2"/>
          </a:solidFill>
          <a:ln w="5715">
            <a:solidFill>
              <a:srgbClr val="E2E6E2"/>
            </a:solidFill>
            <a:prstDash val="solid"/>
          </a:ln>
        </p:spPr>
      </p:sp>
      <p:sp>
        <p:nvSpPr>
          <p:cNvPr id="34" name="Text 32"/>
          <p:cNvSpPr/>
          <p:nvPr/>
        </p:nvSpPr>
        <p:spPr>
          <a:xfrm>
            <a:off x="7891272" y="3101340"/>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capability in every enterprise disclosure tool.</a:t>
            </a:r>
            <a:endParaRPr lang="en-US" sz="800" dirty="0"/>
          </a:p>
        </p:txBody>
      </p:sp>
      <p:sp>
        <p:nvSpPr>
          <p:cNvPr id="35" name="Shape 33"/>
          <p:cNvSpPr/>
          <p:nvPr/>
        </p:nvSpPr>
        <p:spPr>
          <a:xfrm>
            <a:off x="621792" y="3496056"/>
            <a:ext cx="2011680" cy="440436"/>
          </a:xfrm>
          <a:prstGeom prst="rect">
            <a:avLst/>
          </a:prstGeom>
          <a:solidFill>
            <a:srgbClr val="FFFFFF"/>
          </a:solidFill>
          <a:ln w="5715">
            <a:solidFill>
              <a:srgbClr val="E2E6E2"/>
            </a:solidFill>
            <a:prstDash val="solid"/>
          </a:ln>
        </p:spPr>
      </p:sp>
      <p:sp>
        <p:nvSpPr>
          <p:cNvPr id="36" name="Text 34"/>
          <p:cNvSpPr/>
          <p:nvPr/>
        </p:nvSpPr>
        <p:spPr>
          <a:xfrm>
            <a:off x="713232" y="3541776"/>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Data ingestion and transformation</a:t>
            </a:r>
            <a:endParaRPr lang="en-US" sz="900" dirty="0"/>
          </a:p>
        </p:txBody>
      </p:sp>
      <p:sp>
        <p:nvSpPr>
          <p:cNvPr id="37" name="Shape 35"/>
          <p:cNvSpPr/>
          <p:nvPr/>
        </p:nvSpPr>
        <p:spPr>
          <a:xfrm>
            <a:off x="2633472" y="3496056"/>
            <a:ext cx="3794760" cy="440436"/>
          </a:xfrm>
          <a:prstGeom prst="rect">
            <a:avLst/>
          </a:prstGeom>
          <a:solidFill>
            <a:srgbClr val="FFFFFF"/>
          </a:solidFill>
          <a:ln w="5715">
            <a:solidFill>
              <a:srgbClr val="E2E6E2"/>
            </a:solidFill>
            <a:prstDash val="solid"/>
          </a:ln>
        </p:spPr>
      </p:sp>
      <p:sp>
        <p:nvSpPr>
          <p:cNvPr id="38" name="Text 36"/>
          <p:cNvSpPr/>
          <p:nvPr/>
        </p:nvSpPr>
        <p:spPr>
          <a:xfrm>
            <a:off x="2724912" y="3541776"/>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Advanced ingestion and transformation rules on the shared core.</a:t>
            </a:r>
            <a:endParaRPr lang="en-US" sz="800" dirty="0"/>
          </a:p>
        </p:txBody>
      </p:sp>
      <p:sp>
        <p:nvSpPr>
          <p:cNvPr id="39" name="Shape 37"/>
          <p:cNvSpPr/>
          <p:nvPr/>
        </p:nvSpPr>
        <p:spPr>
          <a:xfrm>
            <a:off x="6428232" y="3496056"/>
            <a:ext cx="1371600" cy="440436"/>
          </a:xfrm>
          <a:prstGeom prst="rect">
            <a:avLst/>
          </a:prstGeom>
          <a:solidFill>
            <a:srgbClr val="FFFFFF"/>
          </a:solidFill>
          <a:ln w="5715">
            <a:solidFill>
              <a:srgbClr val="E2E6E2"/>
            </a:solidFill>
            <a:prstDash val="solid"/>
          </a:ln>
        </p:spPr>
      </p:sp>
      <p:sp>
        <p:nvSpPr>
          <p:cNvPr id="40" name="Shape 38"/>
          <p:cNvSpPr/>
          <p:nvPr/>
        </p:nvSpPr>
        <p:spPr>
          <a:xfrm>
            <a:off x="6501384" y="3597402"/>
            <a:ext cx="1225296" cy="237744"/>
          </a:xfrm>
          <a:prstGeom prst="roundRect">
            <a:avLst>
              <a:gd name="adj" fmla="val 46154"/>
            </a:avLst>
          </a:prstGeom>
          <a:solidFill>
            <a:srgbClr val="F1F3F2"/>
          </a:solidFill>
          <a:ln w="6350">
            <a:solidFill>
              <a:srgbClr val="E2E6E2"/>
            </a:solidFill>
            <a:prstDash val="solid"/>
          </a:ln>
        </p:spPr>
      </p:sp>
      <p:sp>
        <p:nvSpPr>
          <p:cNvPr id="41" name="Text 39"/>
          <p:cNvSpPr/>
          <p:nvPr/>
        </p:nvSpPr>
        <p:spPr>
          <a:xfrm>
            <a:off x="6501384" y="359740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42" name="Shape 40"/>
          <p:cNvSpPr/>
          <p:nvPr/>
        </p:nvSpPr>
        <p:spPr>
          <a:xfrm>
            <a:off x="7799832" y="3496056"/>
            <a:ext cx="3767328" cy="440436"/>
          </a:xfrm>
          <a:prstGeom prst="rect">
            <a:avLst/>
          </a:prstGeom>
          <a:solidFill>
            <a:srgbClr val="FFFFFF"/>
          </a:solidFill>
          <a:ln w="5715">
            <a:solidFill>
              <a:srgbClr val="E2E6E2"/>
            </a:solidFill>
            <a:prstDash val="solid"/>
          </a:ln>
        </p:spPr>
      </p:sp>
      <p:sp>
        <p:nvSpPr>
          <p:cNvPr id="43" name="Text 41"/>
          <p:cNvSpPr/>
          <p:nvPr/>
        </p:nvSpPr>
        <p:spPr>
          <a:xfrm>
            <a:off x="7891272" y="3541776"/>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Comparable to the benchmarked field.</a:t>
            </a:r>
            <a:endParaRPr lang="en-US" sz="800" dirty="0"/>
          </a:p>
        </p:txBody>
      </p:sp>
      <p:sp>
        <p:nvSpPr>
          <p:cNvPr id="44" name="Shape 42"/>
          <p:cNvSpPr/>
          <p:nvPr/>
        </p:nvSpPr>
        <p:spPr>
          <a:xfrm>
            <a:off x="621792" y="3936492"/>
            <a:ext cx="2011680" cy="440436"/>
          </a:xfrm>
          <a:prstGeom prst="rect">
            <a:avLst/>
          </a:prstGeom>
          <a:solidFill>
            <a:srgbClr val="F1F3F2"/>
          </a:solidFill>
          <a:ln w="5715">
            <a:solidFill>
              <a:srgbClr val="E2E6E2"/>
            </a:solidFill>
            <a:prstDash val="solid"/>
          </a:ln>
        </p:spPr>
      </p:sp>
      <p:sp>
        <p:nvSpPr>
          <p:cNvPr id="45" name="Text 43"/>
          <p:cNvSpPr/>
          <p:nvPr/>
        </p:nvSpPr>
        <p:spPr>
          <a:xfrm>
            <a:off x="713232" y="3982212"/>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Lineage and audit evidence</a:t>
            </a:r>
            <a:endParaRPr lang="en-US" sz="900" dirty="0"/>
          </a:p>
        </p:txBody>
      </p:sp>
      <p:sp>
        <p:nvSpPr>
          <p:cNvPr id="46" name="Shape 44"/>
          <p:cNvSpPr/>
          <p:nvPr/>
        </p:nvSpPr>
        <p:spPr>
          <a:xfrm>
            <a:off x="2633472" y="3936492"/>
            <a:ext cx="3794760" cy="440436"/>
          </a:xfrm>
          <a:prstGeom prst="rect">
            <a:avLst/>
          </a:prstGeom>
          <a:solidFill>
            <a:srgbClr val="F1F3F2"/>
          </a:solidFill>
          <a:ln w="5715">
            <a:solidFill>
              <a:srgbClr val="E2E6E2"/>
            </a:solidFill>
            <a:prstDash val="solid"/>
          </a:ln>
        </p:spPr>
      </p:sp>
      <p:sp>
        <p:nvSpPr>
          <p:cNvPr id="47" name="Text 45"/>
          <p:cNvSpPr/>
          <p:nvPr/>
        </p:nvSpPr>
        <p:spPr>
          <a:xfrm>
            <a:off x="2724912" y="3982212"/>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Evidence and audit trail inherited from the platform, not rebuilt per report.</a:t>
            </a:r>
            <a:endParaRPr lang="en-US" sz="800" dirty="0"/>
          </a:p>
        </p:txBody>
      </p:sp>
      <p:sp>
        <p:nvSpPr>
          <p:cNvPr id="48" name="Shape 46"/>
          <p:cNvSpPr/>
          <p:nvPr/>
        </p:nvSpPr>
        <p:spPr>
          <a:xfrm>
            <a:off x="6428232" y="3936492"/>
            <a:ext cx="1371600" cy="440436"/>
          </a:xfrm>
          <a:prstGeom prst="rect">
            <a:avLst/>
          </a:prstGeom>
          <a:solidFill>
            <a:srgbClr val="F1F3F2"/>
          </a:solidFill>
          <a:ln w="5715">
            <a:solidFill>
              <a:srgbClr val="E2E6E2"/>
            </a:solidFill>
            <a:prstDash val="solid"/>
          </a:ln>
        </p:spPr>
      </p:sp>
      <p:sp>
        <p:nvSpPr>
          <p:cNvPr id="49" name="Shape 47"/>
          <p:cNvSpPr/>
          <p:nvPr/>
        </p:nvSpPr>
        <p:spPr>
          <a:xfrm>
            <a:off x="6501384" y="4037838"/>
            <a:ext cx="1225296" cy="237744"/>
          </a:xfrm>
          <a:prstGeom prst="roundRect">
            <a:avLst>
              <a:gd name="adj" fmla="val 46154"/>
            </a:avLst>
          </a:prstGeom>
          <a:solidFill>
            <a:srgbClr val="EAF8ED"/>
          </a:solidFill>
          <a:ln w="6350">
            <a:solidFill>
              <a:srgbClr val="3DCD58"/>
            </a:solidFill>
            <a:prstDash val="solid"/>
          </a:ln>
        </p:spPr>
      </p:sp>
      <p:sp>
        <p:nvSpPr>
          <p:cNvPr id="50" name="Text 48"/>
          <p:cNvSpPr/>
          <p:nvPr/>
        </p:nvSpPr>
        <p:spPr>
          <a:xfrm>
            <a:off x="6501384" y="403783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51" name="Shape 49"/>
          <p:cNvSpPr/>
          <p:nvPr/>
        </p:nvSpPr>
        <p:spPr>
          <a:xfrm>
            <a:off x="7799832" y="3936492"/>
            <a:ext cx="3767328" cy="440436"/>
          </a:xfrm>
          <a:prstGeom prst="rect">
            <a:avLst/>
          </a:prstGeom>
          <a:solidFill>
            <a:srgbClr val="F1F3F2"/>
          </a:solidFill>
          <a:ln w="5715">
            <a:solidFill>
              <a:srgbClr val="E2E6E2"/>
            </a:solidFill>
            <a:prstDash val="solid"/>
          </a:ln>
        </p:spPr>
      </p:sp>
      <p:sp>
        <p:nvSpPr>
          <p:cNvPr id="52" name="Text 50"/>
          <p:cNvSpPr/>
          <p:nvPr/>
        </p:nvSpPr>
        <p:spPr>
          <a:xfrm>
            <a:off x="7891272" y="3982212"/>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Verdantix buyers name lineage and auditability as the top selection driver.</a:t>
            </a:r>
            <a:endParaRPr lang="en-US" sz="800" dirty="0"/>
          </a:p>
        </p:txBody>
      </p:sp>
      <p:sp>
        <p:nvSpPr>
          <p:cNvPr id="53" name="Shape 51"/>
          <p:cNvSpPr/>
          <p:nvPr/>
        </p:nvSpPr>
        <p:spPr>
          <a:xfrm>
            <a:off x="621792" y="4376928"/>
            <a:ext cx="2011680" cy="440436"/>
          </a:xfrm>
          <a:prstGeom prst="rect">
            <a:avLst/>
          </a:prstGeom>
          <a:solidFill>
            <a:srgbClr val="FFFFFF"/>
          </a:solidFill>
          <a:ln w="5715">
            <a:solidFill>
              <a:srgbClr val="E2E6E2"/>
            </a:solidFill>
            <a:prstDash val="solid"/>
          </a:ln>
        </p:spPr>
      </p:sp>
      <p:sp>
        <p:nvSpPr>
          <p:cNvPr id="54" name="Text 52"/>
          <p:cNvSpPr/>
          <p:nvPr/>
        </p:nvSpPr>
        <p:spPr>
          <a:xfrm>
            <a:off x="713232" y="4422648"/>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Cross product data reuse</a:t>
            </a:r>
            <a:endParaRPr lang="en-US" sz="900" dirty="0"/>
          </a:p>
        </p:txBody>
      </p:sp>
      <p:sp>
        <p:nvSpPr>
          <p:cNvPr id="55" name="Shape 53"/>
          <p:cNvSpPr/>
          <p:nvPr/>
        </p:nvSpPr>
        <p:spPr>
          <a:xfrm>
            <a:off x="2633472" y="4376928"/>
            <a:ext cx="3794760" cy="440436"/>
          </a:xfrm>
          <a:prstGeom prst="rect">
            <a:avLst/>
          </a:prstGeom>
          <a:solidFill>
            <a:srgbClr val="FFFFFF"/>
          </a:solidFill>
          <a:ln w="5715">
            <a:solidFill>
              <a:srgbClr val="E2E6E2"/>
            </a:solidFill>
            <a:prstDash val="solid"/>
          </a:ln>
        </p:spPr>
      </p:sp>
      <p:sp>
        <p:nvSpPr>
          <p:cNvPr id="56" name="Text 54"/>
          <p:cNvSpPr/>
          <p:nvPr/>
        </p:nvSpPr>
        <p:spPr>
          <a:xfrm>
            <a:off x="2724912" y="4422648"/>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Receives data from every other product to facilitate disclosure.</a:t>
            </a:r>
            <a:endParaRPr lang="en-US" sz="800" dirty="0"/>
          </a:p>
        </p:txBody>
      </p:sp>
      <p:sp>
        <p:nvSpPr>
          <p:cNvPr id="57" name="Shape 55"/>
          <p:cNvSpPr/>
          <p:nvPr/>
        </p:nvSpPr>
        <p:spPr>
          <a:xfrm>
            <a:off x="6428232" y="4376928"/>
            <a:ext cx="1371600" cy="440436"/>
          </a:xfrm>
          <a:prstGeom prst="rect">
            <a:avLst/>
          </a:prstGeom>
          <a:solidFill>
            <a:srgbClr val="FFFFFF"/>
          </a:solidFill>
          <a:ln w="5715">
            <a:solidFill>
              <a:srgbClr val="E2E6E2"/>
            </a:solidFill>
            <a:prstDash val="solid"/>
          </a:ln>
        </p:spPr>
      </p:sp>
      <p:sp>
        <p:nvSpPr>
          <p:cNvPr id="58" name="Shape 56"/>
          <p:cNvSpPr/>
          <p:nvPr/>
        </p:nvSpPr>
        <p:spPr>
          <a:xfrm>
            <a:off x="6501384" y="4478274"/>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7827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76928"/>
            <a:ext cx="3767328" cy="440436"/>
          </a:xfrm>
          <a:prstGeom prst="rect">
            <a:avLst/>
          </a:prstGeom>
          <a:solidFill>
            <a:srgbClr val="FFFFFF"/>
          </a:solidFill>
          <a:ln w="5715">
            <a:solidFill>
              <a:srgbClr val="E2E6E2"/>
            </a:solidFill>
            <a:prstDash val="solid"/>
          </a:ln>
        </p:spPr>
      </p:sp>
      <p:sp>
        <p:nvSpPr>
          <p:cNvPr id="61" name="Text 59"/>
          <p:cNvSpPr/>
          <p:nvPr/>
        </p:nvSpPr>
        <p:spPr>
          <a:xfrm>
            <a:off x="7891272" y="4422648"/>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Point solutions must import from third party tools.</a:t>
            </a:r>
            <a:endParaRPr lang="en-US" sz="800" dirty="0"/>
          </a:p>
        </p:txBody>
      </p:sp>
      <p:sp>
        <p:nvSpPr>
          <p:cNvPr id="62" name="Shape 60"/>
          <p:cNvSpPr/>
          <p:nvPr/>
        </p:nvSpPr>
        <p:spPr>
          <a:xfrm>
            <a:off x="621792" y="4817364"/>
            <a:ext cx="2011680" cy="440436"/>
          </a:xfrm>
          <a:prstGeom prst="rect">
            <a:avLst/>
          </a:prstGeom>
          <a:solidFill>
            <a:srgbClr val="F1F3F2"/>
          </a:solidFill>
          <a:ln w="5715">
            <a:solidFill>
              <a:srgbClr val="E2E6E2"/>
            </a:solidFill>
            <a:prstDash val="solid"/>
          </a:ln>
        </p:spPr>
      </p:sp>
      <p:sp>
        <p:nvSpPr>
          <p:cNvPr id="63" name="Text 61"/>
          <p:cNvSpPr/>
          <p:nvPr/>
        </p:nvSpPr>
        <p:spPr>
          <a:xfrm>
            <a:off x="713232" y="486308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AI assisted disclosure drafting</a:t>
            </a:r>
            <a:endParaRPr lang="en-US" sz="900" dirty="0"/>
          </a:p>
        </p:txBody>
      </p:sp>
      <p:sp>
        <p:nvSpPr>
          <p:cNvPr id="64" name="Shape 62"/>
          <p:cNvSpPr/>
          <p:nvPr/>
        </p:nvSpPr>
        <p:spPr>
          <a:xfrm>
            <a:off x="2633472" y="4817364"/>
            <a:ext cx="3794760" cy="440436"/>
          </a:xfrm>
          <a:prstGeom prst="rect">
            <a:avLst/>
          </a:prstGeom>
          <a:solidFill>
            <a:srgbClr val="F1F3F2"/>
          </a:solidFill>
          <a:ln w="5715">
            <a:solidFill>
              <a:srgbClr val="E2E6E2"/>
            </a:solidFill>
            <a:prstDash val="solid"/>
          </a:ln>
        </p:spPr>
      </p:sp>
      <p:sp>
        <p:nvSpPr>
          <p:cNvPr id="65" name="Text 63"/>
          <p:cNvSpPr/>
          <p:nvPr/>
        </p:nvSpPr>
        <p:spPr>
          <a:xfrm>
            <a:off x="2724912" y="486308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Directional for 2027.</a:t>
            </a:r>
            <a:endParaRPr lang="en-US" sz="800" dirty="0"/>
          </a:p>
        </p:txBody>
      </p:sp>
      <p:sp>
        <p:nvSpPr>
          <p:cNvPr id="66" name="Shape 64"/>
          <p:cNvSpPr/>
          <p:nvPr/>
        </p:nvSpPr>
        <p:spPr>
          <a:xfrm>
            <a:off x="6428232" y="4817364"/>
            <a:ext cx="1371600" cy="440436"/>
          </a:xfrm>
          <a:prstGeom prst="rect">
            <a:avLst/>
          </a:prstGeom>
          <a:solidFill>
            <a:srgbClr val="F1F3F2"/>
          </a:solidFill>
          <a:ln w="5715">
            <a:solidFill>
              <a:srgbClr val="E2E6E2"/>
            </a:solidFill>
            <a:prstDash val="solid"/>
          </a:ln>
        </p:spPr>
      </p:sp>
      <p:sp>
        <p:nvSpPr>
          <p:cNvPr id="67" name="Shape 65"/>
          <p:cNvSpPr/>
          <p:nvPr/>
        </p:nvSpPr>
        <p:spPr>
          <a:xfrm>
            <a:off x="6501384" y="4918710"/>
            <a:ext cx="1225296" cy="237744"/>
          </a:xfrm>
          <a:prstGeom prst="roundRect">
            <a:avLst>
              <a:gd name="adj" fmla="val 46154"/>
            </a:avLst>
          </a:prstGeom>
          <a:solidFill>
            <a:srgbClr val="FFF4E3"/>
          </a:solidFill>
          <a:ln w="6350">
            <a:solidFill>
              <a:srgbClr val="FFB04C"/>
            </a:solidFill>
            <a:prstDash val="solid"/>
          </a:ln>
        </p:spPr>
      </p:sp>
      <p:sp>
        <p:nvSpPr>
          <p:cNvPr id="68" name="Text 66"/>
          <p:cNvSpPr/>
          <p:nvPr/>
        </p:nvSpPr>
        <p:spPr>
          <a:xfrm>
            <a:off x="6501384" y="491871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Behind</a:t>
            </a:r>
            <a:endParaRPr lang="en-US" sz="740" dirty="0"/>
          </a:p>
        </p:txBody>
      </p:sp>
      <p:sp>
        <p:nvSpPr>
          <p:cNvPr id="69" name="Shape 67"/>
          <p:cNvSpPr/>
          <p:nvPr/>
        </p:nvSpPr>
        <p:spPr>
          <a:xfrm>
            <a:off x="7799832" y="4817364"/>
            <a:ext cx="3767328" cy="440436"/>
          </a:xfrm>
          <a:prstGeom prst="rect">
            <a:avLst/>
          </a:prstGeom>
          <a:solidFill>
            <a:srgbClr val="F1F3F2"/>
          </a:solidFill>
          <a:ln w="5715">
            <a:solidFill>
              <a:srgbClr val="E2E6E2"/>
            </a:solidFill>
            <a:prstDash val="solid"/>
          </a:ln>
        </p:spPr>
      </p:sp>
      <p:sp>
        <p:nvSpPr>
          <p:cNvPr id="70" name="Text 68"/>
          <p:cNvSpPr/>
          <p:nvPr/>
        </p:nvSpPr>
        <p:spPr>
          <a:xfrm>
            <a:off x="7891272" y="486308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Already marketed by several rivals.</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We should not fight a framework count race. We win by proving where every number came from and reusing data no rival holds.</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 and Verdantix Green Quadrant Enterprise Carbon Management Software 2026 market framing. Positions are our own assessment, not a vendor certification.</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65760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32841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FEATURE POSITION: CLIMATE RISK</a:t>
            </a:r>
            <a:endParaRPr lang="en-US" sz="950" dirty="0"/>
          </a:p>
        </p:txBody>
      </p:sp>
      <p:sp>
        <p:nvSpPr>
          <p:cNvPr id="6" name="Text 4"/>
          <p:cNvSpPr/>
          <p:nvPr/>
        </p:nvSpPr>
        <p:spPr>
          <a:xfrm>
            <a:off x="621792" y="768096"/>
            <a:ext cx="10948111" cy="914400"/>
          </a:xfrm>
          <a:prstGeom prst="rect">
            <a:avLst/>
          </a:prstGeom>
          <a:noFill/>
          <a:ln/>
        </p:spPr>
        <p:txBody>
          <a:bodyPr wrap="square" lIns="0" tIns="0" rIns="0" bIns="0" rtlCol="0" anchor="t">
            <a:normAutofit/>
          </a:bodyPr>
          <a:lstStyle/>
          <a:p>
            <a:pPr indent="0" marL="0">
              <a:buNone/>
            </a:pPr>
            <a:r>
              <a:rPr lang="en-US" sz="2500" b="1" dirty="0">
                <a:solidFill>
                  <a:srgbClr val="1E2420"/>
                </a:solidFill>
                <a:latin typeface="Calibri" pitchFamily="34" charset="0"/>
                <a:ea typeface="Calibri" pitchFamily="34" charset="-122"/>
                <a:cs typeface="Calibri" pitchFamily="34" charset="-120"/>
              </a:rPr>
              <a:t>Climate Risk: physical risk depth is good, financial value at risk is the differentiator</a:t>
            </a:r>
            <a:endParaRPr lang="en-US" sz="2500" dirty="0"/>
          </a:p>
        </p:txBody>
      </p:sp>
      <p:sp>
        <p:nvSpPr>
          <p:cNvPr id="7" name="Text 5"/>
          <p:cNvSpPr/>
          <p:nvPr/>
        </p:nvSpPr>
        <p:spPr>
          <a:xfrm>
            <a:off x="621792" y="173736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segment where connection to the rest of the platform decides whether the product pays off.</a:t>
            </a:r>
            <a:endParaRPr lang="en-US" sz="1250" dirty="0"/>
          </a:p>
        </p:txBody>
      </p:sp>
      <p:sp>
        <p:nvSpPr>
          <p:cNvPr id="8" name="Shape 6"/>
          <p:cNvSpPr/>
          <p:nvPr/>
        </p:nvSpPr>
        <p:spPr>
          <a:xfrm>
            <a:off x="621792" y="2084832"/>
            <a:ext cx="10948111" cy="0"/>
          </a:xfrm>
          <a:prstGeom prst="line">
            <a:avLst/>
          </a:prstGeom>
          <a:noFill/>
          <a:ln w="9525">
            <a:solidFill>
              <a:srgbClr val="E2E6E2"/>
            </a:solidFill>
            <a:prstDash val="solid"/>
          </a:ln>
        </p:spPr>
      </p:sp>
      <p:sp>
        <p:nvSpPr>
          <p:cNvPr id="9" name="Shape 7"/>
          <p:cNvSpPr/>
          <p:nvPr/>
        </p:nvSpPr>
        <p:spPr>
          <a:xfrm>
            <a:off x="621792" y="2249424"/>
            <a:ext cx="2011680" cy="365760"/>
          </a:xfrm>
          <a:prstGeom prst="rect">
            <a:avLst/>
          </a:prstGeom>
          <a:solidFill>
            <a:srgbClr val="005730"/>
          </a:solidFill>
          <a:ln w="5715">
            <a:solidFill>
              <a:srgbClr val="397257"/>
            </a:solidFill>
            <a:prstDash val="solid"/>
          </a:ln>
        </p:spPr>
      </p:sp>
      <p:sp>
        <p:nvSpPr>
          <p:cNvPr id="10" name="Text 8"/>
          <p:cNvSpPr/>
          <p:nvPr/>
        </p:nvSpPr>
        <p:spPr>
          <a:xfrm>
            <a:off x="713232" y="2249424"/>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249424"/>
            <a:ext cx="3794760" cy="365760"/>
          </a:xfrm>
          <a:prstGeom prst="rect">
            <a:avLst/>
          </a:prstGeom>
          <a:solidFill>
            <a:srgbClr val="005730"/>
          </a:solidFill>
          <a:ln w="5715">
            <a:solidFill>
              <a:srgbClr val="397257"/>
            </a:solidFill>
            <a:prstDash val="solid"/>
          </a:ln>
        </p:spPr>
      </p:sp>
      <p:sp>
        <p:nvSpPr>
          <p:cNvPr id="12" name="Text 10"/>
          <p:cNvSpPr/>
          <p:nvPr/>
        </p:nvSpPr>
        <p:spPr>
          <a:xfrm>
            <a:off x="2724912" y="2249424"/>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249424"/>
            <a:ext cx="1371600" cy="365760"/>
          </a:xfrm>
          <a:prstGeom prst="rect">
            <a:avLst/>
          </a:prstGeom>
          <a:solidFill>
            <a:srgbClr val="005730"/>
          </a:solidFill>
          <a:ln w="5715">
            <a:solidFill>
              <a:srgbClr val="397257"/>
            </a:solidFill>
            <a:prstDash val="solid"/>
          </a:ln>
        </p:spPr>
      </p:sp>
      <p:sp>
        <p:nvSpPr>
          <p:cNvPr id="14" name="Text 12"/>
          <p:cNvSpPr/>
          <p:nvPr/>
        </p:nvSpPr>
        <p:spPr>
          <a:xfrm>
            <a:off x="6519672" y="2249424"/>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POSITION</a:t>
            </a:r>
            <a:endParaRPr lang="en-US" sz="760" dirty="0"/>
          </a:p>
        </p:txBody>
      </p:sp>
      <p:sp>
        <p:nvSpPr>
          <p:cNvPr id="15" name="Shape 13"/>
          <p:cNvSpPr/>
          <p:nvPr/>
        </p:nvSpPr>
        <p:spPr>
          <a:xfrm>
            <a:off x="7799832" y="2249424"/>
            <a:ext cx="3767328" cy="365760"/>
          </a:xfrm>
          <a:prstGeom prst="rect">
            <a:avLst/>
          </a:prstGeom>
          <a:solidFill>
            <a:srgbClr val="005730"/>
          </a:solidFill>
          <a:ln w="5715">
            <a:solidFill>
              <a:srgbClr val="397257"/>
            </a:solidFill>
            <a:prstDash val="solid"/>
          </a:ln>
        </p:spPr>
      </p:sp>
      <p:sp>
        <p:nvSpPr>
          <p:cNvPr id="16" name="Text 14"/>
          <p:cNvSpPr/>
          <p:nvPr/>
        </p:nvSpPr>
        <p:spPr>
          <a:xfrm>
            <a:off x="7891272" y="2249424"/>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615184"/>
            <a:ext cx="2011680" cy="440436"/>
          </a:xfrm>
          <a:prstGeom prst="rect">
            <a:avLst/>
          </a:prstGeom>
          <a:solidFill>
            <a:srgbClr val="FFFFFF"/>
          </a:solidFill>
          <a:ln w="5715">
            <a:solidFill>
              <a:srgbClr val="E2E6E2"/>
            </a:solidFill>
            <a:prstDash val="solid"/>
          </a:ln>
        </p:spPr>
      </p:sp>
      <p:sp>
        <p:nvSpPr>
          <p:cNvPr id="18" name="Text 16"/>
          <p:cNvSpPr/>
          <p:nvPr/>
        </p:nvSpPr>
        <p:spPr>
          <a:xfrm>
            <a:off x="713232" y="266090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Asset and hazard coverage</a:t>
            </a:r>
            <a:endParaRPr lang="en-US" sz="900" dirty="0"/>
          </a:p>
        </p:txBody>
      </p:sp>
      <p:sp>
        <p:nvSpPr>
          <p:cNvPr id="19" name="Shape 17"/>
          <p:cNvSpPr/>
          <p:nvPr/>
        </p:nvSpPr>
        <p:spPr>
          <a:xfrm>
            <a:off x="2633472" y="2615184"/>
            <a:ext cx="3794760" cy="440436"/>
          </a:xfrm>
          <a:prstGeom prst="rect">
            <a:avLst/>
          </a:prstGeom>
          <a:solidFill>
            <a:srgbClr val="FFFFFF"/>
          </a:solidFill>
          <a:ln w="5715">
            <a:solidFill>
              <a:srgbClr val="E2E6E2"/>
            </a:solidFill>
            <a:prstDash val="solid"/>
          </a:ln>
        </p:spPr>
      </p:sp>
      <p:sp>
        <p:nvSpPr>
          <p:cNvPr id="20" name="Text 18"/>
          <p:cNvSpPr/>
          <p:nvPr/>
        </p:nvSpPr>
        <p:spPr>
          <a:xfrm>
            <a:off x="2724912" y="266090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Eclr becoming a full self serve product with scalable performance.</a:t>
            </a:r>
            <a:endParaRPr lang="en-US" sz="800" dirty="0"/>
          </a:p>
        </p:txBody>
      </p:sp>
      <p:sp>
        <p:nvSpPr>
          <p:cNvPr id="21" name="Shape 19"/>
          <p:cNvSpPr/>
          <p:nvPr/>
        </p:nvSpPr>
        <p:spPr>
          <a:xfrm>
            <a:off x="6428232" y="2615184"/>
            <a:ext cx="1371600" cy="440436"/>
          </a:xfrm>
          <a:prstGeom prst="rect">
            <a:avLst/>
          </a:prstGeom>
          <a:solidFill>
            <a:srgbClr val="FFFFFF"/>
          </a:solidFill>
          <a:ln w="5715">
            <a:solidFill>
              <a:srgbClr val="E2E6E2"/>
            </a:solidFill>
            <a:prstDash val="solid"/>
          </a:ln>
        </p:spPr>
      </p:sp>
      <p:sp>
        <p:nvSpPr>
          <p:cNvPr id="22" name="Shape 20"/>
          <p:cNvSpPr/>
          <p:nvPr/>
        </p:nvSpPr>
        <p:spPr>
          <a:xfrm>
            <a:off x="6501384" y="2716530"/>
            <a:ext cx="1225296" cy="237744"/>
          </a:xfrm>
          <a:prstGeom prst="roundRect">
            <a:avLst>
              <a:gd name="adj" fmla="val 46154"/>
            </a:avLst>
          </a:prstGeom>
          <a:solidFill>
            <a:srgbClr val="F1F3F2"/>
          </a:solidFill>
          <a:ln w="6350">
            <a:solidFill>
              <a:srgbClr val="E2E6E2"/>
            </a:solidFill>
            <a:prstDash val="solid"/>
          </a:ln>
        </p:spPr>
      </p:sp>
      <p:sp>
        <p:nvSpPr>
          <p:cNvPr id="23" name="Text 21"/>
          <p:cNvSpPr/>
          <p:nvPr/>
        </p:nvSpPr>
        <p:spPr>
          <a:xfrm>
            <a:off x="6501384" y="271653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24" name="Shape 22"/>
          <p:cNvSpPr/>
          <p:nvPr/>
        </p:nvSpPr>
        <p:spPr>
          <a:xfrm>
            <a:off x="7799832" y="2615184"/>
            <a:ext cx="3767328" cy="440436"/>
          </a:xfrm>
          <a:prstGeom prst="rect">
            <a:avLst/>
          </a:prstGeom>
          <a:solidFill>
            <a:srgbClr val="FFFFFF"/>
          </a:solidFill>
          <a:ln w="5715">
            <a:solidFill>
              <a:srgbClr val="E2E6E2"/>
            </a:solidFill>
            <a:prstDash val="solid"/>
          </a:ln>
        </p:spPr>
      </p:sp>
      <p:sp>
        <p:nvSpPr>
          <p:cNvPr id="25" name="Text 23"/>
          <p:cNvSpPr/>
          <p:nvPr/>
        </p:nvSpPr>
        <p:spPr>
          <a:xfrm>
            <a:off x="7891272" y="266090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Specialist providers and data partnerships cover hazards broadly.</a:t>
            </a:r>
            <a:endParaRPr lang="en-US" sz="800" dirty="0"/>
          </a:p>
        </p:txBody>
      </p:sp>
      <p:sp>
        <p:nvSpPr>
          <p:cNvPr id="26" name="Shape 24"/>
          <p:cNvSpPr/>
          <p:nvPr/>
        </p:nvSpPr>
        <p:spPr>
          <a:xfrm>
            <a:off x="621792" y="3055620"/>
            <a:ext cx="2011680" cy="440436"/>
          </a:xfrm>
          <a:prstGeom prst="rect">
            <a:avLst/>
          </a:prstGeom>
          <a:solidFill>
            <a:srgbClr val="F1F3F2"/>
          </a:solidFill>
          <a:ln w="5715">
            <a:solidFill>
              <a:srgbClr val="E2E6E2"/>
            </a:solidFill>
            <a:prstDash val="solid"/>
          </a:ln>
        </p:spPr>
      </p:sp>
      <p:sp>
        <p:nvSpPr>
          <p:cNvPr id="27" name="Text 25"/>
          <p:cNvSpPr/>
          <p:nvPr/>
        </p:nvSpPr>
        <p:spPr>
          <a:xfrm>
            <a:off x="713232" y="3101340"/>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Value at risk in financial terms</a:t>
            </a:r>
            <a:endParaRPr lang="en-US" sz="900" dirty="0"/>
          </a:p>
        </p:txBody>
      </p:sp>
      <p:sp>
        <p:nvSpPr>
          <p:cNvPr id="28" name="Shape 26"/>
          <p:cNvSpPr/>
          <p:nvPr/>
        </p:nvSpPr>
        <p:spPr>
          <a:xfrm>
            <a:off x="2633472" y="3055620"/>
            <a:ext cx="3794760" cy="440436"/>
          </a:xfrm>
          <a:prstGeom prst="rect">
            <a:avLst/>
          </a:prstGeom>
          <a:solidFill>
            <a:srgbClr val="F1F3F2"/>
          </a:solidFill>
          <a:ln w="5715">
            <a:solidFill>
              <a:srgbClr val="E2E6E2"/>
            </a:solidFill>
            <a:prstDash val="solid"/>
          </a:ln>
        </p:spPr>
      </p:sp>
      <p:sp>
        <p:nvSpPr>
          <p:cNvPr id="29" name="Text 27"/>
          <p:cNvSpPr/>
          <p:nvPr/>
        </p:nvSpPr>
        <p:spPr>
          <a:xfrm>
            <a:off x="2724912" y="3101340"/>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ClimVar, value at risk expressed in financial terms, in 2027 H1.</a:t>
            </a:r>
            <a:endParaRPr lang="en-US" sz="800" dirty="0"/>
          </a:p>
        </p:txBody>
      </p:sp>
      <p:sp>
        <p:nvSpPr>
          <p:cNvPr id="30" name="Shape 28"/>
          <p:cNvSpPr/>
          <p:nvPr/>
        </p:nvSpPr>
        <p:spPr>
          <a:xfrm>
            <a:off x="6428232" y="3055620"/>
            <a:ext cx="1371600" cy="440436"/>
          </a:xfrm>
          <a:prstGeom prst="rect">
            <a:avLst/>
          </a:prstGeom>
          <a:solidFill>
            <a:srgbClr val="F1F3F2"/>
          </a:solidFill>
          <a:ln w="5715">
            <a:solidFill>
              <a:srgbClr val="E2E6E2"/>
            </a:solidFill>
            <a:prstDash val="solid"/>
          </a:ln>
        </p:spPr>
      </p:sp>
      <p:sp>
        <p:nvSpPr>
          <p:cNvPr id="31" name="Shape 29"/>
          <p:cNvSpPr/>
          <p:nvPr/>
        </p:nvSpPr>
        <p:spPr>
          <a:xfrm>
            <a:off x="6501384" y="3156966"/>
            <a:ext cx="1225296" cy="237744"/>
          </a:xfrm>
          <a:prstGeom prst="roundRect">
            <a:avLst>
              <a:gd name="adj" fmla="val 46154"/>
            </a:avLst>
          </a:prstGeom>
          <a:solidFill>
            <a:srgbClr val="EAF8ED"/>
          </a:solidFill>
          <a:ln w="6350">
            <a:solidFill>
              <a:srgbClr val="3DCD58"/>
            </a:solidFill>
            <a:prstDash val="solid"/>
          </a:ln>
        </p:spPr>
      </p:sp>
      <p:sp>
        <p:nvSpPr>
          <p:cNvPr id="32" name="Text 30"/>
          <p:cNvSpPr/>
          <p:nvPr/>
        </p:nvSpPr>
        <p:spPr>
          <a:xfrm>
            <a:off x="6501384" y="315696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33" name="Shape 31"/>
          <p:cNvSpPr/>
          <p:nvPr/>
        </p:nvSpPr>
        <p:spPr>
          <a:xfrm>
            <a:off x="7799832" y="3055620"/>
            <a:ext cx="3767328" cy="440436"/>
          </a:xfrm>
          <a:prstGeom prst="rect">
            <a:avLst/>
          </a:prstGeom>
          <a:solidFill>
            <a:srgbClr val="F1F3F2"/>
          </a:solidFill>
          <a:ln w="5715">
            <a:solidFill>
              <a:srgbClr val="E2E6E2"/>
            </a:solidFill>
            <a:prstDash val="solid"/>
          </a:ln>
        </p:spPr>
      </p:sp>
      <p:sp>
        <p:nvSpPr>
          <p:cNvPr id="34" name="Text 32"/>
          <p:cNvSpPr/>
          <p:nvPr/>
        </p:nvSpPr>
        <p:spPr>
          <a:xfrm>
            <a:off x="7891272" y="3101340"/>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Most rivals stop at hazard scores rather than a priced exposure.</a:t>
            </a:r>
            <a:endParaRPr lang="en-US" sz="800" dirty="0"/>
          </a:p>
        </p:txBody>
      </p:sp>
      <p:sp>
        <p:nvSpPr>
          <p:cNvPr id="35" name="Shape 33"/>
          <p:cNvSpPr/>
          <p:nvPr/>
        </p:nvSpPr>
        <p:spPr>
          <a:xfrm>
            <a:off x="621792" y="3496056"/>
            <a:ext cx="2011680" cy="440436"/>
          </a:xfrm>
          <a:prstGeom prst="rect">
            <a:avLst/>
          </a:prstGeom>
          <a:solidFill>
            <a:srgbClr val="FFFFFF"/>
          </a:solidFill>
          <a:ln w="5715">
            <a:solidFill>
              <a:srgbClr val="E2E6E2"/>
            </a:solidFill>
            <a:prstDash val="solid"/>
          </a:ln>
        </p:spPr>
      </p:sp>
      <p:sp>
        <p:nvSpPr>
          <p:cNvPr id="36" name="Text 34"/>
          <p:cNvSpPr/>
          <p:nvPr/>
        </p:nvSpPr>
        <p:spPr>
          <a:xfrm>
            <a:off x="713232" y="3541776"/>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Scenario analysis</a:t>
            </a:r>
            <a:endParaRPr lang="en-US" sz="900" dirty="0"/>
          </a:p>
        </p:txBody>
      </p:sp>
      <p:sp>
        <p:nvSpPr>
          <p:cNvPr id="37" name="Shape 35"/>
          <p:cNvSpPr/>
          <p:nvPr/>
        </p:nvSpPr>
        <p:spPr>
          <a:xfrm>
            <a:off x="2633472" y="3496056"/>
            <a:ext cx="3794760" cy="440436"/>
          </a:xfrm>
          <a:prstGeom prst="rect">
            <a:avLst/>
          </a:prstGeom>
          <a:solidFill>
            <a:srgbClr val="FFFFFF"/>
          </a:solidFill>
          <a:ln w="5715">
            <a:solidFill>
              <a:srgbClr val="E2E6E2"/>
            </a:solidFill>
            <a:prstDash val="solid"/>
          </a:ln>
        </p:spPr>
      </p:sp>
      <p:sp>
        <p:nvSpPr>
          <p:cNvPr id="38" name="Text 36"/>
          <p:cNvSpPr/>
          <p:nvPr/>
        </p:nvSpPr>
        <p:spPr>
          <a:xfrm>
            <a:off x="2724912" y="3541776"/>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Scenario analysis and adaptation actions on the shared action model.</a:t>
            </a:r>
            <a:endParaRPr lang="en-US" sz="800" dirty="0"/>
          </a:p>
        </p:txBody>
      </p:sp>
      <p:sp>
        <p:nvSpPr>
          <p:cNvPr id="39" name="Shape 37"/>
          <p:cNvSpPr/>
          <p:nvPr/>
        </p:nvSpPr>
        <p:spPr>
          <a:xfrm>
            <a:off x="6428232" y="3496056"/>
            <a:ext cx="1371600" cy="440436"/>
          </a:xfrm>
          <a:prstGeom prst="rect">
            <a:avLst/>
          </a:prstGeom>
          <a:solidFill>
            <a:srgbClr val="FFFFFF"/>
          </a:solidFill>
          <a:ln w="5715">
            <a:solidFill>
              <a:srgbClr val="E2E6E2"/>
            </a:solidFill>
            <a:prstDash val="solid"/>
          </a:ln>
        </p:spPr>
      </p:sp>
      <p:sp>
        <p:nvSpPr>
          <p:cNvPr id="40" name="Shape 38"/>
          <p:cNvSpPr/>
          <p:nvPr/>
        </p:nvSpPr>
        <p:spPr>
          <a:xfrm>
            <a:off x="6501384" y="3597402"/>
            <a:ext cx="1225296" cy="237744"/>
          </a:xfrm>
          <a:prstGeom prst="roundRect">
            <a:avLst>
              <a:gd name="adj" fmla="val 46154"/>
            </a:avLst>
          </a:prstGeom>
          <a:solidFill>
            <a:srgbClr val="F1F3F2"/>
          </a:solidFill>
          <a:ln w="6350">
            <a:solidFill>
              <a:srgbClr val="E2E6E2"/>
            </a:solidFill>
            <a:prstDash val="solid"/>
          </a:ln>
        </p:spPr>
      </p:sp>
      <p:sp>
        <p:nvSpPr>
          <p:cNvPr id="41" name="Text 39"/>
          <p:cNvSpPr/>
          <p:nvPr/>
        </p:nvSpPr>
        <p:spPr>
          <a:xfrm>
            <a:off x="6501384" y="359740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42" name="Shape 40"/>
          <p:cNvSpPr/>
          <p:nvPr/>
        </p:nvSpPr>
        <p:spPr>
          <a:xfrm>
            <a:off x="7799832" y="3496056"/>
            <a:ext cx="3767328" cy="440436"/>
          </a:xfrm>
          <a:prstGeom prst="rect">
            <a:avLst/>
          </a:prstGeom>
          <a:solidFill>
            <a:srgbClr val="FFFFFF"/>
          </a:solidFill>
          <a:ln w="5715">
            <a:solidFill>
              <a:srgbClr val="E2E6E2"/>
            </a:solidFill>
            <a:prstDash val="solid"/>
          </a:ln>
        </p:spPr>
      </p:sp>
      <p:sp>
        <p:nvSpPr>
          <p:cNvPr id="43" name="Text 41"/>
          <p:cNvSpPr/>
          <p:nvPr/>
        </p:nvSpPr>
        <p:spPr>
          <a:xfrm>
            <a:off x="7891272" y="3541776"/>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Standard in the benchmarked field.</a:t>
            </a:r>
            <a:endParaRPr lang="en-US" sz="800" dirty="0"/>
          </a:p>
        </p:txBody>
      </p:sp>
      <p:sp>
        <p:nvSpPr>
          <p:cNvPr id="44" name="Shape 42"/>
          <p:cNvSpPr/>
          <p:nvPr/>
        </p:nvSpPr>
        <p:spPr>
          <a:xfrm>
            <a:off x="621792" y="3936492"/>
            <a:ext cx="2011680" cy="440436"/>
          </a:xfrm>
          <a:prstGeom prst="rect">
            <a:avLst/>
          </a:prstGeom>
          <a:solidFill>
            <a:srgbClr val="F1F3F2"/>
          </a:solidFill>
          <a:ln w="5715">
            <a:solidFill>
              <a:srgbClr val="E2E6E2"/>
            </a:solidFill>
            <a:prstDash val="solid"/>
          </a:ln>
        </p:spPr>
      </p:sp>
      <p:sp>
        <p:nvSpPr>
          <p:cNvPr id="45" name="Text 43"/>
          <p:cNvSpPr/>
          <p:nvPr/>
        </p:nvSpPr>
        <p:spPr>
          <a:xfrm>
            <a:off x="713232" y="3982212"/>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Adaptation planning</a:t>
            </a:r>
            <a:endParaRPr lang="en-US" sz="900" dirty="0"/>
          </a:p>
        </p:txBody>
      </p:sp>
      <p:sp>
        <p:nvSpPr>
          <p:cNvPr id="46" name="Shape 44"/>
          <p:cNvSpPr/>
          <p:nvPr/>
        </p:nvSpPr>
        <p:spPr>
          <a:xfrm>
            <a:off x="2633472" y="3936492"/>
            <a:ext cx="3794760" cy="440436"/>
          </a:xfrm>
          <a:prstGeom prst="rect">
            <a:avLst/>
          </a:prstGeom>
          <a:solidFill>
            <a:srgbClr val="F1F3F2"/>
          </a:solidFill>
          <a:ln w="5715">
            <a:solidFill>
              <a:srgbClr val="E2E6E2"/>
            </a:solidFill>
            <a:prstDash val="solid"/>
          </a:ln>
        </p:spPr>
      </p:sp>
      <p:sp>
        <p:nvSpPr>
          <p:cNvPr id="47" name="Text 45"/>
          <p:cNvSpPr/>
          <p:nvPr/>
        </p:nvSpPr>
        <p:spPr>
          <a:xfrm>
            <a:off x="2724912" y="3982212"/>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One action model shared with decarbonisation planning.</a:t>
            </a:r>
            <a:endParaRPr lang="en-US" sz="800" dirty="0"/>
          </a:p>
        </p:txBody>
      </p:sp>
      <p:sp>
        <p:nvSpPr>
          <p:cNvPr id="48" name="Shape 46"/>
          <p:cNvSpPr/>
          <p:nvPr/>
        </p:nvSpPr>
        <p:spPr>
          <a:xfrm>
            <a:off x="6428232" y="3936492"/>
            <a:ext cx="1371600" cy="440436"/>
          </a:xfrm>
          <a:prstGeom prst="rect">
            <a:avLst/>
          </a:prstGeom>
          <a:solidFill>
            <a:srgbClr val="F1F3F2"/>
          </a:solidFill>
          <a:ln w="5715">
            <a:solidFill>
              <a:srgbClr val="E2E6E2"/>
            </a:solidFill>
            <a:prstDash val="solid"/>
          </a:ln>
        </p:spPr>
      </p:sp>
      <p:sp>
        <p:nvSpPr>
          <p:cNvPr id="49" name="Shape 47"/>
          <p:cNvSpPr/>
          <p:nvPr/>
        </p:nvSpPr>
        <p:spPr>
          <a:xfrm>
            <a:off x="6501384" y="4037838"/>
            <a:ext cx="1225296" cy="237744"/>
          </a:xfrm>
          <a:prstGeom prst="roundRect">
            <a:avLst>
              <a:gd name="adj" fmla="val 46154"/>
            </a:avLst>
          </a:prstGeom>
          <a:solidFill>
            <a:srgbClr val="EAF8ED"/>
          </a:solidFill>
          <a:ln w="6350">
            <a:solidFill>
              <a:srgbClr val="3DCD58"/>
            </a:solidFill>
            <a:prstDash val="solid"/>
          </a:ln>
        </p:spPr>
      </p:sp>
      <p:sp>
        <p:nvSpPr>
          <p:cNvPr id="50" name="Text 48"/>
          <p:cNvSpPr/>
          <p:nvPr/>
        </p:nvSpPr>
        <p:spPr>
          <a:xfrm>
            <a:off x="6501384" y="403783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51" name="Shape 49"/>
          <p:cNvSpPr/>
          <p:nvPr/>
        </p:nvSpPr>
        <p:spPr>
          <a:xfrm>
            <a:off x="7799832" y="3936492"/>
            <a:ext cx="3767328" cy="440436"/>
          </a:xfrm>
          <a:prstGeom prst="rect">
            <a:avLst/>
          </a:prstGeom>
          <a:solidFill>
            <a:srgbClr val="F1F3F2"/>
          </a:solidFill>
          <a:ln w="5715">
            <a:solidFill>
              <a:srgbClr val="E2E6E2"/>
            </a:solidFill>
            <a:prstDash val="solid"/>
          </a:ln>
        </p:spPr>
      </p:sp>
      <p:sp>
        <p:nvSpPr>
          <p:cNvPr id="52" name="Text 50"/>
          <p:cNvSpPr/>
          <p:nvPr/>
        </p:nvSpPr>
        <p:spPr>
          <a:xfrm>
            <a:off x="7891272" y="3982212"/>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Rivals separate mitigation and adaptation into different tools.</a:t>
            </a:r>
            <a:endParaRPr lang="en-US" sz="800" dirty="0"/>
          </a:p>
        </p:txBody>
      </p:sp>
      <p:sp>
        <p:nvSpPr>
          <p:cNvPr id="53" name="Shape 51"/>
          <p:cNvSpPr/>
          <p:nvPr/>
        </p:nvSpPr>
        <p:spPr>
          <a:xfrm>
            <a:off x="621792" y="4376928"/>
            <a:ext cx="2011680" cy="440436"/>
          </a:xfrm>
          <a:prstGeom prst="rect">
            <a:avLst/>
          </a:prstGeom>
          <a:solidFill>
            <a:srgbClr val="FFFFFF"/>
          </a:solidFill>
          <a:ln w="5715">
            <a:solidFill>
              <a:srgbClr val="E2E6E2"/>
            </a:solidFill>
            <a:prstDash val="solid"/>
          </a:ln>
        </p:spPr>
      </p:sp>
      <p:sp>
        <p:nvSpPr>
          <p:cNvPr id="54" name="Text 52"/>
          <p:cNvSpPr/>
          <p:nvPr/>
        </p:nvSpPr>
        <p:spPr>
          <a:xfrm>
            <a:off x="713232" y="4422648"/>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Risk into disclosure</a:t>
            </a:r>
            <a:endParaRPr lang="en-US" sz="900" dirty="0"/>
          </a:p>
        </p:txBody>
      </p:sp>
      <p:sp>
        <p:nvSpPr>
          <p:cNvPr id="55" name="Shape 53"/>
          <p:cNvSpPr/>
          <p:nvPr/>
        </p:nvSpPr>
        <p:spPr>
          <a:xfrm>
            <a:off x="2633472" y="4376928"/>
            <a:ext cx="3794760" cy="440436"/>
          </a:xfrm>
          <a:prstGeom prst="rect">
            <a:avLst/>
          </a:prstGeom>
          <a:solidFill>
            <a:srgbClr val="FFFFFF"/>
          </a:solidFill>
          <a:ln w="5715">
            <a:solidFill>
              <a:srgbClr val="E2E6E2"/>
            </a:solidFill>
            <a:prstDash val="solid"/>
          </a:ln>
        </p:spPr>
      </p:sp>
      <p:sp>
        <p:nvSpPr>
          <p:cNvPr id="56" name="Text 54"/>
          <p:cNvSpPr/>
          <p:nvPr/>
        </p:nvSpPr>
        <p:spPr>
          <a:xfrm>
            <a:off x="2724912" y="4422648"/>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Risk data flows into disclosures and is turned into financial values.</a:t>
            </a:r>
            <a:endParaRPr lang="en-US" sz="800" dirty="0"/>
          </a:p>
        </p:txBody>
      </p:sp>
      <p:sp>
        <p:nvSpPr>
          <p:cNvPr id="57" name="Shape 55"/>
          <p:cNvSpPr/>
          <p:nvPr/>
        </p:nvSpPr>
        <p:spPr>
          <a:xfrm>
            <a:off x="6428232" y="4376928"/>
            <a:ext cx="1371600" cy="440436"/>
          </a:xfrm>
          <a:prstGeom prst="rect">
            <a:avLst/>
          </a:prstGeom>
          <a:solidFill>
            <a:srgbClr val="FFFFFF"/>
          </a:solidFill>
          <a:ln w="5715">
            <a:solidFill>
              <a:srgbClr val="E2E6E2"/>
            </a:solidFill>
            <a:prstDash val="solid"/>
          </a:ln>
        </p:spPr>
      </p:sp>
      <p:sp>
        <p:nvSpPr>
          <p:cNvPr id="58" name="Shape 56"/>
          <p:cNvSpPr/>
          <p:nvPr/>
        </p:nvSpPr>
        <p:spPr>
          <a:xfrm>
            <a:off x="6501384" y="4478274"/>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7827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76928"/>
            <a:ext cx="3767328" cy="440436"/>
          </a:xfrm>
          <a:prstGeom prst="rect">
            <a:avLst/>
          </a:prstGeom>
          <a:solidFill>
            <a:srgbClr val="FFFFFF"/>
          </a:solidFill>
          <a:ln w="5715">
            <a:solidFill>
              <a:srgbClr val="E2E6E2"/>
            </a:solidFill>
            <a:prstDash val="solid"/>
          </a:ln>
        </p:spPr>
      </p:sp>
      <p:sp>
        <p:nvSpPr>
          <p:cNvPr id="61" name="Text 59"/>
          <p:cNvSpPr/>
          <p:nvPr/>
        </p:nvSpPr>
        <p:spPr>
          <a:xfrm>
            <a:off x="7891272" y="4422648"/>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Usually a manual handoff between vendors.</a:t>
            </a:r>
            <a:endParaRPr lang="en-US" sz="800" dirty="0"/>
          </a:p>
        </p:txBody>
      </p:sp>
      <p:sp>
        <p:nvSpPr>
          <p:cNvPr id="62" name="Shape 60"/>
          <p:cNvSpPr/>
          <p:nvPr/>
        </p:nvSpPr>
        <p:spPr>
          <a:xfrm>
            <a:off x="621792" y="4817364"/>
            <a:ext cx="2011680" cy="440436"/>
          </a:xfrm>
          <a:prstGeom prst="rect">
            <a:avLst/>
          </a:prstGeom>
          <a:solidFill>
            <a:srgbClr val="F1F3F2"/>
          </a:solidFill>
          <a:ln w="5715">
            <a:solidFill>
              <a:srgbClr val="E2E6E2"/>
            </a:solidFill>
            <a:prstDash val="solid"/>
          </a:ln>
        </p:spPr>
      </p:sp>
      <p:sp>
        <p:nvSpPr>
          <p:cNvPr id="63" name="Text 61"/>
          <p:cNvSpPr/>
          <p:nvPr/>
        </p:nvSpPr>
        <p:spPr>
          <a:xfrm>
            <a:off x="713232" y="486308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Beyond owned assets</a:t>
            </a:r>
            <a:endParaRPr lang="en-US" sz="900" dirty="0"/>
          </a:p>
        </p:txBody>
      </p:sp>
      <p:sp>
        <p:nvSpPr>
          <p:cNvPr id="64" name="Shape 62"/>
          <p:cNvSpPr/>
          <p:nvPr/>
        </p:nvSpPr>
        <p:spPr>
          <a:xfrm>
            <a:off x="2633472" y="4817364"/>
            <a:ext cx="3794760" cy="440436"/>
          </a:xfrm>
          <a:prstGeom prst="rect">
            <a:avLst/>
          </a:prstGeom>
          <a:solidFill>
            <a:srgbClr val="F1F3F2"/>
          </a:solidFill>
          <a:ln w="5715">
            <a:solidFill>
              <a:srgbClr val="E2E6E2"/>
            </a:solidFill>
            <a:prstDash val="solid"/>
          </a:ln>
        </p:spPr>
      </p:sp>
      <p:sp>
        <p:nvSpPr>
          <p:cNvPr id="65" name="Text 63"/>
          <p:cNvSpPr/>
          <p:nvPr/>
        </p:nvSpPr>
        <p:spPr>
          <a:xfrm>
            <a:off x="2724912" y="486308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Extend climate risk to suppliers and the value chain: a whitespace opportunity in 2027.</a:t>
            </a:r>
            <a:endParaRPr lang="en-US" sz="800" dirty="0"/>
          </a:p>
        </p:txBody>
      </p:sp>
      <p:sp>
        <p:nvSpPr>
          <p:cNvPr id="66" name="Shape 64"/>
          <p:cNvSpPr/>
          <p:nvPr/>
        </p:nvSpPr>
        <p:spPr>
          <a:xfrm>
            <a:off x="6428232" y="4817364"/>
            <a:ext cx="1371600" cy="440436"/>
          </a:xfrm>
          <a:prstGeom prst="rect">
            <a:avLst/>
          </a:prstGeom>
          <a:solidFill>
            <a:srgbClr val="F1F3F2"/>
          </a:solidFill>
          <a:ln w="5715">
            <a:solidFill>
              <a:srgbClr val="E2E6E2"/>
            </a:solidFill>
            <a:prstDash val="solid"/>
          </a:ln>
        </p:spPr>
      </p:sp>
      <p:sp>
        <p:nvSpPr>
          <p:cNvPr id="67" name="Shape 65"/>
          <p:cNvSpPr/>
          <p:nvPr/>
        </p:nvSpPr>
        <p:spPr>
          <a:xfrm>
            <a:off x="6501384" y="4918710"/>
            <a:ext cx="1225296" cy="237744"/>
          </a:xfrm>
          <a:prstGeom prst="roundRect">
            <a:avLst>
              <a:gd name="adj" fmla="val 46154"/>
            </a:avLst>
          </a:prstGeom>
          <a:solidFill>
            <a:srgbClr val="EAF8ED"/>
          </a:solidFill>
          <a:ln w="6350">
            <a:solidFill>
              <a:srgbClr val="3DCD58"/>
            </a:solidFill>
            <a:prstDash val="solid"/>
          </a:ln>
        </p:spPr>
      </p:sp>
      <p:sp>
        <p:nvSpPr>
          <p:cNvPr id="68" name="Text 66"/>
          <p:cNvSpPr/>
          <p:nvPr/>
        </p:nvSpPr>
        <p:spPr>
          <a:xfrm>
            <a:off x="6501384" y="491871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9" name="Shape 67"/>
          <p:cNvSpPr/>
          <p:nvPr/>
        </p:nvSpPr>
        <p:spPr>
          <a:xfrm>
            <a:off x="7799832" y="4817364"/>
            <a:ext cx="3767328" cy="440436"/>
          </a:xfrm>
          <a:prstGeom prst="rect">
            <a:avLst/>
          </a:prstGeom>
          <a:solidFill>
            <a:srgbClr val="F1F3F2"/>
          </a:solidFill>
          <a:ln w="5715">
            <a:solidFill>
              <a:srgbClr val="E2E6E2"/>
            </a:solidFill>
            <a:prstDash val="solid"/>
          </a:ln>
        </p:spPr>
      </p:sp>
      <p:sp>
        <p:nvSpPr>
          <p:cNvPr id="70" name="Text 68"/>
          <p:cNvSpPr/>
          <p:nvPr/>
        </p:nvSpPr>
        <p:spPr>
          <a:xfrm>
            <a:off x="7891272" y="486308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Supply chain risk tools exist, but none combine supplier exposure with climate risk and financial value at risk.</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Priced risk connected to disclosure is our wedge. Hazard data alone is a commodity we should buy, not build.</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 and Verdantix Green Quadrant Enterprise Carbon Management Software 2026 market framing. Positions are our own assessment, not a vendor certification.</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23697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90779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FEATURE POSITION: STRATEGY</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Strategy: the plan to execution gap is where we can lead outright</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Few vendors connect targets, initiatives and realised performance in one governed loop.</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011680" cy="365760"/>
          </a:xfrm>
          <a:prstGeom prst="rect">
            <a:avLst/>
          </a:prstGeom>
          <a:solidFill>
            <a:srgbClr val="005730"/>
          </a:solidFill>
          <a:ln w="5715">
            <a:solidFill>
              <a:srgbClr val="397257"/>
            </a:solidFill>
            <a:prstDash val="solid"/>
          </a:ln>
        </p:spPr>
      </p:sp>
      <p:sp>
        <p:nvSpPr>
          <p:cNvPr id="10" name="Text 8"/>
          <p:cNvSpPr/>
          <p:nvPr/>
        </p:nvSpPr>
        <p:spPr>
          <a:xfrm>
            <a:off x="713232" y="2084832"/>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084832"/>
            <a:ext cx="3794760" cy="365760"/>
          </a:xfrm>
          <a:prstGeom prst="rect">
            <a:avLst/>
          </a:prstGeom>
          <a:solidFill>
            <a:srgbClr val="005730"/>
          </a:solidFill>
          <a:ln w="5715">
            <a:solidFill>
              <a:srgbClr val="397257"/>
            </a:solidFill>
            <a:prstDash val="solid"/>
          </a:ln>
        </p:spPr>
      </p:sp>
      <p:sp>
        <p:nvSpPr>
          <p:cNvPr id="12" name="Text 10"/>
          <p:cNvSpPr/>
          <p:nvPr/>
        </p:nvSpPr>
        <p:spPr>
          <a:xfrm>
            <a:off x="2724912" y="2084832"/>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084832"/>
            <a:ext cx="1371600" cy="365760"/>
          </a:xfrm>
          <a:prstGeom prst="rect">
            <a:avLst/>
          </a:prstGeom>
          <a:solidFill>
            <a:srgbClr val="005730"/>
          </a:solidFill>
          <a:ln w="5715">
            <a:solidFill>
              <a:srgbClr val="397257"/>
            </a:solidFill>
            <a:prstDash val="solid"/>
          </a:ln>
        </p:spPr>
      </p:sp>
      <p:sp>
        <p:nvSpPr>
          <p:cNvPr id="14" name="Text 12"/>
          <p:cNvSpPr/>
          <p:nvPr/>
        </p:nvSpPr>
        <p:spPr>
          <a:xfrm>
            <a:off x="6519672" y="2084832"/>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POSITION</a:t>
            </a:r>
            <a:endParaRPr lang="en-US" sz="760" dirty="0"/>
          </a:p>
        </p:txBody>
      </p:sp>
      <p:sp>
        <p:nvSpPr>
          <p:cNvPr id="15" name="Shape 13"/>
          <p:cNvSpPr/>
          <p:nvPr/>
        </p:nvSpPr>
        <p:spPr>
          <a:xfrm>
            <a:off x="7799832" y="2084832"/>
            <a:ext cx="3767328" cy="365760"/>
          </a:xfrm>
          <a:prstGeom prst="rect">
            <a:avLst/>
          </a:prstGeom>
          <a:solidFill>
            <a:srgbClr val="005730"/>
          </a:solidFill>
          <a:ln w="5715">
            <a:solidFill>
              <a:srgbClr val="397257"/>
            </a:solidFill>
            <a:prstDash val="solid"/>
          </a:ln>
        </p:spPr>
      </p:sp>
      <p:sp>
        <p:nvSpPr>
          <p:cNvPr id="16" name="Text 14"/>
          <p:cNvSpPr/>
          <p:nvPr/>
        </p:nvSpPr>
        <p:spPr>
          <a:xfrm>
            <a:off x="7891272" y="2084832"/>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450592"/>
            <a:ext cx="2011680" cy="467868"/>
          </a:xfrm>
          <a:prstGeom prst="rect">
            <a:avLst/>
          </a:prstGeom>
          <a:solidFill>
            <a:srgbClr val="FFFFFF"/>
          </a:solidFill>
          <a:ln w="5715">
            <a:solidFill>
              <a:srgbClr val="E2E6E2"/>
            </a:solidFill>
            <a:prstDash val="solid"/>
          </a:ln>
        </p:spPr>
      </p:sp>
      <p:sp>
        <p:nvSpPr>
          <p:cNvPr id="18" name="Text 16"/>
          <p:cNvSpPr/>
          <p:nvPr/>
        </p:nvSpPr>
        <p:spPr>
          <a:xfrm>
            <a:off x="713232" y="249631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Target and pathway setting</a:t>
            </a:r>
            <a:endParaRPr lang="en-US" sz="900" dirty="0"/>
          </a:p>
        </p:txBody>
      </p:sp>
      <p:sp>
        <p:nvSpPr>
          <p:cNvPr id="19" name="Shape 17"/>
          <p:cNvSpPr/>
          <p:nvPr/>
        </p:nvSpPr>
        <p:spPr>
          <a:xfrm>
            <a:off x="2633472" y="2450592"/>
            <a:ext cx="3794760" cy="467868"/>
          </a:xfrm>
          <a:prstGeom prst="rect">
            <a:avLst/>
          </a:prstGeom>
          <a:solidFill>
            <a:srgbClr val="FFFFFF"/>
          </a:solidFill>
          <a:ln w="5715">
            <a:solidFill>
              <a:srgbClr val="E2E6E2"/>
            </a:solidFill>
            <a:prstDash val="solid"/>
          </a:ln>
        </p:spPr>
      </p:sp>
      <p:sp>
        <p:nvSpPr>
          <p:cNvPr id="20" name="Text 18"/>
          <p:cNvSpPr/>
          <p:nvPr/>
        </p:nvSpPr>
        <p:spPr>
          <a:xfrm>
            <a:off x="2724912" y="249631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Targets set against the same inventory the products use.</a:t>
            </a:r>
            <a:endParaRPr lang="en-US" sz="800" dirty="0"/>
          </a:p>
        </p:txBody>
      </p:sp>
      <p:sp>
        <p:nvSpPr>
          <p:cNvPr id="21" name="Shape 19"/>
          <p:cNvSpPr/>
          <p:nvPr/>
        </p:nvSpPr>
        <p:spPr>
          <a:xfrm>
            <a:off x="6428232" y="2450592"/>
            <a:ext cx="1371600" cy="467868"/>
          </a:xfrm>
          <a:prstGeom prst="rect">
            <a:avLst/>
          </a:prstGeom>
          <a:solidFill>
            <a:srgbClr val="FFFFFF"/>
          </a:solidFill>
          <a:ln w="5715">
            <a:solidFill>
              <a:srgbClr val="E2E6E2"/>
            </a:solidFill>
            <a:prstDash val="solid"/>
          </a:ln>
        </p:spPr>
      </p:sp>
      <p:sp>
        <p:nvSpPr>
          <p:cNvPr id="22" name="Shape 20"/>
          <p:cNvSpPr/>
          <p:nvPr/>
        </p:nvSpPr>
        <p:spPr>
          <a:xfrm>
            <a:off x="6501384" y="2565654"/>
            <a:ext cx="1225296" cy="237744"/>
          </a:xfrm>
          <a:prstGeom prst="roundRect">
            <a:avLst>
              <a:gd name="adj" fmla="val 46154"/>
            </a:avLst>
          </a:prstGeom>
          <a:solidFill>
            <a:srgbClr val="F1F3F2"/>
          </a:solidFill>
          <a:ln w="6350">
            <a:solidFill>
              <a:srgbClr val="E2E6E2"/>
            </a:solidFill>
            <a:prstDash val="solid"/>
          </a:ln>
        </p:spPr>
      </p:sp>
      <p:sp>
        <p:nvSpPr>
          <p:cNvPr id="23" name="Text 21"/>
          <p:cNvSpPr/>
          <p:nvPr/>
        </p:nvSpPr>
        <p:spPr>
          <a:xfrm>
            <a:off x="6501384" y="256565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24" name="Shape 22"/>
          <p:cNvSpPr/>
          <p:nvPr/>
        </p:nvSpPr>
        <p:spPr>
          <a:xfrm>
            <a:off x="7799832" y="2450592"/>
            <a:ext cx="3767328" cy="467868"/>
          </a:xfrm>
          <a:prstGeom prst="rect">
            <a:avLst/>
          </a:prstGeom>
          <a:solidFill>
            <a:srgbClr val="FFFFFF"/>
          </a:solidFill>
          <a:ln w="5715">
            <a:solidFill>
              <a:srgbClr val="E2E6E2"/>
            </a:solidFill>
            <a:prstDash val="solid"/>
          </a:ln>
        </p:spPr>
      </p:sp>
      <p:sp>
        <p:nvSpPr>
          <p:cNvPr id="25" name="Text 23"/>
          <p:cNvSpPr/>
          <p:nvPr/>
        </p:nvSpPr>
        <p:spPr>
          <a:xfrm>
            <a:off x="7891272" y="249631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Common capability.</a:t>
            </a:r>
            <a:endParaRPr lang="en-US" sz="800" dirty="0"/>
          </a:p>
        </p:txBody>
      </p:sp>
      <p:sp>
        <p:nvSpPr>
          <p:cNvPr id="26" name="Shape 24"/>
          <p:cNvSpPr/>
          <p:nvPr/>
        </p:nvSpPr>
        <p:spPr>
          <a:xfrm>
            <a:off x="621792" y="2918460"/>
            <a:ext cx="2011680" cy="467868"/>
          </a:xfrm>
          <a:prstGeom prst="rect">
            <a:avLst/>
          </a:prstGeom>
          <a:solidFill>
            <a:srgbClr val="F1F3F2"/>
          </a:solidFill>
          <a:ln w="5715">
            <a:solidFill>
              <a:srgbClr val="E2E6E2"/>
            </a:solidFill>
            <a:prstDash val="solid"/>
          </a:ln>
        </p:spPr>
      </p:sp>
      <p:sp>
        <p:nvSpPr>
          <p:cNvPr id="27" name="Text 25"/>
          <p:cNvSpPr/>
          <p:nvPr/>
        </p:nvSpPr>
        <p:spPr>
          <a:xfrm>
            <a:off x="713232" y="2964180"/>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Initiatives and actions management</a:t>
            </a:r>
            <a:endParaRPr lang="en-US" sz="900" dirty="0"/>
          </a:p>
        </p:txBody>
      </p:sp>
      <p:sp>
        <p:nvSpPr>
          <p:cNvPr id="28" name="Shape 26"/>
          <p:cNvSpPr/>
          <p:nvPr/>
        </p:nvSpPr>
        <p:spPr>
          <a:xfrm>
            <a:off x="2633472" y="2918460"/>
            <a:ext cx="3794760" cy="467868"/>
          </a:xfrm>
          <a:prstGeom prst="rect">
            <a:avLst/>
          </a:prstGeom>
          <a:solidFill>
            <a:srgbClr val="F1F3F2"/>
          </a:solidFill>
          <a:ln w="5715">
            <a:solidFill>
              <a:srgbClr val="E2E6E2"/>
            </a:solidFill>
            <a:prstDash val="solid"/>
          </a:ln>
        </p:spPr>
      </p:sp>
      <p:sp>
        <p:nvSpPr>
          <p:cNvPr id="29" name="Text 27"/>
          <p:cNvSpPr/>
          <p:nvPr/>
        </p:nvSpPr>
        <p:spPr>
          <a:xfrm>
            <a:off x="2724912" y="2964180"/>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Initiative and action management shipping with Q4 2026 scenario work.</a:t>
            </a:r>
            <a:endParaRPr lang="en-US" sz="800" dirty="0"/>
          </a:p>
        </p:txBody>
      </p:sp>
      <p:sp>
        <p:nvSpPr>
          <p:cNvPr id="30" name="Shape 28"/>
          <p:cNvSpPr/>
          <p:nvPr/>
        </p:nvSpPr>
        <p:spPr>
          <a:xfrm>
            <a:off x="6428232" y="2918460"/>
            <a:ext cx="1371600" cy="467868"/>
          </a:xfrm>
          <a:prstGeom prst="rect">
            <a:avLst/>
          </a:prstGeom>
          <a:solidFill>
            <a:srgbClr val="F1F3F2"/>
          </a:solidFill>
          <a:ln w="5715">
            <a:solidFill>
              <a:srgbClr val="E2E6E2"/>
            </a:solidFill>
            <a:prstDash val="solid"/>
          </a:ln>
        </p:spPr>
      </p:sp>
      <p:sp>
        <p:nvSpPr>
          <p:cNvPr id="31" name="Shape 29"/>
          <p:cNvSpPr/>
          <p:nvPr/>
        </p:nvSpPr>
        <p:spPr>
          <a:xfrm>
            <a:off x="6501384" y="3033522"/>
            <a:ext cx="1225296" cy="237744"/>
          </a:xfrm>
          <a:prstGeom prst="roundRect">
            <a:avLst>
              <a:gd name="adj" fmla="val 46154"/>
            </a:avLst>
          </a:prstGeom>
          <a:solidFill>
            <a:srgbClr val="EAF8ED"/>
          </a:solidFill>
          <a:ln w="6350">
            <a:solidFill>
              <a:srgbClr val="3DCD58"/>
            </a:solidFill>
            <a:prstDash val="solid"/>
          </a:ln>
        </p:spPr>
      </p:sp>
      <p:sp>
        <p:nvSpPr>
          <p:cNvPr id="32" name="Text 30"/>
          <p:cNvSpPr/>
          <p:nvPr/>
        </p:nvSpPr>
        <p:spPr>
          <a:xfrm>
            <a:off x="6501384" y="303352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33" name="Shape 31"/>
          <p:cNvSpPr/>
          <p:nvPr/>
        </p:nvSpPr>
        <p:spPr>
          <a:xfrm>
            <a:off x="7799832" y="2918460"/>
            <a:ext cx="3767328" cy="467868"/>
          </a:xfrm>
          <a:prstGeom prst="rect">
            <a:avLst/>
          </a:prstGeom>
          <a:solidFill>
            <a:srgbClr val="F1F3F2"/>
          </a:solidFill>
          <a:ln w="5715">
            <a:solidFill>
              <a:srgbClr val="E2E6E2"/>
            </a:solidFill>
            <a:prstDash val="solid"/>
          </a:ln>
        </p:spPr>
      </p:sp>
      <p:sp>
        <p:nvSpPr>
          <p:cNvPr id="34" name="Text 32"/>
          <p:cNvSpPr/>
          <p:nvPr/>
        </p:nvSpPr>
        <p:spPr>
          <a:xfrm>
            <a:off x="7891272" y="2964180"/>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Most carbon tools stop at the plan and never track execution.</a:t>
            </a:r>
            <a:endParaRPr lang="en-US" sz="800" dirty="0"/>
          </a:p>
        </p:txBody>
      </p:sp>
      <p:sp>
        <p:nvSpPr>
          <p:cNvPr id="35" name="Shape 33"/>
          <p:cNvSpPr/>
          <p:nvPr/>
        </p:nvSpPr>
        <p:spPr>
          <a:xfrm>
            <a:off x="621792" y="3386328"/>
            <a:ext cx="2011680" cy="467868"/>
          </a:xfrm>
          <a:prstGeom prst="rect">
            <a:avLst/>
          </a:prstGeom>
          <a:solidFill>
            <a:srgbClr val="FFFFFF"/>
          </a:solidFill>
          <a:ln w="5715">
            <a:solidFill>
              <a:srgbClr val="E2E6E2"/>
            </a:solidFill>
            <a:prstDash val="solid"/>
          </a:ln>
        </p:spPr>
      </p:sp>
      <p:sp>
        <p:nvSpPr>
          <p:cNvPr id="36" name="Text 34"/>
          <p:cNvSpPr/>
          <p:nvPr/>
        </p:nvSpPr>
        <p:spPr>
          <a:xfrm>
            <a:off x="713232" y="3432048"/>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Scenario and cobenefit modelling</a:t>
            </a:r>
            <a:endParaRPr lang="en-US" sz="900" dirty="0"/>
          </a:p>
        </p:txBody>
      </p:sp>
      <p:sp>
        <p:nvSpPr>
          <p:cNvPr id="37" name="Shape 35"/>
          <p:cNvSpPr/>
          <p:nvPr/>
        </p:nvSpPr>
        <p:spPr>
          <a:xfrm>
            <a:off x="2633472" y="3386328"/>
            <a:ext cx="3794760" cy="467868"/>
          </a:xfrm>
          <a:prstGeom prst="rect">
            <a:avLst/>
          </a:prstGeom>
          <a:solidFill>
            <a:srgbClr val="FFFFFF"/>
          </a:solidFill>
          <a:ln w="5715">
            <a:solidFill>
              <a:srgbClr val="E2E6E2"/>
            </a:solidFill>
            <a:prstDash val="solid"/>
          </a:ln>
        </p:spPr>
      </p:sp>
      <p:sp>
        <p:nvSpPr>
          <p:cNvPr id="38" name="Text 36"/>
          <p:cNvSpPr/>
          <p:nvPr/>
        </p:nvSpPr>
        <p:spPr>
          <a:xfrm>
            <a:off x="2724912" y="3432048"/>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Energy, carbon and cost cobenefits modelled together.</a:t>
            </a:r>
            <a:endParaRPr lang="en-US" sz="800" dirty="0"/>
          </a:p>
        </p:txBody>
      </p:sp>
      <p:sp>
        <p:nvSpPr>
          <p:cNvPr id="39" name="Shape 37"/>
          <p:cNvSpPr/>
          <p:nvPr/>
        </p:nvSpPr>
        <p:spPr>
          <a:xfrm>
            <a:off x="6428232" y="3386328"/>
            <a:ext cx="1371600" cy="467868"/>
          </a:xfrm>
          <a:prstGeom prst="rect">
            <a:avLst/>
          </a:prstGeom>
          <a:solidFill>
            <a:srgbClr val="FFFFFF"/>
          </a:solidFill>
          <a:ln w="5715">
            <a:solidFill>
              <a:srgbClr val="E2E6E2"/>
            </a:solidFill>
            <a:prstDash val="solid"/>
          </a:ln>
        </p:spPr>
      </p:sp>
      <p:sp>
        <p:nvSpPr>
          <p:cNvPr id="40" name="Shape 38"/>
          <p:cNvSpPr/>
          <p:nvPr/>
        </p:nvSpPr>
        <p:spPr>
          <a:xfrm>
            <a:off x="6501384" y="3501390"/>
            <a:ext cx="1225296" cy="237744"/>
          </a:xfrm>
          <a:prstGeom prst="roundRect">
            <a:avLst>
              <a:gd name="adj" fmla="val 46154"/>
            </a:avLst>
          </a:prstGeom>
          <a:solidFill>
            <a:srgbClr val="EAF8ED"/>
          </a:solidFill>
          <a:ln w="6350">
            <a:solidFill>
              <a:srgbClr val="3DCD58"/>
            </a:solidFill>
            <a:prstDash val="solid"/>
          </a:ln>
        </p:spPr>
      </p:sp>
      <p:sp>
        <p:nvSpPr>
          <p:cNvPr id="41" name="Text 39"/>
          <p:cNvSpPr/>
          <p:nvPr/>
        </p:nvSpPr>
        <p:spPr>
          <a:xfrm>
            <a:off x="6501384" y="350139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42" name="Shape 40"/>
          <p:cNvSpPr/>
          <p:nvPr/>
        </p:nvSpPr>
        <p:spPr>
          <a:xfrm>
            <a:off x="7799832" y="3386328"/>
            <a:ext cx="3767328" cy="467868"/>
          </a:xfrm>
          <a:prstGeom prst="rect">
            <a:avLst/>
          </a:prstGeom>
          <a:solidFill>
            <a:srgbClr val="FFFFFF"/>
          </a:solidFill>
          <a:ln w="5715">
            <a:solidFill>
              <a:srgbClr val="E2E6E2"/>
            </a:solidFill>
            <a:prstDash val="solid"/>
          </a:ln>
        </p:spPr>
      </p:sp>
      <p:sp>
        <p:nvSpPr>
          <p:cNvPr id="43" name="Text 41"/>
          <p:cNvSpPr/>
          <p:nvPr/>
        </p:nvSpPr>
        <p:spPr>
          <a:xfrm>
            <a:off x="7891272" y="3432048"/>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Requires the energy and efficiency data only we hold.</a:t>
            </a:r>
            <a:endParaRPr lang="en-US" sz="800" dirty="0"/>
          </a:p>
        </p:txBody>
      </p:sp>
      <p:sp>
        <p:nvSpPr>
          <p:cNvPr id="44" name="Shape 42"/>
          <p:cNvSpPr/>
          <p:nvPr/>
        </p:nvSpPr>
        <p:spPr>
          <a:xfrm>
            <a:off x="621792" y="3854196"/>
            <a:ext cx="2011680" cy="467868"/>
          </a:xfrm>
          <a:prstGeom prst="rect">
            <a:avLst/>
          </a:prstGeom>
          <a:solidFill>
            <a:srgbClr val="F1F3F2"/>
          </a:solidFill>
          <a:ln w="5715">
            <a:solidFill>
              <a:srgbClr val="E2E6E2"/>
            </a:solidFill>
            <a:prstDash val="solid"/>
          </a:ln>
        </p:spPr>
      </p:sp>
      <p:sp>
        <p:nvSpPr>
          <p:cNvPr id="45" name="Text 43"/>
          <p:cNvSpPr/>
          <p:nvPr/>
        </p:nvSpPr>
        <p:spPr>
          <a:xfrm>
            <a:off x="713232" y="3899916"/>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Recommendations</a:t>
            </a:r>
            <a:endParaRPr lang="en-US" sz="900" dirty="0"/>
          </a:p>
        </p:txBody>
      </p:sp>
      <p:sp>
        <p:nvSpPr>
          <p:cNvPr id="46" name="Shape 44"/>
          <p:cNvSpPr/>
          <p:nvPr/>
        </p:nvSpPr>
        <p:spPr>
          <a:xfrm>
            <a:off x="2633472" y="3854196"/>
            <a:ext cx="3794760" cy="467868"/>
          </a:xfrm>
          <a:prstGeom prst="rect">
            <a:avLst/>
          </a:prstGeom>
          <a:solidFill>
            <a:srgbClr val="F1F3F2"/>
          </a:solidFill>
          <a:ln w="5715">
            <a:solidFill>
              <a:srgbClr val="E2E6E2"/>
            </a:solidFill>
            <a:prstDash val="solid"/>
          </a:ln>
        </p:spPr>
      </p:sp>
      <p:sp>
        <p:nvSpPr>
          <p:cNvPr id="47" name="Text 45"/>
          <p:cNvSpPr/>
          <p:nvPr/>
        </p:nvSpPr>
        <p:spPr>
          <a:xfrm>
            <a:off x="2724912" y="3899916"/>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AI recommendations on the next best action, launching Q4 2026, with energy, carbon and cost cobenefits surfaced together.</a:t>
            </a:r>
            <a:endParaRPr lang="en-US" sz="800" dirty="0"/>
          </a:p>
        </p:txBody>
      </p:sp>
      <p:sp>
        <p:nvSpPr>
          <p:cNvPr id="48" name="Shape 46"/>
          <p:cNvSpPr/>
          <p:nvPr/>
        </p:nvSpPr>
        <p:spPr>
          <a:xfrm>
            <a:off x="6428232" y="3854196"/>
            <a:ext cx="1371600" cy="467868"/>
          </a:xfrm>
          <a:prstGeom prst="rect">
            <a:avLst/>
          </a:prstGeom>
          <a:solidFill>
            <a:srgbClr val="F1F3F2"/>
          </a:solidFill>
          <a:ln w="5715">
            <a:solidFill>
              <a:srgbClr val="E2E6E2"/>
            </a:solidFill>
            <a:prstDash val="solid"/>
          </a:ln>
        </p:spPr>
      </p:sp>
      <p:sp>
        <p:nvSpPr>
          <p:cNvPr id="49" name="Shape 47"/>
          <p:cNvSpPr/>
          <p:nvPr/>
        </p:nvSpPr>
        <p:spPr>
          <a:xfrm>
            <a:off x="6501384" y="3969258"/>
            <a:ext cx="1225296" cy="237744"/>
          </a:xfrm>
          <a:prstGeom prst="roundRect">
            <a:avLst>
              <a:gd name="adj" fmla="val 46154"/>
            </a:avLst>
          </a:prstGeom>
          <a:solidFill>
            <a:srgbClr val="EAF8ED"/>
          </a:solidFill>
          <a:ln w="6350">
            <a:solidFill>
              <a:srgbClr val="3DCD58"/>
            </a:solidFill>
            <a:prstDash val="solid"/>
          </a:ln>
        </p:spPr>
      </p:sp>
      <p:sp>
        <p:nvSpPr>
          <p:cNvPr id="50" name="Text 48"/>
          <p:cNvSpPr/>
          <p:nvPr/>
        </p:nvSpPr>
        <p:spPr>
          <a:xfrm>
            <a:off x="6501384" y="396925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51" name="Shape 49"/>
          <p:cNvSpPr/>
          <p:nvPr/>
        </p:nvSpPr>
        <p:spPr>
          <a:xfrm>
            <a:off x="7799832" y="3854196"/>
            <a:ext cx="3767328" cy="467868"/>
          </a:xfrm>
          <a:prstGeom prst="rect">
            <a:avLst/>
          </a:prstGeom>
          <a:solidFill>
            <a:srgbClr val="F1F3F2"/>
          </a:solidFill>
          <a:ln w="5715">
            <a:solidFill>
              <a:srgbClr val="E2E6E2"/>
            </a:solidFill>
            <a:prstDash val="solid"/>
          </a:ln>
        </p:spPr>
      </p:sp>
      <p:sp>
        <p:nvSpPr>
          <p:cNvPr id="52" name="Text 50"/>
          <p:cNvSpPr/>
          <p:nvPr/>
        </p:nvSpPr>
        <p:spPr>
          <a:xfrm>
            <a:off x="7891272" y="3899916"/>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No rival currently links next best action recommendations to energy, carbon and cost cobenefits on one platform.</a:t>
            </a:r>
            <a:endParaRPr lang="en-US" sz="800" dirty="0"/>
          </a:p>
        </p:txBody>
      </p:sp>
      <p:sp>
        <p:nvSpPr>
          <p:cNvPr id="53" name="Shape 51"/>
          <p:cNvSpPr/>
          <p:nvPr/>
        </p:nvSpPr>
        <p:spPr>
          <a:xfrm>
            <a:off x="621792" y="4322064"/>
            <a:ext cx="2011680" cy="467868"/>
          </a:xfrm>
          <a:prstGeom prst="rect">
            <a:avLst/>
          </a:prstGeom>
          <a:solidFill>
            <a:srgbClr val="FFFFFF"/>
          </a:solidFill>
          <a:ln w="5715">
            <a:solidFill>
              <a:srgbClr val="E2E6E2"/>
            </a:solidFill>
            <a:prstDash val="solid"/>
          </a:ln>
        </p:spPr>
      </p:sp>
      <p:sp>
        <p:nvSpPr>
          <p:cNvPr id="54" name="Text 52"/>
          <p:cNvSpPr/>
          <p:nvPr/>
        </p:nvSpPr>
        <p:spPr>
          <a:xfrm>
            <a:off x="713232" y="4367784"/>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Realised versus planned</a:t>
            </a:r>
            <a:endParaRPr lang="en-US" sz="900" dirty="0"/>
          </a:p>
        </p:txBody>
      </p:sp>
      <p:sp>
        <p:nvSpPr>
          <p:cNvPr id="55" name="Shape 53"/>
          <p:cNvSpPr/>
          <p:nvPr/>
        </p:nvSpPr>
        <p:spPr>
          <a:xfrm>
            <a:off x="2633472" y="4322064"/>
            <a:ext cx="3794760" cy="467868"/>
          </a:xfrm>
          <a:prstGeom prst="rect">
            <a:avLst/>
          </a:prstGeom>
          <a:solidFill>
            <a:srgbClr val="FFFFFF"/>
          </a:solidFill>
          <a:ln w="5715">
            <a:solidFill>
              <a:srgbClr val="E2E6E2"/>
            </a:solidFill>
            <a:prstDash val="solid"/>
          </a:ln>
        </p:spPr>
      </p:sp>
      <p:sp>
        <p:nvSpPr>
          <p:cNvPr id="56" name="Text 54"/>
          <p:cNvSpPr/>
          <p:nvPr/>
        </p:nvSpPr>
        <p:spPr>
          <a:xfrm>
            <a:off x="2724912" y="4367784"/>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Actual performance measured against the plan on the same data.</a:t>
            </a:r>
            <a:endParaRPr lang="en-US" sz="800" dirty="0"/>
          </a:p>
        </p:txBody>
      </p:sp>
      <p:sp>
        <p:nvSpPr>
          <p:cNvPr id="57" name="Shape 55"/>
          <p:cNvSpPr/>
          <p:nvPr/>
        </p:nvSpPr>
        <p:spPr>
          <a:xfrm>
            <a:off x="6428232" y="4322064"/>
            <a:ext cx="1371600" cy="467868"/>
          </a:xfrm>
          <a:prstGeom prst="rect">
            <a:avLst/>
          </a:prstGeom>
          <a:solidFill>
            <a:srgbClr val="FFFFFF"/>
          </a:solidFill>
          <a:ln w="5715">
            <a:solidFill>
              <a:srgbClr val="E2E6E2"/>
            </a:solidFill>
            <a:prstDash val="solid"/>
          </a:ln>
        </p:spPr>
      </p:sp>
      <p:sp>
        <p:nvSpPr>
          <p:cNvPr id="58" name="Shape 56"/>
          <p:cNvSpPr/>
          <p:nvPr/>
        </p:nvSpPr>
        <p:spPr>
          <a:xfrm>
            <a:off x="6501384" y="4437126"/>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3712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22064"/>
            <a:ext cx="3767328" cy="467868"/>
          </a:xfrm>
          <a:prstGeom prst="rect">
            <a:avLst/>
          </a:prstGeom>
          <a:solidFill>
            <a:srgbClr val="FFFFFF"/>
          </a:solidFill>
          <a:ln w="5715">
            <a:solidFill>
              <a:srgbClr val="E2E6E2"/>
            </a:solidFill>
            <a:prstDash val="solid"/>
          </a:ln>
        </p:spPr>
      </p:sp>
      <p:sp>
        <p:nvSpPr>
          <p:cNvPr id="61" name="Text 59"/>
          <p:cNvSpPr/>
          <p:nvPr/>
        </p:nvSpPr>
        <p:spPr>
          <a:xfrm>
            <a:off x="7891272" y="4367784"/>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Rare outside consultancy led engagements.</a:t>
            </a:r>
            <a:endParaRPr lang="en-US" sz="800" dirty="0"/>
          </a:p>
        </p:txBody>
      </p:sp>
      <p:sp>
        <p:nvSpPr>
          <p:cNvPr id="62" name="Shape 60"/>
          <p:cNvSpPr/>
          <p:nvPr/>
        </p:nvSpPr>
        <p:spPr>
          <a:xfrm>
            <a:off x="621792" y="4789932"/>
            <a:ext cx="2011680" cy="467868"/>
          </a:xfrm>
          <a:prstGeom prst="rect">
            <a:avLst/>
          </a:prstGeom>
          <a:solidFill>
            <a:srgbClr val="F1F3F2"/>
          </a:solidFill>
          <a:ln w="5715">
            <a:solidFill>
              <a:srgbClr val="E2E6E2"/>
            </a:solidFill>
            <a:prstDash val="solid"/>
          </a:ln>
        </p:spPr>
      </p:sp>
      <p:sp>
        <p:nvSpPr>
          <p:cNvPr id="63" name="Text 61"/>
          <p:cNvSpPr/>
          <p:nvPr/>
        </p:nvSpPr>
        <p:spPr>
          <a:xfrm>
            <a:off x="713232" y="483565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Governance and scale</a:t>
            </a:r>
            <a:endParaRPr lang="en-US" sz="900" dirty="0"/>
          </a:p>
        </p:txBody>
      </p:sp>
      <p:sp>
        <p:nvSpPr>
          <p:cNvPr id="64" name="Shape 62"/>
          <p:cNvSpPr/>
          <p:nvPr/>
        </p:nvSpPr>
        <p:spPr>
          <a:xfrm>
            <a:off x="2633472" y="4789932"/>
            <a:ext cx="3794760" cy="467868"/>
          </a:xfrm>
          <a:prstGeom prst="rect">
            <a:avLst/>
          </a:prstGeom>
          <a:solidFill>
            <a:srgbClr val="F1F3F2"/>
          </a:solidFill>
          <a:ln w="5715">
            <a:solidFill>
              <a:srgbClr val="E2E6E2"/>
            </a:solidFill>
            <a:prstDash val="solid"/>
          </a:ln>
        </p:spPr>
      </p:sp>
      <p:sp>
        <p:nvSpPr>
          <p:cNvPr id="65" name="Text 63"/>
          <p:cNvSpPr/>
          <p:nvPr/>
        </p:nvSpPr>
        <p:spPr>
          <a:xfrm>
            <a:off x="2724912" y="483565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Roll out across business units on the shared hierarchy.</a:t>
            </a:r>
            <a:endParaRPr lang="en-US" sz="800" dirty="0"/>
          </a:p>
        </p:txBody>
      </p:sp>
      <p:sp>
        <p:nvSpPr>
          <p:cNvPr id="66" name="Shape 64"/>
          <p:cNvSpPr/>
          <p:nvPr/>
        </p:nvSpPr>
        <p:spPr>
          <a:xfrm>
            <a:off x="6428232" y="4789932"/>
            <a:ext cx="1371600" cy="467868"/>
          </a:xfrm>
          <a:prstGeom prst="rect">
            <a:avLst/>
          </a:prstGeom>
          <a:solidFill>
            <a:srgbClr val="F1F3F2"/>
          </a:solidFill>
          <a:ln w="5715">
            <a:solidFill>
              <a:srgbClr val="E2E6E2"/>
            </a:solidFill>
            <a:prstDash val="solid"/>
          </a:ln>
        </p:spPr>
      </p:sp>
      <p:sp>
        <p:nvSpPr>
          <p:cNvPr id="67" name="Shape 65"/>
          <p:cNvSpPr/>
          <p:nvPr/>
        </p:nvSpPr>
        <p:spPr>
          <a:xfrm>
            <a:off x="6501384" y="4904994"/>
            <a:ext cx="1225296" cy="237744"/>
          </a:xfrm>
          <a:prstGeom prst="roundRect">
            <a:avLst>
              <a:gd name="adj" fmla="val 46154"/>
            </a:avLst>
          </a:prstGeom>
          <a:solidFill>
            <a:srgbClr val="F1F3F2"/>
          </a:solidFill>
          <a:ln w="6350">
            <a:solidFill>
              <a:srgbClr val="E2E6E2"/>
            </a:solidFill>
            <a:prstDash val="solid"/>
          </a:ln>
        </p:spPr>
      </p:sp>
      <p:sp>
        <p:nvSpPr>
          <p:cNvPr id="68" name="Text 66"/>
          <p:cNvSpPr/>
          <p:nvPr/>
        </p:nvSpPr>
        <p:spPr>
          <a:xfrm>
            <a:off x="6501384" y="490499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9" name="Shape 67"/>
          <p:cNvSpPr/>
          <p:nvPr/>
        </p:nvSpPr>
        <p:spPr>
          <a:xfrm>
            <a:off x="7799832" y="4789932"/>
            <a:ext cx="3767328" cy="467868"/>
          </a:xfrm>
          <a:prstGeom prst="rect">
            <a:avLst/>
          </a:prstGeom>
          <a:solidFill>
            <a:srgbClr val="F1F3F2"/>
          </a:solidFill>
          <a:ln w="5715">
            <a:solidFill>
              <a:srgbClr val="E2E6E2"/>
            </a:solidFill>
            <a:prstDash val="solid"/>
          </a:ln>
        </p:spPr>
      </p:sp>
      <p:sp>
        <p:nvSpPr>
          <p:cNvPr id="70" name="Text 68"/>
          <p:cNvSpPr/>
          <p:nvPr/>
        </p:nvSpPr>
        <p:spPr>
          <a:xfrm>
            <a:off x="7891272" y="483565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at enterprise scale.</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Strategy is where the convergence story becomes tangible. It is our clearest chance to be first, not fast follower.</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 and Verdantix Green Quadrant Enterprise Carbon Management Software 2026 market framing. Positions are our own assessment, not a vendor certification.</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76275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43357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FEATURE POSITION: 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Core Platform: the capability rivals cannot copy quickly</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None of this is sold on its own. All of it decides whether every other product can lead.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011680" cy="365760"/>
          </a:xfrm>
          <a:prstGeom prst="rect">
            <a:avLst/>
          </a:prstGeom>
          <a:solidFill>
            <a:srgbClr val="005730"/>
          </a:solidFill>
          <a:ln w="5715">
            <a:solidFill>
              <a:srgbClr val="397257"/>
            </a:solidFill>
            <a:prstDash val="solid"/>
          </a:ln>
        </p:spPr>
      </p:sp>
      <p:sp>
        <p:nvSpPr>
          <p:cNvPr id="10" name="Text 8"/>
          <p:cNvSpPr/>
          <p:nvPr/>
        </p:nvSpPr>
        <p:spPr>
          <a:xfrm>
            <a:off x="713232" y="2084832"/>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084832"/>
            <a:ext cx="3794760" cy="365760"/>
          </a:xfrm>
          <a:prstGeom prst="rect">
            <a:avLst/>
          </a:prstGeom>
          <a:solidFill>
            <a:srgbClr val="005730"/>
          </a:solidFill>
          <a:ln w="5715">
            <a:solidFill>
              <a:srgbClr val="397257"/>
            </a:solidFill>
            <a:prstDash val="solid"/>
          </a:ln>
        </p:spPr>
      </p:sp>
      <p:sp>
        <p:nvSpPr>
          <p:cNvPr id="12" name="Text 10"/>
          <p:cNvSpPr/>
          <p:nvPr/>
        </p:nvSpPr>
        <p:spPr>
          <a:xfrm>
            <a:off x="2724912" y="2084832"/>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084832"/>
            <a:ext cx="1371600" cy="365760"/>
          </a:xfrm>
          <a:prstGeom prst="rect">
            <a:avLst/>
          </a:prstGeom>
          <a:solidFill>
            <a:srgbClr val="005730"/>
          </a:solidFill>
          <a:ln w="5715">
            <a:solidFill>
              <a:srgbClr val="397257"/>
            </a:solidFill>
            <a:prstDash val="solid"/>
          </a:ln>
        </p:spPr>
      </p:sp>
      <p:sp>
        <p:nvSpPr>
          <p:cNvPr id="14" name="Text 12"/>
          <p:cNvSpPr/>
          <p:nvPr/>
        </p:nvSpPr>
        <p:spPr>
          <a:xfrm>
            <a:off x="6519672" y="2084832"/>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POSITION</a:t>
            </a:r>
            <a:endParaRPr lang="en-US" sz="760" dirty="0"/>
          </a:p>
        </p:txBody>
      </p:sp>
      <p:sp>
        <p:nvSpPr>
          <p:cNvPr id="15" name="Shape 13"/>
          <p:cNvSpPr/>
          <p:nvPr/>
        </p:nvSpPr>
        <p:spPr>
          <a:xfrm>
            <a:off x="7799832" y="2084832"/>
            <a:ext cx="3767328" cy="365760"/>
          </a:xfrm>
          <a:prstGeom prst="rect">
            <a:avLst/>
          </a:prstGeom>
          <a:solidFill>
            <a:srgbClr val="005730"/>
          </a:solidFill>
          <a:ln w="5715">
            <a:solidFill>
              <a:srgbClr val="397257"/>
            </a:solidFill>
            <a:prstDash val="solid"/>
          </a:ln>
        </p:spPr>
      </p:sp>
      <p:sp>
        <p:nvSpPr>
          <p:cNvPr id="16" name="Text 14"/>
          <p:cNvSpPr/>
          <p:nvPr/>
        </p:nvSpPr>
        <p:spPr>
          <a:xfrm>
            <a:off x="7891272" y="2084832"/>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450592"/>
            <a:ext cx="2011680" cy="467868"/>
          </a:xfrm>
          <a:prstGeom prst="rect">
            <a:avLst/>
          </a:prstGeom>
          <a:solidFill>
            <a:srgbClr val="FFFFFF"/>
          </a:solidFill>
          <a:ln w="5715">
            <a:solidFill>
              <a:srgbClr val="E2E6E2"/>
            </a:solidFill>
            <a:prstDash val="solid"/>
          </a:ln>
        </p:spPr>
      </p:sp>
      <p:sp>
        <p:nvSpPr>
          <p:cNvPr id="18" name="Text 16"/>
          <p:cNvSpPr/>
          <p:nvPr/>
        </p:nvSpPr>
        <p:spPr>
          <a:xfrm>
            <a:off x="713232" y="249631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Shared hierarchy and ontology</a:t>
            </a:r>
            <a:endParaRPr lang="en-US" sz="900" dirty="0"/>
          </a:p>
        </p:txBody>
      </p:sp>
      <p:sp>
        <p:nvSpPr>
          <p:cNvPr id="19" name="Shape 17"/>
          <p:cNvSpPr/>
          <p:nvPr/>
        </p:nvSpPr>
        <p:spPr>
          <a:xfrm>
            <a:off x="2633472" y="2450592"/>
            <a:ext cx="3794760" cy="467868"/>
          </a:xfrm>
          <a:prstGeom prst="rect">
            <a:avLst/>
          </a:prstGeom>
          <a:solidFill>
            <a:srgbClr val="FFFFFF"/>
          </a:solidFill>
          <a:ln w="5715">
            <a:solidFill>
              <a:srgbClr val="E2E6E2"/>
            </a:solidFill>
            <a:prstDash val="solid"/>
          </a:ln>
        </p:spPr>
      </p:sp>
      <p:sp>
        <p:nvSpPr>
          <p:cNvPr id="20" name="Text 18"/>
          <p:cNvSpPr/>
          <p:nvPr/>
        </p:nvSpPr>
        <p:spPr>
          <a:xfrm>
            <a:off x="2724912" y="249631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One organisational and asset hierarchy every product inherits.</a:t>
            </a:r>
            <a:endParaRPr lang="en-US" sz="800" dirty="0"/>
          </a:p>
        </p:txBody>
      </p:sp>
      <p:sp>
        <p:nvSpPr>
          <p:cNvPr id="21" name="Shape 19"/>
          <p:cNvSpPr/>
          <p:nvPr/>
        </p:nvSpPr>
        <p:spPr>
          <a:xfrm>
            <a:off x="6428232" y="2450592"/>
            <a:ext cx="1371600" cy="467868"/>
          </a:xfrm>
          <a:prstGeom prst="rect">
            <a:avLst/>
          </a:prstGeom>
          <a:solidFill>
            <a:srgbClr val="FFFFFF"/>
          </a:solidFill>
          <a:ln w="5715">
            <a:solidFill>
              <a:srgbClr val="E2E6E2"/>
            </a:solidFill>
            <a:prstDash val="solid"/>
          </a:ln>
        </p:spPr>
      </p:sp>
      <p:sp>
        <p:nvSpPr>
          <p:cNvPr id="22" name="Shape 20"/>
          <p:cNvSpPr/>
          <p:nvPr/>
        </p:nvSpPr>
        <p:spPr>
          <a:xfrm>
            <a:off x="6501384" y="2565654"/>
            <a:ext cx="1225296" cy="237744"/>
          </a:xfrm>
          <a:prstGeom prst="roundRect">
            <a:avLst>
              <a:gd name="adj" fmla="val 46154"/>
            </a:avLst>
          </a:prstGeom>
          <a:solidFill>
            <a:srgbClr val="EAF8ED"/>
          </a:solidFill>
          <a:ln w="6350">
            <a:solidFill>
              <a:srgbClr val="3DCD58"/>
            </a:solidFill>
            <a:prstDash val="solid"/>
          </a:ln>
        </p:spPr>
      </p:sp>
      <p:sp>
        <p:nvSpPr>
          <p:cNvPr id="23" name="Text 21"/>
          <p:cNvSpPr/>
          <p:nvPr/>
        </p:nvSpPr>
        <p:spPr>
          <a:xfrm>
            <a:off x="6501384" y="256565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24" name="Shape 22"/>
          <p:cNvSpPr/>
          <p:nvPr/>
        </p:nvSpPr>
        <p:spPr>
          <a:xfrm>
            <a:off x="7799832" y="2450592"/>
            <a:ext cx="3767328" cy="467868"/>
          </a:xfrm>
          <a:prstGeom prst="rect">
            <a:avLst/>
          </a:prstGeom>
          <a:solidFill>
            <a:srgbClr val="FFFFFF"/>
          </a:solidFill>
          <a:ln w="5715">
            <a:solidFill>
              <a:srgbClr val="E2E6E2"/>
            </a:solidFill>
            <a:prstDash val="solid"/>
          </a:ln>
        </p:spPr>
      </p:sp>
      <p:sp>
        <p:nvSpPr>
          <p:cNvPr id="25" name="Text 23"/>
          <p:cNvSpPr/>
          <p:nvPr/>
        </p:nvSpPr>
        <p:spPr>
          <a:xfrm>
            <a:off x="7891272" y="249631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Multi product rivals commonly run separate models per product.</a:t>
            </a:r>
            <a:endParaRPr lang="en-US" sz="800" dirty="0"/>
          </a:p>
        </p:txBody>
      </p:sp>
      <p:sp>
        <p:nvSpPr>
          <p:cNvPr id="26" name="Shape 24"/>
          <p:cNvSpPr/>
          <p:nvPr/>
        </p:nvSpPr>
        <p:spPr>
          <a:xfrm>
            <a:off x="621792" y="2918460"/>
            <a:ext cx="2011680" cy="467868"/>
          </a:xfrm>
          <a:prstGeom prst="rect">
            <a:avLst/>
          </a:prstGeom>
          <a:solidFill>
            <a:srgbClr val="F1F3F2"/>
          </a:solidFill>
          <a:ln w="5715">
            <a:solidFill>
              <a:srgbClr val="E2E6E2"/>
            </a:solidFill>
            <a:prstDash val="solid"/>
          </a:ln>
        </p:spPr>
      </p:sp>
      <p:sp>
        <p:nvSpPr>
          <p:cNvPr id="27" name="Text 25"/>
          <p:cNvSpPr/>
          <p:nvPr/>
        </p:nvSpPr>
        <p:spPr>
          <a:xfrm>
            <a:off x="713232" y="2964180"/>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Calculation and factor engine</a:t>
            </a:r>
            <a:endParaRPr lang="en-US" sz="900" dirty="0"/>
          </a:p>
        </p:txBody>
      </p:sp>
      <p:sp>
        <p:nvSpPr>
          <p:cNvPr id="28" name="Shape 26"/>
          <p:cNvSpPr/>
          <p:nvPr/>
        </p:nvSpPr>
        <p:spPr>
          <a:xfrm>
            <a:off x="2633472" y="2918460"/>
            <a:ext cx="3794760" cy="467868"/>
          </a:xfrm>
          <a:prstGeom prst="rect">
            <a:avLst/>
          </a:prstGeom>
          <a:solidFill>
            <a:srgbClr val="F1F3F2"/>
          </a:solidFill>
          <a:ln w="5715">
            <a:solidFill>
              <a:srgbClr val="E2E6E2"/>
            </a:solidFill>
            <a:prstDash val="solid"/>
          </a:ln>
        </p:spPr>
      </p:sp>
      <p:sp>
        <p:nvSpPr>
          <p:cNvPr id="29" name="Text 27"/>
          <p:cNvSpPr/>
          <p:nvPr/>
        </p:nvSpPr>
        <p:spPr>
          <a:xfrm>
            <a:off x="2724912" y="2964180"/>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Built once, consumed by every product.</a:t>
            </a:r>
            <a:endParaRPr lang="en-US" sz="800" dirty="0"/>
          </a:p>
        </p:txBody>
      </p:sp>
      <p:sp>
        <p:nvSpPr>
          <p:cNvPr id="30" name="Shape 28"/>
          <p:cNvSpPr/>
          <p:nvPr/>
        </p:nvSpPr>
        <p:spPr>
          <a:xfrm>
            <a:off x="6428232" y="2918460"/>
            <a:ext cx="1371600" cy="467868"/>
          </a:xfrm>
          <a:prstGeom prst="rect">
            <a:avLst/>
          </a:prstGeom>
          <a:solidFill>
            <a:srgbClr val="F1F3F2"/>
          </a:solidFill>
          <a:ln w="5715">
            <a:solidFill>
              <a:srgbClr val="E2E6E2"/>
            </a:solidFill>
            <a:prstDash val="solid"/>
          </a:ln>
        </p:spPr>
      </p:sp>
      <p:sp>
        <p:nvSpPr>
          <p:cNvPr id="31" name="Shape 29"/>
          <p:cNvSpPr/>
          <p:nvPr/>
        </p:nvSpPr>
        <p:spPr>
          <a:xfrm>
            <a:off x="6501384" y="3033522"/>
            <a:ext cx="1225296" cy="237744"/>
          </a:xfrm>
          <a:prstGeom prst="roundRect">
            <a:avLst>
              <a:gd name="adj" fmla="val 46154"/>
            </a:avLst>
          </a:prstGeom>
          <a:solidFill>
            <a:srgbClr val="EAF8ED"/>
          </a:solidFill>
          <a:ln w="6350">
            <a:solidFill>
              <a:srgbClr val="3DCD58"/>
            </a:solidFill>
            <a:prstDash val="solid"/>
          </a:ln>
        </p:spPr>
      </p:sp>
      <p:sp>
        <p:nvSpPr>
          <p:cNvPr id="32" name="Text 30"/>
          <p:cNvSpPr/>
          <p:nvPr/>
        </p:nvSpPr>
        <p:spPr>
          <a:xfrm>
            <a:off x="6501384" y="303352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33" name="Shape 31"/>
          <p:cNvSpPr/>
          <p:nvPr/>
        </p:nvSpPr>
        <p:spPr>
          <a:xfrm>
            <a:off x="7799832" y="2918460"/>
            <a:ext cx="3767328" cy="467868"/>
          </a:xfrm>
          <a:prstGeom prst="rect">
            <a:avLst/>
          </a:prstGeom>
          <a:solidFill>
            <a:srgbClr val="F1F3F2"/>
          </a:solidFill>
          <a:ln w="5715">
            <a:solidFill>
              <a:srgbClr val="E2E6E2"/>
            </a:solidFill>
            <a:prstDash val="solid"/>
          </a:ln>
        </p:spPr>
      </p:sp>
      <p:sp>
        <p:nvSpPr>
          <p:cNvPr id="34" name="Text 32"/>
          <p:cNvSpPr/>
          <p:nvPr/>
        </p:nvSpPr>
        <p:spPr>
          <a:xfrm>
            <a:off x="7891272" y="2964180"/>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Point solutions duplicate calculation logic.</a:t>
            </a:r>
            <a:endParaRPr lang="en-US" sz="800" dirty="0"/>
          </a:p>
        </p:txBody>
      </p:sp>
      <p:sp>
        <p:nvSpPr>
          <p:cNvPr id="35" name="Shape 33"/>
          <p:cNvSpPr/>
          <p:nvPr/>
        </p:nvSpPr>
        <p:spPr>
          <a:xfrm>
            <a:off x="621792" y="3386328"/>
            <a:ext cx="2011680" cy="467868"/>
          </a:xfrm>
          <a:prstGeom prst="rect">
            <a:avLst/>
          </a:prstGeom>
          <a:solidFill>
            <a:srgbClr val="FFFFFF"/>
          </a:solidFill>
          <a:ln w="5715">
            <a:solidFill>
              <a:srgbClr val="E2E6E2"/>
            </a:solidFill>
            <a:prstDash val="solid"/>
          </a:ln>
        </p:spPr>
      </p:sp>
      <p:sp>
        <p:nvSpPr>
          <p:cNvPr id="36" name="Text 34"/>
          <p:cNvSpPr/>
          <p:nvPr/>
        </p:nvSpPr>
        <p:spPr>
          <a:xfrm>
            <a:off x="713232" y="3432048"/>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Config engine, calc methods, templates</a:t>
            </a:r>
            <a:endParaRPr lang="en-US" sz="900" dirty="0"/>
          </a:p>
        </p:txBody>
      </p:sp>
      <p:sp>
        <p:nvSpPr>
          <p:cNvPr id="37" name="Shape 35"/>
          <p:cNvSpPr/>
          <p:nvPr/>
        </p:nvSpPr>
        <p:spPr>
          <a:xfrm>
            <a:off x="2633472" y="3386328"/>
            <a:ext cx="3794760" cy="467868"/>
          </a:xfrm>
          <a:prstGeom prst="rect">
            <a:avLst/>
          </a:prstGeom>
          <a:solidFill>
            <a:srgbClr val="FFFFFF"/>
          </a:solidFill>
          <a:ln w="5715">
            <a:solidFill>
              <a:srgbClr val="E2E6E2"/>
            </a:solidFill>
            <a:prstDash val="solid"/>
          </a:ln>
        </p:spPr>
      </p:sp>
      <p:sp>
        <p:nvSpPr>
          <p:cNvPr id="38" name="Text 36"/>
          <p:cNvSpPr/>
          <p:nvPr/>
        </p:nvSpPr>
        <p:spPr>
          <a:xfrm>
            <a:off x="2724912" y="3432048"/>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Configuration promoted and reused across products and clients.</a:t>
            </a:r>
            <a:endParaRPr lang="en-US" sz="800" dirty="0"/>
          </a:p>
        </p:txBody>
      </p:sp>
      <p:sp>
        <p:nvSpPr>
          <p:cNvPr id="39" name="Shape 37"/>
          <p:cNvSpPr/>
          <p:nvPr/>
        </p:nvSpPr>
        <p:spPr>
          <a:xfrm>
            <a:off x="6428232" y="3386328"/>
            <a:ext cx="1371600" cy="467868"/>
          </a:xfrm>
          <a:prstGeom prst="rect">
            <a:avLst/>
          </a:prstGeom>
          <a:solidFill>
            <a:srgbClr val="FFFFFF"/>
          </a:solidFill>
          <a:ln w="5715">
            <a:solidFill>
              <a:srgbClr val="E2E6E2"/>
            </a:solidFill>
            <a:prstDash val="solid"/>
          </a:ln>
        </p:spPr>
      </p:sp>
      <p:sp>
        <p:nvSpPr>
          <p:cNvPr id="40" name="Shape 38"/>
          <p:cNvSpPr/>
          <p:nvPr/>
        </p:nvSpPr>
        <p:spPr>
          <a:xfrm>
            <a:off x="6501384" y="3501390"/>
            <a:ext cx="1225296" cy="237744"/>
          </a:xfrm>
          <a:prstGeom prst="roundRect">
            <a:avLst>
              <a:gd name="adj" fmla="val 46154"/>
            </a:avLst>
          </a:prstGeom>
          <a:solidFill>
            <a:srgbClr val="F1F3F2"/>
          </a:solidFill>
          <a:ln w="6350">
            <a:solidFill>
              <a:srgbClr val="E2E6E2"/>
            </a:solidFill>
            <a:prstDash val="solid"/>
          </a:ln>
        </p:spPr>
      </p:sp>
      <p:sp>
        <p:nvSpPr>
          <p:cNvPr id="41" name="Text 39"/>
          <p:cNvSpPr/>
          <p:nvPr/>
        </p:nvSpPr>
        <p:spPr>
          <a:xfrm>
            <a:off x="6501384" y="350139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42" name="Shape 40"/>
          <p:cNvSpPr/>
          <p:nvPr/>
        </p:nvSpPr>
        <p:spPr>
          <a:xfrm>
            <a:off x="7799832" y="3386328"/>
            <a:ext cx="3767328" cy="467868"/>
          </a:xfrm>
          <a:prstGeom prst="rect">
            <a:avLst/>
          </a:prstGeom>
          <a:solidFill>
            <a:srgbClr val="FFFFFF"/>
          </a:solidFill>
          <a:ln w="5715">
            <a:solidFill>
              <a:srgbClr val="E2E6E2"/>
            </a:solidFill>
            <a:prstDash val="solid"/>
          </a:ln>
        </p:spPr>
      </p:sp>
      <p:sp>
        <p:nvSpPr>
          <p:cNvPr id="43" name="Text 41"/>
          <p:cNvSpPr/>
          <p:nvPr/>
        </p:nvSpPr>
        <p:spPr>
          <a:xfrm>
            <a:off x="7891272" y="3432048"/>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Comparable to leading platforms.</a:t>
            </a:r>
            <a:endParaRPr lang="en-US" sz="800" dirty="0"/>
          </a:p>
        </p:txBody>
      </p:sp>
      <p:sp>
        <p:nvSpPr>
          <p:cNvPr id="44" name="Shape 42"/>
          <p:cNvSpPr/>
          <p:nvPr/>
        </p:nvSpPr>
        <p:spPr>
          <a:xfrm>
            <a:off x="621792" y="3854196"/>
            <a:ext cx="2011680" cy="467868"/>
          </a:xfrm>
          <a:prstGeom prst="rect">
            <a:avLst/>
          </a:prstGeom>
          <a:solidFill>
            <a:srgbClr val="F1F3F2"/>
          </a:solidFill>
          <a:ln w="5715">
            <a:solidFill>
              <a:srgbClr val="E2E6E2"/>
            </a:solidFill>
            <a:prstDash val="solid"/>
          </a:ln>
        </p:spPr>
      </p:sp>
      <p:sp>
        <p:nvSpPr>
          <p:cNvPr id="45" name="Text 43"/>
          <p:cNvSpPr/>
          <p:nvPr/>
        </p:nvSpPr>
        <p:spPr>
          <a:xfrm>
            <a:off x="713232" y="3899916"/>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Ingestion and data quality</a:t>
            </a:r>
            <a:endParaRPr lang="en-US" sz="900" dirty="0"/>
          </a:p>
        </p:txBody>
      </p:sp>
      <p:sp>
        <p:nvSpPr>
          <p:cNvPr id="46" name="Shape 44"/>
          <p:cNvSpPr/>
          <p:nvPr/>
        </p:nvSpPr>
        <p:spPr>
          <a:xfrm>
            <a:off x="2633472" y="3854196"/>
            <a:ext cx="3794760" cy="467868"/>
          </a:xfrm>
          <a:prstGeom prst="rect">
            <a:avLst/>
          </a:prstGeom>
          <a:solidFill>
            <a:srgbClr val="F1F3F2"/>
          </a:solidFill>
          <a:ln w="5715">
            <a:solidFill>
              <a:srgbClr val="E2E6E2"/>
            </a:solidFill>
            <a:prstDash val="solid"/>
          </a:ln>
        </p:spPr>
      </p:sp>
      <p:sp>
        <p:nvSpPr>
          <p:cNvPr id="47" name="Text 45"/>
          <p:cNvSpPr/>
          <p:nvPr/>
        </p:nvSpPr>
        <p:spPr>
          <a:xfrm>
            <a:off x="2724912" y="3899916"/>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Advanced ingestion, transformation rules and quality scoring.</a:t>
            </a:r>
            <a:endParaRPr lang="en-US" sz="800" dirty="0"/>
          </a:p>
        </p:txBody>
      </p:sp>
      <p:sp>
        <p:nvSpPr>
          <p:cNvPr id="48" name="Shape 46"/>
          <p:cNvSpPr/>
          <p:nvPr/>
        </p:nvSpPr>
        <p:spPr>
          <a:xfrm>
            <a:off x="6428232" y="3854196"/>
            <a:ext cx="1371600" cy="467868"/>
          </a:xfrm>
          <a:prstGeom prst="rect">
            <a:avLst/>
          </a:prstGeom>
          <a:solidFill>
            <a:srgbClr val="F1F3F2"/>
          </a:solidFill>
          <a:ln w="5715">
            <a:solidFill>
              <a:srgbClr val="E2E6E2"/>
            </a:solidFill>
            <a:prstDash val="solid"/>
          </a:ln>
        </p:spPr>
      </p:sp>
      <p:sp>
        <p:nvSpPr>
          <p:cNvPr id="49" name="Shape 47"/>
          <p:cNvSpPr/>
          <p:nvPr/>
        </p:nvSpPr>
        <p:spPr>
          <a:xfrm>
            <a:off x="6501384" y="3969258"/>
            <a:ext cx="1225296" cy="237744"/>
          </a:xfrm>
          <a:prstGeom prst="roundRect">
            <a:avLst>
              <a:gd name="adj" fmla="val 46154"/>
            </a:avLst>
          </a:prstGeom>
          <a:solidFill>
            <a:srgbClr val="F1F3F2"/>
          </a:solidFill>
          <a:ln w="6350">
            <a:solidFill>
              <a:srgbClr val="E2E6E2"/>
            </a:solidFill>
            <a:prstDash val="solid"/>
          </a:ln>
        </p:spPr>
      </p:sp>
      <p:sp>
        <p:nvSpPr>
          <p:cNvPr id="50" name="Text 48"/>
          <p:cNvSpPr/>
          <p:nvPr/>
        </p:nvSpPr>
        <p:spPr>
          <a:xfrm>
            <a:off x="6501384" y="396925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51" name="Shape 49"/>
          <p:cNvSpPr/>
          <p:nvPr/>
        </p:nvSpPr>
        <p:spPr>
          <a:xfrm>
            <a:off x="7799832" y="3854196"/>
            <a:ext cx="3767328" cy="467868"/>
          </a:xfrm>
          <a:prstGeom prst="rect">
            <a:avLst/>
          </a:prstGeom>
          <a:solidFill>
            <a:srgbClr val="F1F3F2"/>
          </a:solidFill>
          <a:ln w="5715">
            <a:solidFill>
              <a:srgbClr val="E2E6E2"/>
            </a:solidFill>
            <a:prstDash val="solid"/>
          </a:ln>
        </p:spPr>
      </p:sp>
      <p:sp>
        <p:nvSpPr>
          <p:cNvPr id="52" name="Text 50"/>
          <p:cNvSpPr/>
          <p:nvPr/>
        </p:nvSpPr>
        <p:spPr>
          <a:xfrm>
            <a:off x="7891272" y="3899916"/>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Table stakes at enterprise scale.</a:t>
            </a:r>
            <a:endParaRPr lang="en-US" sz="800" dirty="0"/>
          </a:p>
        </p:txBody>
      </p:sp>
      <p:sp>
        <p:nvSpPr>
          <p:cNvPr id="53" name="Shape 51"/>
          <p:cNvSpPr/>
          <p:nvPr/>
        </p:nvSpPr>
        <p:spPr>
          <a:xfrm>
            <a:off x="621792" y="4322064"/>
            <a:ext cx="2011680" cy="467868"/>
          </a:xfrm>
          <a:prstGeom prst="rect">
            <a:avLst/>
          </a:prstGeom>
          <a:solidFill>
            <a:srgbClr val="FFFFFF"/>
          </a:solidFill>
          <a:ln w="5715">
            <a:solidFill>
              <a:srgbClr val="E2E6E2"/>
            </a:solidFill>
            <a:prstDash val="solid"/>
          </a:ln>
        </p:spPr>
      </p:sp>
      <p:sp>
        <p:nvSpPr>
          <p:cNvPr id="54" name="Text 52"/>
          <p:cNvSpPr/>
          <p:nvPr/>
        </p:nvSpPr>
        <p:spPr>
          <a:xfrm>
            <a:off x="713232" y="4367784"/>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Lineage, evidence and audit trail</a:t>
            </a:r>
            <a:endParaRPr lang="en-US" sz="900" dirty="0"/>
          </a:p>
        </p:txBody>
      </p:sp>
      <p:sp>
        <p:nvSpPr>
          <p:cNvPr id="55" name="Shape 53"/>
          <p:cNvSpPr/>
          <p:nvPr/>
        </p:nvSpPr>
        <p:spPr>
          <a:xfrm>
            <a:off x="2633472" y="4322064"/>
            <a:ext cx="3794760" cy="467868"/>
          </a:xfrm>
          <a:prstGeom prst="rect">
            <a:avLst/>
          </a:prstGeom>
          <a:solidFill>
            <a:srgbClr val="FFFFFF"/>
          </a:solidFill>
          <a:ln w="5715">
            <a:solidFill>
              <a:srgbClr val="E2E6E2"/>
            </a:solidFill>
            <a:prstDash val="solid"/>
          </a:ln>
        </p:spPr>
      </p:sp>
      <p:sp>
        <p:nvSpPr>
          <p:cNvPr id="56" name="Text 54"/>
          <p:cNvSpPr/>
          <p:nvPr/>
        </p:nvSpPr>
        <p:spPr>
          <a:xfrm>
            <a:off x="2724912" y="4367784"/>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Traceability from raw data point to disclosed number.</a:t>
            </a:r>
            <a:endParaRPr lang="en-US" sz="800" dirty="0"/>
          </a:p>
        </p:txBody>
      </p:sp>
      <p:sp>
        <p:nvSpPr>
          <p:cNvPr id="57" name="Shape 55"/>
          <p:cNvSpPr/>
          <p:nvPr/>
        </p:nvSpPr>
        <p:spPr>
          <a:xfrm>
            <a:off x="6428232" y="4322064"/>
            <a:ext cx="1371600" cy="467868"/>
          </a:xfrm>
          <a:prstGeom prst="rect">
            <a:avLst/>
          </a:prstGeom>
          <a:solidFill>
            <a:srgbClr val="FFFFFF"/>
          </a:solidFill>
          <a:ln w="5715">
            <a:solidFill>
              <a:srgbClr val="E2E6E2"/>
            </a:solidFill>
            <a:prstDash val="solid"/>
          </a:ln>
        </p:spPr>
      </p:sp>
      <p:sp>
        <p:nvSpPr>
          <p:cNvPr id="58" name="Shape 56"/>
          <p:cNvSpPr/>
          <p:nvPr/>
        </p:nvSpPr>
        <p:spPr>
          <a:xfrm>
            <a:off x="6501384" y="4437126"/>
            <a:ext cx="1225296" cy="237744"/>
          </a:xfrm>
          <a:prstGeom prst="roundRect">
            <a:avLst>
              <a:gd name="adj" fmla="val 46154"/>
            </a:avLst>
          </a:prstGeom>
          <a:solidFill>
            <a:srgbClr val="F1F3F2"/>
          </a:solidFill>
          <a:ln w="6350">
            <a:solidFill>
              <a:srgbClr val="E2E6E2"/>
            </a:solidFill>
            <a:prstDash val="solid"/>
          </a:ln>
        </p:spPr>
      </p:sp>
      <p:sp>
        <p:nvSpPr>
          <p:cNvPr id="59" name="Text 57"/>
          <p:cNvSpPr/>
          <p:nvPr/>
        </p:nvSpPr>
        <p:spPr>
          <a:xfrm>
            <a:off x="6501384" y="443712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0" name="Shape 58"/>
          <p:cNvSpPr/>
          <p:nvPr/>
        </p:nvSpPr>
        <p:spPr>
          <a:xfrm>
            <a:off x="7799832" y="4322064"/>
            <a:ext cx="3767328" cy="467868"/>
          </a:xfrm>
          <a:prstGeom prst="rect">
            <a:avLst/>
          </a:prstGeom>
          <a:solidFill>
            <a:srgbClr val="FFFFFF"/>
          </a:solidFill>
          <a:ln w="5715">
            <a:solidFill>
              <a:srgbClr val="E2E6E2"/>
            </a:solidFill>
            <a:prstDash val="solid"/>
          </a:ln>
        </p:spPr>
      </p:sp>
      <p:sp>
        <p:nvSpPr>
          <p:cNvPr id="61" name="Text 59"/>
          <p:cNvSpPr/>
          <p:nvPr/>
        </p:nvSpPr>
        <p:spPr>
          <a:xfrm>
            <a:off x="7891272" y="4367784"/>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by enterprise buyers and available from leading platforms.</a:t>
            </a:r>
            <a:endParaRPr lang="en-US" sz="800" dirty="0"/>
          </a:p>
        </p:txBody>
      </p:sp>
      <p:sp>
        <p:nvSpPr>
          <p:cNvPr id="62" name="Shape 60"/>
          <p:cNvSpPr/>
          <p:nvPr/>
        </p:nvSpPr>
        <p:spPr>
          <a:xfrm>
            <a:off x="621792" y="4789932"/>
            <a:ext cx="2011680" cy="467868"/>
          </a:xfrm>
          <a:prstGeom prst="rect">
            <a:avLst/>
          </a:prstGeom>
          <a:solidFill>
            <a:srgbClr val="F1F3F2"/>
          </a:solidFill>
          <a:ln w="5715">
            <a:solidFill>
              <a:srgbClr val="E2E6E2"/>
            </a:solidFill>
            <a:prstDash val="solid"/>
          </a:ln>
        </p:spPr>
      </p:sp>
      <p:sp>
        <p:nvSpPr>
          <p:cNvPr id="63" name="Text 61"/>
          <p:cNvSpPr/>
          <p:nvPr/>
        </p:nvSpPr>
        <p:spPr>
          <a:xfrm>
            <a:off x="713232" y="483565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Scale and performance</a:t>
            </a:r>
            <a:endParaRPr lang="en-US" sz="900" dirty="0"/>
          </a:p>
        </p:txBody>
      </p:sp>
      <p:sp>
        <p:nvSpPr>
          <p:cNvPr id="64" name="Shape 62"/>
          <p:cNvSpPr/>
          <p:nvPr/>
        </p:nvSpPr>
        <p:spPr>
          <a:xfrm>
            <a:off x="2633472" y="4789932"/>
            <a:ext cx="3794760" cy="467868"/>
          </a:xfrm>
          <a:prstGeom prst="rect">
            <a:avLst/>
          </a:prstGeom>
          <a:solidFill>
            <a:srgbClr val="F1F3F2"/>
          </a:solidFill>
          <a:ln w="5715">
            <a:solidFill>
              <a:srgbClr val="E2E6E2"/>
            </a:solidFill>
            <a:prstDash val="solid"/>
          </a:ln>
        </p:spPr>
      </p:sp>
      <p:sp>
        <p:nvSpPr>
          <p:cNvPr id="65" name="Text 63"/>
          <p:cNvSpPr/>
          <p:nvPr/>
        </p:nvSpPr>
        <p:spPr>
          <a:xfrm>
            <a:off x="2724912" y="483565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Enterprise scale performance across the product family.</a:t>
            </a:r>
            <a:endParaRPr lang="en-US" sz="800" dirty="0"/>
          </a:p>
        </p:txBody>
      </p:sp>
      <p:sp>
        <p:nvSpPr>
          <p:cNvPr id="66" name="Shape 64"/>
          <p:cNvSpPr/>
          <p:nvPr/>
        </p:nvSpPr>
        <p:spPr>
          <a:xfrm>
            <a:off x="6428232" y="4789932"/>
            <a:ext cx="1371600" cy="467868"/>
          </a:xfrm>
          <a:prstGeom prst="rect">
            <a:avLst/>
          </a:prstGeom>
          <a:solidFill>
            <a:srgbClr val="F1F3F2"/>
          </a:solidFill>
          <a:ln w="5715">
            <a:solidFill>
              <a:srgbClr val="E2E6E2"/>
            </a:solidFill>
            <a:prstDash val="solid"/>
          </a:ln>
        </p:spPr>
      </p:sp>
      <p:sp>
        <p:nvSpPr>
          <p:cNvPr id="67" name="Shape 65"/>
          <p:cNvSpPr/>
          <p:nvPr/>
        </p:nvSpPr>
        <p:spPr>
          <a:xfrm>
            <a:off x="6501384" y="4904994"/>
            <a:ext cx="1225296" cy="237744"/>
          </a:xfrm>
          <a:prstGeom prst="roundRect">
            <a:avLst>
              <a:gd name="adj" fmla="val 46154"/>
            </a:avLst>
          </a:prstGeom>
          <a:solidFill>
            <a:srgbClr val="FFF4E3"/>
          </a:solidFill>
          <a:ln w="6350">
            <a:solidFill>
              <a:srgbClr val="FFB04C"/>
            </a:solidFill>
            <a:prstDash val="solid"/>
          </a:ln>
        </p:spPr>
      </p:sp>
      <p:sp>
        <p:nvSpPr>
          <p:cNvPr id="68" name="Text 66"/>
          <p:cNvSpPr/>
          <p:nvPr/>
        </p:nvSpPr>
        <p:spPr>
          <a:xfrm>
            <a:off x="6501384" y="490499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69" name="Shape 67"/>
          <p:cNvSpPr/>
          <p:nvPr/>
        </p:nvSpPr>
        <p:spPr>
          <a:xfrm>
            <a:off x="7799832" y="4789932"/>
            <a:ext cx="3767328" cy="467868"/>
          </a:xfrm>
          <a:prstGeom prst="rect">
            <a:avLst/>
          </a:prstGeom>
          <a:solidFill>
            <a:srgbClr val="F1F3F2"/>
          </a:solidFill>
          <a:ln w="5715">
            <a:solidFill>
              <a:srgbClr val="E2E6E2"/>
            </a:solidFill>
            <a:prstDash val="solid"/>
          </a:ln>
        </p:spPr>
      </p:sp>
      <p:sp>
        <p:nvSpPr>
          <p:cNvPr id="70" name="Text 68"/>
          <p:cNvSpPr/>
          <p:nvPr/>
        </p:nvSpPr>
        <p:spPr>
          <a:xfrm>
            <a:off x="7891272" y="483565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Venture funded rivals invest heavily here.</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Roughly a third of capacity protected for core is what makes every product level claim on the previous slides defensible.</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 and Verdantix Green Quadrant Enterprise Carbon Management Software 2026 market framing. Positions are our own assessment, not a vendor certification.</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76275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43357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HEAD TO HEAD: ENERGY MANAGEMENT</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RA+ Energy &amp; Efficiency vs the energy management field</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IBM Envizi, EnergyCAP, Accruent, Arcadia and Honeywell Forge each cover part of the problem. None of them take energy data all the way to carbon, sourcing, flexibility and funded action on one platform.</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011680" cy="365760"/>
          </a:xfrm>
          <a:prstGeom prst="rect">
            <a:avLst/>
          </a:prstGeom>
          <a:solidFill>
            <a:srgbClr val="005730"/>
          </a:solidFill>
          <a:ln w="5715">
            <a:solidFill>
              <a:srgbClr val="397257"/>
            </a:solidFill>
            <a:prstDash val="solid"/>
          </a:ln>
        </p:spPr>
      </p:sp>
      <p:sp>
        <p:nvSpPr>
          <p:cNvPr id="10" name="Text 8"/>
          <p:cNvSpPr/>
          <p:nvPr/>
        </p:nvSpPr>
        <p:spPr>
          <a:xfrm>
            <a:off x="713232" y="2084832"/>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084832"/>
            <a:ext cx="3794760" cy="365760"/>
          </a:xfrm>
          <a:prstGeom prst="rect">
            <a:avLst/>
          </a:prstGeom>
          <a:solidFill>
            <a:srgbClr val="005730"/>
          </a:solidFill>
          <a:ln w="5715">
            <a:solidFill>
              <a:srgbClr val="397257"/>
            </a:solidFill>
            <a:prstDash val="solid"/>
          </a:ln>
        </p:spPr>
      </p:sp>
      <p:sp>
        <p:nvSpPr>
          <p:cNvPr id="12" name="Text 10"/>
          <p:cNvSpPr/>
          <p:nvPr/>
        </p:nvSpPr>
        <p:spPr>
          <a:xfrm>
            <a:off x="2724912" y="2084832"/>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084832"/>
            <a:ext cx="1371600" cy="365760"/>
          </a:xfrm>
          <a:prstGeom prst="rect">
            <a:avLst/>
          </a:prstGeom>
          <a:solidFill>
            <a:srgbClr val="005730"/>
          </a:solidFill>
          <a:ln w="5715">
            <a:solidFill>
              <a:srgbClr val="397257"/>
            </a:solidFill>
            <a:prstDash val="solid"/>
          </a:ln>
        </p:spPr>
      </p:sp>
      <p:sp>
        <p:nvSpPr>
          <p:cNvPr id="14" name="Text 12"/>
          <p:cNvSpPr/>
          <p:nvPr/>
        </p:nvSpPr>
        <p:spPr>
          <a:xfrm>
            <a:off x="6519672" y="2084832"/>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POSITION</a:t>
            </a:r>
            <a:endParaRPr lang="en-US" sz="760" dirty="0"/>
          </a:p>
        </p:txBody>
      </p:sp>
      <p:sp>
        <p:nvSpPr>
          <p:cNvPr id="15" name="Shape 13"/>
          <p:cNvSpPr/>
          <p:nvPr/>
        </p:nvSpPr>
        <p:spPr>
          <a:xfrm>
            <a:off x="7799832" y="2084832"/>
            <a:ext cx="3767328" cy="365760"/>
          </a:xfrm>
          <a:prstGeom prst="rect">
            <a:avLst/>
          </a:prstGeom>
          <a:solidFill>
            <a:srgbClr val="005730"/>
          </a:solidFill>
          <a:ln w="5715">
            <a:solidFill>
              <a:srgbClr val="397257"/>
            </a:solidFill>
            <a:prstDash val="solid"/>
          </a:ln>
        </p:spPr>
      </p:sp>
      <p:sp>
        <p:nvSpPr>
          <p:cNvPr id="16" name="Text 14"/>
          <p:cNvSpPr/>
          <p:nvPr/>
        </p:nvSpPr>
        <p:spPr>
          <a:xfrm>
            <a:off x="7891272" y="2084832"/>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450592"/>
            <a:ext cx="2011680" cy="467868"/>
          </a:xfrm>
          <a:prstGeom prst="rect">
            <a:avLst/>
          </a:prstGeom>
          <a:solidFill>
            <a:srgbClr val="FFFFFF"/>
          </a:solidFill>
          <a:ln w="5715">
            <a:solidFill>
              <a:srgbClr val="E2E6E2"/>
            </a:solidFill>
            <a:prstDash val="solid"/>
          </a:ln>
        </p:spPr>
      </p:sp>
      <p:sp>
        <p:nvSpPr>
          <p:cNvPr id="18" name="Text 16"/>
          <p:cNvSpPr/>
          <p:nvPr/>
        </p:nvSpPr>
        <p:spPr>
          <a:xfrm>
            <a:off x="713232" y="249631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Metering and interval data</a:t>
            </a:r>
            <a:endParaRPr lang="en-US" sz="900" dirty="0"/>
          </a:p>
        </p:txBody>
      </p:sp>
      <p:sp>
        <p:nvSpPr>
          <p:cNvPr id="19" name="Shape 17"/>
          <p:cNvSpPr/>
          <p:nvPr/>
        </p:nvSpPr>
        <p:spPr>
          <a:xfrm>
            <a:off x="2633472" y="2450592"/>
            <a:ext cx="3794760" cy="467868"/>
          </a:xfrm>
          <a:prstGeom prst="rect">
            <a:avLst/>
          </a:prstGeom>
          <a:solidFill>
            <a:srgbClr val="FFFFFF"/>
          </a:solidFill>
          <a:ln w="5715">
            <a:solidFill>
              <a:srgbClr val="E2E6E2"/>
            </a:solidFill>
            <a:prstDash val="solid"/>
          </a:ln>
        </p:spPr>
      </p:sp>
      <p:sp>
        <p:nvSpPr>
          <p:cNvPr id="20" name="Text 18"/>
          <p:cNvSpPr/>
          <p:nvPr/>
        </p:nvSpPr>
        <p:spPr>
          <a:xfrm>
            <a:off x="2724912" y="249631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Metering &amp; Interval Data as the shared data spine: interval capture, M&amp;V baselines, utility connectivity.</a:t>
            </a:r>
            <a:endParaRPr lang="en-US" sz="800" dirty="0"/>
          </a:p>
        </p:txBody>
      </p:sp>
      <p:sp>
        <p:nvSpPr>
          <p:cNvPr id="21" name="Shape 19"/>
          <p:cNvSpPr/>
          <p:nvPr/>
        </p:nvSpPr>
        <p:spPr>
          <a:xfrm>
            <a:off x="6428232" y="2450592"/>
            <a:ext cx="1371600" cy="467868"/>
          </a:xfrm>
          <a:prstGeom prst="rect">
            <a:avLst/>
          </a:prstGeom>
          <a:solidFill>
            <a:srgbClr val="FFFFFF"/>
          </a:solidFill>
          <a:ln w="5715">
            <a:solidFill>
              <a:srgbClr val="E2E6E2"/>
            </a:solidFill>
            <a:prstDash val="solid"/>
          </a:ln>
        </p:spPr>
      </p:sp>
      <p:sp>
        <p:nvSpPr>
          <p:cNvPr id="22" name="Shape 20"/>
          <p:cNvSpPr/>
          <p:nvPr/>
        </p:nvSpPr>
        <p:spPr>
          <a:xfrm>
            <a:off x="6501384" y="2565654"/>
            <a:ext cx="1225296" cy="237744"/>
          </a:xfrm>
          <a:prstGeom prst="roundRect">
            <a:avLst>
              <a:gd name="adj" fmla="val 46154"/>
            </a:avLst>
          </a:prstGeom>
          <a:solidFill>
            <a:srgbClr val="F1F3F2"/>
          </a:solidFill>
          <a:ln w="6350">
            <a:solidFill>
              <a:srgbClr val="E2E6E2"/>
            </a:solidFill>
            <a:prstDash val="solid"/>
          </a:ln>
        </p:spPr>
      </p:sp>
      <p:sp>
        <p:nvSpPr>
          <p:cNvPr id="23" name="Text 21"/>
          <p:cNvSpPr/>
          <p:nvPr/>
        </p:nvSpPr>
        <p:spPr>
          <a:xfrm>
            <a:off x="6501384" y="256565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24" name="Shape 22"/>
          <p:cNvSpPr/>
          <p:nvPr/>
        </p:nvSpPr>
        <p:spPr>
          <a:xfrm>
            <a:off x="7799832" y="2450592"/>
            <a:ext cx="3767328" cy="467868"/>
          </a:xfrm>
          <a:prstGeom prst="rect">
            <a:avLst/>
          </a:prstGeom>
          <a:solidFill>
            <a:srgbClr val="FFFFFF"/>
          </a:solidFill>
          <a:ln w="5715">
            <a:solidFill>
              <a:srgbClr val="E2E6E2"/>
            </a:solidFill>
            <a:prstDash val="solid"/>
          </a:ln>
        </p:spPr>
      </p:sp>
      <p:sp>
        <p:nvSpPr>
          <p:cNvPr id="25" name="Text 23"/>
          <p:cNvSpPr/>
          <p:nvPr/>
        </p:nvSpPr>
        <p:spPr>
          <a:xfrm>
            <a:off x="7891272" y="249631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IBM Envizi Interval Meter Analytics and EnergyCAP both capture interval data well; Arcadia is strong on utility data infrastructure. Genuine strength across the field.</a:t>
            </a:r>
            <a:endParaRPr lang="en-US" sz="800" dirty="0"/>
          </a:p>
        </p:txBody>
      </p:sp>
      <p:sp>
        <p:nvSpPr>
          <p:cNvPr id="26" name="Shape 24"/>
          <p:cNvSpPr/>
          <p:nvPr/>
        </p:nvSpPr>
        <p:spPr>
          <a:xfrm>
            <a:off x="621792" y="2918460"/>
            <a:ext cx="2011680" cy="467868"/>
          </a:xfrm>
          <a:prstGeom prst="rect">
            <a:avLst/>
          </a:prstGeom>
          <a:solidFill>
            <a:srgbClr val="F1F3F2"/>
          </a:solidFill>
          <a:ln w="5715">
            <a:solidFill>
              <a:srgbClr val="E2E6E2"/>
            </a:solidFill>
            <a:prstDash val="solid"/>
          </a:ln>
        </p:spPr>
      </p:sp>
      <p:sp>
        <p:nvSpPr>
          <p:cNvPr id="27" name="Text 25"/>
          <p:cNvSpPr/>
          <p:nvPr/>
        </p:nvSpPr>
        <p:spPr>
          <a:xfrm>
            <a:off x="713232" y="2964180"/>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Utility data and bill management</a:t>
            </a:r>
            <a:endParaRPr lang="en-US" sz="900" dirty="0"/>
          </a:p>
        </p:txBody>
      </p:sp>
      <p:sp>
        <p:nvSpPr>
          <p:cNvPr id="28" name="Shape 26"/>
          <p:cNvSpPr/>
          <p:nvPr/>
        </p:nvSpPr>
        <p:spPr>
          <a:xfrm>
            <a:off x="2633472" y="2918460"/>
            <a:ext cx="3794760" cy="467868"/>
          </a:xfrm>
          <a:prstGeom prst="rect">
            <a:avLst/>
          </a:prstGeom>
          <a:solidFill>
            <a:srgbClr val="F1F3F2"/>
          </a:solidFill>
          <a:ln w="5715">
            <a:solidFill>
              <a:srgbClr val="E2E6E2"/>
            </a:solidFill>
            <a:prstDash val="solid"/>
          </a:ln>
        </p:spPr>
      </p:sp>
      <p:sp>
        <p:nvSpPr>
          <p:cNvPr id="29" name="Text 27"/>
          <p:cNvSpPr/>
          <p:nvPr/>
        </p:nvSpPr>
        <p:spPr>
          <a:xfrm>
            <a:off x="2724912" y="2964180"/>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Utility Data Management with bill validation, budgets, reforecasts and variance explained.</a:t>
            </a:r>
            <a:endParaRPr lang="en-US" sz="800" dirty="0"/>
          </a:p>
        </p:txBody>
      </p:sp>
      <p:sp>
        <p:nvSpPr>
          <p:cNvPr id="30" name="Shape 28"/>
          <p:cNvSpPr/>
          <p:nvPr/>
        </p:nvSpPr>
        <p:spPr>
          <a:xfrm>
            <a:off x="6428232" y="2918460"/>
            <a:ext cx="1371600" cy="467868"/>
          </a:xfrm>
          <a:prstGeom prst="rect">
            <a:avLst/>
          </a:prstGeom>
          <a:solidFill>
            <a:srgbClr val="F1F3F2"/>
          </a:solidFill>
          <a:ln w="5715">
            <a:solidFill>
              <a:srgbClr val="E2E6E2"/>
            </a:solidFill>
            <a:prstDash val="solid"/>
          </a:ln>
        </p:spPr>
      </p:sp>
      <p:sp>
        <p:nvSpPr>
          <p:cNvPr id="31" name="Shape 29"/>
          <p:cNvSpPr/>
          <p:nvPr/>
        </p:nvSpPr>
        <p:spPr>
          <a:xfrm>
            <a:off x="6501384" y="3033522"/>
            <a:ext cx="1225296" cy="237744"/>
          </a:xfrm>
          <a:prstGeom prst="roundRect">
            <a:avLst>
              <a:gd name="adj" fmla="val 46154"/>
            </a:avLst>
          </a:prstGeom>
          <a:solidFill>
            <a:srgbClr val="F1F3F2"/>
          </a:solidFill>
          <a:ln w="6350">
            <a:solidFill>
              <a:srgbClr val="E2E6E2"/>
            </a:solidFill>
            <a:prstDash val="solid"/>
          </a:ln>
        </p:spPr>
      </p:sp>
      <p:sp>
        <p:nvSpPr>
          <p:cNvPr id="32" name="Text 30"/>
          <p:cNvSpPr/>
          <p:nvPr/>
        </p:nvSpPr>
        <p:spPr>
          <a:xfrm>
            <a:off x="6501384" y="303352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33" name="Shape 31"/>
          <p:cNvSpPr/>
          <p:nvPr/>
        </p:nvSpPr>
        <p:spPr>
          <a:xfrm>
            <a:off x="7799832" y="2918460"/>
            <a:ext cx="3767328" cy="467868"/>
          </a:xfrm>
          <a:prstGeom prst="rect">
            <a:avLst/>
          </a:prstGeom>
          <a:solidFill>
            <a:srgbClr val="F1F3F2"/>
          </a:solidFill>
          <a:ln w="5715">
            <a:solidFill>
              <a:srgbClr val="E2E6E2"/>
            </a:solidFill>
            <a:prstDash val="solid"/>
          </a:ln>
        </p:spPr>
      </p:sp>
      <p:sp>
        <p:nvSpPr>
          <p:cNvPr id="34" name="Text 32"/>
          <p:cNvSpPr/>
          <p:nvPr/>
        </p:nvSpPr>
        <p:spPr>
          <a:xfrm>
            <a:off x="7891272" y="2964180"/>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EnergyCAP is the bill accounting benchmark and Envizi Utility Bill Analytics is deep; Accruent ties bills to asset systems. Budget and reforecast workflows are thinner across all of them.</a:t>
            </a:r>
            <a:endParaRPr lang="en-US" sz="800" dirty="0"/>
          </a:p>
        </p:txBody>
      </p:sp>
      <p:sp>
        <p:nvSpPr>
          <p:cNvPr id="35" name="Shape 33"/>
          <p:cNvSpPr/>
          <p:nvPr/>
        </p:nvSpPr>
        <p:spPr>
          <a:xfrm>
            <a:off x="621792" y="3386328"/>
            <a:ext cx="2011680" cy="467868"/>
          </a:xfrm>
          <a:prstGeom prst="rect">
            <a:avLst/>
          </a:prstGeom>
          <a:solidFill>
            <a:srgbClr val="FFFFFF"/>
          </a:solidFill>
          <a:ln w="5715">
            <a:solidFill>
              <a:srgbClr val="E2E6E2"/>
            </a:solidFill>
            <a:prstDash val="solid"/>
          </a:ln>
        </p:spPr>
      </p:sp>
      <p:sp>
        <p:nvSpPr>
          <p:cNvPr id="36" name="Text 34"/>
          <p:cNvSpPr/>
          <p:nvPr/>
        </p:nvSpPr>
        <p:spPr>
          <a:xfrm>
            <a:off x="713232" y="3432048"/>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Energy sourcing and renewables</a:t>
            </a:r>
            <a:endParaRPr lang="en-US" sz="900" dirty="0"/>
          </a:p>
        </p:txBody>
      </p:sp>
      <p:sp>
        <p:nvSpPr>
          <p:cNvPr id="37" name="Shape 35"/>
          <p:cNvSpPr/>
          <p:nvPr/>
        </p:nvSpPr>
        <p:spPr>
          <a:xfrm>
            <a:off x="2633472" y="3386328"/>
            <a:ext cx="3794760" cy="467868"/>
          </a:xfrm>
          <a:prstGeom prst="rect">
            <a:avLst/>
          </a:prstGeom>
          <a:solidFill>
            <a:srgbClr val="FFFFFF"/>
          </a:solidFill>
          <a:ln w="5715">
            <a:solidFill>
              <a:srgbClr val="E2E6E2"/>
            </a:solidFill>
            <a:prstDash val="solid"/>
          </a:ln>
        </p:spPr>
      </p:sp>
      <p:sp>
        <p:nvSpPr>
          <p:cNvPr id="38" name="Text 36"/>
          <p:cNvSpPr/>
          <p:nvPr/>
        </p:nvSpPr>
        <p:spPr>
          <a:xfrm>
            <a:off x="2724912" y="3432048"/>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Energy Sourcing plus Renewables &amp; EACs: procurement, EAC and PPA management fed by Schneider energy expertise.</a:t>
            </a:r>
            <a:endParaRPr lang="en-US" sz="800" dirty="0"/>
          </a:p>
        </p:txBody>
      </p:sp>
      <p:sp>
        <p:nvSpPr>
          <p:cNvPr id="39" name="Shape 37"/>
          <p:cNvSpPr/>
          <p:nvPr/>
        </p:nvSpPr>
        <p:spPr>
          <a:xfrm>
            <a:off x="6428232" y="3386328"/>
            <a:ext cx="1371600" cy="467868"/>
          </a:xfrm>
          <a:prstGeom prst="rect">
            <a:avLst/>
          </a:prstGeom>
          <a:solidFill>
            <a:srgbClr val="FFFFFF"/>
          </a:solidFill>
          <a:ln w="5715">
            <a:solidFill>
              <a:srgbClr val="E2E6E2"/>
            </a:solidFill>
            <a:prstDash val="solid"/>
          </a:ln>
        </p:spPr>
      </p:sp>
      <p:sp>
        <p:nvSpPr>
          <p:cNvPr id="40" name="Shape 38"/>
          <p:cNvSpPr/>
          <p:nvPr/>
        </p:nvSpPr>
        <p:spPr>
          <a:xfrm>
            <a:off x="6501384" y="3501390"/>
            <a:ext cx="1225296" cy="237744"/>
          </a:xfrm>
          <a:prstGeom prst="roundRect">
            <a:avLst>
              <a:gd name="adj" fmla="val 46154"/>
            </a:avLst>
          </a:prstGeom>
          <a:solidFill>
            <a:srgbClr val="EAF8ED"/>
          </a:solidFill>
          <a:ln w="6350">
            <a:solidFill>
              <a:srgbClr val="3DCD58"/>
            </a:solidFill>
            <a:prstDash val="solid"/>
          </a:ln>
        </p:spPr>
      </p:sp>
      <p:sp>
        <p:nvSpPr>
          <p:cNvPr id="41" name="Text 39"/>
          <p:cNvSpPr/>
          <p:nvPr/>
        </p:nvSpPr>
        <p:spPr>
          <a:xfrm>
            <a:off x="6501384" y="350139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42" name="Shape 40"/>
          <p:cNvSpPr/>
          <p:nvPr/>
        </p:nvSpPr>
        <p:spPr>
          <a:xfrm>
            <a:off x="7799832" y="3386328"/>
            <a:ext cx="3767328" cy="467868"/>
          </a:xfrm>
          <a:prstGeom prst="rect">
            <a:avLst/>
          </a:prstGeom>
          <a:solidFill>
            <a:srgbClr val="FFFFFF"/>
          </a:solidFill>
          <a:ln w="5715">
            <a:solidFill>
              <a:srgbClr val="E2E6E2"/>
            </a:solidFill>
            <a:prstDash val="solid"/>
          </a:ln>
        </p:spPr>
      </p:sp>
      <p:sp>
        <p:nvSpPr>
          <p:cNvPr id="43" name="Text 41"/>
          <p:cNvSpPr/>
          <p:nvPr/>
        </p:nvSpPr>
        <p:spPr>
          <a:xfrm>
            <a:off x="7891272" y="3432048"/>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Envizi and EnergyCAP report energy and emissions but do not operate sourcing, EAC or PPA workflows. Specialist EAC platforms track instruments without owning the inventory the claim lands in.</a:t>
            </a:r>
            <a:endParaRPr lang="en-US" sz="800" dirty="0"/>
          </a:p>
        </p:txBody>
      </p:sp>
      <p:sp>
        <p:nvSpPr>
          <p:cNvPr id="44" name="Shape 42"/>
          <p:cNvSpPr/>
          <p:nvPr/>
        </p:nvSpPr>
        <p:spPr>
          <a:xfrm>
            <a:off x="621792" y="3854196"/>
            <a:ext cx="2011680" cy="467868"/>
          </a:xfrm>
          <a:prstGeom prst="rect">
            <a:avLst/>
          </a:prstGeom>
          <a:solidFill>
            <a:srgbClr val="F1F3F2"/>
          </a:solidFill>
          <a:ln w="5715">
            <a:solidFill>
              <a:srgbClr val="E2E6E2"/>
            </a:solidFill>
            <a:prstDash val="solid"/>
          </a:ln>
        </p:spPr>
      </p:sp>
      <p:sp>
        <p:nvSpPr>
          <p:cNvPr id="45" name="Text 43"/>
          <p:cNvSpPr/>
          <p:nvPr/>
        </p:nvSpPr>
        <p:spPr>
          <a:xfrm>
            <a:off x="713232" y="3899916"/>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Demand response and flexibility</a:t>
            </a:r>
            <a:endParaRPr lang="en-US" sz="900" dirty="0"/>
          </a:p>
        </p:txBody>
      </p:sp>
      <p:sp>
        <p:nvSpPr>
          <p:cNvPr id="46" name="Shape 44"/>
          <p:cNvSpPr/>
          <p:nvPr/>
        </p:nvSpPr>
        <p:spPr>
          <a:xfrm>
            <a:off x="2633472" y="3854196"/>
            <a:ext cx="3794760" cy="467868"/>
          </a:xfrm>
          <a:prstGeom prst="rect">
            <a:avLst/>
          </a:prstGeom>
          <a:solidFill>
            <a:srgbClr val="F1F3F2"/>
          </a:solidFill>
          <a:ln w="5715">
            <a:solidFill>
              <a:srgbClr val="E2E6E2"/>
            </a:solidFill>
            <a:prstDash val="solid"/>
          </a:ln>
        </p:spPr>
      </p:sp>
      <p:sp>
        <p:nvSpPr>
          <p:cNvPr id="47" name="Text 45"/>
          <p:cNvSpPr/>
          <p:nvPr/>
        </p:nvSpPr>
        <p:spPr>
          <a:xfrm>
            <a:off x="2724912" y="3899916"/>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DR programs, peak shaving and grid flexibility monetization on metered reality.</a:t>
            </a:r>
            <a:endParaRPr lang="en-US" sz="800" dirty="0"/>
          </a:p>
        </p:txBody>
      </p:sp>
      <p:sp>
        <p:nvSpPr>
          <p:cNvPr id="48" name="Shape 46"/>
          <p:cNvSpPr/>
          <p:nvPr/>
        </p:nvSpPr>
        <p:spPr>
          <a:xfrm>
            <a:off x="6428232" y="3854196"/>
            <a:ext cx="1371600" cy="467868"/>
          </a:xfrm>
          <a:prstGeom prst="rect">
            <a:avLst/>
          </a:prstGeom>
          <a:solidFill>
            <a:srgbClr val="F1F3F2"/>
          </a:solidFill>
          <a:ln w="5715">
            <a:solidFill>
              <a:srgbClr val="E2E6E2"/>
            </a:solidFill>
            <a:prstDash val="solid"/>
          </a:ln>
        </p:spPr>
      </p:sp>
      <p:sp>
        <p:nvSpPr>
          <p:cNvPr id="49" name="Shape 47"/>
          <p:cNvSpPr/>
          <p:nvPr/>
        </p:nvSpPr>
        <p:spPr>
          <a:xfrm>
            <a:off x="6501384" y="3969258"/>
            <a:ext cx="1225296" cy="237744"/>
          </a:xfrm>
          <a:prstGeom prst="roundRect">
            <a:avLst>
              <a:gd name="adj" fmla="val 46154"/>
            </a:avLst>
          </a:prstGeom>
          <a:solidFill>
            <a:srgbClr val="EAF8ED"/>
          </a:solidFill>
          <a:ln w="6350">
            <a:solidFill>
              <a:srgbClr val="3DCD58"/>
            </a:solidFill>
            <a:prstDash val="solid"/>
          </a:ln>
        </p:spPr>
      </p:sp>
      <p:sp>
        <p:nvSpPr>
          <p:cNvPr id="50" name="Text 48"/>
          <p:cNvSpPr/>
          <p:nvPr/>
        </p:nvSpPr>
        <p:spPr>
          <a:xfrm>
            <a:off x="6501384" y="396925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51" name="Shape 49"/>
          <p:cNvSpPr/>
          <p:nvPr/>
        </p:nvSpPr>
        <p:spPr>
          <a:xfrm>
            <a:off x="7799832" y="3854196"/>
            <a:ext cx="3767328" cy="467868"/>
          </a:xfrm>
          <a:prstGeom prst="rect">
            <a:avLst/>
          </a:prstGeom>
          <a:solidFill>
            <a:srgbClr val="F1F3F2"/>
          </a:solidFill>
          <a:ln w="5715">
            <a:solidFill>
              <a:srgbClr val="E2E6E2"/>
            </a:solidFill>
            <a:prstDash val="solid"/>
          </a:ln>
        </p:spPr>
      </p:sp>
      <p:sp>
        <p:nvSpPr>
          <p:cNvPr id="52" name="Text 50"/>
          <p:cNvSpPr/>
          <p:nvPr/>
        </p:nvSpPr>
        <p:spPr>
          <a:xfrm>
            <a:off x="7891272" y="3899916"/>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No comparable flexibility capability in the Envizi, EnergyCAP or Arcadia suites. DR and VPP specialists monetize load but carry no carbon, cost or efficiency story.</a:t>
            </a:r>
            <a:endParaRPr lang="en-US" sz="800" dirty="0"/>
          </a:p>
        </p:txBody>
      </p:sp>
      <p:sp>
        <p:nvSpPr>
          <p:cNvPr id="53" name="Shape 51"/>
          <p:cNvSpPr/>
          <p:nvPr/>
        </p:nvSpPr>
        <p:spPr>
          <a:xfrm>
            <a:off x="621792" y="4322064"/>
            <a:ext cx="2011680" cy="467868"/>
          </a:xfrm>
          <a:prstGeom prst="rect">
            <a:avLst/>
          </a:prstGeom>
          <a:solidFill>
            <a:srgbClr val="FFFFFF"/>
          </a:solidFill>
          <a:ln w="5715">
            <a:solidFill>
              <a:srgbClr val="E2E6E2"/>
            </a:solidFill>
            <a:prstDash val="solid"/>
          </a:ln>
        </p:spPr>
      </p:sp>
      <p:sp>
        <p:nvSpPr>
          <p:cNvPr id="54" name="Text 52"/>
          <p:cNvSpPr/>
          <p:nvPr/>
        </p:nvSpPr>
        <p:spPr>
          <a:xfrm>
            <a:off x="713232" y="4367784"/>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Efficiency to carbon convergence</a:t>
            </a:r>
            <a:endParaRPr lang="en-US" sz="900" dirty="0"/>
          </a:p>
        </p:txBody>
      </p:sp>
      <p:sp>
        <p:nvSpPr>
          <p:cNvPr id="55" name="Shape 53"/>
          <p:cNvSpPr/>
          <p:nvPr/>
        </p:nvSpPr>
        <p:spPr>
          <a:xfrm>
            <a:off x="2633472" y="4322064"/>
            <a:ext cx="3794760" cy="467868"/>
          </a:xfrm>
          <a:prstGeom prst="rect">
            <a:avLst/>
          </a:prstGeom>
          <a:solidFill>
            <a:srgbClr val="FFFFFF"/>
          </a:solidFill>
          <a:ln w="5715">
            <a:solidFill>
              <a:srgbClr val="E2E6E2"/>
            </a:solidFill>
            <a:prstDash val="solid"/>
          </a:ln>
        </p:spPr>
      </p:sp>
      <p:sp>
        <p:nvSpPr>
          <p:cNvPr id="56" name="Text 54"/>
          <p:cNvSpPr/>
          <p:nvPr/>
        </p:nvSpPr>
        <p:spPr>
          <a:xfrm>
            <a:off x="2724912" y="4367784"/>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Hourly emissions and ECM cobenefits connect efficiency actions straight into the carbon inventory.</a:t>
            </a:r>
            <a:endParaRPr lang="en-US" sz="800" dirty="0"/>
          </a:p>
        </p:txBody>
      </p:sp>
      <p:sp>
        <p:nvSpPr>
          <p:cNvPr id="57" name="Shape 55"/>
          <p:cNvSpPr/>
          <p:nvPr/>
        </p:nvSpPr>
        <p:spPr>
          <a:xfrm>
            <a:off x="6428232" y="4322064"/>
            <a:ext cx="1371600" cy="467868"/>
          </a:xfrm>
          <a:prstGeom prst="rect">
            <a:avLst/>
          </a:prstGeom>
          <a:solidFill>
            <a:srgbClr val="FFFFFF"/>
          </a:solidFill>
          <a:ln w="5715">
            <a:solidFill>
              <a:srgbClr val="E2E6E2"/>
            </a:solidFill>
            <a:prstDash val="solid"/>
          </a:ln>
        </p:spPr>
      </p:sp>
      <p:sp>
        <p:nvSpPr>
          <p:cNvPr id="58" name="Shape 56"/>
          <p:cNvSpPr/>
          <p:nvPr/>
        </p:nvSpPr>
        <p:spPr>
          <a:xfrm>
            <a:off x="6501384" y="4437126"/>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3712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22064"/>
            <a:ext cx="3767328" cy="467868"/>
          </a:xfrm>
          <a:prstGeom prst="rect">
            <a:avLst/>
          </a:prstGeom>
          <a:solidFill>
            <a:srgbClr val="FFFFFF"/>
          </a:solidFill>
          <a:ln w="5715">
            <a:solidFill>
              <a:srgbClr val="E2E6E2"/>
            </a:solidFill>
            <a:prstDash val="solid"/>
          </a:ln>
        </p:spPr>
      </p:sp>
      <p:sp>
        <p:nvSpPr>
          <p:cNvPr id="61" name="Text 59"/>
          <p:cNvSpPr/>
          <p:nvPr/>
        </p:nvSpPr>
        <p:spPr>
          <a:xfrm>
            <a:off x="7891272" y="4367784"/>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Envizi keeps energy analytics and ESG reporting in separate modules; Honeywell Forge recommends within controlled assets only. Nobody prices energy, carbon and cost cobenefits together.</a:t>
            </a:r>
            <a:endParaRPr lang="en-US" sz="800" dirty="0"/>
          </a:p>
        </p:txBody>
      </p:sp>
      <p:sp>
        <p:nvSpPr>
          <p:cNvPr id="62" name="Shape 60"/>
          <p:cNvSpPr/>
          <p:nvPr/>
        </p:nvSpPr>
        <p:spPr>
          <a:xfrm>
            <a:off x="621792" y="4789932"/>
            <a:ext cx="2011680" cy="467868"/>
          </a:xfrm>
          <a:prstGeom prst="rect">
            <a:avLst/>
          </a:prstGeom>
          <a:solidFill>
            <a:srgbClr val="F1F3F2"/>
          </a:solidFill>
          <a:ln w="5715">
            <a:solidFill>
              <a:srgbClr val="E2E6E2"/>
            </a:solidFill>
            <a:prstDash val="solid"/>
          </a:ln>
        </p:spPr>
      </p:sp>
      <p:sp>
        <p:nvSpPr>
          <p:cNvPr id="63" name="Text 61"/>
          <p:cNvSpPr/>
          <p:nvPr/>
        </p:nvSpPr>
        <p:spPr>
          <a:xfrm>
            <a:off x="713232" y="483565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Electrification and DER management</a:t>
            </a:r>
            <a:endParaRPr lang="en-US" sz="900" dirty="0"/>
          </a:p>
        </p:txBody>
      </p:sp>
      <p:sp>
        <p:nvSpPr>
          <p:cNvPr id="64" name="Shape 62"/>
          <p:cNvSpPr/>
          <p:nvPr/>
        </p:nvSpPr>
        <p:spPr>
          <a:xfrm>
            <a:off x="2633472" y="4789932"/>
            <a:ext cx="3794760" cy="467868"/>
          </a:xfrm>
          <a:prstGeom prst="rect">
            <a:avLst/>
          </a:prstGeom>
          <a:solidFill>
            <a:srgbClr val="F1F3F2"/>
          </a:solidFill>
          <a:ln w="5715">
            <a:solidFill>
              <a:srgbClr val="E2E6E2"/>
            </a:solidFill>
            <a:prstDash val="solid"/>
          </a:ln>
        </p:spPr>
      </p:sp>
      <p:sp>
        <p:nvSpPr>
          <p:cNvPr id="65" name="Text 63"/>
          <p:cNvSpPr/>
          <p:nvPr/>
        </p:nvSpPr>
        <p:spPr>
          <a:xfrm>
            <a:off x="2724912" y="483565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EV charging, solar, storage and behind-the-meter assets, bridging efficiency and procurement.</a:t>
            </a:r>
            <a:endParaRPr lang="en-US" sz="800" dirty="0"/>
          </a:p>
        </p:txBody>
      </p:sp>
      <p:sp>
        <p:nvSpPr>
          <p:cNvPr id="66" name="Shape 64"/>
          <p:cNvSpPr/>
          <p:nvPr/>
        </p:nvSpPr>
        <p:spPr>
          <a:xfrm>
            <a:off x="6428232" y="4789932"/>
            <a:ext cx="1371600" cy="467868"/>
          </a:xfrm>
          <a:prstGeom prst="rect">
            <a:avLst/>
          </a:prstGeom>
          <a:solidFill>
            <a:srgbClr val="F1F3F2"/>
          </a:solidFill>
          <a:ln w="5715">
            <a:solidFill>
              <a:srgbClr val="E2E6E2"/>
            </a:solidFill>
            <a:prstDash val="solid"/>
          </a:ln>
        </p:spPr>
      </p:sp>
      <p:sp>
        <p:nvSpPr>
          <p:cNvPr id="67" name="Shape 65"/>
          <p:cNvSpPr/>
          <p:nvPr/>
        </p:nvSpPr>
        <p:spPr>
          <a:xfrm>
            <a:off x="6501384" y="4904994"/>
            <a:ext cx="1225296" cy="237744"/>
          </a:xfrm>
          <a:prstGeom prst="roundRect">
            <a:avLst>
              <a:gd name="adj" fmla="val 46154"/>
            </a:avLst>
          </a:prstGeom>
          <a:solidFill>
            <a:srgbClr val="FFF4E3"/>
          </a:solidFill>
          <a:ln w="6350">
            <a:solidFill>
              <a:srgbClr val="FFB04C"/>
            </a:solidFill>
            <a:prstDash val="solid"/>
          </a:ln>
        </p:spPr>
      </p:sp>
      <p:sp>
        <p:nvSpPr>
          <p:cNvPr id="68" name="Text 66"/>
          <p:cNvSpPr/>
          <p:nvPr/>
        </p:nvSpPr>
        <p:spPr>
          <a:xfrm>
            <a:off x="6501384" y="490499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69" name="Shape 67"/>
          <p:cNvSpPr/>
          <p:nvPr/>
        </p:nvSpPr>
        <p:spPr>
          <a:xfrm>
            <a:off x="7799832" y="4789932"/>
            <a:ext cx="3767328" cy="467868"/>
          </a:xfrm>
          <a:prstGeom prst="rect">
            <a:avLst/>
          </a:prstGeom>
          <a:solidFill>
            <a:srgbClr val="F1F3F2"/>
          </a:solidFill>
          <a:ln w="5715">
            <a:solidFill>
              <a:srgbClr val="E2E6E2"/>
            </a:solidFill>
            <a:prstDash val="solid"/>
          </a:ln>
        </p:spPr>
      </p:sp>
      <p:sp>
        <p:nvSpPr>
          <p:cNvPr id="70" name="Text 68"/>
          <p:cNvSpPr/>
          <p:nvPr/>
        </p:nvSpPr>
        <p:spPr>
          <a:xfrm>
            <a:off x="7891272" y="483565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DER and charging specialists lead on device depth today. Our claim is convergence value by 2028, with Schneider hardware adjacency as the accelerant.</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The field matches us on capturing energy data. Nobody matches what we do with it: sourcing, flexibility, and efficiency actions that land in the same governed carbon inventory.</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public product pages and documentation for IBM Envizi, EnergyCAP, Accruent, Arcadia and Honeywell Forge, reviewed September 2026, and the RA+ 2026 and 2027 roadmap. Positions are our own assessment, not a vendor certification.</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Text 2"/>
          <p:cNvSpPr/>
          <p:nvPr/>
        </p:nvSpPr>
        <p:spPr>
          <a:xfrm>
            <a:off x="621792" y="320040"/>
            <a:ext cx="7132320" cy="228600"/>
          </a:xfrm>
          <a:prstGeom prst="rect">
            <a:avLst/>
          </a:prstGeom>
          <a:noFill/>
          <a:ln/>
        </p:spPr>
        <p:txBody>
          <a:bodyPr wrap="square" lIns="0" tIns="0" rIns="0" bIns="0" rtlCol="0" anchor="ctr"/>
          <a:lstStyle/>
          <a:p>
            <a:pPr indent="0" marL="0">
              <a:buNone/>
            </a:pPr>
            <a:r>
              <a:rPr lang="en-US" sz="900" b="1" spc="150" kern="0" dirty="0">
                <a:solidFill>
                  <a:srgbClr val="007A27"/>
                </a:solidFill>
                <a:latin typeface="Calibri" pitchFamily="34" charset="0"/>
                <a:ea typeface="Calibri" pitchFamily="34" charset="-122"/>
                <a:cs typeface="Calibri" pitchFamily="34" charset="-120"/>
              </a:rPr>
              <a:t>COMMERCIAL MODEL | BOARD PROPOSAL</a:t>
            </a:r>
            <a:endParaRPr lang="en-US" sz="900" dirty="0"/>
          </a:p>
        </p:txBody>
      </p:sp>
      <p:sp>
        <p:nvSpPr>
          <p:cNvPr id="5" name="Text 3"/>
          <p:cNvSpPr/>
          <p:nvPr/>
        </p:nvSpPr>
        <p:spPr>
          <a:xfrm>
            <a:off x="621792" y="676656"/>
            <a:ext cx="10948111" cy="640080"/>
          </a:xfrm>
          <a:prstGeom prst="rect">
            <a:avLst/>
          </a:prstGeom>
          <a:noFill/>
          <a:ln/>
        </p:spPr>
        <p:txBody>
          <a:bodyPr wrap="square" lIns="0" tIns="0" rIns="0" bIns="0" rtlCol="0" anchor="ctr">
            <a:normAutofit/>
          </a:bodyPr>
          <a:lstStyle/>
          <a:p>
            <a:pPr indent="0" marL="0">
              <a:buNone/>
            </a:pPr>
            <a:r>
              <a:rPr lang="en-US" sz="2700" b="1" dirty="0">
                <a:solidFill>
                  <a:srgbClr val="1E2420"/>
                </a:solidFill>
                <a:latin typeface="Calibri" pitchFamily="34" charset="0"/>
                <a:ea typeface="Calibri" pitchFamily="34" charset="-122"/>
                <a:cs typeface="Calibri" pitchFamily="34" charset="-120"/>
              </a:rPr>
              <a:t>Platform fee plus per-product expansion: simpler to buy, clearer to scale</a:t>
            </a:r>
            <a:endParaRPr lang="en-US" sz="2700" dirty="0"/>
          </a:p>
        </p:txBody>
      </p:sp>
      <p:sp>
        <p:nvSpPr>
          <p:cNvPr id="6" name="Text 4"/>
          <p:cNvSpPr/>
          <p:nvPr/>
        </p:nvSpPr>
        <p:spPr>
          <a:xfrm>
            <a:off x="621792" y="1344168"/>
            <a:ext cx="10948111" cy="438912"/>
          </a:xfrm>
          <a:prstGeom prst="rect">
            <a:avLst/>
          </a:prstGeom>
          <a:noFill/>
          <a:ln/>
        </p:spPr>
        <p:txBody>
          <a:bodyPr wrap="square" lIns="0" tIns="0" rIns="0" bIns="0" rtlCol="0" anchor="ctr">
            <a:normAutofit/>
          </a:bodyPr>
          <a:lstStyle/>
          <a:p>
            <a:pPr indent="0" marL="0">
              <a:buNone/>
            </a:pPr>
            <a:r>
              <a:rPr lang="en-US" sz="1050" dirty="0">
                <a:solidFill>
                  <a:srgbClr val="5A625C"/>
                </a:solidFill>
                <a:latin typeface="Calibri" pitchFamily="34" charset="0"/>
                <a:ea typeface="Calibri" pitchFamily="34" charset="-122"/>
                <a:cs typeface="Calibri" pitchFamily="34" charset="-120"/>
              </a:rPr>
              <a:t>Every tier includes the core data spine and governance platform. Product modules are priced separately so expansion revenue is predictable and the convergence story pays for itself. Price points remain subject to Finance and market validation.</a:t>
            </a:r>
            <a:endParaRPr lang="en-US" sz="1050" dirty="0"/>
          </a:p>
        </p:txBody>
      </p:sp>
      <p:sp>
        <p:nvSpPr>
          <p:cNvPr id="7" name="Shape 5"/>
          <p:cNvSpPr/>
          <p:nvPr/>
        </p:nvSpPr>
        <p:spPr>
          <a:xfrm>
            <a:off x="621792" y="1901952"/>
            <a:ext cx="2371344" cy="2468880"/>
          </a:xfrm>
          <a:prstGeom prst="roundRect">
            <a:avLst>
              <a:gd name="adj" fmla="val 2314"/>
            </a:avLst>
          </a:prstGeom>
          <a:solidFill>
            <a:srgbClr val="FFFFFF"/>
          </a:solidFill>
          <a:ln w="9525">
            <a:solidFill>
              <a:srgbClr val="E2E6E2"/>
            </a:solidFill>
            <a:prstDash val="solid"/>
          </a:ln>
          <a:effectLst>
            <a:outerShdw sx="100000" sy="100000" kx="0" ky="0" algn="bl" rotWithShape="0" blurRad="1.904357414020645e+218" dist="6.347858046735484e+217" dir="1.571298803391502e+255">
              <a:srgbClr val="0A1F12">
                <a:alpha val="1.199999999999999e+264"/>
              </a:srgbClr>
            </a:outerShdw>
          </a:effectLst>
        </p:spPr>
      </p:sp>
      <p:sp>
        <p:nvSpPr>
          <p:cNvPr id="8" name="Shape 6"/>
          <p:cNvSpPr/>
          <p:nvPr/>
        </p:nvSpPr>
        <p:spPr>
          <a:xfrm>
            <a:off x="621792" y="1901952"/>
            <a:ext cx="2371344" cy="64008"/>
          </a:xfrm>
          <a:prstGeom prst="rect">
            <a:avLst/>
          </a:prstGeom>
          <a:solidFill>
            <a:srgbClr val="3DCD58"/>
          </a:solidFill>
          <a:ln w="12700">
            <a:solidFill>
              <a:srgbClr val="3DCD58"/>
            </a:solidFill>
            <a:prstDash val="solid"/>
          </a:ln>
        </p:spPr>
      </p:sp>
      <p:sp>
        <p:nvSpPr>
          <p:cNvPr id="9" name="Text 7"/>
          <p:cNvSpPr/>
          <p:nvPr/>
        </p:nvSpPr>
        <p:spPr>
          <a:xfrm>
            <a:off x="786384" y="2057400"/>
            <a:ext cx="685800" cy="182880"/>
          </a:xfrm>
          <a:prstGeom prst="rect">
            <a:avLst/>
          </a:prstGeom>
          <a:noFill/>
          <a:ln/>
        </p:spPr>
        <p:txBody>
          <a:bodyPr wrap="square" lIns="0" tIns="0" rIns="0" bIns="0" rtlCol="0" anchor="ctr"/>
          <a:lstStyle/>
          <a:p>
            <a:pPr indent="0" marL="0">
              <a:buNone/>
            </a:pPr>
            <a:r>
              <a:rPr lang="en-US" sz="750" b="1" spc="80" kern="0" dirty="0">
                <a:solidFill>
                  <a:srgbClr val="007A27"/>
                </a:solidFill>
                <a:latin typeface="Calibri" pitchFamily="34" charset="0"/>
                <a:ea typeface="Calibri" pitchFamily="34" charset="-122"/>
                <a:cs typeface="Calibri" pitchFamily="34" charset="-120"/>
              </a:rPr>
              <a:t>TIER 01</a:t>
            </a:r>
            <a:endParaRPr lang="en-US" sz="750" dirty="0"/>
          </a:p>
        </p:txBody>
      </p:sp>
      <p:sp>
        <p:nvSpPr>
          <p:cNvPr id="10" name="Text 8"/>
          <p:cNvSpPr/>
          <p:nvPr/>
        </p:nvSpPr>
        <p:spPr>
          <a:xfrm>
            <a:off x="786384" y="2313432"/>
            <a:ext cx="2042160" cy="32004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Foundation</a:t>
            </a:r>
            <a:endParaRPr lang="en-US" sz="1500" dirty="0"/>
          </a:p>
        </p:txBody>
      </p:sp>
      <p:sp>
        <p:nvSpPr>
          <p:cNvPr id="11" name="Text 9"/>
          <p:cNvSpPr/>
          <p:nvPr/>
        </p:nvSpPr>
        <p:spPr>
          <a:xfrm>
            <a:off x="786384" y="2660904"/>
            <a:ext cx="2042160" cy="384048"/>
          </a:xfrm>
          <a:prstGeom prst="rect">
            <a:avLst/>
          </a:prstGeom>
          <a:noFill/>
          <a:ln/>
        </p:spPr>
        <p:txBody>
          <a:bodyPr wrap="square" lIns="0" tIns="0" rIns="0" bIns="0" rtlCol="0" anchor="t">
            <a:normAutofit/>
          </a:bodyPr>
          <a:lstStyle/>
          <a:p>
            <a:pPr indent="0" marL="0">
              <a:buNone/>
            </a:pPr>
            <a:r>
              <a:rPr lang="en-US" sz="830" dirty="0">
                <a:solidFill>
                  <a:srgbClr val="5A625C"/>
                </a:solidFill>
                <a:latin typeface="Calibri" pitchFamily="34" charset="0"/>
                <a:ea typeface="Calibri" pitchFamily="34" charset="-122"/>
                <a:cs typeface="Calibri" pitchFamily="34" charset="-120"/>
              </a:rPr>
              <a:t>Establish a trusted baseline</a:t>
            </a:r>
            <a:endParaRPr lang="en-US" sz="830" dirty="0"/>
          </a:p>
        </p:txBody>
      </p:sp>
      <p:sp>
        <p:nvSpPr>
          <p:cNvPr id="12" name="Shape 10"/>
          <p:cNvSpPr/>
          <p:nvPr/>
        </p:nvSpPr>
        <p:spPr>
          <a:xfrm>
            <a:off x="786384" y="3136392"/>
            <a:ext cx="2042160" cy="0"/>
          </a:xfrm>
          <a:prstGeom prst="line">
            <a:avLst/>
          </a:prstGeom>
          <a:noFill/>
          <a:ln w="7620">
            <a:solidFill>
              <a:srgbClr val="E2E6E2"/>
            </a:solidFill>
            <a:prstDash val="solid"/>
          </a:ln>
        </p:spPr>
      </p:sp>
      <p:sp>
        <p:nvSpPr>
          <p:cNvPr id="13" name="Text 11"/>
          <p:cNvSpPr/>
          <p:nvPr/>
        </p:nvSpPr>
        <p:spPr>
          <a:xfrm>
            <a:off x="786384" y="3255264"/>
            <a:ext cx="2042160" cy="292608"/>
          </a:xfrm>
          <a:prstGeom prst="rect">
            <a:avLst/>
          </a:prstGeom>
          <a:noFill/>
          <a:ln/>
        </p:spPr>
        <p:txBody>
          <a:bodyPr wrap="square" lIns="0" tIns="0" rIns="0" bIns="0" rtlCol="0" anchor="ctr">
            <a:normAutofit/>
          </a:bodyPr>
          <a:lstStyle/>
          <a:p>
            <a:pPr indent="0" marL="0">
              <a:buNone/>
            </a:pPr>
            <a:r>
              <a:rPr lang="en-US" sz="1150" b="1" dirty="0">
                <a:solidFill>
                  <a:srgbClr val="1E2420"/>
                </a:solidFill>
                <a:latin typeface="Calibri" pitchFamily="34" charset="0"/>
                <a:ea typeface="Calibri" pitchFamily="34" charset="-122"/>
                <a:cs typeface="Calibri" pitchFamily="34" charset="-120"/>
              </a:rPr>
              <a:t>[€ BASE PRICE] / year</a:t>
            </a:r>
            <a:endParaRPr lang="en-US" sz="1150" dirty="0"/>
          </a:p>
        </p:txBody>
      </p:sp>
      <p:sp>
        <p:nvSpPr>
          <p:cNvPr id="14" name="Text 12"/>
          <p:cNvSpPr/>
          <p:nvPr/>
        </p:nvSpPr>
        <p:spPr>
          <a:xfrm>
            <a:off x="786384" y="3648456"/>
            <a:ext cx="2042160" cy="566928"/>
          </a:xfrm>
          <a:prstGeom prst="rect">
            <a:avLst/>
          </a:prstGeom>
          <a:noFill/>
          <a:ln/>
        </p:spPr>
        <p:txBody>
          <a:bodyPr wrap="square" lIns="0" tIns="0" rIns="0" bIns="0" rtlCol="0" anchor="t">
            <a:normAutofit/>
          </a:bodyPr>
          <a:lstStyle/>
          <a:p>
            <a:pPr marL="114300" indent="-114300">
              <a:spcAft>
                <a:spcPts val="400"/>
              </a:spcAft>
              <a:buSzPct val="100000"/>
              <a:buChar char="•"/>
            </a:pPr>
            <a:r>
              <a:rPr lang="en-US" sz="780" dirty="0">
                <a:solidFill>
                  <a:srgbClr val="5A625C"/>
                </a:solidFill>
                <a:latin typeface="Calibri" pitchFamily="34" charset="0"/>
                <a:ea typeface="Calibri" pitchFamily="34" charset="-122"/>
                <a:cs typeface="Calibri" pitchFamily="34" charset="-120"/>
              </a:rPr>
              <a:t>Platform spine and one sustainability product</a:t>
            </a:r>
            <a:endParaRPr lang="en-US" sz="780" dirty="0"/>
          </a:p>
          <a:p>
            <a:pPr marL="114300" indent="-114300">
              <a:spcAft>
                <a:spcPts val="400"/>
              </a:spcAft>
              <a:buSzPct val="100000"/>
              <a:buChar char="•"/>
            </a:pPr>
            <a:r>
              <a:rPr lang="en-US" sz="780" dirty="0">
                <a:solidFill>
                  <a:srgbClr val="5A625C"/>
                </a:solidFill>
                <a:latin typeface="Calibri" pitchFamily="34" charset="0"/>
                <a:ea typeface="Calibri" pitchFamily="34" charset="-122"/>
                <a:cs typeface="Calibri" pitchFamily="34" charset="-120"/>
              </a:rPr>
              <a:t>Standard onboarding and support</a:t>
            </a:r>
            <a:endParaRPr lang="en-US" sz="780" dirty="0"/>
          </a:p>
          <a:p>
            <a:pPr marL="114300" indent="-114300">
              <a:spcAft>
                <a:spcPts val="400"/>
              </a:spcAft>
              <a:buSzPct val="100000"/>
              <a:buChar char="•"/>
            </a:pPr>
            <a:r>
              <a:rPr lang="en-US" sz="780" dirty="0">
                <a:solidFill>
                  <a:srgbClr val="5A625C"/>
                </a:solidFill>
                <a:latin typeface="Calibri" pitchFamily="34" charset="0"/>
                <a:ea typeface="Calibri" pitchFamily="34" charset="-122"/>
                <a:cs typeface="Calibri" pitchFamily="34" charset="-120"/>
              </a:rPr>
              <a:t>Pay only for what you need to start</a:t>
            </a:r>
            <a:endParaRPr lang="en-US" sz="780" dirty="0"/>
          </a:p>
        </p:txBody>
      </p:sp>
      <p:sp>
        <p:nvSpPr>
          <p:cNvPr id="15" name="Shape 13"/>
          <p:cNvSpPr/>
          <p:nvPr/>
        </p:nvSpPr>
        <p:spPr>
          <a:xfrm>
            <a:off x="3139440" y="1901952"/>
            <a:ext cx="2371344" cy="2468880"/>
          </a:xfrm>
          <a:prstGeom prst="roundRect">
            <a:avLst>
              <a:gd name="adj" fmla="val 2314"/>
            </a:avLst>
          </a:prstGeom>
          <a:solidFill>
            <a:srgbClr val="005730"/>
          </a:solidFill>
          <a:ln w="9525">
            <a:solidFill>
              <a:srgbClr val="3DCD58"/>
            </a:solidFill>
            <a:prstDash val="solid"/>
          </a:ln>
          <a:effectLst>
            <a:outerShdw sx="100000" sy="100000" kx="0" ky="0" algn="bl" rotWithShape="0" blurRad="2.4185339158062192e+222" dist="8.061779719354066e+221" dir="9.427792820349012e+259">
              <a:srgbClr val="0A1F12">
                <a:alpha val="1.1999999999999991e+269"/>
              </a:srgbClr>
            </a:outerShdw>
          </a:effectLst>
        </p:spPr>
      </p:sp>
      <p:sp>
        <p:nvSpPr>
          <p:cNvPr id="16" name="Shape 14"/>
          <p:cNvSpPr/>
          <p:nvPr/>
        </p:nvSpPr>
        <p:spPr>
          <a:xfrm>
            <a:off x="3139440" y="1901952"/>
            <a:ext cx="2371344" cy="64008"/>
          </a:xfrm>
          <a:prstGeom prst="rect">
            <a:avLst/>
          </a:prstGeom>
          <a:solidFill>
            <a:srgbClr val="3DCD58"/>
          </a:solidFill>
          <a:ln w="12700">
            <a:solidFill>
              <a:srgbClr val="3DCD58"/>
            </a:solidFill>
            <a:prstDash val="solid"/>
          </a:ln>
        </p:spPr>
      </p:sp>
      <p:sp>
        <p:nvSpPr>
          <p:cNvPr id="17" name="Text 15"/>
          <p:cNvSpPr/>
          <p:nvPr/>
        </p:nvSpPr>
        <p:spPr>
          <a:xfrm>
            <a:off x="3304032" y="2057400"/>
            <a:ext cx="685800" cy="182880"/>
          </a:xfrm>
          <a:prstGeom prst="rect">
            <a:avLst/>
          </a:prstGeom>
          <a:noFill/>
          <a:ln/>
        </p:spPr>
        <p:txBody>
          <a:bodyPr wrap="square" lIns="0" tIns="0" rIns="0" bIns="0" rtlCol="0" anchor="ctr"/>
          <a:lstStyle/>
          <a:p>
            <a:pPr indent="0" marL="0">
              <a:buNone/>
            </a:pPr>
            <a:r>
              <a:rPr lang="en-US" sz="750" b="1" spc="80" kern="0" dirty="0">
                <a:solidFill>
                  <a:srgbClr val="CDFC57"/>
                </a:solidFill>
                <a:latin typeface="Calibri" pitchFamily="34" charset="0"/>
                <a:ea typeface="Calibri" pitchFamily="34" charset="-122"/>
                <a:cs typeface="Calibri" pitchFamily="34" charset="-120"/>
              </a:rPr>
              <a:t>TIER 02</a:t>
            </a:r>
            <a:endParaRPr lang="en-US" sz="750" dirty="0"/>
          </a:p>
        </p:txBody>
      </p:sp>
      <p:sp>
        <p:nvSpPr>
          <p:cNvPr id="18" name="Text 16"/>
          <p:cNvSpPr/>
          <p:nvPr/>
        </p:nvSpPr>
        <p:spPr>
          <a:xfrm>
            <a:off x="4550664" y="2057400"/>
            <a:ext cx="795528" cy="182880"/>
          </a:xfrm>
          <a:prstGeom prst="rect">
            <a:avLst/>
          </a:prstGeom>
          <a:noFill/>
          <a:ln/>
        </p:spPr>
        <p:txBody>
          <a:bodyPr wrap="square" lIns="0" tIns="0" rIns="0" bIns="0" rtlCol="0" anchor="ctr"/>
          <a:lstStyle/>
          <a:p>
            <a:pPr algn="r" indent="0" marL="0">
              <a:buNone/>
            </a:pPr>
            <a:r>
              <a:rPr lang="en-US" sz="650" b="1" dirty="0">
                <a:solidFill>
                  <a:srgbClr val="CDFC57"/>
                </a:solidFill>
                <a:latin typeface="Calibri" pitchFamily="34" charset="0"/>
                <a:ea typeface="Calibri" pitchFamily="34" charset="-122"/>
                <a:cs typeface="Calibri" pitchFamily="34" charset="-120"/>
              </a:rPr>
              <a:t>RECOMMENDED</a:t>
            </a:r>
            <a:endParaRPr lang="en-US" sz="650" dirty="0"/>
          </a:p>
        </p:txBody>
      </p:sp>
      <p:sp>
        <p:nvSpPr>
          <p:cNvPr id="19" name="Text 17"/>
          <p:cNvSpPr/>
          <p:nvPr/>
        </p:nvSpPr>
        <p:spPr>
          <a:xfrm>
            <a:off x="3304032" y="2313432"/>
            <a:ext cx="2042160" cy="32004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Enterprise</a:t>
            </a:r>
            <a:endParaRPr lang="en-US" sz="1500" dirty="0"/>
          </a:p>
        </p:txBody>
      </p:sp>
      <p:sp>
        <p:nvSpPr>
          <p:cNvPr id="20" name="Text 18"/>
          <p:cNvSpPr/>
          <p:nvPr/>
        </p:nvSpPr>
        <p:spPr>
          <a:xfrm>
            <a:off x="3304032" y="2660904"/>
            <a:ext cx="2042160" cy="384048"/>
          </a:xfrm>
          <a:prstGeom prst="rect">
            <a:avLst/>
          </a:prstGeom>
          <a:noFill/>
          <a:ln/>
        </p:spPr>
        <p:txBody>
          <a:bodyPr wrap="square" lIns="0" tIns="0" rIns="0" bIns="0" rtlCol="0" anchor="t">
            <a:normAutofit/>
          </a:bodyPr>
          <a:lstStyle/>
          <a:p>
            <a:pPr indent="0" marL="0">
              <a:buNone/>
            </a:pPr>
            <a:r>
              <a:rPr lang="en-US" sz="830" dirty="0">
                <a:solidFill>
                  <a:srgbClr val="BFD9C9"/>
                </a:solidFill>
                <a:latin typeface="Calibri" pitchFamily="34" charset="0"/>
                <a:ea typeface="Calibri" pitchFamily="34" charset="-122"/>
                <a:cs typeface="Calibri" pitchFamily="34" charset="-120"/>
              </a:rPr>
              <a:t>Connect data, decisions and disclosure</a:t>
            </a:r>
            <a:endParaRPr lang="en-US" sz="830" dirty="0"/>
          </a:p>
        </p:txBody>
      </p:sp>
      <p:sp>
        <p:nvSpPr>
          <p:cNvPr id="21" name="Shape 19"/>
          <p:cNvSpPr/>
          <p:nvPr/>
        </p:nvSpPr>
        <p:spPr>
          <a:xfrm>
            <a:off x="3304032" y="3136392"/>
            <a:ext cx="2042160" cy="0"/>
          </a:xfrm>
          <a:prstGeom prst="line">
            <a:avLst/>
          </a:prstGeom>
          <a:noFill/>
          <a:ln w="7620">
            <a:solidFill>
              <a:srgbClr val="397257"/>
            </a:solidFill>
            <a:prstDash val="solid"/>
          </a:ln>
        </p:spPr>
      </p:sp>
      <p:sp>
        <p:nvSpPr>
          <p:cNvPr id="22" name="Text 20"/>
          <p:cNvSpPr/>
          <p:nvPr/>
        </p:nvSpPr>
        <p:spPr>
          <a:xfrm>
            <a:off x="3304032" y="3255264"/>
            <a:ext cx="2042160" cy="292608"/>
          </a:xfrm>
          <a:prstGeom prst="rect">
            <a:avLst/>
          </a:prstGeom>
          <a:noFill/>
          <a:ln/>
        </p:spPr>
        <p:txBody>
          <a:bodyPr wrap="square" lIns="0" tIns="0" rIns="0" bIns="0" rtlCol="0" anchor="ctr">
            <a:normAutofit/>
          </a:bodyPr>
          <a:lstStyle/>
          <a:p>
            <a:pPr indent="0" marL="0">
              <a:buNone/>
            </a:pPr>
            <a:r>
              <a:rPr lang="en-US" sz="1150" b="1" dirty="0">
                <a:solidFill>
                  <a:srgbClr val="CDFC57"/>
                </a:solidFill>
                <a:latin typeface="Calibri" pitchFamily="34" charset="0"/>
                <a:ea typeface="Calibri" pitchFamily="34" charset="-122"/>
                <a:cs typeface="Calibri" pitchFamily="34" charset="-120"/>
              </a:rPr>
              <a:t>[€ PLATFORM FEE] + [€ PER PRODUCT FEE] / year</a:t>
            </a:r>
            <a:endParaRPr lang="en-US" sz="1150" dirty="0"/>
          </a:p>
        </p:txBody>
      </p:sp>
      <p:sp>
        <p:nvSpPr>
          <p:cNvPr id="23" name="Text 21"/>
          <p:cNvSpPr/>
          <p:nvPr/>
        </p:nvSpPr>
        <p:spPr>
          <a:xfrm>
            <a:off x="3304032" y="3648456"/>
            <a:ext cx="2042160" cy="566928"/>
          </a:xfrm>
          <a:prstGeom prst="rect">
            <a:avLst/>
          </a:prstGeom>
          <a:noFill/>
          <a:ln/>
        </p:spPr>
        <p:txBody>
          <a:bodyPr wrap="square" lIns="0" tIns="0" rIns="0" bIns="0" rtlCol="0" anchor="t">
            <a:normAutofit/>
          </a:bodyPr>
          <a:lstStyle/>
          <a:p>
            <a:pPr marL="114300" indent="-114300">
              <a:spcAft>
                <a:spcPts val="400"/>
              </a:spcAft>
              <a:buSzPct val="100000"/>
              <a:buChar char="•"/>
            </a:pPr>
            <a:r>
              <a:rPr lang="en-US" sz="780" dirty="0">
                <a:solidFill>
                  <a:srgbClr val="BFD9C9"/>
                </a:solidFill>
                <a:latin typeface="Calibri" pitchFamily="34" charset="0"/>
                <a:ea typeface="Calibri" pitchFamily="34" charset="-122"/>
                <a:cs typeface="Calibri" pitchFamily="34" charset="-120"/>
              </a:rPr>
              <a:t>Platform fee covers spine, governance and AI assurance</a:t>
            </a:r>
            <a:endParaRPr lang="en-US" sz="780" dirty="0"/>
          </a:p>
          <a:p>
            <a:pPr marL="114300" indent="-114300">
              <a:spcAft>
                <a:spcPts val="400"/>
              </a:spcAft>
              <a:buSzPct val="100000"/>
              <a:buChar char="•"/>
            </a:pPr>
            <a:r>
              <a:rPr lang="en-US" sz="780" dirty="0">
                <a:solidFill>
                  <a:srgbClr val="BFD9C9"/>
                </a:solidFill>
                <a:latin typeface="Calibri" pitchFamily="34" charset="0"/>
                <a:ea typeface="Calibri" pitchFamily="34" charset="-122"/>
                <a:cs typeface="Calibri" pitchFamily="34" charset="-120"/>
              </a:rPr>
              <a:t>Per-product fee for each connected product</a:t>
            </a:r>
            <a:endParaRPr lang="en-US" sz="780" dirty="0"/>
          </a:p>
          <a:p>
            <a:pPr marL="114300" indent="-114300">
              <a:spcAft>
                <a:spcPts val="400"/>
              </a:spcAft>
              <a:buSzPct val="100000"/>
              <a:buChar char="•"/>
            </a:pPr>
            <a:r>
              <a:rPr lang="en-US" sz="780" dirty="0">
                <a:solidFill>
                  <a:srgbClr val="BFD9C9"/>
                </a:solidFill>
                <a:latin typeface="Calibri" pitchFamily="34" charset="0"/>
                <a:ea typeface="Calibri" pitchFamily="34" charset="-122"/>
                <a:cs typeface="Calibri" pitchFamily="34" charset="-120"/>
              </a:rPr>
              <a:t>Recommended bundle: first 3 products included</a:t>
            </a:r>
            <a:endParaRPr lang="en-US" sz="780" dirty="0"/>
          </a:p>
        </p:txBody>
      </p:sp>
      <p:sp>
        <p:nvSpPr>
          <p:cNvPr id="24" name="Shape 22"/>
          <p:cNvSpPr/>
          <p:nvPr/>
        </p:nvSpPr>
        <p:spPr>
          <a:xfrm>
            <a:off x="5657088" y="1901952"/>
            <a:ext cx="2371344" cy="2468880"/>
          </a:xfrm>
          <a:prstGeom prst="roundRect">
            <a:avLst>
              <a:gd name="adj" fmla="val 2314"/>
            </a:avLst>
          </a:prstGeom>
          <a:solidFill>
            <a:srgbClr val="FFFFFF"/>
          </a:solidFill>
          <a:ln w="9525">
            <a:solidFill>
              <a:srgbClr val="E2E6E2"/>
            </a:solidFill>
            <a:prstDash val="solid"/>
          </a:ln>
          <a:effectLst>
            <a:outerShdw sx="100000" sy="100000" kx="0" ky="0" algn="bl" rotWithShape="0" blurRad="3.0715380730738986e+226" dist="1.0238460243579663e+226" dir="5.656675692209407e+264">
              <a:srgbClr val="0A1F12">
                <a:alpha val="1.199999999999999e+274"/>
              </a:srgbClr>
            </a:outerShdw>
          </a:effectLst>
        </p:spPr>
      </p:sp>
      <p:sp>
        <p:nvSpPr>
          <p:cNvPr id="25" name="Shape 23"/>
          <p:cNvSpPr/>
          <p:nvPr/>
        </p:nvSpPr>
        <p:spPr>
          <a:xfrm>
            <a:off x="5657088" y="1901952"/>
            <a:ext cx="2371344" cy="64008"/>
          </a:xfrm>
          <a:prstGeom prst="rect">
            <a:avLst/>
          </a:prstGeom>
          <a:solidFill>
            <a:srgbClr val="3DCD58"/>
          </a:solidFill>
          <a:ln w="12700">
            <a:solidFill>
              <a:srgbClr val="3DCD58"/>
            </a:solidFill>
            <a:prstDash val="solid"/>
          </a:ln>
        </p:spPr>
      </p:sp>
      <p:sp>
        <p:nvSpPr>
          <p:cNvPr id="26" name="Text 24"/>
          <p:cNvSpPr/>
          <p:nvPr/>
        </p:nvSpPr>
        <p:spPr>
          <a:xfrm>
            <a:off x="5821680" y="2057400"/>
            <a:ext cx="685800" cy="182880"/>
          </a:xfrm>
          <a:prstGeom prst="rect">
            <a:avLst/>
          </a:prstGeom>
          <a:noFill/>
          <a:ln/>
        </p:spPr>
        <p:txBody>
          <a:bodyPr wrap="square" lIns="0" tIns="0" rIns="0" bIns="0" rtlCol="0" anchor="ctr"/>
          <a:lstStyle/>
          <a:p>
            <a:pPr indent="0" marL="0">
              <a:buNone/>
            </a:pPr>
            <a:r>
              <a:rPr lang="en-US" sz="750" b="1" spc="80" kern="0" dirty="0">
                <a:solidFill>
                  <a:srgbClr val="007A27"/>
                </a:solidFill>
                <a:latin typeface="Calibri" pitchFamily="34" charset="0"/>
                <a:ea typeface="Calibri" pitchFamily="34" charset="-122"/>
                <a:cs typeface="Calibri" pitchFamily="34" charset="-120"/>
              </a:rPr>
              <a:t>TIER 03</a:t>
            </a:r>
            <a:endParaRPr lang="en-US" sz="750" dirty="0"/>
          </a:p>
        </p:txBody>
      </p:sp>
      <p:sp>
        <p:nvSpPr>
          <p:cNvPr id="27" name="Text 25"/>
          <p:cNvSpPr/>
          <p:nvPr/>
        </p:nvSpPr>
        <p:spPr>
          <a:xfrm>
            <a:off x="5821680" y="2313432"/>
            <a:ext cx="2042160" cy="32004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Portfolio</a:t>
            </a:r>
            <a:endParaRPr lang="en-US" sz="1500" dirty="0"/>
          </a:p>
        </p:txBody>
      </p:sp>
      <p:sp>
        <p:nvSpPr>
          <p:cNvPr id="28" name="Text 26"/>
          <p:cNvSpPr/>
          <p:nvPr/>
        </p:nvSpPr>
        <p:spPr>
          <a:xfrm>
            <a:off x="5821680" y="2660904"/>
            <a:ext cx="2042160" cy="384048"/>
          </a:xfrm>
          <a:prstGeom prst="rect">
            <a:avLst/>
          </a:prstGeom>
          <a:noFill/>
          <a:ln/>
        </p:spPr>
        <p:txBody>
          <a:bodyPr wrap="square" lIns="0" tIns="0" rIns="0" bIns="0" rtlCol="0" anchor="t">
            <a:normAutofit/>
          </a:bodyPr>
          <a:lstStyle/>
          <a:p>
            <a:pPr indent="0" marL="0">
              <a:buNone/>
            </a:pPr>
            <a:r>
              <a:rPr lang="en-US" sz="830" dirty="0">
                <a:solidFill>
                  <a:srgbClr val="5A625C"/>
                </a:solidFill>
                <a:latin typeface="Calibri" pitchFamily="34" charset="0"/>
                <a:ea typeface="Calibri" pitchFamily="34" charset="-122"/>
                <a:cs typeface="Calibri" pitchFamily="34" charset="-120"/>
              </a:rPr>
              <a:t>Converge Sustainability, Energy and Efficiency</a:t>
            </a:r>
            <a:endParaRPr lang="en-US" sz="830" dirty="0"/>
          </a:p>
        </p:txBody>
      </p:sp>
      <p:sp>
        <p:nvSpPr>
          <p:cNvPr id="29" name="Shape 27"/>
          <p:cNvSpPr/>
          <p:nvPr/>
        </p:nvSpPr>
        <p:spPr>
          <a:xfrm>
            <a:off x="5821680" y="3136392"/>
            <a:ext cx="2042160" cy="0"/>
          </a:xfrm>
          <a:prstGeom prst="line">
            <a:avLst/>
          </a:prstGeom>
          <a:noFill/>
          <a:ln w="7620">
            <a:solidFill>
              <a:srgbClr val="E2E6E2"/>
            </a:solidFill>
            <a:prstDash val="solid"/>
          </a:ln>
        </p:spPr>
      </p:sp>
      <p:sp>
        <p:nvSpPr>
          <p:cNvPr id="30" name="Text 28"/>
          <p:cNvSpPr/>
          <p:nvPr/>
        </p:nvSpPr>
        <p:spPr>
          <a:xfrm>
            <a:off x="5821680" y="3255264"/>
            <a:ext cx="2042160" cy="292608"/>
          </a:xfrm>
          <a:prstGeom prst="rect">
            <a:avLst/>
          </a:prstGeom>
          <a:noFill/>
          <a:ln/>
        </p:spPr>
        <p:txBody>
          <a:bodyPr wrap="square" lIns="0" tIns="0" rIns="0" bIns="0" rtlCol="0" anchor="ctr">
            <a:normAutofit/>
          </a:bodyPr>
          <a:lstStyle/>
          <a:p>
            <a:pPr indent="0" marL="0">
              <a:buNone/>
            </a:pPr>
            <a:r>
              <a:rPr lang="en-US" sz="1150" b="1" dirty="0">
                <a:solidFill>
                  <a:srgbClr val="1E2420"/>
                </a:solidFill>
                <a:latin typeface="Calibri" pitchFamily="34" charset="0"/>
                <a:ea typeface="Calibri" pitchFamily="34" charset="-122"/>
                <a:cs typeface="Calibri" pitchFamily="34" charset="-120"/>
              </a:rPr>
              <a:t>[€ PORTFOLIO PRICE] / year</a:t>
            </a:r>
            <a:endParaRPr lang="en-US" sz="1150" dirty="0"/>
          </a:p>
        </p:txBody>
      </p:sp>
      <p:sp>
        <p:nvSpPr>
          <p:cNvPr id="31" name="Text 29"/>
          <p:cNvSpPr/>
          <p:nvPr/>
        </p:nvSpPr>
        <p:spPr>
          <a:xfrm>
            <a:off x="5821680" y="3648456"/>
            <a:ext cx="2042160" cy="566928"/>
          </a:xfrm>
          <a:prstGeom prst="rect">
            <a:avLst/>
          </a:prstGeom>
          <a:noFill/>
          <a:ln/>
        </p:spPr>
        <p:txBody>
          <a:bodyPr wrap="square" lIns="0" tIns="0" rIns="0" bIns="0" rtlCol="0" anchor="t">
            <a:normAutofit/>
          </a:bodyPr>
          <a:lstStyle/>
          <a:p>
            <a:pPr marL="114300" indent="-114300">
              <a:spcAft>
                <a:spcPts val="400"/>
              </a:spcAft>
              <a:buSzPct val="100000"/>
              <a:buChar char="•"/>
            </a:pPr>
            <a:r>
              <a:rPr lang="en-US" sz="780" dirty="0">
                <a:solidFill>
                  <a:srgbClr val="5A625C"/>
                </a:solidFill>
                <a:latin typeface="Calibri" pitchFamily="34" charset="0"/>
                <a:ea typeface="Calibri" pitchFamily="34" charset="-122"/>
                <a:cs typeface="Calibri" pitchFamily="34" charset="-120"/>
              </a:rPr>
              <a:t>Platform fee + unlimited product portfolio</a:t>
            </a:r>
            <a:endParaRPr lang="en-US" sz="780" dirty="0"/>
          </a:p>
          <a:p>
            <a:pPr marL="114300" indent="-114300">
              <a:spcAft>
                <a:spcPts val="400"/>
              </a:spcAft>
              <a:buSzPct val="100000"/>
              <a:buChar char="•"/>
            </a:pPr>
            <a:r>
              <a:rPr lang="en-US" sz="780" dirty="0">
                <a:solidFill>
                  <a:srgbClr val="5A625C"/>
                </a:solidFill>
                <a:latin typeface="Calibri" pitchFamily="34" charset="0"/>
                <a:ea typeface="Calibri" pitchFamily="34" charset="-122"/>
                <a:cs typeface="Calibri" pitchFamily="34" charset="-120"/>
              </a:rPr>
              <a:t>Cross-domain intelligence and APIs</a:t>
            </a:r>
            <a:endParaRPr lang="en-US" sz="780" dirty="0"/>
          </a:p>
          <a:p>
            <a:pPr marL="114300" indent="-114300">
              <a:spcAft>
                <a:spcPts val="400"/>
              </a:spcAft>
              <a:buSzPct val="100000"/>
              <a:buChar char="•"/>
            </a:pPr>
            <a:r>
              <a:rPr lang="en-US" sz="780" dirty="0">
                <a:solidFill>
                  <a:srgbClr val="5A625C"/>
                </a:solidFill>
                <a:latin typeface="Calibri" pitchFamily="34" charset="0"/>
                <a:ea typeface="Calibri" pitchFamily="34" charset="-122"/>
                <a:cs typeface="Calibri" pitchFamily="34" charset="-120"/>
              </a:rPr>
              <a:t>Strategic success and advisory package</a:t>
            </a:r>
            <a:endParaRPr lang="en-US" sz="780" dirty="0"/>
          </a:p>
        </p:txBody>
      </p:sp>
      <p:sp>
        <p:nvSpPr>
          <p:cNvPr id="32" name="Shape 30"/>
          <p:cNvSpPr/>
          <p:nvPr/>
        </p:nvSpPr>
        <p:spPr>
          <a:xfrm>
            <a:off x="621792" y="4517136"/>
            <a:ext cx="1851660" cy="676656"/>
          </a:xfrm>
          <a:prstGeom prst="rect">
            <a:avLst/>
          </a:prstGeom>
          <a:solidFill>
            <a:srgbClr val="F7F8F7"/>
          </a:solidFill>
          <a:ln w="5715">
            <a:solidFill>
              <a:srgbClr val="E2E6E2"/>
            </a:solidFill>
            <a:prstDash val="solid"/>
          </a:ln>
        </p:spPr>
      </p:sp>
      <p:sp>
        <p:nvSpPr>
          <p:cNvPr id="33" name="Text 31"/>
          <p:cNvSpPr/>
          <p:nvPr/>
        </p:nvSpPr>
        <p:spPr>
          <a:xfrm>
            <a:off x="731520" y="4626864"/>
            <a:ext cx="1632204" cy="146304"/>
          </a:xfrm>
          <a:prstGeom prst="rect">
            <a:avLst/>
          </a:prstGeom>
          <a:noFill/>
          <a:ln/>
        </p:spPr>
        <p:txBody>
          <a:bodyPr wrap="square" lIns="0" tIns="0" rIns="0" bIns="0" rtlCol="0" anchor="ctr">
            <a:normAutofit/>
          </a:bodyPr>
          <a:lstStyle/>
          <a:p>
            <a:pPr indent="0" marL="0">
              <a:buNone/>
            </a:pPr>
            <a:r>
              <a:rPr lang="en-US" sz="670" b="1" spc="50" kern="0" dirty="0">
                <a:solidFill>
                  <a:srgbClr val="007A27"/>
                </a:solidFill>
                <a:latin typeface="Calibri" pitchFamily="34" charset="0"/>
                <a:ea typeface="Calibri" pitchFamily="34" charset="-122"/>
                <a:cs typeface="Calibri" pitchFamily="34" charset="-120"/>
              </a:rPr>
              <a:t>ORGANIZATIONAL SCALE</a:t>
            </a:r>
            <a:endParaRPr lang="en-US" sz="670" dirty="0"/>
          </a:p>
        </p:txBody>
      </p:sp>
      <p:sp>
        <p:nvSpPr>
          <p:cNvPr id="34" name="Text 32"/>
          <p:cNvSpPr/>
          <p:nvPr/>
        </p:nvSpPr>
        <p:spPr>
          <a:xfrm>
            <a:off x="731520" y="4846320"/>
            <a:ext cx="1632204" cy="228600"/>
          </a:xfrm>
          <a:prstGeom prst="rect">
            <a:avLst/>
          </a:prstGeom>
          <a:noFill/>
          <a:ln/>
        </p:spPr>
        <p:txBody>
          <a:bodyPr wrap="square" lIns="0" tIns="0" rIns="0" bIns="0" rtlCol="0" anchor="ctr">
            <a:normAutofit/>
          </a:bodyPr>
          <a:lstStyle/>
          <a:p>
            <a:pPr indent="0" marL="0">
              <a:buNone/>
            </a:pPr>
            <a:r>
              <a:rPr lang="en-US" sz="780" b="1" dirty="0">
                <a:solidFill>
                  <a:srgbClr val="1E2420"/>
                </a:solidFill>
                <a:latin typeface="Calibri" pitchFamily="34" charset="0"/>
                <a:ea typeface="Calibri" pitchFamily="34" charset="-122"/>
                <a:cs typeface="Calibri" pitchFamily="34" charset="-120"/>
              </a:rPr>
              <a:t>Sites, entities and suppliers</a:t>
            </a:r>
            <a:endParaRPr lang="en-US" sz="780" dirty="0"/>
          </a:p>
        </p:txBody>
      </p:sp>
      <p:sp>
        <p:nvSpPr>
          <p:cNvPr id="35" name="Shape 33"/>
          <p:cNvSpPr/>
          <p:nvPr/>
        </p:nvSpPr>
        <p:spPr>
          <a:xfrm>
            <a:off x="2473452" y="4517136"/>
            <a:ext cx="1851660" cy="676656"/>
          </a:xfrm>
          <a:prstGeom prst="rect">
            <a:avLst/>
          </a:prstGeom>
          <a:solidFill>
            <a:srgbClr val="F1F3F2"/>
          </a:solidFill>
          <a:ln w="5715">
            <a:solidFill>
              <a:srgbClr val="E2E6E2"/>
            </a:solidFill>
            <a:prstDash val="solid"/>
          </a:ln>
        </p:spPr>
      </p:sp>
      <p:sp>
        <p:nvSpPr>
          <p:cNvPr id="36" name="Text 34"/>
          <p:cNvSpPr/>
          <p:nvPr/>
        </p:nvSpPr>
        <p:spPr>
          <a:xfrm>
            <a:off x="2583180" y="4626864"/>
            <a:ext cx="1632204" cy="146304"/>
          </a:xfrm>
          <a:prstGeom prst="rect">
            <a:avLst/>
          </a:prstGeom>
          <a:noFill/>
          <a:ln/>
        </p:spPr>
        <p:txBody>
          <a:bodyPr wrap="square" lIns="0" tIns="0" rIns="0" bIns="0" rtlCol="0" anchor="ctr">
            <a:normAutofit/>
          </a:bodyPr>
          <a:lstStyle/>
          <a:p>
            <a:pPr indent="0" marL="0">
              <a:buNone/>
            </a:pPr>
            <a:r>
              <a:rPr lang="en-US" sz="670" b="1" spc="50" kern="0" dirty="0">
                <a:solidFill>
                  <a:srgbClr val="007A27"/>
                </a:solidFill>
                <a:latin typeface="Calibri" pitchFamily="34" charset="0"/>
                <a:ea typeface="Calibri" pitchFamily="34" charset="-122"/>
                <a:cs typeface="Calibri" pitchFamily="34" charset="-120"/>
              </a:rPr>
              <a:t>DATA SCALE</a:t>
            </a:r>
            <a:endParaRPr lang="en-US" sz="670" dirty="0"/>
          </a:p>
        </p:txBody>
      </p:sp>
      <p:sp>
        <p:nvSpPr>
          <p:cNvPr id="37" name="Text 35"/>
          <p:cNvSpPr/>
          <p:nvPr/>
        </p:nvSpPr>
        <p:spPr>
          <a:xfrm>
            <a:off x="2583180" y="4846320"/>
            <a:ext cx="1632204" cy="228600"/>
          </a:xfrm>
          <a:prstGeom prst="rect">
            <a:avLst/>
          </a:prstGeom>
          <a:noFill/>
          <a:ln/>
        </p:spPr>
        <p:txBody>
          <a:bodyPr wrap="square" lIns="0" tIns="0" rIns="0" bIns="0" rtlCol="0" anchor="ctr">
            <a:normAutofit/>
          </a:bodyPr>
          <a:lstStyle/>
          <a:p>
            <a:pPr indent="0" marL="0">
              <a:buNone/>
            </a:pPr>
            <a:r>
              <a:rPr lang="en-US" sz="780" b="1" dirty="0">
                <a:solidFill>
                  <a:srgbClr val="1E2420"/>
                </a:solidFill>
                <a:latin typeface="Calibri" pitchFamily="34" charset="0"/>
                <a:ea typeface="Calibri" pitchFamily="34" charset="-122"/>
                <a:cs typeface="Calibri" pitchFamily="34" charset="-120"/>
              </a:rPr>
              <a:t>Meters, transactions and records</a:t>
            </a:r>
            <a:endParaRPr lang="en-US" sz="780" dirty="0"/>
          </a:p>
        </p:txBody>
      </p:sp>
      <p:sp>
        <p:nvSpPr>
          <p:cNvPr id="38" name="Shape 36"/>
          <p:cNvSpPr/>
          <p:nvPr/>
        </p:nvSpPr>
        <p:spPr>
          <a:xfrm>
            <a:off x="4325112" y="4517136"/>
            <a:ext cx="1851660" cy="676656"/>
          </a:xfrm>
          <a:prstGeom prst="rect">
            <a:avLst/>
          </a:prstGeom>
          <a:solidFill>
            <a:srgbClr val="F7F8F7"/>
          </a:solidFill>
          <a:ln w="5715">
            <a:solidFill>
              <a:srgbClr val="E2E6E2"/>
            </a:solidFill>
            <a:prstDash val="solid"/>
          </a:ln>
        </p:spPr>
      </p:sp>
      <p:sp>
        <p:nvSpPr>
          <p:cNvPr id="39" name="Text 37"/>
          <p:cNvSpPr/>
          <p:nvPr/>
        </p:nvSpPr>
        <p:spPr>
          <a:xfrm>
            <a:off x="4434840" y="4626864"/>
            <a:ext cx="1632204" cy="146304"/>
          </a:xfrm>
          <a:prstGeom prst="rect">
            <a:avLst/>
          </a:prstGeom>
          <a:noFill/>
          <a:ln/>
        </p:spPr>
        <p:txBody>
          <a:bodyPr wrap="square" lIns="0" tIns="0" rIns="0" bIns="0" rtlCol="0" anchor="ctr">
            <a:normAutofit/>
          </a:bodyPr>
          <a:lstStyle/>
          <a:p>
            <a:pPr indent="0" marL="0">
              <a:buNone/>
            </a:pPr>
            <a:r>
              <a:rPr lang="en-US" sz="670" b="1" spc="50" kern="0" dirty="0">
                <a:solidFill>
                  <a:srgbClr val="007A27"/>
                </a:solidFill>
                <a:latin typeface="Calibri" pitchFamily="34" charset="0"/>
                <a:ea typeface="Calibri" pitchFamily="34" charset="-122"/>
                <a:cs typeface="Calibri" pitchFamily="34" charset="-120"/>
              </a:rPr>
              <a:t>CAPABILITY SCALE</a:t>
            </a:r>
            <a:endParaRPr lang="en-US" sz="670" dirty="0"/>
          </a:p>
        </p:txBody>
      </p:sp>
      <p:sp>
        <p:nvSpPr>
          <p:cNvPr id="40" name="Text 38"/>
          <p:cNvSpPr/>
          <p:nvPr/>
        </p:nvSpPr>
        <p:spPr>
          <a:xfrm>
            <a:off x="4434840" y="4846320"/>
            <a:ext cx="1632204" cy="228600"/>
          </a:xfrm>
          <a:prstGeom prst="rect">
            <a:avLst/>
          </a:prstGeom>
          <a:noFill/>
          <a:ln/>
        </p:spPr>
        <p:txBody>
          <a:bodyPr wrap="square" lIns="0" tIns="0" rIns="0" bIns="0" rtlCol="0" anchor="ctr">
            <a:normAutofit/>
          </a:bodyPr>
          <a:lstStyle/>
          <a:p>
            <a:pPr indent="0" marL="0">
              <a:buNone/>
            </a:pPr>
            <a:r>
              <a:rPr lang="en-US" sz="780" b="1" dirty="0">
                <a:solidFill>
                  <a:srgbClr val="1E2420"/>
                </a:solidFill>
                <a:latin typeface="Calibri" pitchFamily="34" charset="0"/>
                <a:ea typeface="Calibri" pitchFamily="34" charset="-122"/>
                <a:cs typeface="Calibri" pitchFamily="34" charset="-120"/>
              </a:rPr>
              <a:t>Products, modules and frameworks</a:t>
            </a:r>
            <a:endParaRPr lang="en-US" sz="780" dirty="0"/>
          </a:p>
        </p:txBody>
      </p:sp>
      <p:sp>
        <p:nvSpPr>
          <p:cNvPr id="41" name="Shape 39"/>
          <p:cNvSpPr/>
          <p:nvPr/>
        </p:nvSpPr>
        <p:spPr>
          <a:xfrm>
            <a:off x="6176772" y="4517136"/>
            <a:ext cx="1851660" cy="676656"/>
          </a:xfrm>
          <a:prstGeom prst="rect">
            <a:avLst/>
          </a:prstGeom>
          <a:solidFill>
            <a:srgbClr val="F1F3F2"/>
          </a:solidFill>
          <a:ln w="5715">
            <a:solidFill>
              <a:srgbClr val="E2E6E2"/>
            </a:solidFill>
            <a:prstDash val="solid"/>
          </a:ln>
        </p:spPr>
      </p:sp>
      <p:sp>
        <p:nvSpPr>
          <p:cNvPr id="42" name="Text 40"/>
          <p:cNvSpPr/>
          <p:nvPr/>
        </p:nvSpPr>
        <p:spPr>
          <a:xfrm>
            <a:off x="6286500" y="4626864"/>
            <a:ext cx="1632204" cy="146304"/>
          </a:xfrm>
          <a:prstGeom prst="rect">
            <a:avLst/>
          </a:prstGeom>
          <a:noFill/>
          <a:ln/>
        </p:spPr>
        <p:txBody>
          <a:bodyPr wrap="square" lIns="0" tIns="0" rIns="0" bIns="0" rtlCol="0" anchor="ctr">
            <a:normAutofit/>
          </a:bodyPr>
          <a:lstStyle/>
          <a:p>
            <a:pPr indent="0" marL="0">
              <a:buNone/>
            </a:pPr>
            <a:r>
              <a:rPr lang="en-US" sz="670" b="1" spc="50" kern="0" dirty="0">
                <a:solidFill>
                  <a:srgbClr val="007A27"/>
                </a:solidFill>
                <a:latin typeface="Calibri" pitchFamily="34" charset="0"/>
                <a:ea typeface="Calibri" pitchFamily="34" charset="-122"/>
                <a:cs typeface="Calibri" pitchFamily="34" charset="-120"/>
              </a:rPr>
              <a:t>SERVICE SCALE</a:t>
            </a:r>
            <a:endParaRPr lang="en-US" sz="670" dirty="0"/>
          </a:p>
        </p:txBody>
      </p:sp>
      <p:sp>
        <p:nvSpPr>
          <p:cNvPr id="43" name="Text 41"/>
          <p:cNvSpPr/>
          <p:nvPr/>
        </p:nvSpPr>
        <p:spPr>
          <a:xfrm>
            <a:off x="6286500" y="4846320"/>
            <a:ext cx="1632204" cy="228600"/>
          </a:xfrm>
          <a:prstGeom prst="rect">
            <a:avLst/>
          </a:prstGeom>
          <a:noFill/>
          <a:ln/>
        </p:spPr>
        <p:txBody>
          <a:bodyPr wrap="square" lIns="0" tIns="0" rIns="0" bIns="0" rtlCol="0" anchor="ctr">
            <a:normAutofit/>
          </a:bodyPr>
          <a:lstStyle/>
          <a:p>
            <a:pPr indent="0" marL="0">
              <a:buNone/>
            </a:pPr>
            <a:r>
              <a:rPr lang="en-US" sz="780" b="1" dirty="0">
                <a:solidFill>
                  <a:srgbClr val="1E2420"/>
                </a:solidFill>
                <a:latin typeface="Calibri" pitchFamily="34" charset="0"/>
                <a:ea typeface="Calibri" pitchFamily="34" charset="-122"/>
                <a:cs typeface="Calibri" pitchFamily="34" charset="-120"/>
              </a:rPr>
              <a:t>Support, advisory and assurance</a:t>
            </a:r>
            <a:endParaRPr lang="en-US" sz="780" dirty="0"/>
          </a:p>
        </p:txBody>
      </p:sp>
      <p:sp>
        <p:nvSpPr>
          <p:cNvPr id="44" name="Shape 42"/>
          <p:cNvSpPr/>
          <p:nvPr/>
        </p:nvSpPr>
        <p:spPr>
          <a:xfrm>
            <a:off x="8284464" y="1901952"/>
            <a:ext cx="3285439" cy="3291840"/>
          </a:xfrm>
          <a:prstGeom prst="roundRect">
            <a:avLst>
              <a:gd name="adj" fmla="val 1113"/>
            </a:avLst>
          </a:prstGeom>
          <a:solidFill>
            <a:srgbClr val="FFFFFF"/>
          </a:solidFill>
          <a:ln w="8890">
            <a:solidFill>
              <a:srgbClr val="E2E6E2"/>
            </a:solidFill>
            <a:prstDash val="solid"/>
          </a:ln>
        </p:spPr>
      </p:sp>
      <p:sp>
        <p:nvSpPr>
          <p:cNvPr id="45" name="Shape 43"/>
          <p:cNvSpPr/>
          <p:nvPr/>
        </p:nvSpPr>
        <p:spPr>
          <a:xfrm>
            <a:off x="8284464" y="1901952"/>
            <a:ext cx="3285439" cy="393192"/>
          </a:xfrm>
          <a:prstGeom prst="rect">
            <a:avLst/>
          </a:prstGeom>
          <a:solidFill>
            <a:srgbClr val="005730"/>
          </a:solidFill>
          <a:ln w="12700">
            <a:solidFill>
              <a:srgbClr val="005730"/>
            </a:solidFill>
            <a:prstDash val="solid"/>
          </a:ln>
        </p:spPr>
      </p:sp>
      <p:sp>
        <p:nvSpPr>
          <p:cNvPr id="46" name="Text 44"/>
          <p:cNvSpPr/>
          <p:nvPr/>
        </p:nvSpPr>
        <p:spPr>
          <a:xfrm>
            <a:off x="8430768" y="1901952"/>
            <a:ext cx="2992831" cy="393192"/>
          </a:xfrm>
          <a:prstGeom prst="rect">
            <a:avLst/>
          </a:prstGeom>
          <a:noFill/>
          <a:ln/>
        </p:spPr>
        <p:txBody>
          <a:bodyPr wrap="square" lIns="0" tIns="0" rIns="0" bIns="0" rtlCol="0" anchor="ctr"/>
          <a:lstStyle/>
          <a:p>
            <a:pPr indent="0" marL="0">
              <a:buNone/>
            </a:pPr>
            <a:r>
              <a:rPr lang="en-US" sz="750" b="1" spc="80" kern="0" dirty="0">
                <a:solidFill>
                  <a:srgbClr val="FFFFFF"/>
                </a:solidFill>
                <a:latin typeface="Calibri" pitchFamily="34" charset="0"/>
                <a:ea typeface="Calibri" pitchFamily="34" charset="-122"/>
                <a:cs typeface="Calibri" pitchFamily="34" charset="-120"/>
              </a:rPr>
              <a:t>BUYING-MODEL BENCHMARK</a:t>
            </a:r>
            <a:endParaRPr lang="en-US" sz="750" dirty="0"/>
          </a:p>
        </p:txBody>
      </p:sp>
      <p:sp>
        <p:nvSpPr>
          <p:cNvPr id="47" name="Shape 45"/>
          <p:cNvSpPr/>
          <p:nvPr/>
        </p:nvSpPr>
        <p:spPr>
          <a:xfrm>
            <a:off x="8284464" y="2295144"/>
            <a:ext cx="3285439" cy="579730"/>
          </a:xfrm>
          <a:prstGeom prst="rect">
            <a:avLst/>
          </a:prstGeom>
          <a:solidFill>
            <a:srgbClr val="EAF8ED"/>
          </a:solidFill>
          <a:ln w="4445">
            <a:solidFill>
              <a:srgbClr val="E2E6E2"/>
            </a:solidFill>
            <a:prstDash val="solid"/>
          </a:ln>
        </p:spPr>
      </p:sp>
      <p:sp>
        <p:nvSpPr>
          <p:cNvPr id="48" name="Text 46"/>
          <p:cNvSpPr/>
          <p:nvPr/>
        </p:nvSpPr>
        <p:spPr>
          <a:xfrm>
            <a:off x="8421624" y="2386584"/>
            <a:ext cx="713232" cy="182880"/>
          </a:xfrm>
          <a:prstGeom prst="rect">
            <a:avLst/>
          </a:prstGeom>
          <a:noFill/>
          <a:ln/>
        </p:spPr>
        <p:txBody>
          <a:bodyPr wrap="square" lIns="0" tIns="0" rIns="0" bIns="0" rtlCol="0" anchor="ctr">
            <a:normAutofit/>
          </a:bodyPr>
          <a:lstStyle/>
          <a:p>
            <a:pPr indent="0" marL="0">
              <a:buNone/>
            </a:pPr>
            <a:r>
              <a:rPr lang="en-US" sz="880" b="1" dirty="0">
                <a:solidFill>
                  <a:srgbClr val="007A27"/>
                </a:solidFill>
                <a:latin typeface="Calibri" pitchFamily="34" charset="0"/>
                <a:ea typeface="Calibri" pitchFamily="34" charset="-122"/>
                <a:cs typeface="Calibri" pitchFamily="34" charset="-120"/>
              </a:rPr>
              <a:t>RA+</a:t>
            </a:r>
            <a:endParaRPr lang="en-US" sz="880" dirty="0"/>
          </a:p>
        </p:txBody>
      </p:sp>
      <p:sp>
        <p:nvSpPr>
          <p:cNvPr id="49" name="Text 47"/>
          <p:cNvSpPr/>
          <p:nvPr/>
        </p:nvSpPr>
        <p:spPr>
          <a:xfrm>
            <a:off x="9198864" y="2386584"/>
            <a:ext cx="2233879" cy="164592"/>
          </a:xfrm>
          <a:prstGeom prst="rect">
            <a:avLst/>
          </a:prstGeom>
          <a:noFill/>
          <a:ln/>
        </p:spPr>
        <p:txBody>
          <a:bodyPr wrap="square" lIns="0" tIns="0" rIns="0" bIns="0" rtlCol="0" anchor="ctr">
            <a:normAutofit/>
          </a:bodyPr>
          <a:lstStyle/>
          <a:p>
            <a:pPr algn="r" indent="0" marL="0">
              <a:buNone/>
            </a:pPr>
            <a:r>
              <a:rPr lang="en-US" sz="680" b="1" dirty="0">
                <a:solidFill>
                  <a:srgbClr val="5A625C"/>
                </a:solidFill>
                <a:latin typeface="Calibri" pitchFamily="34" charset="0"/>
                <a:ea typeface="Calibri" pitchFamily="34" charset="-122"/>
                <a:cs typeface="Calibri" pitchFamily="34" charset="-120"/>
              </a:rPr>
              <a:t>Proposed: high</a:t>
            </a:r>
            <a:endParaRPr lang="en-US" sz="680" dirty="0"/>
          </a:p>
        </p:txBody>
      </p:sp>
      <p:sp>
        <p:nvSpPr>
          <p:cNvPr id="50" name="Text 48"/>
          <p:cNvSpPr/>
          <p:nvPr/>
        </p:nvSpPr>
        <p:spPr>
          <a:xfrm>
            <a:off x="8421624" y="2606040"/>
            <a:ext cx="3011119" cy="213970"/>
          </a:xfrm>
          <a:prstGeom prst="rect">
            <a:avLst/>
          </a:prstGeom>
          <a:noFill/>
          <a:ln/>
        </p:spPr>
        <p:txBody>
          <a:bodyPr wrap="square" lIns="0" tIns="0" rIns="0" bIns="0" rtlCol="0" anchor="ctr">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Published platform fee + per-product expansion</a:t>
            </a:r>
            <a:endParaRPr lang="en-US" sz="750" dirty="0"/>
          </a:p>
        </p:txBody>
      </p:sp>
      <p:sp>
        <p:nvSpPr>
          <p:cNvPr id="51" name="Shape 49"/>
          <p:cNvSpPr/>
          <p:nvPr/>
        </p:nvSpPr>
        <p:spPr>
          <a:xfrm>
            <a:off x="8284464" y="2874874"/>
            <a:ext cx="3285439" cy="579730"/>
          </a:xfrm>
          <a:prstGeom prst="rect">
            <a:avLst/>
          </a:prstGeom>
          <a:solidFill>
            <a:srgbClr val="F1F3F2"/>
          </a:solidFill>
          <a:ln w="4445">
            <a:solidFill>
              <a:srgbClr val="E2E6E2"/>
            </a:solidFill>
            <a:prstDash val="solid"/>
          </a:ln>
        </p:spPr>
      </p:sp>
      <p:sp>
        <p:nvSpPr>
          <p:cNvPr id="52" name="Text 50"/>
          <p:cNvSpPr/>
          <p:nvPr/>
        </p:nvSpPr>
        <p:spPr>
          <a:xfrm>
            <a:off x="8421624" y="2966314"/>
            <a:ext cx="713232" cy="182880"/>
          </a:xfrm>
          <a:prstGeom prst="rect">
            <a:avLst/>
          </a:prstGeom>
          <a:noFill/>
          <a:ln/>
        </p:spPr>
        <p:txBody>
          <a:bodyPr wrap="square" lIns="0" tIns="0" rIns="0" bIns="0" rtlCol="0" anchor="ctr">
            <a:normAutofit/>
          </a:bodyPr>
          <a:lstStyle/>
          <a:p>
            <a:pPr indent="0" marL="0">
              <a:buNone/>
            </a:pPr>
            <a:r>
              <a:rPr lang="en-US" sz="880" b="1" dirty="0">
                <a:solidFill>
                  <a:srgbClr val="1E2420"/>
                </a:solidFill>
                <a:latin typeface="Calibri" pitchFamily="34" charset="0"/>
                <a:ea typeface="Calibri" pitchFamily="34" charset="-122"/>
                <a:cs typeface="Calibri" pitchFamily="34" charset="-120"/>
              </a:rPr>
              <a:t>Watershed</a:t>
            </a:r>
            <a:endParaRPr lang="en-US" sz="880" dirty="0"/>
          </a:p>
        </p:txBody>
      </p:sp>
      <p:sp>
        <p:nvSpPr>
          <p:cNvPr id="53" name="Text 51"/>
          <p:cNvSpPr/>
          <p:nvPr/>
        </p:nvSpPr>
        <p:spPr>
          <a:xfrm>
            <a:off x="9198864" y="2966314"/>
            <a:ext cx="2233879" cy="164592"/>
          </a:xfrm>
          <a:prstGeom prst="rect">
            <a:avLst/>
          </a:prstGeom>
          <a:noFill/>
          <a:ln/>
        </p:spPr>
        <p:txBody>
          <a:bodyPr wrap="square" lIns="0" tIns="0" rIns="0" bIns="0" rtlCol="0" anchor="ctr">
            <a:normAutofit/>
          </a:bodyPr>
          <a:lstStyle/>
          <a:p>
            <a:pPr algn="r" indent="0" marL="0">
              <a:buNone/>
            </a:pPr>
            <a:r>
              <a:rPr lang="en-US" sz="680" b="1" dirty="0">
                <a:solidFill>
                  <a:srgbClr val="5A625C"/>
                </a:solidFill>
                <a:latin typeface="Calibri" pitchFamily="34" charset="0"/>
                <a:ea typeface="Calibri" pitchFamily="34" charset="-122"/>
                <a:cs typeface="Calibri" pitchFamily="34" charset="-120"/>
              </a:rPr>
              <a:t>Public price not disclosed</a:t>
            </a:r>
            <a:endParaRPr lang="en-US" sz="680" dirty="0"/>
          </a:p>
        </p:txBody>
      </p:sp>
      <p:sp>
        <p:nvSpPr>
          <p:cNvPr id="54" name="Text 52"/>
          <p:cNvSpPr/>
          <p:nvPr/>
        </p:nvSpPr>
        <p:spPr>
          <a:xfrm>
            <a:off x="8421624" y="3185770"/>
            <a:ext cx="3011119" cy="213970"/>
          </a:xfrm>
          <a:prstGeom prst="rect">
            <a:avLst/>
          </a:prstGeom>
          <a:noFill/>
          <a:ln/>
        </p:spPr>
        <p:txBody>
          <a:bodyPr wrap="square" lIns="0" tIns="0" rIns="0" bIns="0" rtlCol="0" anchor="ctr">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Enterprise sales and custom proposal</a:t>
            </a:r>
            <a:endParaRPr lang="en-US" sz="750" dirty="0"/>
          </a:p>
        </p:txBody>
      </p:sp>
      <p:sp>
        <p:nvSpPr>
          <p:cNvPr id="55" name="Shape 53"/>
          <p:cNvSpPr/>
          <p:nvPr/>
        </p:nvSpPr>
        <p:spPr>
          <a:xfrm>
            <a:off x="8284464" y="3454603"/>
            <a:ext cx="3285439" cy="579730"/>
          </a:xfrm>
          <a:prstGeom prst="rect">
            <a:avLst/>
          </a:prstGeom>
          <a:solidFill>
            <a:srgbClr val="FFFFFF"/>
          </a:solidFill>
          <a:ln w="4445">
            <a:solidFill>
              <a:srgbClr val="E2E6E2"/>
            </a:solidFill>
            <a:prstDash val="solid"/>
          </a:ln>
        </p:spPr>
      </p:sp>
      <p:sp>
        <p:nvSpPr>
          <p:cNvPr id="56" name="Text 54"/>
          <p:cNvSpPr/>
          <p:nvPr/>
        </p:nvSpPr>
        <p:spPr>
          <a:xfrm>
            <a:off x="8421624" y="3546043"/>
            <a:ext cx="713232" cy="182880"/>
          </a:xfrm>
          <a:prstGeom prst="rect">
            <a:avLst/>
          </a:prstGeom>
          <a:noFill/>
          <a:ln/>
        </p:spPr>
        <p:txBody>
          <a:bodyPr wrap="square" lIns="0" tIns="0" rIns="0" bIns="0" rtlCol="0" anchor="ctr">
            <a:normAutofit/>
          </a:bodyPr>
          <a:lstStyle/>
          <a:p>
            <a:pPr indent="0" marL="0">
              <a:buNone/>
            </a:pPr>
            <a:r>
              <a:rPr lang="en-US" sz="880" b="1" dirty="0">
                <a:solidFill>
                  <a:srgbClr val="1E2420"/>
                </a:solidFill>
                <a:latin typeface="Calibri" pitchFamily="34" charset="0"/>
                <a:ea typeface="Calibri" pitchFamily="34" charset="-122"/>
                <a:cs typeface="Calibri" pitchFamily="34" charset="-120"/>
              </a:rPr>
              <a:t>osapiens</a:t>
            </a:r>
            <a:endParaRPr lang="en-US" sz="880" dirty="0"/>
          </a:p>
        </p:txBody>
      </p:sp>
      <p:sp>
        <p:nvSpPr>
          <p:cNvPr id="57" name="Text 55"/>
          <p:cNvSpPr/>
          <p:nvPr/>
        </p:nvSpPr>
        <p:spPr>
          <a:xfrm>
            <a:off x="9198864" y="3546043"/>
            <a:ext cx="2233879" cy="164592"/>
          </a:xfrm>
          <a:prstGeom prst="rect">
            <a:avLst/>
          </a:prstGeom>
          <a:noFill/>
          <a:ln/>
        </p:spPr>
        <p:txBody>
          <a:bodyPr wrap="square" lIns="0" tIns="0" rIns="0" bIns="0" rtlCol="0" anchor="ctr">
            <a:normAutofit/>
          </a:bodyPr>
          <a:lstStyle/>
          <a:p>
            <a:pPr algn="r" indent="0" marL="0">
              <a:buNone/>
            </a:pPr>
            <a:r>
              <a:rPr lang="en-US" sz="680" b="1" dirty="0">
                <a:solidFill>
                  <a:srgbClr val="5A625C"/>
                </a:solidFill>
                <a:latin typeface="Calibri" pitchFamily="34" charset="0"/>
                <a:ea typeface="Calibri" pitchFamily="34" charset="-122"/>
                <a:cs typeface="Calibri" pitchFamily="34" charset="-120"/>
              </a:rPr>
              <a:t>Limited</a:t>
            </a:r>
            <a:endParaRPr lang="en-US" sz="680" dirty="0"/>
          </a:p>
        </p:txBody>
      </p:sp>
      <p:sp>
        <p:nvSpPr>
          <p:cNvPr id="58" name="Text 56"/>
          <p:cNvSpPr/>
          <p:nvPr/>
        </p:nvSpPr>
        <p:spPr>
          <a:xfrm>
            <a:off x="8421624" y="3765499"/>
            <a:ext cx="3011119" cy="213970"/>
          </a:xfrm>
          <a:prstGeom prst="rect">
            <a:avLst/>
          </a:prstGeom>
          <a:noFill/>
          <a:ln/>
        </p:spPr>
        <p:txBody>
          <a:bodyPr wrap="square" lIns="0" tIns="0" rIns="0" bIns="0" rtlCol="0" anchor="ctr">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Custom quote by solution scope</a:t>
            </a:r>
            <a:endParaRPr lang="en-US" sz="750" dirty="0"/>
          </a:p>
        </p:txBody>
      </p:sp>
      <p:sp>
        <p:nvSpPr>
          <p:cNvPr id="59" name="Shape 57"/>
          <p:cNvSpPr/>
          <p:nvPr/>
        </p:nvSpPr>
        <p:spPr>
          <a:xfrm>
            <a:off x="8284464" y="4034333"/>
            <a:ext cx="3285439" cy="579730"/>
          </a:xfrm>
          <a:prstGeom prst="rect">
            <a:avLst/>
          </a:prstGeom>
          <a:solidFill>
            <a:srgbClr val="F1F3F2"/>
          </a:solidFill>
          <a:ln w="4445">
            <a:solidFill>
              <a:srgbClr val="E2E6E2"/>
            </a:solidFill>
            <a:prstDash val="solid"/>
          </a:ln>
        </p:spPr>
      </p:sp>
      <p:sp>
        <p:nvSpPr>
          <p:cNvPr id="60" name="Text 58"/>
          <p:cNvSpPr/>
          <p:nvPr/>
        </p:nvSpPr>
        <p:spPr>
          <a:xfrm>
            <a:off x="8421624" y="4125773"/>
            <a:ext cx="713232" cy="182880"/>
          </a:xfrm>
          <a:prstGeom prst="rect">
            <a:avLst/>
          </a:prstGeom>
          <a:noFill/>
          <a:ln/>
        </p:spPr>
        <p:txBody>
          <a:bodyPr wrap="square" lIns="0" tIns="0" rIns="0" bIns="0" rtlCol="0" anchor="ctr">
            <a:normAutofit/>
          </a:bodyPr>
          <a:lstStyle/>
          <a:p>
            <a:pPr indent="0" marL="0">
              <a:buNone/>
            </a:pPr>
            <a:r>
              <a:rPr lang="en-US" sz="880" b="1" dirty="0">
                <a:solidFill>
                  <a:srgbClr val="1E2420"/>
                </a:solidFill>
                <a:latin typeface="Calibri" pitchFamily="34" charset="0"/>
                <a:ea typeface="Calibri" pitchFamily="34" charset="-122"/>
                <a:cs typeface="Calibri" pitchFamily="34" charset="-120"/>
              </a:rPr>
              <a:t>Arcadia</a:t>
            </a:r>
            <a:endParaRPr lang="en-US" sz="880" dirty="0"/>
          </a:p>
        </p:txBody>
      </p:sp>
      <p:sp>
        <p:nvSpPr>
          <p:cNvPr id="61" name="Text 59"/>
          <p:cNvSpPr/>
          <p:nvPr/>
        </p:nvSpPr>
        <p:spPr>
          <a:xfrm>
            <a:off x="9198864" y="4125773"/>
            <a:ext cx="2233879" cy="164592"/>
          </a:xfrm>
          <a:prstGeom prst="rect">
            <a:avLst/>
          </a:prstGeom>
          <a:noFill/>
          <a:ln/>
        </p:spPr>
        <p:txBody>
          <a:bodyPr wrap="square" lIns="0" tIns="0" rIns="0" bIns="0" rtlCol="0" anchor="ctr">
            <a:normAutofit/>
          </a:bodyPr>
          <a:lstStyle/>
          <a:p>
            <a:pPr algn="r" indent="0" marL="0">
              <a:buNone/>
            </a:pPr>
            <a:r>
              <a:rPr lang="en-US" sz="680" b="1" dirty="0">
                <a:solidFill>
                  <a:srgbClr val="5A625C"/>
                </a:solidFill>
                <a:latin typeface="Calibri" pitchFamily="34" charset="0"/>
                <a:ea typeface="Calibri" pitchFamily="34" charset="-122"/>
                <a:cs typeface="Calibri" pitchFamily="34" charset="-120"/>
              </a:rPr>
              <a:t>Limited</a:t>
            </a:r>
            <a:endParaRPr lang="en-US" sz="680" dirty="0"/>
          </a:p>
        </p:txBody>
      </p:sp>
      <p:sp>
        <p:nvSpPr>
          <p:cNvPr id="62" name="Text 60"/>
          <p:cNvSpPr/>
          <p:nvPr/>
        </p:nvSpPr>
        <p:spPr>
          <a:xfrm>
            <a:off x="8421624" y="4345229"/>
            <a:ext cx="3011119" cy="213970"/>
          </a:xfrm>
          <a:prstGeom prst="rect">
            <a:avLst/>
          </a:prstGeom>
          <a:noFill/>
          <a:ln/>
        </p:spPr>
        <p:txBody>
          <a:bodyPr wrap="square" lIns="0" tIns="0" rIns="0" bIns="0" rtlCol="0" anchor="ctr">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Custom enterprise and data offering</a:t>
            </a:r>
            <a:endParaRPr lang="en-US" sz="750" dirty="0"/>
          </a:p>
        </p:txBody>
      </p:sp>
      <p:sp>
        <p:nvSpPr>
          <p:cNvPr id="63" name="Shape 61"/>
          <p:cNvSpPr/>
          <p:nvPr/>
        </p:nvSpPr>
        <p:spPr>
          <a:xfrm>
            <a:off x="8284464" y="4614062"/>
            <a:ext cx="3285439" cy="579730"/>
          </a:xfrm>
          <a:prstGeom prst="rect">
            <a:avLst/>
          </a:prstGeom>
          <a:solidFill>
            <a:srgbClr val="FFFFFF"/>
          </a:solidFill>
          <a:ln w="4445">
            <a:solidFill>
              <a:srgbClr val="E2E6E2"/>
            </a:solidFill>
            <a:prstDash val="solid"/>
          </a:ln>
        </p:spPr>
      </p:sp>
      <p:sp>
        <p:nvSpPr>
          <p:cNvPr id="64" name="Text 62"/>
          <p:cNvSpPr/>
          <p:nvPr/>
        </p:nvSpPr>
        <p:spPr>
          <a:xfrm>
            <a:off x="8421624" y="4705502"/>
            <a:ext cx="713232" cy="182880"/>
          </a:xfrm>
          <a:prstGeom prst="rect">
            <a:avLst/>
          </a:prstGeom>
          <a:noFill/>
          <a:ln/>
        </p:spPr>
        <p:txBody>
          <a:bodyPr wrap="square" lIns="0" tIns="0" rIns="0" bIns="0" rtlCol="0" anchor="ctr">
            <a:normAutofit/>
          </a:bodyPr>
          <a:lstStyle/>
          <a:p>
            <a:pPr indent="0" marL="0">
              <a:buNone/>
            </a:pPr>
            <a:r>
              <a:rPr lang="en-US" sz="880" b="1" dirty="0">
                <a:solidFill>
                  <a:srgbClr val="1E2420"/>
                </a:solidFill>
                <a:latin typeface="Calibri" pitchFamily="34" charset="0"/>
                <a:ea typeface="Calibri" pitchFamily="34" charset="-122"/>
                <a:cs typeface="Calibri" pitchFamily="34" charset="-120"/>
              </a:rPr>
              <a:t>Deepki</a:t>
            </a:r>
            <a:endParaRPr lang="en-US" sz="880" dirty="0"/>
          </a:p>
        </p:txBody>
      </p:sp>
      <p:sp>
        <p:nvSpPr>
          <p:cNvPr id="65" name="Text 63"/>
          <p:cNvSpPr/>
          <p:nvPr/>
        </p:nvSpPr>
        <p:spPr>
          <a:xfrm>
            <a:off x="9198864" y="4705502"/>
            <a:ext cx="2233879" cy="164592"/>
          </a:xfrm>
          <a:prstGeom prst="rect">
            <a:avLst/>
          </a:prstGeom>
          <a:noFill/>
          <a:ln/>
        </p:spPr>
        <p:txBody>
          <a:bodyPr wrap="square" lIns="0" tIns="0" rIns="0" bIns="0" rtlCol="0" anchor="ctr">
            <a:normAutofit/>
          </a:bodyPr>
          <a:lstStyle/>
          <a:p>
            <a:pPr algn="r" indent="0" marL="0">
              <a:buNone/>
            </a:pPr>
            <a:r>
              <a:rPr lang="en-US" sz="680" b="1" dirty="0">
                <a:solidFill>
                  <a:srgbClr val="5A625C"/>
                </a:solidFill>
                <a:latin typeface="Calibri" pitchFamily="34" charset="0"/>
                <a:ea typeface="Calibri" pitchFamily="34" charset="-122"/>
                <a:cs typeface="Calibri" pitchFamily="34" charset="-120"/>
              </a:rPr>
              <a:t>Public price not disclosed</a:t>
            </a:r>
            <a:endParaRPr lang="en-US" sz="680" dirty="0"/>
          </a:p>
        </p:txBody>
      </p:sp>
      <p:sp>
        <p:nvSpPr>
          <p:cNvPr id="66" name="Text 64"/>
          <p:cNvSpPr/>
          <p:nvPr/>
        </p:nvSpPr>
        <p:spPr>
          <a:xfrm>
            <a:off x="8421624" y="4924958"/>
            <a:ext cx="3011119" cy="213970"/>
          </a:xfrm>
          <a:prstGeom prst="rect">
            <a:avLst/>
          </a:prstGeom>
          <a:noFill/>
          <a:ln/>
        </p:spPr>
        <p:txBody>
          <a:bodyPr wrap="square" lIns="0" tIns="0" rIns="0" bIns="0" rtlCol="0" anchor="ctr">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Enterprise sales and custom proposal</a:t>
            </a:r>
            <a:endParaRPr lang="en-US" sz="750" dirty="0"/>
          </a:p>
        </p:txBody>
      </p:sp>
      <p:sp>
        <p:nvSpPr>
          <p:cNvPr id="67" name="Shape 65"/>
          <p:cNvSpPr/>
          <p:nvPr/>
        </p:nvSpPr>
        <p:spPr>
          <a:xfrm>
            <a:off x="621792" y="5513832"/>
            <a:ext cx="10948111" cy="502920"/>
          </a:xfrm>
          <a:prstGeom prst="roundRect">
            <a:avLst>
              <a:gd name="adj" fmla="val 7273"/>
            </a:avLst>
          </a:prstGeom>
          <a:solidFill>
            <a:srgbClr val="005730"/>
          </a:solidFill>
          <a:ln w="12700">
            <a:solidFill>
              <a:srgbClr val="005730"/>
            </a:solidFill>
            <a:prstDash val="solid"/>
          </a:ln>
        </p:spPr>
      </p:sp>
      <p:sp>
        <p:nvSpPr>
          <p:cNvPr id="68" name="Shape 66"/>
          <p:cNvSpPr/>
          <p:nvPr/>
        </p:nvSpPr>
        <p:spPr>
          <a:xfrm>
            <a:off x="621792" y="5513832"/>
            <a:ext cx="1371600" cy="502920"/>
          </a:xfrm>
          <a:prstGeom prst="rect">
            <a:avLst/>
          </a:prstGeom>
          <a:solidFill>
            <a:srgbClr val="3DCD58"/>
          </a:solidFill>
          <a:ln w="12700">
            <a:solidFill>
              <a:srgbClr val="3DCD58"/>
            </a:solidFill>
            <a:prstDash val="solid"/>
          </a:ln>
        </p:spPr>
      </p:sp>
      <p:sp>
        <p:nvSpPr>
          <p:cNvPr id="69" name="Text 67"/>
          <p:cNvSpPr/>
          <p:nvPr/>
        </p:nvSpPr>
        <p:spPr>
          <a:xfrm>
            <a:off x="731520" y="5513832"/>
            <a:ext cx="1152144" cy="502920"/>
          </a:xfrm>
          <a:prstGeom prst="rect">
            <a:avLst/>
          </a:prstGeom>
          <a:noFill/>
          <a:ln/>
        </p:spPr>
        <p:txBody>
          <a:bodyPr wrap="square" lIns="0" tIns="0" rIns="0" bIns="0" rtlCol="0" anchor="ctr"/>
          <a:lstStyle/>
          <a:p>
            <a:pPr algn="ctr" indent="0" marL="0">
              <a:buNone/>
            </a:pPr>
            <a:r>
              <a:rPr lang="en-US" sz="750" b="1" dirty="0">
                <a:solidFill>
                  <a:srgbClr val="005730"/>
                </a:solidFill>
                <a:latin typeface="Calibri" pitchFamily="34" charset="0"/>
                <a:ea typeface="Calibri" pitchFamily="34" charset="-122"/>
                <a:cs typeface="Calibri" pitchFamily="34" charset="-120"/>
              </a:rPr>
              <a:t>BOARD DECISION</a:t>
            </a:r>
            <a:endParaRPr lang="en-US" sz="750" dirty="0"/>
          </a:p>
        </p:txBody>
      </p:sp>
      <p:sp>
        <p:nvSpPr>
          <p:cNvPr id="70" name="Text 68"/>
          <p:cNvSpPr/>
          <p:nvPr/>
        </p:nvSpPr>
        <p:spPr>
          <a:xfrm>
            <a:off x="2176272" y="5577840"/>
            <a:ext cx="9210751" cy="374904"/>
          </a:xfrm>
          <a:prstGeom prst="rect">
            <a:avLst/>
          </a:prstGeom>
          <a:noFill/>
          <a:ln/>
        </p:spPr>
        <p:txBody>
          <a:bodyPr wrap="square" lIns="0" tIns="0" rIns="0" bIns="0" rtlCol="0" anchor="ctr">
            <a:normAutofit/>
          </a:bodyPr>
          <a:lstStyle/>
          <a:p>
            <a:pPr indent="0" marL="0">
              <a:buNone/>
            </a:pPr>
            <a:r>
              <a:rPr lang="en-US" sz="880" b="1" dirty="0">
                <a:solidFill>
                  <a:srgbClr val="FFFFFF"/>
                </a:solidFill>
                <a:latin typeface="Calibri" pitchFamily="34" charset="0"/>
                <a:ea typeface="Calibri" pitchFamily="34" charset="-122"/>
                <a:cs typeface="Calibri" pitchFamily="34" charset="-120"/>
              </a:rPr>
              <a:t>Approve the platform-plus-product architecture and guardrails now. Validate platform fee, per-product price, bundle rules and discount authority before launch.</a:t>
            </a:r>
            <a:endParaRPr lang="en-US" sz="880" dirty="0"/>
          </a:p>
        </p:txBody>
      </p:sp>
      <p:sp>
        <p:nvSpPr>
          <p:cNvPr id="71" name="Text 69"/>
          <p:cNvSpPr/>
          <p:nvPr/>
        </p:nvSpPr>
        <p:spPr>
          <a:xfrm>
            <a:off x="621792" y="6108192"/>
            <a:ext cx="10948111" cy="182880"/>
          </a:xfrm>
          <a:prstGeom prst="rect">
            <a:avLst/>
          </a:prstGeom>
          <a:noFill/>
          <a:ln/>
        </p:spPr>
        <p:txBody>
          <a:bodyPr wrap="square" lIns="0" tIns="0" rIns="0" bIns="0" rtlCol="0" anchor="ctr">
            <a:normAutofit/>
          </a:bodyPr>
          <a:lstStyle/>
          <a:p>
            <a:pPr indent="0" marL="0">
              <a:buNone/>
            </a:pPr>
            <a:r>
              <a:rPr lang="en-US" sz="680" dirty="0">
                <a:solidFill>
                  <a:srgbClr val="5A625C"/>
                </a:solidFill>
                <a:latin typeface="Calibri" pitchFamily="34" charset="0"/>
                <a:ea typeface="Calibri" pitchFamily="34" charset="-122"/>
                <a:cs typeface="Calibri" pitchFamily="34" charset="-120"/>
              </a:rPr>
              <a:t>Competitor descriptions reflect publicly visible buying models reviewed September 2026, not confidential quotes or relative contract value. RA+ prices are placeholders pending Finance approval.</a:t>
            </a:r>
            <a:endParaRPr lang="en-US" sz="680" dirty="0"/>
          </a:p>
        </p:txBody>
      </p:sp>
      <p:sp>
        <p:nvSpPr>
          <p:cNvPr id="72" name="Shape 70"/>
          <p:cNvSpPr/>
          <p:nvPr/>
        </p:nvSpPr>
        <p:spPr>
          <a:xfrm>
            <a:off x="621792" y="6437376"/>
            <a:ext cx="10948111" cy="0"/>
          </a:xfrm>
          <a:prstGeom prst="line">
            <a:avLst/>
          </a:prstGeom>
          <a:noFill/>
          <a:ln w="9525">
            <a:solidFill>
              <a:srgbClr val="E2E6E2"/>
            </a:solidFill>
            <a:prstDash val="solid"/>
          </a:ln>
        </p:spPr>
      </p:sp>
      <p:sp>
        <p:nvSpPr>
          <p:cNvPr id="73" name="Text 71"/>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4" name="Text 72"/>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44728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11810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GO TO MARKET | BUYER JOURNEY</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How a Fortune 500 buyer moves from one product to the whole platform</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commercial motion mirrors the platform strategy: land on one urgent problem, prove value fast, then expand across Sustainability, Energy and Efficiency as the data spine compounds.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72436" cy="2999232"/>
          </a:xfrm>
          <a:prstGeom prst="roundRect">
            <a:avLst>
              <a:gd name="adj" fmla="val 1422"/>
            </a:avLst>
          </a:prstGeom>
          <a:solidFill>
            <a:srgbClr val="FFFFFF"/>
          </a:solidFill>
          <a:ln w="10160">
            <a:solidFill>
              <a:srgbClr val="E2E6E2"/>
            </a:solidFill>
            <a:prstDash val="solid"/>
          </a:ln>
        </p:spPr>
      </p:sp>
      <p:sp>
        <p:nvSpPr>
          <p:cNvPr id="10" name="Shape 8"/>
          <p:cNvSpPr/>
          <p:nvPr/>
        </p:nvSpPr>
        <p:spPr>
          <a:xfrm>
            <a:off x="621792" y="2084832"/>
            <a:ext cx="64008" cy="2999232"/>
          </a:xfrm>
          <a:prstGeom prst="rect">
            <a:avLst/>
          </a:prstGeom>
          <a:solidFill>
            <a:srgbClr val="3DCD58"/>
          </a:solidFill>
          <a:ln w="12700">
            <a:solidFill>
              <a:srgbClr val="3DCD58"/>
            </a:solidFill>
            <a:prstDash val="solid"/>
          </a:ln>
        </p:spPr>
      </p:sp>
      <p:sp>
        <p:nvSpPr>
          <p:cNvPr id="11" name="Text 9"/>
          <p:cNvSpPr/>
          <p:nvPr/>
        </p:nvSpPr>
        <p:spPr>
          <a:xfrm>
            <a:off x="841248"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007A27"/>
                </a:solidFill>
                <a:latin typeface="Calibri" pitchFamily="34" charset="0"/>
                <a:ea typeface="Calibri" pitchFamily="34" charset="-122"/>
                <a:cs typeface="Calibri" pitchFamily="34" charset="-120"/>
              </a:rPr>
              <a:t>STAGE 1 | LAND</a:t>
            </a:r>
            <a:endParaRPr lang="en-US" sz="850" dirty="0"/>
          </a:p>
        </p:txBody>
      </p:sp>
      <p:sp>
        <p:nvSpPr>
          <p:cNvPr id="12" name="Text 10"/>
          <p:cNvSpPr/>
          <p:nvPr/>
        </p:nvSpPr>
        <p:spPr>
          <a:xfrm>
            <a:off x="841248"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1E2420"/>
                </a:solidFill>
                <a:latin typeface="Calibri" pitchFamily="34" charset="0"/>
                <a:ea typeface="Calibri" pitchFamily="34" charset="-122"/>
                <a:cs typeface="Calibri" pitchFamily="34" charset="-120"/>
              </a:rPr>
              <a:t>One urgent problem</a:t>
            </a:r>
            <a:endParaRPr lang="en-US" sz="1350" dirty="0"/>
          </a:p>
        </p:txBody>
      </p:sp>
      <p:sp>
        <p:nvSpPr>
          <p:cNvPr id="13" name="Text 11"/>
          <p:cNvSpPr/>
          <p:nvPr/>
        </p:nvSpPr>
        <p:spPr>
          <a:xfrm>
            <a:off x="841248" y="301752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BUYER MOMENT</a:t>
            </a:r>
            <a:endParaRPr lang="en-US" sz="700" dirty="0"/>
          </a:p>
        </p:txBody>
      </p:sp>
      <p:sp>
        <p:nvSpPr>
          <p:cNvPr id="14" name="Text 12"/>
          <p:cNvSpPr/>
          <p:nvPr/>
        </p:nvSpPr>
        <p:spPr>
          <a:xfrm>
            <a:off x="841248" y="3163824"/>
            <a:ext cx="2133524" cy="231394"/>
          </a:xfrm>
          <a:prstGeom prst="rect">
            <a:avLst/>
          </a:prstGeom>
          <a:noFill/>
          <a:ln/>
        </p:spPr>
        <p:txBody>
          <a:bodyPr wrap="square" lIns="0" tIns="0" rIns="0" bIns="0" rtlCol="0" anchor="t">
            <a:normAutofit/>
          </a:bodyPr>
          <a:lstStyle/>
          <a:p>
            <a:pPr indent="0" marL="0">
              <a:lnSpc>
                <a:spcPct val="105000"/>
              </a:lnSpc>
              <a:buNone/>
            </a:pPr>
            <a:r>
              <a:rPr lang="en-US" sz="650" dirty="0">
                <a:solidFill>
                  <a:srgbClr val="1E2420"/>
                </a:solidFill>
                <a:latin typeface="Calibri" pitchFamily="34" charset="0"/>
                <a:ea typeface="Calibri" pitchFamily="34" charset="-122"/>
                <a:cs typeface="Calibri" pitchFamily="34" charset="-120"/>
              </a:rPr>
              <a:t>A Chief Sustainability Officer faces a disclosure deadline or a Scope 3 inventory gap.</a:t>
            </a:r>
            <a:endParaRPr lang="en-US" sz="650" dirty="0"/>
          </a:p>
        </p:txBody>
      </p:sp>
      <p:sp>
        <p:nvSpPr>
          <p:cNvPr id="15" name="Text 13"/>
          <p:cNvSpPr/>
          <p:nvPr/>
        </p:nvSpPr>
        <p:spPr>
          <a:xfrm>
            <a:off x="841248" y="3459226"/>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PRODUCTS</a:t>
            </a:r>
            <a:endParaRPr lang="en-US" sz="700" dirty="0"/>
          </a:p>
        </p:txBody>
      </p:sp>
      <p:sp>
        <p:nvSpPr>
          <p:cNvPr id="16" name="Text 14"/>
          <p:cNvSpPr/>
          <p:nvPr/>
        </p:nvSpPr>
        <p:spPr>
          <a:xfrm>
            <a:off x="841248" y="3605530"/>
            <a:ext cx="2133524" cy="231394"/>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One product, typically Carbon Performance or Reporting &amp; Compliance.</a:t>
            </a:r>
            <a:endParaRPr lang="en-US" sz="650" dirty="0"/>
          </a:p>
        </p:txBody>
      </p:sp>
      <p:sp>
        <p:nvSpPr>
          <p:cNvPr id="17" name="Text 15"/>
          <p:cNvSpPr/>
          <p:nvPr/>
        </p:nvSpPr>
        <p:spPr>
          <a:xfrm>
            <a:off x="841248" y="3900932"/>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VALUE</a:t>
            </a:r>
            <a:endParaRPr lang="en-US" sz="700" dirty="0"/>
          </a:p>
        </p:txBody>
      </p:sp>
      <p:sp>
        <p:nvSpPr>
          <p:cNvPr id="18" name="Text 16"/>
          <p:cNvSpPr/>
          <p:nvPr/>
        </p:nvSpPr>
        <p:spPr>
          <a:xfrm>
            <a:off x="841248" y="4047236"/>
            <a:ext cx="2133524" cy="231394"/>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A consultant grade, AI driven inventory or a CSRD ready cycle in one reporting season.</a:t>
            </a:r>
            <a:endParaRPr lang="en-US" sz="650" dirty="0"/>
          </a:p>
        </p:txBody>
      </p:sp>
      <p:sp>
        <p:nvSpPr>
          <p:cNvPr id="19" name="Text 17"/>
          <p:cNvSpPr/>
          <p:nvPr/>
        </p:nvSpPr>
        <p:spPr>
          <a:xfrm>
            <a:off x="841248" y="4342638"/>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EXPANSION TRIGGER</a:t>
            </a:r>
            <a:endParaRPr lang="en-US" sz="700" dirty="0"/>
          </a:p>
        </p:txBody>
      </p:sp>
      <p:sp>
        <p:nvSpPr>
          <p:cNvPr id="20" name="Text 18"/>
          <p:cNvSpPr/>
          <p:nvPr/>
        </p:nvSpPr>
        <p:spPr>
          <a:xfrm>
            <a:off x="841248" y="4488942"/>
            <a:ext cx="2133524" cy="231394"/>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Regulatory deadline, audit pressure or a board level carbon commitment.</a:t>
            </a:r>
            <a:endParaRPr lang="en-US" sz="650" dirty="0"/>
          </a:p>
        </p:txBody>
      </p:sp>
      <p:sp>
        <p:nvSpPr>
          <p:cNvPr id="21" name="Text 19"/>
          <p:cNvSpPr/>
          <p:nvPr/>
        </p:nvSpPr>
        <p:spPr>
          <a:xfrm>
            <a:off x="3175940" y="3447288"/>
            <a:ext cx="274320" cy="274320"/>
          </a:xfrm>
          <a:prstGeom prst="rect">
            <a:avLst/>
          </a:prstGeom>
          <a:noFill/>
          <a:ln/>
        </p:spPr>
        <p:txBody>
          <a:bodyPr wrap="square" lIns="0" tIns="0" rIns="0" bIns="0" rtlCol="0" anchor="ctr"/>
          <a:lstStyle/>
          <a:p>
            <a:pPr algn="ctr" indent="0" marL="0">
              <a:buNone/>
            </a:pPr>
            <a:r>
              <a:rPr lang="en-US" sz="1400" b="1" dirty="0">
                <a:solidFill>
                  <a:srgbClr val="3DCD58"/>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3413684" y="2084832"/>
            <a:ext cx="2572436" cy="2999232"/>
          </a:xfrm>
          <a:prstGeom prst="roundRect">
            <a:avLst>
              <a:gd name="adj" fmla="val 1422"/>
            </a:avLst>
          </a:prstGeom>
          <a:solidFill>
            <a:srgbClr val="FFFFFF"/>
          </a:solidFill>
          <a:ln w="10160">
            <a:solidFill>
              <a:srgbClr val="E2E6E2"/>
            </a:solidFill>
            <a:prstDash val="solid"/>
          </a:ln>
        </p:spPr>
      </p:sp>
      <p:sp>
        <p:nvSpPr>
          <p:cNvPr id="23" name="Shape 21"/>
          <p:cNvSpPr/>
          <p:nvPr/>
        </p:nvSpPr>
        <p:spPr>
          <a:xfrm>
            <a:off x="3413684" y="2084832"/>
            <a:ext cx="64008" cy="2999232"/>
          </a:xfrm>
          <a:prstGeom prst="rect">
            <a:avLst/>
          </a:prstGeom>
          <a:solidFill>
            <a:srgbClr val="3DCD58"/>
          </a:solidFill>
          <a:ln w="12700">
            <a:solidFill>
              <a:srgbClr val="3DCD58"/>
            </a:solidFill>
            <a:prstDash val="solid"/>
          </a:ln>
        </p:spPr>
      </p:sp>
      <p:sp>
        <p:nvSpPr>
          <p:cNvPr id="24" name="Text 22"/>
          <p:cNvSpPr/>
          <p:nvPr/>
        </p:nvSpPr>
        <p:spPr>
          <a:xfrm>
            <a:off x="3633140"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007A27"/>
                </a:solidFill>
                <a:latin typeface="Calibri" pitchFamily="34" charset="0"/>
                <a:ea typeface="Calibri" pitchFamily="34" charset="-122"/>
                <a:cs typeface="Calibri" pitchFamily="34" charset="-120"/>
              </a:rPr>
              <a:t>STAGE 2 | PROVE</a:t>
            </a:r>
            <a:endParaRPr lang="en-US" sz="850" dirty="0"/>
          </a:p>
        </p:txBody>
      </p:sp>
      <p:sp>
        <p:nvSpPr>
          <p:cNvPr id="25" name="Text 23"/>
          <p:cNvSpPr/>
          <p:nvPr/>
        </p:nvSpPr>
        <p:spPr>
          <a:xfrm>
            <a:off x="3633140"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1E2420"/>
                </a:solidFill>
                <a:latin typeface="Calibri" pitchFamily="34" charset="0"/>
                <a:ea typeface="Calibri" pitchFamily="34" charset="-122"/>
                <a:cs typeface="Calibri" pitchFamily="34" charset="-120"/>
              </a:rPr>
              <a:t>First measurable value</a:t>
            </a:r>
            <a:endParaRPr lang="en-US" sz="1350" dirty="0"/>
          </a:p>
        </p:txBody>
      </p:sp>
      <p:sp>
        <p:nvSpPr>
          <p:cNvPr id="26" name="Text 24"/>
          <p:cNvSpPr/>
          <p:nvPr/>
        </p:nvSpPr>
        <p:spPr>
          <a:xfrm>
            <a:off x="3633140" y="301752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BUYER MOMENT</a:t>
            </a:r>
            <a:endParaRPr lang="en-US" sz="700" dirty="0"/>
          </a:p>
        </p:txBody>
      </p:sp>
      <p:sp>
        <p:nvSpPr>
          <p:cNvPr id="27" name="Text 25"/>
          <p:cNvSpPr/>
          <p:nvPr/>
        </p:nvSpPr>
        <p:spPr>
          <a:xfrm>
            <a:off x="3633140" y="3163824"/>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1E2420"/>
                </a:solidFill>
                <a:latin typeface="Calibri" pitchFamily="34" charset="0"/>
                <a:ea typeface="Calibri" pitchFamily="34" charset="-122"/>
                <a:cs typeface="Calibri" pitchFamily="34" charset="-120"/>
              </a:rPr>
              <a:t>The same sponsor sees time to value measured in weeks, with evidence and lineage that survive audit.</a:t>
            </a:r>
            <a:endParaRPr lang="en-US" sz="650" dirty="0"/>
          </a:p>
        </p:txBody>
      </p:sp>
      <p:sp>
        <p:nvSpPr>
          <p:cNvPr id="28" name="Text 26"/>
          <p:cNvSpPr/>
          <p:nvPr/>
        </p:nvSpPr>
        <p:spPr>
          <a:xfrm>
            <a:off x="3633140" y="3556635"/>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PRODUCTS</a:t>
            </a:r>
            <a:endParaRPr lang="en-US" sz="700" dirty="0"/>
          </a:p>
        </p:txBody>
      </p:sp>
      <p:sp>
        <p:nvSpPr>
          <p:cNvPr id="29" name="Text 27"/>
          <p:cNvSpPr/>
          <p:nvPr/>
        </p:nvSpPr>
        <p:spPr>
          <a:xfrm>
            <a:off x="3633140" y="3702939"/>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Same product, deeper adoption: scenarios, initiatives and actions on the trusted baseline.</a:t>
            </a:r>
            <a:endParaRPr lang="en-US" sz="650" dirty="0"/>
          </a:p>
        </p:txBody>
      </p:sp>
      <p:sp>
        <p:nvSpPr>
          <p:cNvPr id="30" name="Text 28"/>
          <p:cNvSpPr/>
          <p:nvPr/>
        </p:nvSpPr>
        <p:spPr>
          <a:xfrm>
            <a:off x="3633140" y="409575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VALUE</a:t>
            </a:r>
            <a:endParaRPr lang="en-US" sz="700" dirty="0"/>
          </a:p>
        </p:txBody>
      </p:sp>
      <p:sp>
        <p:nvSpPr>
          <p:cNvPr id="31" name="Text 29"/>
          <p:cNvSpPr/>
          <p:nvPr/>
        </p:nvSpPr>
        <p:spPr>
          <a:xfrm>
            <a:off x="3633140" y="4242054"/>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From reporting the footprint to actively reducing it; the sponsor becomes our internal advocate.</a:t>
            </a:r>
            <a:endParaRPr lang="en-US" sz="650" dirty="0"/>
          </a:p>
        </p:txBody>
      </p:sp>
      <p:sp>
        <p:nvSpPr>
          <p:cNvPr id="32" name="Text 30"/>
          <p:cNvSpPr/>
          <p:nvPr/>
        </p:nvSpPr>
        <p:spPr>
          <a:xfrm>
            <a:off x="3633140" y="4634865"/>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EXPANSION TRIGGER</a:t>
            </a:r>
            <a:endParaRPr lang="en-US" sz="700" dirty="0"/>
          </a:p>
        </p:txBody>
      </p:sp>
      <p:sp>
        <p:nvSpPr>
          <p:cNvPr id="33" name="Text 31"/>
          <p:cNvSpPr/>
          <p:nvPr/>
        </p:nvSpPr>
        <p:spPr>
          <a:xfrm>
            <a:off x="3633140" y="4781169"/>
            <a:ext cx="2133524" cy="231394"/>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First audit passed, first board disclosure delivered, first reduction target tracked.</a:t>
            </a:r>
            <a:endParaRPr lang="en-US" sz="650" dirty="0"/>
          </a:p>
        </p:txBody>
      </p:sp>
      <p:sp>
        <p:nvSpPr>
          <p:cNvPr id="34" name="Text 32"/>
          <p:cNvSpPr/>
          <p:nvPr/>
        </p:nvSpPr>
        <p:spPr>
          <a:xfrm>
            <a:off x="5967832" y="3447288"/>
            <a:ext cx="274320" cy="274320"/>
          </a:xfrm>
          <a:prstGeom prst="rect">
            <a:avLst/>
          </a:prstGeom>
          <a:noFill/>
          <a:ln/>
        </p:spPr>
        <p:txBody>
          <a:bodyPr wrap="square" lIns="0" tIns="0" rIns="0" bIns="0" rtlCol="0" anchor="ctr"/>
          <a:lstStyle/>
          <a:p>
            <a:pPr algn="ctr" indent="0" marL="0">
              <a:buNone/>
            </a:pPr>
            <a:r>
              <a:rPr lang="en-US" sz="1400" b="1" dirty="0">
                <a:solidFill>
                  <a:srgbClr val="3DCD58"/>
                </a:solidFill>
                <a:latin typeface="Calibri" pitchFamily="34" charset="0"/>
                <a:ea typeface="Calibri" pitchFamily="34" charset="-122"/>
                <a:cs typeface="Calibri" pitchFamily="34" charset="-120"/>
              </a:rPr>
              <a:t>→</a:t>
            </a:r>
            <a:endParaRPr lang="en-US" sz="1400" dirty="0"/>
          </a:p>
        </p:txBody>
      </p:sp>
      <p:sp>
        <p:nvSpPr>
          <p:cNvPr id="35" name="Shape 33"/>
          <p:cNvSpPr/>
          <p:nvPr/>
        </p:nvSpPr>
        <p:spPr>
          <a:xfrm>
            <a:off x="6205576" y="2084832"/>
            <a:ext cx="2572436" cy="2999232"/>
          </a:xfrm>
          <a:prstGeom prst="roundRect">
            <a:avLst>
              <a:gd name="adj" fmla="val 1422"/>
            </a:avLst>
          </a:prstGeom>
          <a:solidFill>
            <a:srgbClr val="FFFFFF"/>
          </a:solidFill>
          <a:ln w="10160">
            <a:solidFill>
              <a:srgbClr val="E2E6E2"/>
            </a:solidFill>
            <a:prstDash val="solid"/>
          </a:ln>
        </p:spPr>
      </p:sp>
      <p:sp>
        <p:nvSpPr>
          <p:cNvPr id="36" name="Shape 34"/>
          <p:cNvSpPr/>
          <p:nvPr/>
        </p:nvSpPr>
        <p:spPr>
          <a:xfrm>
            <a:off x="6205576" y="2084832"/>
            <a:ext cx="64008" cy="2999232"/>
          </a:xfrm>
          <a:prstGeom prst="rect">
            <a:avLst/>
          </a:prstGeom>
          <a:solidFill>
            <a:srgbClr val="3DCD58"/>
          </a:solidFill>
          <a:ln w="12700">
            <a:solidFill>
              <a:srgbClr val="3DCD58"/>
            </a:solidFill>
            <a:prstDash val="solid"/>
          </a:ln>
        </p:spPr>
      </p:sp>
      <p:sp>
        <p:nvSpPr>
          <p:cNvPr id="37" name="Text 35"/>
          <p:cNvSpPr/>
          <p:nvPr/>
        </p:nvSpPr>
        <p:spPr>
          <a:xfrm>
            <a:off x="6425032"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007A27"/>
                </a:solidFill>
                <a:latin typeface="Calibri" pitchFamily="34" charset="0"/>
                <a:ea typeface="Calibri" pitchFamily="34" charset="-122"/>
                <a:cs typeface="Calibri" pitchFamily="34" charset="-120"/>
              </a:rPr>
              <a:t>STAGE 3 | EXPAND</a:t>
            </a:r>
            <a:endParaRPr lang="en-US" sz="850" dirty="0"/>
          </a:p>
        </p:txBody>
      </p:sp>
      <p:sp>
        <p:nvSpPr>
          <p:cNvPr id="38" name="Text 36"/>
          <p:cNvSpPr/>
          <p:nvPr/>
        </p:nvSpPr>
        <p:spPr>
          <a:xfrm>
            <a:off x="6425032"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1E2420"/>
                </a:solidFill>
                <a:latin typeface="Calibri" pitchFamily="34" charset="0"/>
                <a:ea typeface="Calibri" pitchFamily="34" charset="-122"/>
                <a:cs typeface="Calibri" pitchFamily="34" charset="-120"/>
              </a:rPr>
              <a:t>Second and third product</a:t>
            </a:r>
            <a:endParaRPr lang="en-US" sz="1350" dirty="0"/>
          </a:p>
        </p:txBody>
      </p:sp>
      <p:sp>
        <p:nvSpPr>
          <p:cNvPr id="39" name="Text 37"/>
          <p:cNvSpPr/>
          <p:nvPr/>
        </p:nvSpPr>
        <p:spPr>
          <a:xfrm>
            <a:off x="6425032" y="301752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BUYER MOMENT</a:t>
            </a:r>
            <a:endParaRPr lang="en-US" sz="700" dirty="0"/>
          </a:p>
        </p:txBody>
      </p:sp>
      <p:sp>
        <p:nvSpPr>
          <p:cNvPr id="40" name="Text 38"/>
          <p:cNvSpPr/>
          <p:nvPr/>
        </p:nvSpPr>
        <p:spPr>
          <a:xfrm>
            <a:off x="6425032" y="3163824"/>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1E2420"/>
                </a:solidFill>
                <a:latin typeface="Calibri" pitchFamily="34" charset="0"/>
                <a:ea typeface="Calibri" pitchFamily="34" charset="-122"/>
                <a:cs typeface="Calibri" pitchFamily="34" charset="-120"/>
              </a:rPr>
              <a:t>Procurement, supply chain and energy leaders join; the data spine means no new baseline project.</a:t>
            </a:r>
            <a:endParaRPr lang="en-US" sz="650" dirty="0"/>
          </a:p>
        </p:txBody>
      </p:sp>
      <p:sp>
        <p:nvSpPr>
          <p:cNvPr id="41" name="Text 39"/>
          <p:cNvSpPr/>
          <p:nvPr/>
        </p:nvSpPr>
        <p:spPr>
          <a:xfrm>
            <a:off x="6425032" y="3556635"/>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PRODUCTS</a:t>
            </a:r>
            <a:endParaRPr lang="en-US" sz="700" dirty="0"/>
          </a:p>
        </p:txBody>
      </p:sp>
      <p:sp>
        <p:nvSpPr>
          <p:cNvPr id="42" name="Text 40"/>
          <p:cNvSpPr/>
          <p:nvPr/>
        </p:nvSpPr>
        <p:spPr>
          <a:xfrm>
            <a:off x="6425032" y="3702939"/>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Supply Chain for supplier emissions abatement, Climate Risk for value at risk, Energy &amp; Efficiency for metered reality.</a:t>
            </a:r>
            <a:endParaRPr lang="en-US" sz="650" dirty="0"/>
          </a:p>
        </p:txBody>
      </p:sp>
      <p:sp>
        <p:nvSpPr>
          <p:cNvPr id="43" name="Text 41"/>
          <p:cNvSpPr/>
          <p:nvPr/>
        </p:nvSpPr>
        <p:spPr>
          <a:xfrm>
            <a:off x="6425032" y="409575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VALUE</a:t>
            </a:r>
            <a:endParaRPr lang="en-US" sz="700" dirty="0"/>
          </a:p>
        </p:txBody>
      </p:sp>
      <p:sp>
        <p:nvSpPr>
          <p:cNvPr id="44" name="Text 42"/>
          <p:cNvSpPr/>
          <p:nvPr/>
        </p:nvSpPr>
        <p:spPr>
          <a:xfrm>
            <a:off x="6425032" y="4242054"/>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Category 1 and 4 flow into the CP inventory; energy and carbon cobenefits appear on one platform.</a:t>
            </a:r>
            <a:endParaRPr lang="en-US" sz="650" dirty="0"/>
          </a:p>
        </p:txBody>
      </p:sp>
      <p:sp>
        <p:nvSpPr>
          <p:cNvPr id="45" name="Text 43"/>
          <p:cNvSpPr/>
          <p:nvPr/>
        </p:nvSpPr>
        <p:spPr>
          <a:xfrm>
            <a:off x="6425032" y="4634865"/>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EXPANSION TRIGGER</a:t>
            </a:r>
            <a:endParaRPr lang="en-US" sz="700" dirty="0"/>
          </a:p>
        </p:txBody>
      </p:sp>
      <p:sp>
        <p:nvSpPr>
          <p:cNvPr id="46" name="Text 44"/>
          <p:cNvSpPr/>
          <p:nvPr/>
        </p:nvSpPr>
        <p:spPr>
          <a:xfrm>
            <a:off x="6425032" y="4781169"/>
            <a:ext cx="2133524" cy="231394"/>
          </a:xfrm>
          <a:prstGeom prst="rect">
            <a:avLst/>
          </a:prstGeom>
          <a:noFill/>
          <a:ln/>
        </p:spPr>
        <p:txBody>
          <a:bodyPr wrap="square" lIns="0" tIns="0" rIns="0" bIns="0" rtlCol="0" anchor="t">
            <a:normAutofit/>
          </a:bodyPr>
          <a:lstStyle/>
          <a:p>
            <a:pPr indent="0" marL="0">
              <a:lnSpc>
                <a:spcPct val="105000"/>
              </a:lnSpc>
              <a:buNone/>
            </a:pPr>
            <a:r>
              <a:rPr lang="en-US" sz="650" dirty="0">
                <a:solidFill>
                  <a:srgbClr val="5A625C"/>
                </a:solidFill>
                <a:latin typeface="Calibri" pitchFamily="34" charset="0"/>
                <a:ea typeface="Calibri" pitchFamily="34" charset="-122"/>
                <a:cs typeface="Calibri" pitchFamily="34" charset="-120"/>
              </a:rPr>
              <a:t>Cross-functional steering committee sees one hierarchy, one evidence chain, one login.</a:t>
            </a:r>
            <a:endParaRPr lang="en-US" sz="650" dirty="0"/>
          </a:p>
        </p:txBody>
      </p:sp>
      <p:sp>
        <p:nvSpPr>
          <p:cNvPr id="47" name="Text 45"/>
          <p:cNvSpPr/>
          <p:nvPr/>
        </p:nvSpPr>
        <p:spPr>
          <a:xfrm>
            <a:off x="8759723" y="3447288"/>
            <a:ext cx="274320" cy="274320"/>
          </a:xfrm>
          <a:prstGeom prst="rect">
            <a:avLst/>
          </a:prstGeom>
          <a:noFill/>
          <a:ln/>
        </p:spPr>
        <p:txBody>
          <a:bodyPr wrap="square" lIns="0" tIns="0" rIns="0" bIns="0" rtlCol="0" anchor="ctr"/>
          <a:lstStyle/>
          <a:p>
            <a:pPr algn="ctr" indent="0" marL="0">
              <a:buNone/>
            </a:pPr>
            <a:r>
              <a:rPr lang="en-US" sz="1400" b="1" dirty="0">
                <a:solidFill>
                  <a:srgbClr val="3DCD58"/>
                </a:solidFill>
                <a:latin typeface="Calibri" pitchFamily="34" charset="0"/>
                <a:ea typeface="Calibri" pitchFamily="34" charset="-122"/>
                <a:cs typeface="Calibri" pitchFamily="34" charset="-120"/>
              </a:rPr>
              <a:t>→</a:t>
            </a:r>
            <a:endParaRPr lang="en-US" sz="1400" dirty="0"/>
          </a:p>
        </p:txBody>
      </p:sp>
      <p:sp>
        <p:nvSpPr>
          <p:cNvPr id="48" name="Shape 46"/>
          <p:cNvSpPr/>
          <p:nvPr/>
        </p:nvSpPr>
        <p:spPr>
          <a:xfrm>
            <a:off x="8997467" y="2084832"/>
            <a:ext cx="2572436" cy="2999232"/>
          </a:xfrm>
          <a:prstGeom prst="roundRect">
            <a:avLst>
              <a:gd name="adj" fmla="val 1422"/>
            </a:avLst>
          </a:prstGeom>
          <a:solidFill>
            <a:srgbClr val="0C3B25"/>
          </a:solidFill>
          <a:ln w="10160">
            <a:solidFill>
              <a:srgbClr val="0C3B25"/>
            </a:solidFill>
            <a:prstDash val="solid"/>
          </a:ln>
        </p:spPr>
      </p:sp>
      <p:sp>
        <p:nvSpPr>
          <p:cNvPr id="49" name="Shape 47"/>
          <p:cNvSpPr/>
          <p:nvPr/>
        </p:nvSpPr>
        <p:spPr>
          <a:xfrm>
            <a:off x="8997467" y="2084832"/>
            <a:ext cx="64008" cy="2999232"/>
          </a:xfrm>
          <a:prstGeom prst="rect">
            <a:avLst/>
          </a:prstGeom>
          <a:solidFill>
            <a:srgbClr val="CDFC57"/>
          </a:solidFill>
          <a:ln w="12700">
            <a:solidFill>
              <a:srgbClr val="CDFC57"/>
            </a:solidFill>
            <a:prstDash val="solid"/>
          </a:ln>
        </p:spPr>
      </p:sp>
      <p:sp>
        <p:nvSpPr>
          <p:cNvPr id="50" name="Text 48"/>
          <p:cNvSpPr/>
          <p:nvPr/>
        </p:nvSpPr>
        <p:spPr>
          <a:xfrm>
            <a:off x="9216923"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CDFC57"/>
                </a:solidFill>
                <a:latin typeface="Calibri" pitchFamily="34" charset="0"/>
                <a:ea typeface="Calibri" pitchFamily="34" charset="-122"/>
                <a:cs typeface="Calibri" pitchFamily="34" charset="-120"/>
              </a:rPr>
              <a:t>STAGE 4 | STANDARDIZE</a:t>
            </a:r>
            <a:endParaRPr lang="en-US" sz="850" dirty="0"/>
          </a:p>
        </p:txBody>
      </p:sp>
      <p:sp>
        <p:nvSpPr>
          <p:cNvPr id="51" name="Text 49"/>
          <p:cNvSpPr/>
          <p:nvPr/>
        </p:nvSpPr>
        <p:spPr>
          <a:xfrm>
            <a:off x="9216923"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Platform as the system of record</a:t>
            </a:r>
            <a:endParaRPr lang="en-US" sz="1350" dirty="0"/>
          </a:p>
        </p:txBody>
      </p:sp>
      <p:sp>
        <p:nvSpPr>
          <p:cNvPr id="52" name="Text 50"/>
          <p:cNvSpPr/>
          <p:nvPr/>
        </p:nvSpPr>
        <p:spPr>
          <a:xfrm>
            <a:off x="9216923" y="3017520"/>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BUYER MOMENT</a:t>
            </a:r>
            <a:endParaRPr lang="en-US" sz="700" dirty="0"/>
          </a:p>
        </p:txBody>
      </p:sp>
      <p:sp>
        <p:nvSpPr>
          <p:cNvPr id="53" name="Text 51"/>
          <p:cNvSpPr/>
          <p:nvPr/>
        </p:nvSpPr>
        <p:spPr>
          <a:xfrm>
            <a:off x="9216923" y="3163824"/>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DCE9E1"/>
                </a:solidFill>
                <a:latin typeface="Calibri" pitchFamily="34" charset="0"/>
                <a:ea typeface="Calibri" pitchFamily="34" charset="-122"/>
                <a:cs typeface="Calibri" pitchFamily="34" charset="-120"/>
              </a:rPr>
              <a:t>CFO and board sponsor: RA+ becomes the trusted source for disclosure, decisions and capital allocation.</a:t>
            </a:r>
            <a:endParaRPr lang="en-US" sz="650" dirty="0"/>
          </a:p>
        </p:txBody>
      </p:sp>
      <p:sp>
        <p:nvSpPr>
          <p:cNvPr id="54" name="Text 52"/>
          <p:cNvSpPr/>
          <p:nvPr/>
        </p:nvSpPr>
        <p:spPr>
          <a:xfrm>
            <a:off x="9216923" y="3556635"/>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PRODUCTS</a:t>
            </a:r>
            <a:endParaRPr lang="en-US" sz="700" dirty="0"/>
          </a:p>
        </p:txBody>
      </p:sp>
      <p:sp>
        <p:nvSpPr>
          <p:cNvPr id="55" name="Text 53"/>
          <p:cNvSpPr/>
          <p:nvPr/>
        </p:nvSpPr>
        <p:spPr>
          <a:xfrm>
            <a:off x="9216923" y="3702939"/>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BFD9C9"/>
                </a:solidFill>
                <a:latin typeface="Calibri" pitchFamily="34" charset="0"/>
                <a:ea typeface="Calibri" pitchFamily="34" charset="-122"/>
                <a:cs typeface="Calibri" pitchFamily="34" charset="-120"/>
              </a:rPr>
              <a:t>Full portfolio on the Portfolio tier: platform fee plus unlimited products, cross-domain intelligence and APIs.</a:t>
            </a:r>
            <a:endParaRPr lang="en-US" sz="650" dirty="0"/>
          </a:p>
        </p:txBody>
      </p:sp>
      <p:sp>
        <p:nvSpPr>
          <p:cNvPr id="56" name="Text 54"/>
          <p:cNvSpPr/>
          <p:nvPr/>
        </p:nvSpPr>
        <p:spPr>
          <a:xfrm>
            <a:off x="9216923" y="4095750"/>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VALUE</a:t>
            </a:r>
            <a:endParaRPr lang="en-US" sz="700" dirty="0"/>
          </a:p>
        </p:txBody>
      </p:sp>
      <p:sp>
        <p:nvSpPr>
          <p:cNvPr id="57" name="Text 55"/>
          <p:cNvSpPr/>
          <p:nvPr/>
        </p:nvSpPr>
        <p:spPr>
          <a:xfrm>
            <a:off x="9216923" y="4242054"/>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BFD9C9"/>
                </a:solidFill>
                <a:latin typeface="Calibri" pitchFamily="34" charset="0"/>
                <a:ea typeface="Calibri" pitchFamily="34" charset="-122"/>
                <a:cs typeface="Calibri" pitchFamily="34" charset="-120"/>
              </a:rPr>
              <a:t>One platform replaces fragmented point tools; lower total cost of ownership and priced climate risk.</a:t>
            </a:r>
            <a:endParaRPr lang="en-US" sz="650" dirty="0"/>
          </a:p>
        </p:txBody>
      </p:sp>
      <p:sp>
        <p:nvSpPr>
          <p:cNvPr id="58" name="Text 56"/>
          <p:cNvSpPr/>
          <p:nvPr/>
        </p:nvSpPr>
        <p:spPr>
          <a:xfrm>
            <a:off x="9216923" y="4634865"/>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EXPANSION TRIGGER</a:t>
            </a:r>
            <a:endParaRPr lang="en-US" sz="700" dirty="0"/>
          </a:p>
        </p:txBody>
      </p:sp>
      <p:sp>
        <p:nvSpPr>
          <p:cNvPr id="59" name="Text 57"/>
          <p:cNvSpPr/>
          <p:nvPr/>
        </p:nvSpPr>
        <p:spPr>
          <a:xfrm>
            <a:off x="9216923" y="4781169"/>
            <a:ext cx="2133524" cy="328803"/>
          </a:xfrm>
          <a:prstGeom prst="rect">
            <a:avLst/>
          </a:prstGeom>
          <a:noFill/>
          <a:ln/>
        </p:spPr>
        <p:txBody>
          <a:bodyPr wrap="square" lIns="0" tIns="0" rIns="0" bIns="0" rtlCol="0" anchor="t">
            <a:normAutofit/>
          </a:bodyPr>
          <a:lstStyle/>
          <a:p>
            <a:pPr indent="0" marL="0">
              <a:lnSpc>
                <a:spcPct val="105000"/>
              </a:lnSpc>
              <a:buNone/>
            </a:pPr>
            <a:r>
              <a:rPr lang="en-US" sz="650" dirty="0">
                <a:solidFill>
                  <a:srgbClr val="BFD9C9"/>
                </a:solidFill>
                <a:latin typeface="Calibri" pitchFamily="34" charset="0"/>
                <a:ea typeface="Calibri" pitchFamily="34" charset="-122"/>
                <a:cs typeface="Calibri" pitchFamily="34" charset="-120"/>
              </a:rPr>
              <a:t>Multi-year enterprise agreement; RA+ named the corporate sustainability system of record.</a:t>
            </a:r>
            <a:endParaRPr lang="en-US" sz="650" dirty="0"/>
          </a:p>
        </p:txBody>
      </p:sp>
      <p:sp>
        <p:nvSpPr>
          <p:cNvPr id="60" name="Shape 58"/>
          <p:cNvSpPr/>
          <p:nvPr/>
        </p:nvSpPr>
        <p:spPr>
          <a:xfrm>
            <a:off x="621792" y="5230368"/>
            <a:ext cx="2572436" cy="548640"/>
          </a:xfrm>
          <a:prstGeom prst="roundRect">
            <a:avLst>
              <a:gd name="adj" fmla="val 5000"/>
            </a:avLst>
          </a:prstGeom>
          <a:solidFill>
            <a:srgbClr val="EAF8ED"/>
          </a:solidFill>
          <a:ln w="12700">
            <a:solidFill>
              <a:srgbClr val="EAF8ED"/>
            </a:solidFill>
            <a:prstDash val="solid"/>
          </a:ln>
        </p:spPr>
      </p:sp>
      <p:sp>
        <p:nvSpPr>
          <p:cNvPr id="61" name="Text 59"/>
          <p:cNvSpPr/>
          <p:nvPr/>
        </p:nvSpPr>
        <p:spPr>
          <a:xfrm>
            <a:off x="786384" y="5303520"/>
            <a:ext cx="2243252" cy="146304"/>
          </a:xfrm>
          <a:prstGeom prst="rect">
            <a:avLst/>
          </a:prstGeom>
          <a:noFill/>
          <a:ln/>
        </p:spPr>
        <p:txBody>
          <a:bodyPr wrap="square" lIns="0" tIns="0" rIns="0" bIns="0" rtlCol="0" anchor="ctr"/>
          <a:lstStyle/>
          <a:p>
            <a:pPr indent="0" marL="0">
              <a:buNone/>
            </a:pPr>
            <a:r>
              <a:rPr lang="en-US" sz="750" b="1" spc="100" kern="0" dirty="0">
                <a:solidFill>
                  <a:srgbClr val="007A27"/>
                </a:solidFill>
                <a:latin typeface="Calibri" pitchFamily="34" charset="0"/>
                <a:ea typeface="Calibri" pitchFamily="34" charset="-122"/>
                <a:cs typeface="Calibri" pitchFamily="34" charset="-120"/>
              </a:rPr>
              <a:t>LAND</a:t>
            </a:r>
            <a:endParaRPr lang="en-US" sz="750" dirty="0"/>
          </a:p>
        </p:txBody>
      </p:sp>
      <p:sp>
        <p:nvSpPr>
          <p:cNvPr id="62" name="Text 60"/>
          <p:cNvSpPr/>
          <p:nvPr/>
        </p:nvSpPr>
        <p:spPr>
          <a:xfrm>
            <a:off x="786384" y="5468112"/>
            <a:ext cx="2243252" cy="237744"/>
          </a:xfrm>
          <a:prstGeom prst="rect">
            <a:avLst/>
          </a:prstGeom>
          <a:noFill/>
          <a:ln/>
        </p:spPr>
        <p:txBody>
          <a:bodyPr wrap="square" lIns="0" tIns="0" rIns="0" bIns="0" rtlCol="0" anchor="t">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Accor, Sanofi: started on a single product with a compliance deadline</a:t>
            </a:r>
            <a:endParaRPr lang="en-US" sz="750" dirty="0"/>
          </a:p>
        </p:txBody>
      </p:sp>
      <p:sp>
        <p:nvSpPr>
          <p:cNvPr id="63" name="Shape 61"/>
          <p:cNvSpPr/>
          <p:nvPr/>
        </p:nvSpPr>
        <p:spPr>
          <a:xfrm>
            <a:off x="3413684" y="5230368"/>
            <a:ext cx="2572436" cy="548640"/>
          </a:xfrm>
          <a:prstGeom prst="roundRect">
            <a:avLst>
              <a:gd name="adj" fmla="val 5000"/>
            </a:avLst>
          </a:prstGeom>
          <a:solidFill>
            <a:srgbClr val="EAF8ED"/>
          </a:solidFill>
          <a:ln w="12700">
            <a:solidFill>
              <a:srgbClr val="EAF8ED"/>
            </a:solidFill>
            <a:prstDash val="solid"/>
          </a:ln>
        </p:spPr>
      </p:sp>
      <p:sp>
        <p:nvSpPr>
          <p:cNvPr id="64" name="Text 62"/>
          <p:cNvSpPr/>
          <p:nvPr/>
        </p:nvSpPr>
        <p:spPr>
          <a:xfrm>
            <a:off x="3578276" y="5303520"/>
            <a:ext cx="2243252" cy="146304"/>
          </a:xfrm>
          <a:prstGeom prst="rect">
            <a:avLst/>
          </a:prstGeom>
          <a:noFill/>
          <a:ln/>
        </p:spPr>
        <p:txBody>
          <a:bodyPr wrap="square" lIns="0" tIns="0" rIns="0" bIns="0" rtlCol="0" anchor="ctr"/>
          <a:lstStyle/>
          <a:p>
            <a:pPr indent="0" marL="0">
              <a:buNone/>
            </a:pPr>
            <a:r>
              <a:rPr lang="en-US" sz="750" b="1" spc="100" kern="0" dirty="0">
                <a:solidFill>
                  <a:srgbClr val="007A27"/>
                </a:solidFill>
                <a:latin typeface="Calibri" pitchFamily="34" charset="0"/>
                <a:ea typeface="Calibri" pitchFamily="34" charset="-122"/>
                <a:cs typeface="Calibri" pitchFamily="34" charset="-120"/>
              </a:rPr>
              <a:t>PROVE</a:t>
            </a:r>
            <a:endParaRPr lang="en-US" sz="750" dirty="0"/>
          </a:p>
        </p:txBody>
      </p:sp>
      <p:sp>
        <p:nvSpPr>
          <p:cNvPr id="65" name="Text 63"/>
          <p:cNvSpPr/>
          <p:nvPr/>
        </p:nvSpPr>
        <p:spPr>
          <a:xfrm>
            <a:off x="3578276" y="5468112"/>
            <a:ext cx="2243252" cy="237744"/>
          </a:xfrm>
          <a:prstGeom prst="rect">
            <a:avLst/>
          </a:prstGeom>
          <a:noFill/>
          <a:ln/>
        </p:spPr>
        <p:txBody>
          <a:bodyPr wrap="square" lIns="0" tIns="0" rIns="0" bIns="0" rtlCol="0" anchor="t">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Schneider Electric: trusted inventory across Scope 1, 2 and 3, closing 31 December 2026</a:t>
            </a:r>
            <a:endParaRPr lang="en-US" sz="750" dirty="0"/>
          </a:p>
        </p:txBody>
      </p:sp>
      <p:sp>
        <p:nvSpPr>
          <p:cNvPr id="66" name="Shape 64"/>
          <p:cNvSpPr/>
          <p:nvPr/>
        </p:nvSpPr>
        <p:spPr>
          <a:xfrm>
            <a:off x="6205576" y="5230368"/>
            <a:ext cx="2572436" cy="548640"/>
          </a:xfrm>
          <a:prstGeom prst="roundRect">
            <a:avLst>
              <a:gd name="adj" fmla="val 5000"/>
            </a:avLst>
          </a:prstGeom>
          <a:solidFill>
            <a:srgbClr val="EAF8ED"/>
          </a:solidFill>
          <a:ln w="12700">
            <a:solidFill>
              <a:srgbClr val="EAF8ED"/>
            </a:solidFill>
            <a:prstDash val="solid"/>
          </a:ln>
        </p:spPr>
      </p:sp>
      <p:sp>
        <p:nvSpPr>
          <p:cNvPr id="67" name="Text 65"/>
          <p:cNvSpPr/>
          <p:nvPr/>
        </p:nvSpPr>
        <p:spPr>
          <a:xfrm>
            <a:off x="6370168" y="5303520"/>
            <a:ext cx="2243252" cy="146304"/>
          </a:xfrm>
          <a:prstGeom prst="rect">
            <a:avLst/>
          </a:prstGeom>
          <a:noFill/>
          <a:ln/>
        </p:spPr>
        <p:txBody>
          <a:bodyPr wrap="square" lIns="0" tIns="0" rIns="0" bIns="0" rtlCol="0" anchor="ctr"/>
          <a:lstStyle/>
          <a:p>
            <a:pPr indent="0" marL="0">
              <a:buNone/>
            </a:pPr>
            <a:r>
              <a:rPr lang="en-US" sz="750" b="1" spc="100" kern="0" dirty="0">
                <a:solidFill>
                  <a:srgbClr val="007A27"/>
                </a:solidFill>
                <a:latin typeface="Calibri" pitchFamily="34" charset="0"/>
                <a:ea typeface="Calibri" pitchFamily="34" charset="-122"/>
                <a:cs typeface="Calibri" pitchFamily="34" charset="-120"/>
              </a:rPr>
              <a:t>EXPAND</a:t>
            </a:r>
            <a:endParaRPr lang="en-US" sz="750" dirty="0"/>
          </a:p>
        </p:txBody>
      </p:sp>
      <p:sp>
        <p:nvSpPr>
          <p:cNvPr id="68" name="Text 66"/>
          <p:cNvSpPr/>
          <p:nvPr/>
        </p:nvSpPr>
        <p:spPr>
          <a:xfrm>
            <a:off x="6370168" y="5468112"/>
            <a:ext cx="2243252" cy="237744"/>
          </a:xfrm>
          <a:prstGeom prst="rect">
            <a:avLst/>
          </a:prstGeom>
          <a:noFill/>
          <a:ln/>
        </p:spPr>
        <p:txBody>
          <a:bodyPr wrap="square" lIns="0" tIns="0" rIns="0" bIns="0" rtlCol="0" anchor="t">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Newell Brands: cross-product adoption once the baseline is shared</a:t>
            </a:r>
            <a:endParaRPr lang="en-US" sz="750" dirty="0"/>
          </a:p>
        </p:txBody>
      </p:sp>
      <p:sp>
        <p:nvSpPr>
          <p:cNvPr id="69" name="Shape 67"/>
          <p:cNvSpPr/>
          <p:nvPr/>
        </p:nvSpPr>
        <p:spPr>
          <a:xfrm>
            <a:off x="8997467" y="5230368"/>
            <a:ext cx="2572436" cy="548640"/>
          </a:xfrm>
          <a:prstGeom prst="roundRect">
            <a:avLst>
              <a:gd name="adj" fmla="val 5000"/>
            </a:avLst>
          </a:prstGeom>
          <a:solidFill>
            <a:srgbClr val="EAF8ED"/>
          </a:solidFill>
          <a:ln w="12700">
            <a:solidFill>
              <a:srgbClr val="EAF8ED"/>
            </a:solidFill>
            <a:prstDash val="solid"/>
          </a:ln>
        </p:spPr>
      </p:sp>
      <p:sp>
        <p:nvSpPr>
          <p:cNvPr id="70" name="Text 68"/>
          <p:cNvSpPr/>
          <p:nvPr/>
        </p:nvSpPr>
        <p:spPr>
          <a:xfrm>
            <a:off x="9162059" y="5303520"/>
            <a:ext cx="2243252" cy="146304"/>
          </a:xfrm>
          <a:prstGeom prst="rect">
            <a:avLst/>
          </a:prstGeom>
          <a:noFill/>
          <a:ln/>
        </p:spPr>
        <p:txBody>
          <a:bodyPr wrap="square" lIns="0" tIns="0" rIns="0" bIns="0" rtlCol="0" anchor="ctr"/>
          <a:lstStyle/>
          <a:p>
            <a:pPr indent="0" marL="0">
              <a:buNone/>
            </a:pPr>
            <a:r>
              <a:rPr lang="en-US" sz="750" b="1" spc="100" kern="0" dirty="0">
                <a:solidFill>
                  <a:srgbClr val="007A27"/>
                </a:solidFill>
                <a:latin typeface="Calibri" pitchFamily="34" charset="0"/>
                <a:ea typeface="Calibri" pitchFamily="34" charset="-122"/>
                <a:cs typeface="Calibri" pitchFamily="34" charset="-120"/>
              </a:rPr>
              <a:t>STANDARDIZE</a:t>
            </a:r>
            <a:endParaRPr lang="en-US" sz="750" dirty="0"/>
          </a:p>
        </p:txBody>
      </p:sp>
      <p:sp>
        <p:nvSpPr>
          <p:cNvPr id="71" name="Text 69"/>
          <p:cNvSpPr/>
          <p:nvPr/>
        </p:nvSpPr>
        <p:spPr>
          <a:xfrm>
            <a:off x="9162059" y="5468112"/>
            <a:ext cx="2243252" cy="237744"/>
          </a:xfrm>
          <a:prstGeom prst="rect">
            <a:avLst/>
          </a:prstGeom>
          <a:noFill/>
          <a:ln/>
        </p:spPr>
        <p:txBody>
          <a:bodyPr wrap="square" lIns="0" tIns="0" rIns="0" bIns="0" rtlCol="0" anchor="t">
            <a:normAutofit/>
          </a:bodyPr>
          <a:lstStyle/>
          <a:p>
            <a:pPr indent="0" marL="0">
              <a:buNone/>
            </a:pPr>
            <a:r>
              <a:rPr lang="en-US" sz="750" dirty="0">
                <a:solidFill>
                  <a:srgbClr val="1E2420"/>
                </a:solidFill>
                <a:latin typeface="Calibri" pitchFamily="34" charset="0"/>
                <a:ea typeface="Calibri" pitchFamily="34" charset="-122"/>
                <a:cs typeface="Calibri" pitchFamily="34" charset="-120"/>
              </a:rPr>
              <a:t>Named accounts moving to multi-year, multi-product commitments</a:t>
            </a:r>
            <a:endParaRPr lang="en-US" sz="750" dirty="0"/>
          </a:p>
        </p:txBody>
      </p:sp>
      <p:sp>
        <p:nvSpPr>
          <p:cNvPr id="72" name="Shape 70"/>
          <p:cNvSpPr/>
          <p:nvPr/>
        </p:nvSpPr>
        <p:spPr>
          <a:xfrm>
            <a:off x="621792" y="5907024"/>
            <a:ext cx="10948111" cy="329184"/>
          </a:xfrm>
          <a:prstGeom prst="rect">
            <a:avLst/>
          </a:prstGeom>
          <a:solidFill>
            <a:srgbClr val="EAF8ED"/>
          </a:solidFill>
          <a:ln w="12700">
            <a:solidFill>
              <a:srgbClr val="EAF8ED"/>
            </a:solidFill>
            <a:prstDash val="solid"/>
          </a:ln>
        </p:spPr>
      </p:sp>
      <p:sp>
        <p:nvSpPr>
          <p:cNvPr id="73" name="Shape 71"/>
          <p:cNvSpPr/>
          <p:nvPr/>
        </p:nvSpPr>
        <p:spPr>
          <a:xfrm>
            <a:off x="621792" y="5907024"/>
            <a:ext cx="64008" cy="329184"/>
          </a:xfrm>
          <a:prstGeom prst="rect">
            <a:avLst/>
          </a:prstGeom>
          <a:solidFill>
            <a:srgbClr val="3DCD58"/>
          </a:solidFill>
          <a:ln w="12700">
            <a:solidFill>
              <a:srgbClr val="3DCD58"/>
            </a:solidFill>
            <a:prstDash val="solid"/>
          </a:ln>
        </p:spPr>
      </p:sp>
      <p:sp>
        <p:nvSpPr>
          <p:cNvPr id="74" name="Text 72"/>
          <p:cNvSpPr/>
          <p:nvPr/>
        </p:nvSpPr>
        <p:spPr>
          <a:xfrm>
            <a:off x="804672" y="5907024"/>
            <a:ext cx="10582351" cy="329184"/>
          </a:xfrm>
          <a:prstGeom prst="rect">
            <a:avLst/>
          </a:prstGeom>
          <a:noFill/>
          <a:ln/>
        </p:spPr>
        <p:txBody>
          <a:bodyPr wrap="square" lIns="0" tIns="0" rIns="0" bIns="0" rtlCol="0" anchor="ctr">
            <a:normAutofit/>
          </a:bodyPr>
          <a:lstStyle/>
          <a:p>
            <a:pPr indent="0" marL="0">
              <a:buNone/>
            </a:pPr>
            <a:r>
              <a:rPr lang="en-US" sz="1000" b="1" dirty="0">
                <a:solidFill>
                  <a:srgbClr val="1E2420"/>
                </a:solidFill>
                <a:latin typeface="Calibri" pitchFamily="34" charset="0"/>
                <a:ea typeface="Calibri" pitchFamily="34" charset="-122"/>
                <a:cs typeface="Calibri" pitchFamily="34" charset="-120"/>
              </a:rPr>
              <a:t>Every stage deepens the moat: the data spine makes each next product cheaper to adopt and harder to rip out.</a:t>
            </a:r>
            <a:endParaRPr lang="en-US" sz="1000" dirty="0"/>
          </a:p>
        </p:txBody>
      </p:sp>
      <p:sp>
        <p:nvSpPr>
          <p:cNvPr id="75" name="Shape 73"/>
          <p:cNvSpPr/>
          <p:nvPr/>
        </p:nvSpPr>
        <p:spPr>
          <a:xfrm>
            <a:off x="621792" y="6437376"/>
            <a:ext cx="10948111" cy="0"/>
          </a:xfrm>
          <a:prstGeom prst="line">
            <a:avLst/>
          </a:prstGeom>
          <a:noFill/>
          <a:ln w="9525">
            <a:solidFill>
              <a:srgbClr val="E2E6E2"/>
            </a:solidFill>
            <a:prstDash val="solid"/>
          </a:ln>
        </p:spPr>
      </p:sp>
      <p:sp>
        <p:nvSpPr>
          <p:cNvPr id="76" name="Text 7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7" name="Text 7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3</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03</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value case and the investment</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What the platform returns, what it costs, and how the board keeps control of it.</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5544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22529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VALUE CASE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the value case assumes, and what breaks it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Every euro in this deck is a placeholder until Finance validates it. These are the assumptions behind those numbers.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3.900853352803852e+230" dist="1.3002844509346172e+230" dir="3.3940054153256444e+269">
              <a:srgbClr val="0A1F12">
                <a:alpha val="1.199999999999999e+279"/>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ASSUMPTIONS</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we assume</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base case rests on four assumptions the board should test.</a:t>
            </a:r>
            <a:endParaRPr lang="en-US" sz="1100" dirty="0"/>
          </a:p>
        </p:txBody>
      </p:sp>
      <p:sp>
        <p:nvSpPr>
          <p:cNvPr id="14" name="Text 12"/>
          <p:cNvSpPr/>
          <p:nvPr/>
        </p:nvSpPr>
        <p:spPr>
          <a:xfrm>
            <a:off x="82296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Core platform capacity is protected at roughly one third of build</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Committed 2026 dates hold, 2027 remains H1 and H2 bands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product adoption follows the shared data spine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Assurance demand keeps rising through the 2027 cycles</a:t>
            </a:r>
            <a:endParaRPr lang="en-US" sz="1100" dirty="0"/>
          </a:p>
        </p:txBody>
      </p:sp>
      <p:sp>
        <p:nvSpPr>
          <p:cNvPr id="15" name="Shape 13"/>
          <p:cNvSpPr/>
          <p:nvPr/>
        </p:nvSpPr>
        <p:spPr>
          <a:xfrm>
            <a:off x="436260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4.9540837580608916e+234" dist="1.6513612526869638e+234" dir="2.0364032491953868e+274">
              <a:srgbClr val="0A1F12">
                <a:alpha val="1.199999999999999e+284"/>
              </a:srgbClr>
            </a:outerShdw>
          </a:effectLst>
        </p:spPr>
      </p:sp>
      <p:sp>
        <p:nvSpPr>
          <p:cNvPr id="16" name="Shape 14"/>
          <p:cNvSpPr/>
          <p:nvPr/>
        </p:nvSpPr>
        <p:spPr>
          <a:xfrm>
            <a:off x="4362602" y="2084832"/>
            <a:ext cx="3466490" cy="73152"/>
          </a:xfrm>
          <a:prstGeom prst="rect">
            <a:avLst/>
          </a:prstGeom>
          <a:solidFill>
            <a:srgbClr val="FFB04C"/>
          </a:solidFill>
          <a:ln w="12700">
            <a:solidFill>
              <a:srgbClr val="FFB04C"/>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SENSITIVITY</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moves the outcome</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Directional sensitivity, to be quantified with Finance.</a:t>
            </a:r>
            <a:endParaRPr lang="en-US" sz="1100" dirty="0"/>
          </a:p>
        </p:txBody>
      </p:sp>
      <p:sp>
        <p:nvSpPr>
          <p:cNvPr id="20" name="Text 18"/>
          <p:cNvSpPr/>
          <p:nvPr/>
        </p:nvSpPr>
        <p:spPr>
          <a:xfrm>
            <a:off x="456377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Slower cross product attach: value pool lands later, not smaller</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Core capacity diverted to product asks: every stream slows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Migration slips: disclosure cycle value shifts a full year</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Pricing pressure: ARR protected falls before cost removed does</a:t>
            </a:r>
            <a:endParaRPr lang="en-US" sz="1100" dirty="0"/>
          </a:p>
        </p:txBody>
      </p:sp>
      <p:sp>
        <p:nvSpPr>
          <p:cNvPr id="21" name="Shape 19"/>
          <p:cNvSpPr/>
          <p:nvPr/>
        </p:nvSpPr>
        <p:spPr>
          <a:xfrm>
            <a:off x="8103413"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6.291686372737332e+238" dist="2.097228790912444e+238" dir="1.221841949517232e+279">
              <a:srgbClr val="0A1F12">
                <a:alpha val="1.199999999999999e+289"/>
              </a:srgbClr>
            </a:outerShdw>
          </a:effectLst>
        </p:spPr>
      </p:sp>
      <p:sp>
        <p:nvSpPr>
          <p:cNvPr id="22" name="Shape 20"/>
          <p:cNvSpPr/>
          <p:nvPr/>
        </p:nvSpPr>
        <p:spPr>
          <a:xfrm>
            <a:off x="8103413" y="2084832"/>
            <a:ext cx="3466490" cy="73152"/>
          </a:xfrm>
          <a:prstGeom prst="rect">
            <a:avLst/>
          </a:prstGeom>
          <a:solidFill>
            <a:srgbClr val="275B7F"/>
          </a:solidFill>
          <a:ln w="12700">
            <a:solidFill>
              <a:srgbClr val="275B7F"/>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VALIDATION</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Finance must confirm</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Named placeholders in this deck, in one list.</a:t>
            </a:r>
            <a:endParaRPr lang="en-US" sz="1100" dirty="0"/>
          </a:p>
        </p:txBody>
      </p:sp>
      <p:sp>
        <p:nvSpPr>
          <p:cNvPr id="26" name="Text 24"/>
          <p:cNvSpPr/>
          <p:nvPr/>
        </p:nvSpPr>
        <p:spPr>
          <a:xfrm>
            <a:off x="8304581"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ARR protected and expanded</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Annual cost removed from the current stack</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Climate exposure avoided or repriced</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Incremental investment and payback period</a:t>
            </a:r>
            <a:endParaRPr lang="en-US" sz="1100" dirty="0"/>
          </a:p>
        </p:txBody>
      </p:sp>
      <p:sp>
        <p:nvSpPr>
          <p:cNvPr id="27" name="Shape 25"/>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7.990441693376412e+242" dist="2.663480564458804e+242" dir="7.331051697103393e+283">
              <a:srgbClr val="0A1F12">
                <a:alpha val="1.199999999999999e+294"/>
              </a:srgbClr>
            </a:outerShdw>
          </a:effectLst>
        </p:spPr>
      </p:sp>
      <p:sp>
        <p:nvSpPr>
          <p:cNvPr id="28" name="Shape 26"/>
          <p:cNvSpPr/>
          <p:nvPr/>
        </p:nvSpPr>
        <p:spPr>
          <a:xfrm>
            <a:off x="676656" y="5760720"/>
            <a:ext cx="45720" cy="365760"/>
          </a:xfrm>
          <a:prstGeom prst="rect">
            <a:avLst/>
          </a:prstGeom>
          <a:solidFill>
            <a:srgbClr val="3DCD58"/>
          </a:solidFill>
          <a:ln w="12700">
            <a:solidFill>
              <a:srgbClr val="3DCD58"/>
            </a:solidFill>
            <a:prstDash val="solid"/>
          </a:ln>
        </p:spPr>
      </p:sp>
      <p:sp>
        <p:nvSpPr>
          <p:cNvPr id="29" name="Text 27"/>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All euro figures shown elsewhere in this deck are explicit placeholders pending Finance validation.</a:t>
            </a:r>
            <a:endParaRPr lang="en-US" sz="12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5544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22529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VALUE CASE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people behind the plan</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Capacity, ownership and the trade offs we accept to fund the core.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1.0147860950588043e+247" dist="3.3826203168626813e+246" dir="4.3986310182620354e+288">
              <a:srgbClr val="0A1F12">
                <a:alpha val="1.199999999999999e+299"/>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OWNERSHIP</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Who builds what</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Clear ownership per layer, no shared accountability.</a:t>
            </a:r>
            <a:endParaRPr lang="en-US" sz="1100" dirty="0"/>
          </a:p>
        </p:txBody>
      </p:sp>
      <p:sp>
        <p:nvSpPr>
          <p:cNvPr id="14" name="Text 12"/>
          <p:cNvSpPr/>
          <p:nvPr/>
        </p:nvSpPr>
        <p:spPr>
          <a:xfrm>
            <a:off x="82296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Core platform team owns hierarchy, factors, engine and audit trail</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teams own outcomes on top of the core, not their own core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architecture authority arbitrates shared components</a:t>
            </a:r>
            <a:endParaRPr lang="en-US" sz="1100" dirty="0"/>
          </a:p>
        </p:txBody>
      </p:sp>
      <p:sp>
        <p:nvSpPr>
          <p:cNvPr id="15" name="Shape 13"/>
          <p:cNvSpPr/>
          <p:nvPr/>
        </p:nvSpPr>
        <p:spPr>
          <a:xfrm>
            <a:off x="436260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1.2887783407246816e+251" dist="4.295927802415605e+250" dir="2.6391786109572213e+293">
              <a:srgbClr val="0A1F12">
                <a:alpha val="1.199999999999999e+304"/>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CAPACITY</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Where capacity goes</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Capacity is allocated before scope, not after.</a:t>
            </a:r>
            <a:endParaRPr lang="en-US" sz="1100" dirty="0"/>
          </a:p>
        </p:txBody>
      </p:sp>
      <p:sp>
        <p:nvSpPr>
          <p:cNvPr id="20" name="Text 18"/>
          <p:cNvSpPr/>
          <p:nvPr/>
        </p:nvSpPr>
        <p:spPr>
          <a:xfrm>
            <a:off x="456377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Sufficient build capacity protected for the core platform</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Remaining capacity split across ranked product themes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Unranked 2027 items stay directional until capacity is confirmed</a:t>
            </a:r>
            <a:endParaRPr lang="en-US" sz="1100" dirty="0"/>
          </a:p>
        </p:txBody>
      </p:sp>
      <p:sp>
        <p:nvSpPr>
          <p:cNvPr id="21" name="Shape 19"/>
          <p:cNvSpPr/>
          <p:nvPr/>
        </p:nvSpPr>
        <p:spPr>
          <a:xfrm>
            <a:off x="8103413"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1.6367484927203455e+255" dist="5.455828309067819e+254" dir="1.5835071665743328e+298">
              <a:srgbClr val="0A1F12">
                <a:alpha val="Infinity"/>
              </a:srgbClr>
            </a:outerShdw>
          </a:effectLst>
        </p:spPr>
      </p:sp>
      <p:sp>
        <p:nvSpPr>
          <p:cNvPr id="22" name="Shape 20"/>
          <p:cNvSpPr/>
          <p:nvPr/>
        </p:nvSpPr>
        <p:spPr>
          <a:xfrm>
            <a:off x="8103413" y="2084832"/>
            <a:ext cx="3466490" cy="73152"/>
          </a:xfrm>
          <a:prstGeom prst="rect">
            <a:avLst/>
          </a:prstGeom>
          <a:solidFill>
            <a:srgbClr val="275B7F"/>
          </a:solidFill>
          <a:ln w="12700">
            <a:solidFill>
              <a:srgbClr val="275B7F"/>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TRADE OFFS</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stops or slows</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Funding the spine means saying no in public.</a:t>
            </a:r>
            <a:endParaRPr lang="en-US" sz="1100" dirty="0"/>
          </a:p>
        </p:txBody>
      </p:sp>
      <p:sp>
        <p:nvSpPr>
          <p:cNvPr id="26" name="Text 24"/>
          <p:cNvSpPr/>
          <p:nvPr/>
        </p:nvSpPr>
        <p:spPr>
          <a:xfrm>
            <a:off x="8304581"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No net new standalone products before the core lands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Bespoke customer builds routed to configuration, not code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Legacy tooling sunset rather than maintained in parallel</a:t>
            </a:r>
            <a:endParaRPr lang="en-US" sz="1100" dirty="0"/>
          </a:p>
        </p:txBody>
      </p:sp>
      <p:sp>
        <p:nvSpPr>
          <p:cNvPr id="27" name="Shape 25"/>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2.0786705857548387e+259" dist="6.928901952516129e+258" dir="9.501042999445996e+302">
              <a:srgbClr val="0A1F12">
                <a:alpha val="Infinity"/>
              </a:srgbClr>
            </a:outerShdw>
          </a:effectLst>
        </p:spPr>
      </p:sp>
      <p:sp>
        <p:nvSpPr>
          <p:cNvPr id="28" name="Shape 26"/>
          <p:cNvSpPr/>
          <p:nvPr/>
        </p:nvSpPr>
        <p:spPr>
          <a:xfrm>
            <a:off x="676656" y="5760720"/>
            <a:ext cx="45720" cy="365760"/>
          </a:xfrm>
          <a:prstGeom prst="rect">
            <a:avLst/>
          </a:prstGeom>
          <a:solidFill>
            <a:srgbClr val="3DCD58"/>
          </a:solidFill>
          <a:ln w="12700">
            <a:solidFill>
              <a:srgbClr val="3DCD58"/>
            </a:solidFill>
            <a:prstDash val="solid"/>
          </a:ln>
        </p:spPr>
      </p:sp>
      <p:sp>
        <p:nvSpPr>
          <p:cNvPr id="29" name="Text 27"/>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Hiring plan and named roles to be confirmed with People and Finance.</a:t>
            </a:r>
            <a:endParaRPr lang="en-US" sz="12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84048"/>
            <a:ext cx="1755648" cy="310896"/>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621792" y="384048"/>
            <a:ext cx="1755648" cy="310896"/>
          </a:xfrm>
          <a:prstGeom prst="rect">
            <a:avLst/>
          </a:prstGeom>
          <a:noFill/>
          <a:ln/>
        </p:spPr>
        <p:txBody>
          <a:bodyPr wrap="square" lIns="0" tIns="0" rIns="0" bIns="0" rtlCol="0" anchor="ctr"/>
          <a:lstStyle/>
          <a:p>
            <a:pPr algn="ctr" indent="0" marL="0">
              <a:buNone/>
            </a:pPr>
            <a:r>
              <a:rPr lang="en-US" sz="900" b="1" spc="170" kern="0" dirty="0">
                <a:solidFill>
                  <a:srgbClr val="007A27"/>
                </a:solidFill>
                <a:latin typeface="Calibri" pitchFamily="34" charset="0"/>
                <a:ea typeface="Calibri" pitchFamily="34" charset="-122"/>
                <a:cs typeface="Calibri" pitchFamily="34" charset="-120"/>
              </a:rPr>
              <a:t>2027 VALUE CASE</a:t>
            </a:r>
            <a:endParaRPr lang="en-US" sz="900" dirty="0"/>
          </a:p>
        </p:txBody>
      </p:sp>
      <p:sp>
        <p:nvSpPr>
          <p:cNvPr id="6" name="Text 4"/>
          <p:cNvSpPr/>
          <p:nvPr/>
        </p:nvSpPr>
        <p:spPr>
          <a:xfrm>
            <a:off x="621792" y="859536"/>
            <a:ext cx="10948111" cy="658368"/>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One roadmap converts trusted data into </a:t>
            </a:r>
            <a:pPr indent="0" marL="0">
              <a:buNone/>
            </a:pPr>
            <a:r>
              <a:rPr lang="en-US" sz="2800" b="1" dirty="0">
                <a:solidFill>
                  <a:srgbClr val="007A27"/>
                </a:solidFill>
                <a:latin typeface="Calibri" pitchFamily="34" charset="0"/>
                <a:ea typeface="Calibri" pitchFamily="34" charset="-122"/>
                <a:cs typeface="Calibri" pitchFamily="34" charset="-120"/>
              </a:rPr>
              <a:t>enterprise value.</a:t>
            </a:r>
            <a:endParaRPr lang="en-US" sz="2800" dirty="0"/>
          </a:p>
        </p:txBody>
      </p:sp>
      <p:sp>
        <p:nvSpPr>
          <p:cNvPr id="7" name="Text 5"/>
          <p:cNvSpPr/>
          <p:nvPr/>
        </p:nvSpPr>
        <p:spPr>
          <a:xfrm>
            <a:off x="621792" y="1572768"/>
            <a:ext cx="10948111" cy="457200"/>
          </a:xfrm>
          <a:prstGeom prst="rect">
            <a:avLst/>
          </a:prstGeom>
          <a:noFill/>
          <a:ln/>
        </p:spPr>
        <p:txBody>
          <a:bodyPr wrap="square" lIns="0" tIns="0" rIns="0" bIns="0" rtlCol="0" anchor="t">
            <a:normAutofit/>
          </a:bodyPr>
          <a:lstStyle/>
          <a:p>
            <a:pPr indent="0" marL="0">
              <a:buNone/>
            </a:pPr>
            <a:r>
              <a:rPr lang="en-US" sz="1150" dirty="0">
                <a:solidFill>
                  <a:srgbClr val="5A625C"/>
                </a:solidFill>
                <a:latin typeface="Calibri" pitchFamily="34" charset="0"/>
                <a:ea typeface="Calibri" pitchFamily="34" charset="-122"/>
                <a:cs typeface="Calibri" pitchFamily="34" charset="-120"/>
              </a:rPr>
              <a:t>RA+ compounds value across Sustainability, Energy and Efficiency: protect and expand strategic relationships, remove duplicated delivery effort, price climate exposure, and turn insight into funded action.</a:t>
            </a:r>
            <a:endParaRPr lang="en-US" sz="1150" dirty="0"/>
          </a:p>
        </p:txBody>
      </p:sp>
      <p:sp>
        <p:nvSpPr>
          <p:cNvPr id="8" name="Shape 6"/>
          <p:cNvSpPr/>
          <p:nvPr/>
        </p:nvSpPr>
        <p:spPr>
          <a:xfrm>
            <a:off x="621792" y="2212848"/>
            <a:ext cx="4800600" cy="3547872"/>
          </a:xfrm>
          <a:prstGeom prst="roundRect">
            <a:avLst>
              <a:gd name="adj" fmla="val 1289"/>
            </a:avLst>
          </a:prstGeom>
          <a:solidFill>
            <a:srgbClr val="0C3B25"/>
          </a:solidFill>
          <a:ln w="12700">
            <a:solidFill>
              <a:srgbClr val="0C3B25"/>
            </a:solidFill>
            <a:prstDash val="solid"/>
          </a:ln>
        </p:spPr>
      </p:sp>
      <p:sp>
        <p:nvSpPr>
          <p:cNvPr id="9" name="Text 7"/>
          <p:cNvSpPr/>
          <p:nvPr/>
        </p:nvSpPr>
        <p:spPr>
          <a:xfrm>
            <a:off x="877824" y="2423160"/>
            <a:ext cx="4288536" cy="219456"/>
          </a:xfrm>
          <a:prstGeom prst="rect">
            <a:avLst/>
          </a:prstGeom>
          <a:noFill/>
          <a:ln/>
        </p:spPr>
        <p:txBody>
          <a:bodyPr wrap="square" lIns="0" tIns="0" rIns="0" bIns="0" rtlCol="0" anchor="ctr"/>
          <a:lstStyle/>
          <a:p>
            <a:pPr indent="0" marL="0">
              <a:buNone/>
            </a:pPr>
            <a:r>
              <a:rPr lang="en-US" sz="900" b="1" spc="140" kern="0" dirty="0">
                <a:solidFill>
                  <a:srgbClr val="CDFC57"/>
                </a:solidFill>
                <a:latin typeface="Calibri" pitchFamily="34" charset="0"/>
                <a:ea typeface="Calibri" pitchFamily="34" charset="-122"/>
                <a:cs typeface="Calibri" pitchFamily="34" charset="-120"/>
              </a:rPr>
              <a:t>FINANCIAL IMPACT TO VALIDATE</a:t>
            </a:r>
            <a:endParaRPr lang="en-US" sz="900" dirty="0"/>
          </a:p>
        </p:txBody>
      </p:sp>
      <p:sp>
        <p:nvSpPr>
          <p:cNvPr id="10" name="Text 8"/>
          <p:cNvSpPr/>
          <p:nvPr/>
        </p:nvSpPr>
        <p:spPr>
          <a:xfrm>
            <a:off x="877824" y="2798064"/>
            <a:ext cx="1353312" cy="182880"/>
          </a:xfrm>
          <a:prstGeom prst="rect">
            <a:avLst/>
          </a:prstGeom>
          <a:noFill/>
          <a:ln/>
        </p:spPr>
        <p:txBody>
          <a:bodyPr wrap="square" lIns="0" tIns="0" rIns="0" bIns="0" rtlCol="0" anchor="ctr"/>
          <a:lstStyle/>
          <a:p>
            <a:pPr indent="0" marL="0">
              <a:buNone/>
            </a:pPr>
            <a:r>
              <a:rPr lang="en-US" sz="750" b="1" spc="80" kern="0" dirty="0">
                <a:solidFill>
                  <a:srgbClr val="BFD9C9"/>
                </a:solidFill>
                <a:latin typeface="Calibri" pitchFamily="34" charset="0"/>
                <a:ea typeface="Calibri" pitchFamily="34" charset="-122"/>
                <a:cs typeface="Calibri" pitchFamily="34" charset="-120"/>
              </a:rPr>
              <a:t>GROWTH AND RETENTION</a:t>
            </a:r>
            <a:endParaRPr lang="en-US" sz="750" dirty="0"/>
          </a:p>
        </p:txBody>
      </p:sp>
      <p:sp>
        <p:nvSpPr>
          <p:cNvPr id="11" name="Text 9"/>
          <p:cNvSpPr/>
          <p:nvPr/>
        </p:nvSpPr>
        <p:spPr>
          <a:xfrm>
            <a:off x="2103120" y="2770632"/>
            <a:ext cx="3063240" cy="274320"/>
          </a:xfrm>
          <a:prstGeom prst="rect">
            <a:avLst/>
          </a:prstGeom>
          <a:noFill/>
          <a:ln/>
        </p:spPr>
        <p:txBody>
          <a:bodyPr wrap="square" lIns="0" tIns="0" rIns="0" bIns="0" rtlCol="0" anchor="ctr">
            <a:normAutofit/>
          </a:bodyPr>
          <a:lstStyle/>
          <a:p>
            <a:pPr indent="0" marL="0">
              <a:buNone/>
            </a:pPr>
            <a:r>
              <a:rPr lang="en-US" sz="1400" b="1" dirty="0">
                <a:solidFill>
                  <a:srgbClr val="CDFC57"/>
                </a:solidFill>
                <a:latin typeface="Calibri" pitchFamily="34" charset="0"/>
                <a:ea typeface="Calibri" pitchFamily="34" charset="-122"/>
                <a:cs typeface="Calibri" pitchFamily="34" charset="-120"/>
              </a:rPr>
              <a:t>[€ ARR protected + expanded]</a:t>
            </a:r>
            <a:endParaRPr lang="en-US" sz="1400" dirty="0"/>
          </a:p>
        </p:txBody>
      </p:sp>
      <p:sp>
        <p:nvSpPr>
          <p:cNvPr id="12" name="Text 10"/>
          <p:cNvSpPr/>
          <p:nvPr/>
        </p:nvSpPr>
        <p:spPr>
          <a:xfrm>
            <a:off x="877824" y="3081528"/>
            <a:ext cx="4288536" cy="566928"/>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A connected portfolio increases account relevance, creates cross-sell paths, and replaces point solutions with one strategic platform.</a:t>
            </a:r>
            <a:endParaRPr lang="en-US" sz="850" dirty="0"/>
          </a:p>
        </p:txBody>
      </p:sp>
      <p:sp>
        <p:nvSpPr>
          <p:cNvPr id="13" name="Shape 11"/>
          <p:cNvSpPr/>
          <p:nvPr/>
        </p:nvSpPr>
        <p:spPr>
          <a:xfrm>
            <a:off x="877824" y="3621024"/>
            <a:ext cx="4288536" cy="0"/>
          </a:xfrm>
          <a:prstGeom prst="line">
            <a:avLst/>
          </a:prstGeom>
          <a:noFill/>
          <a:ln w="7620">
            <a:solidFill>
              <a:srgbClr val="32654B"/>
            </a:solidFill>
            <a:prstDash val="solid"/>
          </a:ln>
        </p:spPr>
      </p:sp>
      <p:sp>
        <p:nvSpPr>
          <p:cNvPr id="14" name="Text 12"/>
          <p:cNvSpPr/>
          <p:nvPr/>
        </p:nvSpPr>
        <p:spPr>
          <a:xfrm>
            <a:off x="877824" y="3730752"/>
            <a:ext cx="1353312" cy="182880"/>
          </a:xfrm>
          <a:prstGeom prst="rect">
            <a:avLst/>
          </a:prstGeom>
          <a:noFill/>
          <a:ln/>
        </p:spPr>
        <p:txBody>
          <a:bodyPr wrap="square" lIns="0" tIns="0" rIns="0" bIns="0" rtlCol="0" anchor="ctr"/>
          <a:lstStyle/>
          <a:p>
            <a:pPr indent="0" marL="0">
              <a:buNone/>
            </a:pPr>
            <a:r>
              <a:rPr lang="en-US" sz="750" b="1" spc="80" kern="0" dirty="0">
                <a:solidFill>
                  <a:srgbClr val="BFD9C9"/>
                </a:solidFill>
                <a:latin typeface="Calibri" pitchFamily="34" charset="0"/>
                <a:ea typeface="Calibri" pitchFamily="34" charset="-122"/>
                <a:cs typeface="Calibri" pitchFamily="34" charset="-120"/>
              </a:rPr>
              <a:t>COST TO SERVE</a:t>
            </a:r>
            <a:endParaRPr lang="en-US" sz="750" dirty="0"/>
          </a:p>
        </p:txBody>
      </p:sp>
      <p:sp>
        <p:nvSpPr>
          <p:cNvPr id="15" name="Text 13"/>
          <p:cNvSpPr/>
          <p:nvPr/>
        </p:nvSpPr>
        <p:spPr>
          <a:xfrm>
            <a:off x="2103120" y="3703320"/>
            <a:ext cx="3063240" cy="274320"/>
          </a:xfrm>
          <a:prstGeom prst="rect">
            <a:avLst/>
          </a:prstGeom>
          <a:noFill/>
          <a:ln/>
        </p:spPr>
        <p:txBody>
          <a:bodyPr wrap="square" lIns="0" tIns="0" rIns="0" bIns="0" rtlCol="0" anchor="ctr">
            <a:normAutofit/>
          </a:bodyPr>
          <a:lstStyle/>
          <a:p>
            <a:pPr indent="0" marL="0">
              <a:buNone/>
            </a:pPr>
            <a:r>
              <a:rPr lang="en-US" sz="1400" b="1" dirty="0">
                <a:solidFill>
                  <a:srgbClr val="CDFC57"/>
                </a:solidFill>
                <a:latin typeface="Calibri" pitchFamily="34" charset="0"/>
                <a:ea typeface="Calibri" pitchFamily="34" charset="-122"/>
                <a:cs typeface="Calibri" pitchFamily="34" charset="-120"/>
              </a:rPr>
              <a:t>[€ annual cost removed]</a:t>
            </a:r>
            <a:endParaRPr lang="en-US" sz="1400" dirty="0"/>
          </a:p>
        </p:txBody>
      </p:sp>
      <p:sp>
        <p:nvSpPr>
          <p:cNvPr id="16" name="Text 14"/>
          <p:cNvSpPr/>
          <p:nvPr/>
        </p:nvSpPr>
        <p:spPr>
          <a:xfrm>
            <a:off x="877824" y="4014216"/>
            <a:ext cx="4288536" cy="566928"/>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Shared ingestion, calculations, evidence and AI-assisted workflows reduce duplicate build, reporting-cycle effort, and methodology hypercare.</a:t>
            </a:r>
            <a:endParaRPr lang="en-US" sz="850" dirty="0"/>
          </a:p>
        </p:txBody>
      </p:sp>
      <p:sp>
        <p:nvSpPr>
          <p:cNvPr id="17" name="Shape 15"/>
          <p:cNvSpPr/>
          <p:nvPr/>
        </p:nvSpPr>
        <p:spPr>
          <a:xfrm>
            <a:off x="877824" y="4553712"/>
            <a:ext cx="4288536" cy="0"/>
          </a:xfrm>
          <a:prstGeom prst="line">
            <a:avLst/>
          </a:prstGeom>
          <a:noFill/>
          <a:ln w="7620">
            <a:solidFill>
              <a:srgbClr val="32654B"/>
            </a:solidFill>
            <a:prstDash val="solid"/>
          </a:ln>
        </p:spPr>
      </p:sp>
      <p:sp>
        <p:nvSpPr>
          <p:cNvPr id="18" name="Text 16"/>
          <p:cNvSpPr/>
          <p:nvPr/>
        </p:nvSpPr>
        <p:spPr>
          <a:xfrm>
            <a:off x="877824" y="4663440"/>
            <a:ext cx="1353312" cy="182880"/>
          </a:xfrm>
          <a:prstGeom prst="rect">
            <a:avLst/>
          </a:prstGeom>
          <a:noFill/>
          <a:ln/>
        </p:spPr>
        <p:txBody>
          <a:bodyPr wrap="square" lIns="0" tIns="0" rIns="0" bIns="0" rtlCol="0" anchor="ctr"/>
          <a:lstStyle/>
          <a:p>
            <a:pPr indent="0" marL="0">
              <a:buNone/>
            </a:pPr>
            <a:r>
              <a:rPr lang="en-US" sz="750" b="1" spc="80" kern="0" dirty="0">
                <a:solidFill>
                  <a:srgbClr val="BFD9C9"/>
                </a:solidFill>
                <a:latin typeface="Calibri" pitchFamily="34" charset="0"/>
                <a:ea typeface="Calibri" pitchFamily="34" charset="-122"/>
                <a:cs typeface="Calibri" pitchFamily="34" charset="-120"/>
              </a:rPr>
              <a:t>RISK AND CAPITAL</a:t>
            </a:r>
            <a:endParaRPr lang="en-US" sz="750" dirty="0"/>
          </a:p>
        </p:txBody>
      </p:sp>
      <p:sp>
        <p:nvSpPr>
          <p:cNvPr id="19" name="Text 17"/>
          <p:cNvSpPr/>
          <p:nvPr/>
        </p:nvSpPr>
        <p:spPr>
          <a:xfrm>
            <a:off x="2103120" y="4636008"/>
            <a:ext cx="3063240" cy="274320"/>
          </a:xfrm>
          <a:prstGeom prst="rect">
            <a:avLst/>
          </a:prstGeom>
          <a:noFill/>
          <a:ln/>
        </p:spPr>
        <p:txBody>
          <a:bodyPr wrap="square" lIns="0" tIns="0" rIns="0" bIns="0" rtlCol="0" anchor="ctr">
            <a:normAutofit/>
          </a:bodyPr>
          <a:lstStyle/>
          <a:p>
            <a:pPr indent="0" marL="0">
              <a:buNone/>
            </a:pPr>
            <a:r>
              <a:rPr lang="en-US" sz="1400" b="1" dirty="0">
                <a:solidFill>
                  <a:srgbClr val="CDFC57"/>
                </a:solidFill>
                <a:latin typeface="Calibri" pitchFamily="34" charset="0"/>
                <a:ea typeface="Calibri" pitchFamily="34" charset="-122"/>
                <a:cs typeface="Calibri" pitchFamily="34" charset="-120"/>
              </a:rPr>
              <a:t>[€ exposure avoided or repriced]</a:t>
            </a:r>
            <a:endParaRPr lang="en-US" sz="1400" dirty="0"/>
          </a:p>
        </p:txBody>
      </p:sp>
      <p:sp>
        <p:nvSpPr>
          <p:cNvPr id="20" name="Text 18"/>
          <p:cNvSpPr/>
          <p:nvPr/>
        </p:nvSpPr>
        <p:spPr>
          <a:xfrm>
            <a:off x="877824" y="4946904"/>
            <a:ext cx="4288536" cy="566928"/>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ClimVar expresses climate risk in financial terms, while scenarios and adaptation actions direct capital toward the highest-value response.</a:t>
            </a:r>
            <a:endParaRPr lang="en-US" sz="850" dirty="0"/>
          </a:p>
        </p:txBody>
      </p:sp>
      <p:sp>
        <p:nvSpPr>
          <p:cNvPr id="21" name="Shape 19"/>
          <p:cNvSpPr/>
          <p:nvPr/>
        </p:nvSpPr>
        <p:spPr>
          <a:xfrm>
            <a:off x="5733288" y="2212848"/>
            <a:ext cx="2817724" cy="1673352"/>
          </a:xfrm>
          <a:prstGeom prst="roundRect">
            <a:avLst>
              <a:gd name="adj" fmla="val 3279"/>
            </a:avLst>
          </a:prstGeom>
          <a:solidFill>
            <a:srgbClr val="FFFFFF"/>
          </a:solidFill>
          <a:ln w="9525">
            <a:solidFill>
              <a:srgbClr val="E2E6E2"/>
            </a:solidFill>
            <a:prstDash val="solid"/>
          </a:ln>
          <a:effectLst>
            <a:outerShdw sx="100000" sy="100000" kx="0" ky="0" algn="bl" rotWithShape="0" blurRad="2.639911643908645e+263" dist="8.799705479695485e+262" dir="5.700625799667598e+307">
              <a:srgbClr val="0A1F12">
                <a:alpha val="Infinity"/>
              </a:srgbClr>
            </a:outerShdw>
          </a:effectLst>
        </p:spPr>
      </p:sp>
      <p:sp>
        <p:nvSpPr>
          <p:cNvPr id="22" name="Shape 20"/>
          <p:cNvSpPr/>
          <p:nvPr/>
        </p:nvSpPr>
        <p:spPr>
          <a:xfrm>
            <a:off x="5733288" y="2212848"/>
            <a:ext cx="54864" cy="1673352"/>
          </a:xfrm>
          <a:prstGeom prst="rect">
            <a:avLst/>
          </a:prstGeom>
          <a:solidFill>
            <a:srgbClr val="3DCD58"/>
          </a:solidFill>
          <a:ln w="12700">
            <a:solidFill>
              <a:srgbClr val="3DCD58"/>
            </a:solidFill>
            <a:prstDash val="solid"/>
          </a:ln>
        </p:spPr>
      </p:sp>
      <p:sp>
        <p:nvSpPr>
          <p:cNvPr id="23" name="Text 21"/>
          <p:cNvSpPr/>
          <p:nvPr/>
        </p:nvSpPr>
        <p:spPr>
          <a:xfrm>
            <a:off x="5934456" y="2377440"/>
            <a:ext cx="384048" cy="201168"/>
          </a:xfrm>
          <a:prstGeom prst="rect">
            <a:avLst/>
          </a:prstGeom>
          <a:noFill/>
          <a:ln/>
        </p:spPr>
        <p:txBody>
          <a:bodyPr wrap="square" lIns="0" tIns="0" rIns="0" bIns="0" rtlCol="0" anchor="ctr"/>
          <a:lstStyle/>
          <a:p>
            <a:pPr indent="0" marL="0">
              <a:buNone/>
            </a:pPr>
            <a:r>
              <a:rPr lang="en-US" sz="900" b="1" dirty="0">
                <a:solidFill>
                  <a:srgbClr val="007A27"/>
                </a:solidFill>
                <a:latin typeface="Calibri" pitchFamily="34" charset="0"/>
                <a:ea typeface="Calibri" pitchFamily="34" charset="-122"/>
                <a:cs typeface="Calibri" pitchFamily="34" charset="-120"/>
              </a:rPr>
              <a:t>01</a:t>
            </a:r>
            <a:endParaRPr lang="en-US" sz="900" dirty="0"/>
          </a:p>
        </p:txBody>
      </p:sp>
      <p:sp>
        <p:nvSpPr>
          <p:cNvPr id="24" name="Text 22"/>
          <p:cNvSpPr/>
          <p:nvPr/>
        </p:nvSpPr>
        <p:spPr>
          <a:xfrm>
            <a:off x="5934456" y="2670048"/>
            <a:ext cx="2415388" cy="32004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One source of truth</a:t>
            </a:r>
            <a:endParaRPr lang="en-US" sz="1400" dirty="0"/>
          </a:p>
        </p:txBody>
      </p:sp>
      <p:sp>
        <p:nvSpPr>
          <p:cNvPr id="25" name="Text 23"/>
          <p:cNvSpPr/>
          <p:nvPr/>
        </p:nvSpPr>
        <p:spPr>
          <a:xfrm>
            <a:off x="5934456" y="3063240"/>
            <a:ext cx="2415388" cy="649224"/>
          </a:xfrm>
          <a:prstGeom prst="rect">
            <a:avLst/>
          </a:prstGeom>
          <a:noFill/>
          <a:ln/>
        </p:spPr>
        <p:txBody>
          <a:bodyPr wrap="square" lIns="0" tIns="0" rIns="0" bIns="0" rtlCol="0" anchor="t">
            <a:normAutofit/>
          </a:bodyPr>
          <a:lstStyle/>
          <a:p>
            <a:pPr indent="0" marL="0">
              <a:buNone/>
            </a:pPr>
            <a:r>
              <a:rPr lang="en-US" sz="920" dirty="0">
                <a:solidFill>
                  <a:srgbClr val="5A625C"/>
                </a:solidFill>
                <a:latin typeface="Calibri" pitchFamily="34" charset="0"/>
                <a:ea typeface="Calibri" pitchFamily="34" charset="-122"/>
                <a:cs typeface="Calibri" pitchFamily="34" charset="-120"/>
              </a:rPr>
              <a:t>Consultant-grade inventories flow through targets, risk, supplier action and disclosures without reconciliation between products.</a:t>
            </a:r>
            <a:endParaRPr lang="en-US" sz="920" dirty="0"/>
          </a:p>
        </p:txBody>
      </p:sp>
      <p:sp>
        <p:nvSpPr>
          <p:cNvPr id="26" name="Shape 24"/>
          <p:cNvSpPr/>
          <p:nvPr/>
        </p:nvSpPr>
        <p:spPr>
          <a:xfrm>
            <a:off x="8752180" y="2212848"/>
            <a:ext cx="2817724" cy="1673352"/>
          </a:xfrm>
          <a:prstGeom prst="roundRect">
            <a:avLst>
              <a:gd name="adj" fmla="val 3279"/>
            </a:avLst>
          </a:prstGeom>
          <a:solidFill>
            <a:srgbClr val="FFFFFF"/>
          </a:solidFill>
          <a:ln w="9525">
            <a:solidFill>
              <a:srgbClr val="E2E6E2"/>
            </a:solidFill>
            <a:prstDash val="solid"/>
          </a:ln>
          <a:effectLst>
            <a:outerShdw sx="100000" sy="100000" kx="0" ky="0" algn="bl" rotWithShape="0" blurRad="3.352687787763979e+267" dist="1.1175625959213265e+267" dir="Infinity">
              <a:srgbClr val="0A1F12">
                <a:alpha val="Infinity"/>
              </a:srgbClr>
            </a:outerShdw>
          </a:effectLst>
        </p:spPr>
      </p:sp>
      <p:sp>
        <p:nvSpPr>
          <p:cNvPr id="27" name="Shape 25"/>
          <p:cNvSpPr/>
          <p:nvPr/>
        </p:nvSpPr>
        <p:spPr>
          <a:xfrm>
            <a:off x="8752180" y="2212848"/>
            <a:ext cx="54864" cy="1673352"/>
          </a:xfrm>
          <a:prstGeom prst="rect">
            <a:avLst/>
          </a:prstGeom>
          <a:solidFill>
            <a:srgbClr val="3DCD58"/>
          </a:solidFill>
          <a:ln w="12700">
            <a:solidFill>
              <a:srgbClr val="3DCD58"/>
            </a:solidFill>
            <a:prstDash val="solid"/>
          </a:ln>
        </p:spPr>
      </p:sp>
      <p:sp>
        <p:nvSpPr>
          <p:cNvPr id="28" name="Text 26"/>
          <p:cNvSpPr/>
          <p:nvPr/>
        </p:nvSpPr>
        <p:spPr>
          <a:xfrm>
            <a:off x="8953348" y="2377440"/>
            <a:ext cx="384048" cy="201168"/>
          </a:xfrm>
          <a:prstGeom prst="rect">
            <a:avLst/>
          </a:prstGeom>
          <a:noFill/>
          <a:ln/>
        </p:spPr>
        <p:txBody>
          <a:bodyPr wrap="square" lIns="0" tIns="0" rIns="0" bIns="0" rtlCol="0" anchor="ctr"/>
          <a:lstStyle/>
          <a:p>
            <a:pPr indent="0" marL="0">
              <a:buNone/>
            </a:pPr>
            <a:r>
              <a:rPr lang="en-US" sz="900" b="1" dirty="0">
                <a:solidFill>
                  <a:srgbClr val="007A27"/>
                </a:solidFill>
                <a:latin typeface="Calibri" pitchFamily="34" charset="0"/>
                <a:ea typeface="Calibri" pitchFamily="34" charset="-122"/>
                <a:cs typeface="Calibri" pitchFamily="34" charset="-120"/>
              </a:rPr>
              <a:t>02</a:t>
            </a:r>
            <a:endParaRPr lang="en-US" sz="900" dirty="0"/>
          </a:p>
        </p:txBody>
      </p:sp>
      <p:sp>
        <p:nvSpPr>
          <p:cNvPr id="29" name="Text 27"/>
          <p:cNvSpPr/>
          <p:nvPr/>
        </p:nvSpPr>
        <p:spPr>
          <a:xfrm>
            <a:off x="8953348" y="2670048"/>
            <a:ext cx="2415388" cy="32004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Platform economics</a:t>
            </a:r>
            <a:endParaRPr lang="en-US" sz="1400" dirty="0"/>
          </a:p>
        </p:txBody>
      </p:sp>
      <p:sp>
        <p:nvSpPr>
          <p:cNvPr id="30" name="Text 28"/>
          <p:cNvSpPr/>
          <p:nvPr/>
        </p:nvSpPr>
        <p:spPr>
          <a:xfrm>
            <a:off x="8953348" y="3063240"/>
            <a:ext cx="2415388" cy="649224"/>
          </a:xfrm>
          <a:prstGeom prst="rect">
            <a:avLst/>
          </a:prstGeom>
          <a:noFill/>
          <a:ln/>
        </p:spPr>
        <p:txBody>
          <a:bodyPr wrap="square" lIns="0" tIns="0" rIns="0" bIns="0" rtlCol="0" anchor="t">
            <a:normAutofit/>
          </a:bodyPr>
          <a:lstStyle/>
          <a:p>
            <a:pPr indent="0" marL="0">
              <a:buNone/>
            </a:pPr>
            <a:r>
              <a:rPr lang="en-US" sz="920" dirty="0">
                <a:solidFill>
                  <a:srgbClr val="5A625C"/>
                </a:solidFill>
                <a:latin typeface="Calibri" pitchFamily="34" charset="0"/>
                <a:ea typeface="Calibri" pitchFamily="34" charset="-122"/>
                <a:cs typeface="Calibri" pitchFamily="34" charset="-120"/>
              </a:rPr>
              <a:t>Core capabilities are built once and inherited across products, increasing roadmap leverage and reducing fragmented investment.</a:t>
            </a:r>
            <a:endParaRPr lang="en-US" sz="920" dirty="0"/>
          </a:p>
        </p:txBody>
      </p:sp>
      <p:sp>
        <p:nvSpPr>
          <p:cNvPr id="31" name="Shape 29"/>
          <p:cNvSpPr/>
          <p:nvPr/>
        </p:nvSpPr>
        <p:spPr>
          <a:xfrm>
            <a:off x="5733288" y="4087368"/>
            <a:ext cx="2817724" cy="1673352"/>
          </a:xfrm>
          <a:prstGeom prst="roundRect">
            <a:avLst>
              <a:gd name="adj" fmla="val 3279"/>
            </a:avLst>
          </a:prstGeom>
          <a:solidFill>
            <a:srgbClr val="FFFFFF"/>
          </a:solidFill>
          <a:ln w="9525">
            <a:solidFill>
              <a:srgbClr val="E2E6E2"/>
            </a:solidFill>
            <a:prstDash val="solid"/>
          </a:ln>
          <a:effectLst>
            <a:outerShdw sx="100000" sy="100000" kx="0" ky="0" algn="bl" rotWithShape="0" blurRad="4.257913490460253e+271" dist="1.4193044968200846e+271" dir="Infinity">
              <a:srgbClr val="0A1F12">
                <a:alpha val="Infinity"/>
              </a:srgbClr>
            </a:outerShdw>
          </a:effectLst>
        </p:spPr>
      </p:sp>
      <p:sp>
        <p:nvSpPr>
          <p:cNvPr id="32" name="Shape 30"/>
          <p:cNvSpPr/>
          <p:nvPr/>
        </p:nvSpPr>
        <p:spPr>
          <a:xfrm>
            <a:off x="5733288" y="4087368"/>
            <a:ext cx="54864" cy="1673352"/>
          </a:xfrm>
          <a:prstGeom prst="rect">
            <a:avLst/>
          </a:prstGeom>
          <a:solidFill>
            <a:srgbClr val="3DCD58"/>
          </a:solidFill>
          <a:ln w="12700">
            <a:solidFill>
              <a:srgbClr val="3DCD58"/>
            </a:solidFill>
            <a:prstDash val="solid"/>
          </a:ln>
        </p:spPr>
      </p:sp>
      <p:sp>
        <p:nvSpPr>
          <p:cNvPr id="33" name="Text 31"/>
          <p:cNvSpPr/>
          <p:nvPr/>
        </p:nvSpPr>
        <p:spPr>
          <a:xfrm>
            <a:off x="5934456" y="4251960"/>
            <a:ext cx="384048" cy="201168"/>
          </a:xfrm>
          <a:prstGeom prst="rect">
            <a:avLst/>
          </a:prstGeom>
          <a:noFill/>
          <a:ln/>
        </p:spPr>
        <p:txBody>
          <a:bodyPr wrap="square" lIns="0" tIns="0" rIns="0" bIns="0" rtlCol="0" anchor="ctr"/>
          <a:lstStyle/>
          <a:p>
            <a:pPr indent="0" marL="0">
              <a:buNone/>
            </a:pPr>
            <a:r>
              <a:rPr lang="en-US" sz="900" b="1" dirty="0">
                <a:solidFill>
                  <a:srgbClr val="007A27"/>
                </a:solidFill>
                <a:latin typeface="Calibri" pitchFamily="34" charset="0"/>
                <a:ea typeface="Calibri" pitchFamily="34" charset="-122"/>
                <a:cs typeface="Calibri" pitchFamily="34" charset="-120"/>
              </a:rPr>
              <a:t>03</a:t>
            </a:r>
            <a:endParaRPr lang="en-US" sz="900" dirty="0"/>
          </a:p>
        </p:txBody>
      </p:sp>
      <p:sp>
        <p:nvSpPr>
          <p:cNvPr id="34" name="Text 32"/>
          <p:cNvSpPr/>
          <p:nvPr/>
        </p:nvSpPr>
        <p:spPr>
          <a:xfrm>
            <a:off x="5934456" y="4544568"/>
            <a:ext cx="2415388" cy="32004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Board-grade assurance</a:t>
            </a:r>
            <a:endParaRPr lang="en-US" sz="1400" dirty="0"/>
          </a:p>
        </p:txBody>
      </p:sp>
      <p:sp>
        <p:nvSpPr>
          <p:cNvPr id="35" name="Text 33"/>
          <p:cNvSpPr/>
          <p:nvPr/>
        </p:nvSpPr>
        <p:spPr>
          <a:xfrm>
            <a:off x="5934456" y="4937760"/>
            <a:ext cx="2415388" cy="649224"/>
          </a:xfrm>
          <a:prstGeom prst="rect">
            <a:avLst/>
          </a:prstGeom>
          <a:noFill/>
          <a:ln/>
        </p:spPr>
        <p:txBody>
          <a:bodyPr wrap="square" lIns="0" tIns="0" rIns="0" bIns="0" rtlCol="0" anchor="t">
            <a:normAutofit/>
          </a:bodyPr>
          <a:lstStyle/>
          <a:p>
            <a:pPr indent="0" marL="0">
              <a:buNone/>
            </a:pPr>
            <a:r>
              <a:rPr lang="en-US" sz="920" dirty="0">
                <a:solidFill>
                  <a:srgbClr val="5A625C"/>
                </a:solidFill>
                <a:latin typeface="Calibri" pitchFamily="34" charset="0"/>
                <a:ea typeface="Calibri" pitchFamily="34" charset="-122"/>
                <a:cs typeface="Calibri" pitchFamily="34" charset="-120"/>
              </a:rPr>
              <a:t>Lineage, calculation governance and evidence make every material number reproducible, auditable and disclosure ready.</a:t>
            </a:r>
            <a:endParaRPr lang="en-US" sz="920" dirty="0"/>
          </a:p>
        </p:txBody>
      </p:sp>
      <p:sp>
        <p:nvSpPr>
          <p:cNvPr id="36" name="Shape 34"/>
          <p:cNvSpPr/>
          <p:nvPr/>
        </p:nvSpPr>
        <p:spPr>
          <a:xfrm>
            <a:off x="8752180" y="4087368"/>
            <a:ext cx="2817724" cy="1673352"/>
          </a:xfrm>
          <a:prstGeom prst="roundRect">
            <a:avLst>
              <a:gd name="adj" fmla="val 3279"/>
            </a:avLst>
          </a:prstGeom>
          <a:solidFill>
            <a:srgbClr val="FFFFFF"/>
          </a:solidFill>
          <a:ln w="9525">
            <a:solidFill>
              <a:srgbClr val="E2E6E2"/>
            </a:solidFill>
            <a:prstDash val="solid"/>
          </a:ln>
          <a:effectLst>
            <a:outerShdw sx="100000" sy="100000" kx="0" ky="0" algn="bl" rotWithShape="0" blurRad="5.4075501328845217e+275" dist="1.8025167109615074e+275" dir="Infinity">
              <a:srgbClr val="0A1F12">
                <a:alpha val="Infinity"/>
              </a:srgbClr>
            </a:outerShdw>
          </a:effectLst>
        </p:spPr>
      </p:sp>
      <p:sp>
        <p:nvSpPr>
          <p:cNvPr id="37" name="Shape 35"/>
          <p:cNvSpPr/>
          <p:nvPr/>
        </p:nvSpPr>
        <p:spPr>
          <a:xfrm>
            <a:off x="8752180" y="4087368"/>
            <a:ext cx="54864" cy="1673352"/>
          </a:xfrm>
          <a:prstGeom prst="rect">
            <a:avLst/>
          </a:prstGeom>
          <a:solidFill>
            <a:srgbClr val="3DCD58"/>
          </a:solidFill>
          <a:ln w="12700">
            <a:solidFill>
              <a:srgbClr val="3DCD58"/>
            </a:solidFill>
            <a:prstDash val="solid"/>
          </a:ln>
        </p:spPr>
      </p:sp>
      <p:sp>
        <p:nvSpPr>
          <p:cNvPr id="38" name="Text 36"/>
          <p:cNvSpPr/>
          <p:nvPr/>
        </p:nvSpPr>
        <p:spPr>
          <a:xfrm>
            <a:off x="8953348" y="4251960"/>
            <a:ext cx="384048" cy="201168"/>
          </a:xfrm>
          <a:prstGeom prst="rect">
            <a:avLst/>
          </a:prstGeom>
          <a:noFill/>
          <a:ln/>
        </p:spPr>
        <p:txBody>
          <a:bodyPr wrap="square" lIns="0" tIns="0" rIns="0" bIns="0" rtlCol="0" anchor="ctr"/>
          <a:lstStyle/>
          <a:p>
            <a:pPr indent="0" marL="0">
              <a:buNone/>
            </a:pPr>
            <a:r>
              <a:rPr lang="en-US" sz="900" b="1" dirty="0">
                <a:solidFill>
                  <a:srgbClr val="007A27"/>
                </a:solidFill>
                <a:latin typeface="Calibri" pitchFamily="34" charset="0"/>
                <a:ea typeface="Calibri" pitchFamily="34" charset="-122"/>
                <a:cs typeface="Calibri" pitchFamily="34" charset="-120"/>
              </a:rPr>
              <a:t>04</a:t>
            </a:r>
            <a:endParaRPr lang="en-US" sz="900" dirty="0"/>
          </a:p>
        </p:txBody>
      </p:sp>
      <p:sp>
        <p:nvSpPr>
          <p:cNvPr id="39" name="Text 37"/>
          <p:cNvSpPr/>
          <p:nvPr/>
        </p:nvSpPr>
        <p:spPr>
          <a:xfrm>
            <a:off x="8953348" y="4544568"/>
            <a:ext cx="2415388" cy="32004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Faster decisions</a:t>
            </a:r>
            <a:endParaRPr lang="en-US" sz="1400" dirty="0"/>
          </a:p>
        </p:txBody>
      </p:sp>
      <p:sp>
        <p:nvSpPr>
          <p:cNvPr id="40" name="Text 38"/>
          <p:cNvSpPr/>
          <p:nvPr/>
        </p:nvSpPr>
        <p:spPr>
          <a:xfrm>
            <a:off x="8953348" y="4937760"/>
            <a:ext cx="2415388" cy="649224"/>
          </a:xfrm>
          <a:prstGeom prst="rect">
            <a:avLst/>
          </a:prstGeom>
          <a:noFill/>
          <a:ln/>
        </p:spPr>
        <p:txBody>
          <a:bodyPr wrap="square" lIns="0" tIns="0" rIns="0" bIns="0" rtlCol="0" anchor="t">
            <a:normAutofit/>
          </a:bodyPr>
          <a:lstStyle/>
          <a:p>
            <a:pPr indent="0" marL="0">
              <a:buNone/>
            </a:pPr>
            <a:r>
              <a:rPr lang="en-US" sz="920" dirty="0">
                <a:solidFill>
                  <a:srgbClr val="5A625C"/>
                </a:solidFill>
                <a:latin typeface="Calibri" pitchFamily="34" charset="0"/>
                <a:ea typeface="Calibri" pitchFamily="34" charset="-122"/>
                <a:cs typeface="Calibri" pitchFamily="34" charset="-120"/>
              </a:rPr>
              <a:t>AI-assisted recommendations, scenarios and value-at-risk analysis move teams from collecting data to funding action.</a:t>
            </a:r>
            <a:endParaRPr lang="en-US" sz="920" dirty="0"/>
          </a:p>
        </p:txBody>
      </p:sp>
      <p:sp>
        <p:nvSpPr>
          <p:cNvPr id="41" name="Shape 39"/>
          <p:cNvSpPr/>
          <p:nvPr/>
        </p:nvSpPr>
        <p:spPr>
          <a:xfrm>
            <a:off x="621792" y="5943600"/>
            <a:ext cx="10948111" cy="402336"/>
          </a:xfrm>
          <a:prstGeom prst="rect">
            <a:avLst/>
          </a:prstGeom>
          <a:solidFill>
            <a:srgbClr val="EAF8ED"/>
          </a:solidFill>
          <a:ln w="12700">
            <a:solidFill>
              <a:srgbClr val="EAF8ED"/>
            </a:solidFill>
            <a:prstDash val="solid"/>
          </a:ln>
        </p:spPr>
      </p:sp>
      <p:sp>
        <p:nvSpPr>
          <p:cNvPr id="42" name="Shape 40"/>
          <p:cNvSpPr/>
          <p:nvPr/>
        </p:nvSpPr>
        <p:spPr>
          <a:xfrm>
            <a:off x="621792" y="5943600"/>
            <a:ext cx="64008" cy="402336"/>
          </a:xfrm>
          <a:prstGeom prst="rect">
            <a:avLst/>
          </a:prstGeom>
          <a:solidFill>
            <a:srgbClr val="3DCD58"/>
          </a:solidFill>
          <a:ln w="12700">
            <a:solidFill>
              <a:srgbClr val="3DCD58"/>
            </a:solidFill>
            <a:prstDash val="solid"/>
          </a:ln>
        </p:spPr>
      </p:sp>
      <p:sp>
        <p:nvSpPr>
          <p:cNvPr id="43" name="Text 41"/>
          <p:cNvSpPr/>
          <p:nvPr/>
        </p:nvSpPr>
        <p:spPr>
          <a:xfrm>
            <a:off x="804672" y="5943600"/>
            <a:ext cx="10582351" cy="402336"/>
          </a:xfrm>
          <a:prstGeom prst="rect">
            <a:avLst/>
          </a:prstGeom>
          <a:noFill/>
          <a:ln/>
        </p:spPr>
        <p:txBody>
          <a:bodyPr wrap="square" lIns="0" tIns="0" rIns="0" bIns="0" rtlCol="0" anchor="ctr">
            <a:normAutofit/>
          </a:bodyPr>
          <a:lstStyle/>
          <a:p>
            <a:pPr indent="0" marL="0">
              <a:buNone/>
            </a:pPr>
            <a:r>
              <a:rPr lang="en-US" sz="950" b="1" dirty="0">
                <a:solidFill>
                  <a:srgbClr val="1E2420"/>
                </a:solidFill>
                <a:latin typeface="Calibri" pitchFamily="34" charset="0"/>
                <a:ea typeface="Calibri" pitchFamily="34" charset="-122"/>
                <a:cs typeface="Calibri" pitchFamily="34" charset="-120"/>
              </a:rPr>
              <a:t>Finance and Product to baseline three measures before investment lock: ARR protected and expanded, annual cost to serve removed, and climate exposure avoided or repriced.</a:t>
            </a:r>
            <a:endParaRPr lang="en-US" sz="950" dirty="0"/>
          </a:p>
        </p:txBody>
      </p:sp>
      <p:sp>
        <p:nvSpPr>
          <p:cNvPr id="44" name="Shape 42"/>
          <p:cNvSpPr/>
          <p:nvPr/>
        </p:nvSpPr>
        <p:spPr>
          <a:xfrm>
            <a:off x="621792" y="6437376"/>
            <a:ext cx="10948111" cy="0"/>
          </a:xfrm>
          <a:prstGeom prst="line">
            <a:avLst/>
          </a:prstGeom>
          <a:noFill/>
          <a:ln w="9525">
            <a:solidFill>
              <a:srgbClr val="E2E6E2"/>
            </a:solidFill>
            <a:prstDash val="solid"/>
          </a:ln>
        </p:spPr>
      </p:sp>
      <p:sp>
        <p:nvSpPr>
          <p:cNvPr id="45" name="Text 4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46" name="Text 4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460400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427482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COST-BENEFIT CASE | BOARD PROPOSAL</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Fund the shared platform once, unlock three measurable value pools</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2027 case compares incremental roadmap investment with commercial growth, operating leverage, and risk-adjusted value. All monetary amounts remain subject to Finance validation.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901952"/>
            <a:ext cx="4892040" cy="2907792"/>
          </a:xfrm>
          <a:prstGeom prst="roundRect">
            <a:avLst>
              <a:gd name="adj" fmla="val 1887"/>
            </a:avLst>
          </a:prstGeom>
          <a:solidFill>
            <a:srgbClr val="FFFFFF"/>
          </a:solidFill>
          <a:ln w="9525">
            <a:solidFill>
              <a:srgbClr val="E2E6E2"/>
            </a:solidFill>
            <a:prstDash val="solid"/>
          </a:ln>
          <a:effectLst>
            <a:outerShdw sx="100000" sy="100000" kx="0" ky="0" algn="bl" rotWithShape="0" blurRad="6.867588668763342e+279" dist="2.2891962229211143e+279" dir="Infinity">
              <a:srgbClr val="0A1F12">
                <a:alpha val="Infinity"/>
              </a:srgbClr>
            </a:outerShdw>
          </a:effectLst>
        </p:spPr>
      </p:sp>
      <p:sp>
        <p:nvSpPr>
          <p:cNvPr id="10" name="Text 8"/>
          <p:cNvSpPr/>
          <p:nvPr/>
        </p:nvSpPr>
        <p:spPr>
          <a:xfrm>
            <a:off x="841248" y="2084832"/>
            <a:ext cx="4453128" cy="201168"/>
          </a:xfrm>
          <a:prstGeom prst="rect">
            <a:avLst/>
          </a:prstGeom>
          <a:noFill/>
          <a:ln/>
        </p:spPr>
        <p:txBody>
          <a:bodyPr wrap="square" lIns="0" tIns="0" rIns="0" bIns="0" rtlCol="0" anchor="ctr"/>
          <a:lstStyle/>
          <a:p>
            <a:pPr indent="0" marL="0">
              <a:buNone/>
            </a:pPr>
            <a:r>
              <a:rPr lang="en-US" sz="850" b="1" spc="110" kern="0" dirty="0">
                <a:solidFill>
                  <a:srgbClr val="5A625C"/>
                </a:solidFill>
                <a:latin typeface="Calibri" pitchFamily="34" charset="0"/>
                <a:ea typeface="Calibri" pitchFamily="34" charset="-122"/>
                <a:cs typeface="Calibri" pitchFamily="34" charset="-120"/>
              </a:rPr>
              <a:t>INCREMENTAL INVESTMENT TO 2027</a:t>
            </a:r>
            <a:endParaRPr lang="en-US" sz="850" dirty="0"/>
          </a:p>
        </p:txBody>
      </p:sp>
      <p:sp>
        <p:nvSpPr>
          <p:cNvPr id="11" name="Text 9"/>
          <p:cNvSpPr/>
          <p:nvPr/>
        </p:nvSpPr>
        <p:spPr>
          <a:xfrm>
            <a:off x="841248" y="2432304"/>
            <a:ext cx="2880360" cy="201168"/>
          </a:xfrm>
          <a:prstGeom prst="rect">
            <a:avLst/>
          </a:prstGeom>
          <a:noFill/>
          <a:ln/>
        </p:spPr>
        <p:txBody>
          <a:bodyPr wrap="square" lIns="0" tIns="0" rIns="0" bIns="0" rtlCol="0" anchor="ctr">
            <a:normAutofit/>
          </a:bodyPr>
          <a:lstStyle/>
          <a:p>
            <a:pPr indent="0" marL="0">
              <a:buNone/>
            </a:pPr>
            <a:r>
              <a:rPr lang="en-US" sz="1050" b="1" dirty="0">
                <a:solidFill>
                  <a:srgbClr val="1E2420"/>
                </a:solidFill>
                <a:latin typeface="Calibri" pitchFamily="34" charset="0"/>
                <a:ea typeface="Calibri" pitchFamily="34" charset="-122"/>
                <a:cs typeface="Calibri" pitchFamily="34" charset="-120"/>
              </a:rPr>
              <a:t>01  Product and platform capacity</a:t>
            </a:r>
            <a:endParaRPr lang="en-US" sz="1050" dirty="0"/>
          </a:p>
        </p:txBody>
      </p:sp>
      <p:sp>
        <p:nvSpPr>
          <p:cNvPr id="12" name="Text 10"/>
          <p:cNvSpPr/>
          <p:nvPr/>
        </p:nvSpPr>
        <p:spPr>
          <a:xfrm>
            <a:off x="3776472" y="2432304"/>
            <a:ext cx="1517904" cy="201168"/>
          </a:xfrm>
          <a:prstGeom prst="rect">
            <a:avLst/>
          </a:prstGeom>
          <a:noFill/>
          <a:ln/>
        </p:spPr>
        <p:txBody>
          <a:bodyPr wrap="square" lIns="0" tIns="0" rIns="0" bIns="0" rtlCol="0" anchor="ctr">
            <a:normAutofit/>
          </a:bodyPr>
          <a:lstStyle/>
          <a:p>
            <a:pPr algn="r" indent="0" marL="0">
              <a:buNone/>
            </a:pPr>
            <a:r>
              <a:rPr lang="en-US" sz="1050" b="1" dirty="0">
                <a:solidFill>
                  <a:srgbClr val="1E2420"/>
                </a:solidFill>
                <a:latin typeface="Calibri" pitchFamily="34" charset="0"/>
                <a:ea typeface="Calibri" pitchFamily="34" charset="-122"/>
                <a:cs typeface="Calibri" pitchFamily="34" charset="-120"/>
              </a:rPr>
              <a:t>[€ BUILD COST]</a:t>
            </a:r>
            <a:endParaRPr lang="en-US" sz="1050" dirty="0"/>
          </a:p>
        </p:txBody>
      </p:sp>
      <p:sp>
        <p:nvSpPr>
          <p:cNvPr id="13" name="Text 11"/>
          <p:cNvSpPr/>
          <p:nvPr/>
        </p:nvSpPr>
        <p:spPr>
          <a:xfrm>
            <a:off x="841248" y="2697480"/>
            <a:ext cx="4453128" cy="274320"/>
          </a:xfrm>
          <a:prstGeom prst="rect">
            <a:avLst/>
          </a:prstGeom>
          <a:noFill/>
          <a:ln/>
        </p:spPr>
        <p:txBody>
          <a:bodyPr wrap="square" lIns="0" tIns="0" rIns="0" bIns="0" rtlCol="0" anchor="ctr">
            <a:normAutofit/>
          </a:bodyPr>
          <a:lstStyle/>
          <a:p>
            <a:pPr indent="0" marL="0">
              <a:buNone/>
            </a:pPr>
            <a:r>
              <a:rPr lang="en-US" sz="780" dirty="0">
                <a:solidFill>
                  <a:srgbClr val="5A625C"/>
                </a:solidFill>
                <a:latin typeface="Calibri" pitchFamily="34" charset="0"/>
                <a:ea typeface="Calibri" pitchFamily="34" charset="-122"/>
                <a:cs typeface="Calibri" pitchFamily="34" charset="-120"/>
              </a:rPr>
              <a:t>Core data, calculation and AI capabilities  •  Product roadmap delivery through 2027</a:t>
            </a:r>
            <a:endParaRPr lang="en-US" sz="780" dirty="0"/>
          </a:p>
        </p:txBody>
      </p:sp>
      <p:sp>
        <p:nvSpPr>
          <p:cNvPr id="14" name="Shape 12"/>
          <p:cNvSpPr/>
          <p:nvPr/>
        </p:nvSpPr>
        <p:spPr>
          <a:xfrm>
            <a:off x="841248" y="3081528"/>
            <a:ext cx="4453128" cy="0"/>
          </a:xfrm>
          <a:prstGeom prst="line">
            <a:avLst/>
          </a:prstGeom>
          <a:noFill/>
          <a:ln w="6350">
            <a:solidFill>
              <a:srgbClr val="E2E6E2"/>
            </a:solidFill>
            <a:prstDash val="solid"/>
          </a:ln>
        </p:spPr>
      </p:sp>
      <p:sp>
        <p:nvSpPr>
          <p:cNvPr id="15" name="Text 13"/>
          <p:cNvSpPr/>
          <p:nvPr/>
        </p:nvSpPr>
        <p:spPr>
          <a:xfrm>
            <a:off x="841248" y="3182112"/>
            <a:ext cx="2880360" cy="201168"/>
          </a:xfrm>
          <a:prstGeom prst="rect">
            <a:avLst/>
          </a:prstGeom>
          <a:noFill/>
          <a:ln/>
        </p:spPr>
        <p:txBody>
          <a:bodyPr wrap="square" lIns="0" tIns="0" rIns="0" bIns="0" rtlCol="0" anchor="ctr">
            <a:normAutofit/>
          </a:bodyPr>
          <a:lstStyle/>
          <a:p>
            <a:pPr indent="0" marL="0">
              <a:buNone/>
            </a:pPr>
            <a:r>
              <a:rPr lang="en-US" sz="1050" b="1" dirty="0">
                <a:solidFill>
                  <a:srgbClr val="1E2420"/>
                </a:solidFill>
                <a:latin typeface="Calibri" pitchFamily="34" charset="0"/>
                <a:ea typeface="Calibri" pitchFamily="34" charset="-122"/>
                <a:cs typeface="Calibri" pitchFamily="34" charset="-120"/>
              </a:rPr>
              <a:t>02  Migration and enablement</a:t>
            </a:r>
            <a:endParaRPr lang="en-US" sz="1050" dirty="0"/>
          </a:p>
        </p:txBody>
      </p:sp>
      <p:sp>
        <p:nvSpPr>
          <p:cNvPr id="16" name="Text 14"/>
          <p:cNvSpPr/>
          <p:nvPr/>
        </p:nvSpPr>
        <p:spPr>
          <a:xfrm>
            <a:off x="3776472" y="3182112"/>
            <a:ext cx="1517904" cy="201168"/>
          </a:xfrm>
          <a:prstGeom prst="rect">
            <a:avLst/>
          </a:prstGeom>
          <a:noFill/>
          <a:ln/>
        </p:spPr>
        <p:txBody>
          <a:bodyPr wrap="square" lIns="0" tIns="0" rIns="0" bIns="0" rtlCol="0" anchor="ctr">
            <a:normAutofit/>
          </a:bodyPr>
          <a:lstStyle/>
          <a:p>
            <a:pPr algn="r" indent="0" marL="0">
              <a:buNone/>
            </a:pPr>
            <a:r>
              <a:rPr lang="en-US" sz="1050" b="1" dirty="0">
                <a:solidFill>
                  <a:srgbClr val="1E2420"/>
                </a:solidFill>
                <a:latin typeface="Calibri" pitchFamily="34" charset="0"/>
                <a:ea typeface="Calibri" pitchFamily="34" charset="-122"/>
                <a:cs typeface="Calibri" pitchFamily="34" charset="-120"/>
              </a:rPr>
              <a:t>[€ CHANGE COST]</a:t>
            </a:r>
            <a:endParaRPr lang="en-US" sz="1050" dirty="0"/>
          </a:p>
        </p:txBody>
      </p:sp>
      <p:sp>
        <p:nvSpPr>
          <p:cNvPr id="17" name="Text 15"/>
          <p:cNvSpPr/>
          <p:nvPr/>
        </p:nvSpPr>
        <p:spPr>
          <a:xfrm>
            <a:off x="841248" y="3447288"/>
            <a:ext cx="4453128" cy="274320"/>
          </a:xfrm>
          <a:prstGeom prst="rect">
            <a:avLst/>
          </a:prstGeom>
          <a:noFill/>
          <a:ln/>
        </p:spPr>
        <p:txBody>
          <a:bodyPr wrap="square" lIns="0" tIns="0" rIns="0" bIns="0" rtlCol="0" anchor="ctr">
            <a:normAutofit/>
          </a:bodyPr>
          <a:lstStyle/>
          <a:p>
            <a:pPr indent="0" marL="0">
              <a:buNone/>
            </a:pPr>
            <a:r>
              <a:rPr lang="en-US" sz="780" dirty="0">
                <a:solidFill>
                  <a:srgbClr val="5A625C"/>
                </a:solidFill>
                <a:latin typeface="Calibri" pitchFamily="34" charset="0"/>
                <a:ea typeface="Calibri" pitchFamily="34" charset="-122"/>
                <a:cs typeface="Calibri" pitchFamily="34" charset="-120"/>
              </a:rPr>
              <a:t>Client and Schneider Electric migrations  •  Data onboarding, training and adoption</a:t>
            </a:r>
            <a:endParaRPr lang="en-US" sz="780" dirty="0"/>
          </a:p>
        </p:txBody>
      </p:sp>
      <p:sp>
        <p:nvSpPr>
          <p:cNvPr id="18" name="Shape 16"/>
          <p:cNvSpPr/>
          <p:nvPr/>
        </p:nvSpPr>
        <p:spPr>
          <a:xfrm>
            <a:off x="841248" y="3831336"/>
            <a:ext cx="4453128" cy="0"/>
          </a:xfrm>
          <a:prstGeom prst="line">
            <a:avLst/>
          </a:prstGeom>
          <a:noFill/>
          <a:ln w="6350">
            <a:solidFill>
              <a:srgbClr val="E2E6E2"/>
            </a:solidFill>
            <a:prstDash val="solid"/>
          </a:ln>
        </p:spPr>
      </p:sp>
      <p:sp>
        <p:nvSpPr>
          <p:cNvPr id="19" name="Text 17"/>
          <p:cNvSpPr/>
          <p:nvPr/>
        </p:nvSpPr>
        <p:spPr>
          <a:xfrm>
            <a:off x="841248" y="3931920"/>
            <a:ext cx="2880360" cy="201168"/>
          </a:xfrm>
          <a:prstGeom prst="rect">
            <a:avLst/>
          </a:prstGeom>
          <a:noFill/>
          <a:ln/>
        </p:spPr>
        <p:txBody>
          <a:bodyPr wrap="square" lIns="0" tIns="0" rIns="0" bIns="0" rtlCol="0" anchor="ctr">
            <a:normAutofit/>
          </a:bodyPr>
          <a:lstStyle/>
          <a:p>
            <a:pPr indent="0" marL="0">
              <a:buNone/>
            </a:pPr>
            <a:r>
              <a:rPr lang="en-US" sz="1050" b="1" dirty="0">
                <a:solidFill>
                  <a:srgbClr val="1E2420"/>
                </a:solidFill>
                <a:latin typeface="Calibri" pitchFamily="34" charset="0"/>
                <a:ea typeface="Calibri" pitchFamily="34" charset="-122"/>
                <a:cs typeface="Calibri" pitchFamily="34" charset="-120"/>
              </a:rPr>
              <a:t>03  Go-to-market and assurance</a:t>
            </a:r>
            <a:endParaRPr lang="en-US" sz="1050" dirty="0"/>
          </a:p>
        </p:txBody>
      </p:sp>
      <p:sp>
        <p:nvSpPr>
          <p:cNvPr id="20" name="Text 18"/>
          <p:cNvSpPr/>
          <p:nvPr/>
        </p:nvSpPr>
        <p:spPr>
          <a:xfrm>
            <a:off x="3776472" y="3931920"/>
            <a:ext cx="1517904" cy="201168"/>
          </a:xfrm>
          <a:prstGeom prst="rect">
            <a:avLst/>
          </a:prstGeom>
          <a:noFill/>
          <a:ln/>
        </p:spPr>
        <p:txBody>
          <a:bodyPr wrap="square" lIns="0" tIns="0" rIns="0" bIns="0" rtlCol="0" anchor="ctr">
            <a:normAutofit/>
          </a:bodyPr>
          <a:lstStyle/>
          <a:p>
            <a:pPr algn="r" indent="0" marL="0">
              <a:buNone/>
            </a:pPr>
            <a:r>
              <a:rPr lang="en-US" sz="1050" b="1" dirty="0">
                <a:solidFill>
                  <a:srgbClr val="1E2420"/>
                </a:solidFill>
                <a:latin typeface="Calibri" pitchFamily="34" charset="0"/>
                <a:ea typeface="Calibri" pitchFamily="34" charset="-122"/>
                <a:cs typeface="Calibri" pitchFamily="34" charset="-120"/>
              </a:rPr>
              <a:t>[€ LAUNCH COST]</a:t>
            </a:r>
            <a:endParaRPr lang="en-US" sz="1050" dirty="0"/>
          </a:p>
        </p:txBody>
      </p:sp>
      <p:sp>
        <p:nvSpPr>
          <p:cNvPr id="21" name="Text 19"/>
          <p:cNvSpPr/>
          <p:nvPr/>
        </p:nvSpPr>
        <p:spPr>
          <a:xfrm>
            <a:off x="841248" y="4197096"/>
            <a:ext cx="4453128" cy="274320"/>
          </a:xfrm>
          <a:prstGeom prst="rect">
            <a:avLst/>
          </a:prstGeom>
          <a:noFill/>
          <a:ln/>
        </p:spPr>
        <p:txBody>
          <a:bodyPr wrap="square" lIns="0" tIns="0" rIns="0" bIns="0" rtlCol="0" anchor="ctr">
            <a:normAutofit/>
          </a:bodyPr>
          <a:lstStyle/>
          <a:p>
            <a:pPr indent="0" marL="0">
              <a:buNone/>
            </a:pPr>
            <a:r>
              <a:rPr lang="en-US" sz="780" dirty="0">
                <a:solidFill>
                  <a:srgbClr val="5A625C"/>
                </a:solidFill>
                <a:latin typeface="Calibri" pitchFamily="34" charset="0"/>
                <a:ea typeface="Calibri" pitchFamily="34" charset="-122"/>
                <a:cs typeface="Calibri" pitchFamily="34" charset="-120"/>
              </a:rPr>
              <a:t>Commercial readiness and packaging  •  Methodology, controls and assurance</a:t>
            </a:r>
            <a:endParaRPr lang="en-US" sz="780" dirty="0"/>
          </a:p>
        </p:txBody>
      </p:sp>
      <p:sp>
        <p:nvSpPr>
          <p:cNvPr id="22" name="Shape 20"/>
          <p:cNvSpPr/>
          <p:nvPr/>
        </p:nvSpPr>
        <p:spPr>
          <a:xfrm>
            <a:off x="5586984" y="3154680"/>
            <a:ext cx="512064" cy="0"/>
          </a:xfrm>
          <a:prstGeom prst="line">
            <a:avLst/>
          </a:prstGeom>
          <a:noFill/>
          <a:ln w="25400">
            <a:solidFill>
              <a:srgbClr val="3DCD58"/>
            </a:solidFill>
            <a:prstDash val="solid"/>
            <a:headEnd type="none"/>
            <a:tailEnd type="triangle"/>
          </a:ln>
        </p:spPr>
      </p:sp>
      <p:sp>
        <p:nvSpPr>
          <p:cNvPr id="23" name="Text 21"/>
          <p:cNvSpPr/>
          <p:nvPr/>
        </p:nvSpPr>
        <p:spPr>
          <a:xfrm>
            <a:off x="5550408" y="3319272"/>
            <a:ext cx="585216" cy="411480"/>
          </a:xfrm>
          <a:prstGeom prst="rect">
            <a:avLst/>
          </a:prstGeom>
          <a:noFill/>
          <a:ln/>
        </p:spPr>
        <p:txBody>
          <a:bodyPr wrap="square" lIns="0" tIns="0" rIns="0" bIns="0" rtlCol="0" anchor="ctr">
            <a:normAutofit/>
          </a:bodyPr>
          <a:lstStyle/>
          <a:p>
            <a:pPr algn="ctr" indent="0" marL="0">
              <a:buNone/>
            </a:pPr>
            <a:r>
              <a:rPr lang="en-US" sz="620" b="1" dirty="0">
                <a:solidFill>
                  <a:srgbClr val="007A27"/>
                </a:solidFill>
                <a:latin typeface="Calibri" pitchFamily="34" charset="0"/>
                <a:ea typeface="Calibri" pitchFamily="34" charset="-122"/>
                <a:cs typeface="Calibri" pitchFamily="34" charset="-120"/>
              </a:rPr>
              <a:t>VALUE</a:t>
            </a:r>
            <a:endParaRPr lang="en-US" sz="620" dirty="0"/>
          </a:p>
          <a:p>
            <a:pPr algn="ctr" indent="0" marL="0">
              <a:buNone/>
            </a:pPr>
            <a:r>
              <a:rPr lang="en-US" sz="620" b="1" dirty="0">
                <a:solidFill>
                  <a:srgbClr val="007A27"/>
                </a:solidFill>
                <a:latin typeface="Calibri" pitchFamily="34" charset="0"/>
                <a:ea typeface="Calibri" pitchFamily="34" charset="-122"/>
                <a:cs typeface="Calibri" pitchFamily="34" charset="-120"/>
              </a:rPr>
              <a:t>CONVERSION</a:t>
            </a:r>
            <a:endParaRPr lang="en-US" sz="620" dirty="0"/>
          </a:p>
        </p:txBody>
      </p:sp>
      <p:sp>
        <p:nvSpPr>
          <p:cNvPr id="24" name="Shape 22"/>
          <p:cNvSpPr/>
          <p:nvPr/>
        </p:nvSpPr>
        <p:spPr>
          <a:xfrm>
            <a:off x="6172200" y="1901952"/>
            <a:ext cx="5397703" cy="2907792"/>
          </a:xfrm>
          <a:prstGeom prst="roundRect">
            <a:avLst>
              <a:gd name="adj" fmla="val 1572"/>
            </a:avLst>
          </a:prstGeom>
          <a:solidFill>
            <a:srgbClr val="0C3B25"/>
          </a:solidFill>
          <a:ln w="12700">
            <a:solidFill>
              <a:srgbClr val="0C3B25"/>
            </a:solidFill>
            <a:prstDash val="solid"/>
          </a:ln>
        </p:spPr>
      </p:sp>
      <p:sp>
        <p:nvSpPr>
          <p:cNvPr id="25" name="Text 23"/>
          <p:cNvSpPr/>
          <p:nvPr/>
        </p:nvSpPr>
        <p:spPr>
          <a:xfrm>
            <a:off x="6391656" y="2084832"/>
            <a:ext cx="4958791" cy="201168"/>
          </a:xfrm>
          <a:prstGeom prst="rect">
            <a:avLst/>
          </a:prstGeom>
          <a:noFill/>
          <a:ln/>
        </p:spPr>
        <p:txBody>
          <a:bodyPr wrap="square" lIns="0" tIns="0" rIns="0" bIns="0" rtlCol="0" anchor="ctr"/>
          <a:lstStyle/>
          <a:p>
            <a:pPr indent="0" marL="0">
              <a:buNone/>
            </a:pPr>
            <a:r>
              <a:rPr lang="en-US" sz="850" b="1" spc="110" kern="0" dirty="0">
                <a:solidFill>
                  <a:srgbClr val="CDFC57"/>
                </a:solidFill>
                <a:latin typeface="Calibri" pitchFamily="34" charset="0"/>
                <a:ea typeface="Calibri" pitchFamily="34" charset="-122"/>
                <a:cs typeface="Calibri" pitchFamily="34" charset="-120"/>
              </a:rPr>
              <a:t>VALUE POOLS FROM THE VALUE CASE</a:t>
            </a:r>
            <a:endParaRPr lang="en-US" sz="850" dirty="0"/>
          </a:p>
        </p:txBody>
      </p:sp>
      <p:sp>
        <p:nvSpPr>
          <p:cNvPr id="26" name="Text 24"/>
          <p:cNvSpPr/>
          <p:nvPr/>
        </p:nvSpPr>
        <p:spPr>
          <a:xfrm>
            <a:off x="6391656" y="2432304"/>
            <a:ext cx="1600200" cy="164592"/>
          </a:xfrm>
          <a:prstGeom prst="rect">
            <a:avLst/>
          </a:prstGeom>
          <a:noFill/>
          <a:ln/>
        </p:spPr>
        <p:txBody>
          <a:bodyPr wrap="square" lIns="0" tIns="0" rIns="0" bIns="0" rtlCol="0" anchor="ctr">
            <a:normAutofit/>
          </a:bodyPr>
          <a:lstStyle/>
          <a:p>
            <a:pPr indent="0" marL="0">
              <a:buNone/>
            </a:pPr>
            <a:r>
              <a:rPr lang="en-US" sz="700" b="1" spc="50" kern="0" dirty="0">
                <a:solidFill>
                  <a:srgbClr val="BFD9C9"/>
                </a:solidFill>
                <a:latin typeface="Calibri" pitchFamily="34" charset="0"/>
                <a:ea typeface="Calibri" pitchFamily="34" charset="-122"/>
                <a:cs typeface="Calibri" pitchFamily="34" charset="-120"/>
              </a:rPr>
              <a:t>01  GROWTH AND RETENTION</a:t>
            </a:r>
            <a:endParaRPr lang="en-US" sz="700" dirty="0"/>
          </a:p>
        </p:txBody>
      </p:sp>
      <p:sp>
        <p:nvSpPr>
          <p:cNvPr id="27" name="Text 25"/>
          <p:cNvSpPr/>
          <p:nvPr/>
        </p:nvSpPr>
        <p:spPr>
          <a:xfrm>
            <a:off x="8019288" y="2414016"/>
            <a:ext cx="3331159" cy="219456"/>
          </a:xfrm>
          <a:prstGeom prst="rect">
            <a:avLst/>
          </a:prstGeom>
          <a:noFill/>
          <a:ln/>
        </p:spPr>
        <p:txBody>
          <a:bodyPr wrap="square" lIns="0" tIns="0" rIns="0" bIns="0" rtlCol="0" anchor="ctr">
            <a:normAutofit/>
          </a:bodyPr>
          <a:lstStyle/>
          <a:p>
            <a:pPr algn="r" indent="0" marL="0">
              <a:buNone/>
            </a:pPr>
            <a:r>
              <a:rPr lang="en-US" sz="1150" b="1" dirty="0">
                <a:solidFill>
                  <a:srgbClr val="CDFC57"/>
                </a:solidFill>
                <a:latin typeface="Calibri" pitchFamily="34" charset="0"/>
                <a:ea typeface="Calibri" pitchFamily="34" charset="-122"/>
                <a:cs typeface="Calibri" pitchFamily="34" charset="-120"/>
              </a:rPr>
              <a:t>[€ ARR protected + expanded]</a:t>
            </a:r>
            <a:endParaRPr lang="en-US" sz="1150" dirty="0"/>
          </a:p>
        </p:txBody>
      </p:sp>
      <p:sp>
        <p:nvSpPr>
          <p:cNvPr id="28" name="Text 26"/>
          <p:cNvSpPr/>
          <p:nvPr/>
        </p:nvSpPr>
        <p:spPr>
          <a:xfrm>
            <a:off x="6391656" y="2688336"/>
            <a:ext cx="4958791" cy="283464"/>
          </a:xfrm>
          <a:prstGeom prst="rect">
            <a:avLst/>
          </a:prstGeom>
          <a:noFill/>
          <a:ln/>
        </p:spPr>
        <p:txBody>
          <a:bodyPr wrap="square" lIns="0" tIns="0" rIns="0" bIns="0" rtlCol="0" anchor="ctr">
            <a:normAutofit/>
          </a:bodyPr>
          <a:lstStyle/>
          <a:p>
            <a:pPr indent="0" marL="0">
              <a:buNone/>
            </a:pPr>
            <a:r>
              <a:rPr lang="en-US" sz="780" dirty="0">
                <a:solidFill>
                  <a:srgbClr val="BFD9C9"/>
                </a:solidFill>
                <a:latin typeface="Calibri" pitchFamily="34" charset="0"/>
                <a:ea typeface="Calibri" pitchFamily="34" charset="-122"/>
                <a:cs typeface="Calibri" pitchFamily="34" charset="-120"/>
              </a:rPr>
              <a:t>Cross-sell connected products, deepen strategic relevance, and reduce displacement by point solutions.</a:t>
            </a:r>
            <a:endParaRPr lang="en-US" sz="780" dirty="0"/>
          </a:p>
        </p:txBody>
      </p:sp>
      <p:sp>
        <p:nvSpPr>
          <p:cNvPr id="29" name="Shape 27"/>
          <p:cNvSpPr/>
          <p:nvPr/>
        </p:nvSpPr>
        <p:spPr>
          <a:xfrm>
            <a:off x="6391656" y="3081528"/>
            <a:ext cx="4958791" cy="0"/>
          </a:xfrm>
          <a:prstGeom prst="line">
            <a:avLst/>
          </a:prstGeom>
          <a:noFill/>
          <a:ln w="6350">
            <a:solidFill>
              <a:srgbClr val="32654B"/>
            </a:solidFill>
            <a:prstDash val="solid"/>
          </a:ln>
        </p:spPr>
      </p:sp>
      <p:sp>
        <p:nvSpPr>
          <p:cNvPr id="30" name="Text 28"/>
          <p:cNvSpPr/>
          <p:nvPr/>
        </p:nvSpPr>
        <p:spPr>
          <a:xfrm>
            <a:off x="6391656" y="3182112"/>
            <a:ext cx="1600200" cy="164592"/>
          </a:xfrm>
          <a:prstGeom prst="rect">
            <a:avLst/>
          </a:prstGeom>
          <a:noFill/>
          <a:ln/>
        </p:spPr>
        <p:txBody>
          <a:bodyPr wrap="square" lIns="0" tIns="0" rIns="0" bIns="0" rtlCol="0" anchor="ctr">
            <a:normAutofit/>
          </a:bodyPr>
          <a:lstStyle/>
          <a:p>
            <a:pPr indent="0" marL="0">
              <a:buNone/>
            </a:pPr>
            <a:r>
              <a:rPr lang="en-US" sz="700" b="1" spc="50" kern="0" dirty="0">
                <a:solidFill>
                  <a:srgbClr val="BFD9C9"/>
                </a:solidFill>
                <a:latin typeface="Calibri" pitchFamily="34" charset="0"/>
                <a:ea typeface="Calibri" pitchFamily="34" charset="-122"/>
                <a:cs typeface="Calibri" pitchFamily="34" charset="-120"/>
              </a:rPr>
              <a:t>02  COST TO SERVE</a:t>
            </a:r>
            <a:endParaRPr lang="en-US" sz="700" dirty="0"/>
          </a:p>
        </p:txBody>
      </p:sp>
      <p:sp>
        <p:nvSpPr>
          <p:cNvPr id="31" name="Text 29"/>
          <p:cNvSpPr/>
          <p:nvPr/>
        </p:nvSpPr>
        <p:spPr>
          <a:xfrm>
            <a:off x="8019288" y="3163824"/>
            <a:ext cx="3331159" cy="219456"/>
          </a:xfrm>
          <a:prstGeom prst="rect">
            <a:avLst/>
          </a:prstGeom>
          <a:noFill/>
          <a:ln/>
        </p:spPr>
        <p:txBody>
          <a:bodyPr wrap="square" lIns="0" tIns="0" rIns="0" bIns="0" rtlCol="0" anchor="ctr">
            <a:normAutofit/>
          </a:bodyPr>
          <a:lstStyle/>
          <a:p>
            <a:pPr algn="r" indent="0" marL="0">
              <a:buNone/>
            </a:pPr>
            <a:r>
              <a:rPr lang="en-US" sz="1150" b="1" dirty="0">
                <a:solidFill>
                  <a:srgbClr val="CDFC57"/>
                </a:solidFill>
                <a:latin typeface="Calibri" pitchFamily="34" charset="0"/>
                <a:ea typeface="Calibri" pitchFamily="34" charset="-122"/>
                <a:cs typeface="Calibri" pitchFamily="34" charset="-120"/>
              </a:rPr>
              <a:t>[€ annual cost removed]</a:t>
            </a:r>
            <a:endParaRPr lang="en-US" sz="1150" dirty="0"/>
          </a:p>
        </p:txBody>
      </p:sp>
      <p:sp>
        <p:nvSpPr>
          <p:cNvPr id="32" name="Text 30"/>
          <p:cNvSpPr/>
          <p:nvPr/>
        </p:nvSpPr>
        <p:spPr>
          <a:xfrm>
            <a:off x="6391656" y="3438144"/>
            <a:ext cx="4958791" cy="283464"/>
          </a:xfrm>
          <a:prstGeom prst="rect">
            <a:avLst/>
          </a:prstGeom>
          <a:noFill/>
          <a:ln/>
        </p:spPr>
        <p:txBody>
          <a:bodyPr wrap="square" lIns="0" tIns="0" rIns="0" bIns="0" rtlCol="0" anchor="ctr">
            <a:normAutofit/>
          </a:bodyPr>
          <a:lstStyle/>
          <a:p>
            <a:pPr indent="0" marL="0">
              <a:buNone/>
            </a:pPr>
            <a:r>
              <a:rPr lang="en-US" sz="780" dirty="0">
                <a:solidFill>
                  <a:srgbClr val="BFD9C9"/>
                </a:solidFill>
                <a:latin typeface="Calibri" pitchFamily="34" charset="0"/>
                <a:ea typeface="Calibri" pitchFamily="34" charset="-122"/>
                <a:cs typeface="Calibri" pitchFamily="34" charset="-120"/>
              </a:rPr>
              <a:t>Reuse ingestion, calculations, evidence and AI workflows instead of rebuilding them product by product.</a:t>
            </a:r>
            <a:endParaRPr lang="en-US" sz="780" dirty="0"/>
          </a:p>
        </p:txBody>
      </p:sp>
      <p:sp>
        <p:nvSpPr>
          <p:cNvPr id="33" name="Shape 31"/>
          <p:cNvSpPr/>
          <p:nvPr/>
        </p:nvSpPr>
        <p:spPr>
          <a:xfrm>
            <a:off x="6391656" y="3831336"/>
            <a:ext cx="4958791" cy="0"/>
          </a:xfrm>
          <a:prstGeom prst="line">
            <a:avLst/>
          </a:prstGeom>
          <a:noFill/>
          <a:ln w="6350">
            <a:solidFill>
              <a:srgbClr val="32654B"/>
            </a:solidFill>
            <a:prstDash val="solid"/>
          </a:ln>
        </p:spPr>
      </p:sp>
      <p:sp>
        <p:nvSpPr>
          <p:cNvPr id="34" name="Text 32"/>
          <p:cNvSpPr/>
          <p:nvPr/>
        </p:nvSpPr>
        <p:spPr>
          <a:xfrm>
            <a:off x="6391656" y="3931920"/>
            <a:ext cx="1600200" cy="164592"/>
          </a:xfrm>
          <a:prstGeom prst="rect">
            <a:avLst/>
          </a:prstGeom>
          <a:noFill/>
          <a:ln/>
        </p:spPr>
        <p:txBody>
          <a:bodyPr wrap="square" lIns="0" tIns="0" rIns="0" bIns="0" rtlCol="0" anchor="ctr">
            <a:normAutofit/>
          </a:bodyPr>
          <a:lstStyle/>
          <a:p>
            <a:pPr indent="0" marL="0">
              <a:buNone/>
            </a:pPr>
            <a:r>
              <a:rPr lang="en-US" sz="700" b="1" spc="50" kern="0" dirty="0">
                <a:solidFill>
                  <a:srgbClr val="BFD9C9"/>
                </a:solidFill>
                <a:latin typeface="Calibri" pitchFamily="34" charset="0"/>
                <a:ea typeface="Calibri" pitchFamily="34" charset="-122"/>
                <a:cs typeface="Calibri" pitchFamily="34" charset="-120"/>
              </a:rPr>
              <a:t>03  RISK AND CAPITAL</a:t>
            </a:r>
            <a:endParaRPr lang="en-US" sz="700" dirty="0"/>
          </a:p>
        </p:txBody>
      </p:sp>
      <p:sp>
        <p:nvSpPr>
          <p:cNvPr id="35" name="Text 33"/>
          <p:cNvSpPr/>
          <p:nvPr/>
        </p:nvSpPr>
        <p:spPr>
          <a:xfrm>
            <a:off x="8019288" y="3913632"/>
            <a:ext cx="3331159" cy="219456"/>
          </a:xfrm>
          <a:prstGeom prst="rect">
            <a:avLst/>
          </a:prstGeom>
          <a:noFill/>
          <a:ln/>
        </p:spPr>
        <p:txBody>
          <a:bodyPr wrap="square" lIns="0" tIns="0" rIns="0" bIns="0" rtlCol="0" anchor="ctr">
            <a:normAutofit/>
          </a:bodyPr>
          <a:lstStyle/>
          <a:p>
            <a:pPr algn="r" indent="0" marL="0">
              <a:buNone/>
            </a:pPr>
            <a:r>
              <a:rPr lang="en-US" sz="1150" b="1" dirty="0">
                <a:solidFill>
                  <a:srgbClr val="CDFC57"/>
                </a:solidFill>
                <a:latin typeface="Calibri" pitchFamily="34" charset="0"/>
                <a:ea typeface="Calibri" pitchFamily="34" charset="-122"/>
                <a:cs typeface="Calibri" pitchFamily="34" charset="-120"/>
              </a:rPr>
              <a:t>[€ exposure avoided or repriced]</a:t>
            </a:r>
            <a:endParaRPr lang="en-US" sz="1150" dirty="0"/>
          </a:p>
        </p:txBody>
      </p:sp>
      <p:sp>
        <p:nvSpPr>
          <p:cNvPr id="36" name="Text 34"/>
          <p:cNvSpPr/>
          <p:nvPr/>
        </p:nvSpPr>
        <p:spPr>
          <a:xfrm>
            <a:off x="6391656" y="4187952"/>
            <a:ext cx="4958791" cy="283464"/>
          </a:xfrm>
          <a:prstGeom prst="rect">
            <a:avLst/>
          </a:prstGeom>
          <a:noFill/>
          <a:ln/>
        </p:spPr>
        <p:txBody>
          <a:bodyPr wrap="square" lIns="0" tIns="0" rIns="0" bIns="0" rtlCol="0" anchor="ctr">
            <a:normAutofit/>
          </a:bodyPr>
          <a:lstStyle/>
          <a:p>
            <a:pPr indent="0" marL="0">
              <a:buNone/>
            </a:pPr>
            <a:r>
              <a:rPr lang="en-US" sz="780" dirty="0">
                <a:solidFill>
                  <a:srgbClr val="BFD9C9"/>
                </a:solidFill>
                <a:latin typeface="Calibri" pitchFamily="34" charset="0"/>
                <a:ea typeface="Calibri" pitchFamily="34" charset="-122"/>
                <a:cs typeface="Calibri" pitchFamily="34" charset="-120"/>
              </a:rPr>
              <a:t>Translate climate exposure into financial terms and direct adaptation capital toward the highest-value response.</a:t>
            </a:r>
            <a:endParaRPr lang="en-US" sz="780" dirty="0"/>
          </a:p>
        </p:txBody>
      </p:sp>
      <p:sp>
        <p:nvSpPr>
          <p:cNvPr id="37" name="Shape 35"/>
          <p:cNvSpPr/>
          <p:nvPr/>
        </p:nvSpPr>
        <p:spPr>
          <a:xfrm>
            <a:off x="621792" y="4992624"/>
            <a:ext cx="10948111" cy="438912"/>
          </a:xfrm>
          <a:prstGeom prst="roundRect">
            <a:avLst>
              <a:gd name="adj" fmla="val 8333"/>
            </a:avLst>
          </a:prstGeom>
          <a:solidFill>
            <a:srgbClr val="EAF8ED"/>
          </a:solidFill>
          <a:ln w="8890">
            <a:solidFill>
              <a:srgbClr val="3DCD58">
                <a:alpha val="45000"/>
              </a:srgbClr>
            </a:solidFill>
            <a:prstDash val="solid"/>
          </a:ln>
        </p:spPr>
      </p:sp>
      <p:sp>
        <p:nvSpPr>
          <p:cNvPr id="38" name="Text 36"/>
          <p:cNvSpPr/>
          <p:nvPr/>
        </p:nvSpPr>
        <p:spPr>
          <a:xfrm>
            <a:off x="804672" y="4992624"/>
            <a:ext cx="10582351" cy="438912"/>
          </a:xfrm>
          <a:prstGeom prst="rect">
            <a:avLst/>
          </a:prstGeom>
          <a:noFill/>
          <a:ln/>
        </p:spPr>
        <p:txBody>
          <a:bodyPr wrap="square" lIns="0" tIns="0" rIns="0" bIns="0" rtlCol="0" anchor="ctr">
            <a:normAutofit/>
          </a:bodyPr>
          <a:lstStyle/>
          <a:p>
            <a:pPr algn="ctr" indent="0" marL="0">
              <a:buNone/>
            </a:pPr>
            <a:r>
              <a:rPr lang="en-US" sz="1050" b="1" dirty="0">
                <a:solidFill>
                  <a:srgbClr val="1E2420"/>
                </a:solidFill>
                <a:latin typeface="Calibri" pitchFamily="34" charset="0"/>
                <a:ea typeface="Calibri" pitchFamily="34" charset="-122"/>
                <a:cs typeface="Calibri" pitchFamily="34" charset="-120"/>
              </a:rPr>
              <a:t>[€ TOTAL VALUE] − [€ INCREMENTAL COST] = [€ NET VALUE]  |  [X.X× BENEFIT / COST]  |  [XX-MONTH PAYBACK]</a:t>
            </a:r>
            <a:endParaRPr lang="en-US" sz="1050" dirty="0"/>
          </a:p>
        </p:txBody>
      </p:sp>
      <p:sp>
        <p:nvSpPr>
          <p:cNvPr id="39" name="Shape 37"/>
          <p:cNvSpPr/>
          <p:nvPr/>
        </p:nvSpPr>
        <p:spPr>
          <a:xfrm>
            <a:off x="621792" y="5577840"/>
            <a:ext cx="2737028" cy="329184"/>
          </a:xfrm>
          <a:prstGeom prst="rect">
            <a:avLst/>
          </a:prstGeom>
          <a:solidFill>
            <a:srgbClr val="FFFFFF"/>
          </a:solidFill>
          <a:ln w="5080">
            <a:solidFill>
              <a:srgbClr val="E2E6E2"/>
            </a:solidFill>
            <a:prstDash val="solid"/>
          </a:ln>
        </p:spPr>
      </p:sp>
      <p:sp>
        <p:nvSpPr>
          <p:cNvPr id="40" name="Shape 38"/>
          <p:cNvSpPr/>
          <p:nvPr/>
        </p:nvSpPr>
        <p:spPr>
          <a:xfrm>
            <a:off x="621792" y="5577840"/>
            <a:ext cx="45720" cy="329184"/>
          </a:xfrm>
          <a:prstGeom prst="rect">
            <a:avLst/>
          </a:prstGeom>
          <a:solidFill>
            <a:srgbClr val="3DCD58"/>
          </a:solidFill>
          <a:ln w="12700">
            <a:solidFill>
              <a:srgbClr val="3DCD58"/>
            </a:solidFill>
            <a:prstDash val="solid"/>
          </a:ln>
        </p:spPr>
      </p:sp>
      <p:sp>
        <p:nvSpPr>
          <p:cNvPr id="41" name="Text 39"/>
          <p:cNvSpPr/>
          <p:nvPr/>
        </p:nvSpPr>
        <p:spPr>
          <a:xfrm>
            <a:off x="749808" y="5577840"/>
            <a:ext cx="2517572" cy="329184"/>
          </a:xfrm>
          <a:prstGeom prst="rect">
            <a:avLst/>
          </a:prstGeom>
          <a:noFill/>
          <a:ln/>
        </p:spPr>
        <p:txBody>
          <a:bodyPr wrap="square" lIns="0" tIns="0" rIns="0" bIns="0" rtlCol="0" anchor="ctr">
            <a:normAutofit/>
          </a:bodyPr>
          <a:lstStyle/>
          <a:p>
            <a:pPr indent="0" marL="0">
              <a:buNone/>
            </a:pPr>
            <a:r>
              <a:rPr lang="en-US" sz="800" b="1" dirty="0">
                <a:solidFill>
                  <a:srgbClr val="1E2420"/>
                </a:solidFill>
                <a:latin typeface="Calibri" pitchFamily="34" charset="0"/>
                <a:ea typeface="Calibri" pitchFamily="34" charset="-122"/>
                <a:cs typeface="Calibri" pitchFamily="34" charset="-120"/>
              </a:rPr>
              <a:t>01  Finance baseline</a:t>
            </a:r>
            <a:endParaRPr lang="en-US" sz="800" dirty="0"/>
          </a:p>
        </p:txBody>
      </p:sp>
      <p:sp>
        <p:nvSpPr>
          <p:cNvPr id="42" name="Shape 40"/>
          <p:cNvSpPr/>
          <p:nvPr/>
        </p:nvSpPr>
        <p:spPr>
          <a:xfrm>
            <a:off x="3358820" y="5577840"/>
            <a:ext cx="2737028" cy="329184"/>
          </a:xfrm>
          <a:prstGeom prst="rect">
            <a:avLst/>
          </a:prstGeom>
          <a:solidFill>
            <a:srgbClr val="F1F3F2"/>
          </a:solidFill>
          <a:ln w="5080">
            <a:solidFill>
              <a:srgbClr val="E2E6E2"/>
            </a:solidFill>
            <a:prstDash val="solid"/>
          </a:ln>
        </p:spPr>
      </p:sp>
      <p:sp>
        <p:nvSpPr>
          <p:cNvPr id="43" name="Shape 41"/>
          <p:cNvSpPr/>
          <p:nvPr/>
        </p:nvSpPr>
        <p:spPr>
          <a:xfrm>
            <a:off x="3358820" y="5577840"/>
            <a:ext cx="45720" cy="329184"/>
          </a:xfrm>
          <a:prstGeom prst="rect">
            <a:avLst/>
          </a:prstGeom>
          <a:solidFill>
            <a:srgbClr val="3DCD58"/>
          </a:solidFill>
          <a:ln w="12700">
            <a:solidFill>
              <a:srgbClr val="3DCD58"/>
            </a:solidFill>
            <a:prstDash val="solid"/>
          </a:ln>
        </p:spPr>
      </p:sp>
      <p:sp>
        <p:nvSpPr>
          <p:cNvPr id="44" name="Text 42"/>
          <p:cNvSpPr/>
          <p:nvPr/>
        </p:nvSpPr>
        <p:spPr>
          <a:xfrm>
            <a:off x="3486836" y="5577840"/>
            <a:ext cx="2517572" cy="329184"/>
          </a:xfrm>
          <a:prstGeom prst="rect">
            <a:avLst/>
          </a:prstGeom>
          <a:noFill/>
          <a:ln/>
        </p:spPr>
        <p:txBody>
          <a:bodyPr wrap="square" lIns="0" tIns="0" rIns="0" bIns="0" rtlCol="0" anchor="ctr">
            <a:normAutofit/>
          </a:bodyPr>
          <a:lstStyle/>
          <a:p>
            <a:pPr indent="0" marL="0">
              <a:buNone/>
            </a:pPr>
            <a:r>
              <a:rPr lang="en-US" sz="800" b="1" dirty="0">
                <a:solidFill>
                  <a:srgbClr val="1E2420"/>
                </a:solidFill>
                <a:latin typeface="Calibri" pitchFamily="34" charset="0"/>
                <a:ea typeface="Calibri" pitchFamily="34" charset="-122"/>
                <a:cs typeface="Calibri" pitchFamily="34" charset="-120"/>
              </a:rPr>
              <a:t>02  Benefits owners</a:t>
            </a:r>
            <a:endParaRPr lang="en-US" sz="800" dirty="0"/>
          </a:p>
        </p:txBody>
      </p:sp>
      <p:sp>
        <p:nvSpPr>
          <p:cNvPr id="45" name="Shape 43"/>
          <p:cNvSpPr/>
          <p:nvPr/>
        </p:nvSpPr>
        <p:spPr>
          <a:xfrm>
            <a:off x="6095848" y="5577840"/>
            <a:ext cx="2737028" cy="329184"/>
          </a:xfrm>
          <a:prstGeom prst="rect">
            <a:avLst/>
          </a:prstGeom>
          <a:solidFill>
            <a:srgbClr val="FFFFFF"/>
          </a:solidFill>
          <a:ln w="5080">
            <a:solidFill>
              <a:srgbClr val="E2E6E2"/>
            </a:solidFill>
            <a:prstDash val="solid"/>
          </a:ln>
        </p:spPr>
      </p:sp>
      <p:sp>
        <p:nvSpPr>
          <p:cNvPr id="46" name="Shape 44"/>
          <p:cNvSpPr/>
          <p:nvPr/>
        </p:nvSpPr>
        <p:spPr>
          <a:xfrm>
            <a:off x="6095848" y="5577840"/>
            <a:ext cx="45720" cy="329184"/>
          </a:xfrm>
          <a:prstGeom prst="rect">
            <a:avLst/>
          </a:prstGeom>
          <a:solidFill>
            <a:srgbClr val="3DCD58"/>
          </a:solidFill>
          <a:ln w="12700">
            <a:solidFill>
              <a:srgbClr val="3DCD58"/>
            </a:solidFill>
            <a:prstDash val="solid"/>
          </a:ln>
        </p:spPr>
      </p:sp>
      <p:sp>
        <p:nvSpPr>
          <p:cNvPr id="47" name="Text 45"/>
          <p:cNvSpPr/>
          <p:nvPr/>
        </p:nvSpPr>
        <p:spPr>
          <a:xfrm>
            <a:off x="6223864" y="5577840"/>
            <a:ext cx="2517572" cy="329184"/>
          </a:xfrm>
          <a:prstGeom prst="rect">
            <a:avLst/>
          </a:prstGeom>
          <a:noFill/>
          <a:ln/>
        </p:spPr>
        <p:txBody>
          <a:bodyPr wrap="square" lIns="0" tIns="0" rIns="0" bIns="0" rtlCol="0" anchor="ctr">
            <a:normAutofit/>
          </a:bodyPr>
          <a:lstStyle/>
          <a:p>
            <a:pPr indent="0" marL="0">
              <a:buNone/>
            </a:pPr>
            <a:r>
              <a:rPr lang="en-US" sz="800" b="1" dirty="0">
                <a:solidFill>
                  <a:srgbClr val="1E2420"/>
                </a:solidFill>
                <a:latin typeface="Calibri" pitchFamily="34" charset="0"/>
                <a:ea typeface="Calibri" pitchFamily="34" charset="-122"/>
                <a:cs typeface="Calibri" pitchFamily="34" charset="-120"/>
              </a:rPr>
              <a:t>03  Quarterly evidence</a:t>
            </a:r>
            <a:endParaRPr lang="en-US" sz="800" dirty="0"/>
          </a:p>
        </p:txBody>
      </p:sp>
      <p:sp>
        <p:nvSpPr>
          <p:cNvPr id="48" name="Shape 46"/>
          <p:cNvSpPr/>
          <p:nvPr/>
        </p:nvSpPr>
        <p:spPr>
          <a:xfrm>
            <a:off x="8832875" y="5577840"/>
            <a:ext cx="2737028" cy="329184"/>
          </a:xfrm>
          <a:prstGeom prst="rect">
            <a:avLst/>
          </a:prstGeom>
          <a:solidFill>
            <a:srgbClr val="F1F3F2"/>
          </a:solidFill>
          <a:ln w="5080">
            <a:solidFill>
              <a:srgbClr val="E2E6E2"/>
            </a:solidFill>
            <a:prstDash val="solid"/>
          </a:ln>
        </p:spPr>
      </p:sp>
      <p:sp>
        <p:nvSpPr>
          <p:cNvPr id="49" name="Shape 47"/>
          <p:cNvSpPr/>
          <p:nvPr/>
        </p:nvSpPr>
        <p:spPr>
          <a:xfrm>
            <a:off x="8832875" y="5577840"/>
            <a:ext cx="45720" cy="329184"/>
          </a:xfrm>
          <a:prstGeom prst="rect">
            <a:avLst/>
          </a:prstGeom>
          <a:solidFill>
            <a:srgbClr val="3DCD58"/>
          </a:solidFill>
          <a:ln w="12700">
            <a:solidFill>
              <a:srgbClr val="3DCD58"/>
            </a:solidFill>
            <a:prstDash val="solid"/>
          </a:ln>
        </p:spPr>
      </p:sp>
      <p:sp>
        <p:nvSpPr>
          <p:cNvPr id="50" name="Text 48"/>
          <p:cNvSpPr/>
          <p:nvPr/>
        </p:nvSpPr>
        <p:spPr>
          <a:xfrm>
            <a:off x="8960891" y="5577840"/>
            <a:ext cx="2517572" cy="329184"/>
          </a:xfrm>
          <a:prstGeom prst="rect">
            <a:avLst/>
          </a:prstGeom>
          <a:noFill/>
          <a:ln/>
        </p:spPr>
        <p:txBody>
          <a:bodyPr wrap="square" lIns="0" tIns="0" rIns="0" bIns="0" rtlCol="0" anchor="ctr">
            <a:normAutofit/>
          </a:bodyPr>
          <a:lstStyle/>
          <a:p>
            <a:pPr indent="0" marL="0">
              <a:buNone/>
            </a:pPr>
            <a:r>
              <a:rPr lang="en-US" sz="800" b="1" dirty="0">
                <a:solidFill>
                  <a:srgbClr val="1E2420"/>
                </a:solidFill>
                <a:latin typeface="Calibri" pitchFamily="34" charset="0"/>
                <a:ea typeface="Calibri" pitchFamily="34" charset="-122"/>
                <a:cs typeface="Calibri" pitchFamily="34" charset="-120"/>
              </a:rPr>
              <a:t>04  Scale or stop gates</a:t>
            </a:r>
            <a:endParaRPr lang="en-US" sz="800" dirty="0"/>
          </a:p>
        </p:txBody>
      </p:sp>
      <p:sp>
        <p:nvSpPr>
          <p:cNvPr id="51" name="Shape 49"/>
          <p:cNvSpPr/>
          <p:nvPr/>
        </p:nvSpPr>
        <p:spPr>
          <a:xfrm>
            <a:off x="621792" y="6044184"/>
            <a:ext cx="10948111" cy="438912"/>
          </a:xfrm>
          <a:prstGeom prst="roundRect">
            <a:avLst>
              <a:gd name="adj" fmla="val 8333"/>
            </a:avLst>
          </a:prstGeom>
          <a:solidFill>
            <a:srgbClr val="005730"/>
          </a:solidFill>
          <a:ln w="12700">
            <a:solidFill>
              <a:srgbClr val="005730"/>
            </a:solidFill>
            <a:prstDash val="solid"/>
          </a:ln>
        </p:spPr>
      </p:sp>
      <p:sp>
        <p:nvSpPr>
          <p:cNvPr id="52" name="Shape 50"/>
          <p:cNvSpPr/>
          <p:nvPr/>
        </p:nvSpPr>
        <p:spPr>
          <a:xfrm>
            <a:off x="621792" y="6044184"/>
            <a:ext cx="1371600" cy="438912"/>
          </a:xfrm>
          <a:prstGeom prst="rect">
            <a:avLst/>
          </a:prstGeom>
          <a:solidFill>
            <a:srgbClr val="3DCD58"/>
          </a:solidFill>
          <a:ln w="12700">
            <a:solidFill>
              <a:srgbClr val="3DCD58"/>
            </a:solidFill>
            <a:prstDash val="solid"/>
          </a:ln>
        </p:spPr>
      </p:sp>
      <p:sp>
        <p:nvSpPr>
          <p:cNvPr id="53" name="Text 51"/>
          <p:cNvSpPr/>
          <p:nvPr/>
        </p:nvSpPr>
        <p:spPr>
          <a:xfrm>
            <a:off x="731520" y="6044184"/>
            <a:ext cx="1152144" cy="438912"/>
          </a:xfrm>
          <a:prstGeom prst="rect">
            <a:avLst/>
          </a:prstGeom>
          <a:noFill/>
          <a:ln/>
        </p:spPr>
        <p:txBody>
          <a:bodyPr wrap="square" lIns="0" tIns="0" rIns="0" bIns="0" rtlCol="0" anchor="ctr"/>
          <a:lstStyle/>
          <a:p>
            <a:pPr algn="ctr" indent="0" marL="0">
              <a:buNone/>
            </a:pPr>
            <a:r>
              <a:rPr lang="en-US" sz="750" b="1" dirty="0">
                <a:solidFill>
                  <a:srgbClr val="005730"/>
                </a:solidFill>
                <a:latin typeface="Calibri" pitchFamily="34" charset="0"/>
                <a:ea typeface="Calibri" pitchFamily="34" charset="-122"/>
                <a:cs typeface="Calibri" pitchFamily="34" charset="-120"/>
              </a:rPr>
              <a:t>BOARD DECISION</a:t>
            </a:r>
            <a:endParaRPr lang="en-US" sz="750" dirty="0"/>
          </a:p>
        </p:txBody>
      </p:sp>
      <p:sp>
        <p:nvSpPr>
          <p:cNvPr id="54" name="Text 52"/>
          <p:cNvSpPr/>
          <p:nvPr/>
        </p:nvSpPr>
        <p:spPr>
          <a:xfrm>
            <a:off x="2176272" y="6089904"/>
            <a:ext cx="9210751" cy="347472"/>
          </a:xfrm>
          <a:prstGeom prst="rect">
            <a:avLst/>
          </a:prstGeom>
          <a:noFill/>
          <a:ln/>
        </p:spPr>
        <p:txBody>
          <a:bodyPr wrap="square" lIns="0" tIns="0" rIns="0" bIns="0" rtlCol="0" anchor="ctr">
            <a:normAutofit/>
          </a:bodyPr>
          <a:lstStyle/>
          <a:p>
            <a:pPr indent="0" marL="0">
              <a:buNone/>
            </a:pPr>
            <a:r>
              <a:rPr lang="en-US" sz="850" b="1" dirty="0">
                <a:solidFill>
                  <a:srgbClr val="FFFFFF"/>
                </a:solidFill>
                <a:latin typeface="Calibri" pitchFamily="34" charset="0"/>
                <a:ea typeface="Calibri" pitchFamily="34" charset="-122"/>
                <a:cs typeface="Calibri" pitchFamily="34" charset="-120"/>
              </a:rPr>
              <a:t>Approve the investment envelope only with named benefit owners, agreed baselines, and quarterly release gates tied to realized value.</a:t>
            </a:r>
            <a:endParaRPr lang="en-US" sz="850" dirty="0"/>
          </a:p>
        </p:txBody>
      </p:sp>
      <p:sp>
        <p:nvSpPr>
          <p:cNvPr id="55" name="Shape 53"/>
          <p:cNvSpPr/>
          <p:nvPr/>
        </p:nvSpPr>
        <p:spPr>
          <a:xfrm>
            <a:off x="621792" y="6437376"/>
            <a:ext cx="10948111" cy="0"/>
          </a:xfrm>
          <a:prstGeom prst="line">
            <a:avLst/>
          </a:prstGeom>
          <a:noFill/>
          <a:ln w="9525">
            <a:solidFill>
              <a:srgbClr val="E2E6E2"/>
            </a:solidFill>
            <a:prstDash val="solid"/>
          </a:ln>
        </p:spPr>
      </p:sp>
      <p:sp>
        <p:nvSpPr>
          <p:cNvPr id="56" name="Text 5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57" name="Text 5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92150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59232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EVIDENCE | PROOF POINTS</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The proof is already in named accounts, not in a forecast</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Live commitments, cross-product usage and cost comparison, mapped to the same three value pools used in the cost-benefit case. Monetary amounts stay as placeholders until Finance validates them.</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8.721837609329444e+283" dist="2.9072792031098153e+283"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GROWTH AND RETENTION</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Named strategic accounts</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Committed Q4 2026 delivery dates, not pipeline</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Accor: portfolio data experience, October to December 2026</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Schneider Electric: October to December 2026, then the migration and CSRD cycle in Q1 2027</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Newell Brands and Sanofi: November 2026</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Schneider Electric inventory close: 31 December 2026</a:t>
            </a:r>
            <a:endParaRPr lang="en-US" sz="105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1076733763848394e+288" dist="3.6922445879494656e+287"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PLATFORM ECONOMICS</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Cross-product adoption</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spine already consumed by more than one product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Carbon Performance owns the inventory every other product consumes</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Supply Chain feeds categories 1 and 4 into the CP inventory</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Reporting and Compliance receives data from every other product to facilitate disclosure</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Climate Risk data flows into R&amp;C disclosures and is turned into financial values</a:t>
            </a:r>
            <a:endParaRPr lang="en-US" sz="105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4067451880087461e+292" dist="4.6891506266958215e+291" dir="Infinity">
              <a:srgbClr val="0A1F12">
                <a:alpha val="Infinity"/>
              </a:srgbClr>
            </a:outerShdw>
          </a:effectLst>
        </p:spPr>
      </p:sp>
      <p:sp>
        <p:nvSpPr>
          <p:cNvPr id="22" name="Shape 20"/>
          <p:cNvSpPr/>
          <p:nvPr/>
        </p:nvSpPr>
        <p:spPr>
          <a:xfrm>
            <a:off x="6233008" y="2084832"/>
            <a:ext cx="2531288" cy="73152"/>
          </a:xfrm>
          <a:prstGeom prst="rect">
            <a:avLst/>
          </a:prstGeom>
          <a:solidFill>
            <a:srgbClr val="007A27"/>
          </a:solidFill>
          <a:ln w="12700">
            <a:solidFill>
              <a:srgbClr val="007A27"/>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COST TO SERVE</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TCO comparison</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Separate tools versus one governed platform</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Today: duplicated ingestion, factors and calculation logic per tool, [€ current stack cost]</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With RA+: built once in Core, inherited by six product areas, [€ platform cost]</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Removed: reconciliation between tools, repeated audit evidence, per-tool integration and hypercare</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Net: [€ annual cost removed], the same figure carried in the cost-benefit case</a:t>
            </a:r>
            <a:endParaRPr lang="en-US" sz="105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7865663887711077e+296" dist="5.955221295903693e+295" dir="Infinity">
              <a:srgbClr val="0A1F12">
                <a:alpha val="Infinity"/>
              </a:srgbClr>
            </a:outerShdw>
          </a:effectLst>
        </p:spPr>
      </p:sp>
      <p:sp>
        <p:nvSpPr>
          <p:cNvPr id="28" name="Shape 26"/>
          <p:cNvSpPr/>
          <p:nvPr/>
        </p:nvSpPr>
        <p:spPr>
          <a:xfrm>
            <a:off x="9038615" y="2084832"/>
            <a:ext cx="2531288" cy="73152"/>
          </a:xfrm>
          <a:prstGeom prst="rect">
            <a:avLst/>
          </a:prstGeom>
          <a:solidFill>
            <a:srgbClr val="FFB04C"/>
          </a:solidFill>
          <a:ln w="12700">
            <a:solidFill>
              <a:srgbClr val="FFB04C"/>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GUARDRAIL</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What is proof and what is not</a:t>
            </a:r>
            <a:endParaRPr lang="en-US" sz="14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Keep the board honest about the evidence base</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Account dates and cross-product dependencies are committed roadmap facts</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Adoption breadth is a leading indicator, reported separately from realized value</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All euro amounts require the Finance baseline agreed at Gate 1</a:t>
            </a:r>
            <a:endParaRPr lang="en-US" sz="105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CAPITAL ALLOCATION</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the incremental investment goes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Indicative shares of the incremental envelope. Amounts remain subject to Finance validation.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2.2689393137393066e+300" dist="7.56313104579769e+299"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POOL 01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Product and platform capacity</a:t>
            </a:r>
            <a:endParaRPr lang="en-US" sz="14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 of envelope] | [€ amount to validate]</a:t>
            </a:r>
            <a:endParaRPr lang="en-US" sz="1100" dirty="0"/>
          </a:p>
        </p:txBody>
      </p:sp>
      <p:sp>
        <p:nvSpPr>
          <p:cNvPr id="14" name="Text 12"/>
          <p:cNvSpPr/>
          <p:nvPr/>
        </p:nvSpPr>
        <p:spPr>
          <a:xfrm>
            <a:off x="822960"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Core data spine, ontology and calculation governance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delivery across the six areas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workflows built on governed context</a:t>
            </a:r>
            <a:endParaRPr lang="en-US" sz="1100" dirty="0"/>
          </a:p>
        </p:txBody>
      </p:sp>
      <p:sp>
        <p:nvSpPr>
          <p:cNvPr id="15" name="Shape 13"/>
          <p:cNvSpPr/>
          <p:nvPr/>
        </p:nvSpPr>
        <p:spPr>
          <a:xfrm>
            <a:off x="3427400"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2.8815529284489193e+304" dist="9.605176428163068e+303"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POOL 02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Migration and enablement</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 of envelope] | [€ amount to validate]</a:t>
            </a:r>
            <a:endParaRPr lang="en-US" sz="1100" dirty="0"/>
          </a:p>
        </p:txBody>
      </p:sp>
      <p:sp>
        <p:nvSpPr>
          <p:cNvPr id="20" name="Text 18"/>
          <p:cNvSpPr/>
          <p:nvPr/>
        </p:nvSpPr>
        <p:spPr>
          <a:xfrm>
            <a:off x="3628568"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Schneider Electric migration and CSRD cycle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Client onboarding and data quality uplift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Delivery tooling that reduces hypercare drag</a:t>
            </a:r>
            <a:endParaRPr lang="en-US" sz="1100" dirty="0"/>
          </a:p>
        </p:txBody>
      </p:sp>
      <p:sp>
        <p:nvSpPr>
          <p:cNvPr id="21" name="Shape 19"/>
          <p:cNvSpPr/>
          <p:nvPr/>
        </p:nvSpPr>
        <p:spPr>
          <a:xfrm>
            <a:off x="6233008"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1.2198574063767096e+308" dir="Infinity">
              <a:srgbClr val="0A1F12">
                <a:alpha val="Infinity"/>
              </a:srgbClr>
            </a:outerShdw>
          </a:effectLst>
        </p:spPr>
      </p:sp>
      <p:sp>
        <p:nvSpPr>
          <p:cNvPr id="22" name="Shape 20"/>
          <p:cNvSpPr/>
          <p:nvPr/>
        </p:nvSpPr>
        <p:spPr>
          <a:xfrm>
            <a:off x="6233008" y="2084832"/>
            <a:ext cx="2531288" cy="73152"/>
          </a:xfrm>
          <a:prstGeom prst="rect">
            <a:avLst/>
          </a:prstGeom>
          <a:solidFill>
            <a:srgbClr val="007A27"/>
          </a:solidFill>
          <a:ln w="12700">
            <a:solidFill>
              <a:srgbClr val="007A27"/>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POOL 03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Go-to-market and assurance</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 of envelope] | [€ amount to validate]</a:t>
            </a:r>
            <a:endParaRPr lang="en-US" sz="1100" dirty="0"/>
          </a:p>
        </p:txBody>
      </p:sp>
      <p:sp>
        <p:nvSpPr>
          <p:cNvPr id="26" name="Text 24"/>
          <p:cNvSpPr/>
          <p:nvPr/>
        </p:nvSpPr>
        <p:spPr>
          <a:xfrm>
            <a:off x="6434176"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Lighthouse accounts and proof packs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Commercial model rollout and enablement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assurance and evidence readiness</a:t>
            </a:r>
            <a:endParaRPr lang="en-US" sz="1100" dirty="0"/>
          </a:p>
        </p:txBody>
      </p:sp>
      <p:sp>
        <p:nvSpPr>
          <p:cNvPr id="27" name="Shape 25"/>
          <p:cNvSpPr/>
          <p:nvPr/>
        </p:nvSpPr>
        <p:spPr>
          <a:xfrm>
            <a:off x="9038615"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FFB04C"/>
          </a:solidFill>
          <a:ln w="12700">
            <a:solidFill>
              <a:srgbClr val="FFB04C"/>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GUARDRAIL</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Protected core share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Roughly one third of capacity reserved for Core Platform</a:t>
            </a:r>
            <a:endParaRPr lang="en-US" sz="1100" dirty="0"/>
          </a:p>
        </p:txBody>
      </p:sp>
      <p:sp>
        <p:nvSpPr>
          <p:cNvPr id="32" name="Text 30"/>
          <p:cNvSpPr/>
          <p:nvPr/>
        </p:nvSpPr>
        <p:spPr>
          <a:xfrm>
            <a:off x="9239783"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Core capacity is portfolio capacity, not overhead</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It cannot be traded away product by product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Breaking it delays every downstream outcome</a:t>
            </a:r>
            <a:endParaRPr lang="en-US" sz="1100" dirty="0"/>
          </a:p>
        </p:txBody>
      </p:sp>
      <p:sp>
        <p:nvSpPr>
          <p:cNvPr id="33" name="Shape 31"/>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Infinity" dist="Infinity" dir="Infinity">
              <a:srgbClr val="0A1F12">
                <a:alpha val="Infinity"/>
              </a:srgbClr>
            </a:outerShdw>
          </a:effectLst>
        </p:spPr>
      </p:sp>
      <p:sp>
        <p:nvSpPr>
          <p:cNvPr id="34" name="Shape 32"/>
          <p:cNvSpPr/>
          <p:nvPr/>
        </p:nvSpPr>
        <p:spPr>
          <a:xfrm>
            <a:off x="676656" y="5760720"/>
            <a:ext cx="45720" cy="365760"/>
          </a:xfrm>
          <a:prstGeom prst="rect">
            <a:avLst/>
          </a:prstGeom>
          <a:solidFill>
            <a:srgbClr val="3DCD58"/>
          </a:solidFill>
          <a:ln w="12700">
            <a:solidFill>
              <a:srgbClr val="3DCD58"/>
            </a:solidFill>
            <a:prstDash val="solid"/>
          </a:ln>
        </p:spPr>
      </p:sp>
      <p:sp>
        <p:nvSpPr>
          <p:cNvPr id="35" name="Text 33"/>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Percentages and amounts are placeholders until Finance confirms the envelope.</a:t>
            </a:r>
            <a:endParaRPr lang="en-US" sz="1200" dirty="0"/>
          </a:p>
        </p:txBody>
      </p:sp>
      <p:sp>
        <p:nvSpPr>
          <p:cNvPr id="36" name="Shape 34"/>
          <p:cNvSpPr/>
          <p:nvPr/>
        </p:nvSpPr>
        <p:spPr>
          <a:xfrm>
            <a:off x="621792" y="6437376"/>
            <a:ext cx="10948111" cy="0"/>
          </a:xfrm>
          <a:prstGeom prst="line">
            <a:avLst/>
          </a:prstGeom>
          <a:noFill/>
          <a:ln w="9525">
            <a:solidFill>
              <a:srgbClr val="E2E6E2"/>
            </a:solidFill>
            <a:prstDash val="solid"/>
          </a:ln>
        </p:spPr>
      </p:sp>
      <p:sp>
        <p:nvSpPr>
          <p:cNvPr id="37" name="Text 3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8" name="Text 3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65760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32841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GOVERNANCE | DECISION CALENDAR</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Investment gates through 2027</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Each gate carries an explicit stop, adjust or scale decision.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3419856"/>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3419856"/>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GATE 1</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14" name="Shape 12"/>
          <p:cNvSpPr/>
          <p:nvPr/>
        </p:nvSpPr>
        <p:spPr>
          <a:xfrm>
            <a:off x="758952" y="2953512"/>
            <a:ext cx="2270684" cy="722376"/>
          </a:xfrm>
          <a:prstGeom prst="roundRect">
            <a:avLst>
              <a:gd name="adj" fmla="val 3797"/>
            </a:avLst>
          </a:prstGeom>
          <a:solidFill>
            <a:srgbClr val="F7F8F7"/>
          </a:solidFill>
          <a:ln w="5080">
            <a:solidFill>
              <a:srgbClr val="F7F8F7"/>
            </a:solidFill>
            <a:prstDash val="solid"/>
          </a:ln>
        </p:spPr>
      </p:sp>
      <p:sp>
        <p:nvSpPr>
          <p:cNvPr id="15" name="Text 13"/>
          <p:cNvSpPr/>
          <p:nvPr/>
        </p:nvSpPr>
        <p:spPr>
          <a:xfrm>
            <a:off x="822960" y="2953512"/>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Q4 scope lock</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Ranked cut line held at agreed capacity</a:t>
            </a:r>
            <a:endParaRPr lang="en-US" sz="1000" dirty="0"/>
          </a:p>
        </p:txBody>
      </p:sp>
      <p:sp>
        <p:nvSpPr>
          <p:cNvPr id="16" name="Shape 14"/>
          <p:cNvSpPr/>
          <p:nvPr/>
        </p:nvSpPr>
        <p:spPr>
          <a:xfrm>
            <a:off x="758952" y="3749040"/>
            <a:ext cx="2270684" cy="722376"/>
          </a:xfrm>
          <a:prstGeom prst="roundRect">
            <a:avLst>
              <a:gd name="adj" fmla="val 3797"/>
            </a:avLst>
          </a:prstGeom>
          <a:solidFill>
            <a:srgbClr val="F7F8F7"/>
          </a:solidFill>
          <a:ln w="5080">
            <a:solidFill>
              <a:srgbClr val="F7F8F7"/>
            </a:solidFill>
            <a:prstDash val="solid"/>
          </a:ln>
        </p:spPr>
      </p:sp>
      <p:sp>
        <p:nvSpPr>
          <p:cNvPr id="17" name="Text 15"/>
          <p:cNvSpPr/>
          <p:nvPr/>
        </p:nvSpPr>
        <p:spPr>
          <a:xfrm>
            <a:off x="822960" y="3749040"/>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Finance baselines set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ARR, cost to serve and exposure methods agreed</a:t>
            </a:r>
            <a:endParaRPr lang="en-US" sz="1000" dirty="0"/>
          </a:p>
        </p:txBody>
      </p:sp>
      <p:sp>
        <p:nvSpPr>
          <p:cNvPr id="18" name="Shape 16"/>
          <p:cNvSpPr/>
          <p:nvPr/>
        </p:nvSpPr>
        <p:spPr>
          <a:xfrm>
            <a:off x="758952" y="4544568"/>
            <a:ext cx="2270684" cy="722376"/>
          </a:xfrm>
          <a:prstGeom prst="roundRect">
            <a:avLst>
              <a:gd name="adj" fmla="val 3797"/>
            </a:avLst>
          </a:prstGeom>
          <a:solidFill>
            <a:srgbClr val="F7F8F7"/>
          </a:solidFill>
          <a:ln w="5080">
            <a:solidFill>
              <a:srgbClr val="F7F8F7"/>
            </a:solidFill>
            <a:prstDash val="solid"/>
          </a:ln>
        </p:spPr>
      </p:sp>
      <p:sp>
        <p:nvSpPr>
          <p:cNvPr id="19" name="Text 17"/>
          <p:cNvSpPr/>
          <p:nvPr/>
        </p:nvSpPr>
        <p:spPr>
          <a:xfrm>
            <a:off x="822960" y="4544568"/>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Decision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Approve the 2027 investment envelope</a:t>
            </a:r>
            <a:endParaRPr lang="en-US" sz="1000" dirty="0"/>
          </a:p>
        </p:txBody>
      </p:sp>
      <p:sp>
        <p:nvSpPr>
          <p:cNvPr id="20" name="Shape 18"/>
          <p:cNvSpPr/>
          <p:nvPr/>
        </p:nvSpPr>
        <p:spPr>
          <a:xfrm>
            <a:off x="3422828" y="2084832"/>
            <a:ext cx="2545004" cy="3419856"/>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1" name="Shape 19"/>
          <p:cNvSpPr/>
          <p:nvPr/>
        </p:nvSpPr>
        <p:spPr>
          <a:xfrm>
            <a:off x="3422828" y="2084832"/>
            <a:ext cx="2545004" cy="713232"/>
          </a:xfrm>
          <a:prstGeom prst="rect">
            <a:avLst/>
          </a:prstGeom>
          <a:solidFill>
            <a:srgbClr val="EAF8ED"/>
          </a:solidFill>
          <a:ln w="12700">
            <a:solidFill>
              <a:srgbClr val="EAF8ED"/>
            </a:solidFill>
            <a:prstDash val="solid"/>
          </a:ln>
        </p:spPr>
      </p:sp>
      <p:sp>
        <p:nvSpPr>
          <p:cNvPr id="22" name="Shape 20"/>
          <p:cNvSpPr/>
          <p:nvPr/>
        </p:nvSpPr>
        <p:spPr>
          <a:xfrm>
            <a:off x="3422828" y="2084832"/>
            <a:ext cx="54864" cy="3419856"/>
          </a:xfrm>
          <a:prstGeom prst="rect">
            <a:avLst/>
          </a:prstGeom>
          <a:solidFill>
            <a:srgbClr val="007A27"/>
          </a:solidFill>
          <a:ln w="12700">
            <a:solidFill>
              <a:srgbClr val="007A27"/>
            </a:solidFill>
            <a:prstDash val="solid"/>
          </a:ln>
        </p:spPr>
      </p:sp>
      <p:sp>
        <p:nvSpPr>
          <p:cNvPr id="23" name="Text 21"/>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GATE 2</a:t>
            </a:r>
            <a:endParaRPr lang="en-US" sz="850" dirty="0"/>
          </a:p>
        </p:txBody>
      </p:sp>
      <p:sp>
        <p:nvSpPr>
          <p:cNvPr id="24" name="Text 22"/>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H1 2027</a:t>
            </a:r>
            <a:endParaRPr lang="en-US" sz="1400" dirty="0"/>
          </a:p>
        </p:txBody>
      </p:sp>
      <p:sp>
        <p:nvSpPr>
          <p:cNvPr id="25" name="Shape 23"/>
          <p:cNvSpPr/>
          <p:nvPr/>
        </p:nvSpPr>
        <p:spPr>
          <a:xfrm>
            <a:off x="3559988" y="2953512"/>
            <a:ext cx="2270684" cy="722376"/>
          </a:xfrm>
          <a:prstGeom prst="roundRect">
            <a:avLst>
              <a:gd name="adj" fmla="val 3797"/>
            </a:avLst>
          </a:prstGeom>
          <a:solidFill>
            <a:srgbClr val="F7F8F7"/>
          </a:solidFill>
          <a:ln w="5080">
            <a:solidFill>
              <a:srgbClr val="F7F8F7"/>
            </a:solidFill>
            <a:prstDash val="solid"/>
          </a:ln>
        </p:spPr>
      </p:sp>
      <p:sp>
        <p:nvSpPr>
          <p:cNvPr id="26" name="Text 24"/>
          <p:cNvSpPr/>
          <p:nvPr/>
        </p:nvSpPr>
        <p:spPr>
          <a:xfrm>
            <a:off x="3623996" y="2953512"/>
            <a:ext cx="2142668" cy="722376"/>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Migration and CSRD cycle complete</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Schneider Electric cycle delivered</a:t>
            </a:r>
            <a:endParaRPr lang="en-US" sz="950" dirty="0"/>
          </a:p>
        </p:txBody>
      </p:sp>
      <p:sp>
        <p:nvSpPr>
          <p:cNvPr id="27" name="Shape 25"/>
          <p:cNvSpPr/>
          <p:nvPr/>
        </p:nvSpPr>
        <p:spPr>
          <a:xfrm>
            <a:off x="3559988" y="3749040"/>
            <a:ext cx="2270684" cy="722376"/>
          </a:xfrm>
          <a:prstGeom prst="roundRect">
            <a:avLst>
              <a:gd name="adj" fmla="val 3797"/>
            </a:avLst>
          </a:prstGeom>
          <a:solidFill>
            <a:srgbClr val="F7F8F7"/>
          </a:solidFill>
          <a:ln w="5080">
            <a:solidFill>
              <a:srgbClr val="F7F8F7"/>
            </a:solidFill>
            <a:prstDash val="solid"/>
          </a:ln>
        </p:spPr>
      </p:sp>
      <p:sp>
        <p:nvSpPr>
          <p:cNvPr id="28" name="Text 26"/>
          <p:cNvSpPr/>
          <p:nvPr/>
        </p:nvSpPr>
        <p:spPr>
          <a:xfrm>
            <a:off x="3623996" y="3749040"/>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Data quality thresholds met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Core Platform readiness evidenced</a:t>
            </a:r>
            <a:endParaRPr lang="en-US" sz="1000" dirty="0"/>
          </a:p>
        </p:txBody>
      </p:sp>
      <p:sp>
        <p:nvSpPr>
          <p:cNvPr id="29" name="Shape 27"/>
          <p:cNvSpPr/>
          <p:nvPr/>
        </p:nvSpPr>
        <p:spPr>
          <a:xfrm>
            <a:off x="3559988" y="4544568"/>
            <a:ext cx="2270684" cy="722376"/>
          </a:xfrm>
          <a:prstGeom prst="roundRect">
            <a:avLst>
              <a:gd name="adj" fmla="val 3797"/>
            </a:avLst>
          </a:prstGeom>
          <a:solidFill>
            <a:srgbClr val="F7F8F7"/>
          </a:solidFill>
          <a:ln w="5080">
            <a:solidFill>
              <a:srgbClr val="F7F8F7"/>
            </a:solidFill>
            <a:prstDash val="solid"/>
          </a:ln>
        </p:spPr>
      </p:sp>
      <p:sp>
        <p:nvSpPr>
          <p:cNvPr id="30" name="Text 28"/>
          <p:cNvSpPr/>
          <p:nvPr/>
        </p:nvSpPr>
        <p:spPr>
          <a:xfrm>
            <a:off x="3623996" y="4544568"/>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Decision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Scale, adjust or stop the next tranche</a:t>
            </a:r>
            <a:endParaRPr lang="en-US" sz="1000" dirty="0"/>
          </a:p>
        </p:txBody>
      </p:sp>
      <p:sp>
        <p:nvSpPr>
          <p:cNvPr id="31" name="Shape 29"/>
          <p:cNvSpPr/>
          <p:nvPr/>
        </p:nvSpPr>
        <p:spPr>
          <a:xfrm>
            <a:off x="6223864" y="2084832"/>
            <a:ext cx="2545004" cy="3419856"/>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2" name="Shape 30"/>
          <p:cNvSpPr/>
          <p:nvPr/>
        </p:nvSpPr>
        <p:spPr>
          <a:xfrm>
            <a:off x="6223864" y="2084832"/>
            <a:ext cx="2545004" cy="713232"/>
          </a:xfrm>
          <a:prstGeom prst="rect">
            <a:avLst/>
          </a:prstGeom>
          <a:solidFill>
            <a:srgbClr val="EAF8ED"/>
          </a:solidFill>
          <a:ln w="12700">
            <a:solidFill>
              <a:srgbClr val="EAF8ED"/>
            </a:solidFill>
            <a:prstDash val="solid"/>
          </a:ln>
        </p:spPr>
      </p:sp>
      <p:sp>
        <p:nvSpPr>
          <p:cNvPr id="33" name="Shape 31"/>
          <p:cNvSpPr/>
          <p:nvPr/>
        </p:nvSpPr>
        <p:spPr>
          <a:xfrm>
            <a:off x="6223864" y="2084832"/>
            <a:ext cx="54864" cy="3419856"/>
          </a:xfrm>
          <a:prstGeom prst="rect">
            <a:avLst/>
          </a:prstGeom>
          <a:solidFill>
            <a:srgbClr val="007A27"/>
          </a:solidFill>
          <a:ln w="12700">
            <a:solidFill>
              <a:srgbClr val="007A27"/>
            </a:solidFill>
            <a:prstDash val="solid"/>
          </a:ln>
        </p:spPr>
      </p:sp>
      <p:sp>
        <p:nvSpPr>
          <p:cNvPr id="34" name="Text 32"/>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GATE 3</a:t>
            </a:r>
            <a:endParaRPr lang="en-US" sz="850" dirty="0"/>
          </a:p>
        </p:txBody>
      </p:sp>
      <p:sp>
        <p:nvSpPr>
          <p:cNvPr id="35" name="Text 33"/>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H2 2027</a:t>
            </a:r>
            <a:endParaRPr lang="en-US" sz="1400" dirty="0"/>
          </a:p>
        </p:txBody>
      </p:sp>
      <p:sp>
        <p:nvSpPr>
          <p:cNvPr id="36" name="Shape 34"/>
          <p:cNvSpPr/>
          <p:nvPr/>
        </p:nvSpPr>
        <p:spPr>
          <a:xfrm>
            <a:off x="6361024" y="2953512"/>
            <a:ext cx="2270684" cy="722376"/>
          </a:xfrm>
          <a:prstGeom prst="roundRect">
            <a:avLst>
              <a:gd name="adj" fmla="val 3797"/>
            </a:avLst>
          </a:prstGeom>
          <a:solidFill>
            <a:srgbClr val="F7F8F7"/>
          </a:solidFill>
          <a:ln w="5080">
            <a:solidFill>
              <a:srgbClr val="F7F8F7"/>
            </a:solidFill>
            <a:prstDash val="solid"/>
          </a:ln>
        </p:spPr>
      </p:sp>
      <p:sp>
        <p:nvSpPr>
          <p:cNvPr id="37" name="Text 35"/>
          <p:cNvSpPr/>
          <p:nvPr/>
        </p:nvSpPr>
        <p:spPr>
          <a:xfrm>
            <a:off x="6425032" y="2953512"/>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End-to-end workflow adopted</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At least one connected client journey live</a:t>
            </a:r>
            <a:endParaRPr lang="en-US" sz="1000" dirty="0"/>
          </a:p>
        </p:txBody>
      </p:sp>
      <p:sp>
        <p:nvSpPr>
          <p:cNvPr id="38" name="Shape 36"/>
          <p:cNvSpPr/>
          <p:nvPr/>
        </p:nvSpPr>
        <p:spPr>
          <a:xfrm>
            <a:off x="6361024" y="3749040"/>
            <a:ext cx="2270684" cy="722376"/>
          </a:xfrm>
          <a:prstGeom prst="roundRect">
            <a:avLst>
              <a:gd name="adj" fmla="val 3797"/>
            </a:avLst>
          </a:prstGeom>
          <a:solidFill>
            <a:srgbClr val="F7F8F7"/>
          </a:solidFill>
          <a:ln w="5080">
            <a:solidFill>
              <a:srgbClr val="F7F8F7"/>
            </a:solidFill>
            <a:prstDash val="solid"/>
          </a:ln>
        </p:spPr>
      </p:sp>
      <p:sp>
        <p:nvSpPr>
          <p:cNvPr id="39" name="Text 37"/>
          <p:cNvSpPr/>
          <p:nvPr/>
        </p:nvSpPr>
        <p:spPr>
          <a:xfrm>
            <a:off x="6425032" y="3749040"/>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Lighthouse evidence published</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Cross-product adoption and TCO proof</a:t>
            </a:r>
            <a:endParaRPr lang="en-US" sz="1000" dirty="0"/>
          </a:p>
        </p:txBody>
      </p:sp>
      <p:sp>
        <p:nvSpPr>
          <p:cNvPr id="40" name="Shape 38"/>
          <p:cNvSpPr/>
          <p:nvPr/>
        </p:nvSpPr>
        <p:spPr>
          <a:xfrm>
            <a:off x="6361024" y="4544568"/>
            <a:ext cx="2270684" cy="722376"/>
          </a:xfrm>
          <a:prstGeom prst="roundRect">
            <a:avLst>
              <a:gd name="adj" fmla="val 3797"/>
            </a:avLst>
          </a:prstGeom>
          <a:solidFill>
            <a:srgbClr val="F7F8F7"/>
          </a:solidFill>
          <a:ln w="5080">
            <a:solidFill>
              <a:srgbClr val="F7F8F7"/>
            </a:solidFill>
            <a:prstDash val="solid"/>
          </a:ln>
        </p:spPr>
      </p:sp>
      <p:sp>
        <p:nvSpPr>
          <p:cNvPr id="41" name="Text 39"/>
          <p:cNvSpPr/>
          <p:nvPr/>
        </p:nvSpPr>
        <p:spPr>
          <a:xfrm>
            <a:off x="6425032" y="4544568"/>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Decision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Confirm or re-cut the 2028 direction</a:t>
            </a:r>
            <a:endParaRPr lang="en-US" sz="1000" dirty="0"/>
          </a:p>
        </p:txBody>
      </p:sp>
      <p:sp>
        <p:nvSpPr>
          <p:cNvPr id="42" name="Shape 40"/>
          <p:cNvSpPr/>
          <p:nvPr/>
        </p:nvSpPr>
        <p:spPr>
          <a:xfrm>
            <a:off x="9024899" y="2084832"/>
            <a:ext cx="2545004" cy="3419856"/>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43" name="Shape 41"/>
          <p:cNvSpPr/>
          <p:nvPr/>
        </p:nvSpPr>
        <p:spPr>
          <a:xfrm>
            <a:off x="9024899" y="2084832"/>
            <a:ext cx="2545004" cy="713232"/>
          </a:xfrm>
          <a:prstGeom prst="rect">
            <a:avLst/>
          </a:prstGeom>
          <a:solidFill>
            <a:srgbClr val="EAF1F5"/>
          </a:solidFill>
          <a:ln w="12700">
            <a:solidFill>
              <a:srgbClr val="EAF1F5"/>
            </a:solidFill>
            <a:prstDash val="solid"/>
          </a:ln>
        </p:spPr>
      </p:sp>
      <p:sp>
        <p:nvSpPr>
          <p:cNvPr id="44" name="Shape 42"/>
          <p:cNvSpPr/>
          <p:nvPr/>
        </p:nvSpPr>
        <p:spPr>
          <a:xfrm>
            <a:off x="9024899" y="2084832"/>
            <a:ext cx="54864" cy="3419856"/>
          </a:xfrm>
          <a:prstGeom prst="rect">
            <a:avLst/>
          </a:prstGeom>
          <a:solidFill>
            <a:srgbClr val="275B7F"/>
          </a:solidFill>
          <a:ln w="12700">
            <a:solidFill>
              <a:srgbClr val="275B7F"/>
            </a:solidFill>
            <a:prstDash val="solid"/>
          </a:ln>
        </p:spPr>
      </p:sp>
      <p:sp>
        <p:nvSpPr>
          <p:cNvPr id="45" name="Text 43"/>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GATE 4</a:t>
            </a:r>
            <a:endParaRPr lang="en-US" sz="850" dirty="0"/>
          </a:p>
        </p:txBody>
      </p:sp>
      <p:sp>
        <p:nvSpPr>
          <p:cNvPr id="46" name="Text 44"/>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2028 planning</a:t>
            </a:r>
            <a:endParaRPr lang="en-US" sz="1400" dirty="0"/>
          </a:p>
        </p:txBody>
      </p:sp>
      <p:sp>
        <p:nvSpPr>
          <p:cNvPr id="47" name="Shape 45"/>
          <p:cNvSpPr/>
          <p:nvPr/>
        </p:nvSpPr>
        <p:spPr>
          <a:xfrm>
            <a:off x="9162059" y="2953512"/>
            <a:ext cx="2270684" cy="722376"/>
          </a:xfrm>
          <a:prstGeom prst="roundRect">
            <a:avLst>
              <a:gd name="adj" fmla="val 3797"/>
            </a:avLst>
          </a:prstGeom>
          <a:solidFill>
            <a:srgbClr val="F7F8F7"/>
          </a:solidFill>
          <a:ln w="5080">
            <a:solidFill>
              <a:srgbClr val="F7F8F7"/>
            </a:solidFill>
            <a:prstDash val="solid"/>
          </a:ln>
        </p:spPr>
      </p:sp>
      <p:sp>
        <p:nvSpPr>
          <p:cNvPr id="48" name="Text 46"/>
          <p:cNvSpPr/>
          <p:nvPr/>
        </p:nvSpPr>
        <p:spPr>
          <a:xfrm>
            <a:off x="9226067" y="2953512"/>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Realized value review</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Finance confirms measured contribution</a:t>
            </a:r>
            <a:endParaRPr lang="en-US" sz="1000" dirty="0"/>
          </a:p>
        </p:txBody>
      </p:sp>
      <p:sp>
        <p:nvSpPr>
          <p:cNvPr id="49" name="Shape 47"/>
          <p:cNvSpPr/>
          <p:nvPr/>
        </p:nvSpPr>
        <p:spPr>
          <a:xfrm>
            <a:off x="9162059" y="3749040"/>
            <a:ext cx="2270684" cy="722376"/>
          </a:xfrm>
          <a:prstGeom prst="roundRect">
            <a:avLst>
              <a:gd name="adj" fmla="val 3797"/>
            </a:avLst>
          </a:prstGeom>
          <a:solidFill>
            <a:srgbClr val="F7F8F7"/>
          </a:solidFill>
          <a:ln w="5080">
            <a:solidFill>
              <a:srgbClr val="F7F8F7"/>
            </a:solidFill>
            <a:prstDash val="solid"/>
          </a:ln>
        </p:spPr>
      </p:sp>
      <p:sp>
        <p:nvSpPr>
          <p:cNvPr id="50" name="Text 48"/>
          <p:cNvSpPr/>
          <p:nvPr/>
        </p:nvSpPr>
        <p:spPr>
          <a:xfrm>
            <a:off x="9226067" y="3749040"/>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Portfolio re-rank</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Annual capacity and sequencing decision</a:t>
            </a:r>
            <a:endParaRPr lang="en-US" sz="1000" dirty="0"/>
          </a:p>
        </p:txBody>
      </p:sp>
      <p:sp>
        <p:nvSpPr>
          <p:cNvPr id="51" name="Shape 49"/>
          <p:cNvSpPr/>
          <p:nvPr/>
        </p:nvSpPr>
        <p:spPr>
          <a:xfrm>
            <a:off x="9162059" y="4544568"/>
            <a:ext cx="2270684" cy="722376"/>
          </a:xfrm>
          <a:prstGeom prst="roundRect">
            <a:avLst>
              <a:gd name="adj" fmla="val 3797"/>
            </a:avLst>
          </a:prstGeom>
          <a:solidFill>
            <a:srgbClr val="F7F8F7"/>
          </a:solidFill>
          <a:ln w="5080">
            <a:solidFill>
              <a:srgbClr val="F7F8F7"/>
            </a:solidFill>
            <a:prstDash val="solid"/>
          </a:ln>
        </p:spPr>
      </p:sp>
      <p:sp>
        <p:nvSpPr>
          <p:cNvPr id="52" name="Text 50"/>
          <p:cNvSpPr/>
          <p:nvPr/>
        </p:nvSpPr>
        <p:spPr>
          <a:xfrm>
            <a:off x="9226067" y="4544568"/>
            <a:ext cx="2142668"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Decision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Fund the next horizon against proof points</a:t>
            </a:r>
            <a:endParaRPr lang="en-US" sz="1000" dirty="0"/>
          </a:p>
        </p:txBody>
      </p:sp>
      <p:sp>
        <p:nvSpPr>
          <p:cNvPr id="53" name="Shape 51"/>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Infinity" dist="Infinity" dir="Infinity">
              <a:srgbClr val="0A1F12">
                <a:alpha val="Infinity"/>
              </a:srgbClr>
            </a:outerShdw>
          </a:effectLst>
        </p:spPr>
      </p:sp>
      <p:sp>
        <p:nvSpPr>
          <p:cNvPr id="54" name="Shape 52"/>
          <p:cNvSpPr/>
          <p:nvPr/>
        </p:nvSpPr>
        <p:spPr>
          <a:xfrm>
            <a:off x="676656" y="5760720"/>
            <a:ext cx="45720" cy="365760"/>
          </a:xfrm>
          <a:prstGeom prst="rect">
            <a:avLst/>
          </a:prstGeom>
          <a:solidFill>
            <a:srgbClr val="3DCD58"/>
          </a:solidFill>
          <a:ln w="12700">
            <a:solidFill>
              <a:srgbClr val="3DCD58"/>
            </a:solidFill>
            <a:prstDash val="solid"/>
          </a:ln>
        </p:spPr>
      </p:sp>
      <p:sp>
        <p:nvSpPr>
          <p:cNvPr id="55" name="Text 53"/>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No gate is passed on plan alone; each requires evidence signed off by the named owner.</a:t>
            </a:r>
            <a:endParaRPr lang="en-US" sz="1200" dirty="0"/>
          </a:p>
        </p:txBody>
      </p:sp>
      <p:sp>
        <p:nvSpPr>
          <p:cNvPr id="56" name="Shape 54"/>
          <p:cNvSpPr/>
          <p:nvPr/>
        </p:nvSpPr>
        <p:spPr>
          <a:xfrm>
            <a:off x="621792" y="6437376"/>
            <a:ext cx="10948111" cy="0"/>
          </a:xfrm>
          <a:prstGeom prst="line">
            <a:avLst/>
          </a:prstGeom>
          <a:noFill/>
          <a:ln w="9525">
            <a:solidFill>
              <a:srgbClr val="E2E6E2"/>
            </a:solidFill>
            <a:prstDash val="solid"/>
          </a:ln>
        </p:spPr>
      </p:sp>
      <p:sp>
        <p:nvSpPr>
          <p:cNvPr id="57" name="Text 5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58" name="Text 5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44728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11810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GOVERNANCE | BOARD SCORECARD</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How the board will measure the roadmap</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One owner, one baseline and one reporting rhythm per measure. Values are set once Finance validates the baselines.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21792" y="2084832"/>
          <a:ext cx="10948111" cy="914400"/>
        </p:xfrm>
        <a:graphic>
          <a:graphicData uri="http://schemas.openxmlformats.org/drawingml/2006/table">
            <a:tbl>
              <a:tblPr/>
              <a:tblGrid>
                <a:gridCol w="1005840"/>
                <a:gridCol w="2485568"/>
                <a:gridCol w="2485568"/>
                <a:gridCol w="2485568"/>
                <a:gridCol w="2485568"/>
              </a:tblGrid>
              <a:tr h="468957">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MEASURE</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PROVES</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BASELINE</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REPORTED</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r>
              <a:tr h="468957">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ARR protected and expanded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Growth and retention from platform breadth</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Sales and Finance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[baseline to validate]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Quarterly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468957">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Cross-product adoption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Clients using one governed spine across domains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Product</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[baseline to validate]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Quarterly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468957">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Cost to serve removed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Duplicated ingestion, calculation and assurance effort</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Delivery and Finance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[baseline to validate]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Quarterly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468957">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Reporting cycle time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Faster, lower-friction disclosure cycles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Reporting and Compliance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[baseline to validate]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Per cycle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468957">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Data quality and lineage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Trusted inputs before scaled AI</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Core Platform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[threshold to agree]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Monthly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468957">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Exposure repriced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Climate risk expressed in financial terms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Risk and Finance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[method to approve]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Half-yearly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bl>
          </a:graphicData>
        </a:graphic>
      </p:graphicFrame>
      <p:sp>
        <p:nvSpPr>
          <p:cNvPr id="10" name="Shape 7"/>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Infinity" dist="Infinity" dir="Infinity">
              <a:srgbClr val="0A1F12">
                <a:alpha val="Infinity"/>
              </a:srgbClr>
            </a:outerShdw>
          </a:effectLst>
        </p:spPr>
      </p:sp>
      <p:sp>
        <p:nvSpPr>
          <p:cNvPr id="11" name="Shape 8"/>
          <p:cNvSpPr/>
          <p:nvPr/>
        </p:nvSpPr>
        <p:spPr>
          <a:xfrm>
            <a:off x="676656" y="5760720"/>
            <a:ext cx="45720" cy="365760"/>
          </a:xfrm>
          <a:prstGeom prst="rect">
            <a:avLst/>
          </a:prstGeom>
          <a:solidFill>
            <a:srgbClr val="3DCD58"/>
          </a:solidFill>
          <a:ln w="12700">
            <a:solidFill>
              <a:srgbClr val="3DCD58"/>
            </a:solidFill>
            <a:prstDash val="solid"/>
          </a:ln>
        </p:spPr>
      </p:sp>
      <p:sp>
        <p:nvSpPr>
          <p:cNvPr id="12" name="Text 9"/>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Leading adoption signals are reported separately from realized financial outcomes to avoid double counting.</a:t>
            </a:r>
            <a:endParaRPr lang="en-US" sz="1200" dirty="0"/>
          </a:p>
        </p:txBody>
      </p:sp>
      <p:sp>
        <p:nvSpPr>
          <p:cNvPr id="13" name="Shape 10"/>
          <p:cNvSpPr/>
          <p:nvPr/>
        </p:nvSpPr>
        <p:spPr>
          <a:xfrm>
            <a:off x="621792" y="6437376"/>
            <a:ext cx="10948111" cy="0"/>
          </a:xfrm>
          <a:prstGeom prst="line">
            <a:avLst/>
          </a:prstGeom>
          <a:noFill/>
          <a:ln w="9525">
            <a:solidFill>
              <a:srgbClr val="E2E6E2"/>
            </a:solidFill>
            <a:prstDash val="solid"/>
          </a:ln>
        </p:spPr>
      </p:sp>
      <p:sp>
        <p:nvSpPr>
          <p:cNvPr id="14" name="Text 11"/>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5" name="Text 12"/>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3</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03</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RA+ 2026 and 2027 roadmap by product</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Carbon Performance, Supply Chain, Reporting and Compliance, Climate Risk, Strategy, and the core platform they all stand on.</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PRODUCTS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Four products, one carbon and sustainability data model</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Each product owns a customer outcome. All four read and write the same governed baseline.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Carbon Performance</a:t>
            </a:r>
            <a:endParaRPr lang="en-US" sz="1600" dirty="0"/>
          </a:p>
        </p:txBody>
      </p:sp>
      <p:sp>
        <p:nvSpPr>
          <p:cNvPr id="12" name="Text 10"/>
          <p:cNvSpPr/>
          <p:nvPr/>
        </p:nvSpPr>
        <p:spPr>
          <a:xfrm>
            <a:off x="804672"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Consultant grade and AI assisted GHG inventory across Scope 1, 2 and 3.</a:t>
            </a:r>
            <a:endParaRPr lang="en-US" sz="1100" dirty="0"/>
          </a:p>
        </p:txBody>
      </p:sp>
      <p:sp>
        <p:nvSpPr>
          <p:cNvPr id="13" name="Text 11"/>
          <p:cNvSpPr/>
          <p:nvPr/>
        </p:nvSpPr>
        <p:spPr>
          <a:xfrm>
            <a:off x="822960"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emission factor and calculation depth</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add more Sera use cases, governance, assurance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Owns the inventory every other product consumes</a:t>
            </a:r>
            <a:endParaRPr lang="en-US" sz="1100" dirty="0"/>
          </a:p>
        </p:txBody>
      </p:sp>
      <p:sp>
        <p:nvSpPr>
          <p:cNvPr id="14" name="Shape 12"/>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5" name="Shape 13"/>
          <p:cNvSpPr/>
          <p:nvPr/>
        </p:nvSpPr>
        <p:spPr>
          <a:xfrm>
            <a:off x="3427400" y="2084832"/>
            <a:ext cx="2531288" cy="73152"/>
          </a:xfrm>
          <a:prstGeom prst="rect">
            <a:avLst/>
          </a:prstGeom>
          <a:solidFill>
            <a:srgbClr val="007A27"/>
          </a:solidFill>
          <a:ln w="12700">
            <a:solidFill>
              <a:srgbClr val="007A27"/>
            </a:solidFill>
            <a:prstDash val="solid"/>
          </a:ln>
        </p:spPr>
      </p:sp>
      <p:sp>
        <p:nvSpPr>
          <p:cNvPr id="16" name="Text 14"/>
          <p:cNvSpPr/>
          <p:nvPr/>
        </p:nvSpPr>
        <p:spPr>
          <a:xfrm>
            <a:off x="3628568"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Supply Chain</a:t>
            </a:r>
            <a:endParaRPr lang="en-US" sz="1600" dirty="0"/>
          </a:p>
        </p:txBody>
      </p:sp>
      <p:sp>
        <p:nvSpPr>
          <p:cNvPr id="17" name="Text 15"/>
          <p:cNvSpPr/>
          <p:nvPr/>
        </p:nvSpPr>
        <p:spPr>
          <a:xfrm>
            <a:off x="3610280"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Supplier engagement and product level carbon footprint.</a:t>
            </a:r>
            <a:endParaRPr lang="en-US" sz="1100" dirty="0"/>
          </a:p>
        </p:txBody>
      </p:sp>
      <p:sp>
        <p:nvSpPr>
          <p:cNvPr id="18" name="Text 16"/>
          <p:cNvSpPr/>
          <p:nvPr/>
        </p:nvSpPr>
        <p:spPr>
          <a:xfrm>
            <a:off x="3628568"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complete the RA+ migration, close sponsor gaps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multi tier visibility and supplier emissions abatement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Feeds category 1 and 4 into the CP inventory</a:t>
            </a:r>
            <a:endParaRPr lang="en-US" sz="1100" dirty="0"/>
          </a:p>
        </p:txBody>
      </p:sp>
      <p:sp>
        <p:nvSpPr>
          <p:cNvPr id="19" name="Shape 17"/>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0" name="Shape 18"/>
          <p:cNvSpPr/>
          <p:nvPr/>
        </p:nvSpPr>
        <p:spPr>
          <a:xfrm>
            <a:off x="6233008" y="2084832"/>
            <a:ext cx="2531288" cy="73152"/>
          </a:xfrm>
          <a:prstGeom prst="rect">
            <a:avLst/>
          </a:prstGeom>
          <a:solidFill>
            <a:srgbClr val="FFB04C"/>
          </a:solidFill>
          <a:ln w="12700">
            <a:solidFill>
              <a:srgbClr val="FFB04C"/>
            </a:solidFill>
            <a:prstDash val="solid"/>
          </a:ln>
        </p:spPr>
      </p:sp>
      <p:sp>
        <p:nvSpPr>
          <p:cNvPr id="21" name="Text 19"/>
          <p:cNvSpPr/>
          <p:nvPr/>
        </p:nvSpPr>
        <p:spPr>
          <a:xfrm>
            <a:off x="6434176"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Reporting and Compliance</a:t>
            </a:r>
            <a:endParaRPr lang="en-US" sz="1600" dirty="0"/>
          </a:p>
        </p:txBody>
      </p:sp>
      <p:sp>
        <p:nvSpPr>
          <p:cNvPr id="22" name="Text 20"/>
          <p:cNvSpPr/>
          <p:nvPr/>
        </p:nvSpPr>
        <p:spPr>
          <a:xfrm>
            <a:off x="6415888"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Disclosure ready output from the same numbers.</a:t>
            </a:r>
            <a:endParaRPr lang="en-US" sz="1100" dirty="0"/>
          </a:p>
        </p:txBody>
      </p:sp>
      <p:sp>
        <p:nvSpPr>
          <p:cNvPr id="23" name="Text 21"/>
          <p:cNvSpPr/>
          <p:nvPr/>
        </p:nvSpPr>
        <p:spPr>
          <a:xfrm>
            <a:off x="6434176"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build foundations for CSRD reporting</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SE migrated off RA Classic, AI drafted disclosures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receiver from every other product to facilitate disclosure.</a:t>
            </a:r>
            <a:endParaRPr lang="en-US" sz="1100" dirty="0"/>
          </a:p>
        </p:txBody>
      </p:sp>
      <p:sp>
        <p:nvSpPr>
          <p:cNvPr id="24" name="Shape 22"/>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5" name="Shape 23"/>
          <p:cNvSpPr/>
          <p:nvPr/>
        </p:nvSpPr>
        <p:spPr>
          <a:xfrm>
            <a:off x="9038615" y="2084832"/>
            <a:ext cx="2531288" cy="73152"/>
          </a:xfrm>
          <a:prstGeom prst="rect">
            <a:avLst/>
          </a:prstGeom>
          <a:solidFill>
            <a:srgbClr val="275B7F"/>
          </a:solidFill>
          <a:ln w="12700">
            <a:solidFill>
              <a:srgbClr val="275B7F"/>
            </a:solidFill>
            <a:prstDash val="solid"/>
          </a:ln>
        </p:spPr>
      </p:sp>
      <p:sp>
        <p:nvSpPr>
          <p:cNvPr id="26" name="Text 24"/>
          <p:cNvSpPr/>
          <p:nvPr/>
        </p:nvSpPr>
        <p:spPr>
          <a:xfrm>
            <a:off x="9239783"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Climate Risk</a:t>
            </a:r>
            <a:endParaRPr lang="en-US" sz="1600" dirty="0"/>
          </a:p>
        </p:txBody>
      </p:sp>
      <p:sp>
        <p:nvSpPr>
          <p:cNvPr id="27" name="Text 25"/>
          <p:cNvSpPr/>
          <p:nvPr/>
        </p:nvSpPr>
        <p:spPr>
          <a:xfrm>
            <a:off x="9221495"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Forward looking physical and transition exposure.</a:t>
            </a:r>
            <a:endParaRPr lang="en-US" sz="1100" dirty="0"/>
          </a:p>
        </p:txBody>
      </p:sp>
      <p:sp>
        <p:nvSpPr>
          <p:cNvPr id="28" name="Text 26"/>
          <p:cNvSpPr/>
          <p:nvPr/>
        </p:nvSpPr>
        <p:spPr>
          <a:xfrm>
            <a:off x="9239783"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Eclr turned to a full self serve product with scalable performances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value at risk, scenario analysis and adaptation actions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Risk data flows into R&amp;C disclosures and are turned into financial values</a:t>
            </a:r>
            <a:endParaRPr lang="en-US" sz="1100" dirty="0"/>
          </a:p>
        </p:txBody>
      </p:sp>
      <p:sp>
        <p:nvSpPr>
          <p:cNvPr id="29" name="Shape 27"/>
          <p:cNvSpPr/>
          <p:nvPr/>
        </p:nvSpPr>
        <p:spPr>
          <a:xfrm>
            <a:off x="621792" y="6437376"/>
            <a:ext cx="10948111" cy="0"/>
          </a:xfrm>
          <a:prstGeom prst="line">
            <a:avLst/>
          </a:prstGeom>
          <a:noFill/>
          <a:ln w="9525">
            <a:solidFill>
              <a:srgbClr val="E2E6E2"/>
            </a:solidFill>
            <a:prstDash val="solid"/>
          </a:ln>
        </p:spPr>
      </p:sp>
      <p:sp>
        <p:nvSpPr>
          <p:cNvPr id="30" name="Text 2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1" name="Text 2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Every goal across the RA+ roadmap, part one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Four goals per product, sequenced Now, Next, Later inside each product section that follows.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CARBON PERFORMANCE</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A consultant grade and AI driven inventory</a:t>
            </a:r>
            <a:endParaRPr lang="en-US" sz="1400" dirty="0"/>
          </a:p>
        </p:txBody>
      </p:sp>
      <p:sp>
        <p:nvSpPr>
          <p:cNvPr id="13" name="Text 11"/>
          <p:cNvSpPr/>
          <p:nvPr/>
        </p:nvSpPr>
        <p:spPr>
          <a:xfrm>
            <a:off x="82296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Factors and calculation depth: make the number defensible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coverage: close the Scope 3 gaps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Boundaries and governance: consultant grade control</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and decision support: from inventory to action</a:t>
            </a:r>
            <a:endParaRPr lang="en-US" sz="1100" dirty="0"/>
          </a:p>
        </p:txBody>
      </p:sp>
      <p:sp>
        <p:nvSpPr>
          <p:cNvPr id="14" name="Shape 12"/>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5" name="Shape 13"/>
          <p:cNvSpPr/>
          <p:nvPr/>
        </p:nvSpPr>
        <p:spPr>
          <a:xfrm>
            <a:off x="4362602" y="2084832"/>
            <a:ext cx="3466490" cy="73152"/>
          </a:xfrm>
          <a:prstGeom prst="rect">
            <a:avLst/>
          </a:prstGeom>
          <a:solidFill>
            <a:srgbClr val="007A27"/>
          </a:solidFill>
          <a:ln w="12700">
            <a:solidFill>
              <a:srgbClr val="007A27"/>
            </a:solidFill>
            <a:prstDash val="solid"/>
          </a:ln>
        </p:spPr>
      </p:sp>
      <p:sp>
        <p:nvSpPr>
          <p:cNvPr id="16" name="Text 14"/>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SUPPLY CHAIN</a:t>
            </a:r>
            <a:endParaRPr lang="en-US" sz="900" dirty="0"/>
          </a:p>
        </p:txBody>
      </p:sp>
      <p:sp>
        <p:nvSpPr>
          <p:cNvPr id="17" name="Text 15"/>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From migration to supplier action</a:t>
            </a:r>
            <a:endParaRPr lang="en-US" sz="1400" dirty="0"/>
          </a:p>
        </p:txBody>
      </p:sp>
      <p:sp>
        <p:nvSpPr>
          <p:cNvPr id="18" name="Text 16"/>
          <p:cNvSpPr/>
          <p:nvPr/>
        </p:nvSpPr>
        <p:spPr>
          <a:xfrm>
            <a:off x="456377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Zeigo Hub migration and core experience: land in RA+ properly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carbon footprint: the commercial gap closer</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collection campaigns: ask suppliers the right questions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quality assurance: numbers that survive review</a:t>
            </a:r>
            <a:endParaRPr lang="en-US" sz="1100" dirty="0"/>
          </a:p>
        </p:txBody>
      </p:sp>
      <p:sp>
        <p:nvSpPr>
          <p:cNvPr id="19" name="Shape 17"/>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0" name="Shape 18"/>
          <p:cNvSpPr/>
          <p:nvPr/>
        </p:nvSpPr>
        <p:spPr>
          <a:xfrm>
            <a:off x="8103413" y="2084832"/>
            <a:ext cx="3466490" cy="73152"/>
          </a:xfrm>
          <a:prstGeom prst="rect">
            <a:avLst/>
          </a:prstGeom>
          <a:solidFill>
            <a:srgbClr val="FFB04C"/>
          </a:solidFill>
          <a:ln w="12700">
            <a:solidFill>
              <a:srgbClr val="FFB04C"/>
            </a:solidFill>
            <a:prstDash val="solid"/>
          </a:ln>
        </p:spPr>
      </p:sp>
      <p:sp>
        <p:nvSpPr>
          <p:cNvPr id="21" name="Text 19"/>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REPORTING AND COMPLIANCE</a:t>
            </a:r>
            <a:endParaRPr lang="en-US" sz="900" dirty="0"/>
          </a:p>
        </p:txBody>
      </p:sp>
      <p:sp>
        <p:nvSpPr>
          <p:cNvPr id="22" name="Text 20"/>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Stand up, migrate, automate</a:t>
            </a:r>
            <a:endParaRPr lang="en-US" sz="1400" dirty="0"/>
          </a:p>
        </p:txBody>
      </p:sp>
      <p:sp>
        <p:nvSpPr>
          <p:cNvPr id="23" name="Text 21"/>
          <p:cNvSpPr/>
          <p:nvPr/>
        </p:nvSpPr>
        <p:spPr>
          <a:xfrm>
            <a:off x="8304581"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Framework Library: entry point and scope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Indicator Management: foundation of data management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Management: reporting cycle workspace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Migration and assurance: prove it on Schneider first</a:t>
            </a:r>
            <a:endParaRPr lang="en-US" sz="1100" dirty="0"/>
          </a:p>
        </p:txBody>
      </p:sp>
      <p:sp>
        <p:nvSpPr>
          <p:cNvPr id="24" name="Shape 22"/>
          <p:cNvSpPr/>
          <p:nvPr/>
        </p:nvSpPr>
        <p:spPr>
          <a:xfrm>
            <a:off x="621792" y="6437376"/>
            <a:ext cx="10948111" cy="0"/>
          </a:xfrm>
          <a:prstGeom prst="line">
            <a:avLst/>
          </a:prstGeom>
          <a:noFill/>
          <a:ln w="9525">
            <a:solidFill>
              <a:srgbClr val="E2E6E2"/>
            </a:solidFill>
            <a:prstDash val="solid"/>
          </a:ln>
        </p:spPr>
      </p:sp>
      <p:sp>
        <p:nvSpPr>
          <p:cNvPr id="25" name="Text 2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6" name="Text 2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Every goal across the RA+ roadmap, part two</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remaining three products, same Now, Next, Later sequencing inside each section.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3466490" cy="73152"/>
          </a:xfrm>
          <a:prstGeom prst="rect">
            <a:avLst/>
          </a:prstGeom>
          <a:solidFill>
            <a:srgbClr val="275B7F"/>
          </a:solidFill>
          <a:ln w="12700">
            <a:solidFill>
              <a:srgbClr val="275B7F"/>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CLIMATE RISK</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From asset register to priced risk</a:t>
            </a:r>
            <a:endParaRPr lang="en-US" sz="1400" dirty="0"/>
          </a:p>
        </p:txBody>
      </p:sp>
      <p:sp>
        <p:nvSpPr>
          <p:cNvPr id="13" name="Text 11"/>
          <p:cNvSpPr/>
          <p:nvPr/>
        </p:nvSpPr>
        <p:spPr>
          <a:xfrm>
            <a:off x="82296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Asset foundation: shared model before analytics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Exposure: first defensible risk output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Scenarios and value at risk: decision grade analysis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from risk to response</a:t>
            </a:r>
            <a:endParaRPr lang="en-US" sz="1100" dirty="0"/>
          </a:p>
        </p:txBody>
      </p:sp>
      <p:sp>
        <p:nvSpPr>
          <p:cNvPr id="14" name="Shape 12"/>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5" name="Shape 13"/>
          <p:cNvSpPr/>
          <p:nvPr/>
        </p:nvSpPr>
        <p:spPr>
          <a:xfrm>
            <a:off x="4362602" y="2084832"/>
            <a:ext cx="3466490" cy="73152"/>
          </a:xfrm>
          <a:prstGeom prst="rect">
            <a:avLst/>
          </a:prstGeom>
          <a:solidFill>
            <a:srgbClr val="3DCD58"/>
          </a:solidFill>
          <a:ln w="12700">
            <a:solidFill>
              <a:srgbClr val="3DCD58"/>
            </a:solidFill>
            <a:prstDash val="solid"/>
          </a:ln>
        </p:spPr>
      </p:sp>
      <p:sp>
        <p:nvSpPr>
          <p:cNvPr id="16" name="Text 14"/>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STRATEGY</a:t>
            </a:r>
            <a:endParaRPr lang="en-US" sz="900" dirty="0"/>
          </a:p>
        </p:txBody>
      </p:sp>
      <p:sp>
        <p:nvSpPr>
          <p:cNvPr id="17" name="Text 15"/>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Close the plan to execution gap</a:t>
            </a:r>
            <a:endParaRPr lang="en-US" sz="1400" dirty="0"/>
          </a:p>
        </p:txBody>
      </p:sp>
      <p:sp>
        <p:nvSpPr>
          <p:cNvPr id="18" name="Text 16"/>
          <p:cNvSpPr/>
          <p:nvPr/>
        </p:nvSpPr>
        <p:spPr>
          <a:xfrm>
            <a:off x="456377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Planning foundation: targets, scenarios, initiatives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Actions execution: programs, projects, purchases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Recommendations: Sera guided next steps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Scale and governance: enterprise structures</a:t>
            </a:r>
            <a:endParaRPr lang="en-US" sz="1100" dirty="0"/>
          </a:p>
        </p:txBody>
      </p:sp>
      <p:sp>
        <p:nvSpPr>
          <p:cNvPr id="19" name="Shape 17"/>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0" name="Shape 18"/>
          <p:cNvSpPr/>
          <p:nvPr/>
        </p:nvSpPr>
        <p:spPr>
          <a:xfrm>
            <a:off x="8103413" y="2084832"/>
            <a:ext cx="3466490" cy="73152"/>
          </a:xfrm>
          <a:prstGeom prst="rect">
            <a:avLst/>
          </a:prstGeom>
          <a:solidFill>
            <a:srgbClr val="007A27"/>
          </a:solidFill>
          <a:ln w="12700">
            <a:solidFill>
              <a:srgbClr val="007A27"/>
            </a:solidFill>
            <a:prstDash val="solid"/>
          </a:ln>
        </p:spPr>
      </p:sp>
      <p:sp>
        <p:nvSpPr>
          <p:cNvPr id="21" name="Text 19"/>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CORE PLATFORM</a:t>
            </a:r>
            <a:endParaRPr lang="en-US" sz="900" dirty="0"/>
          </a:p>
        </p:txBody>
      </p:sp>
      <p:sp>
        <p:nvSpPr>
          <p:cNvPr id="22" name="Text 20"/>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Built once, inherited by all</a:t>
            </a:r>
            <a:endParaRPr lang="en-US" sz="1400" dirty="0"/>
          </a:p>
        </p:txBody>
      </p:sp>
      <p:sp>
        <p:nvSpPr>
          <p:cNvPr id="23" name="Text 21"/>
          <p:cNvSpPr/>
          <p:nvPr/>
        </p:nvSpPr>
        <p:spPr>
          <a:xfrm>
            <a:off x="8304581"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Ingestion and quality: data in, trusted</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Ontology and calculation: one model, one engine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Application and analytics: one experience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Trust and reach: enterprise ready</a:t>
            </a:r>
            <a:endParaRPr lang="en-US" sz="1100" dirty="0"/>
          </a:p>
        </p:txBody>
      </p:sp>
      <p:sp>
        <p:nvSpPr>
          <p:cNvPr id="24" name="Shape 22"/>
          <p:cNvSpPr/>
          <p:nvPr/>
        </p:nvSpPr>
        <p:spPr>
          <a:xfrm>
            <a:off x="621792" y="6437376"/>
            <a:ext cx="10948111" cy="0"/>
          </a:xfrm>
          <a:prstGeom prst="line">
            <a:avLst/>
          </a:prstGeom>
          <a:noFill/>
          <a:ln w="9525">
            <a:solidFill>
              <a:srgbClr val="E2E6E2"/>
            </a:solidFill>
            <a:prstDash val="solid"/>
          </a:ln>
        </p:spPr>
      </p:sp>
      <p:sp>
        <p:nvSpPr>
          <p:cNvPr id="25" name="Text 2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6" name="Text 2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24 goals roll up into four moves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Read top to bottom, this is the RA+ thesis for 2026 and 2027.</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MOVE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Make the data trusted</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governed backbone.</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Core ingestion, quality and ontology (Platform)</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Emission factors and calculation depth (Carbon)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Boundaries, rebaselining and governance (Carbon)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data quality assurance (Supply Chain)</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MOVE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Cover the full sustainability agenda</a:t>
            </a:r>
            <a:endParaRPr lang="en-US" sz="14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No material sustainability domain left disconnected.</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Scope 3 category coverage to a full inventory (Carbon)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carbon footprint and transport (Supply Chain)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campaigns that feed the baseline (Supply Chain)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Asset register and exposure across the estate (Climate Risk)</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MOVE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Decide and act</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measurement to funded action.</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Scenarios, value at risk and adaptation (Climate Risk)</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Targets, initiatives and execution (Strategy)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recommendations and next steps (Strategy)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assisted inventory and planning (Carbon)</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MOVE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Prove and disclose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Audit ready output, enterprise scale.</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Frameworks, indicators and disclosures (R&amp;C)</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Schneider Electric migration as proof (R&amp;C)</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trail and evidence lineage (Platform)</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Enterprise readiness and reach (Platform)</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2</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02</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2026 and 2027 roadmap on one board</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Now is Q3 2026, Next is Q4 2026, Later is 2027 and beyond.</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platform, three years of converging value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Illustrative 2026 to 2028 roadmap across sustainability, efficiency, and energy capabilities.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13255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4808677"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548480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616092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616092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683704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751316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818929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Text 19"/>
          <p:cNvSpPr/>
          <p:nvPr/>
        </p:nvSpPr>
        <p:spPr>
          <a:xfrm>
            <a:off x="8865413"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2028</a:t>
            </a:r>
            <a:endParaRPr lang="en-US" sz="1200" dirty="0"/>
          </a:p>
        </p:txBody>
      </p:sp>
      <p:sp>
        <p:nvSpPr>
          <p:cNvPr id="22" name="Text 20"/>
          <p:cNvSpPr/>
          <p:nvPr/>
        </p:nvSpPr>
        <p:spPr>
          <a:xfrm>
            <a:off x="8865413"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23" name="Text 21"/>
          <p:cNvSpPr/>
          <p:nvPr/>
        </p:nvSpPr>
        <p:spPr>
          <a:xfrm>
            <a:off x="954153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24" name="Text 22"/>
          <p:cNvSpPr/>
          <p:nvPr/>
        </p:nvSpPr>
        <p:spPr>
          <a:xfrm>
            <a:off x="1021765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5" name="Text 23"/>
          <p:cNvSpPr/>
          <p:nvPr/>
        </p:nvSpPr>
        <p:spPr>
          <a:xfrm>
            <a:off x="10893781"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6" name="Shape 24"/>
          <p:cNvSpPr/>
          <p:nvPr/>
        </p:nvSpPr>
        <p:spPr>
          <a:xfrm>
            <a:off x="3456432" y="2103120"/>
            <a:ext cx="0" cy="3794760"/>
          </a:xfrm>
          <a:prstGeom prst="line">
            <a:avLst/>
          </a:prstGeom>
          <a:noFill/>
          <a:ln w="11430">
            <a:solidFill>
              <a:srgbClr val="C8CECA"/>
            </a:solidFill>
            <a:prstDash val="solid"/>
          </a:ln>
        </p:spPr>
      </p:sp>
      <p:sp>
        <p:nvSpPr>
          <p:cNvPr id="27" name="Shape 25"/>
          <p:cNvSpPr/>
          <p:nvPr/>
        </p:nvSpPr>
        <p:spPr>
          <a:xfrm>
            <a:off x="4132555" y="2103120"/>
            <a:ext cx="0" cy="3794760"/>
          </a:xfrm>
          <a:prstGeom prst="line">
            <a:avLst/>
          </a:prstGeom>
          <a:noFill/>
          <a:ln w="4445">
            <a:solidFill>
              <a:srgbClr val="E2E6E2"/>
            </a:solidFill>
            <a:prstDash val="solid"/>
          </a:ln>
        </p:spPr>
      </p:sp>
      <p:sp>
        <p:nvSpPr>
          <p:cNvPr id="28" name="Shape 26"/>
          <p:cNvSpPr/>
          <p:nvPr/>
        </p:nvSpPr>
        <p:spPr>
          <a:xfrm>
            <a:off x="4808677" y="2103120"/>
            <a:ext cx="0" cy="3794760"/>
          </a:xfrm>
          <a:prstGeom prst="line">
            <a:avLst/>
          </a:prstGeom>
          <a:noFill/>
          <a:ln w="4445">
            <a:solidFill>
              <a:srgbClr val="E2E6E2"/>
            </a:solidFill>
            <a:prstDash val="solid"/>
          </a:ln>
        </p:spPr>
      </p:sp>
      <p:sp>
        <p:nvSpPr>
          <p:cNvPr id="29" name="Shape 27"/>
          <p:cNvSpPr/>
          <p:nvPr/>
        </p:nvSpPr>
        <p:spPr>
          <a:xfrm>
            <a:off x="5484800" y="2103120"/>
            <a:ext cx="0" cy="3794760"/>
          </a:xfrm>
          <a:prstGeom prst="line">
            <a:avLst/>
          </a:prstGeom>
          <a:noFill/>
          <a:ln w="4445">
            <a:solidFill>
              <a:srgbClr val="E2E6E2"/>
            </a:solidFill>
            <a:prstDash val="solid"/>
          </a:ln>
        </p:spPr>
      </p:sp>
      <p:sp>
        <p:nvSpPr>
          <p:cNvPr id="30" name="Shape 28"/>
          <p:cNvSpPr/>
          <p:nvPr/>
        </p:nvSpPr>
        <p:spPr>
          <a:xfrm>
            <a:off x="6160922" y="2103120"/>
            <a:ext cx="0" cy="3794760"/>
          </a:xfrm>
          <a:prstGeom prst="line">
            <a:avLst/>
          </a:prstGeom>
          <a:noFill/>
          <a:ln w="11430">
            <a:solidFill>
              <a:srgbClr val="C8CECA"/>
            </a:solidFill>
            <a:prstDash val="solid"/>
          </a:ln>
        </p:spPr>
      </p:sp>
      <p:sp>
        <p:nvSpPr>
          <p:cNvPr id="31" name="Shape 29"/>
          <p:cNvSpPr/>
          <p:nvPr/>
        </p:nvSpPr>
        <p:spPr>
          <a:xfrm>
            <a:off x="6837045" y="2103120"/>
            <a:ext cx="0" cy="3794760"/>
          </a:xfrm>
          <a:prstGeom prst="line">
            <a:avLst/>
          </a:prstGeom>
          <a:noFill/>
          <a:ln w="4445">
            <a:solidFill>
              <a:srgbClr val="E2E6E2"/>
            </a:solidFill>
            <a:prstDash val="solid"/>
          </a:ln>
        </p:spPr>
      </p:sp>
      <p:sp>
        <p:nvSpPr>
          <p:cNvPr id="32" name="Shape 30"/>
          <p:cNvSpPr/>
          <p:nvPr/>
        </p:nvSpPr>
        <p:spPr>
          <a:xfrm>
            <a:off x="7513168" y="2103120"/>
            <a:ext cx="0" cy="3794760"/>
          </a:xfrm>
          <a:prstGeom prst="line">
            <a:avLst/>
          </a:prstGeom>
          <a:noFill/>
          <a:ln w="4445">
            <a:solidFill>
              <a:srgbClr val="E2E6E2"/>
            </a:solidFill>
            <a:prstDash val="solid"/>
          </a:ln>
        </p:spPr>
      </p:sp>
      <p:sp>
        <p:nvSpPr>
          <p:cNvPr id="33" name="Shape 31"/>
          <p:cNvSpPr/>
          <p:nvPr/>
        </p:nvSpPr>
        <p:spPr>
          <a:xfrm>
            <a:off x="8189290" y="2103120"/>
            <a:ext cx="0" cy="3794760"/>
          </a:xfrm>
          <a:prstGeom prst="line">
            <a:avLst/>
          </a:prstGeom>
          <a:noFill/>
          <a:ln w="4445">
            <a:solidFill>
              <a:srgbClr val="E2E6E2"/>
            </a:solidFill>
            <a:prstDash val="solid"/>
          </a:ln>
        </p:spPr>
      </p:sp>
      <p:sp>
        <p:nvSpPr>
          <p:cNvPr id="34" name="Shape 32"/>
          <p:cNvSpPr/>
          <p:nvPr/>
        </p:nvSpPr>
        <p:spPr>
          <a:xfrm>
            <a:off x="8865413" y="2103120"/>
            <a:ext cx="0" cy="3794760"/>
          </a:xfrm>
          <a:prstGeom prst="line">
            <a:avLst/>
          </a:prstGeom>
          <a:noFill/>
          <a:ln w="11430">
            <a:solidFill>
              <a:srgbClr val="C8CECA"/>
            </a:solidFill>
            <a:prstDash val="solid"/>
          </a:ln>
        </p:spPr>
      </p:sp>
      <p:sp>
        <p:nvSpPr>
          <p:cNvPr id="35" name="Shape 33"/>
          <p:cNvSpPr/>
          <p:nvPr/>
        </p:nvSpPr>
        <p:spPr>
          <a:xfrm>
            <a:off x="9541535" y="2103120"/>
            <a:ext cx="0" cy="3794760"/>
          </a:xfrm>
          <a:prstGeom prst="line">
            <a:avLst/>
          </a:prstGeom>
          <a:noFill/>
          <a:ln w="4445">
            <a:solidFill>
              <a:srgbClr val="E2E6E2"/>
            </a:solidFill>
            <a:prstDash val="solid"/>
          </a:ln>
        </p:spPr>
      </p:sp>
      <p:sp>
        <p:nvSpPr>
          <p:cNvPr id="36" name="Shape 34"/>
          <p:cNvSpPr/>
          <p:nvPr/>
        </p:nvSpPr>
        <p:spPr>
          <a:xfrm>
            <a:off x="10217658" y="2103120"/>
            <a:ext cx="0" cy="3794760"/>
          </a:xfrm>
          <a:prstGeom prst="line">
            <a:avLst/>
          </a:prstGeom>
          <a:noFill/>
          <a:ln w="4445">
            <a:solidFill>
              <a:srgbClr val="E2E6E2"/>
            </a:solidFill>
            <a:prstDash val="solid"/>
          </a:ln>
        </p:spPr>
      </p:sp>
      <p:sp>
        <p:nvSpPr>
          <p:cNvPr id="37" name="Shape 35"/>
          <p:cNvSpPr/>
          <p:nvPr/>
        </p:nvSpPr>
        <p:spPr>
          <a:xfrm>
            <a:off x="10893781" y="2103120"/>
            <a:ext cx="0" cy="3794760"/>
          </a:xfrm>
          <a:prstGeom prst="line">
            <a:avLst/>
          </a:prstGeom>
          <a:noFill/>
          <a:ln w="4445">
            <a:solidFill>
              <a:srgbClr val="E2E6E2"/>
            </a:solidFill>
            <a:prstDash val="solid"/>
          </a:ln>
        </p:spPr>
      </p:sp>
      <p:sp>
        <p:nvSpPr>
          <p:cNvPr id="38" name="Shape 36"/>
          <p:cNvSpPr/>
          <p:nvPr/>
        </p:nvSpPr>
        <p:spPr>
          <a:xfrm>
            <a:off x="11569903" y="2103120"/>
            <a:ext cx="0" cy="3794760"/>
          </a:xfrm>
          <a:prstGeom prst="line">
            <a:avLst/>
          </a:prstGeom>
          <a:noFill/>
          <a:ln w="11430">
            <a:solidFill>
              <a:srgbClr val="C8CECA"/>
            </a:solidFill>
            <a:prstDash val="solid"/>
          </a:ln>
        </p:spPr>
      </p:sp>
      <p:sp>
        <p:nvSpPr>
          <p:cNvPr id="39" name="Shape 37"/>
          <p:cNvSpPr/>
          <p:nvPr/>
        </p:nvSpPr>
        <p:spPr>
          <a:xfrm>
            <a:off x="621792" y="2331720"/>
            <a:ext cx="411480" cy="1783080"/>
          </a:xfrm>
          <a:prstGeom prst="rect">
            <a:avLst/>
          </a:prstGeom>
          <a:solidFill>
            <a:srgbClr val="3DCD58"/>
          </a:solidFill>
          <a:ln w="7620">
            <a:solidFill>
              <a:srgbClr val="FFFFFF"/>
            </a:solidFill>
            <a:prstDash val="solid"/>
          </a:ln>
        </p:spPr>
      </p:sp>
      <p:sp>
        <p:nvSpPr>
          <p:cNvPr id="40" name="Text 38"/>
          <p:cNvSpPr/>
          <p:nvPr/>
        </p:nvSpPr>
        <p:spPr>
          <a:xfrm>
            <a:off x="685800" y="2377440"/>
            <a:ext cx="283464" cy="169164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CARBON PERFORMANCE</a:t>
            </a:r>
            <a:endParaRPr lang="en-US" sz="750" dirty="0"/>
          </a:p>
        </p:txBody>
      </p:sp>
      <p:sp>
        <p:nvSpPr>
          <p:cNvPr id="41" name="Shape 39"/>
          <p:cNvSpPr/>
          <p:nvPr/>
        </p:nvSpPr>
        <p:spPr>
          <a:xfrm>
            <a:off x="1033272" y="2688336"/>
            <a:ext cx="10536631" cy="0"/>
          </a:xfrm>
          <a:prstGeom prst="line">
            <a:avLst/>
          </a:prstGeom>
          <a:noFill/>
          <a:ln w="4445">
            <a:solidFill>
              <a:srgbClr val="E2E6E2"/>
            </a:solidFill>
            <a:prstDash val="solid"/>
          </a:ln>
        </p:spPr>
      </p:sp>
      <p:sp>
        <p:nvSpPr>
          <p:cNvPr id="42" name="Shape 40"/>
          <p:cNvSpPr/>
          <p:nvPr/>
        </p:nvSpPr>
        <p:spPr>
          <a:xfrm>
            <a:off x="1143000" y="2400300"/>
            <a:ext cx="45720" cy="219456"/>
          </a:xfrm>
          <a:prstGeom prst="roundRect">
            <a:avLst>
              <a:gd name="adj" fmla="val 60000"/>
            </a:avLst>
          </a:prstGeom>
          <a:solidFill>
            <a:srgbClr val="3DCD58"/>
          </a:solidFill>
          <a:ln w="12700">
            <a:solidFill>
              <a:srgbClr val="3DCD58"/>
            </a:solidFill>
            <a:prstDash val="solid"/>
          </a:ln>
        </p:spPr>
      </p:sp>
      <p:sp>
        <p:nvSpPr>
          <p:cNvPr id="43" name="Text 41"/>
          <p:cNvSpPr/>
          <p:nvPr/>
        </p:nvSpPr>
        <p:spPr>
          <a:xfrm>
            <a:off x="1243584" y="2363724"/>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Carbon Performance</a:t>
            </a:r>
            <a:endParaRPr lang="en-US" sz="950" dirty="0"/>
          </a:p>
        </p:txBody>
      </p:sp>
      <p:sp>
        <p:nvSpPr>
          <p:cNvPr id="44" name="Shape 42"/>
          <p:cNvSpPr/>
          <p:nvPr/>
        </p:nvSpPr>
        <p:spPr>
          <a:xfrm>
            <a:off x="3456432" y="2449403"/>
            <a:ext cx="1622694" cy="121249"/>
          </a:xfrm>
          <a:prstGeom prst="roundRect">
            <a:avLst>
              <a:gd name="adj" fmla="val 30166"/>
            </a:avLst>
          </a:prstGeom>
          <a:solidFill>
            <a:srgbClr val="3DCD58"/>
          </a:solidFill>
          <a:ln w="12700">
            <a:solidFill>
              <a:srgbClr val="3DCD58"/>
            </a:solidFill>
            <a:prstDash val="solid"/>
          </a:ln>
        </p:spPr>
      </p:sp>
      <p:sp>
        <p:nvSpPr>
          <p:cNvPr id="45" name="Shape 43"/>
          <p:cNvSpPr/>
          <p:nvPr/>
        </p:nvSpPr>
        <p:spPr>
          <a:xfrm>
            <a:off x="5079126" y="2449403"/>
            <a:ext cx="6490777" cy="121249"/>
          </a:xfrm>
          <a:prstGeom prst="roundRect">
            <a:avLst>
              <a:gd name="adj" fmla="val 30166"/>
            </a:avLst>
          </a:prstGeom>
          <a:solidFill>
            <a:srgbClr val="3DCD58">
              <a:alpha val="22000"/>
            </a:srgbClr>
          </a:solidFill>
          <a:ln w="12700">
            <a:solidFill>
              <a:srgbClr val="3DCD58">
                <a:alpha val="22000"/>
              </a:srgbClr>
            </a:solidFill>
            <a:prstDash val="solid"/>
          </a:ln>
        </p:spPr>
      </p:sp>
      <p:sp>
        <p:nvSpPr>
          <p:cNvPr id="46" name="Shape 44"/>
          <p:cNvSpPr/>
          <p:nvPr/>
        </p:nvSpPr>
        <p:spPr>
          <a:xfrm>
            <a:off x="4329852" y="2436876"/>
            <a:ext cx="146304" cy="146304"/>
          </a:xfrm>
          <a:prstGeom prst="ellipse">
            <a:avLst/>
          </a:prstGeom>
          <a:solidFill>
            <a:srgbClr val="FFB04C"/>
          </a:solidFill>
          <a:ln w="15240">
            <a:solidFill>
              <a:srgbClr val="FFFFFF"/>
            </a:solidFill>
            <a:prstDash val="solid"/>
          </a:ln>
        </p:spPr>
      </p:sp>
      <p:sp>
        <p:nvSpPr>
          <p:cNvPr id="47" name="Shape 45"/>
          <p:cNvSpPr/>
          <p:nvPr/>
        </p:nvSpPr>
        <p:spPr>
          <a:xfrm>
            <a:off x="5005974" y="2436876"/>
            <a:ext cx="146304" cy="146304"/>
          </a:xfrm>
          <a:prstGeom prst="ellipse">
            <a:avLst/>
          </a:prstGeom>
          <a:solidFill>
            <a:srgbClr val="007A27"/>
          </a:solidFill>
          <a:ln w="15240">
            <a:solidFill>
              <a:srgbClr val="FFFFFF"/>
            </a:solidFill>
            <a:prstDash val="solid"/>
          </a:ln>
        </p:spPr>
      </p:sp>
      <p:sp>
        <p:nvSpPr>
          <p:cNvPr id="48" name="Shape 46"/>
          <p:cNvSpPr/>
          <p:nvPr/>
        </p:nvSpPr>
        <p:spPr>
          <a:xfrm>
            <a:off x="1033272" y="3044952"/>
            <a:ext cx="10536631" cy="0"/>
          </a:xfrm>
          <a:prstGeom prst="line">
            <a:avLst/>
          </a:prstGeom>
          <a:noFill/>
          <a:ln w="4445">
            <a:solidFill>
              <a:srgbClr val="E2E6E2"/>
            </a:solidFill>
            <a:prstDash val="solid"/>
          </a:ln>
        </p:spPr>
      </p:sp>
      <p:sp>
        <p:nvSpPr>
          <p:cNvPr id="49" name="Shape 47"/>
          <p:cNvSpPr/>
          <p:nvPr/>
        </p:nvSpPr>
        <p:spPr>
          <a:xfrm>
            <a:off x="1143000" y="2756916"/>
            <a:ext cx="45720" cy="219456"/>
          </a:xfrm>
          <a:prstGeom prst="roundRect">
            <a:avLst>
              <a:gd name="adj" fmla="val 60000"/>
            </a:avLst>
          </a:prstGeom>
          <a:solidFill>
            <a:srgbClr val="3DCD58"/>
          </a:solidFill>
          <a:ln w="12700">
            <a:solidFill>
              <a:srgbClr val="3DCD58"/>
            </a:solidFill>
            <a:prstDash val="solid"/>
          </a:ln>
        </p:spPr>
      </p:sp>
      <p:sp>
        <p:nvSpPr>
          <p:cNvPr id="50" name="Text 48"/>
          <p:cNvSpPr/>
          <p:nvPr/>
        </p:nvSpPr>
        <p:spPr>
          <a:xfrm>
            <a:off x="1243584" y="2720340"/>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Supply Chain</a:t>
            </a:r>
            <a:endParaRPr lang="en-US" sz="950" dirty="0"/>
          </a:p>
        </p:txBody>
      </p:sp>
      <p:sp>
        <p:nvSpPr>
          <p:cNvPr id="51" name="Shape 49"/>
          <p:cNvSpPr/>
          <p:nvPr/>
        </p:nvSpPr>
        <p:spPr>
          <a:xfrm>
            <a:off x="3456432" y="2806019"/>
            <a:ext cx="338061" cy="121249"/>
          </a:xfrm>
          <a:prstGeom prst="roundRect">
            <a:avLst>
              <a:gd name="adj" fmla="val 30166"/>
            </a:avLst>
          </a:prstGeom>
          <a:solidFill>
            <a:srgbClr val="3DCD58"/>
          </a:solidFill>
          <a:ln w="12700">
            <a:solidFill>
              <a:srgbClr val="3DCD58"/>
            </a:solidFill>
            <a:prstDash val="solid"/>
          </a:ln>
        </p:spPr>
      </p:sp>
      <p:sp>
        <p:nvSpPr>
          <p:cNvPr id="52" name="Shape 50"/>
          <p:cNvSpPr/>
          <p:nvPr/>
        </p:nvSpPr>
        <p:spPr>
          <a:xfrm>
            <a:off x="3794493" y="2806019"/>
            <a:ext cx="7775410" cy="121249"/>
          </a:xfrm>
          <a:prstGeom prst="roundRect">
            <a:avLst>
              <a:gd name="adj" fmla="val 30166"/>
            </a:avLst>
          </a:prstGeom>
          <a:solidFill>
            <a:srgbClr val="3DCD58">
              <a:alpha val="22000"/>
            </a:srgbClr>
          </a:solidFill>
          <a:ln w="12700">
            <a:solidFill>
              <a:srgbClr val="3DCD58">
                <a:alpha val="22000"/>
              </a:srgbClr>
            </a:solidFill>
            <a:prstDash val="solid"/>
          </a:ln>
        </p:spPr>
      </p:sp>
      <p:sp>
        <p:nvSpPr>
          <p:cNvPr id="53" name="Shape 51"/>
          <p:cNvSpPr/>
          <p:nvPr/>
        </p:nvSpPr>
        <p:spPr>
          <a:xfrm>
            <a:off x="3721341" y="2793492"/>
            <a:ext cx="146304" cy="146304"/>
          </a:xfrm>
          <a:prstGeom prst="ellipse">
            <a:avLst/>
          </a:prstGeom>
          <a:solidFill>
            <a:srgbClr val="007A27"/>
          </a:solidFill>
          <a:ln w="15240">
            <a:solidFill>
              <a:srgbClr val="FFFFFF"/>
            </a:solidFill>
            <a:prstDash val="solid"/>
          </a:ln>
        </p:spPr>
      </p:sp>
      <p:sp>
        <p:nvSpPr>
          <p:cNvPr id="54" name="Shape 52"/>
          <p:cNvSpPr/>
          <p:nvPr/>
        </p:nvSpPr>
        <p:spPr>
          <a:xfrm>
            <a:off x="1033272" y="3401568"/>
            <a:ext cx="10536631" cy="0"/>
          </a:xfrm>
          <a:prstGeom prst="line">
            <a:avLst/>
          </a:prstGeom>
          <a:noFill/>
          <a:ln w="4445">
            <a:solidFill>
              <a:srgbClr val="E2E6E2"/>
            </a:solidFill>
            <a:prstDash val="solid"/>
          </a:ln>
        </p:spPr>
      </p:sp>
      <p:sp>
        <p:nvSpPr>
          <p:cNvPr id="55" name="Shape 53"/>
          <p:cNvSpPr/>
          <p:nvPr/>
        </p:nvSpPr>
        <p:spPr>
          <a:xfrm>
            <a:off x="1143000" y="3113532"/>
            <a:ext cx="45720" cy="219456"/>
          </a:xfrm>
          <a:prstGeom prst="roundRect">
            <a:avLst>
              <a:gd name="adj" fmla="val 60000"/>
            </a:avLst>
          </a:prstGeom>
          <a:solidFill>
            <a:srgbClr val="3DCD58"/>
          </a:solidFill>
          <a:ln w="12700">
            <a:solidFill>
              <a:srgbClr val="3DCD58"/>
            </a:solidFill>
            <a:prstDash val="solid"/>
          </a:ln>
        </p:spPr>
      </p:sp>
      <p:sp>
        <p:nvSpPr>
          <p:cNvPr id="56" name="Text 54"/>
          <p:cNvSpPr/>
          <p:nvPr/>
        </p:nvSpPr>
        <p:spPr>
          <a:xfrm>
            <a:off x="1243584" y="30769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Climate Risk</a:t>
            </a:r>
            <a:endParaRPr lang="en-US" sz="950" dirty="0"/>
          </a:p>
        </p:txBody>
      </p:sp>
      <p:sp>
        <p:nvSpPr>
          <p:cNvPr id="57" name="Shape 55"/>
          <p:cNvSpPr/>
          <p:nvPr/>
        </p:nvSpPr>
        <p:spPr>
          <a:xfrm>
            <a:off x="3456432" y="3162635"/>
            <a:ext cx="2298817" cy="121249"/>
          </a:xfrm>
          <a:prstGeom prst="roundRect">
            <a:avLst>
              <a:gd name="adj" fmla="val 30166"/>
            </a:avLst>
          </a:prstGeom>
          <a:solidFill>
            <a:srgbClr val="3DCD58"/>
          </a:solidFill>
          <a:ln w="12700">
            <a:solidFill>
              <a:srgbClr val="3DCD58"/>
            </a:solidFill>
            <a:prstDash val="solid"/>
          </a:ln>
        </p:spPr>
      </p:sp>
      <p:sp>
        <p:nvSpPr>
          <p:cNvPr id="58" name="Shape 56"/>
          <p:cNvSpPr/>
          <p:nvPr/>
        </p:nvSpPr>
        <p:spPr>
          <a:xfrm>
            <a:off x="5755249" y="3162635"/>
            <a:ext cx="5814654" cy="121249"/>
          </a:xfrm>
          <a:prstGeom prst="roundRect">
            <a:avLst>
              <a:gd name="adj" fmla="val 30166"/>
            </a:avLst>
          </a:prstGeom>
          <a:solidFill>
            <a:srgbClr val="3DCD58">
              <a:alpha val="22000"/>
            </a:srgbClr>
          </a:solidFill>
          <a:ln w="12700">
            <a:solidFill>
              <a:srgbClr val="3DCD58">
                <a:alpha val="22000"/>
              </a:srgbClr>
            </a:solidFill>
            <a:prstDash val="solid"/>
          </a:ln>
        </p:spPr>
      </p:sp>
      <p:sp>
        <p:nvSpPr>
          <p:cNvPr id="59" name="Shape 57"/>
          <p:cNvSpPr/>
          <p:nvPr/>
        </p:nvSpPr>
        <p:spPr>
          <a:xfrm>
            <a:off x="4329852" y="3150108"/>
            <a:ext cx="146304" cy="146304"/>
          </a:xfrm>
          <a:prstGeom prst="ellipse">
            <a:avLst/>
          </a:prstGeom>
          <a:solidFill>
            <a:srgbClr val="FFB04C"/>
          </a:solidFill>
          <a:ln w="15240">
            <a:solidFill>
              <a:srgbClr val="FFFFFF"/>
            </a:solidFill>
            <a:prstDash val="solid"/>
          </a:ln>
        </p:spPr>
      </p:sp>
      <p:sp>
        <p:nvSpPr>
          <p:cNvPr id="60" name="Shape 58"/>
          <p:cNvSpPr/>
          <p:nvPr/>
        </p:nvSpPr>
        <p:spPr>
          <a:xfrm>
            <a:off x="5682097" y="3150108"/>
            <a:ext cx="146304" cy="146304"/>
          </a:xfrm>
          <a:prstGeom prst="ellipse">
            <a:avLst/>
          </a:prstGeom>
          <a:solidFill>
            <a:srgbClr val="007A27"/>
          </a:solidFill>
          <a:ln w="15240">
            <a:solidFill>
              <a:srgbClr val="FFFFFF"/>
            </a:solidFill>
            <a:prstDash val="solid"/>
          </a:ln>
        </p:spPr>
      </p:sp>
      <p:sp>
        <p:nvSpPr>
          <p:cNvPr id="61" name="Shape 59"/>
          <p:cNvSpPr/>
          <p:nvPr/>
        </p:nvSpPr>
        <p:spPr>
          <a:xfrm>
            <a:off x="1033272" y="3758184"/>
            <a:ext cx="10536631" cy="0"/>
          </a:xfrm>
          <a:prstGeom prst="line">
            <a:avLst/>
          </a:prstGeom>
          <a:noFill/>
          <a:ln w="4445">
            <a:solidFill>
              <a:srgbClr val="E2E6E2"/>
            </a:solidFill>
            <a:prstDash val="solid"/>
          </a:ln>
        </p:spPr>
      </p:sp>
      <p:sp>
        <p:nvSpPr>
          <p:cNvPr id="62" name="Shape 60"/>
          <p:cNvSpPr/>
          <p:nvPr/>
        </p:nvSpPr>
        <p:spPr>
          <a:xfrm>
            <a:off x="1143000" y="3470148"/>
            <a:ext cx="45720" cy="219456"/>
          </a:xfrm>
          <a:prstGeom prst="roundRect">
            <a:avLst>
              <a:gd name="adj" fmla="val 60000"/>
            </a:avLst>
          </a:prstGeom>
          <a:solidFill>
            <a:srgbClr val="3DCD58"/>
          </a:solidFill>
          <a:ln w="12700">
            <a:solidFill>
              <a:srgbClr val="3DCD58"/>
            </a:solidFill>
            <a:prstDash val="solid"/>
          </a:ln>
        </p:spPr>
      </p:sp>
      <p:sp>
        <p:nvSpPr>
          <p:cNvPr id="63" name="Text 61"/>
          <p:cNvSpPr/>
          <p:nvPr/>
        </p:nvSpPr>
        <p:spPr>
          <a:xfrm>
            <a:off x="1243584" y="3433572"/>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Reporting &amp; Compliance</a:t>
            </a:r>
            <a:endParaRPr lang="en-US" sz="950" dirty="0"/>
          </a:p>
        </p:txBody>
      </p:sp>
      <p:sp>
        <p:nvSpPr>
          <p:cNvPr id="64" name="Shape 62"/>
          <p:cNvSpPr/>
          <p:nvPr/>
        </p:nvSpPr>
        <p:spPr>
          <a:xfrm>
            <a:off x="4132555" y="3519251"/>
            <a:ext cx="2974939" cy="121249"/>
          </a:xfrm>
          <a:prstGeom prst="roundRect">
            <a:avLst>
              <a:gd name="adj" fmla="val 30166"/>
            </a:avLst>
          </a:prstGeom>
          <a:solidFill>
            <a:srgbClr val="3DCD58"/>
          </a:solidFill>
          <a:ln w="12700">
            <a:solidFill>
              <a:srgbClr val="3DCD58"/>
            </a:solidFill>
            <a:prstDash val="solid"/>
          </a:ln>
        </p:spPr>
      </p:sp>
      <p:sp>
        <p:nvSpPr>
          <p:cNvPr id="65" name="Shape 63"/>
          <p:cNvSpPr/>
          <p:nvPr/>
        </p:nvSpPr>
        <p:spPr>
          <a:xfrm>
            <a:off x="7107494" y="3519251"/>
            <a:ext cx="4462409" cy="121249"/>
          </a:xfrm>
          <a:prstGeom prst="roundRect">
            <a:avLst>
              <a:gd name="adj" fmla="val 30166"/>
            </a:avLst>
          </a:prstGeom>
          <a:solidFill>
            <a:srgbClr val="3DCD58">
              <a:alpha val="22000"/>
            </a:srgbClr>
          </a:solidFill>
          <a:ln w="12700">
            <a:solidFill>
              <a:srgbClr val="3DCD58">
                <a:alpha val="22000"/>
              </a:srgbClr>
            </a:solidFill>
            <a:prstDash val="solid"/>
          </a:ln>
        </p:spPr>
      </p:sp>
      <p:sp>
        <p:nvSpPr>
          <p:cNvPr id="66" name="Shape 64"/>
          <p:cNvSpPr/>
          <p:nvPr/>
        </p:nvSpPr>
        <p:spPr>
          <a:xfrm>
            <a:off x="5682097" y="3506724"/>
            <a:ext cx="146304" cy="146304"/>
          </a:xfrm>
          <a:prstGeom prst="ellipse">
            <a:avLst/>
          </a:prstGeom>
          <a:solidFill>
            <a:srgbClr val="FFB04C"/>
          </a:solidFill>
          <a:ln w="15240">
            <a:solidFill>
              <a:srgbClr val="FFFFFF"/>
            </a:solidFill>
            <a:prstDash val="solid"/>
          </a:ln>
        </p:spPr>
      </p:sp>
      <p:sp>
        <p:nvSpPr>
          <p:cNvPr id="67" name="Shape 65"/>
          <p:cNvSpPr/>
          <p:nvPr/>
        </p:nvSpPr>
        <p:spPr>
          <a:xfrm>
            <a:off x="7034342" y="3506724"/>
            <a:ext cx="146304" cy="146304"/>
          </a:xfrm>
          <a:prstGeom prst="ellipse">
            <a:avLst/>
          </a:prstGeom>
          <a:solidFill>
            <a:srgbClr val="007A27"/>
          </a:solidFill>
          <a:ln w="15240">
            <a:solidFill>
              <a:srgbClr val="FFFFFF"/>
            </a:solidFill>
            <a:prstDash val="solid"/>
          </a:ln>
        </p:spPr>
      </p:sp>
      <p:sp>
        <p:nvSpPr>
          <p:cNvPr id="68" name="Shape 66"/>
          <p:cNvSpPr/>
          <p:nvPr/>
        </p:nvSpPr>
        <p:spPr>
          <a:xfrm>
            <a:off x="1033272" y="4114800"/>
            <a:ext cx="10536631" cy="0"/>
          </a:xfrm>
          <a:prstGeom prst="line">
            <a:avLst/>
          </a:prstGeom>
          <a:noFill/>
          <a:ln w="4445">
            <a:solidFill>
              <a:srgbClr val="E2E6E2"/>
            </a:solidFill>
            <a:prstDash val="solid"/>
          </a:ln>
        </p:spPr>
      </p:sp>
      <p:sp>
        <p:nvSpPr>
          <p:cNvPr id="69" name="Shape 67"/>
          <p:cNvSpPr/>
          <p:nvPr/>
        </p:nvSpPr>
        <p:spPr>
          <a:xfrm>
            <a:off x="1143000" y="3826764"/>
            <a:ext cx="45720" cy="219456"/>
          </a:xfrm>
          <a:prstGeom prst="roundRect">
            <a:avLst>
              <a:gd name="adj" fmla="val 60000"/>
            </a:avLst>
          </a:prstGeom>
          <a:solidFill>
            <a:srgbClr val="3DCD58"/>
          </a:solidFill>
          <a:ln w="12700">
            <a:solidFill>
              <a:srgbClr val="3DCD58"/>
            </a:solidFill>
            <a:prstDash val="solid"/>
          </a:ln>
        </p:spPr>
      </p:sp>
      <p:sp>
        <p:nvSpPr>
          <p:cNvPr id="70" name="Text 68"/>
          <p:cNvSpPr/>
          <p:nvPr/>
        </p:nvSpPr>
        <p:spPr>
          <a:xfrm>
            <a:off x="1243584" y="3790188"/>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Core Platform</a:t>
            </a:r>
            <a:endParaRPr lang="en-US" sz="950" dirty="0"/>
          </a:p>
        </p:txBody>
      </p:sp>
      <p:sp>
        <p:nvSpPr>
          <p:cNvPr id="71" name="Shape 69"/>
          <p:cNvSpPr/>
          <p:nvPr/>
        </p:nvSpPr>
        <p:spPr>
          <a:xfrm>
            <a:off x="3456432" y="3875867"/>
            <a:ext cx="8113471" cy="121249"/>
          </a:xfrm>
          <a:prstGeom prst="roundRect">
            <a:avLst>
              <a:gd name="adj" fmla="val 30166"/>
            </a:avLst>
          </a:prstGeom>
          <a:solidFill>
            <a:srgbClr val="3DCD58"/>
          </a:solidFill>
          <a:ln w="12700">
            <a:solidFill>
              <a:srgbClr val="3DCD58"/>
            </a:solidFill>
            <a:prstDash val="solid"/>
          </a:ln>
        </p:spPr>
      </p:sp>
      <p:sp>
        <p:nvSpPr>
          <p:cNvPr id="72" name="Shape 70"/>
          <p:cNvSpPr/>
          <p:nvPr/>
        </p:nvSpPr>
        <p:spPr>
          <a:xfrm>
            <a:off x="621792" y="4114800"/>
            <a:ext cx="411480" cy="713232"/>
          </a:xfrm>
          <a:prstGeom prst="rect">
            <a:avLst/>
          </a:prstGeom>
          <a:solidFill>
            <a:srgbClr val="275B7F"/>
          </a:solidFill>
          <a:ln w="7620">
            <a:solidFill>
              <a:srgbClr val="FFFFFF"/>
            </a:solidFill>
            <a:prstDash val="solid"/>
          </a:ln>
        </p:spPr>
      </p:sp>
      <p:sp>
        <p:nvSpPr>
          <p:cNvPr id="73" name="Text 71"/>
          <p:cNvSpPr/>
          <p:nvPr/>
        </p:nvSpPr>
        <p:spPr>
          <a:xfrm>
            <a:off x="685800" y="4160520"/>
            <a:ext cx="283464" cy="621792"/>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EFFICIENCY</a:t>
            </a:r>
            <a:endParaRPr lang="en-US" sz="750" dirty="0"/>
          </a:p>
        </p:txBody>
      </p:sp>
      <p:sp>
        <p:nvSpPr>
          <p:cNvPr id="74" name="Shape 72"/>
          <p:cNvSpPr/>
          <p:nvPr/>
        </p:nvSpPr>
        <p:spPr>
          <a:xfrm>
            <a:off x="1033272" y="4471416"/>
            <a:ext cx="10536631" cy="0"/>
          </a:xfrm>
          <a:prstGeom prst="line">
            <a:avLst/>
          </a:prstGeom>
          <a:noFill/>
          <a:ln w="4445">
            <a:solidFill>
              <a:srgbClr val="E2E6E2"/>
            </a:solidFill>
            <a:prstDash val="solid"/>
          </a:ln>
        </p:spPr>
      </p:sp>
      <p:sp>
        <p:nvSpPr>
          <p:cNvPr id="75" name="Shape 73"/>
          <p:cNvSpPr/>
          <p:nvPr/>
        </p:nvSpPr>
        <p:spPr>
          <a:xfrm>
            <a:off x="1143000" y="4183380"/>
            <a:ext cx="45720" cy="219456"/>
          </a:xfrm>
          <a:prstGeom prst="roundRect">
            <a:avLst>
              <a:gd name="adj" fmla="val 60000"/>
            </a:avLst>
          </a:prstGeom>
          <a:solidFill>
            <a:srgbClr val="275B7F"/>
          </a:solidFill>
          <a:ln w="12700">
            <a:solidFill>
              <a:srgbClr val="275B7F"/>
            </a:solidFill>
            <a:prstDash val="solid"/>
          </a:ln>
        </p:spPr>
      </p:sp>
      <p:sp>
        <p:nvSpPr>
          <p:cNvPr id="76" name="Text 74"/>
          <p:cNvSpPr/>
          <p:nvPr/>
        </p:nvSpPr>
        <p:spPr>
          <a:xfrm>
            <a:off x="1243584" y="4146804"/>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Interval Data Management</a:t>
            </a:r>
            <a:endParaRPr lang="en-US" sz="950" dirty="0"/>
          </a:p>
        </p:txBody>
      </p:sp>
      <p:sp>
        <p:nvSpPr>
          <p:cNvPr id="77" name="Shape 75"/>
          <p:cNvSpPr/>
          <p:nvPr/>
        </p:nvSpPr>
        <p:spPr>
          <a:xfrm>
            <a:off x="4808677" y="4232483"/>
            <a:ext cx="2974939" cy="121249"/>
          </a:xfrm>
          <a:prstGeom prst="roundRect">
            <a:avLst>
              <a:gd name="adj" fmla="val 30166"/>
            </a:avLst>
          </a:prstGeom>
          <a:solidFill>
            <a:srgbClr val="275B7F"/>
          </a:solidFill>
          <a:ln w="12700">
            <a:solidFill>
              <a:srgbClr val="275B7F"/>
            </a:solidFill>
            <a:prstDash val="solid"/>
          </a:ln>
        </p:spPr>
      </p:sp>
      <p:sp>
        <p:nvSpPr>
          <p:cNvPr id="78" name="Shape 76"/>
          <p:cNvSpPr/>
          <p:nvPr/>
        </p:nvSpPr>
        <p:spPr>
          <a:xfrm>
            <a:off x="7783617" y="4232483"/>
            <a:ext cx="3786287" cy="121249"/>
          </a:xfrm>
          <a:prstGeom prst="roundRect">
            <a:avLst>
              <a:gd name="adj" fmla="val 30166"/>
            </a:avLst>
          </a:prstGeom>
          <a:solidFill>
            <a:srgbClr val="275B7F">
              <a:alpha val="22000"/>
            </a:srgbClr>
          </a:solidFill>
          <a:ln w="12700">
            <a:solidFill>
              <a:srgbClr val="275B7F">
                <a:alpha val="22000"/>
              </a:srgbClr>
            </a:solidFill>
            <a:prstDash val="solid"/>
          </a:ln>
        </p:spPr>
      </p:sp>
      <p:sp>
        <p:nvSpPr>
          <p:cNvPr id="79" name="Shape 77"/>
          <p:cNvSpPr/>
          <p:nvPr/>
        </p:nvSpPr>
        <p:spPr>
          <a:xfrm>
            <a:off x="6358219" y="4219956"/>
            <a:ext cx="146304" cy="146304"/>
          </a:xfrm>
          <a:prstGeom prst="ellipse">
            <a:avLst/>
          </a:prstGeom>
          <a:solidFill>
            <a:srgbClr val="FFB04C"/>
          </a:solidFill>
          <a:ln w="15240">
            <a:solidFill>
              <a:srgbClr val="FFFFFF"/>
            </a:solidFill>
            <a:prstDash val="solid"/>
          </a:ln>
        </p:spPr>
      </p:sp>
      <p:sp>
        <p:nvSpPr>
          <p:cNvPr id="80" name="Shape 78"/>
          <p:cNvSpPr/>
          <p:nvPr/>
        </p:nvSpPr>
        <p:spPr>
          <a:xfrm>
            <a:off x="7710465" y="4219956"/>
            <a:ext cx="146304" cy="146304"/>
          </a:xfrm>
          <a:prstGeom prst="ellipse">
            <a:avLst/>
          </a:prstGeom>
          <a:solidFill>
            <a:srgbClr val="007A27"/>
          </a:solidFill>
          <a:ln w="15240">
            <a:solidFill>
              <a:srgbClr val="FFFFFF"/>
            </a:solidFill>
            <a:prstDash val="solid"/>
          </a:ln>
        </p:spPr>
      </p:sp>
      <p:sp>
        <p:nvSpPr>
          <p:cNvPr id="81" name="Shape 79"/>
          <p:cNvSpPr/>
          <p:nvPr/>
        </p:nvSpPr>
        <p:spPr>
          <a:xfrm>
            <a:off x="1033272" y="4828032"/>
            <a:ext cx="10536631" cy="0"/>
          </a:xfrm>
          <a:prstGeom prst="line">
            <a:avLst/>
          </a:prstGeom>
          <a:noFill/>
          <a:ln w="4445">
            <a:solidFill>
              <a:srgbClr val="E2E6E2"/>
            </a:solidFill>
            <a:prstDash val="solid"/>
          </a:ln>
        </p:spPr>
      </p:sp>
      <p:sp>
        <p:nvSpPr>
          <p:cNvPr id="82" name="Shape 80"/>
          <p:cNvSpPr/>
          <p:nvPr/>
        </p:nvSpPr>
        <p:spPr>
          <a:xfrm>
            <a:off x="1143000" y="4539996"/>
            <a:ext cx="45720" cy="219456"/>
          </a:xfrm>
          <a:prstGeom prst="roundRect">
            <a:avLst>
              <a:gd name="adj" fmla="val 60000"/>
            </a:avLst>
          </a:prstGeom>
          <a:solidFill>
            <a:srgbClr val="275B7F"/>
          </a:solidFill>
          <a:ln w="12700">
            <a:solidFill>
              <a:srgbClr val="275B7F"/>
            </a:solidFill>
            <a:prstDash val="solid"/>
          </a:ln>
        </p:spPr>
      </p:sp>
      <p:sp>
        <p:nvSpPr>
          <p:cNvPr id="83" name="Text 81"/>
          <p:cNvSpPr/>
          <p:nvPr/>
        </p:nvSpPr>
        <p:spPr>
          <a:xfrm>
            <a:off x="1243584" y="4503420"/>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ECMs &amp; Audits Digitization</a:t>
            </a:r>
            <a:endParaRPr lang="en-US" sz="950" dirty="0"/>
          </a:p>
        </p:txBody>
      </p:sp>
      <p:sp>
        <p:nvSpPr>
          <p:cNvPr id="84" name="Shape 82"/>
          <p:cNvSpPr/>
          <p:nvPr/>
        </p:nvSpPr>
        <p:spPr>
          <a:xfrm>
            <a:off x="4808677" y="4589099"/>
            <a:ext cx="2974939" cy="121249"/>
          </a:xfrm>
          <a:prstGeom prst="roundRect">
            <a:avLst>
              <a:gd name="adj" fmla="val 30166"/>
            </a:avLst>
          </a:prstGeom>
          <a:solidFill>
            <a:srgbClr val="275B7F"/>
          </a:solidFill>
          <a:ln w="12700">
            <a:solidFill>
              <a:srgbClr val="275B7F"/>
            </a:solidFill>
            <a:prstDash val="solid"/>
          </a:ln>
        </p:spPr>
      </p:sp>
      <p:sp>
        <p:nvSpPr>
          <p:cNvPr id="85" name="Shape 83"/>
          <p:cNvSpPr/>
          <p:nvPr/>
        </p:nvSpPr>
        <p:spPr>
          <a:xfrm>
            <a:off x="7783617" y="4589099"/>
            <a:ext cx="3786287" cy="121249"/>
          </a:xfrm>
          <a:prstGeom prst="roundRect">
            <a:avLst>
              <a:gd name="adj" fmla="val 30166"/>
            </a:avLst>
          </a:prstGeom>
          <a:solidFill>
            <a:srgbClr val="275B7F">
              <a:alpha val="22000"/>
            </a:srgbClr>
          </a:solidFill>
          <a:ln w="12700">
            <a:solidFill>
              <a:srgbClr val="275B7F">
                <a:alpha val="22000"/>
              </a:srgbClr>
            </a:solidFill>
            <a:prstDash val="solid"/>
          </a:ln>
        </p:spPr>
      </p:sp>
      <p:sp>
        <p:nvSpPr>
          <p:cNvPr id="86" name="Shape 84"/>
          <p:cNvSpPr/>
          <p:nvPr/>
        </p:nvSpPr>
        <p:spPr>
          <a:xfrm>
            <a:off x="6358219" y="4576572"/>
            <a:ext cx="146304" cy="146304"/>
          </a:xfrm>
          <a:prstGeom prst="ellipse">
            <a:avLst/>
          </a:prstGeom>
          <a:solidFill>
            <a:srgbClr val="FFB04C"/>
          </a:solidFill>
          <a:ln w="15240">
            <a:solidFill>
              <a:srgbClr val="FFFFFF"/>
            </a:solidFill>
            <a:prstDash val="solid"/>
          </a:ln>
        </p:spPr>
      </p:sp>
      <p:sp>
        <p:nvSpPr>
          <p:cNvPr id="87" name="Shape 85"/>
          <p:cNvSpPr/>
          <p:nvPr/>
        </p:nvSpPr>
        <p:spPr>
          <a:xfrm>
            <a:off x="7710465" y="4576572"/>
            <a:ext cx="146304" cy="146304"/>
          </a:xfrm>
          <a:prstGeom prst="ellipse">
            <a:avLst/>
          </a:prstGeom>
          <a:solidFill>
            <a:srgbClr val="007A27"/>
          </a:solidFill>
          <a:ln w="15240">
            <a:solidFill>
              <a:srgbClr val="FFFFFF"/>
            </a:solidFill>
            <a:prstDash val="solid"/>
          </a:ln>
        </p:spPr>
      </p:sp>
      <p:sp>
        <p:nvSpPr>
          <p:cNvPr id="88" name="Shape 86"/>
          <p:cNvSpPr/>
          <p:nvPr/>
        </p:nvSpPr>
        <p:spPr>
          <a:xfrm>
            <a:off x="621792" y="4828032"/>
            <a:ext cx="411480" cy="1069848"/>
          </a:xfrm>
          <a:prstGeom prst="rect">
            <a:avLst/>
          </a:prstGeom>
          <a:solidFill>
            <a:srgbClr val="FFB04C"/>
          </a:solidFill>
          <a:ln w="7620">
            <a:solidFill>
              <a:srgbClr val="FFFFFF"/>
            </a:solidFill>
            <a:prstDash val="solid"/>
          </a:ln>
        </p:spPr>
      </p:sp>
      <p:sp>
        <p:nvSpPr>
          <p:cNvPr id="89" name="Text 87"/>
          <p:cNvSpPr/>
          <p:nvPr/>
        </p:nvSpPr>
        <p:spPr>
          <a:xfrm>
            <a:off x="685800" y="4873752"/>
            <a:ext cx="283464" cy="978408"/>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ENERGY</a:t>
            </a:r>
            <a:endParaRPr lang="en-US" sz="750" dirty="0"/>
          </a:p>
        </p:txBody>
      </p:sp>
      <p:sp>
        <p:nvSpPr>
          <p:cNvPr id="90" name="Shape 88"/>
          <p:cNvSpPr/>
          <p:nvPr/>
        </p:nvSpPr>
        <p:spPr>
          <a:xfrm>
            <a:off x="1033272" y="5184648"/>
            <a:ext cx="10536631" cy="0"/>
          </a:xfrm>
          <a:prstGeom prst="line">
            <a:avLst/>
          </a:prstGeom>
          <a:noFill/>
          <a:ln w="4445">
            <a:solidFill>
              <a:srgbClr val="E2E6E2"/>
            </a:solidFill>
            <a:prstDash val="solid"/>
          </a:ln>
        </p:spPr>
      </p:sp>
      <p:sp>
        <p:nvSpPr>
          <p:cNvPr id="91" name="Shape 89"/>
          <p:cNvSpPr/>
          <p:nvPr/>
        </p:nvSpPr>
        <p:spPr>
          <a:xfrm>
            <a:off x="1143000" y="4896612"/>
            <a:ext cx="45720" cy="219456"/>
          </a:xfrm>
          <a:prstGeom prst="roundRect">
            <a:avLst>
              <a:gd name="adj" fmla="val 60000"/>
            </a:avLst>
          </a:prstGeom>
          <a:solidFill>
            <a:srgbClr val="FFB04C"/>
          </a:solidFill>
          <a:ln w="12700">
            <a:solidFill>
              <a:srgbClr val="FFB04C"/>
            </a:solidFill>
            <a:prstDash val="solid"/>
          </a:ln>
        </p:spPr>
      </p:sp>
      <p:sp>
        <p:nvSpPr>
          <p:cNvPr id="92" name="Text 90"/>
          <p:cNvSpPr/>
          <p:nvPr/>
        </p:nvSpPr>
        <p:spPr>
          <a:xfrm>
            <a:off x="1243584" y="48600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Advanced Invoice Processing</a:t>
            </a:r>
            <a:endParaRPr lang="en-US" sz="950" dirty="0"/>
          </a:p>
        </p:txBody>
      </p:sp>
      <p:sp>
        <p:nvSpPr>
          <p:cNvPr id="93" name="Shape 91"/>
          <p:cNvSpPr/>
          <p:nvPr/>
        </p:nvSpPr>
        <p:spPr>
          <a:xfrm>
            <a:off x="4808677" y="4945715"/>
            <a:ext cx="2298817" cy="121249"/>
          </a:xfrm>
          <a:prstGeom prst="roundRect">
            <a:avLst>
              <a:gd name="adj" fmla="val 30166"/>
            </a:avLst>
          </a:prstGeom>
          <a:solidFill>
            <a:srgbClr val="FFB04C"/>
          </a:solidFill>
          <a:ln w="12700">
            <a:solidFill>
              <a:srgbClr val="FFB04C"/>
            </a:solidFill>
            <a:prstDash val="solid"/>
          </a:ln>
        </p:spPr>
      </p:sp>
      <p:sp>
        <p:nvSpPr>
          <p:cNvPr id="94" name="Shape 92"/>
          <p:cNvSpPr/>
          <p:nvPr/>
        </p:nvSpPr>
        <p:spPr>
          <a:xfrm>
            <a:off x="7107494" y="4945715"/>
            <a:ext cx="4462409" cy="121249"/>
          </a:xfrm>
          <a:prstGeom prst="roundRect">
            <a:avLst>
              <a:gd name="adj" fmla="val 30166"/>
            </a:avLst>
          </a:prstGeom>
          <a:solidFill>
            <a:srgbClr val="FFB04C">
              <a:alpha val="22000"/>
            </a:srgbClr>
          </a:solidFill>
          <a:ln w="12700">
            <a:solidFill>
              <a:srgbClr val="FFB04C">
                <a:alpha val="22000"/>
              </a:srgbClr>
            </a:solidFill>
            <a:prstDash val="solid"/>
          </a:ln>
        </p:spPr>
      </p:sp>
      <p:sp>
        <p:nvSpPr>
          <p:cNvPr id="95" name="Shape 93"/>
          <p:cNvSpPr/>
          <p:nvPr/>
        </p:nvSpPr>
        <p:spPr>
          <a:xfrm>
            <a:off x="6358219" y="4933188"/>
            <a:ext cx="146304" cy="146304"/>
          </a:xfrm>
          <a:prstGeom prst="ellipse">
            <a:avLst/>
          </a:prstGeom>
          <a:solidFill>
            <a:srgbClr val="FFB04C"/>
          </a:solidFill>
          <a:ln w="15240">
            <a:solidFill>
              <a:srgbClr val="FFFFFF"/>
            </a:solidFill>
            <a:prstDash val="solid"/>
          </a:ln>
        </p:spPr>
      </p:sp>
      <p:sp>
        <p:nvSpPr>
          <p:cNvPr id="96" name="Shape 94"/>
          <p:cNvSpPr/>
          <p:nvPr/>
        </p:nvSpPr>
        <p:spPr>
          <a:xfrm>
            <a:off x="7034342" y="4933188"/>
            <a:ext cx="146304" cy="146304"/>
          </a:xfrm>
          <a:prstGeom prst="ellipse">
            <a:avLst/>
          </a:prstGeom>
          <a:solidFill>
            <a:srgbClr val="007A27"/>
          </a:solidFill>
          <a:ln w="15240">
            <a:solidFill>
              <a:srgbClr val="FFFFFF"/>
            </a:solidFill>
            <a:prstDash val="solid"/>
          </a:ln>
        </p:spPr>
      </p:sp>
      <p:sp>
        <p:nvSpPr>
          <p:cNvPr id="97" name="Shape 95"/>
          <p:cNvSpPr/>
          <p:nvPr/>
        </p:nvSpPr>
        <p:spPr>
          <a:xfrm>
            <a:off x="1033272" y="5541264"/>
            <a:ext cx="10536631" cy="0"/>
          </a:xfrm>
          <a:prstGeom prst="line">
            <a:avLst/>
          </a:prstGeom>
          <a:noFill/>
          <a:ln w="4445">
            <a:solidFill>
              <a:srgbClr val="E2E6E2"/>
            </a:solidFill>
            <a:prstDash val="solid"/>
          </a:ln>
        </p:spPr>
      </p:sp>
      <p:sp>
        <p:nvSpPr>
          <p:cNvPr id="98" name="Shape 96"/>
          <p:cNvSpPr/>
          <p:nvPr/>
        </p:nvSpPr>
        <p:spPr>
          <a:xfrm>
            <a:off x="1143000" y="5253228"/>
            <a:ext cx="45720" cy="219456"/>
          </a:xfrm>
          <a:prstGeom prst="roundRect">
            <a:avLst>
              <a:gd name="adj" fmla="val 60000"/>
            </a:avLst>
          </a:prstGeom>
          <a:solidFill>
            <a:srgbClr val="FFB04C"/>
          </a:solidFill>
          <a:ln w="12700">
            <a:solidFill>
              <a:srgbClr val="FFB04C"/>
            </a:solidFill>
            <a:prstDash val="solid"/>
          </a:ln>
        </p:spPr>
      </p:sp>
      <p:sp>
        <p:nvSpPr>
          <p:cNvPr id="99" name="Text 97"/>
          <p:cNvSpPr/>
          <p:nvPr/>
        </p:nvSpPr>
        <p:spPr>
          <a:xfrm>
            <a:off x="1243584" y="5216652"/>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Budget Management</a:t>
            </a:r>
            <a:endParaRPr lang="en-US" sz="950" dirty="0"/>
          </a:p>
        </p:txBody>
      </p:sp>
      <p:sp>
        <p:nvSpPr>
          <p:cNvPr id="100" name="Shape 98"/>
          <p:cNvSpPr/>
          <p:nvPr/>
        </p:nvSpPr>
        <p:spPr>
          <a:xfrm>
            <a:off x="5484800" y="5302331"/>
            <a:ext cx="2298817" cy="121249"/>
          </a:xfrm>
          <a:prstGeom prst="roundRect">
            <a:avLst>
              <a:gd name="adj" fmla="val 30166"/>
            </a:avLst>
          </a:prstGeom>
          <a:solidFill>
            <a:srgbClr val="FFB04C"/>
          </a:solidFill>
          <a:ln w="12700">
            <a:solidFill>
              <a:srgbClr val="FFB04C"/>
            </a:solidFill>
            <a:prstDash val="solid"/>
          </a:ln>
        </p:spPr>
      </p:sp>
      <p:sp>
        <p:nvSpPr>
          <p:cNvPr id="101" name="Shape 99"/>
          <p:cNvSpPr/>
          <p:nvPr/>
        </p:nvSpPr>
        <p:spPr>
          <a:xfrm>
            <a:off x="7783617" y="5302331"/>
            <a:ext cx="3786287" cy="121249"/>
          </a:xfrm>
          <a:prstGeom prst="roundRect">
            <a:avLst>
              <a:gd name="adj" fmla="val 30166"/>
            </a:avLst>
          </a:prstGeom>
          <a:solidFill>
            <a:srgbClr val="FFB04C">
              <a:alpha val="22000"/>
            </a:srgbClr>
          </a:solidFill>
          <a:ln w="12700">
            <a:solidFill>
              <a:srgbClr val="FFB04C">
                <a:alpha val="22000"/>
              </a:srgbClr>
            </a:solidFill>
            <a:prstDash val="solid"/>
          </a:ln>
        </p:spPr>
      </p:sp>
      <p:sp>
        <p:nvSpPr>
          <p:cNvPr id="102" name="Shape 100"/>
          <p:cNvSpPr/>
          <p:nvPr/>
        </p:nvSpPr>
        <p:spPr>
          <a:xfrm>
            <a:off x="7034342" y="5289804"/>
            <a:ext cx="146304" cy="146304"/>
          </a:xfrm>
          <a:prstGeom prst="ellipse">
            <a:avLst/>
          </a:prstGeom>
          <a:solidFill>
            <a:srgbClr val="FFB04C"/>
          </a:solidFill>
          <a:ln w="15240">
            <a:solidFill>
              <a:srgbClr val="FFFFFF"/>
            </a:solidFill>
            <a:prstDash val="solid"/>
          </a:ln>
        </p:spPr>
      </p:sp>
      <p:sp>
        <p:nvSpPr>
          <p:cNvPr id="103" name="Shape 101"/>
          <p:cNvSpPr/>
          <p:nvPr/>
        </p:nvSpPr>
        <p:spPr>
          <a:xfrm>
            <a:off x="7710465" y="5289804"/>
            <a:ext cx="146304" cy="146304"/>
          </a:xfrm>
          <a:prstGeom prst="ellipse">
            <a:avLst/>
          </a:prstGeom>
          <a:solidFill>
            <a:srgbClr val="007A27"/>
          </a:solidFill>
          <a:ln w="15240">
            <a:solidFill>
              <a:srgbClr val="FFFFFF"/>
            </a:solidFill>
            <a:prstDash val="solid"/>
          </a:ln>
        </p:spPr>
      </p:sp>
      <p:sp>
        <p:nvSpPr>
          <p:cNvPr id="104" name="Shape 102"/>
          <p:cNvSpPr/>
          <p:nvPr/>
        </p:nvSpPr>
        <p:spPr>
          <a:xfrm>
            <a:off x="1033272" y="5897880"/>
            <a:ext cx="10536631" cy="0"/>
          </a:xfrm>
          <a:prstGeom prst="line">
            <a:avLst/>
          </a:prstGeom>
          <a:noFill/>
          <a:ln w="4445">
            <a:solidFill>
              <a:srgbClr val="E2E6E2"/>
            </a:solidFill>
            <a:prstDash val="solid"/>
          </a:ln>
        </p:spPr>
      </p:sp>
      <p:sp>
        <p:nvSpPr>
          <p:cNvPr id="105" name="Shape 103"/>
          <p:cNvSpPr/>
          <p:nvPr/>
        </p:nvSpPr>
        <p:spPr>
          <a:xfrm>
            <a:off x="1143000" y="5609844"/>
            <a:ext cx="45720" cy="219456"/>
          </a:xfrm>
          <a:prstGeom prst="roundRect">
            <a:avLst>
              <a:gd name="adj" fmla="val 60000"/>
            </a:avLst>
          </a:prstGeom>
          <a:solidFill>
            <a:srgbClr val="FFB04C"/>
          </a:solidFill>
          <a:ln w="12700">
            <a:solidFill>
              <a:srgbClr val="FFB04C"/>
            </a:solidFill>
            <a:prstDash val="solid"/>
          </a:ln>
        </p:spPr>
      </p:sp>
      <p:sp>
        <p:nvSpPr>
          <p:cNvPr id="106" name="Text 104"/>
          <p:cNvSpPr/>
          <p:nvPr/>
        </p:nvSpPr>
        <p:spPr>
          <a:xfrm>
            <a:off x="1243584" y="5573268"/>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Energy Sourcing</a:t>
            </a:r>
            <a:endParaRPr lang="en-US" sz="950" dirty="0"/>
          </a:p>
        </p:txBody>
      </p:sp>
      <p:sp>
        <p:nvSpPr>
          <p:cNvPr id="107" name="Shape 105"/>
          <p:cNvSpPr/>
          <p:nvPr/>
        </p:nvSpPr>
        <p:spPr>
          <a:xfrm>
            <a:off x="6160922" y="5658947"/>
            <a:ext cx="2298817" cy="121249"/>
          </a:xfrm>
          <a:prstGeom prst="roundRect">
            <a:avLst>
              <a:gd name="adj" fmla="val 30166"/>
            </a:avLst>
          </a:prstGeom>
          <a:solidFill>
            <a:srgbClr val="FFB04C"/>
          </a:solidFill>
          <a:ln w="12700">
            <a:solidFill>
              <a:srgbClr val="FFB04C"/>
            </a:solidFill>
            <a:prstDash val="solid"/>
          </a:ln>
        </p:spPr>
      </p:sp>
      <p:sp>
        <p:nvSpPr>
          <p:cNvPr id="108" name="Shape 106"/>
          <p:cNvSpPr/>
          <p:nvPr/>
        </p:nvSpPr>
        <p:spPr>
          <a:xfrm>
            <a:off x="8459739" y="5658947"/>
            <a:ext cx="3110164" cy="121249"/>
          </a:xfrm>
          <a:prstGeom prst="roundRect">
            <a:avLst>
              <a:gd name="adj" fmla="val 30166"/>
            </a:avLst>
          </a:prstGeom>
          <a:solidFill>
            <a:srgbClr val="FFB04C">
              <a:alpha val="22000"/>
            </a:srgbClr>
          </a:solidFill>
          <a:ln w="12700">
            <a:solidFill>
              <a:srgbClr val="FFB04C">
                <a:alpha val="22000"/>
              </a:srgbClr>
            </a:solidFill>
            <a:prstDash val="solid"/>
          </a:ln>
        </p:spPr>
      </p:sp>
      <p:sp>
        <p:nvSpPr>
          <p:cNvPr id="109" name="Shape 107"/>
          <p:cNvSpPr/>
          <p:nvPr/>
        </p:nvSpPr>
        <p:spPr>
          <a:xfrm>
            <a:off x="7710465" y="5646420"/>
            <a:ext cx="146304" cy="146304"/>
          </a:xfrm>
          <a:prstGeom prst="ellipse">
            <a:avLst/>
          </a:prstGeom>
          <a:solidFill>
            <a:srgbClr val="FFB04C"/>
          </a:solidFill>
          <a:ln w="15240">
            <a:solidFill>
              <a:srgbClr val="FFFFFF"/>
            </a:solidFill>
            <a:prstDash val="solid"/>
          </a:ln>
        </p:spPr>
      </p:sp>
      <p:sp>
        <p:nvSpPr>
          <p:cNvPr id="110" name="Shape 108"/>
          <p:cNvSpPr/>
          <p:nvPr/>
        </p:nvSpPr>
        <p:spPr>
          <a:xfrm>
            <a:off x="8386587" y="5646420"/>
            <a:ext cx="146304" cy="146304"/>
          </a:xfrm>
          <a:prstGeom prst="ellipse">
            <a:avLst/>
          </a:prstGeom>
          <a:solidFill>
            <a:srgbClr val="007A27"/>
          </a:solidFill>
          <a:ln w="15240">
            <a:solidFill>
              <a:srgbClr val="FFFFFF"/>
            </a:solidFill>
            <a:prstDash val="solid"/>
          </a:ln>
        </p:spPr>
      </p:sp>
      <p:sp>
        <p:nvSpPr>
          <p:cNvPr id="111" name="Shape 109"/>
          <p:cNvSpPr/>
          <p:nvPr/>
        </p:nvSpPr>
        <p:spPr>
          <a:xfrm>
            <a:off x="7315200" y="6080760"/>
            <a:ext cx="146304" cy="146304"/>
          </a:xfrm>
          <a:prstGeom prst="ellipse">
            <a:avLst/>
          </a:prstGeom>
          <a:solidFill>
            <a:srgbClr val="FFB04C"/>
          </a:solidFill>
          <a:ln w="10160">
            <a:solidFill>
              <a:srgbClr val="FFFFFF"/>
            </a:solidFill>
            <a:prstDash val="solid"/>
          </a:ln>
        </p:spPr>
      </p:sp>
      <p:sp>
        <p:nvSpPr>
          <p:cNvPr id="112" name="Text 110"/>
          <p:cNvSpPr/>
          <p:nvPr/>
        </p:nvSpPr>
        <p:spPr>
          <a:xfrm>
            <a:off x="7534656" y="6071616"/>
            <a:ext cx="5029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MVP</a:t>
            </a:r>
            <a:endParaRPr lang="en-US" sz="850" dirty="0"/>
          </a:p>
        </p:txBody>
      </p:sp>
      <p:sp>
        <p:nvSpPr>
          <p:cNvPr id="113" name="Shape 111"/>
          <p:cNvSpPr/>
          <p:nvPr/>
        </p:nvSpPr>
        <p:spPr>
          <a:xfrm>
            <a:off x="8183880" y="6080760"/>
            <a:ext cx="146304" cy="146304"/>
          </a:xfrm>
          <a:prstGeom prst="ellipse">
            <a:avLst/>
          </a:prstGeom>
          <a:solidFill>
            <a:srgbClr val="007A27"/>
          </a:solidFill>
          <a:ln w="10160">
            <a:solidFill>
              <a:srgbClr val="FFFFFF"/>
            </a:solidFill>
            <a:prstDash val="solid"/>
          </a:ln>
        </p:spPr>
      </p:sp>
      <p:sp>
        <p:nvSpPr>
          <p:cNvPr id="114" name="Text 112"/>
          <p:cNvSpPr/>
          <p:nvPr/>
        </p:nvSpPr>
        <p:spPr>
          <a:xfrm>
            <a:off x="8403336" y="6071616"/>
            <a:ext cx="7315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Full GA</a:t>
            </a:r>
            <a:endParaRPr lang="en-US" sz="850" dirty="0"/>
          </a:p>
        </p:txBody>
      </p:sp>
      <p:sp>
        <p:nvSpPr>
          <p:cNvPr id="115" name="Shape 113"/>
          <p:cNvSpPr/>
          <p:nvPr/>
        </p:nvSpPr>
        <p:spPr>
          <a:xfrm>
            <a:off x="9326880" y="6099048"/>
            <a:ext cx="457200" cy="109728"/>
          </a:xfrm>
          <a:prstGeom prst="roundRect">
            <a:avLst>
              <a:gd name="adj" fmla="val 25000"/>
            </a:avLst>
          </a:prstGeom>
          <a:solidFill>
            <a:srgbClr val="3DCD58">
              <a:alpha val="22000"/>
            </a:srgbClr>
          </a:solidFill>
          <a:ln w="12700">
            <a:solidFill>
              <a:srgbClr val="3DCD58">
                <a:alpha val="22000"/>
              </a:srgbClr>
            </a:solidFill>
            <a:prstDash val="solid"/>
          </a:ln>
        </p:spPr>
      </p:sp>
      <p:sp>
        <p:nvSpPr>
          <p:cNvPr id="116" name="Text 114"/>
          <p:cNvSpPr/>
          <p:nvPr/>
        </p:nvSpPr>
        <p:spPr>
          <a:xfrm>
            <a:off x="9857232" y="6071616"/>
            <a:ext cx="173736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Continuous investment after GA</a:t>
            </a:r>
            <a:endParaRPr lang="en-US" sz="850" dirty="0"/>
          </a:p>
        </p:txBody>
      </p:sp>
      <p:sp>
        <p:nvSpPr>
          <p:cNvPr id="117" name="Shape 115"/>
          <p:cNvSpPr/>
          <p:nvPr/>
        </p:nvSpPr>
        <p:spPr>
          <a:xfrm>
            <a:off x="621792" y="6437376"/>
            <a:ext cx="10948111" cy="0"/>
          </a:xfrm>
          <a:prstGeom prst="line">
            <a:avLst/>
          </a:prstGeom>
          <a:noFill/>
          <a:ln w="9525">
            <a:solidFill>
              <a:srgbClr val="E2E6E2"/>
            </a:solidFill>
            <a:prstDash val="solid"/>
          </a:ln>
        </p:spPr>
      </p:sp>
      <p:sp>
        <p:nvSpPr>
          <p:cNvPr id="118" name="Text 11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19" name="Text 11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The full 2026 to 2028 roadmap: energy products and sustainability family</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Every Energy &amp; Efficiency product and the sustainability family on one timeline. Phases follow the approved sequencing: quarters where confirmed, H1 and H2 elsewhere, 2028 directional.</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13255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4808677"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548480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616092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616092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683704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751316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818929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Text 19"/>
          <p:cNvSpPr/>
          <p:nvPr/>
        </p:nvSpPr>
        <p:spPr>
          <a:xfrm>
            <a:off x="8865413"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2028</a:t>
            </a:r>
            <a:endParaRPr lang="en-US" sz="1200" dirty="0"/>
          </a:p>
        </p:txBody>
      </p:sp>
      <p:sp>
        <p:nvSpPr>
          <p:cNvPr id="22" name="Text 20"/>
          <p:cNvSpPr/>
          <p:nvPr/>
        </p:nvSpPr>
        <p:spPr>
          <a:xfrm>
            <a:off x="8865413"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23" name="Text 21"/>
          <p:cNvSpPr/>
          <p:nvPr/>
        </p:nvSpPr>
        <p:spPr>
          <a:xfrm>
            <a:off x="954153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24" name="Text 22"/>
          <p:cNvSpPr/>
          <p:nvPr/>
        </p:nvSpPr>
        <p:spPr>
          <a:xfrm>
            <a:off x="1021765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5" name="Text 23"/>
          <p:cNvSpPr/>
          <p:nvPr/>
        </p:nvSpPr>
        <p:spPr>
          <a:xfrm>
            <a:off x="10893781"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6" name="Shape 24"/>
          <p:cNvSpPr/>
          <p:nvPr/>
        </p:nvSpPr>
        <p:spPr>
          <a:xfrm>
            <a:off x="3456432" y="2103120"/>
            <a:ext cx="0" cy="3794760"/>
          </a:xfrm>
          <a:prstGeom prst="line">
            <a:avLst/>
          </a:prstGeom>
          <a:noFill/>
          <a:ln w="11430">
            <a:solidFill>
              <a:srgbClr val="C8CECA"/>
            </a:solidFill>
            <a:prstDash val="solid"/>
          </a:ln>
        </p:spPr>
      </p:sp>
      <p:sp>
        <p:nvSpPr>
          <p:cNvPr id="27" name="Shape 25"/>
          <p:cNvSpPr/>
          <p:nvPr/>
        </p:nvSpPr>
        <p:spPr>
          <a:xfrm>
            <a:off x="4132555" y="2103120"/>
            <a:ext cx="0" cy="3794760"/>
          </a:xfrm>
          <a:prstGeom prst="line">
            <a:avLst/>
          </a:prstGeom>
          <a:noFill/>
          <a:ln w="4445">
            <a:solidFill>
              <a:srgbClr val="E2E6E2"/>
            </a:solidFill>
            <a:prstDash val="solid"/>
          </a:ln>
        </p:spPr>
      </p:sp>
      <p:sp>
        <p:nvSpPr>
          <p:cNvPr id="28" name="Shape 26"/>
          <p:cNvSpPr/>
          <p:nvPr/>
        </p:nvSpPr>
        <p:spPr>
          <a:xfrm>
            <a:off x="4808677" y="2103120"/>
            <a:ext cx="0" cy="3794760"/>
          </a:xfrm>
          <a:prstGeom prst="line">
            <a:avLst/>
          </a:prstGeom>
          <a:noFill/>
          <a:ln w="4445">
            <a:solidFill>
              <a:srgbClr val="E2E6E2"/>
            </a:solidFill>
            <a:prstDash val="solid"/>
          </a:ln>
        </p:spPr>
      </p:sp>
      <p:sp>
        <p:nvSpPr>
          <p:cNvPr id="29" name="Shape 27"/>
          <p:cNvSpPr/>
          <p:nvPr/>
        </p:nvSpPr>
        <p:spPr>
          <a:xfrm>
            <a:off x="5484800" y="2103120"/>
            <a:ext cx="0" cy="3794760"/>
          </a:xfrm>
          <a:prstGeom prst="line">
            <a:avLst/>
          </a:prstGeom>
          <a:noFill/>
          <a:ln w="4445">
            <a:solidFill>
              <a:srgbClr val="E2E6E2"/>
            </a:solidFill>
            <a:prstDash val="solid"/>
          </a:ln>
        </p:spPr>
      </p:sp>
      <p:sp>
        <p:nvSpPr>
          <p:cNvPr id="30" name="Shape 28"/>
          <p:cNvSpPr/>
          <p:nvPr/>
        </p:nvSpPr>
        <p:spPr>
          <a:xfrm>
            <a:off x="6160922" y="2103120"/>
            <a:ext cx="0" cy="3794760"/>
          </a:xfrm>
          <a:prstGeom prst="line">
            <a:avLst/>
          </a:prstGeom>
          <a:noFill/>
          <a:ln w="11430">
            <a:solidFill>
              <a:srgbClr val="C8CECA"/>
            </a:solidFill>
            <a:prstDash val="solid"/>
          </a:ln>
        </p:spPr>
      </p:sp>
      <p:sp>
        <p:nvSpPr>
          <p:cNvPr id="31" name="Shape 29"/>
          <p:cNvSpPr/>
          <p:nvPr/>
        </p:nvSpPr>
        <p:spPr>
          <a:xfrm>
            <a:off x="6837045" y="2103120"/>
            <a:ext cx="0" cy="3794760"/>
          </a:xfrm>
          <a:prstGeom prst="line">
            <a:avLst/>
          </a:prstGeom>
          <a:noFill/>
          <a:ln w="4445">
            <a:solidFill>
              <a:srgbClr val="E2E6E2"/>
            </a:solidFill>
            <a:prstDash val="solid"/>
          </a:ln>
        </p:spPr>
      </p:sp>
      <p:sp>
        <p:nvSpPr>
          <p:cNvPr id="32" name="Shape 30"/>
          <p:cNvSpPr/>
          <p:nvPr/>
        </p:nvSpPr>
        <p:spPr>
          <a:xfrm>
            <a:off x="7513168" y="2103120"/>
            <a:ext cx="0" cy="3794760"/>
          </a:xfrm>
          <a:prstGeom prst="line">
            <a:avLst/>
          </a:prstGeom>
          <a:noFill/>
          <a:ln w="4445">
            <a:solidFill>
              <a:srgbClr val="E2E6E2"/>
            </a:solidFill>
            <a:prstDash val="solid"/>
          </a:ln>
        </p:spPr>
      </p:sp>
      <p:sp>
        <p:nvSpPr>
          <p:cNvPr id="33" name="Shape 31"/>
          <p:cNvSpPr/>
          <p:nvPr/>
        </p:nvSpPr>
        <p:spPr>
          <a:xfrm>
            <a:off x="8189290" y="2103120"/>
            <a:ext cx="0" cy="3794760"/>
          </a:xfrm>
          <a:prstGeom prst="line">
            <a:avLst/>
          </a:prstGeom>
          <a:noFill/>
          <a:ln w="4445">
            <a:solidFill>
              <a:srgbClr val="E2E6E2"/>
            </a:solidFill>
            <a:prstDash val="solid"/>
          </a:ln>
        </p:spPr>
      </p:sp>
      <p:sp>
        <p:nvSpPr>
          <p:cNvPr id="34" name="Shape 32"/>
          <p:cNvSpPr/>
          <p:nvPr/>
        </p:nvSpPr>
        <p:spPr>
          <a:xfrm>
            <a:off x="8865413" y="2103120"/>
            <a:ext cx="0" cy="3794760"/>
          </a:xfrm>
          <a:prstGeom prst="line">
            <a:avLst/>
          </a:prstGeom>
          <a:noFill/>
          <a:ln w="11430">
            <a:solidFill>
              <a:srgbClr val="C8CECA"/>
            </a:solidFill>
            <a:prstDash val="solid"/>
          </a:ln>
        </p:spPr>
      </p:sp>
      <p:sp>
        <p:nvSpPr>
          <p:cNvPr id="35" name="Shape 33"/>
          <p:cNvSpPr/>
          <p:nvPr/>
        </p:nvSpPr>
        <p:spPr>
          <a:xfrm>
            <a:off x="9541535" y="2103120"/>
            <a:ext cx="0" cy="3794760"/>
          </a:xfrm>
          <a:prstGeom prst="line">
            <a:avLst/>
          </a:prstGeom>
          <a:noFill/>
          <a:ln w="4445">
            <a:solidFill>
              <a:srgbClr val="E2E6E2"/>
            </a:solidFill>
            <a:prstDash val="solid"/>
          </a:ln>
        </p:spPr>
      </p:sp>
      <p:sp>
        <p:nvSpPr>
          <p:cNvPr id="36" name="Shape 34"/>
          <p:cNvSpPr/>
          <p:nvPr/>
        </p:nvSpPr>
        <p:spPr>
          <a:xfrm>
            <a:off x="10217658" y="2103120"/>
            <a:ext cx="0" cy="3794760"/>
          </a:xfrm>
          <a:prstGeom prst="line">
            <a:avLst/>
          </a:prstGeom>
          <a:noFill/>
          <a:ln w="4445">
            <a:solidFill>
              <a:srgbClr val="E2E6E2"/>
            </a:solidFill>
            <a:prstDash val="solid"/>
          </a:ln>
        </p:spPr>
      </p:sp>
      <p:sp>
        <p:nvSpPr>
          <p:cNvPr id="37" name="Shape 35"/>
          <p:cNvSpPr/>
          <p:nvPr/>
        </p:nvSpPr>
        <p:spPr>
          <a:xfrm>
            <a:off x="10893781" y="2103120"/>
            <a:ext cx="0" cy="3794760"/>
          </a:xfrm>
          <a:prstGeom prst="line">
            <a:avLst/>
          </a:prstGeom>
          <a:noFill/>
          <a:ln w="4445">
            <a:solidFill>
              <a:srgbClr val="E2E6E2"/>
            </a:solidFill>
            <a:prstDash val="solid"/>
          </a:ln>
        </p:spPr>
      </p:sp>
      <p:sp>
        <p:nvSpPr>
          <p:cNvPr id="38" name="Shape 36"/>
          <p:cNvSpPr/>
          <p:nvPr/>
        </p:nvSpPr>
        <p:spPr>
          <a:xfrm>
            <a:off x="11569903" y="2103120"/>
            <a:ext cx="0" cy="3794760"/>
          </a:xfrm>
          <a:prstGeom prst="line">
            <a:avLst/>
          </a:prstGeom>
          <a:noFill/>
          <a:ln w="11430">
            <a:solidFill>
              <a:srgbClr val="C8CECA"/>
            </a:solidFill>
            <a:prstDash val="solid"/>
          </a:ln>
        </p:spPr>
      </p:sp>
      <p:sp>
        <p:nvSpPr>
          <p:cNvPr id="39" name="Shape 37"/>
          <p:cNvSpPr/>
          <p:nvPr/>
        </p:nvSpPr>
        <p:spPr>
          <a:xfrm>
            <a:off x="621792" y="2331720"/>
            <a:ext cx="411480" cy="713232"/>
          </a:xfrm>
          <a:prstGeom prst="rect">
            <a:avLst/>
          </a:prstGeom>
          <a:solidFill>
            <a:srgbClr val="3DCD58"/>
          </a:solidFill>
          <a:ln w="7620">
            <a:solidFill>
              <a:srgbClr val="FFFFFF"/>
            </a:solidFill>
            <a:prstDash val="solid"/>
          </a:ln>
        </p:spPr>
      </p:sp>
      <p:sp>
        <p:nvSpPr>
          <p:cNvPr id="40" name="Text 38"/>
          <p:cNvSpPr/>
          <p:nvPr/>
        </p:nvSpPr>
        <p:spPr>
          <a:xfrm>
            <a:off x="685800" y="2377440"/>
            <a:ext cx="283464" cy="621792"/>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ENERGY FOUNDATIONS</a:t>
            </a:r>
            <a:endParaRPr lang="en-US" sz="750" dirty="0"/>
          </a:p>
        </p:txBody>
      </p:sp>
      <p:sp>
        <p:nvSpPr>
          <p:cNvPr id="41" name="Shape 39"/>
          <p:cNvSpPr/>
          <p:nvPr/>
        </p:nvSpPr>
        <p:spPr>
          <a:xfrm>
            <a:off x="1033272" y="2569464"/>
            <a:ext cx="10536631" cy="0"/>
          </a:xfrm>
          <a:prstGeom prst="line">
            <a:avLst/>
          </a:prstGeom>
          <a:noFill/>
          <a:ln w="4445">
            <a:solidFill>
              <a:srgbClr val="E2E6E2"/>
            </a:solidFill>
            <a:prstDash val="solid"/>
          </a:ln>
        </p:spPr>
      </p:sp>
      <p:sp>
        <p:nvSpPr>
          <p:cNvPr id="42" name="Shape 40"/>
          <p:cNvSpPr/>
          <p:nvPr/>
        </p:nvSpPr>
        <p:spPr>
          <a:xfrm>
            <a:off x="1143000" y="2340864"/>
            <a:ext cx="45720" cy="219456"/>
          </a:xfrm>
          <a:prstGeom prst="roundRect">
            <a:avLst>
              <a:gd name="adj" fmla="val 60000"/>
            </a:avLst>
          </a:prstGeom>
          <a:solidFill>
            <a:srgbClr val="3DCD58"/>
          </a:solidFill>
          <a:ln w="12700">
            <a:solidFill>
              <a:srgbClr val="3DCD58"/>
            </a:solidFill>
            <a:prstDash val="solid"/>
          </a:ln>
        </p:spPr>
      </p:sp>
      <p:sp>
        <p:nvSpPr>
          <p:cNvPr id="43" name="Text 41"/>
          <p:cNvSpPr/>
          <p:nvPr/>
        </p:nvSpPr>
        <p:spPr>
          <a:xfrm>
            <a:off x="1243584" y="2304288"/>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Metering &amp; Interval Data: hierarchy, baselines, connectors, scale</a:t>
            </a:r>
            <a:endParaRPr lang="en-US" sz="936" dirty="0"/>
          </a:p>
        </p:txBody>
      </p:sp>
      <p:sp>
        <p:nvSpPr>
          <p:cNvPr id="44" name="Shape 42"/>
          <p:cNvSpPr/>
          <p:nvPr/>
        </p:nvSpPr>
        <p:spPr>
          <a:xfrm>
            <a:off x="3456432" y="2410176"/>
            <a:ext cx="8113471" cy="80833"/>
          </a:xfrm>
          <a:prstGeom prst="roundRect">
            <a:avLst>
              <a:gd name="adj" fmla="val 45249"/>
            </a:avLst>
          </a:prstGeom>
          <a:solidFill>
            <a:srgbClr val="3DCD58"/>
          </a:solidFill>
          <a:ln w="12700">
            <a:solidFill>
              <a:srgbClr val="3DCD58"/>
            </a:solidFill>
            <a:prstDash val="solid"/>
          </a:ln>
        </p:spPr>
      </p:sp>
      <p:sp>
        <p:nvSpPr>
          <p:cNvPr id="45" name="Shape 43"/>
          <p:cNvSpPr/>
          <p:nvPr/>
        </p:nvSpPr>
        <p:spPr>
          <a:xfrm>
            <a:off x="1033272" y="2807208"/>
            <a:ext cx="10536631" cy="0"/>
          </a:xfrm>
          <a:prstGeom prst="line">
            <a:avLst/>
          </a:prstGeom>
          <a:noFill/>
          <a:ln w="4445">
            <a:solidFill>
              <a:srgbClr val="E2E6E2"/>
            </a:solidFill>
            <a:prstDash val="solid"/>
          </a:ln>
        </p:spPr>
      </p:sp>
      <p:sp>
        <p:nvSpPr>
          <p:cNvPr id="46" name="Shape 44"/>
          <p:cNvSpPr/>
          <p:nvPr/>
        </p:nvSpPr>
        <p:spPr>
          <a:xfrm>
            <a:off x="1143000" y="2578608"/>
            <a:ext cx="45720" cy="219456"/>
          </a:xfrm>
          <a:prstGeom prst="roundRect">
            <a:avLst>
              <a:gd name="adj" fmla="val 60000"/>
            </a:avLst>
          </a:prstGeom>
          <a:solidFill>
            <a:srgbClr val="3DCD58"/>
          </a:solidFill>
          <a:ln w="12700">
            <a:solidFill>
              <a:srgbClr val="3DCD58"/>
            </a:solidFill>
            <a:prstDash val="solid"/>
          </a:ln>
        </p:spPr>
      </p:sp>
      <p:sp>
        <p:nvSpPr>
          <p:cNvPr id="47" name="Text 45"/>
          <p:cNvSpPr/>
          <p:nvPr/>
        </p:nvSpPr>
        <p:spPr>
          <a:xfrm>
            <a:off x="1243584" y="2542032"/>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Utility Data Management: capture, advanced processing, explanation</a:t>
            </a:r>
            <a:endParaRPr lang="en-US" sz="936" dirty="0"/>
          </a:p>
        </p:txBody>
      </p:sp>
      <p:sp>
        <p:nvSpPr>
          <p:cNvPr id="48" name="Shape 46"/>
          <p:cNvSpPr/>
          <p:nvPr/>
        </p:nvSpPr>
        <p:spPr>
          <a:xfrm>
            <a:off x="3456432" y="2647920"/>
            <a:ext cx="8113471" cy="80833"/>
          </a:xfrm>
          <a:prstGeom prst="roundRect">
            <a:avLst>
              <a:gd name="adj" fmla="val 45249"/>
            </a:avLst>
          </a:prstGeom>
          <a:solidFill>
            <a:srgbClr val="3DCD58"/>
          </a:solidFill>
          <a:ln w="12700">
            <a:solidFill>
              <a:srgbClr val="3DCD58"/>
            </a:solidFill>
            <a:prstDash val="solid"/>
          </a:ln>
        </p:spPr>
      </p:sp>
      <p:sp>
        <p:nvSpPr>
          <p:cNvPr id="49" name="Shape 47"/>
          <p:cNvSpPr/>
          <p:nvPr/>
        </p:nvSpPr>
        <p:spPr>
          <a:xfrm>
            <a:off x="1033272" y="3044952"/>
            <a:ext cx="10536631" cy="0"/>
          </a:xfrm>
          <a:prstGeom prst="line">
            <a:avLst/>
          </a:prstGeom>
          <a:noFill/>
          <a:ln w="4445">
            <a:solidFill>
              <a:srgbClr val="E2E6E2"/>
            </a:solidFill>
            <a:prstDash val="solid"/>
          </a:ln>
        </p:spPr>
      </p:sp>
      <p:sp>
        <p:nvSpPr>
          <p:cNvPr id="50" name="Shape 48"/>
          <p:cNvSpPr/>
          <p:nvPr/>
        </p:nvSpPr>
        <p:spPr>
          <a:xfrm>
            <a:off x="1143000" y="2816352"/>
            <a:ext cx="45720" cy="219456"/>
          </a:xfrm>
          <a:prstGeom prst="roundRect">
            <a:avLst>
              <a:gd name="adj" fmla="val 60000"/>
            </a:avLst>
          </a:prstGeom>
          <a:solidFill>
            <a:srgbClr val="3DCD58"/>
          </a:solidFill>
          <a:ln w="12700">
            <a:solidFill>
              <a:srgbClr val="3DCD58"/>
            </a:solidFill>
            <a:prstDash val="solid"/>
          </a:ln>
        </p:spPr>
      </p:sp>
      <p:sp>
        <p:nvSpPr>
          <p:cNvPr id="51" name="Text 49"/>
          <p:cNvSpPr/>
          <p:nvPr/>
        </p:nvSpPr>
        <p:spPr>
          <a:xfrm>
            <a:off x="1243584" y="2779776"/>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Energy &amp; Efficiency: recommendations launch, depth, verification</a:t>
            </a:r>
            <a:endParaRPr lang="en-US" sz="936" dirty="0"/>
          </a:p>
        </p:txBody>
      </p:sp>
      <p:sp>
        <p:nvSpPr>
          <p:cNvPr id="52" name="Shape 50"/>
          <p:cNvSpPr/>
          <p:nvPr/>
        </p:nvSpPr>
        <p:spPr>
          <a:xfrm>
            <a:off x="4132555" y="2885664"/>
            <a:ext cx="7437349" cy="80833"/>
          </a:xfrm>
          <a:prstGeom prst="roundRect">
            <a:avLst>
              <a:gd name="adj" fmla="val 45249"/>
            </a:avLst>
          </a:prstGeom>
          <a:solidFill>
            <a:srgbClr val="3DCD58"/>
          </a:solidFill>
          <a:ln w="12700">
            <a:solidFill>
              <a:srgbClr val="3DCD58"/>
            </a:solidFill>
            <a:prstDash val="solid"/>
          </a:ln>
        </p:spPr>
      </p:sp>
      <p:sp>
        <p:nvSpPr>
          <p:cNvPr id="53" name="Shape 51"/>
          <p:cNvSpPr/>
          <p:nvPr/>
        </p:nvSpPr>
        <p:spPr>
          <a:xfrm>
            <a:off x="621792" y="3044952"/>
            <a:ext cx="411480" cy="950976"/>
          </a:xfrm>
          <a:prstGeom prst="rect">
            <a:avLst/>
          </a:prstGeom>
          <a:solidFill>
            <a:srgbClr val="007A27"/>
          </a:solidFill>
          <a:ln w="7620">
            <a:solidFill>
              <a:srgbClr val="FFFFFF"/>
            </a:solidFill>
            <a:prstDash val="solid"/>
          </a:ln>
        </p:spPr>
      </p:sp>
      <p:sp>
        <p:nvSpPr>
          <p:cNvPr id="54" name="Text 52"/>
          <p:cNvSpPr/>
          <p:nvPr/>
        </p:nvSpPr>
        <p:spPr>
          <a:xfrm>
            <a:off x="685800" y="3090672"/>
            <a:ext cx="283464" cy="859536"/>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PORTFOLIO &amp; SOURCING</a:t>
            </a:r>
            <a:endParaRPr lang="en-US" sz="750" dirty="0"/>
          </a:p>
        </p:txBody>
      </p:sp>
      <p:sp>
        <p:nvSpPr>
          <p:cNvPr id="55" name="Shape 53"/>
          <p:cNvSpPr/>
          <p:nvPr/>
        </p:nvSpPr>
        <p:spPr>
          <a:xfrm>
            <a:off x="1033272" y="3282696"/>
            <a:ext cx="10536631" cy="0"/>
          </a:xfrm>
          <a:prstGeom prst="line">
            <a:avLst/>
          </a:prstGeom>
          <a:noFill/>
          <a:ln w="4445">
            <a:solidFill>
              <a:srgbClr val="E2E6E2"/>
            </a:solidFill>
            <a:prstDash val="solid"/>
          </a:ln>
        </p:spPr>
      </p:sp>
      <p:sp>
        <p:nvSpPr>
          <p:cNvPr id="56" name="Shape 54"/>
          <p:cNvSpPr/>
          <p:nvPr/>
        </p:nvSpPr>
        <p:spPr>
          <a:xfrm>
            <a:off x="1143000" y="3054096"/>
            <a:ext cx="45720" cy="219456"/>
          </a:xfrm>
          <a:prstGeom prst="roundRect">
            <a:avLst>
              <a:gd name="adj" fmla="val 60000"/>
            </a:avLst>
          </a:prstGeom>
          <a:solidFill>
            <a:srgbClr val="007A27"/>
          </a:solidFill>
          <a:ln w="12700">
            <a:solidFill>
              <a:srgbClr val="007A27"/>
            </a:solidFill>
            <a:prstDash val="solid"/>
          </a:ln>
        </p:spPr>
      </p:sp>
      <p:sp>
        <p:nvSpPr>
          <p:cNvPr id="57" name="Text 55"/>
          <p:cNvSpPr/>
          <p:nvPr/>
        </p:nvSpPr>
        <p:spPr>
          <a:xfrm>
            <a:off x="1243584" y="3017520"/>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Energy Portfolio Management: contracts and spend, budgets, reforecasting</a:t>
            </a:r>
            <a:endParaRPr lang="en-US" sz="936" dirty="0"/>
          </a:p>
        </p:txBody>
      </p:sp>
      <p:sp>
        <p:nvSpPr>
          <p:cNvPr id="58" name="Shape 56"/>
          <p:cNvSpPr/>
          <p:nvPr/>
        </p:nvSpPr>
        <p:spPr>
          <a:xfrm>
            <a:off x="4132555" y="3123408"/>
            <a:ext cx="7437349" cy="80833"/>
          </a:xfrm>
          <a:prstGeom prst="roundRect">
            <a:avLst>
              <a:gd name="adj" fmla="val 45249"/>
            </a:avLst>
          </a:prstGeom>
          <a:solidFill>
            <a:srgbClr val="007A27"/>
          </a:solidFill>
          <a:ln w="12700">
            <a:solidFill>
              <a:srgbClr val="007A27"/>
            </a:solidFill>
            <a:prstDash val="solid"/>
          </a:ln>
        </p:spPr>
      </p:sp>
      <p:sp>
        <p:nvSpPr>
          <p:cNvPr id="59" name="Shape 57"/>
          <p:cNvSpPr/>
          <p:nvPr/>
        </p:nvSpPr>
        <p:spPr>
          <a:xfrm>
            <a:off x="1033272" y="3520440"/>
            <a:ext cx="10536631" cy="0"/>
          </a:xfrm>
          <a:prstGeom prst="line">
            <a:avLst/>
          </a:prstGeom>
          <a:noFill/>
          <a:ln w="4445">
            <a:solidFill>
              <a:srgbClr val="E2E6E2"/>
            </a:solidFill>
            <a:prstDash val="solid"/>
          </a:ln>
        </p:spPr>
      </p:sp>
      <p:sp>
        <p:nvSpPr>
          <p:cNvPr id="60" name="Shape 58"/>
          <p:cNvSpPr/>
          <p:nvPr/>
        </p:nvSpPr>
        <p:spPr>
          <a:xfrm>
            <a:off x="1143000" y="3291840"/>
            <a:ext cx="45720" cy="219456"/>
          </a:xfrm>
          <a:prstGeom prst="roundRect">
            <a:avLst>
              <a:gd name="adj" fmla="val 60000"/>
            </a:avLst>
          </a:prstGeom>
          <a:solidFill>
            <a:srgbClr val="007A27"/>
          </a:solidFill>
          <a:ln w="12700">
            <a:solidFill>
              <a:srgbClr val="007A27"/>
            </a:solidFill>
            <a:prstDash val="solid"/>
          </a:ln>
        </p:spPr>
      </p:sp>
      <p:sp>
        <p:nvSpPr>
          <p:cNvPr id="61" name="Text 59"/>
          <p:cNvSpPr/>
          <p:nvPr/>
        </p:nvSpPr>
        <p:spPr>
          <a:xfrm>
            <a:off x="1243584" y="3255264"/>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Capital Asset Planning: register, planning, prioritisation</a:t>
            </a:r>
            <a:endParaRPr lang="en-US" sz="936" dirty="0"/>
          </a:p>
        </p:txBody>
      </p:sp>
      <p:sp>
        <p:nvSpPr>
          <p:cNvPr id="62" name="Shape 60"/>
          <p:cNvSpPr/>
          <p:nvPr/>
        </p:nvSpPr>
        <p:spPr>
          <a:xfrm>
            <a:off x="4132555" y="3361152"/>
            <a:ext cx="7437349" cy="80833"/>
          </a:xfrm>
          <a:prstGeom prst="roundRect">
            <a:avLst>
              <a:gd name="adj" fmla="val 45249"/>
            </a:avLst>
          </a:prstGeom>
          <a:solidFill>
            <a:srgbClr val="007A27"/>
          </a:solidFill>
          <a:ln w="12700">
            <a:solidFill>
              <a:srgbClr val="007A27"/>
            </a:solidFill>
            <a:prstDash val="solid"/>
          </a:ln>
        </p:spPr>
      </p:sp>
      <p:sp>
        <p:nvSpPr>
          <p:cNvPr id="63" name="Shape 61"/>
          <p:cNvSpPr/>
          <p:nvPr/>
        </p:nvSpPr>
        <p:spPr>
          <a:xfrm>
            <a:off x="1033272" y="3758184"/>
            <a:ext cx="10536631" cy="0"/>
          </a:xfrm>
          <a:prstGeom prst="line">
            <a:avLst/>
          </a:prstGeom>
          <a:noFill/>
          <a:ln w="4445">
            <a:solidFill>
              <a:srgbClr val="E2E6E2"/>
            </a:solidFill>
            <a:prstDash val="solid"/>
          </a:ln>
        </p:spPr>
      </p:sp>
      <p:sp>
        <p:nvSpPr>
          <p:cNvPr id="64" name="Shape 62"/>
          <p:cNvSpPr/>
          <p:nvPr/>
        </p:nvSpPr>
        <p:spPr>
          <a:xfrm>
            <a:off x="1143000" y="3529584"/>
            <a:ext cx="45720" cy="219456"/>
          </a:xfrm>
          <a:prstGeom prst="roundRect">
            <a:avLst>
              <a:gd name="adj" fmla="val 60000"/>
            </a:avLst>
          </a:prstGeom>
          <a:solidFill>
            <a:srgbClr val="007A27"/>
          </a:solidFill>
          <a:ln w="12700">
            <a:solidFill>
              <a:srgbClr val="007A27"/>
            </a:solidFill>
            <a:prstDash val="solid"/>
          </a:ln>
        </p:spPr>
      </p:sp>
      <p:sp>
        <p:nvSpPr>
          <p:cNvPr id="65" name="Text 63"/>
          <p:cNvSpPr/>
          <p:nvPr/>
        </p:nvSpPr>
        <p:spPr>
          <a:xfrm>
            <a:off x="1243584" y="3493008"/>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Energy Sourcing: contracts, decision support, integration</a:t>
            </a:r>
            <a:endParaRPr lang="en-US" sz="936" dirty="0"/>
          </a:p>
        </p:txBody>
      </p:sp>
      <p:sp>
        <p:nvSpPr>
          <p:cNvPr id="66" name="Shape 64"/>
          <p:cNvSpPr/>
          <p:nvPr/>
        </p:nvSpPr>
        <p:spPr>
          <a:xfrm>
            <a:off x="4132555" y="3598896"/>
            <a:ext cx="7437349" cy="80833"/>
          </a:xfrm>
          <a:prstGeom prst="roundRect">
            <a:avLst>
              <a:gd name="adj" fmla="val 45249"/>
            </a:avLst>
          </a:prstGeom>
          <a:solidFill>
            <a:srgbClr val="007A27"/>
          </a:solidFill>
          <a:ln w="12700">
            <a:solidFill>
              <a:srgbClr val="007A27"/>
            </a:solidFill>
            <a:prstDash val="solid"/>
          </a:ln>
        </p:spPr>
      </p:sp>
      <p:sp>
        <p:nvSpPr>
          <p:cNvPr id="67" name="Shape 65"/>
          <p:cNvSpPr/>
          <p:nvPr/>
        </p:nvSpPr>
        <p:spPr>
          <a:xfrm>
            <a:off x="1033272" y="3995928"/>
            <a:ext cx="10536631" cy="0"/>
          </a:xfrm>
          <a:prstGeom prst="line">
            <a:avLst/>
          </a:prstGeom>
          <a:noFill/>
          <a:ln w="4445">
            <a:solidFill>
              <a:srgbClr val="E2E6E2"/>
            </a:solidFill>
            <a:prstDash val="solid"/>
          </a:ln>
        </p:spPr>
      </p:sp>
      <p:sp>
        <p:nvSpPr>
          <p:cNvPr id="68" name="Shape 66"/>
          <p:cNvSpPr/>
          <p:nvPr/>
        </p:nvSpPr>
        <p:spPr>
          <a:xfrm>
            <a:off x="1143000" y="3767328"/>
            <a:ext cx="45720" cy="219456"/>
          </a:xfrm>
          <a:prstGeom prst="roundRect">
            <a:avLst>
              <a:gd name="adj" fmla="val 60000"/>
            </a:avLst>
          </a:prstGeom>
          <a:solidFill>
            <a:srgbClr val="007A27"/>
          </a:solidFill>
          <a:ln w="12700">
            <a:solidFill>
              <a:srgbClr val="007A27"/>
            </a:solidFill>
            <a:prstDash val="solid"/>
          </a:ln>
        </p:spPr>
      </p:sp>
      <p:sp>
        <p:nvSpPr>
          <p:cNvPr id="69" name="Text 67"/>
          <p:cNvSpPr/>
          <p:nvPr/>
        </p:nvSpPr>
        <p:spPr>
          <a:xfrm>
            <a:off x="1243584" y="3730752"/>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Renewables &amp; EACs: instrument register, assurance, matching</a:t>
            </a:r>
            <a:endParaRPr lang="en-US" sz="936" dirty="0"/>
          </a:p>
        </p:txBody>
      </p:sp>
      <p:sp>
        <p:nvSpPr>
          <p:cNvPr id="70" name="Shape 68"/>
          <p:cNvSpPr/>
          <p:nvPr/>
        </p:nvSpPr>
        <p:spPr>
          <a:xfrm>
            <a:off x="4132555" y="3836640"/>
            <a:ext cx="7437349" cy="80833"/>
          </a:xfrm>
          <a:prstGeom prst="roundRect">
            <a:avLst>
              <a:gd name="adj" fmla="val 45249"/>
            </a:avLst>
          </a:prstGeom>
          <a:solidFill>
            <a:srgbClr val="007A27"/>
          </a:solidFill>
          <a:ln w="12700">
            <a:solidFill>
              <a:srgbClr val="007A27"/>
            </a:solidFill>
            <a:prstDash val="solid"/>
          </a:ln>
        </p:spPr>
      </p:sp>
      <p:sp>
        <p:nvSpPr>
          <p:cNvPr id="71" name="Shape 69"/>
          <p:cNvSpPr/>
          <p:nvPr/>
        </p:nvSpPr>
        <p:spPr>
          <a:xfrm>
            <a:off x="621792" y="3995928"/>
            <a:ext cx="411480" cy="475488"/>
          </a:xfrm>
          <a:prstGeom prst="rect">
            <a:avLst/>
          </a:prstGeom>
          <a:solidFill>
            <a:srgbClr val="FFB04C"/>
          </a:solidFill>
          <a:ln w="7620">
            <a:solidFill>
              <a:srgbClr val="FFFFFF"/>
            </a:solidFill>
            <a:prstDash val="solid"/>
          </a:ln>
        </p:spPr>
      </p:sp>
      <p:sp>
        <p:nvSpPr>
          <p:cNvPr id="72" name="Text 70"/>
          <p:cNvSpPr/>
          <p:nvPr/>
        </p:nvSpPr>
        <p:spPr>
          <a:xfrm>
            <a:off x="685800" y="4041648"/>
            <a:ext cx="283464" cy="384048"/>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FLEXIBILITY &amp; ELECTRIFICATION</a:t>
            </a:r>
            <a:endParaRPr lang="en-US" sz="750" dirty="0"/>
          </a:p>
        </p:txBody>
      </p:sp>
      <p:sp>
        <p:nvSpPr>
          <p:cNvPr id="73" name="Shape 71"/>
          <p:cNvSpPr/>
          <p:nvPr/>
        </p:nvSpPr>
        <p:spPr>
          <a:xfrm>
            <a:off x="1033272" y="4233672"/>
            <a:ext cx="10536631" cy="0"/>
          </a:xfrm>
          <a:prstGeom prst="line">
            <a:avLst/>
          </a:prstGeom>
          <a:noFill/>
          <a:ln w="4445">
            <a:solidFill>
              <a:srgbClr val="E2E6E2"/>
            </a:solidFill>
            <a:prstDash val="solid"/>
          </a:ln>
        </p:spPr>
      </p:sp>
      <p:sp>
        <p:nvSpPr>
          <p:cNvPr id="74" name="Shape 72"/>
          <p:cNvSpPr/>
          <p:nvPr/>
        </p:nvSpPr>
        <p:spPr>
          <a:xfrm>
            <a:off x="1143000" y="4005072"/>
            <a:ext cx="45720" cy="219456"/>
          </a:xfrm>
          <a:prstGeom prst="roundRect">
            <a:avLst>
              <a:gd name="adj" fmla="val 60000"/>
            </a:avLst>
          </a:prstGeom>
          <a:solidFill>
            <a:srgbClr val="FFB04C"/>
          </a:solidFill>
          <a:ln w="12700">
            <a:solidFill>
              <a:srgbClr val="FFB04C"/>
            </a:solidFill>
            <a:prstDash val="solid"/>
          </a:ln>
        </p:spPr>
      </p:sp>
      <p:sp>
        <p:nvSpPr>
          <p:cNvPr id="75" name="Text 73"/>
          <p:cNvSpPr/>
          <p:nvPr/>
        </p:nvSpPr>
        <p:spPr>
          <a:xfrm>
            <a:off x="1243584" y="3968496"/>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Demand Response &amp; Flexibility: visibility, programmes, monetization</a:t>
            </a:r>
            <a:endParaRPr lang="en-US" sz="936" dirty="0"/>
          </a:p>
        </p:txBody>
      </p:sp>
      <p:sp>
        <p:nvSpPr>
          <p:cNvPr id="76" name="Shape 74"/>
          <p:cNvSpPr/>
          <p:nvPr/>
        </p:nvSpPr>
        <p:spPr>
          <a:xfrm>
            <a:off x="4132555" y="4074384"/>
            <a:ext cx="7437349" cy="80833"/>
          </a:xfrm>
          <a:prstGeom prst="roundRect">
            <a:avLst>
              <a:gd name="adj" fmla="val 45249"/>
            </a:avLst>
          </a:prstGeom>
          <a:solidFill>
            <a:srgbClr val="FFB04C"/>
          </a:solidFill>
          <a:ln w="12700">
            <a:solidFill>
              <a:srgbClr val="FFB04C"/>
            </a:solidFill>
            <a:prstDash val="solid"/>
          </a:ln>
        </p:spPr>
      </p:sp>
      <p:sp>
        <p:nvSpPr>
          <p:cNvPr id="77" name="Shape 75"/>
          <p:cNvSpPr/>
          <p:nvPr/>
        </p:nvSpPr>
        <p:spPr>
          <a:xfrm>
            <a:off x="1033272" y="4471416"/>
            <a:ext cx="10536631" cy="0"/>
          </a:xfrm>
          <a:prstGeom prst="line">
            <a:avLst/>
          </a:prstGeom>
          <a:noFill/>
          <a:ln w="4445">
            <a:solidFill>
              <a:srgbClr val="E2E6E2"/>
            </a:solidFill>
            <a:prstDash val="solid"/>
          </a:ln>
        </p:spPr>
      </p:sp>
      <p:sp>
        <p:nvSpPr>
          <p:cNvPr id="78" name="Shape 76"/>
          <p:cNvSpPr/>
          <p:nvPr/>
        </p:nvSpPr>
        <p:spPr>
          <a:xfrm>
            <a:off x="1143000" y="4242816"/>
            <a:ext cx="45720" cy="219456"/>
          </a:xfrm>
          <a:prstGeom prst="roundRect">
            <a:avLst>
              <a:gd name="adj" fmla="val 60000"/>
            </a:avLst>
          </a:prstGeom>
          <a:solidFill>
            <a:srgbClr val="FFB04C"/>
          </a:solidFill>
          <a:ln w="12700">
            <a:solidFill>
              <a:srgbClr val="FFB04C"/>
            </a:solidFill>
            <a:prstDash val="solid"/>
          </a:ln>
        </p:spPr>
      </p:sp>
      <p:sp>
        <p:nvSpPr>
          <p:cNvPr id="79" name="Text 77"/>
          <p:cNvSpPr/>
          <p:nvPr/>
        </p:nvSpPr>
        <p:spPr>
          <a:xfrm>
            <a:off x="1243584" y="4206240"/>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Electrification &amp; DER: inventory, performance, planning</a:t>
            </a:r>
            <a:endParaRPr lang="en-US" sz="936" dirty="0"/>
          </a:p>
        </p:txBody>
      </p:sp>
      <p:sp>
        <p:nvSpPr>
          <p:cNvPr id="80" name="Shape 78"/>
          <p:cNvSpPr/>
          <p:nvPr/>
        </p:nvSpPr>
        <p:spPr>
          <a:xfrm>
            <a:off x="4132555" y="4312128"/>
            <a:ext cx="7437349" cy="80833"/>
          </a:xfrm>
          <a:prstGeom prst="roundRect">
            <a:avLst>
              <a:gd name="adj" fmla="val 45249"/>
            </a:avLst>
          </a:prstGeom>
          <a:solidFill>
            <a:srgbClr val="FFB04C"/>
          </a:solidFill>
          <a:ln w="12700">
            <a:solidFill>
              <a:srgbClr val="FFB04C"/>
            </a:solidFill>
            <a:prstDash val="solid"/>
          </a:ln>
        </p:spPr>
      </p:sp>
      <p:sp>
        <p:nvSpPr>
          <p:cNvPr id="81" name="Shape 79"/>
          <p:cNvSpPr/>
          <p:nvPr/>
        </p:nvSpPr>
        <p:spPr>
          <a:xfrm>
            <a:off x="621792" y="4471416"/>
            <a:ext cx="411480" cy="1426464"/>
          </a:xfrm>
          <a:prstGeom prst="rect">
            <a:avLst/>
          </a:prstGeom>
          <a:solidFill>
            <a:srgbClr val="275B7F"/>
          </a:solidFill>
          <a:ln w="7620">
            <a:solidFill>
              <a:srgbClr val="FFFFFF"/>
            </a:solidFill>
            <a:prstDash val="solid"/>
          </a:ln>
        </p:spPr>
      </p:sp>
      <p:sp>
        <p:nvSpPr>
          <p:cNvPr id="82" name="Text 80"/>
          <p:cNvSpPr/>
          <p:nvPr/>
        </p:nvSpPr>
        <p:spPr>
          <a:xfrm>
            <a:off x="685800" y="4517136"/>
            <a:ext cx="283464" cy="1335024"/>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SUSTAINABILITY FAMILY</a:t>
            </a:r>
            <a:endParaRPr lang="en-US" sz="750" dirty="0"/>
          </a:p>
        </p:txBody>
      </p:sp>
      <p:sp>
        <p:nvSpPr>
          <p:cNvPr id="83" name="Shape 81"/>
          <p:cNvSpPr/>
          <p:nvPr/>
        </p:nvSpPr>
        <p:spPr>
          <a:xfrm>
            <a:off x="1033272" y="4709160"/>
            <a:ext cx="10536631" cy="0"/>
          </a:xfrm>
          <a:prstGeom prst="line">
            <a:avLst/>
          </a:prstGeom>
          <a:noFill/>
          <a:ln w="4445">
            <a:solidFill>
              <a:srgbClr val="E2E6E2"/>
            </a:solidFill>
            <a:prstDash val="solid"/>
          </a:ln>
        </p:spPr>
      </p:sp>
      <p:sp>
        <p:nvSpPr>
          <p:cNvPr id="84" name="Shape 82"/>
          <p:cNvSpPr/>
          <p:nvPr/>
        </p:nvSpPr>
        <p:spPr>
          <a:xfrm>
            <a:off x="1143000" y="4480560"/>
            <a:ext cx="45720" cy="219456"/>
          </a:xfrm>
          <a:prstGeom prst="roundRect">
            <a:avLst>
              <a:gd name="adj" fmla="val 60000"/>
            </a:avLst>
          </a:prstGeom>
          <a:solidFill>
            <a:srgbClr val="275B7F"/>
          </a:solidFill>
          <a:ln w="12700">
            <a:solidFill>
              <a:srgbClr val="275B7F"/>
            </a:solidFill>
            <a:prstDash val="solid"/>
          </a:ln>
        </p:spPr>
      </p:sp>
      <p:sp>
        <p:nvSpPr>
          <p:cNvPr id="85" name="Text 83"/>
          <p:cNvSpPr/>
          <p:nvPr/>
        </p:nvSpPr>
        <p:spPr>
          <a:xfrm>
            <a:off x="1243584" y="4443984"/>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Carbon Inventory: revamp, Scope 1-2 depth, Scope 3 gap closure</a:t>
            </a:r>
            <a:endParaRPr lang="en-US" sz="936" dirty="0"/>
          </a:p>
        </p:txBody>
      </p:sp>
      <p:sp>
        <p:nvSpPr>
          <p:cNvPr id="86" name="Shape 84"/>
          <p:cNvSpPr/>
          <p:nvPr/>
        </p:nvSpPr>
        <p:spPr>
          <a:xfrm>
            <a:off x="3456432" y="4549872"/>
            <a:ext cx="8113471" cy="80833"/>
          </a:xfrm>
          <a:prstGeom prst="roundRect">
            <a:avLst>
              <a:gd name="adj" fmla="val 45249"/>
            </a:avLst>
          </a:prstGeom>
          <a:solidFill>
            <a:srgbClr val="275B7F"/>
          </a:solidFill>
          <a:ln w="12700">
            <a:solidFill>
              <a:srgbClr val="275B7F"/>
            </a:solidFill>
            <a:prstDash val="solid"/>
          </a:ln>
        </p:spPr>
      </p:sp>
      <p:sp>
        <p:nvSpPr>
          <p:cNvPr id="87" name="Shape 85"/>
          <p:cNvSpPr/>
          <p:nvPr/>
        </p:nvSpPr>
        <p:spPr>
          <a:xfrm>
            <a:off x="1033272" y="4946904"/>
            <a:ext cx="10536631" cy="0"/>
          </a:xfrm>
          <a:prstGeom prst="line">
            <a:avLst/>
          </a:prstGeom>
          <a:noFill/>
          <a:ln w="4445">
            <a:solidFill>
              <a:srgbClr val="E2E6E2"/>
            </a:solidFill>
            <a:prstDash val="solid"/>
          </a:ln>
        </p:spPr>
      </p:sp>
      <p:sp>
        <p:nvSpPr>
          <p:cNvPr id="88" name="Shape 86"/>
          <p:cNvSpPr/>
          <p:nvPr/>
        </p:nvSpPr>
        <p:spPr>
          <a:xfrm>
            <a:off x="1143000" y="4718304"/>
            <a:ext cx="45720" cy="219456"/>
          </a:xfrm>
          <a:prstGeom prst="roundRect">
            <a:avLst>
              <a:gd name="adj" fmla="val 60000"/>
            </a:avLst>
          </a:prstGeom>
          <a:solidFill>
            <a:srgbClr val="275B7F"/>
          </a:solidFill>
          <a:ln w="12700">
            <a:solidFill>
              <a:srgbClr val="275B7F"/>
            </a:solidFill>
            <a:prstDash val="solid"/>
          </a:ln>
        </p:spPr>
      </p:sp>
      <p:sp>
        <p:nvSpPr>
          <p:cNvPr id="89" name="Text 87"/>
          <p:cNvSpPr/>
          <p:nvPr/>
        </p:nvSpPr>
        <p:spPr>
          <a:xfrm>
            <a:off x="1243584" y="4681728"/>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Decarbonization Planning: initiatives, ECM library, scenario analysis</a:t>
            </a:r>
            <a:endParaRPr lang="en-US" sz="936" dirty="0"/>
          </a:p>
        </p:txBody>
      </p:sp>
      <p:sp>
        <p:nvSpPr>
          <p:cNvPr id="90" name="Shape 88"/>
          <p:cNvSpPr/>
          <p:nvPr/>
        </p:nvSpPr>
        <p:spPr>
          <a:xfrm>
            <a:off x="4132555" y="4787616"/>
            <a:ext cx="7437349" cy="80833"/>
          </a:xfrm>
          <a:prstGeom prst="roundRect">
            <a:avLst>
              <a:gd name="adj" fmla="val 45249"/>
            </a:avLst>
          </a:prstGeom>
          <a:solidFill>
            <a:srgbClr val="275B7F"/>
          </a:solidFill>
          <a:ln w="12700">
            <a:solidFill>
              <a:srgbClr val="275B7F"/>
            </a:solidFill>
            <a:prstDash val="solid"/>
          </a:ln>
        </p:spPr>
      </p:sp>
      <p:sp>
        <p:nvSpPr>
          <p:cNvPr id="91" name="Shape 89"/>
          <p:cNvSpPr/>
          <p:nvPr/>
        </p:nvSpPr>
        <p:spPr>
          <a:xfrm>
            <a:off x="1033272" y="5184648"/>
            <a:ext cx="10536631" cy="0"/>
          </a:xfrm>
          <a:prstGeom prst="line">
            <a:avLst/>
          </a:prstGeom>
          <a:noFill/>
          <a:ln w="4445">
            <a:solidFill>
              <a:srgbClr val="E2E6E2"/>
            </a:solidFill>
            <a:prstDash val="solid"/>
          </a:ln>
        </p:spPr>
      </p:sp>
      <p:sp>
        <p:nvSpPr>
          <p:cNvPr id="92" name="Shape 90"/>
          <p:cNvSpPr/>
          <p:nvPr/>
        </p:nvSpPr>
        <p:spPr>
          <a:xfrm>
            <a:off x="1143000" y="4956048"/>
            <a:ext cx="45720" cy="219456"/>
          </a:xfrm>
          <a:prstGeom prst="roundRect">
            <a:avLst>
              <a:gd name="adj" fmla="val 60000"/>
            </a:avLst>
          </a:prstGeom>
          <a:solidFill>
            <a:srgbClr val="275B7F"/>
          </a:solidFill>
          <a:ln w="12700">
            <a:solidFill>
              <a:srgbClr val="275B7F"/>
            </a:solidFill>
            <a:prstDash val="solid"/>
          </a:ln>
        </p:spPr>
      </p:sp>
      <p:sp>
        <p:nvSpPr>
          <p:cNvPr id="93" name="Text 91"/>
          <p:cNvSpPr/>
          <p:nvPr/>
        </p:nvSpPr>
        <p:spPr>
          <a:xfrm>
            <a:off x="1243584" y="4919472"/>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Supplier Engagement: supplier action, data quality, light PCF</a:t>
            </a:r>
            <a:endParaRPr lang="en-US" sz="936" dirty="0"/>
          </a:p>
        </p:txBody>
      </p:sp>
      <p:sp>
        <p:nvSpPr>
          <p:cNvPr id="94" name="Shape 92"/>
          <p:cNvSpPr/>
          <p:nvPr/>
        </p:nvSpPr>
        <p:spPr>
          <a:xfrm>
            <a:off x="3456432" y="5025360"/>
            <a:ext cx="8113471" cy="80833"/>
          </a:xfrm>
          <a:prstGeom prst="roundRect">
            <a:avLst>
              <a:gd name="adj" fmla="val 45249"/>
            </a:avLst>
          </a:prstGeom>
          <a:solidFill>
            <a:srgbClr val="275B7F"/>
          </a:solidFill>
          <a:ln w="12700">
            <a:solidFill>
              <a:srgbClr val="275B7F"/>
            </a:solidFill>
            <a:prstDash val="solid"/>
          </a:ln>
        </p:spPr>
      </p:sp>
      <p:sp>
        <p:nvSpPr>
          <p:cNvPr id="95" name="Shape 93"/>
          <p:cNvSpPr/>
          <p:nvPr/>
        </p:nvSpPr>
        <p:spPr>
          <a:xfrm>
            <a:off x="1033272" y="5422392"/>
            <a:ext cx="10536631" cy="0"/>
          </a:xfrm>
          <a:prstGeom prst="line">
            <a:avLst/>
          </a:prstGeom>
          <a:noFill/>
          <a:ln w="4445">
            <a:solidFill>
              <a:srgbClr val="E2E6E2"/>
            </a:solidFill>
            <a:prstDash val="solid"/>
          </a:ln>
        </p:spPr>
      </p:sp>
      <p:sp>
        <p:nvSpPr>
          <p:cNvPr id="96" name="Shape 94"/>
          <p:cNvSpPr/>
          <p:nvPr/>
        </p:nvSpPr>
        <p:spPr>
          <a:xfrm>
            <a:off x="1143000" y="5193792"/>
            <a:ext cx="45720" cy="219456"/>
          </a:xfrm>
          <a:prstGeom prst="roundRect">
            <a:avLst>
              <a:gd name="adj" fmla="val 60000"/>
            </a:avLst>
          </a:prstGeom>
          <a:solidFill>
            <a:srgbClr val="275B7F"/>
          </a:solidFill>
          <a:ln w="12700">
            <a:solidFill>
              <a:srgbClr val="275B7F"/>
            </a:solidFill>
            <a:prstDash val="solid"/>
          </a:ln>
        </p:spPr>
      </p:sp>
      <p:sp>
        <p:nvSpPr>
          <p:cNvPr id="97" name="Text 95"/>
          <p:cNvSpPr/>
          <p:nvPr/>
        </p:nvSpPr>
        <p:spPr>
          <a:xfrm>
            <a:off x="1243584" y="5157216"/>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Disclosure &amp; Indicators: foundations, configure-collect-disclose, SE migration</a:t>
            </a:r>
            <a:endParaRPr lang="en-US" sz="936" dirty="0"/>
          </a:p>
        </p:txBody>
      </p:sp>
      <p:sp>
        <p:nvSpPr>
          <p:cNvPr id="98" name="Shape 96"/>
          <p:cNvSpPr/>
          <p:nvPr/>
        </p:nvSpPr>
        <p:spPr>
          <a:xfrm>
            <a:off x="3456432" y="5263104"/>
            <a:ext cx="8113471" cy="80833"/>
          </a:xfrm>
          <a:prstGeom prst="roundRect">
            <a:avLst>
              <a:gd name="adj" fmla="val 45249"/>
            </a:avLst>
          </a:prstGeom>
          <a:solidFill>
            <a:srgbClr val="275B7F"/>
          </a:solidFill>
          <a:ln w="12700">
            <a:solidFill>
              <a:srgbClr val="275B7F"/>
            </a:solidFill>
            <a:prstDash val="solid"/>
          </a:ln>
        </p:spPr>
      </p:sp>
      <p:sp>
        <p:nvSpPr>
          <p:cNvPr id="99" name="Shape 97"/>
          <p:cNvSpPr/>
          <p:nvPr/>
        </p:nvSpPr>
        <p:spPr>
          <a:xfrm>
            <a:off x="1033272" y="5660136"/>
            <a:ext cx="10536631" cy="0"/>
          </a:xfrm>
          <a:prstGeom prst="line">
            <a:avLst/>
          </a:prstGeom>
          <a:noFill/>
          <a:ln w="4445">
            <a:solidFill>
              <a:srgbClr val="E2E6E2"/>
            </a:solidFill>
            <a:prstDash val="solid"/>
          </a:ln>
        </p:spPr>
      </p:sp>
      <p:sp>
        <p:nvSpPr>
          <p:cNvPr id="100" name="Shape 98"/>
          <p:cNvSpPr/>
          <p:nvPr/>
        </p:nvSpPr>
        <p:spPr>
          <a:xfrm>
            <a:off x="1143000" y="5431536"/>
            <a:ext cx="45720" cy="219456"/>
          </a:xfrm>
          <a:prstGeom prst="roundRect">
            <a:avLst>
              <a:gd name="adj" fmla="val 60000"/>
            </a:avLst>
          </a:prstGeom>
          <a:solidFill>
            <a:srgbClr val="275B7F"/>
          </a:solidFill>
          <a:ln w="12700">
            <a:solidFill>
              <a:srgbClr val="275B7F"/>
            </a:solidFill>
            <a:prstDash val="solid"/>
          </a:ln>
        </p:spPr>
      </p:sp>
      <p:sp>
        <p:nvSpPr>
          <p:cNvPr id="101" name="Text 99"/>
          <p:cNvSpPr/>
          <p:nvPr/>
        </p:nvSpPr>
        <p:spPr>
          <a:xfrm>
            <a:off x="1243584" y="5394960"/>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Climate Risk: asset register, scenarios and ClimVar, transition plans</a:t>
            </a:r>
            <a:endParaRPr lang="en-US" sz="936" dirty="0"/>
          </a:p>
        </p:txBody>
      </p:sp>
      <p:sp>
        <p:nvSpPr>
          <p:cNvPr id="102" name="Shape 100"/>
          <p:cNvSpPr/>
          <p:nvPr/>
        </p:nvSpPr>
        <p:spPr>
          <a:xfrm>
            <a:off x="3456432" y="5500848"/>
            <a:ext cx="8113471" cy="80833"/>
          </a:xfrm>
          <a:prstGeom prst="roundRect">
            <a:avLst>
              <a:gd name="adj" fmla="val 45249"/>
            </a:avLst>
          </a:prstGeom>
          <a:solidFill>
            <a:srgbClr val="275B7F"/>
          </a:solidFill>
          <a:ln w="12700">
            <a:solidFill>
              <a:srgbClr val="275B7F"/>
            </a:solidFill>
            <a:prstDash val="solid"/>
          </a:ln>
        </p:spPr>
      </p:sp>
      <p:sp>
        <p:nvSpPr>
          <p:cNvPr id="103" name="Shape 101"/>
          <p:cNvSpPr/>
          <p:nvPr/>
        </p:nvSpPr>
        <p:spPr>
          <a:xfrm>
            <a:off x="1033272" y="5897880"/>
            <a:ext cx="10536631" cy="0"/>
          </a:xfrm>
          <a:prstGeom prst="line">
            <a:avLst/>
          </a:prstGeom>
          <a:noFill/>
          <a:ln w="4445">
            <a:solidFill>
              <a:srgbClr val="E2E6E2"/>
            </a:solidFill>
            <a:prstDash val="solid"/>
          </a:ln>
        </p:spPr>
      </p:sp>
      <p:sp>
        <p:nvSpPr>
          <p:cNvPr id="104" name="Shape 102"/>
          <p:cNvSpPr/>
          <p:nvPr/>
        </p:nvSpPr>
        <p:spPr>
          <a:xfrm>
            <a:off x="1143000" y="5669280"/>
            <a:ext cx="45720" cy="219456"/>
          </a:xfrm>
          <a:prstGeom prst="roundRect">
            <a:avLst>
              <a:gd name="adj" fmla="val 60000"/>
            </a:avLst>
          </a:prstGeom>
          <a:solidFill>
            <a:srgbClr val="275B7F"/>
          </a:solidFill>
          <a:ln w="12700">
            <a:solidFill>
              <a:srgbClr val="275B7F"/>
            </a:solidFill>
            <a:prstDash val="solid"/>
          </a:ln>
        </p:spPr>
      </p:sp>
      <p:sp>
        <p:nvSpPr>
          <p:cNvPr id="105" name="Text 103"/>
          <p:cNvSpPr/>
          <p:nvPr/>
        </p:nvSpPr>
        <p:spPr>
          <a:xfrm>
            <a:off x="1243584" y="5632704"/>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Strategy: targets, portfolio view, board narratives</a:t>
            </a:r>
            <a:endParaRPr lang="en-US" sz="936" dirty="0"/>
          </a:p>
        </p:txBody>
      </p:sp>
      <p:sp>
        <p:nvSpPr>
          <p:cNvPr id="106" name="Shape 104"/>
          <p:cNvSpPr/>
          <p:nvPr/>
        </p:nvSpPr>
        <p:spPr>
          <a:xfrm>
            <a:off x="4132555" y="5738592"/>
            <a:ext cx="7437349" cy="80833"/>
          </a:xfrm>
          <a:prstGeom prst="roundRect">
            <a:avLst>
              <a:gd name="adj" fmla="val 45249"/>
            </a:avLst>
          </a:prstGeom>
          <a:solidFill>
            <a:srgbClr val="275B7F"/>
          </a:solidFill>
          <a:ln w="12700">
            <a:solidFill>
              <a:srgbClr val="275B7F"/>
            </a:solidFill>
            <a:prstDash val="solid"/>
          </a:ln>
        </p:spPr>
      </p:sp>
      <p:sp>
        <p:nvSpPr>
          <p:cNvPr id="107" name="Shape 105"/>
          <p:cNvSpPr/>
          <p:nvPr/>
        </p:nvSpPr>
        <p:spPr>
          <a:xfrm>
            <a:off x="7315200" y="6080760"/>
            <a:ext cx="146304" cy="146304"/>
          </a:xfrm>
          <a:prstGeom prst="ellipse">
            <a:avLst/>
          </a:prstGeom>
          <a:solidFill>
            <a:srgbClr val="FFB04C"/>
          </a:solidFill>
          <a:ln w="10160">
            <a:solidFill>
              <a:srgbClr val="FFFFFF"/>
            </a:solidFill>
            <a:prstDash val="solid"/>
          </a:ln>
        </p:spPr>
      </p:sp>
      <p:sp>
        <p:nvSpPr>
          <p:cNvPr id="108" name="Text 106"/>
          <p:cNvSpPr/>
          <p:nvPr/>
        </p:nvSpPr>
        <p:spPr>
          <a:xfrm>
            <a:off x="7534656" y="6071616"/>
            <a:ext cx="5029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MVP</a:t>
            </a:r>
            <a:endParaRPr lang="en-US" sz="850" dirty="0"/>
          </a:p>
        </p:txBody>
      </p:sp>
      <p:sp>
        <p:nvSpPr>
          <p:cNvPr id="109" name="Shape 107"/>
          <p:cNvSpPr/>
          <p:nvPr/>
        </p:nvSpPr>
        <p:spPr>
          <a:xfrm>
            <a:off x="8183880" y="6080760"/>
            <a:ext cx="146304" cy="146304"/>
          </a:xfrm>
          <a:prstGeom prst="ellipse">
            <a:avLst/>
          </a:prstGeom>
          <a:solidFill>
            <a:srgbClr val="007A27"/>
          </a:solidFill>
          <a:ln w="10160">
            <a:solidFill>
              <a:srgbClr val="FFFFFF"/>
            </a:solidFill>
            <a:prstDash val="solid"/>
          </a:ln>
        </p:spPr>
      </p:sp>
      <p:sp>
        <p:nvSpPr>
          <p:cNvPr id="110" name="Text 108"/>
          <p:cNvSpPr/>
          <p:nvPr/>
        </p:nvSpPr>
        <p:spPr>
          <a:xfrm>
            <a:off x="8403336" y="6071616"/>
            <a:ext cx="7315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Full GA</a:t>
            </a:r>
            <a:endParaRPr lang="en-US" sz="850" dirty="0"/>
          </a:p>
        </p:txBody>
      </p:sp>
      <p:sp>
        <p:nvSpPr>
          <p:cNvPr id="111" name="Shape 109"/>
          <p:cNvSpPr/>
          <p:nvPr/>
        </p:nvSpPr>
        <p:spPr>
          <a:xfrm>
            <a:off x="9326880" y="6099048"/>
            <a:ext cx="457200" cy="109728"/>
          </a:xfrm>
          <a:prstGeom prst="roundRect">
            <a:avLst>
              <a:gd name="adj" fmla="val 25000"/>
            </a:avLst>
          </a:prstGeom>
          <a:solidFill>
            <a:srgbClr val="3DCD58">
              <a:alpha val="22000"/>
            </a:srgbClr>
          </a:solidFill>
          <a:ln w="12700">
            <a:solidFill>
              <a:srgbClr val="3DCD58">
                <a:alpha val="22000"/>
              </a:srgbClr>
            </a:solidFill>
            <a:prstDash val="solid"/>
          </a:ln>
        </p:spPr>
      </p:sp>
      <p:sp>
        <p:nvSpPr>
          <p:cNvPr id="112" name="Text 110"/>
          <p:cNvSpPr/>
          <p:nvPr/>
        </p:nvSpPr>
        <p:spPr>
          <a:xfrm>
            <a:off x="9857232" y="6071616"/>
            <a:ext cx="173736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Continuous investment after GA</a:t>
            </a:r>
            <a:endParaRPr lang="en-US" sz="850" dirty="0"/>
          </a:p>
        </p:txBody>
      </p:sp>
      <p:sp>
        <p:nvSpPr>
          <p:cNvPr id="113" name="Shape 111"/>
          <p:cNvSpPr/>
          <p:nvPr/>
        </p:nvSpPr>
        <p:spPr>
          <a:xfrm>
            <a:off x="621792" y="6437376"/>
            <a:ext cx="10948111" cy="0"/>
          </a:xfrm>
          <a:prstGeom prst="line">
            <a:avLst/>
          </a:prstGeom>
          <a:noFill/>
          <a:ln w="9525">
            <a:solidFill>
              <a:srgbClr val="E2E6E2"/>
            </a:solidFill>
            <a:prstDash val="solid"/>
          </a:ln>
        </p:spPr>
      </p:sp>
      <p:sp>
        <p:nvSpPr>
          <p:cNvPr id="114" name="Text 11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15" name="Text 11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Sustainability product highlights: 2026 to 2027</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headline deliveries from each product roadmap, on one quarterly timeline.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470616"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5484800"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6498984"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7513168"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7513168"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852735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9541535"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10555719"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Shape 19"/>
          <p:cNvSpPr/>
          <p:nvPr/>
        </p:nvSpPr>
        <p:spPr>
          <a:xfrm>
            <a:off x="3456432" y="2103120"/>
            <a:ext cx="0" cy="3794760"/>
          </a:xfrm>
          <a:prstGeom prst="line">
            <a:avLst/>
          </a:prstGeom>
          <a:noFill/>
          <a:ln w="11430">
            <a:solidFill>
              <a:srgbClr val="C8CECA"/>
            </a:solidFill>
            <a:prstDash val="solid"/>
          </a:ln>
        </p:spPr>
      </p:sp>
      <p:sp>
        <p:nvSpPr>
          <p:cNvPr id="22" name="Shape 20"/>
          <p:cNvSpPr/>
          <p:nvPr/>
        </p:nvSpPr>
        <p:spPr>
          <a:xfrm>
            <a:off x="4470616" y="2103120"/>
            <a:ext cx="0" cy="3794760"/>
          </a:xfrm>
          <a:prstGeom prst="line">
            <a:avLst/>
          </a:prstGeom>
          <a:noFill/>
          <a:ln w="4445">
            <a:solidFill>
              <a:srgbClr val="E2E6E2"/>
            </a:solidFill>
            <a:prstDash val="solid"/>
          </a:ln>
        </p:spPr>
      </p:sp>
      <p:sp>
        <p:nvSpPr>
          <p:cNvPr id="23" name="Shape 21"/>
          <p:cNvSpPr/>
          <p:nvPr/>
        </p:nvSpPr>
        <p:spPr>
          <a:xfrm>
            <a:off x="5484800" y="2103120"/>
            <a:ext cx="0" cy="3794760"/>
          </a:xfrm>
          <a:prstGeom prst="line">
            <a:avLst/>
          </a:prstGeom>
          <a:noFill/>
          <a:ln w="4445">
            <a:solidFill>
              <a:srgbClr val="E2E6E2"/>
            </a:solidFill>
            <a:prstDash val="solid"/>
          </a:ln>
        </p:spPr>
      </p:sp>
      <p:sp>
        <p:nvSpPr>
          <p:cNvPr id="24" name="Shape 22"/>
          <p:cNvSpPr/>
          <p:nvPr/>
        </p:nvSpPr>
        <p:spPr>
          <a:xfrm>
            <a:off x="6498984" y="2103120"/>
            <a:ext cx="0" cy="3794760"/>
          </a:xfrm>
          <a:prstGeom prst="line">
            <a:avLst/>
          </a:prstGeom>
          <a:noFill/>
          <a:ln w="4445">
            <a:solidFill>
              <a:srgbClr val="E2E6E2"/>
            </a:solidFill>
            <a:prstDash val="solid"/>
          </a:ln>
        </p:spPr>
      </p:sp>
      <p:sp>
        <p:nvSpPr>
          <p:cNvPr id="25" name="Shape 23"/>
          <p:cNvSpPr/>
          <p:nvPr/>
        </p:nvSpPr>
        <p:spPr>
          <a:xfrm>
            <a:off x="7513168" y="2103120"/>
            <a:ext cx="0" cy="3794760"/>
          </a:xfrm>
          <a:prstGeom prst="line">
            <a:avLst/>
          </a:prstGeom>
          <a:noFill/>
          <a:ln w="11430">
            <a:solidFill>
              <a:srgbClr val="C8CECA"/>
            </a:solidFill>
            <a:prstDash val="solid"/>
          </a:ln>
        </p:spPr>
      </p:sp>
      <p:sp>
        <p:nvSpPr>
          <p:cNvPr id="26" name="Shape 24"/>
          <p:cNvSpPr/>
          <p:nvPr/>
        </p:nvSpPr>
        <p:spPr>
          <a:xfrm>
            <a:off x="8527352" y="2103120"/>
            <a:ext cx="0" cy="3794760"/>
          </a:xfrm>
          <a:prstGeom prst="line">
            <a:avLst/>
          </a:prstGeom>
          <a:noFill/>
          <a:ln w="4445">
            <a:solidFill>
              <a:srgbClr val="E2E6E2"/>
            </a:solidFill>
            <a:prstDash val="solid"/>
          </a:ln>
        </p:spPr>
      </p:sp>
      <p:sp>
        <p:nvSpPr>
          <p:cNvPr id="27" name="Shape 25"/>
          <p:cNvSpPr/>
          <p:nvPr/>
        </p:nvSpPr>
        <p:spPr>
          <a:xfrm>
            <a:off x="9541535" y="2103120"/>
            <a:ext cx="0" cy="3794760"/>
          </a:xfrm>
          <a:prstGeom prst="line">
            <a:avLst/>
          </a:prstGeom>
          <a:noFill/>
          <a:ln w="4445">
            <a:solidFill>
              <a:srgbClr val="E2E6E2"/>
            </a:solidFill>
            <a:prstDash val="solid"/>
          </a:ln>
        </p:spPr>
      </p:sp>
      <p:sp>
        <p:nvSpPr>
          <p:cNvPr id="28" name="Shape 26"/>
          <p:cNvSpPr/>
          <p:nvPr/>
        </p:nvSpPr>
        <p:spPr>
          <a:xfrm>
            <a:off x="10555719" y="2103120"/>
            <a:ext cx="0" cy="3794760"/>
          </a:xfrm>
          <a:prstGeom prst="line">
            <a:avLst/>
          </a:prstGeom>
          <a:noFill/>
          <a:ln w="4445">
            <a:solidFill>
              <a:srgbClr val="E2E6E2"/>
            </a:solidFill>
            <a:prstDash val="solid"/>
          </a:ln>
        </p:spPr>
      </p:sp>
      <p:sp>
        <p:nvSpPr>
          <p:cNvPr id="29" name="Shape 27"/>
          <p:cNvSpPr/>
          <p:nvPr/>
        </p:nvSpPr>
        <p:spPr>
          <a:xfrm>
            <a:off x="11569903" y="2103120"/>
            <a:ext cx="0" cy="3794760"/>
          </a:xfrm>
          <a:prstGeom prst="line">
            <a:avLst/>
          </a:prstGeom>
          <a:noFill/>
          <a:ln w="11430">
            <a:solidFill>
              <a:srgbClr val="C8CECA"/>
            </a:solidFill>
            <a:prstDash val="solid"/>
          </a:ln>
        </p:spPr>
      </p:sp>
      <p:sp>
        <p:nvSpPr>
          <p:cNvPr id="30" name="Shape 28"/>
          <p:cNvSpPr/>
          <p:nvPr/>
        </p:nvSpPr>
        <p:spPr>
          <a:xfrm>
            <a:off x="621792" y="2331720"/>
            <a:ext cx="411480" cy="891540"/>
          </a:xfrm>
          <a:prstGeom prst="rect">
            <a:avLst/>
          </a:prstGeom>
          <a:solidFill>
            <a:srgbClr val="3DCD58"/>
          </a:solidFill>
          <a:ln w="7620">
            <a:solidFill>
              <a:srgbClr val="FFFFFF"/>
            </a:solidFill>
            <a:prstDash val="solid"/>
          </a:ln>
        </p:spPr>
      </p:sp>
      <p:sp>
        <p:nvSpPr>
          <p:cNvPr id="31" name="Text 29"/>
          <p:cNvSpPr/>
          <p:nvPr/>
        </p:nvSpPr>
        <p:spPr>
          <a:xfrm>
            <a:off x="685800" y="2377440"/>
            <a:ext cx="283464" cy="80010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CARBON</a:t>
            </a:r>
            <a:endParaRPr lang="en-US" sz="750" dirty="0"/>
          </a:p>
        </p:txBody>
      </p:sp>
      <p:sp>
        <p:nvSpPr>
          <p:cNvPr id="32" name="Shape 30"/>
          <p:cNvSpPr/>
          <p:nvPr/>
        </p:nvSpPr>
        <p:spPr>
          <a:xfrm>
            <a:off x="1033272" y="2628900"/>
            <a:ext cx="10536631" cy="0"/>
          </a:xfrm>
          <a:prstGeom prst="line">
            <a:avLst/>
          </a:prstGeom>
          <a:noFill/>
          <a:ln w="4445">
            <a:solidFill>
              <a:srgbClr val="E2E6E2"/>
            </a:solidFill>
            <a:prstDash val="solid"/>
          </a:ln>
        </p:spPr>
      </p:sp>
      <p:sp>
        <p:nvSpPr>
          <p:cNvPr id="33" name="Shape 31"/>
          <p:cNvSpPr/>
          <p:nvPr/>
        </p:nvSpPr>
        <p:spPr>
          <a:xfrm>
            <a:off x="1143000" y="2370582"/>
            <a:ext cx="45720" cy="219456"/>
          </a:xfrm>
          <a:prstGeom prst="roundRect">
            <a:avLst>
              <a:gd name="adj" fmla="val 60000"/>
            </a:avLst>
          </a:prstGeom>
          <a:solidFill>
            <a:srgbClr val="3DCD58"/>
          </a:solidFill>
          <a:ln w="12700">
            <a:solidFill>
              <a:srgbClr val="3DCD58"/>
            </a:solidFill>
            <a:prstDash val="solid"/>
          </a:ln>
        </p:spPr>
      </p:sp>
      <p:sp>
        <p:nvSpPr>
          <p:cNvPr id="34" name="Text 32"/>
          <p:cNvSpPr/>
          <p:nvPr/>
        </p:nvSpPr>
        <p:spPr>
          <a:xfrm>
            <a:off x="1243584" y="233400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Inventory revamp, pre-calc import</a:t>
            </a:r>
            <a:endParaRPr lang="en-US" sz="950" dirty="0"/>
          </a:p>
        </p:txBody>
      </p:sp>
      <p:sp>
        <p:nvSpPr>
          <p:cNvPr id="35" name="Shape 33"/>
          <p:cNvSpPr/>
          <p:nvPr/>
        </p:nvSpPr>
        <p:spPr>
          <a:xfrm>
            <a:off x="5484800" y="2429789"/>
            <a:ext cx="1014184" cy="101041"/>
          </a:xfrm>
          <a:prstGeom prst="roundRect">
            <a:avLst>
              <a:gd name="adj" fmla="val 36199"/>
            </a:avLst>
          </a:prstGeom>
          <a:solidFill>
            <a:srgbClr val="3DCD58"/>
          </a:solidFill>
          <a:ln w="12700">
            <a:solidFill>
              <a:srgbClr val="3DCD58"/>
            </a:solidFill>
            <a:prstDash val="solid"/>
          </a:ln>
        </p:spPr>
      </p:sp>
      <p:sp>
        <p:nvSpPr>
          <p:cNvPr id="36" name="Shape 34"/>
          <p:cNvSpPr/>
          <p:nvPr/>
        </p:nvSpPr>
        <p:spPr>
          <a:xfrm>
            <a:off x="1033272" y="2926080"/>
            <a:ext cx="10536631" cy="0"/>
          </a:xfrm>
          <a:prstGeom prst="line">
            <a:avLst/>
          </a:prstGeom>
          <a:noFill/>
          <a:ln w="4445">
            <a:solidFill>
              <a:srgbClr val="E2E6E2"/>
            </a:solidFill>
            <a:prstDash val="solid"/>
          </a:ln>
        </p:spPr>
      </p:sp>
      <p:sp>
        <p:nvSpPr>
          <p:cNvPr id="37" name="Shape 35"/>
          <p:cNvSpPr/>
          <p:nvPr/>
        </p:nvSpPr>
        <p:spPr>
          <a:xfrm>
            <a:off x="1143000" y="2667762"/>
            <a:ext cx="45720" cy="219456"/>
          </a:xfrm>
          <a:prstGeom prst="roundRect">
            <a:avLst>
              <a:gd name="adj" fmla="val 60000"/>
            </a:avLst>
          </a:prstGeom>
          <a:solidFill>
            <a:srgbClr val="3DCD58"/>
          </a:solidFill>
          <a:ln w="12700">
            <a:solidFill>
              <a:srgbClr val="3DCD58"/>
            </a:solidFill>
            <a:prstDash val="solid"/>
          </a:ln>
        </p:spPr>
      </p:sp>
      <p:sp>
        <p:nvSpPr>
          <p:cNvPr id="38" name="Text 36"/>
          <p:cNvSpPr/>
          <p:nvPr/>
        </p:nvSpPr>
        <p:spPr>
          <a:xfrm>
            <a:off x="1243584" y="263118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Scope 1-2: EAC, PPA, thermal</a:t>
            </a:r>
            <a:endParaRPr lang="en-US" sz="950" dirty="0"/>
          </a:p>
        </p:txBody>
      </p:sp>
      <p:sp>
        <p:nvSpPr>
          <p:cNvPr id="39" name="Shape 37"/>
          <p:cNvSpPr/>
          <p:nvPr/>
        </p:nvSpPr>
        <p:spPr>
          <a:xfrm>
            <a:off x="6498984" y="2726969"/>
            <a:ext cx="1014184" cy="101041"/>
          </a:xfrm>
          <a:prstGeom prst="roundRect">
            <a:avLst>
              <a:gd name="adj" fmla="val 36199"/>
            </a:avLst>
          </a:prstGeom>
          <a:solidFill>
            <a:srgbClr val="3DCD58"/>
          </a:solidFill>
          <a:ln w="12700">
            <a:solidFill>
              <a:srgbClr val="3DCD58"/>
            </a:solidFill>
            <a:prstDash val="solid"/>
          </a:ln>
        </p:spPr>
      </p:sp>
      <p:sp>
        <p:nvSpPr>
          <p:cNvPr id="40" name="Shape 38"/>
          <p:cNvSpPr/>
          <p:nvPr/>
        </p:nvSpPr>
        <p:spPr>
          <a:xfrm>
            <a:off x="1033272" y="3223260"/>
            <a:ext cx="10536631" cy="0"/>
          </a:xfrm>
          <a:prstGeom prst="line">
            <a:avLst/>
          </a:prstGeom>
          <a:noFill/>
          <a:ln w="4445">
            <a:solidFill>
              <a:srgbClr val="E2E6E2"/>
            </a:solidFill>
            <a:prstDash val="solid"/>
          </a:ln>
        </p:spPr>
      </p:sp>
      <p:sp>
        <p:nvSpPr>
          <p:cNvPr id="41" name="Shape 39"/>
          <p:cNvSpPr/>
          <p:nvPr/>
        </p:nvSpPr>
        <p:spPr>
          <a:xfrm>
            <a:off x="1143000" y="2964942"/>
            <a:ext cx="45720" cy="219456"/>
          </a:xfrm>
          <a:prstGeom prst="roundRect">
            <a:avLst>
              <a:gd name="adj" fmla="val 60000"/>
            </a:avLst>
          </a:prstGeom>
          <a:solidFill>
            <a:srgbClr val="3DCD58"/>
          </a:solidFill>
          <a:ln w="12700">
            <a:solidFill>
              <a:srgbClr val="3DCD58"/>
            </a:solidFill>
            <a:prstDash val="solid"/>
          </a:ln>
        </p:spPr>
      </p:sp>
      <p:sp>
        <p:nvSpPr>
          <p:cNvPr id="42" name="Text 40"/>
          <p:cNvSpPr/>
          <p:nvPr/>
        </p:nvSpPr>
        <p:spPr>
          <a:xfrm>
            <a:off x="1243584" y="292836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Scope 3 gap closure, Cat 15, FLAG</a:t>
            </a:r>
            <a:endParaRPr lang="en-US" sz="950" dirty="0"/>
          </a:p>
        </p:txBody>
      </p:sp>
      <p:sp>
        <p:nvSpPr>
          <p:cNvPr id="43" name="Shape 41"/>
          <p:cNvSpPr/>
          <p:nvPr/>
        </p:nvSpPr>
        <p:spPr>
          <a:xfrm>
            <a:off x="7513168" y="3024149"/>
            <a:ext cx="4056736" cy="101041"/>
          </a:xfrm>
          <a:prstGeom prst="roundRect">
            <a:avLst>
              <a:gd name="adj" fmla="val 36199"/>
            </a:avLst>
          </a:prstGeom>
          <a:solidFill>
            <a:srgbClr val="3DCD58"/>
          </a:solidFill>
          <a:ln w="12700">
            <a:solidFill>
              <a:srgbClr val="3DCD58"/>
            </a:solidFill>
            <a:prstDash val="solid"/>
          </a:ln>
        </p:spPr>
      </p:sp>
      <p:sp>
        <p:nvSpPr>
          <p:cNvPr id="44" name="Shape 42"/>
          <p:cNvSpPr/>
          <p:nvPr/>
        </p:nvSpPr>
        <p:spPr>
          <a:xfrm>
            <a:off x="621792" y="3223260"/>
            <a:ext cx="411480" cy="891540"/>
          </a:xfrm>
          <a:prstGeom prst="rect">
            <a:avLst/>
          </a:prstGeom>
          <a:solidFill>
            <a:srgbClr val="007A27"/>
          </a:solidFill>
          <a:ln w="7620">
            <a:solidFill>
              <a:srgbClr val="FFFFFF"/>
            </a:solidFill>
            <a:prstDash val="solid"/>
          </a:ln>
        </p:spPr>
      </p:sp>
      <p:sp>
        <p:nvSpPr>
          <p:cNvPr id="45" name="Text 43"/>
          <p:cNvSpPr/>
          <p:nvPr/>
        </p:nvSpPr>
        <p:spPr>
          <a:xfrm>
            <a:off x="685800" y="3268980"/>
            <a:ext cx="283464" cy="80010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SUPPLY CHAIN</a:t>
            </a:r>
            <a:endParaRPr lang="en-US" sz="750" dirty="0"/>
          </a:p>
        </p:txBody>
      </p:sp>
      <p:sp>
        <p:nvSpPr>
          <p:cNvPr id="46" name="Shape 44"/>
          <p:cNvSpPr/>
          <p:nvPr/>
        </p:nvSpPr>
        <p:spPr>
          <a:xfrm>
            <a:off x="1033272" y="3520440"/>
            <a:ext cx="10536631" cy="0"/>
          </a:xfrm>
          <a:prstGeom prst="line">
            <a:avLst/>
          </a:prstGeom>
          <a:noFill/>
          <a:ln w="4445">
            <a:solidFill>
              <a:srgbClr val="E2E6E2"/>
            </a:solidFill>
            <a:prstDash val="solid"/>
          </a:ln>
        </p:spPr>
      </p:sp>
      <p:sp>
        <p:nvSpPr>
          <p:cNvPr id="47" name="Shape 45"/>
          <p:cNvSpPr/>
          <p:nvPr/>
        </p:nvSpPr>
        <p:spPr>
          <a:xfrm>
            <a:off x="1143000" y="3262122"/>
            <a:ext cx="45720" cy="219456"/>
          </a:xfrm>
          <a:prstGeom prst="roundRect">
            <a:avLst>
              <a:gd name="adj" fmla="val 60000"/>
            </a:avLst>
          </a:prstGeom>
          <a:solidFill>
            <a:srgbClr val="007A27"/>
          </a:solidFill>
          <a:ln w="12700">
            <a:solidFill>
              <a:srgbClr val="007A27"/>
            </a:solidFill>
            <a:prstDash val="solid"/>
          </a:ln>
        </p:spPr>
      </p:sp>
      <p:sp>
        <p:nvSpPr>
          <p:cNvPr id="48" name="Text 46"/>
          <p:cNvSpPr/>
          <p:nvPr/>
        </p:nvSpPr>
        <p:spPr>
          <a:xfrm>
            <a:off x="1243584" y="322554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SC emissions, supplier action</a:t>
            </a:r>
            <a:endParaRPr lang="en-US" sz="950" dirty="0"/>
          </a:p>
        </p:txBody>
      </p:sp>
      <p:sp>
        <p:nvSpPr>
          <p:cNvPr id="49" name="Shape 47"/>
          <p:cNvSpPr/>
          <p:nvPr/>
        </p:nvSpPr>
        <p:spPr>
          <a:xfrm>
            <a:off x="5484800" y="3321329"/>
            <a:ext cx="1014184" cy="101041"/>
          </a:xfrm>
          <a:prstGeom prst="roundRect">
            <a:avLst>
              <a:gd name="adj" fmla="val 36199"/>
            </a:avLst>
          </a:prstGeom>
          <a:solidFill>
            <a:srgbClr val="007A27"/>
          </a:solidFill>
          <a:ln w="12700">
            <a:solidFill>
              <a:srgbClr val="007A27"/>
            </a:solidFill>
            <a:prstDash val="solid"/>
          </a:ln>
        </p:spPr>
      </p:sp>
      <p:sp>
        <p:nvSpPr>
          <p:cNvPr id="50" name="Shape 48"/>
          <p:cNvSpPr/>
          <p:nvPr/>
        </p:nvSpPr>
        <p:spPr>
          <a:xfrm>
            <a:off x="1033272" y="3817620"/>
            <a:ext cx="10536631" cy="0"/>
          </a:xfrm>
          <a:prstGeom prst="line">
            <a:avLst/>
          </a:prstGeom>
          <a:noFill/>
          <a:ln w="4445">
            <a:solidFill>
              <a:srgbClr val="E2E6E2"/>
            </a:solidFill>
            <a:prstDash val="solid"/>
          </a:ln>
        </p:spPr>
      </p:sp>
      <p:sp>
        <p:nvSpPr>
          <p:cNvPr id="51" name="Shape 49"/>
          <p:cNvSpPr/>
          <p:nvPr/>
        </p:nvSpPr>
        <p:spPr>
          <a:xfrm>
            <a:off x="1143000" y="3559302"/>
            <a:ext cx="45720" cy="219456"/>
          </a:xfrm>
          <a:prstGeom prst="roundRect">
            <a:avLst>
              <a:gd name="adj" fmla="val 60000"/>
            </a:avLst>
          </a:prstGeom>
          <a:solidFill>
            <a:srgbClr val="007A27"/>
          </a:solidFill>
          <a:ln w="12700">
            <a:solidFill>
              <a:srgbClr val="007A27"/>
            </a:solidFill>
            <a:prstDash val="solid"/>
          </a:ln>
        </p:spPr>
      </p:sp>
      <p:sp>
        <p:nvSpPr>
          <p:cNvPr id="52" name="Text 50"/>
          <p:cNvSpPr/>
          <p:nvPr/>
        </p:nvSpPr>
        <p:spPr>
          <a:xfrm>
            <a:off x="1243584" y="352272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Data quality, sponsors, Zeigo</a:t>
            </a:r>
            <a:endParaRPr lang="en-US" sz="950" dirty="0"/>
          </a:p>
        </p:txBody>
      </p:sp>
      <p:sp>
        <p:nvSpPr>
          <p:cNvPr id="53" name="Shape 51"/>
          <p:cNvSpPr/>
          <p:nvPr/>
        </p:nvSpPr>
        <p:spPr>
          <a:xfrm>
            <a:off x="6498984" y="3618509"/>
            <a:ext cx="1014184" cy="101041"/>
          </a:xfrm>
          <a:prstGeom prst="roundRect">
            <a:avLst>
              <a:gd name="adj" fmla="val 36199"/>
            </a:avLst>
          </a:prstGeom>
          <a:solidFill>
            <a:srgbClr val="007A27"/>
          </a:solidFill>
          <a:ln w="12700">
            <a:solidFill>
              <a:srgbClr val="007A27"/>
            </a:solidFill>
            <a:prstDash val="solid"/>
          </a:ln>
        </p:spPr>
      </p:sp>
      <p:sp>
        <p:nvSpPr>
          <p:cNvPr id="54" name="Shape 52"/>
          <p:cNvSpPr/>
          <p:nvPr/>
        </p:nvSpPr>
        <p:spPr>
          <a:xfrm>
            <a:off x="1033272" y="4114800"/>
            <a:ext cx="10536631" cy="0"/>
          </a:xfrm>
          <a:prstGeom prst="line">
            <a:avLst/>
          </a:prstGeom>
          <a:noFill/>
          <a:ln w="4445">
            <a:solidFill>
              <a:srgbClr val="E2E6E2"/>
            </a:solidFill>
            <a:prstDash val="solid"/>
          </a:ln>
        </p:spPr>
      </p:sp>
      <p:sp>
        <p:nvSpPr>
          <p:cNvPr id="55" name="Shape 53"/>
          <p:cNvSpPr/>
          <p:nvPr/>
        </p:nvSpPr>
        <p:spPr>
          <a:xfrm>
            <a:off x="1143000" y="3856482"/>
            <a:ext cx="45720" cy="219456"/>
          </a:xfrm>
          <a:prstGeom prst="roundRect">
            <a:avLst>
              <a:gd name="adj" fmla="val 60000"/>
            </a:avLst>
          </a:prstGeom>
          <a:solidFill>
            <a:srgbClr val="007A27"/>
          </a:solidFill>
          <a:ln w="12700">
            <a:solidFill>
              <a:srgbClr val="007A27"/>
            </a:solidFill>
            <a:prstDash val="solid"/>
          </a:ln>
        </p:spPr>
      </p:sp>
      <p:sp>
        <p:nvSpPr>
          <p:cNvPr id="56" name="Text 54"/>
          <p:cNvSpPr/>
          <p:nvPr/>
        </p:nvSpPr>
        <p:spPr>
          <a:xfrm>
            <a:off x="1243584" y="381990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Light PCF, multi tier, integrations</a:t>
            </a:r>
            <a:endParaRPr lang="en-US" sz="950" dirty="0"/>
          </a:p>
        </p:txBody>
      </p:sp>
      <p:sp>
        <p:nvSpPr>
          <p:cNvPr id="57" name="Shape 55"/>
          <p:cNvSpPr/>
          <p:nvPr/>
        </p:nvSpPr>
        <p:spPr>
          <a:xfrm>
            <a:off x="7513168" y="3915689"/>
            <a:ext cx="4056736" cy="101041"/>
          </a:xfrm>
          <a:prstGeom prst="roundRect">
            <a:avLst>
              <a:gd name="adj" fmla="val 36199"/>
            </a:avLst>
          </a:prstGeom>
          <a:solidFill>
            <a:srgbClr val="007A27"/>
          </a:solidFill>
          <a:ln w="12700">
            <a:solidFill>
              <a:srgbClr val="007A27"/>
            </a:solidFill>
            <a:prstDash val="solid"/>
          </a:ln>
        </p:spPr>
      </p:sp>
      <p:sp>
        <p:nvSpPr>
          <p:cNvPr id="58" name="Shape 56"/>
          <p:cNvSpPr/>
          <p:nvPr/>
        </p:nvSpPr>
        <p:spPr>
          <a:xfrm>
            <a:off x="621792" y="4114800"/>
            <a:ext cx="411480" cy="891540"/>
          </a:xfrm>
          <a:prstGeom prst="rect">
            <a:avLst/>
          </a:prstGeom>
          <a:solidFill>
            <a:srgbClr val="FFB04C"/>
          </a:solidFill>
          <a:ln w="7620">
            <a:solidFill>
              <a:srgbClr val="FFFFFF"/>
            </a:solidFill>
            <a:prstDash val="solid"/>
          </a:ln>
        </p:spPr>
      </p:sp>
      <p:sp>
        <p:nvSpPr>
          <p:cNvPr id="59" name="Text 57"/>
          <p:cNvSpPr/>
          <p:nvPr/>
        </p:nvSpPr>
        <p:spPr>
          <a:xfrm>
            <a:off x="685800" y="4160520"/>
            <a:ext cx="283464" cy="80010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CLIMATE RISK</a:t>
            </a:r>
            <a:endParaRPr lang="en-US" sz="750" dirty="0"/>
          </a:p>
        </p:txBody>
      </p:sp>
      <p:sp>
        <p:nvSpPr>
          <p:cNvPr id="60" name="Shape 58"/>
          <p:cNvSpPr/>
          <p:nvPr/>
        </p:nvSpPr>
        <p:spPr>
          <a:xfrm>
            <a:off x="1033272" y="4411980"/>
            <a:ext cx="10536631" cy="0"/>
          </a:xfrm>
          <a:prstGeom prst="line">
            <a:avLst/>
          </a:prstGeom>
          <a:noFill/>
          <a:ln w="4445">
            <a:solidFill>
              <a:srgbClr val="E2E6E2"/>
            </a:solidFill>
            <a:prstDash val="solid"/>
          </a:ln>
        </p:spPr>
      </p:sp>
      <p:sp>
        <p:nvSpPr>
          <p:cNvPr id="61" name="Shape 59"/>
          <p:cNvSpPr/>
          <p:nvPr/>
        </p:nvSpPr>
        <p:spPr>
          <a:xfrm>
            <a:off x="1143000" y="4153662"/>
            <a:ext cx="45720" cy="219456"/>
          </a:xfrm>
          <a:prstGeom prst="roundRect">
            <a:avLst>
              <a:gd name="adj" fmla="val 60000"/>
            </a:avLst>
          </a:prstGeom>
          <a:solidFill>
            <a:srgbClr val="FFB04C"/>
          </a:solidFill>
          <a:ln w="12700">
            <a:solidFill>
              <a:srgbClr val="FFB04C"/>
            </a:solidFill>
            <a:prstDash val="solid"/>
          </a:ln>
        </p:spPr>
      </p:sp>
      <p:sp>
        <p:nvSpPr>
          <p:cNvPr id="62" name="Text 60"/>
          <p:cNvSpPr/>
          <p:nvPr/>
        </p:nvSpPr>
        <p:spPr>
          <a:xfrm>
            <a:off x="1243584" y="411708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Asset register, Eclr stabilisation</a:t>
            </a:r>
            <a:endParaRPr lang="en-US" sz="950" dirty="0"/>
          </a:p>
        </p:txBody>
      </p:sp>
      <p:sp>
        <p:nvSpPr>
          <p:cNvPr id="63" name="Shape 61"/>
          <p:cNvSpPr/>
          <p:nvPr/>
        </p:nvSpPr>
        <p:spPr>
          <a:xfrm>
            <a:off x="5484800" y="4212869"/>
            <a:ext cx="1014184" cy="101041"/>
          </a:xfrm>
          <a:prstGeom prst="roundRect">
            <a:avLst>
              <a:gd name="adj" fmla="val 36199"/>
            </a:avLst>
          </a:prstGeom>
          <a:solidFill>
            <a:srgbClr val="FFB04C"/>
          </a:solidFill>
          <a:ln w="12700">
            <a:solidFill>
              <a:srgbClr val="FFB04C"/>
            </a:solidFill>
            <a:prstDash val="solid"/>
          </a:ln>
        </p:spPr>
      </p:sp>
      <p:sp>
        <p:nvSpPr>
          <p:cNvPr id="64" name="Shape 62"/>
          <p:cNvSpPr/>
          <p:nvPr/>
        </p:nvSpPr>
        <p:spPr>
          <a:xfrm>
            <a:off x="1033272" y="4709160"/>
            <a:ext cx="10536631" cy="0"/>
          </a:xfrm>
          <a:prstGeom prst="line">
            <a:avLst/>
          </a:prstGeom>
          <a:noFill/>
          <a:ln w="4445">
            <a:solidFill>
              <a:srgbClr val="E2E6E2"/>
            </a:solidFill>
            <a:prstDash val="solid"/>
          </a:ln>
        </p:spPr>
      </p:sp>
      <p:sp>
        <p:nvSpPr>
          <p:cNvPr id="65" name="Shape 63"/>
          <p:cNvSpPr/>
          <p:nvPr/>
        </p:nvSpPr>
        <p:spPr>
          <a:xfrm>
            <a:off x="1143000" y="4450842"/>
            <a:ext cx="45720" cy="219456"/>
          </a:xfrm>
          <a:prstGeom prst="roundRect">
            <a:avLst>
              <a:gd name="adj" fmla="val 60000"/>
            </a:avLst>
          </a:prstGeom>
          <a:solidFill>
            <a:srgbClr val="FFB04C"/>
          </a:solidFill>
          <a:ln w="12700">
            <a:solidFill>
              <a:srgbClr val="FFB04C"/>
            </a:solidFill>
            <a:prstDash val="solid"/>
          </a:ln>
        </p:spPr>
      </p:sp>
      <p:sp>
        <p:nvSpPr>
          <p:cNvPr id="66" name="Text 64"/>
          <p:cNvSpPr/>
          <p:nvPr/>
        </p:nvSpPr>
        <p:spPr>
          <a:xfrm>
            <a:off x="1243584" y="441426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Eclr self serve, hazard exposure</a:t>
            </a:r>
            <a:endParaRPr lang="en-US" sz="950" dirty="0"/>
          </a:p>
        </p:txBody>
      </p:sp>
      <p:sp>
        <p:nvSpPr>
          <p:cNvPr id="67" name="Shape 65"/>
          <p:cNvSpPr/>
          <p:nvPr/>
        </p:nvSpPr>
        <p:spPr>
          <a:xfrm>
            <a:off x="6498984" y="4510049"/>
            <a:ext cx="1014184" cy="101041"/>
          </a:xfrm>
          <a:prstGeom prst="roundRect">
            <a:avLst>
              <a:gd name="adj" fmla="val 36199"/>
            </a:avLst>
          </a:prstGeom>
          <a:solidFill>
            <a:srgbClr val="FFB04C"/>
          </a:solidFill>
          <a:ln w="12700">
            <a:solidFill>
              <a:srgbClr val="FFB04C"/>
            </a:solidFill>
            <a:prstDash val="solid"/>
          </a:ln>
        </p:spPr>
      </p:sp>
      <p:sp>
        <p:nvSpPr>
          <p:cNvPr id="68" name="Shape 66"/>
          <p:cNvSpPr/>
          <p:nvPr/>
        </p:nvSpPr>
        <p:spPr>
          <a:xfrm>
            <a:off x="1033272" y="5006340"/>
            <a:ext cx="10536631" cy="0"/>
          </a:xfrm>
          <a:prstGeom prst="line">
            <a:avLst/>
          </a:prstGeom>
          <a:noFill/>
          <a:ln w="4445">
            <a:solidFill>
              <a:srgbClr val="E2E6E2"/>
            </a:solidFill>
            <a:prstDash val="solid"/>
          </a:ln>
        </p:spPr>
      </p:sp>
      <p:sp>
        <p:nvSpPr>
          <p:cNvPr id="69" name="Shape 67"/>
          <p:cNvSpPr/>
          <p:nvPr/>
        </p:nvSpPr>
        <p:spPr>
          <a:xfrm>
            <a:off x="1143000" y="4748022"/>
            <a:ext cx="45720" cy="219456"/>
          </a:xfrm>
          <a:prstGeom prst="roundRect">
            <a:avLst>
              <a:gd name="adj" fmla="val 60000"/>
            </a:avLst>
          </a:prstGeom>
          <a:solidFill>
            <a:srgbClr val="FFB04C"/>
          </a:solidFill>
          <a:ln w="12700">
            <a:solidFill>
              <a:srgbClr val="FFB04C"/>
            </a:solidFill>
            <a:prstDash val="solid"/>
          </a:ln>
        </p:spPr>
      </p:sp>
      <p:sp>
        <p:nvSpPr>
          <p:cNvPr id="70" name="Text 68"/>
          <p:cNvSpPr/>
          <p:nvPr/>
        </p:nvSpPr>
        <p:spPr>
          <a:xfrm>
            <a:off x="1243584" y="471144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Scenarios, ClimVar, transition plans</a:t>
            </a:r>
            <a:endParaRPr lang="en-US" sz="950" dirty="0"/>
          </a:p>
        </p:txBody>
      </p:sp>
      <p:sp>
        <p:nvSpPr>
          <p:cNvPr id="71" name="Shape 69"/>
          <p:cNvSpPr/>
          <p:nvPr/>
        </p:nvSpPr>
        <p:spPr>
          <a:xfrm>
            <a:off x="7513168" y="4807229"/>
            <a:ext cx="4056736" cy="101041"/>
          </a:xfrm>
          <a:prstGeom prst="roundRect">
            <a:avLst>
              <a:gd name="adj" fmla="val 36199"/>
            </a:avLst>
          </a:prstGeom>
          <a:solidFill>
            <a:srgbClr val="FFB04C"/>
          </a:solidFill>
          <a:ln w="12700">
            <a:solidFill>
              <a:srgbClr val="FFB04C"/>
            </a:solidFill>
            <a:prstDash val="solid"/>
          </a:ln>
        </p:spPr>
      </p:sp>
      <p:sp>
        <p:nvSpPr>
          <p:cNvPr id="72" name="Shape 70"/>
          <p:cNvSpPr/>
          <p:nvPr/>
        </p:nvSpPr>
        <p:spPr>
          <a:xfrm>
            <a:off x="621792" y="5006340"/>
            <a:ext cx="411480" cy="891540"/>
          </a:xfrm>
          <a:prstGeom prst="rect">
            <a:avLst/>
          </a:prstGeom>
          <a:solidFill>
            <a:srgbClr val="275B7F"/>
          </a:solidFill>
          <a:ln w="7620">
            <a:solidFill>
              <a:srgbClr val="FFFFFF"/>
            </a:solidFill>
            <a:prstDash val="solid"/>
          </a:ln>
        </p:spPr>
      </p:sp>
      <p:sp>
        <p:nvSpPr>
          <p:cNvPr id="73" name="Text 71"/>
          <p:cNvSpPr/>
          <p:nvPr/>
        </p:nvSpPr>
        <p:spPr>
          <a:xfrm>
            <a:off x="685800" y="5052060"/>
            <a:ext cx="283464" cy="80010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R&amp;C</a:t>
            </a:r>
            <a:endParaRPr lang="en-US" sz="750" dirty="0"/>
          </a:p>
        </p:txBody>
      </p:sp>
      <p:sp>
        <p:nvSpPr>
          <p:cNvPr id="74" name="Shape 72"/>
          <p:cNvSpPr/>
          <p:nvPr/>
        </p:nvSpPr>
        <p:spPr>
          <a:xfrm>
            <a:off x="1033272" y="5303520"/>
            <a:ext cx="10536631" cy="0"/>
          </a:xfrm>
          <a:prstGeom prst="line">
            <a:avLst/>
          </a:prstGeom>
          <a:noFill/>
          <a:ln w="4445">
            <a:solidFill>
              <a:srgbClr val="E2E6E2"/>
            </a:solidFill>
            <a:prstDash val="solid"/>
          </a:ln>
        </p:spPr>
      </p:sp>
      <p:sp>
        <p:nvSpPr>
          <p:cNvPr id="75" name="Shape 73"/>
          <p:cNvSpPr/>
          <p:nvPr/>
        </p:nvSpPr>
        <p:spPr>
          <a:xfrm>
            <a:off x="1143000" y="5045202"/>
            <a:ext cx="45720" cy="219456"/>
          </a:xfrm>
          <a:prstGeom prst="roundRect">
            <a:avLst>
              <a:gd name="adj" fmla="val 60000"/>
            </a:avLst>
          </a:prstGeom>
          <a:solidFill>
            <a:srgbClr val="275B7F"/>
          </a:solidFill>
          <a:ln w="12700">
            <a:solidFill>
              <a:srgbClr val="275B7F"/>
            </a:solidFill>
            <a:prstDash val="solid"/>
          </a:ln>
        </p:spPr>
      </p:sp>
      <p:sp>
        <p:nvSpPr>
          <p:cNvPr id="76" name="Text 74"/>
          <p:cNvSpPr/>
          <p:nvPr/>
        </p:nvSpPr>
        <p:spPr>
          <a:xfrm>
            <a:off x="1243584" y="500862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Core platform foundations</a:t>
            </a:r>
            <a:endParaRPr lang="en-US" sz="950" dirty="0"/>
          </a:p>
        </p:txBody>
      </p:sp>
      <p:sp>
        <p:nvSpPr>
          <p:cNvPr id="77" name="Shape 75"/>
          <p:cNvSpPr/>
          <p:nvPr/>
        </p:nvSpPr>
        <p:spPr>
          <a:xfrm>
            <a:off x="5484800" y="5104409"/>
            <a:ext cx="1014184" cy="101041"/>
          </a:xfrm>
          <a:prstGeom prst="roundRect">
            <a:avLst>
              <a:gd name="adj" fmla="val 36199"/>
            </a:avLst>
          </a:prstGeom>
          <a:solidFill>
            <a:srgbClr val="275B7F"/>
          </a:solidFill>
          <a:ln w="12700">
            <a:solidFill>
              <a:srgbClr val="275B7F"/>
            </a:solidFill>
            <a:prstDash val="solid"/>
          </a:ln>
        </p:spPr>
      </p:sp>
      <p:sp>
        <p:nvSpPr>
          <p:cNvPr id="78" name="Shape 76"/>
          <p:cNvSpPr/>
          <p:nvPr/>
        </p:nvSpPr>
        <p:spPr>
          <a:xfrm>
            <a:off x="1033272" y="5600700"/>
            <a:ext cx="10536631" cy="0"/>
          </a:xfrm>
          <a:prstGeom prst="line">
            <a:avLst/>
          </a:prstGeom>
          <a:noFill/>
          <a:ln w="4445">
            <a:solidFill>
              <a:srgbClr val="E2E6E2"/>
            </a:solidFill>
            <a:prstDash val="solid"/>
          </a:ln>
        </p:spPr>
      </p:sp>
      <p:sp>
        <p:nvSpPr>
          <p:cNvPr id="79" name="Shape 77"/>
          <p:cNvSpPr/>
          <p:nvPr/>
        </p:nvSpPr>
        <p:spPr>
          <a:xfrm>
            <a:off x="1143000" y="5342382"/>
            <a:ext cx="45720" cy="219456"/>
          </a:xfrm>
          <a:prstGeom prst="roundRect">
            <a:avLst>
              <a:gd name="adj" fmla="val 60000"/>
            </a:avLst>
          </a:prstGeom>
          <a:solidFill>
            <a:srgbClr val="275B7F"/>
          </a:solidFill>
          <a:ln w="12700">
            <a:solidFill>
              <a:srgbClr val="275B7F"/>
            </a:solidFill>
            <a:prstDash val="solid"/>
          </a:ln>
        </p:spPr>
      </p:sp>
      <p:sp>
        <p:nvSpPr>
          <p:cNvPr id="80" name="Text 78"/>
          <p:cNvSpPr/>
          <p:nvPr/>
        </p:nvSpPr>
        <p:spPr>
          <a:xfrm>
            <a:off x="1243584" y="530580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Configure, collect, disclose</a:t>
            </a:r>
            <a:endParaRPr lang="en-US" sz="950" dirty="0"/>
          </a:p>
        </p:txBody>
      </p:sp>
      <p:sp>
        <p:nvSpPr>
          <p:cNvPr id="81" name="Shape 79"/>
          <p:cNvSpPr/>
          <p:nvPr/>
        </p:nvSpPr>
        <p:spPr>
          <a:xfrm>
            <a:off x="6498984" y="5401589"/>
            <a:ext cx="1014184" cy="101041"/>
          </a:xfrm>
          <a:prstGeom prst="roundRect">
            <a:avLst>
              <a:gd name="adj" fmla="val 36199"/>
            </a:avLst>
          </a:prstGeom>
          <a:solidFill>
            <a:srgbClr val="275B7F"/>
          </a:solidFill>
          <a:ln w="12700">
            <a:solidFill>
              <a:srgbClr val="275B7F"/>
            </a:solidFill>
            <a:prstDash val="solid"/>
          </a:ln>
        </p:spPr>
      </p:sp>
      <p:sp>
        <p:nvSpPr>
          <p:cNvPr id="82" name="Shape 80"/>
          <p:cNvSpPr/>
          <p:nvPr/>
        </p:nvSpPr>
        <p:spPr>
          <a:xfrm>
            <a:off x="1033272" y="5897880"/>
            <a:ext cx="10536631" cy="0"/>
          </a:xfrm>
          <a:prstGeom prst="line">
            <a:avLst/>
          </a:prstGeom>
          <a:noFill/>
          <a:ln w="4445">
            <a:solidFill>
              <a:srgbClr val="E2E6E2"/>
            </a:solidFill>
            <a:prstDash val="solid"/>
          </a:ln>
        </p:spPr>
      </p:sp>
      <p:sp>
        <p:nvSpPr>
          <p:cNvPr id="83" name="Shape 81"/>
          <p:cNvSpPr/>
          <p:nvPr/>
        </p:nvSpPr>
        <p:spPr>
          <a:xfrm>
            <a:off x="1143000" y="5639562"/>
            <a:ext cx="45720" cy="219456"/>
          </a:xfrm>
          <a:prstGeom prst="roundRect">
            <a:avLst>
              <a:gd name="adj" fmla="val 60000"/>
            </a:avLst>
          </a:prstGeom>
          <a:solidFill>
            <a:srgbClr val="275B7F"/>
          </a:solidFill>
          <a:ln w="12700">
            <a:solidFill>
              <a:srgbClr val="275B7F"/>
            </a:solidFill>
            <a:prstDash val="solid"/>
          </a:ln>
        </p:spPr>
      </p:sp>
      <p:sp>
        <p:nvSpPr>
          <p:cNvPr id="84" name="Text 82"/>
          <p:cNvSpPr/>
          <p:nvPr/>
        </p:nvSpPr>
        <p:spPr>
          <a:xfrm>
            <a:off x="1243584" y="560298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SE migration, AI disclosure drafting</a:t>
            </a:r>
            <a:endParaRPr lang="en-US" sz="950" dirty="0"/>
          </a:p>
        </p:txBody>
      </p:sp>
      <p:sp>
        <p:nvSpPr>
          <p:cNvPr id="85" name="Shape 83"/>
          <p:cNvSpPr/>
          <p:nvPr/>
        </p:nvSpPr>
        <p:spPr>
          <a:xfrm>
            <a:off x="7513168" y="5698769"/>
            <a:ext cx="4056736" cy="101041"/>
          </a:xfrm>
          <a:prstGeom prst="roundRect">
            <a:avLst>
              <a:gd name="adj" fmla="val 36199"/>
            </a:avLst>
          </a:prstGeom>
          <a:solidFill>
            <a:srgbClr val="275B7F"/>
          </a:solidFill>
          <a:ln w="12700">
            <a:solidFill>
              <a:srgbClr val="275B7F"/>
            </a:solidFill>
            <a:prstDash val="solid"/>
          </a:ln>
        </p:spPr>
      </p:sp>
      <p:sp>
        <p:nvSpPr>
          <p:cNvPr id="86" name="Shape 84"/>
          <p:cNvSpPr/>
          <p:nvPr/>
        </p:nvSpPr>
        <p:spPr>
          <a:xfrm>
            <a:off x="621792" y="6437376"/>
            <a:ext cx="10948111" cy="0"/>
          </a:xfrm>
          <a:prstGeom prst="line">
            <a:avLst/>
          </a:prstGeom>
          <a:noFill/>
          <a:ln w="9525">
            <a:solidFill>
              <a:srgbClr val="E2E6E2"/>
            </a:solidFill>
            <a:prstDash val="solid"/>
          </a:ln>
        </p:spPr>
      </p:sp>
      <p:sp>
        <p:nvSpPr>
          <p:cNvPr id="87" name="Text 8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88" name="Text 8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full 2027 roadmap across sustainability products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Confirmed milestones stay quarter-specific; all other commitments retain their approved H1 or H2 horizon.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8113471"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2" name="Text 10"/>
          <p:cNvSpPr/>
          <p:nvPr/>
        </p:nvSpPr>
        <p:spPr>
          <a:xfrm>
            <a:off x="3456432" y="2121408"/>
            <a:ext cx="2028368"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5484800" y="2121408"/>
            <a:ext cx="2028368"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7513168" y="2121408"/>
            <a:ext cx="2028368"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9541535" y="2121408"/>
            <a:ext cx="2028368"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Shape 14"/>
          <p:cNvSpPr/>
          <p:nvPr/>
        </p:nvSpPr>
        <p:spPr>
          <a:xfrm>
            <a:off x="3456432" y="2103120"/>
            <a:ext cx="0" cy="3794760"/>
          </a:xfrm>
          <a:prstGeom prst="line">
            <a:avLst/>
          </a:prstGeom>
          <a:noFill/>
          <a:ln w="11430">
            <a:solidFill>
              <a:srgbClr val="C8CECA"/>
            </a:solidFill>
            <a:prstDash val="solid"/>
          </a:ln>
        </p:spPr>
      </p:sp>
      <p:sp>
        <p:nvSpPr>
          <p:cNvPr id="17" name="Shape 15"/>
          <p:cNvSpPr/>
          <p:nvPr/>
        </p:nvSpPr>
        <p:spPr>
          <a:xfrm>
            <a:off x="5484800" y="2103120"/>
            <a:ext cx="0" cy="3794760"/>
          </a:xfrm>
          <a:prstGeom prst="line">
            <a:avLst/>
          </a:prstGeom>
          <a:noFill/>
          <a:ln w="4445">
            <a:solidFill>
              <a:srgbClr val="E2E6E2"/>
            </a:solidFill>
            <a:prstDash val="solid"/>
          </a:ln>
        </p:spPr>
      </p:sp>
      <p:sp>
        <p:nvSpPr>
          <p:cNvPr id="18" name="Shape 16"/>
          <p:cNvSpPr/>
          <p:nvPr/>
        </p:nvSpPr>
        <p:spPr>
          <a:xfrm>
            <a:off x="7513168" y="2103120"/>
            <a:ext cx="0" cy="3794760"/>
          </a:xfrm>
          <a:prstGeom prst="line">
            <a:avLst/>
          </a:prstGeom>
          <a:noFill/>
          <a:ln w="4445">
            <a:solidFill>
              <a:srgbClr val="E2E6E2"/>
            </a:solidFill>
            <a:prstDash val="solid"/>
          </a:ln>
        </p:spPr>
      </p:sp>
      <p:sp>
        <p:nvSpPr>
          <p:cNvPr id="19" name="Shape 17"/>
          <p:cNvSpPr/>
          <p:nvPr/>
        </p:nvSpPr>
        <p:spPr>
          <a:xfrm>
            <a:off x="9541535" y="2103120"/>
            <a:ext cx="0" cy="3794760"/>
          </a:xfrm>
          <a:prstGeom prst="line">
            <a:avLst/>
          </a:prstGeom>
          <a:noFill/>
          <a:ln w="4445">
            <a:solidFill>
              <a:srgbClr val="E2E6E2"/>
            </a:solidFill>
            <a:prstDash val="solid"/>
          </a:ln>
        </p:spPr>
      </p:sp>
      <p:sp>
        <p:nvSpPr>
          <p:cNvPr id="20" name="Shape 18"/>
          <p:cNvSpPr/>
          <p:nvPr/>
        </p:nvSpPr>
        <p:spPr>
          <a:xfrm>
            <a:off x="11569903" y="2103120"/>
            <a:ext cx="0" cy="3794760"/>
          </a:xfrm>
          <a:prstGeom prst="line">
            <a:avLst/>
          </a:prstGeom>
          <a:noFill/>
          <a:ln w="11430">
            <a:solidFill>
              <a:srgbClr val="C8CECA"/>
            </a:solidFill>
            <a:prstDash val="solid"/>
          </a:ln>
        </p:spPr>
      </p:sp>
      <p:sp>
        <p:nvSpPr>
          <p:cNvPr id="21" name="Shape 19"/>
          <p:cNvSpPr/>
          <p:nvPr/>
        </p:nvSpPr>
        <p:spPr>
          <a:xfrm>
            <a:off x="621792" y="2331720"/>
            <a:ext cx="411480" cy="764177"/>
          </a:xfrm>
          <a:prstGeom prst="rect">
            <a:avLst/>
          </a:prstGeom>
          <a:solidFill>
            <a:srgbClr val="3DCD58"/>
          </a:solidFill>
          <a:ln w="7620">
            <a:solidFill>
              <a:srgbClr val="FFFFFF"/>
            </a:solidFill>
            <a:prstDash val="solid"/>
          </a:ln>
        </p:spPr>
      </p:sp>
      <p:sp>
        <p:nvSpPr>
          <p:cNvPr id="22" name="Text 20"/>
          <p:cNvSpPr/>
          <p:nvPr/>
        </p:nvSpPr>
        <p:spPr>
          <a:xfrm>
            <a:off x="685800" y="2377440"/>
            <a:ext cx="283464" cy="672737"/>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CARBON PERFORMANCE</a:t>
            </a:r>
            <a:endParaRPr lang="en-US" sz="750" dirty="0"/>
          </a:p>
        </p:txBody>
      </p:sp>
      <p:sp>
        <p:nvSpPr>
          <p:cNvPr id="23" name="Shape 21"/>
          <p:cNvSpPr/>
          <p:nvPr/>
        </p:nvSpPr>
        <p:spPr>
          <a:xfrm>
            <a:off x="1033272" y="2586446"/>
            <a:ext cx="10536631" cy="0"/>
          </a:xfrm>
          <a:prstGeom prst="line">
            <a:avLst/>
          </a:prstGeom>
          <a:noFill/>
          <a:ln w="4445">
            <a:solidFill>
              <a:srgbClr val="E2E6E2"/>
            </a:solidFill>
            <a:prstDash val="solid"/>
          </a:ln>
        </p:spPr>
      </p:sp>
      <p:sp>
        <p:nvSpPr>
          <p:cNvPr id="24" name="Shape 22"/>
          <p:cNvSpPr/>
          <p:nvPr/>
        </p:nvSpPr>
        <p:spPr>
          <a:xfrm>
            <a:off x="1143000" y="2349355"/>
            <a:ext cx="45720" cy="219456"/>
          </a:xfrm>
          <a:prstGeom prst="roundRect">
            <a:avLst>
              <a:gd name="adj" fmla="val 60000"/>
            </a:avLst>
          </a:prstGeom>
          <a:solidFill>
            <a:srgbClr val="3DCD58"/>
          </a:solidFill>
          <a:ln w="12700">
            <a:solidFill>
              <a:srgbClr val="3DCD58"/>
            </a:solidFill>
            <a:prstDash val="solid"/>
          </a:ln>
        </p:spPr>
      </p:sp>
      <p:sp>
        <p:nvSpPr>
          <p:cNvPr id="25" name="Text 23"/>
          <p:cNvSpPr/>
          <p:nvPr/>
        </p:nvSpPr>
        <p:spPr>
          <a:xfrm>
            <a:off x="1243584" y="2312779"/>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Q1: Category 4 and 9 product linked transport</a:t>
            </a:r>
            <a:endParaRPr lang="en-US" sz="950" dirty="0"/>
          </a:p>
        </p:txBody>
      </p:sp>
      <p:sp>
        <p:nvSpPr>
          <p:cNvPr id="26" name="Shape 24"/>
          <p:cNvSpPr/>
          <p:nvPr/>
        </p:nvSpPr>
        <p:spPr>
          <a:xfrm>
            <a:off x="3456432" y="2415779"/>
            <a:ext cx="2028368" cy="86607"/>
          </a:xfrm>
          <a:prstGeom prst="roundRect">
            <a:avLst>
              <a:gd name="adj" fmla="val 42232"/>
            </a:avLst>
          </a:prstGeom>
          <a:solidFill>
            <a:srgbClr val="3DCD58"/>
          </a:solidFill>
          <a:ln w="12700">
            <a:solidFill>
              <a:srgbClr val="3DCD58"/>
            </a:solidFill>
            <a:prstDash val="solid"/>
          </a:ln>
        </p:spPr>
      </p:sp>
      <p:sp>
        <p:nvSpPr>
          <p:cNvPr id="27" name="Shape 25"/>
          <p:cNvSpPr/>
          <p:nvPr/>
        </p:nvSpPr>
        <p:spPr>
          <a:xfrm>
            <a:off x="1033272" y="2841171"/>
            <a:ext cx="10536631" cy="0"/>
          </a:xfrm>
          <a:prstGeom prst="line">
            <a:avLst/>
          </a:prstGeom>
          <a:noFill/>
          <a:ln w="4445">
            <a:solidFill>
              <a:srgbClr val="E2E6E2"/>
            </a:solidFill>
            <a:prstDash val="solid"/>
          </a:ln>
        </p:spPr>
      </p:sp>
      <p:sp>
        <p:nvSpPr>
          <p:cNvPr id="28" name="Shape 26"/>
          <p:cNvSpPr/>
          <p:nvPr/>
        </p:nvSpPr>
        <p:spPr>
          <a:xfrm>
            <a:off x="1143000" y="2604081"/>
            <a:ext cx="45720" cy="219456"/>
          </a:xfrm>
          <a:prstGeom prst="roundRect">
            <a:avLst>
              <a:gd name="adj" fmla="val 60000"/>
            </a:avLst>
          </a:prstGeom>
          <a:solidFill>
            <a:srgbClr val="3DCD58"/>
          </a:solidFill>
          <a:ln w="12700">
            <a:solidFill>
              <a:srgbClr val="3DCD58"/>
            </a:solidFill>
            <a:prstDash val="solid"/>
          </a:ln>
        </p:spPr>
      </p:sp>
      <p:sp>
        <p:nvSpPr>
          <p:cNvPr id="29" name="Text 27"/>
          <p:cNvSpPr/>
          <p:nvPr/>
        </p:nvSpPr>
        <p:spPr>
          <a:xfrm>
            <a:off x="1243584" y="2567505"/>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H1: Cat 5, rebaselining, PCF integration</a:t>
            </a:r>
            <a:endParaRPr lang="en-US" sz="950" dirty="0"/>
          </a:p>
        </p:txBody>
      </p:sp>
      <p:sp>
        <p:nvSpPr>
          <p:cNvPr id="30" name="Shape 28"/>
          <p:cNvSpPr/>
          <p:nvPr/>
        </p:nvSpPr>
        <p:spPr>
          <a:xfrm>
            <a:off x="3456432" y="2670505"/>
            <a:ext cx="4056736" cy="86607"/>
          </a:xfrm>
          <a:prstGeom prst="roundRect">
            <a:avLst>
              <a:gd name="adj" fmla="val 42232"/>
            </a:avLst>
          </a:prstGeom>
          <a:solidFill>
            <a:srgbClr val="3DCD58"/>
          </a:solidFill>
          <a:ln w="12700">
            <a:solidFill>
              <a:srgbClr val="3DCD58"/>
            </a:solidFill>
            <a:prstDash val="solid"/>
          </a:ln>
        </p:spPr>
      </p:sp>
      <p:sp>
        <p:nvSpPr>
          <p:cNvPr id="31" name="Shape 29"/>
          <p:cNvSpPr/>
          <p:nvPr/>
        </p:nvSpPr>
        <p:spPr>
          <a:xfrm>
            <a:off x="1033272" y="3095897"/>
            <a:ext cx="10536631" cy="0"/>
          </a:xfrm>
          <a:prstGeom prst="line">
            <a:avLst/>
          </a:prstGeom>
          <a:noFill/>
          <a:ln w="4445">
            <a:solidFill>
              <a:srgbClr val="E2E6E2"/>
            </a:solidFill>
            <a:prstDash val="solid"/>
          </a:ln>
        </p:spPr>
      </p:sp>
      <p:sp>
        <p:nvSpPr>
          <p:cNvPr id="32" name="Shape 30"/>
          <p:cNvSpPr/>
          <p:nvPr/>
        </p:nvSpPr>
        <p:spPr>
          <a:xfrm>
            <a:off x="1143000" y="2858806"/>
            <a:ext cx="45720" cy="219456"/>
          </a:xfrm>
          <a:prstGeom prst="roundRect">
            <a:avLst>
              <a:gd name="adj" fmla="val 60000"/>
            </a:avLst>
          </a:prstGeom>
          <a:solidFill>
            <a:srgbClr val="3DCD58"/>
          </a:solidFill>
          <a:ln w="12700">
            <a:solidFill>
              <a:srgbClr val="3DCD58"/>
            </a:solidFill>
            <a:prstDash val="solid"/>
          </a:ln>
        </p:spPr>
      </p:sp>
      <p:sp>
        <p:nvSpPr>
          <p:cNvPr id="33" name="Text 31"/>
          <p:cNvSpPr/>
          <p:nvPr/>
        </p:nvSpPr>
        <p:spPr>
          <a:xfrm>
            <a:off x="1243584" y="2822230"/>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H2: Category 15, FLAG, dedicated auditor experience</a:t>
            </a:r>
            <a:endParaRPr lang="en-US" sz="950" dirty="0"/>
          </a:p>
        </p:txBody>
      </p:sp>
      <p:sp>
        <p:nvSpPr>
          <p:cNvPr id="34" name="Shape 32"/>
          <p:cNvSpPr/>
          <p:nvPr/>
        </p:nvSpPr>
        <p:spPr>
          <a:xfrm>
            <a:off x="7513168" y="2925231"/>
            <a:ext cx="4056736" cy="86607"/>
          </a:xfrm>
          <a:prstGeom prst="roundRect">
            <a:avLst>
              <a:gd name="adj" fmla="val 42232"/>
            </a:avLst>
          </a:prstGeom>
          <a:solidFill>
            <a:srgbClr val="3DCD58"/>
          </a:solidFill>
          <a:ln w="12700">
            <a:solidFill>
              <a:srgbClr val="3DCD58"/>
            </a:solidFill>
            <a:prstDash val="solid"/>
          </a:ln>
        </p:spPr>
      </p:sp>
      <p:sp>
        <p:nvSpPr>
          <p:cNvPr id="35" name="Shape 33"/>
          <p:cNvSpPr/>
          <p:nvPr/>
        </p:nvSpPr>
        <p:spPr>
          <a:xfrm>
            <a:off x="621792" y="3095897"/>
            <a:ext cx="411480" cy="509451"/>
          </a:xfrm>
          <a:prstGeom prst="rect">
            <a:avLst/>
          </a:prstGeom>
          <a:solidFill>
            <a:srgbClr val="007A27"/>
          </a:solidFill>
          <a:ln w="7620">
            <a:solidFill>
              <a:srgbClr val="FFFFFF"/>
            </a:solidFill>
            <a:prstDash val="solid"/>
          </a:ln>
        </p:spPr>
      </p:sp>
      <p:sp>
        <p:nvSpPr>
          <p:cNvPr id="36" name="Text 34"/>
          <p:cNvSpPr/>
          <p:nvPr/>
        </p:nvSpPr>
        <p:spPr>
          <a:xfrm>
            <a:off x="685800" y="3141617"/>
            <a:ext cx="283464" cy="418011"/>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SUPPLY CHAIN</a:t>
            </a:r>
            <a:endParaRPr lang="en-US" sz="750" dirty="0"/>
          </a:p>
        </p:txBody>
      </p:sp>
      <p:sp>
        <p:nvSpPr>
          <p:cNvPr id="37" name="Shape 35"/>
          <p:cNvSpPr/>
          <p:nvPr/>
        </p:nvSpPr>
        <p:spPr>
          <a:xfrm>
            <a:off x="1033272" y="3350623"/>
            <a:ext cx="10536631" cy="0"/>
          </a:xfrm>
          <a:prstGeom prst="line">
            <a:avLst/>
          </a:prstGeom>
          <a:noFill/>
          <a:ln w="4445">
            <a:solidFill>
              <a:srgbClr val="E2E6E2"/>
            </a:solidFill>
            <a:prstDash val="solid"/>
          </a:ln>
        </p:spPr>
      </p:sp>
      <p:sp>
        <p:nvSpPr>
          <p:cNvPr id="38" name="Shape 36"/>
          <p:cNvSpPr/>
          <p:nvPr/>
        </p:nvSpPr>
        <p:spPr>
          <a:xfrm>
            <a:off x="1143000" y="3113532"/>
            <a:ext cx="45720" cy="219456"/>
          </a:xfrm>
          <a:prstGeom prst="roundRect">
            <a:avLst>
              <a:gd name="adj" fmla="val 60000"/>
            </a:avLst>
          </a:prstGeom>
          <a:solidFill>
            <a:srgbClr val="007A27"/>
          </a:solidFill>
          <a:ln w="12700">
            <a:solidFill>
              <a:srgbClr val="007A27"/>
            </a:solidFill>
            <a:prstDash val="solid"/>
          </a:ln>
        </p:spPr>
      </p:sp>
      <p:sp>
        <p:nvSpPr>
          <p:cNvPr id="39" name="Text 37"/>
          <p:cNvSpPr/>
          <p:nvPr/>
        </p:nvSpPr>
        <p:spPr>
          <a:xfrm>
            <a:off x="1243584" y="30769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H1: Light PCF, multi tier visibility, supplier onboarding</a:t>
            </a:r>
            <a:endParaRPr lang="en-US" sz="950" dirty="0"/>
          </a:p>
        </p:txBody>
      </p:sp>
      <p:sp>
        <p:nvSpPr>
          <p:cNvPr id="40" name="Shape 38"/>
          <p:cNvSpPr/>
          <p:nvPr/>
        </p:nvSpPr>
        <p:spPr>
          <a:xfrm>
            <a:off x="3456432" y="3179957"/>
            <a:ext cx="4056736" cy="86607"/>
          </a:xfrm>
          <a:prstGeom prst="roundRect">
            <a:avLst>
              <a:gd name="adj" fmla="val 42232"/>
            </a:avLst>
          </a:prstGeom>
          <a:solidFill>
            <a:srgbClr val="007A27"/>
          </a:solidFill>
          <a:ln w="12700">
            <a:solidFill>
              <a:srgbClr val="007A27"/>
            </a:solidFill>
            <a:prstDash val="solid"/>
          </a:ln>
        </p:spPr>
      </p:sp>
      <p:sp>
        <p:nvSpPr>
          <p:cNvPr id="41" name="Shape 39"/>
          <p:cNvSpPr/>
          <p:nvPr/>
        </p:nvSpPr>
        <p:spPr>
          <a:xfrm>
            <a:off x="1033272" y="3605349"/>
            <a:ext cx="10536631" cy="0"/>
          </a:xfrm>
          <a:prstGeom prst="line">
            <a:avLst/>
          </a:prstGeom>
          <a:noFill/>
          <a:ln w="4445">
            <a:solidFill>
              <a:srgbClr val="E2E6E2"/>
            </a:solidFill>
            <a:prstDash val="solid"/>
          </a:ln>
        </p:spPr>
      </p:sp>
      <p:sp>
        <p:nvSpPr>
          <p:cNvPr id="42" name="Shape 40"/>
          <p:cNvSpPr/>
          <p:nvPr/>
        </p:nvSpPr>
        <p:spPr>
          <a:xfrm>
            <a:off x="1143000" y="3368258"/>
            <a:ext cx="45720" cy="219456"/>
          </a:xfrm>
          <a:prstGeom prst="roundRect">
            <a:avLst>
              <a:gd name="adj" fmla="val 60000"/>
            </a:avLst>
          </a:prstGeom>
          <a:solidFill>
            <a:srgbClr val="007A27"/>
          </a:solidFill>
          <a:ln w="12700">
            <a:solidFill>
              <a:srgbClr val="007A27"/>
            </a:solidFill>
            <a:prstDash val="solid"/>
          </a:ln>
        </p:spPr>
      </p:sp>
      <p:sp>
        <p:nvSpPr>
          <p:cNvPr id="43" name="Text 41"/>
          <p:cNvSpPr/>
          <p:nvPr/>
        </p:nvSpPr>
        <p:spPr>
          <a:xfrm>
            <a:off x="1243584" y="3331682"/>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H2: Climate risk and R&amp;C integration, supplier discovery</a:t>
            </a:r>
            <a:endParaRPr lang="en-US" sz="950" dirty="0"/>
          </a:p>
        </p:txBody>
      </p:sp>
      <p:sp>
        <p:nvSpPr>
          <p:cNvPr id="44" name="Shape 42"/>
          <p:cNvSpPr/>
          <p:nvPr/>
        </p:nvSpPr>
        <p:spPr>
          <a:xfrm>
            <a:off x="7513168" y="3434682"/>
            <a:ext cx="4056736" cy="86607"/>
          </a:xfrm>
          <a:prstGeom prst="roundRect">
            <a:avLst>
              <a:gd name="adj" fmla="val 42232"/>
            </a:avLst>
          </a:prstGeom>
          <a:solidFill>
            <a:srgbClr val="007A27"/>
          </a:solidFill>
          <a:ln w="12700">
            <a:solidFill>
              <a:srgbClr val="007A27"/>
            </a:solidFill>
            <a:prstDash val="solid"/>
          </a:ln>
        </p:spPr>
      </p:sp>
      <p:sp>
        <p:nvSpPr>
          <p:cNvPr id="45" name="Shape 43"/>
          <p:cNvSpPr/>
          <p:nvPr/>
        </p:nvSpPr>
        <p:spPr>
          <a:xfrm>
            <a:off x="621792" y="3605349"/>
            <a:ext cx="411480" cy="764177"/>
          </a:xfrm>
          <a:prstGeom prst="rect">
            <a:avLst/>
          </a:prstGeom>
          <a:solidFill>
            <a:srgbClr val="275B7F"/>
          </a:solidFill>
          <a:ln w="7620">
            <a:solidFill>
              <a:srgbClr val="FFFFFF"/>
            </a:solidFill>
            <a:prstDash val="solid"/>
          </a:ln>
        </p:spPr>
      </p:sp>
      <p:sp>
        <p:nvSpPr>
          <p:cNvPr id="46" name="Text 44"/>
          <p:cNvSpPr/>
          <p:nvPr/>
        </p:nvSpPr>
        <p:spPr>
          <a:xfrm>
            <a:off x="685800" y="3651069"/>
            <a:ext cx="283464" cy="672737"/>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REPORTING &amp; COMPLIANCE</a:t>
            </a:r>
            <a:endParaRPr lang="en-US" sz="750" dirty="0"/>
          </a:p>
        </p:txBody>
      </p:sp>
      <p:sp>
        <p:nvSpPr>
          <p:cNvPr id="47" name="Shape 45"/>
          <p:cNvSpPr/>
          <p:nvPr/>
        </p:nvSpPr>
        <p:spPr>
          <a:xfrm>
            <a:off x="1033272" y="3860074"/>
            <a:ext cx="10536631" cy="0"/>
          </a:xfrm>
          <a:prstGeom prst="line">
            <a:avLst/>
          </a:prstGeom>
          <a:noFill/>
          <a:ln w="4445">
            <a:solidFill>
              <a:srgbClr val="E2E6E2"/>
            </a:solidFill>
            <a:prstDash val="solid"/>
          </a:ln>
        </p:spPr>
      </p:sp>
      <p:sp>
        <p:nvSpPr>
          <p:cNvPr id="48" name="Shape 46"/>
          <p:cNvSpPr/>
          <p:nvPr/>
        </p:nvSpPr>
        <p:spPr>
          <a:xfrm>
            <a:off x="1143000" y="3622983"/>
            <a:ext cx="45720" cy="219456"/>
          </a:xfrm>
          <a:prstGeom prst="roundRect">
            <a:avLst>
              <a:gd name="adj" fmla="val 60000"/>
            </a:avLst>
          </a:prstGeom>
          <a:solidFill>
            <a:srgbClr val="275B7F"/>
          </a:solidFill>
          <a:ln w="12700">
            <a:solidFill>
              <a:srgbClr val="275B7F"/>
            </a:solidFill>
            <a:prstDash val="solid"/>
          </a:ln>
        </p:spPr>
      </p:sp>
      <p:sp>
        <p:nvSpPr>
          <p:cNvPr id="49" name="Text 47"/>
          <p:cNvSpPr/>
          <p:nvPr/>
        </p:nvSpPr>
        <p:spPr>
          <a:xfrm>
            <a:off x="1243584" y="3586407"/>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Q1: SE migration and CSRD cycle in RA+</a:t>
            </a:r>
            <a:endParaRPr lang="en-US" sz="950" dirty="0"/>
          </a:p>
        </p:txBody>
      </p:sp>
      <p:sp>
        <p:nvSpPr>
          <p:cNvPr id="50" name="Shape 48"/>
          <p:cNvSpPr/>
          <p:nvPr/>
        </p:nvSpPr>
        <p:spPr>
          <a:xfrm>
            <a:off x="3456432" y="3689408"/>
            <a:ext cx="2028368" cy="86607"/>
          </a:xfrm>
          <a:prstGeom prst="roundRect">
            <a:avLst>
              <a:gd name="adj" fmla="val 42232"/>
            </a:avLst>
          </a:prstGeom>
          <a:solidFill>
            <a:srgbClr val="275B7F"/>
          </a:solidFill>
          <a:ln w="12700">
            <a:solidFill>
              <a:srgbClr val="275B7F"/>
            </a:solidFill>
            <a:prstDash val="solid"/>
          </a:ln>
        </p:spPr>
      </p:sp>
      <p:sp>
        <p:nvSpPr>
          <p:cNvPr id="51" name="Shape 49"/>
          <p:cNvSpPr/>
          <p:nvPr/>
        </p:nvSpPr>
        <p:spPr>
          <a:xfrm>
            <a:off x="1033272" y="4114800"/>
            <a:ext cx="10536631" cy="0"/>
          </a:xfrm>
          <a:prstGeom prst="line">
            <a:avLst/>
          </a:prstGeom>
          <a:noFill/>
          <a:ln w="4445">
            <a:solidFill>
              <a:srgbClr val="E2E6E2"/>
            </a:solidFill>
            <a:prstDash val="solid"/>
          </a:ln>
        </p:spPr>
      </p:sp>
      <p:sp>
        <p:nvSpPr>
          <p:cNvPr id="52" name="Shape 50"/>
          <p:cNvSpPr/>
          <p:nvPr/>
        </p:nvSpPr>
        <p:spPr>
          <a:xfrm>
            <a:off x="1143000" y="3877709"/>
            <a:ext cx="45720" cy="219456"/>
          </a:xfrm>
          <a:prstGeom prst="roundRect">
            <a:avLst>
              <a:gd name="adj" fmla="val 60000"/>
            </a:avLst>
          </a:prstGeom>
          <a:solidFill>
            <a:srgbClr val="275B7F"/>
          </a:solidFill>
          <a:ln w="12700">
            <a:solidFill>
              <a:srgbClr val="275B7F"/>
            </a:solidFill>
            <a:prstDash val="solid"/>
          </a:ln>
        </p:spPr>
      </p:sp>
      <p:sp>
        <p:nvSpPr>
          <p:cNvPr id="53" name="Text 51"/>
          <p:cNvSpPr/>
          <p:nvPr/>
        </p:nvSpPr>
        <p:spPr>
          <a:xfrm>
            <a:off x="1243584" y="3841133"/>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H1: Campaign analytics, AI drafting, audit ready disclosure</a:t>
            </a:r>
            <a:endParaRPr lang="en-US" sz="950" dirty="0"/>
          </a:p>
        </p:txBody>
      </p:sp>
      <p:sp>
        <p:nvSpPr>
          <p:cNvPr id="54" name="Shape 52"/>
          <p:cNvSpPr/>
          <p:nvPr/>
        </p:nvSpPr>
        <p:spPr>
          <a:xfrm>
            <a:off x="3456432" y="3944134"/>
            <a:ext cx="4056736" cy="86607"/>
          </a:xfrm>
          <a:prstGeom prst="roundRect">
            <a:avLst>
              <a:gd name="adj" fmla="val 42232"/>
            </a:avLst>
          </a:prstGeom>
          <a:solidFill>
            <a:srgbClr val="275B7F"/>
          </a:solidFill>
          <a:ln w="12700">
            <a:solidFill>
              <a:srgbClr val="275B7F"/>
            </a:solidFill>
            <a:prstDash val="solid"/>
          </a:ln>
        </p:spPr>
      </p:sp>
      <p:sp>
        <p:nvSpPr>
          <p:cNvPr id="55" name="Shape 53"/>
          <p:cNvSpPr/>
          <p:nvPr/>
        </p:nvSpPr>
        <p:spPr>
          <a:xfrm>
            <a:off x="1033272" y="4369526"/>
            <a:ext cx="10536631" cy="0"/>
          </a:xfrm>
          <a:prstGeom prst="line">
            <a:avLst/>
          </a:prstGeom>
          <a:noFill/>
          <a:ln w="4445">
            <a:solidFill>
              <a:srgbClr val="E2E6E2"/>
            </a:solidFill>
            <a:prstDash val="solid"/>
          </a:ln>
        </p:spPr>
      </p:sp>
      <p:sp>
        <p:nvSpPr>
          <p:cNvPr id="56" name="Shape 54"/>
          <p:cNvSpPr/>
          <p:nvPr/>
        </p:nvSpPr>
        <p:spPr>
          <a:xfrm>
            <a:off x="1143000" y="4132435"/>
            <a:ext cx="45720" cy="219456"/>
          </a:xfrm>
          <a:prstGeom prst="roundRect">
            <a:avLst>
              <a:gd name="adj" fmla="val 60000"/>
            </a:avLst>
          </a:prstGeom>
          <a:solidFill>
            <a:srgbClr val="275B7F"/>
          </a:solidFill>
          <a:ln w="12700">
            <a:solidFill>
              <a:srgbClr val="275B7F"/>
            </a:solidFill>
            <a:prstDash val="solid"/>
          </a:ln>
        </p:spPr>
      </p:sp>
      <p:sp>
        <p:nvSpPr>
          <p:cNvPr id="57" name="Text 55"/>
          <p:cNvSpPr/>
          <p:nvPr/>
        </p:nvSpPr>
        <p:spPr>
          <a:xfrm>
            <a:off x="1243584" y="4095859"/>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H2: AI compliance, assurance, voluntary frameworks</a:t>
            </a:r>
            <a:endParaRPr lang="en-US" sz="950" dirty="0"/>
          </a:p>
        </p:txBody>
      </p:sp>
      <p:sp>
        <p:nvSpPr>
          <p:cNvPr id="58" name="Shape 56"/>
          <p:cNvSpPr/>
          <p:nvPr/>
        </p:nvSpPr>
        <p:spPr>
          <a:xfrm>
            <a:off x="7513168" y="4198859"/>
            <a:ext cx="4056736" cy="86607"/>
          </a:xfrm>
          <a:prstGeom prst="roundRect">
            <a:avLst>
              <a:gd name="adj" fmla="val 42232"/>
            </a:avLst>
          </a:prstGeom>
          <a:solidFill>
            <a:srgbClr val="275B7F"/>
          </a:solidFill>
          <a:ln w="12700">
            <a:solidFill>
              <a:srgbClr val="275B7F"/>
            </a:solidFill>
            <a:prstDash val="solid"/>
          </a:ln>
        </p:spPr>
      </p:sp>
      <p:sp>
        <p:nvSpPr>
          <p:cNvPr id="59" name="Shape 57"/>
          <p:cNvSpPr/>
          <p:nvPr/>
        </p:nvSpPr>
        <p:spPr>
          <a:xfrm>
            <a:off x="621792" y="4369526"/>
            <a:ext cx="411480" cy="509451"/>
          </a:xfrm>
          <a:prstGeom prst="rect">
            <a:avLst/>
          </a:prstGeom>
          <a:solidFill>
            <a:srgbClr val="FFB04C"/>
          </a:solidFill>
          <a:ln w="7620">
            <a:solidFill>
              <a:srgbClr val="FFFFFF"/>
            </a:solidFill>
            <a:prstDash val="solid"/>
          </a:ln>
        </p:spPr>
      </p:sp>
      <p:sp>
        <p:nvSpPr>
          <p:cNvPr id="60" name="Text 58"/>
          <p:cNvSpPr/>
          <p:nvPr/>
        </p:nvSpPr>
        <p:spPr>
          <a:xfrm>
            <a:off x="685800" y="4415246"/>
            <a:ext cx="283464" cy="418011"/>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CLIMATE RISK</a:t>
            </a:r>
            <a:endParaRPr lang="en-US" sz="750" dirty="0"/>
          </a:p>
        </p:txBody>
      </p:sp>
      <p:sp>
        <p:nvSpPr>
          <p:cNvPr id="61" name="Shape 59"/>
          <p:cNvSpPr/>
          <p:nvPr/>
        </p:nvSpPr>
        <p:spPr>
          <a:xfrm>
            <a:off x="1033272" y="4624251"/>
            <a:ext cx="10536631" cy="0"/>
          </a:xfrm>
          <a:prstGeom prst="line">
            <a:avLst/>
          </a:prstGeom>
          <a:noFill/>
          <a:ln w="4445">
            <a:solidFill>
              <a:srgbClr val="E2E6E2"/>
            </a:solidFill>
            <a:prstDash val="solid"/>
          </a:ln>
        </p:spPr>
      </p:sp>
      <p:sp>
        <p:nvSpPr>
          <p:cNvPr id="62" name="Shape 60"/>
          <p:cNvSpPr/>
          <p:nvPr/>
        </p:nvSpPr>
        <p:spPr>
          <a:xfrm>
            <a:off x="1143000" y="4387161"/>
            <a:ext cx="45720" cy="219456"/>
          </a:xfrm>
          <a:prstGeom prst="roundRect">
            <a:avLst>
              <a:gd name="adj" fmla="val 60000"/>
            </a:avLst>
          </a:prstGeom>
          <a:solidFill>
            <a:srgbClr val="FFB04C"/>
          </a:solidFill>
          <a:ln w="12700">
            <a:solidFill>
              <a:srgbClr val="FFB04C"/>
            </a:solidFill>
            <a:prstDash val="solid"/>
          </a:ln>
        </p:spPr>
      </p:sp>
      <p:sp>
        <p:nvSpPr>
          <p:cNvPr id="63" name="Text 61"/>
          <p:cNvSpPr/>
          <p:nvPr/>
        </p:nvSpPr>
        <p:spPr>
          <a:xfrm>
            <a:off x="1243584" y="4350585"/>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H1: Scenarios, ClimVar value at risk, adaptation actions</a:t>
            </a:r>
            <a:endParaRPr lang="en-US" sz="950" dirty="0"/>
          </a:p>
        </p:txBody>
      </p:sp>
      <p:sp>
        <p:nvSpPr>
          <p:cNvPr id="64" name="Shape 62"/>
          <p:cNvSpPr/>
          <p:nvPr/>
        </p:nvSpPr>
        <p:spPr>
          <a:xfrm>
            <a:off x="3456432" y="4453585"/>
            <a:ext cx="4056736" cy="86607"/>
          </a:xfrm>
          <a:prstGeom prst="roundRect">
            <a:avLst>
              <a:gd name="adj" fmla="val 42232"/>
            </a:avLst>
          </a:prstGeom>
          <a:solidFill>
            <a:srgbClr val="FFB04C"/>
          </a:solidFill>
          <a:ln w="12700">
            <a:solidFill>
              <a:srgbClr val="FFB04C"/>
            </a:solidFill>
            <a:prstDash val="solid"/>
          </a:ln>
        </p:spPr>
      </p:sp>
      <p:sp>
        <p:nvSpPr>
          <p:cNvPr id="65" name="Shape 63"/>
          <p:cNvSpPr/>
          <p:nvPr/>
        </p:nvSpPr>
        <p:spPr>
          <a:xfrm>
            <a:off x="1033272" y="4878977"/>
            <a:ext cx="10536631" cy="0"/>
          </a:xfrm>
          <a:prstGeom prst="line">
            <a:avLst/>
          </a:prstGeom>
          <a:noFill/>
          <a:ln w="4445">
            <a:solidFill>
              <a:srgbClr val="E2E6E2"/>
            </a:solidFill>
            <a:prstDash val="solid"/>
          </a:ln>
        </p:spPr>
      </p:sp>
      <p:sp>
        <p:nvSpPr>
          <p:cNvPr id="66" name="Shape 64"/>
          <p:cNvSpPr/>
          <p:nvPr/>
        </p:nvSpPr>
        <p:spPr>
          <a:xfrm>
            <a:off x="1143000" y="4641886"/>
            <a:ext cx="45720" cy="219456"/>
          </a:xfrm>
          <a:prstGeom prst="roundRect">
            <a:avLst>
              <a:gd name="adj" fmla="val 60000"/>
            </a:avLst>
          </a:prstGeom>
          <a:solidFill>
            <a:srgbClr val="FFB04C"/>
          </a:solidFill>
          <a:ln w="12700">
            <a:solidFill>
              <a:srgbClr val="FFB04C"/>
            </a:solidFill>
            <a:prstDash val="solid"/>
          </a:ln>
        </p:spPr>
      </p:sp>
      <p:sp>
        <p:nvSpPr>
          <p:cNvPr id="67" name="Text 65"/>
          <p:cNvSpPr/>
          <p:nvPr/>
        </p:nvSpPr>
        <p:spPr>
          <a:xfrm>
            <a:off x="1243584" y="4605310"/>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H2: Transition plans, disclosure, extended value chain risk</a:t>
            </a:r>
            <a:endParaRPr lang="en-US" sz="950" dirty="0"/>
          </a:p>
        </p:txBody>
      </p:sp>
      <p:sp>
        <p:nvSpPr>
          <p:cNvPr id="68" name="Shape 66"/>
          <p:cNvSpPr/>
          <p:nvPr/>
        </p:nvSpPr>
        <p:spPr>
          <a:xfrm>
            <a:off x="7513168" y="4708311"/>
            <a:ext cx="4056736" cy="86607"/>
          </a:xfrm>
          <a:prstGeom prst="roundRect">
            <a:avLst>
              <a:gd name="adj" fmla="val 42232"/>
            </a:avLst>
          </a:prstGeom>
          <a:solidFill>
            <a:srgbClr val="FFB04C"/>
          </a:solidFill>
          <a:ln w="12700">
            <a:solidFill>
              <a:srgbClr val="FFB04C"/>
            </a:solidFill>
            <a:prstDash val="solid"/>
          </a:ln>
        </p:spPr>
      </p:sp>
      <p:sp>
        <p:nvSpPr>
          <p:cNvPr id="69" name="Shape 67"/>
          <p:cNvSpPr/>
          <p:nvPr/>
        </p:nvSpPr>
        <p:spPr>
          <a:xfrm>
            <a:off x="621792" y="4878977"/>
            <a:ext cx="411480" cy="509451"/>
          </a:xfrm>
          <a:prstGeom prst="rect">
            <a:avLst/>
          </a:prstGeom>
          <a:solidFill>
            <a:srgbClr val="3DCD58"/>
          </a:solidFill>
          <a:ln w="7620">
            <a:solidFill>
              <a:srgbClr val="FFFFFF"/>
            </a:solidFill>
            <a:prstDash val="solid"/>
          </a:ln>
        </p:spPr>
      </p:sp>
      <p:sp>
        <p:nvSpPr>
          <p:cNvPr id="70" name="Text 68"/>
          <p:cNvSpPr/>
          <p:nvPr/>
        </p:nvSpPr>
        <p:spPr>
          <a:xfrm>
            <a:off x="685800" y="4924697"/>
            <a:ext cx="283464" cy="418011"/>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STRATEGY</a:t>
            </a:r>
            <a:endParaRPr lang="en-US" sz="750" dirty="0"/>
          </a:p>
        </p:txBody>
      </p:sp>
      <p:sp>
        <p:nvSpPr>
          <p:cNvPr id="71" name="Shape 69"/>
          <p:cNvSpPr/>
          <p:nvPr/>
        </p:nvSpPr>
        <p:spPr>
          <a:xfrm>
            <a:off x="1033272" y="5133703"/>
            <a:ext cx="10536631" cy="0"/>
          </a:xfrm>
          <a:prstGeom prst="line">
            <a:avLst/>
          </a:prstGeom>
          <a:noFill/>
          <a:ln w="4445">
            <a:solidFill>
              <a:srgbClr val="E2E6E2"/>
            </a:solidFill>
            <a:prstDash val="solid"/>
          </a:ln>
        </p:spPr>
      </p:sp>
      <p:sp>
        <p:nvSpPr>
          <p:cNvPr id="72" name="Shape 70"/>
          <p:cNvSpPr/>
          <p:nvPr/>
        </p:nvSpPr>
        <p:spPr>
          <a:xfrm>
            <a:off x="1143000" y="4896612"/>
            <a:ext cx="45720" cy="219456"/>
          </a:xfrm>
          <a:prstGeom prst="roundRect">
            <a:avLst>
              <a:gd name="adj" fmla="val 60000"/>
            </a:avLst>
          </a:prstGeom>
          <a:solidFill>
            <a:srgbClr val="3DCD58"/>
          </a:solidFill>
          <a:ln w="12700">
            <a:solidFill>
              <a:srgbClr val="3DCD58"/>
            </a:solidFill>
            <a:prstDash val="solid"/>
          </a:ln>
        </p:spPr>
      </p:sp>
      <p:sp>
        <p:nvSpPr>
          <p:cNvPr id="73" name="Text 71"/>
          <p:cNvSpPr/>
          <p:nvPr/>
        </p:nvSpPr>
        <p:spPr>
          <a:xfrm>
            <a:off x="1243584" y="48600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H1: Cascading targets, delivery status, advanced ECM library</a:t>
            </a:r>
            <a:endParaRPr lang="en-US" sz="950" dirty="0"/>
          </a:p>
        </p:txBody>
      </p:sp>
      <p:sp>
        <p:nvSpPr>
          <p:cNvPr id="74" name="Shape 72"/>
          <p:cNvSpPr/>
          <p:nvPr/>
        </p:nvSpPr>
        <p:spPr>
          <a:xfrm>
            <a:off x="3456432" y="4963037"/>
            <a:ext cx="4056736" cy="86607"/>
          </a:xfrm>
          <a:prstGeom prst="roundRect">
            <a:avLst>
              <a:gd name="adj" fmla="val 42232"/>
            </a:avLst>
          </a:prstGeom>
          <a:solidFill>
            <a:srgbClr val="3DCD58"/>
          </a:solidFill>
          <a:ln w="12700">
            <a:solidFill>
              <a:srgbClr val="3DCD58"/>
            </a:solidFill>
            <a:prstDash val="solid"/>
          </a:ln>
        </p:spPr>
      </p:sp>
      <p:sp>
        <p:nvSpPr>
          <p:cNvPr id="75" name="Shape 73"/>
          <p:cNvSpPr/>
          <p:nvPr/>
        </p:nvSpPr>
        <p:spPr>
          <a:xfrm>
            <a:off x="1033272" y="5388429"/>
            <a:ext cx="10536631" cy="0"/>
          </a:xfrm>
          <a:prstGeom prst="line">
            <a:avLst/>
          </a:prstGeom>
          <a:noFill/>
          <a:ln w="4445">
            <a:solidFill>
              <a:srgbClr val="E2E6E2"/>
            </a:solidFill>
            <a:prstDash val="solid"/>
          </a:ln>
        </p:spPr>
      </p:sp>
      <p:sp>
        <p:nvSpPr>
          <p:cNvPr id="76" name="Shape 74"/>
          <p:cNvSpPr/>
          <p:nvPr/>
        </p:nvSpPr>
        <p:spPr>
          <a:xfrm>
            <a:off x="1143000" y="5151338"/>
            <a:ext cx="45720" cy="219456"/>
          </a:xfrm>
          <a:prstGeom prst="roundRect">
            <a:avLst>
              <a:gd name="adj" fmla="val 60000"/>
            </a:avLst>
          </a:prstGeom>
          <a:solidFill>
            <a:srgbClr val="3DCD58"/>
          </a:solidFill>
          <a:ln w="12700">
            <a:solidFill>
              <a:srgbClr val="3DCD58"/>
            </a:solidFill>
            <a:prstDash val="solid"/>
          </a:ln>
        </p:spPr>
      </p:sp>
      <p:sp>
        <p:nvSpPr>
          <p:cNvPr id="77" name="Text 75"/>
          <p:cNvSpPr/>
          <p:nvPr/>
        </p:nvSpPr>
        <p:spPr>
          <a:xfrm>
            <a:off x="1243584" y="5114762"/>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H2: Market intelligence, net zero suggestions, multi hierarchy plans</a:t>
            </a:r>
            <a:endParaRPr lang="en-US" sz="950" dirty="0"/>
          </a:p>
        </p:txBody>
      </p:sp>
      <p:sp>
        <p:nvSpPr>
          <p:cNvPr id="78" name="Shape 76"/>
          <p:cNvSpPr/>
          <p:nvPr/>
        </p:nvSpPr>
        <p:spPr>
          <a:xfrm>
            <a:off x="7513168" y="5217762"/>
            <a:ext cx="4056736" cy="86607"/>
          </a:xfrm>
          <a:prstGeom prst="roundRect">
            <a:avLst>
              <a:gd name="adj" fmla="val 42232"/>
            </a:avLst>
          </a:prstGeom>
          <a:solidFill>
            <a:srgbClr val="3DCD58"/>
          </a:solidFill>
          <a:ln w="12700">
            <a:solidFill>
              <a:srgbClr val="3DCD58"/>
            </a:solidFill>
            <a:prstDash val="solid"/>
          </a:ln>
        </p:spPr>
      </p:sp>
      <p:sp>
        <p:nvSpPr>
          <p:cNvPr id="79" name="Shape 77"/>
          <p:cNvSpPr/>
          <p:nvPr/>
        </p:nvSpPr>
        <p:spPr>
          <a:xfrm>
            <a:off x="621792" y="5388429"/>
            <a:ext cx="411480" cy="509451"/>
          </a:xfrm>
          <a:prstGeom prst="rect">
            <a:avLst/>
          </a:prstGeom>
          <a:solidFill>
            <a:srgbClr val="007A27"/>
          </a:solidFill>
          <a:ln w="7620">
            <a:solidFill>
              <a:srgbClr val="FFFFFF"/>
            </a:solidFill>
            <a:prstDash val="solid"/>
          </a:ln>
        </p:spPr>
      </p:sp>
      <p:sp>
        <p:nvSpPr>
          <p:cNvPr id="80" name="Text 78"/>
          <p:cNvSpPr/>
          <p:nvPr/>
        </p:nvSpPr>
        <p:spPr>
          <a:xfrm>
            <a:off x="685800" y="5434149"/>
            <a:ext cx="283464" cy="418011"/>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CORE PLATFORM</a:t>
            </a:r>
            <a:endParaRPr lang="en-US" sz="750" dirty="0"/>
          </a:p>
        </p:txBody>
      </p:sp>
      <p:sp>
        <p:nvSpPr>
          <p:cNvPr id="81" name="Shape 79"/>
          <p:cNvSpPr/>
          <p:nvPr/>
        </p:nvSpPr>
        <p:spPr>
          <a:xfrm>
            <a:off x="1033272" y="5643154"/>
            <a:ext cx="10536631" cy="0"/>
          </a:xfrm>
          <a:prstGeom prst="line">
            <a:avLst/>
          </a:prstGeom>
          <a:noFill/>
          <a:ln w="4445">
            <a:solidFill>
              <a:srgbClr val="E2E6E2"/>
            </a:solidFill>
            <a:prstDash val="solid"/>
          </a:ln>
        </p:spPr>
      </p:sp>
      <p:sp>
        <p:nvSpPr>
          <p:cNvPr id="82" name="Shape 80"/>
          <p:cNvSpPr/>
          <p:nvPr/>
        </p:nvSpPr>
        <p:spPr>
          <a:xfrm>
            <a:off x="1143000" y="5406063"/>
            <a:ext cx="45720" cy="219456"/>
          </a:xfrm>
          <a:prstGeom prst="roundRect">
            <a:avLst>
              <a:gd name="adj" fmla="val 60000"/>
            </a:avLst>
          </a:prstGeom>
          <a:solidFill>
            <a:srgbClr val="007A27"/>
          </a:solidFill>
          <a:ln w="12700">
            <a:solidFill>
              <a:srgbClr val="007A27"/>
            </a:solidFill>
            <a:prstDash val="solid"/>
          </a:ln>
        </p:spPr>
      </p:sp>
      <p:sp>
        <p:nvSpPr>
          <p:cNvPr id="83" name="Text 81"/>
          <p:cNvSpPr/>
          <p:nvPr/>
        </p:nvSpPr>
        <p:spPr>
          <a:xfrm>
            <a:off x="1243584" y="5369487"/>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H1: Readiness checks, ontology, calculation governance</a:t>
            </a:r>
            <a:endParaRPr lang="en-US" sz="950" dirty="0"/>
          </a:p>
        </p:txBody>
      </p:sp>
      <p:sp>
        <p:nvSpPr>
          <p:cNvPr id="84" name="Shape 82"/>
          <p:cNvSpPr/>
          <p:nvPr/>
        </p:nvSpPr>
        <p:spPr>
          <a:xfrm>
            <a:off x="3456432" y="5472488"/>
            <a:ext cx="4056736" cy="86607"/>
          </a:xfrm>
          <a:prstGeom prst="roundRect">
            <a:avLst>
              <a:gd name="adj" fmla="val 42232"/>
            </a:avLst>
          </a:prstGeom>
          <a:solidFill>
            <a:srgbClr val="007A27"/>
          </a:solidFill>
          <a:ln w="12700">
            <a:solidFill>
              <a:srgbClr val="007A27"/>
            </a:solidFill>
            <a:prstDash val="solid"/>
          </a:ln>
        </p:spPr>
      </p:sp>
      <p:sp>
        <p:nvSpPr>
          <p:cNvPr id="85" name="Shape 83"/>
          <p:cNvSpPr/>
          <p:nvPr/>
        </p:nvSpPr>
        <p:spPr>
          <a:xfrm>
            <a:off x="1033272" y="5897880"/>
            <a:ext cx="10536631" cy="0"/>
          </a:xfrm>
          <a:prstGeom prst="line">
            <a:avLst/>
          </a:prstGeom>
          <a:noFill/>
          <a:ln w="4445">
            <a:solidFill>
              <a:srgbClr val="E2E6E2"/>
            </a:solidFill>
            <a:prstDash val="solid"/>
          </a:ln>
        </p:spPr>
      </p:sp>
      <p:sp>
        <p:nvSpPr>
          <p:cNvPr id="86" name="Shape 84"/>
          <p:cNvSpPr/>
          <p:nvPr/>
        </p:nvSpPr>
        <p:spPr>
          <a:xfrm>
            <a:off x="1143000" y="5660789"/>
            <a:ext cx="45720" cy="219456"/>
          </a:xfrm>
          <a:prstGeom prst="roundRect">
            <a:avLst>
              <a:gd name="adj" fmla="val 60000"/>
            </a:avLst>
          </a:prstGeom>
          <a:solidFill>
            <a:srgbClr val="007A27"/>
          </a:solidFill>
          <a:ln w="12700">
            <a:solidFill>
              <a:srgbClr val="007A27"/>
            </a:solidFill>
            <a:prstDash val="solid"/>
          </a:ln>
        </p:spPr>
      </p:sp>
      <p:sp>
        <p:nvSpPr>
          <p:cNvPr id="87" name="Text 85"/>
          <p:cNvSpPr/>
          <p:nvPr/>
        </p:nvSpPr>
        <p:spPr>
          <a:xfrm>
            <a:off x="1243584" y="5624213"/>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H2: Quality scoring, AI checks, Sera agents, enterprise scale</a:t>
            </a:r>
            <a:endParaRPr lang="en-US" sz="950" dirty="0"/>
          </a:p>
        </p:txBody>
      </p:sp>
      <p:sp>
        <p:nvSpPr>
          <p:cNvPr id="88" name="Shape 86"/>
          <p:cNvSpPr/>
          <p:nvPr/>
        </p:nvSpPr>
        <p:spPr>
          <a:xfrm>
            <a:off x="7513168" y="5727214"/>
            <a:ext cx="4056736" cy="86607"/>
          </a:xfrm>
          <a:prstGeom prst="roundRect">
            <a:avLst>
              <a:gd name="adj" fmla="val 42232"/>
            </a:avLst>
          </a:prstGeom>
          <a:solidFill>
            <a:srgbClr val="007A27"/>
          </a:solidFill>
          <a:ln w="12700">
            <a:solidFill>
              <a:srgbClr val="007A27"/>
            </a:solidFill>
            <a:prstDash val="solid"/>
          </a:ln>
        </p:spPr>
      </p:sp>
      <p:sp>
        <p:nvSpPr>
          <p:cNvPr id="89" name="Shape 87"/>
          <p:cNvSpPr/>
          <p:nvPr/>
        </p:nvSpPr>
        <p:spPr>
          <a:xfrm>
            <a:off x="621792" y="6437376"/>
            <a:ext cx="10948111" cy="0"/>
          </a:xfrm>
          <a:prstGeom prst="line">
            <a:avLst/>
          </a:prstGeom>
          <a:noFill/>
          <a:ln w="9525">
            <a:solidFill>
              <a:srgbClr val="E2E6E2"/>
            </a:solidFill>
            <a:prstDash val="solid"/>
          </a:ln>
        </p:spPr>
      </p:sp>
      <p:sp>
        <p:nvSpPr>
          <p:cNvPr id="90" name="Text 8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91" name="Text 8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ONE PAGE VIEW</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RA+ 2026 and 2027 at board altitude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What each product commits to per half year.</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21792" y="2084832"/>
          <a:ext cx="10948111" cy="914400"/>
        </p:xfrm>
        <a:graphic>
          <a:graphicData uri="http://schemas.openxmlformats.org/drawingml/2006/table">
            <a:tbl>
              <a:tblPr/>
              <a:tblGrid>
                <a:gridCol w="1005840"/>
                <a:gridCol w="3314090"/>
                <a:gridCol w="3314090"/>
                <a:gridCol w="3314090"/>
              </a:tblGrid>
              <a:tr h="51206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PRODUCT</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H2 2026</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H1 2027</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H2 2027</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Carbon Performance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Factors, market based Scope 2, boundaries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Category 4 and 9 transport, category 5, consolidation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Category 15, FLAG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Supply Chain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SC emissions management, PCF calculator, DQ assurance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Multi tier visibility, supplier onboarding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Climate risk and ESG compliance integrations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Reporting and Compliance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Standalone launch, indicator management, CSRD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SE migrated, AI assisted disclosure authoring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Assurance workflow, voluntary frameworks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Climate Risk</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Asset register, physical hazard exposure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Scenario analysis and adaptation actions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Transition plan linked to targets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Strategy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Actions library, ECM and initiative recommendations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Cascading targets, complex structures, ECM library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Market intelligence, multi hierarchy plans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Core platform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Data quality L1 and L2, audit trail, allocations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Control plane, calculation governance, analytics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DQ scoring, Sera agents, EU hosting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bl>
          </a:graphicData>
        </a:graphic>
      </p:graphicFrame>
      <p:sp>
        <p:nvSpPr>
          <p:cNvPr id="10" name="Shape 7"/>
          <p:cNvSpPr/>
          <p:nvPr/>
        </p:nvSpPr>
        <p:spPr>
          <a:xfrm>
            <a:off x="621792" y="6437376"/>
            <a:ext cx="10948111" cy="0"/>
          </a:xfrm>
          <a:prstGeom prst="line">
            <a:avLst/>
          </a:prstGeom>
          <a:noFill/>
          <a:ln w="9525">
            <a:solidFill>
              <a:srgbClr val="E2E6E2"/>
            </a:solidFill>
            <a:prstDash val="solid"/>
          </a:ln>
        </p:spPr>
      </p:sp>
      <p:sp>
        <p:nvSpPr>
          <p:cNvPr id="11" name="Text 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2" name="Text 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APPENDIX</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A</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Appendix: product detail</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Detailed product by product plans, evidence and sequencing. Available for questions, not required for the decision.</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1</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01</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Where Carbon Performance stands</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Honest accounting of Q3 before we commit anything for Q4 and 2027.</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40782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7490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 NOW NEXT LATER</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Deepen the inventory in 2026, close the remaining categories in 2027</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Emission factor and calculation depth first, then coverage, governance and assurance. Sequenced from the ranked theme list and the delivery capacity we actually hold.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2270684" cy="376210"/>
          </a:xfrm>
          <a:prstGeom prst="roundRect">
            <a:avLst>
              <a:gd name="adj" fmla="val 7292"/>
            </a:avLst>
          </a:prstGeom>
          <a:solidFill>
            <a:srgbClr val="F7F8F7"/>
          </a:solidFill>
          <a:ln w="5080">
            <a:solidFill>
              <a:srgbClr val="F7F8F7"/>
            </a:solidFill>
            <a:prstDash val="solid"/>
          </a:ln>
        </p:spPr>
      </p:sp>
      <p:sp>
        <p:nvSpPr>
          <p:cNvPr id="15" name="Text 13"/>
          <p:cNvSpPr/>
          <p:nvPr/>
        </p:nvSpPr>
        <p:spPr>
          <a:xfrm>
            <a:off x="822960"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Sold product emissions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categories 10, 11, 12</a:t>
            </a:r>
            <a:endParaRPr lang="en-US" sz="1000" dirty="0"/>
          </a:p>
        </p:txBody>
      </p:sp>
      <p:sp>
        <p:nvSpPr>
          <p:cNvPr id="16" name="Shape 14"/>
          <p:cNvSpPr/>
          <p:nvPr/>
        </p:nvSpPr>
        <p:spPr>
          <a:xfrm>
            <a:off x="758952" y="3402874"/>
            <a:ext cx="2270684" cy="376210"/>
          </a:xfrm>
          <a:prstGeom prst="roundRect">
            <a:avLst>
              <a:gd name="adj" fmla="val 7292"/>
            </a:avLst>
          </a:prstGeom>
          <a:solidFill>
            <a:srgbClr val="F7F8F7"/>
          </a:solidFill>
          <a:ln w="5080">
            <a:solidFill>
              <a:srgbClr val="F7F8F7"/>
            </a:solidFill>
            <a:prstDash val="solid"/>
          </a:ln>
        </p:spPr>
      </p:sp>
      <p:sp>
        <p:nvSpPr>
          <p:cNvPr id="17" name="Text 15"/>
          <p:cNvSpPr/>
          <p:nvPr/>
        </p:nvSpPr>
        <p:spPr>
          <a:xfrm>
            <a:off x="822960" y="3402874"/>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System admin improvements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Config engine, calc methods, templates</a:t>
            </a:r>
            <a:endParaRPr lang="en-US" sz="1000" dirty="0"/>
          </a:p>
        </p:txBody>
      </p:sp>
      <p:sp>
        <p:nvSpPr>
          <p:cNvPr id="18" name="Shape 16"/>
          <p:cNvSpPr/>
          <p:nvPr/>
        </p:nvSpPr>
        <p:spPr>
          <a:xfrm>
            <a:off x="758952" y="3852237"/>
            <a:ext cx="2270684" cy="376210"/>
          </a:xfrm>
          <a:prstGeom prst="roundRect">
            <a:avLst>
              <a:gd name="adj" fmla="val 7292"/>
            </a:avLst>
          </a:prstGeom>
          <a:solidFill>
            <a:srgbClr val="F7F8F7"/>
          </a:solidFill>
          <a:ln w="5080">
            <a:solidFill>
              <a:srgbClr val="F7F8F7"/>
            </a:solidFill>
            <a:prstDash val="solid"/>
          </a:ln>
        </p:spPr>
      </p:sp>
      <p:sp>
        <p:nvSpPr>
          <p:cNvPr id="19" name="Text 17"/>
          <p:cNvSpPr/>
          <p:nvPr/>
        </p:nvSpPr>
        <p:spPr>
          <a:xfrm>
            <a:off x="822960" y="3852237"/>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Inventory revamp</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Clarity, per gas breakdown</a:t>
            </a:r>
            <a:endParaRPr lang="en-US" sz="1000" dirty="0"/>
          </a:p>
        </p:txBody>
      </p:sp>
      <p:sp>
        <p:nvSpPr>
          <p:cNvPr id="20" name="Shape 18"/>
          <p:cNvSpPr/>
          <p:nvPr/>
        </p:nvSpPr>
        <p:spPr>
          <a:xfrm>
            <a:off x="758952" y="4301599"/>
            <a:ext cx="2270684" cy="376210"/>
          </a:xfrm>
          <a:prstGeom prst="roundRect">
            <a:avLst>
              <a:gd name="adj" fmla="val 7292"/>
            </a:avLst>
          </a:prstGeom>
          <a:solidFill>
            <a:srgbClr val="F7F8F7"/>
          </a:solidFill>
          <a:ln w="5080">
            <a:solidFill>
              <a:srgbClr val="F7F8F7"/>
            </a:solidFill>
            <a:prstDash val="solid"/>
          </a:ln>
        </p:spPr>
      </p:sp>
      <p:sp>
        <p:nvSpPr>
          <p:cNvPr id="21" name="Text 19"/>
          <p:cNvSpPr/>
          <p:nvPr/>
        </p:nvSpPr>
        <p:spPr>
          <a:xfrm>
            <a:off x="822960" y="4301599"/>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Pre-calculated emissions import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Ingestion of client calculated data</a:t>
            </a:r>
            <a:endParaRPr lang="en-US" sz="1000" dirty="0"/>
          </a:p>
        </p:txBody>
      </p:sp>
      <p:sp>
        <p:nvSpPr>
          <p:cNvPr id="22" name="Shape 20"/>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3422828" y="2084832"/>
            <a:ext cx="2545004" cy="713232"/>
          </a:xfrm>
          <a:prstGeom prst="rect">
            <a:avLst/>
          </a:prstGeom>
          <a:solidFill>
            <a:srgbClr val="EAF8ED"/>
          </a:solidFill>
          <a:ln w="12700">
            <a:solidFill>
              <a:srgbClr val="EAF8ED"/>
            </a:solidFill>
            <a:prstDash val="solid"/>
          </a:ln>
        </p:spPr>
      </p:sp>
      <p:sp>
        <p:nvSpPr>
          <p:cNvPr id="24" name="Shape 22"/>
          <p:cNvSpPr/>
          <p:nvPr/>
        </p:nvSpPr>
        <p:spPr>
          <a:xfrm>
            <a:off x="3422828" y="2084832"/>
            <a:ext cx="54864" cy="4178808"/>
          </a:xfrm>
          <a:prstGeom prst="rect">
            <a:avLst/>
          </a:prstGeom>
          <a:solidFill>
            <a:srgbClr val="007A27"/>
          </a:solidFill>
          <a:ln w="12700">
            <a:solidFill>
              <a:srgbClr val="007A27"/>
            </a:solidFill>
            <a:prstDash val="solid"/>
          </a:ln>
        </p:spPr>
      </p:sp>
      <p:sp>
        <p:nvSpPr>
          <p:cNvPr id="25" name="Text 23"/>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3559988" y="2953512"/>
            <a:ext cx="2270684" cy="376210"/>
          </a:xfrm>
          <a:prstGeom prst="roundRect">
            <a:avLst>
              <a:gd name="adj" fmla="val 7292"/>
            </a:avLst>
          </a:prstGeom>
          <a:solidFill>
            <a:srgbClr val="F7F8F7"/>
          </a:solidFill>
          <a:ln w="5080">
            <a:solidFill>
              <a:srgbClr val="F7F8F7"/>
            </a:solidFill>
            <a:prstDash val="solid"/>
          </a:ln>
        </p:spPr>
      </p:sp>
      <p:sp>
        <p:nvSpPr>
          <p:cNvPr id="28" name="Text 26"/>
          <p:cNvSpPr/>
          <p:nvPr/>
        </p:nvSpPr>
        <p:spPr>
          <a:xfrm>
            <a:off x="3623996"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EAC and PPA management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Market based Scope 2 coverage</a:t>
            </a:r>
            <a:endParaRPr lang="en-US" sz="1000" dirty="0"/>
          </a:p>
        </p:txBody>
      </p:sp>
      <p:sp>
        <p:nvSpPr>
          <p:cNvPr id="29" name="Shape 27"/>
          <p:cNvSpPr/>
          <p:nvPr/>
        </p:nvSpPr>
        <p:spPr>
          <a:xfrm>
            <a:off x="3559988" y="3402874"/>
            <a:ext cx="2270684" cy="376210"/>
          </a:xfrm>
          <a:prstGeom prst="roundRect">
            <a:avLst>
              <a:gd name="adj" fmla="val 7292"/>
            </a:avLst>
          </a:prstGeom>
          <a:solidFill>
            <a:srgbClr val="F7F8F7"/>
          </a:solidFill>
          <a:ln w="5080">
            <a:solidFill>
              <a:srgbClr val="F7F8F7"/>
            </a:solidFill>
            <a:prstDash val="solid"/>
          </a:ln>
        </p:spPr>
      </p:sp>
      <p:sp>
        <p:nvSpPr>
          <p:cNvPr id="30" name="Text 28"/>
          <p:cNvSpPr/>
          <p:nvPr/>
        </p:nvSpPr>
        <p:spPr>
          <a:xfrm>
            <a:off x="3623996" y="3402874"/>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Base year, exclusions, materiality</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GHGP compliant boundaries</a:t>
            </a:r>
            <a:endParaRPr lang="en-US" sz="950" dirty="0"/>
          </a:p>
        </p:txBody>
      </p:sp>
      <p:sp>
        <p:nvSpPr>
          <p:cNvPr id="31" name="Shape 29"/>
          <p:cNvSpPr/>
          <p:nvPr/>
        </p:nvSpPr>
        <p:spPr>
          <a:xfrm>
            <a:off x="3559988" y="3852237"/>
            <a:ext cx="2270684" cy="376210"/>
          </a:xfrm>
          <a:prstGeom prst="roundRect">
            <a:avLst>
              <a:gd name="adj" fmla="val 7292"/>
            </a:avLst>
          </a:prstGeom>
          <a:solidFill>
            <a:srgbClr val="F7F8F7"/>
          </a:solidFill>
          <a:ln w="5080">
            <a:solidFill>
              <a:srgbClr val="F7F8F7"/>
            </a:solidFill>
            <a:prstDash val="solid"/>
          </a:ln>
        </p:spPr>
      </p:sp>
      <p:sp>
        <p:nvSpPr>
          <p:cNvPr id="32" name="Text 30"/>
          <p:cNvSpPr/>
          <p:nvPr/>
        </p:nvSpPr>
        <p:spPr>
          <a:xfrm>
            <a:off x="3623996" y="3852237"/>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Thermal source attribution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Defensible Scope 1 and 2 split</a:t>
            </a:r>
            <a:endParaRPr lang="en-US" sz="1000" dirty="0"/>
          </a:p>
        </p:txBody>
      </p:sp>
      <p:sp>
        <p:nvSpPr>
          <p:cNvPr id="33" name="Shape 31"/>
          <p:cNvSpPr/>
          <p:nvPr/>
        </p:nvSpPr>
        <p:spPr>
          <a:xfrm>
            <a:off x="3559988" y="4301599"/>
            <a:ext cx="2270684" cy="376210"/>
          </a:xfrm>
          <a:prstGeom prst="roundRect">
            <a:avLst>
              <a:gd name="adj" fmla="val 7292"/>
            </a:avLst>
          </a:prstGeom>
          <a:solidFill>
            <a:srgbClr val="F7F8F7"/>
          </a:solidFill>
          <a:ln w="5080">
            <a:solidFill>
              <a:srgbClr val="F7F8F7"/>
            </a:solidFill>
            <a:prstDash val="solid"/>
          </a:ln>
        </p:spPr>
      </p:sp>
      <p:sp>
        <p:nvSpPr>
          <p:cNvPr id="34" name="Text 32"/>
          <p:cNvSpPr/>
          <p:nvPr/>
        </p:nvSpPr>
        <p:spPr>
          <a:xfrm>
            <a:off x="3623996" y="4301599"/>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Refrigerant leakage to usage</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1 fugitive emissions</a:t>
            </a:r>
            <a:endParaRPr lang="en-US" sz="1000" dirty="0"/>
          </a:p>
        </p:txBody>
      </p:sp>
      <p:sp>
        <p:nvSpPr>
          <p:cNvPr id="35" name="Shape 33"/>
          <p:cNvSpPr/>
          <p:nvPr/>
        </p:nvSpPr>
        <p:spPr>
          <a:xfrm>
            <a:off x="3559988" y="4750961"/>
            <a:ext cx="2270684" cy="376210"/>
          </a:xfrm>
          <a:prstGeom prst="roundRect">
            <a:avLst>
              <a:gd name="adj" fmla="val 7292"/>
            </a:avLst>
          </a:prstGeom>
          <a:solidFill>
            <a:srgbClr val="F7F8F7"/>
          </a:solidFill>
          <a:ln w="5080">
            <a:solidFill>
              <a:srgbClr val="F7F8F7"/>
            </a:solidFill>
            <a:prstDash val="solid"/>
          </a:ln>
        </p:spPr>
      </p:sp>
      <p:sp>
        <p:nvSpPr>
          <p:cNvPr id="36" name="Text 34"/>
          <p:cNvSpPr/>
          <p:nvPr/>
        </p:nvSpPr>
        <p:spPr>
          <a:xfrm>
            <a:off x="3623996" y="4750961"/>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Employee commuting and WFH</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category 7</a:t>
            </a:r>
            <a:endParaRPr lang="en-US" sz="1000" dirty="0"/>
          </a:p>
        </p:txBody>
      </p:sp>
      <p:sp>
        <p:nvSpPr>
          <p:cNvPr id="37" name="Shape 35"/>
          <p:cNvSpPr/>
          <p:nvPr/>
        </p:nvSpPr>
        <p:spPr>
          <a:xfrm>
            <a:off x="3559988" y="5200323"/>
            <a:ext cx="2270684" cy="376210"/>
          </a:xfrm>
          <a:prstGeom prst="roundRect">
            <a:avLst>
              <a:gd name="adj" fmla="val 7292"/>
            </a:avLst>
          </a:prstGeom>
          <a:solidFill>
            <a:srgbClr val="F7F8F7"/>
          </a:solidFill>
          <a:ln w="5080">
            <a:solidFill>
              <a:srgbClr val="F7F8F7"/>
            </a:solidFill>
            <a:prstDash val="solid"/>
          </a:ln>
        </p:spPr>
      </p:sp>
      <p:sp>
        <p:nvSpPr>
          <p:cNvPr id="38" name="Text 36"/>
          <p:cNvSpPr/>
          <p:nvPr/>
        </p:nvSpPr>
        <p:spPr>
          <a:xfrm>
            <a:off x="3623996" y="5200323"/>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Sera for carbon inventory</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AI guided troubleshooting</a:t>
            </a:r>
            <a:endParaRPr lang="en-US" sz="1000" dirty="0"/>
          </a:p>
        </p:txBody>
      </p:sp>
      <p:sp>
        <p:nvSpPr>
          <p:cNvPr id="39" name="Shape 37"/>
          <p:cNvSpPr/>
          <p:nvPr/>
        </p:nvSpPr>
        <p:spPr>
          <a:xfrm>
            <a:off x="3559988" y="5649686"/>
            <a:ext cx="2270684" cy="376210"/>
          </a:xfrm>
          <a:prstGeom prst="roundRect">
            <a:avLst>
              <a:gd name="adj" fmla="val 7292"/>
            </a:avLst>
          </a:prstGeom>
          <a:solidFill>
            <a:srgbClr val="F7F8F7"/>
          </a:solidFill>
          <a:ln w="5080">
            <a:solidFill>
              <a:srgbClr val="F7F8F7"/>
            </a:solidFill>
            <a:prstDash val="solid"/>
          </a:ln>
        </p:spPr>
      </p:sp>
      <p:sp>
        <p:nvSpPr>
          <p:cNvPr id="40" name="Text 38"/>
          <p:cNvSpPr/>
          <p:nvPr/>
        </p:nvSpPr>
        <p:spPr>
          <a:xfrm>
            <a:off x="3623996" y="5649686"/>
            <a:ext cx="2142668"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Advanced scenario analysis and decarbonization planning</a:t>
            </a:r>
            <a:endParaRPr lang="en-US" sz="900" dirty="0"/>
          </a:p>
          <a:p>
            <a:pPr indent="0" marL="0">
              <a:lnSpc>
                <a:spcPct val="95000"/>
              </a:lnSpc>
              <a:buNone/>
            </a:pPr>
            <a:r>
              <a:rPr lang="en-US" sz="750" dirty="0">
                <a:solidFill>
                  <a:srgbClr val="5A625C"/>
                </a:solidFill>
                <a:latin typeface="Calibri" pitchFamily="34" charset="0"/>
                <a:ea typeface="Calibri" pitchFamily="34" charset="-122"/>
                <a:cs typeface="Calibri" pitchFamily="34" charset="-120"/>
              </a:rPr>
              <a:t>Initiatives and actions management</a:t>
            </a:r>
            <a:endParaRPr lang="en-US" sz="900" dirty="0"/>
          </a:p>
        </p:txBody>
      </p:sp>
      <p:sp>
        <p:nvSpPr>
          <p:cNvPr id="41" name="Shape 39"/>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42" name="Shape 40"/>
          <p:cNvSpPr/>
          <p:nvPr/>
        </p:nvSpPr>
        <p:spPr>
          <a:xfrm>
            <a:off x="6223864" y="2084832"/>
            <a:ext cx="2545004" cy="713232"/>
          </a:xfrm>
          <a:prstGeom prst="rect">
            <a:avLst/>
          </a:prstGeom>
          <a:solidFill>
            <a:srgbClr val="FFF4E3"/>
          </a:solidFill>
          <a:ln w="12700">
            <a:solidFill>
              <a:srgbClr val="FFF4E3"/>
            </a:solidFill>
            <a:prstDash val="solid"/>
          </a:ln>
        </p:spPr>
      </p:sp>
      <p:sp>
        <p:nvSpPr>
          <p:cNvPr id="43" name="Shape 41"/>
          <p:cNvSpPr/>
          <p:nvPr/>
        </p:nvSpPr>
        <p:spPr>
          <a:xfrm>
            <a:off x="6223864" y="2084832"/>
            <a:ext cx="54864" cy="4178808"/>
          </a:xfrm>
          <a:prstGeom prst="rect">
            <a:avLst/>
          </a:prstGeom>
          <a:solidFill>
            <a:srgbClr val="FFB04C"/>
          </a:solidFill>
          <a:ln w="12700">
            <a:solidFill>
              <a:srgbClr val="FFB04C"/>
            </a:solidFill>
            <a:prstDash val="solid"/>
          </a:ln>
        </p:spPr>
      </p:sp>
      <p:sp>
        <p:nvSpPr>
          <p:cNvPr id="44" name="Text 42"/>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45" name="Text 43"/>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46" name="Shape 44"/>
          <p:cNvSpPr/>
          <p:nvPr/>
        </p:nvSpPr>
        <p:spPr>
          <a:xfrm>
            <a:off x="6361024" y="2953512"/>
            <a:ext cx="2270684" cy="376210"/>
          </a:xfrm>
          <a:prstGeom prst="roundRect">
            <a:avLst>
              <a:gd name="adj" fmla="val 7292"/>
            </a:avLst>
          </a:prstGeom>
          <a:solidFill>
            <a:srgbClr val="F7F8F7"/>
          </a:solidFill>
          <a:ln w="5080">
            <a:solidFill>
              <a:srgbClr val="F7F8F7"/>
            </a:solidFill>
            <a:prstDash val="solid"/>
          </a:ln>
        </p:spPr>
      </p:sp>
      <p:sp>
        <p:nvSpPr>
          <p:cNvPr id="47" name="Text 45"/>
          <p:cNvSpPr/>
          <p:nvPr/>
        </p:nvSpPr>
        <p:spPr>
          <a:xfrm>
            <a:off x="6425032"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Category 4 and 9 product linked transport</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Upstream and downstream transport</a:t>
            </a:r>
            <a:endParaRPr lang="en-US" sz="950" dirty="0"/>
          </a:p>
        </p:txBody>
      </p:sp>
      <p:sp>
        <p:nvSpPr>
          <p:cNvPr id="48" name="Shape 46"/>
          <p:cNvSpPr/>
          <p:nvPr/>
        </p:nvSpPr>
        <p:spPr>
          <a:xfrm>
            <a:off x="6361024" y="3402874"/>
            <a:ext cx="2270684" cy="376210"/>
          </a:xfrm>
          <a:prstGeom prst="roundRect">
            <a:avLst>
              <a:gd name="adj" fmla="val 7292"/>
            </a:avLst>
          </a:prstGeom>
          <a:solidFill>
            <a:srgbClr val="F7F8F7"/>
          </a:solidFill>
          <a:ln w="5080">
            <a:solidFill>
              <a:srgbClr val="F7F8F7"/>
            </a:solidFill>
            <a:prstDash val="solid"/>
          </a:ln>
        </p:spPr>
      </p:sp>
      <p:sp>
        <p:nvSpPr>
          <p:cNvPr id="49" name="Text 47"/>
          <p:cNvSpPr/>
          <p:nvPr/>
        </p:nvSpPr>
        <p:spPr>
          <a:xfrm>
            <a:off x="6425032" y="3402874"/>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Financial and equity consolidation</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Ownership boundary roll up</a:t>
            </a:r>
            <a:endParaRPr lang="en-US" sz="950" dirty="0"/>
          </a:p>
        </p:txBody>
      </p:sp>
      <p:sp>
        <p:nvSpPr>
          <p:cNvPr id="50" name="Shape 48"/>
          <p:cNvSpPr/>
          <p:nvPr/>
        </p:nvSpPr>
        <p:spPr>
          <a:xfrm>
            <a:off x="6361024" y="3852237"/>
            <a:ext cx="2270684" cy="376210"/>
          </a:xfrm>
          <a:prstGeom prst="roundRect">
            <a:avLst>
              <a:gd name="adj" fmla="val 7292"/>
            </a:avLst>
          </a:prstGeom>
          <a:solidFill>
            <a:srgbClr val="F7F8F7"/>
          </a:solidFill>
          <a:ln w="5080">
            <a:solidFill>
              <a:srgbClr val="F7F8F7"/>
            </a:solidFill>
            <a:prstDash val="solid"/>
          </a:ln>
        </p:spPr>
      </p:sp>
      <p:sp>
        <p:nvSpPr>
          <p:cNvPr id="51" name="Text 49"/>
          <p:cNvSpPr/>
          <p:nvPr/>
        </p:nvSpPr>
        <p:spPr>
          <a:xfrm>
            <a:off x="6425032" y="3852237"/>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Waste emission estimation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category 5</a:t>
            </a:r>
            <a:endParaRPr lang="en-US" sz="1000" dirty="0"/>
          </a:p>
        </p:txBody>
      </p:sp>
      <p:sp>
        <p:nvSpPr>
          <p:cNvPr id="52" name="Shape 50"/>
          <p:cNvSpPr/>
          <p:nvPr/>
        </p:nvSpPr>
        <p:spPr>
          <a:xfrm>
            <a:off x="6361024" y="4301599"/>
            <a:ext cx="2270684" cy="376210"/>
          </a:xfrm>
          <a:prstGeom prst="roundRect">
            <a:avLst>
              <a:gd name="adj" fmla="val 7292"/>
            </a:avLst>
          </a:prstGeom>
          <a:solidFill>
            <a:srgbClr val="F7F8F7"/>
          </a:solidFill>
          <a:ln w="5080">
            <a:solidFill>
              <a:srgbClr val="F7F8F7"/>
            </a:solidFill>
            <a:prstDash val="solid"/>
          </a:ln>
        </p:spPr>
      </p:sp>
      <p:sp>
        <p:nvSpPr>
          <p:cNvPr id="53" name="Text 51"/>
          <p:cNvSpPr/>
          <p:nvPr/>
        </p:nvSpPr>
        <p:spPr>
          <a:xfrm>
            <a:off x="6425032" y="4301599"/>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Improved method transparency per data point</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Methodology transparency</a:t>
            </a:r>
            <a:endParaRPr lang="en-US" sz="950" dirty="0"/>
          </a:p>
        </p:txBody>
      </p:sp>
      <p:sp>
        <p:nvSpPr>
          <p:cNvPr id="54" name="Shape 52"/>
          <p:cNvSpPr/>
          <p:nvPr/>
        </p:nvSpPr>
        <p:spPr>
          <a:xfrm>
            <a:off x="6361024" y="4750961"/>
            <a:ext cx="2270684" cy="376210"/>
          </a:xfrm>
          <a:prstGeom prst="roundRect">
            <a:avLst>
              <a:gd name="adj" fmla="val 7292"/>
            </a:avLst>
          </a:prstGeom>
          <a:solidFill>
            <a:srgbClr val="F7F8F7"/>
          </a:solidFill>
          <a:ln w="5080">
            <a:solidFill>
              <a:srgbClr val="F7F8F7"/>
            </a:solidFill>
            <a:prstDash val="solid"/>
          </a:ln>
        </p:spPr>
      </p:sp>
      <p:sp>
        <p:nvSpPr>
          <p:cNvPr id="55" name="Text 53"/>
          <p:cNvSpPr/>
          <p:nvPr/>
        </p:nvSpPr>
        <p:spPr>
          <a:xfrm>
            <a:off x="6425032" y="4750961"/>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Rebaselining</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Base year recalculation workflows</a:t>
            </a:r>
            <a:endParaRPr lang="en-US" sz="1000" dirty="0"/>
          </a:p>
        </p:txBody>
      </p:sp>
      <p:sp>
        <p:nvSpPr>
          <p:cNvPr id="56" name="Shape 54"/>
          <p:cNvSpPr/>
          <p:nvPr/>
        </p:nvSpPr>
        <p:spPr>
          <a:xfrm>
            <a:off x="6361024" y="5200323"/>
            <a:ext cx="2270684" cy="376210"/>
          </a:xfrm>
          <a:prstGeom prst="roundRect">
            <a:avLst>
              <a:gd name="adj" fmla="val 7292"/>
            </a:avLst>
          </a:prstGeom>
          <a:solidFill>
            <a:srgbClr val="F7F8F7"/>
          </a:solidFill>
          <a:ln w="5080">
            <a:solidFill>
              <a:srgbClr val="F7F8F7"/>
            </a:solidFill>
            <a:prstDash val="solid"/>
          </a:ln>
        </p:spPr>
      </p:sp>
      <p:sp>
        <p:nvSpPr>
          <p:cNvPr id="57" name="Text 55"/>
          <p:cNvSpPr/>
          <p:nvPr/>
        </p:nvSpPr>
        <p:spPr>
          <a:xfrm>
            <a:off x="6425032" y="5200323"/>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Supply chain PCF integration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Supplier specific factors</a:t>
            </a:r>
            <a:endParaRPr lang="en-US" sz="1000" dirty="0"/>
          </a:p>
        </p:txBody>
      </p:sp>
      <p:sp>
        <p:nvSpPr>
          <p:cNvPr id="58" name="Shape 56"/>
          <p:cNvSpPr/>
          <p:nvPr/>
        </p:nvSpPr>
        <p:spPr>
          <a:xfrm>
            <a:off x="6361024" y="5649686"/>
            <a:ext cx="2270684" cy="376210"/>
          </a:xfrm>
          <a:prstGeom prst="roundRect">
            <a:avLst>
              <a:gd name="adj" fmla="val 7292"/>
            </a:avLst>
          </a:prstGeom>
          <a:solidFill>
            <a:srgbClr val="F7F8F7"/>
          </a:solidFill>
          <a:ln w="5080">
            <a:solidFill>
              <a:srgbClr val="F7F8F7"/>
            </a:solidFill>
            <a:prstDash val="solid"/>
          </a:ln>
        </p:spPr>
      </p:sp>
      <p:sp>
        <p:nvSpPr>
          <p:cNvPr id="59" name="Text 57"/>
          <p:cNvSpPr/>
          <p:nvPr/>
        </p:nvSpPr>
        <p:spPr>
          <a:xfrm>
            <a:off x="6425032" y="5649686"/>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ECM library</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Energy and carbon cobenefits</a:t>
            </a:r>
            <a:endParaRPr lang="en-US" sz="1000" dirty="0"/>
          </a:p>
        </p:txBody>
      </p:sp>
      <p:sp>
        <p:nvSpPr>
          <p:cNvPr id="60" name="Shape 58"/>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61" name="Shape 59"/>
          <p:cNvSpPr/>
          <p:nvPr/>
        </p:nvSpPr>
        <p:spPr>
          <a:xfrm>
            <a:off x="9024899" y="2084832"/>
            <a:ext cx="2545004" cy="713232"/>
          </a:xfrm>
          <a:prstGeom prst="rect">
            <a:avLst/>
          </a:prstGeom>
          <a:solidFill>
            <a:srgbClr val="EAF1F5"/>
          </a:solidFill>
          <a:ln w="12700">
            <a:solidFill>
              <a:srgbClr val="EAF1F5"/>
            </a:solidFill>
            <a:prstDash val="solid"/>
          </a:ln>
        </p:spPr>
      </p:sp>
      <p:sp>
        <p:nvSpPr>
          <p:cNvPr id="62" name="Shape 60"/>
          <p:cNvSpPr/>
          <p:nvPr/>
        </p:nvSpPr>
        <p:spPr>
          <a:xfrm>
            <a:off x="9024899" y="2084832"/>
            <a:ext cx="54864" cy="4178808"/>
          </a:xfrm>
          <a:prstGeom prst="rect">
            <a:avLst/>
          </a:prstGeom>
          <a:solidFill>
            <a:srgbClr val="275B7F"/>
          </a:solidFill>
          <a:ln w="12700">
            <a:solidFill>
              <a:srgbClr val="275B7F"/>
            </a:solidFill>
            <a:prstDash val="solid"/>
          </a:ln>
        </p:spPr>
      </p:sp>
      <p:sp>
        <p:nvSpPr>
          <p:cNvPr id="63" name="Text 61"/>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64" name="Text 62"/>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65" name="Shape 63"/>
          <p:cNvSpPr/>
          <p:nvPr/>
        </p:nvSpPr>
        <p:spPr>
          <a:xfrm>
            <a:off x="9162059" y="2953512"/>
            <a:ext cx="2270684" cy="376210"/>
          </a:xfrm>
          <a:prstGeom prst="roundRect">
            <a:avLst>
              <a:gd name="adj" fmla="val 7292"/>
            </a:avLst>
          </a:prstGeom>
          <a:solidFill>
            <a:srgbClr val="F7F8F7"/>
          </a:solidFill>
          <a:ln w="5080">
            <a:solidFill>
              <a:srgbClr val="F7F8F7"/>
            </a:solidFill>
            <a:prstDash val="solid"/>
          </a:ln>
        </p:spPr>
      </p:sp>
      <p:sp>
        <p:nvSpPr>
          <p:cNvPr id="66" name="Text 64"/>
          <p:cNvSpPr/>
          <p:nvPr/>
        </p:nvSpPr>
        <p:spPr>
          <a:xfrm>
            <a:off x="9226067"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Category 15 investments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PCAF aligned financed emissions</a:t>
            </a:r>
            <a:endParaRPr lang="en-US" sz="1000" dirty="0"/>
          </a:p>
        </p:txBody>
      </p:sp>
      <p:sp>
        <p:nvSpPr>
          <p:cNvPr id="67" name="Shape 65"/>
          <p:cNvSpPr/>
          <p:nvPr/>
        </p:nvSpPr>
        <p:spPr>
          <a:xfrm>
            <a:off x="9162059" y="3402874"/>
            <a:ext cx="2270684" cy="376210"/>
          </a:xfrm>
          <a:prstGeom prst="roundRect">
            <a:avLst>
              <a:gd name="adj" fmla="val 7292"/>
            </a:avLst>
          </a:prstGeom>
          <a:solidFill>
            <a:srgbClr val="F7F8F7"/>
          </a:solidFill>
          <a:ln w="5080">
            <a:solidFill>
              <a:srgbClr val="F7F8F7"/>
            </a:solidFill>
            <a:prstDash val="solid"/>
          </a:ln>
        </p:spPr>
      </p:sp>
      <p:sp>
        <p:nvSpPr>
          <p:cNvPr id="68" name="Text 66"/>
          <p:cNvSpPr/>
          <p:nvPr/>
        </p:nvSpPr>
        <p:spPr>
          <a:xfrm>
            <a:off x="9226067" y="3402874"/>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FLAG segmentation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Specialised standards</a:t>
            </a:r>
            <a:endParaRPr lang="en-US" sz="1000" dirty="0"/>
          </a:p>
        </p:txBody>
      </p:sp>
      <p:sp>
        <p:nvSpPr>
          <p:cNvPr id="69" name="Shape 67"/>
          <p:cNvSpPr/>
          <p:nvPr/>
        </p:nvSpPr>
        <p:spPr>
          <a:xfrm>
            <a:off x="9162059" y="3852237"/>
            <a:ext cx="2270684" cy="376210"/>
          </a:xfrm>
          <a:prstGeom prst="roundRect">
            <a:avLst>
              <a:gd name="adj" fmla="val 7292"/>
            </a:avLst>
          </a:prstGeom>
          <a:solidFill>
            <a:srgbClr val="F7F8F7"/>
          </a:solidFill>
          <a:ln w="5080">
            <a:solidFill>
              <a:srgbClr val="F7F8F7"/>
            </a:solidFill>
            <a:prstDash val="solid"/>
          </a:ln>
        </p:spPr>
      </p:sp>
      <p:sp>
        <p:nvSpPr>
          <p:cNvPr id="70" name="Text 68"/>
          <p:cNvSpPr/>
          <p:nvPr/>
        </p:nvSpPr>
        <p:spPr>
          <a:xfrm>
            <a:off x="9226067" y="3852237"/>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Dedicated auditor experience</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Variance checks, reports, status</a:t>
            </a:r>
            <a:endParaRPr lang="en-US" sz="1000" dirty="0"/>
          </a:p>
        </p:txBody>
      </p:sp>
      <p:sp>
        <p:nvSpPr>
          <p:cNvPr id="71" name="Shape 69"/>
          <p:cNvSpPr/>
          <p:nvPr/>
        </p:nvSpPr>
        <p:spPr>
          <a:xfrm>
            <a:off x="621792" y="6437376"/>
            <a:ext cx="10948111" cy="0"/>
          </a:xfrm>
          <a:prstGeom prst="line">
            <a:avLst/>
          </a:prstGeom>
          <a:noFill/>
          <a:ln w="9525">
            <a:solidFill>
              <a:srgbClr val="E2E6E2"/>
            </a:solidFill>
            <a:prstDash val="solid"/>
          </a:ln>
        </p:spPr>
      </p:sp>
      <p:sp>
        <p:nvSpPr>
          <p:cNvPr id="72" name="Text 70"/>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3" name="Text 71"/>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Carbon Performance plan on a timeline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same commitments laid over 2026 and 2027 quarters, grouped by workstream.</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470616"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5484800"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6498984"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7513168"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7513168"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852735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9541535"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10555719"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Shape 19"/>
          <p:cNvSpPr/>
          <p:nvPr/>
        </p:nvSpPr>
        <p:spPr>
          <a:xfrm>
            <a:off x="3456432" y="2103120"/>
            <a:ext cx="0" cy="3794760"/>
          </a:xfrm>
          <a:prstGeom prst="line">
            <a:avLst/>
          </a:prstGeom>
          <a:noFill/>
          <a:ln w="11430">
            <a:solidFill>
              <a:srgbClr val="C8CECA"/>
            </a:solidFill>
            <a:prstDash val="solid"/>
          </a:ln>
        </p:spPr>
      </p:sp>
      <p:sp>
        <p:nvSpPr>
          <p:cNvPr id="22" name="Shape 20"/>
          <p:cNvSpPr/>
          <p:nvPr/>
        </p:nvSpPr>
        <p:spPr>
          <a:xfrm>
            <a:off x="4470616" y="2103120"/>
            <a:ext cx="0" cy="3794760"/>
          </a:xfrm>
          <a:prstGeom prst="line">
            <a:avLst/>
          </a:prstGeom>
          <a:noFill/>
          <a:ln w="4445">
            <a:solidFill>
              <a:srgbClr val="E2E6E2"/>
            </a:solidFill>
            <a:prstDash val="solid"/>
          </a:ln>
        </p:spPr>
      </p:sp>
      <p:sp>
        <p:nvSpPr>
          <p:cNvPr id="23" name="Shape 21"/>
          <p:cNvSpPr/>
          <p:nvPr/>
        </p:nvSpPr>
        <p:spPr>
          <a:xfrm>
            <a:off x="5484800" y="2103120"/>
            <a:ext cx="0" cy="3794760"/>
          </a:xfrm>
          <a:prstGeom prst="line">
            <a:avLst/>
          </a:prstGeom>
          <a:noFill/>
          <a:ln w="4445">
            <a:solidFill>
              <a:srgbClr val="E2E6E2"/>
            </a:solidFill>
            <a:prstDash val="solid"/>
          </a:ln>
        </p:spPr>
      </p:sp>
      <p:sp>
        <p:nvSpPr>
          <p:cNvPr id="24" name="Shape 22"/>
          <p:cNvSpPr/>
          <p:nvPr/>
        </p:nvSpPr>
        <p:spPr>
          <a:xfrm>
            <a:off x="6498984" y="2103120"/>
            <a:ext cx="0" cy="3794760"/>
          </a:xfrm>
          <a:prstGeom prst="line">
            <a:avLst/>
          </a:prstGeom>
          <a:noFill/>
          <a:ln w="4445">
            <a:solidFill>
              <a:srgbClr val="E2E6E2"/>
            </a:solidFill>
            <a:prstDash val="solid"/>
          </a:ln>
        </p:spPr>
      </p:sp>
      <p:sp>
        <p:nvSpPr>
          <p:cNvPr id="25" name="Shape 23"/>
          <p:cNvSpPr/>
          <p:nvPr/>
        </p:nvSpPr>
        <p:spPr>
          <a:xfrm>
            <a:off x="7513168" y="2103120"/>
            <a:ext cx="0" cy="3794760"/>
          </a:xfrm>
          <a:prstGeom prst="line">
            <a:avLst/>
          </a:prstGeom>
          <a:noFill/>
          <a:ln w="11430">
            <a:solidFill>
              <a:srgbClr val="C8CECA"/>
            </a:solidFill>
            <a:prstDash val="solid"/>
          </a:ln>
        </p:spPr>
      </p:sp>
      <p:sp>
        <p:nvSpPr>
          <p:cNvPr id="26" name="Shape 24"/>
          <p:cNvSpPr/>
          <p:nvPr/>
        </p:nvSpPr>
        <p:spPr>
          <a:xfrm>
            <a:off x="8527352" y="2103120"/>
            <a:ext cx="0" cy="3794760"/>
          </a:xfrm>
          <a:prstGeom prst="line">
            <a:avLst/>
          </a:prstGeom>
          <a:noFill/>
          <a:ln w="4445">
            <a:solidFill>
              <a:srgbClr val="E2E6E2"/>
            </a:solidFill>
            <a:prstDash val="solid"/>
          </a:ln>
        </p:spPr>
      </p:sp>
      <p:sp>
        <p:nvSpPr>
          <p:cNvPr id="27" name="Shape 25"/>
          <p:cNvSpPr/>
          <p:nvPr/>
        </p:nvSpPr>
        <p:spPr>
          <a:xfrm>
            <a:off x="9541535" y="2103120"/>
            <a:ext cx="0" cy="3794760"/>
          </a:xfrm>
          <a:prstGeom prst="line">
            <a:avLst/>
          </a:prstGeom>
          <a:noFill/>
          <a:ln w="4445">
            <a:solidFill>
              <a:srgbClr val="E2E6E2"/>
            </a:solidFill>
            <a:prstDash val="solid"/>
          </a:ln>
        </p:spPr>
      </p:sp>
      <p:sp>
        <p:nvSpPr>
          <p:cNvPr id="28" name="Shape 26"/>
          <p:cNvSpPr/>
          <p:nvPr/>
        </p:nvSpPr>
        <p:spPr>
          <a:xfrm>
            <a:off x="10555719" y="2103120"/>
            <a:ext cx="0" cy="3794760"/>
          </a:xfrm>
          <a:prstGeom prst="line">
            <a:avLst/>
          </a:prstGeom>
          <a:noFill/>
          <a:ln w="4445">
            <a:solidFill>
              <a:srgbClr val="E2E6E2"/>
            </a:solidFill>
            <a:prstDash val="solid"/>
          </a:ln>
        </p:spPr>
      </p:sp>
      <p:sp>
        <p:nvSpPr>
          <p:cNvPr id="29" name="Shape 27"/>
          <p:cNvSpPr/>
          <p:nvPr/>
        </p:nvSpPr>
        <p:spPr>
          <a:xfrm>
            <a:off x="11569903" y="2103120"/>
            <a:ext cx="0" cy="3794760"/>
          </a:xfrm>
          <a:prstGeom prst="line">
            <a:avLst/>
          </a:prstGeom>
          <a:noFill/>
          <a:ln w="11430">
            <a:solidFill>
              <a:srgbClr val="C8CECA"/>
            </a:solidFill>
            <a:prstDash val="solid"/>
          </a:ln>
        </p:spPr>
      </p:sp>
      <p:sp>
        <p:nvSpPr>
          <p:cNvPr id="30" name="Shape 28"/>
          <p:cNvSpPr/>
          <p:nvPr/>
        </p:nvSpPr>
        <p:spPr>
          <a:xfrm>
            <a:off x="621792" y="2331720"/>
            <a:ext cx="411480" cy="509451"/>
          </a:xfrm>
          <a:prstGeom prst="rect">
            <a:avLst/>
          </a:prstGeom>
          <a:solidFill>
            <a:srgbClr val="3DCD58"/>
          </a:solidFill>
          <a:ln w="7620">
            <a:solidFill>
              <a:srgbClr val="FFFFFF"/>
            </a:solidFill>
            <a:prstDash val="solid"/>
          </a:ln>
        </p:spPr>
      </p:sp>
      <p:sp>
        <p:nvSpPr>
          <p:cNvPr id="31" name="Text 29"/>
          <p:cNvSpPr/>
          <p:nvPr/>
        </p:nvSpPr>
        <p:spPr>
          <a:xfrm>
            <a:off x="685800" y="2377440"/>
            <a:ext cx="283464" cy="418011"/>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SCOPE 1 &amp; 2</a:t>
            </a:r>
            <a:endParaRPr lang="en-US" sz="750" dirty="0"/>
          </a:p>
        </p:txBody>
      </p:sp>
      <p:sp>
        <p:nvSpPr>
          <p:cNvPr id="32" name="Shape 30"/>
          <p:cNvSpPr/>
          <p:nvPr/>
        </p:nvSpPr>
        <p:spPr>
          <a:xfrm>
            <a:off x="1033272" y="2501537"/>
            <a:ext cx="10536631" cy="0"/>
          </a:xfrm>
          <a:prstGeom prst="line">
            <a:avLst/>
          </a:prstGeom>
          <a:noFill/>
          <a:ln w="4445">
            <a:solidFill>
              <a:srgbClr val="E2E6E2"/>
            </a:solidFill>
            <a:prstDash val="solid"/>
          </a:ln>
        </p:spPr>
      </p:sp>
      <p:sp>
        <p:nvSpPr>
          <p:cNvPr id="33" name="Shape 31"/>
          <p:cNvSpPr/>
          <p:nvPr/>
        </p:nvSpPr>
        <p:spPr>
          <a:xfrm>
            <a:off x="1143000" y="2306901"/>
            <a:ext cx="45720" cy="219456"/>
          </a:xfrm>
          <a:prstGeom prst="roundRect">
            <a:avLst>
              <a:gd name="adj" fmla="val 60000"/>
            </a:avLst>
          </a:prstGeom>
          <a:solidFill>
            <a:srgbClr val="3DCD58"/>
          </a:solidFill>
          <a:ln w="12700">
            <a:solidFill>
              <a:srgbClr val="3DCD58"/>
            </a:solidFill>
            <a:prstDash val="solid"/>
          </a:ln>
        </p:spPr>
      </p:sp>
      <p:sp>
        <p:nvSpPr>
          <p:cNvPr id="34" name="Text 32"/>
          <p:cNvSpPr/>
          <p:nvPr/>
        </p:nvSpPr>
        <p:spPr>
          <a:xfrm>
            <a:off x="1243584" y="2270325"/>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EAC and PPA management</a:t>
            </a:r>
            <a:endParaRPr lang="en-US" sz="669" dirty="0"/>
          </a:p>
        </p:txBody>
      </p:sp>
      <p:sp>
        <p:nvSpPr>
          <p:cNvPr id="35" name="Shape 33"/>
          <p:cNvSpPr/>
          <p:nvPr/>
        </p:nvSpPr>
        <p:spPr>
          <a:xfrm>
            <a:off x="6498984" y="2387760"/>
            <a:ext cx="1014184" cy="57738"/>
          </a:xfrm>
          <a:prstGeom prst="roundRect">
            <a:avLst>
              <a:gd name="adj" fmla="val 63348"/>
            </a:avLst>
          </a:prstGeom>
          <a:solidFill>
            <a:srgbClr val="3DCD58"/>
          </a:solidFill>
          <a:ln w="12700">
            <a:solidFill>
              <a:srgbClr val="3DCD58"/>
            </a:solidFill>
            <a:prstDash val="solid"/>
          </a:ln>
        </p:spPr>
      </p:sp>
      <p:sp>
        <p:nvSpPr>
          <p:cNvPr id="36" name="Shape 34"/>
          <p:cNvSpPr/>
          <p:nvPr/>
        </p:nvSpPr>
        <p:spPr>
          <a:xfrm>
            <a:off x="1033272" y="2671354"/>
            <a:ext cx="10536631" cy="0"/>
          </a:xfrm>
          <a:prstGeom prst="line">
            <a:avLst/>
          </a:prstGeom>
          <a:noFill/>
          <a:ln w="4445">
            <a:solidFill>
              <a:srgbClr val="E2E6E2"/>
            </a:solidFill>
            <a:prstDash val="solid"/>
          </a:ln>
        </p:spPr>
      </p:sp>
      <p:sp>
        <p:nvSpPr>
          <p:cNvPr id="37" name="Shape 35"/>
          <p:cNvSpPr/>
          <p:nvPr/>
        </p:nvSpPr>
        <p:spPr>
          <a:xfrm>
            <a:off x="1143000" y="2476718"/>
            <a:ext cx="45720" cy="219456"/>
          </a:xfrm>
          <a:prstGeom prst="roundRect">
            <a:avLst>
              <a:gd name="adj" fmla="val 60000"/>
            </a:avLst>
          </a:prstGeom>
          <a:solidFill>
            <a:srgbClr val="3DCD58"/>
          </a:solidFill>
          <a:ln w="12700">
            <a:solidFill>
              <a:srgbClr val="3DCD58"/>
            </a:solidFill>
            <a:prstDash val="solid"/>
          </a:ln>
        </p:spPr>
      </p:sp>
      <p:sp>
        <p:nvSpPr>
          <p:cNvPr id="38" name="Text 36"/>
          <p:cNvSpPr/>
          <p:nvPr/>
        </p:nvSpPr>
        <p:spPr>
          <a:xfrm>
            <a:off x="1243584" y="2440142"/>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Thermal source attribution</a:t>
            </a:r>
            <a:endParaRPr lang="en-US" sz="669" dirty="0"/>
          </a:p>
        </p:txBody>
      </p:sp>
      <p:sp>
        <p:nvSpPr>
          <p:cNvPr id="39" name="Shape 37"/>
          <p:cNvSpPr/>
          <p:nvPr/>
        </p:nvSpPr>
        <p:spPr>
          <a:xfrm>
            <a:off x="6498984" y="2557577"/>
            <a:ext cx="1014184" cy="57738"/>
          </a:xfrm>
          <a:prstGeom prst="roundRect">
            <a:avLst>
              <a:gd name="adj" fmla="val 63348"/>
            </a:avLst>
          </a:prstGeom>
          <a:solidFill>
            <a:srgbClr val="3DCD58"/>
          </a:solidFill>
          <a:ln w="12700">
            <a:solidFill>
              <a:srgbClr val="3DCD58"/>
            </a:solidFill>
            <a:prstDash val="solid"/>
          </a:ln>
        </p:spPr>
      </p:sp>
      <p:sp>
        <p:nvSpPr>
          <p:cNvPr id="40" name="Shape 38"/>
          <p:cNvSpPr/>
          <p:nvPr/>
        </p:nvSpPr>
        <p:spPr>
          <a:xfrm>
            <a:off x="1033272" y="2841171"/>
            <a:ext cx="10536631" cy="0"/>
          </a:xfrm>
          <a:prstGeom prst="line">
            <a:avLst/>
          </a:prstGeom>
          <a:noFill/>
          <a:ln w="4445">
            <a:solidFill>
              <a:srgbClr val="E2E6E2"/>
            </a:solidFill>
            <a:prstDash val="solid"/>
          </a:ln>
        </p:spPr>
      </p:sp>
      <p:sp>
        <p:nvSpPr>
          <p:cNvPr id="41" name="Shape 39"/>
          <p:cNvSpPr/>
          <p:nvPr/>
        </p:nvSpPr>
        <p:spPr>
          <a:xfrm>
            <a:off x="1143000" y="2646535"/>
            <a:ext cx="45720" cy="219456"/>
          </a:xfrm>
          <a:prstGeom prst="roundRect">
            <a:avLst>
              <a:gd name="adj" fmla="val 60000"/>
            </a:avLst>
          </a:prstGeom>
          <a:solidFill>
            <a:srgbClr val="3DCD58"/>
          </a:solidFill>
          <a:ln w="12700">
            <a:solidFill>
              <a:srgbClr val="3DCD58"/>
            </a:solidFill>
            <a:prstDash val="solid"/>
          </a:ln>
        </p:spPr>
      </p:sp>
      <p:sp>
        <p:nvSpPr>
          <p:cNvPr id="42" name="Text 40"/>
          <p:cNvSpPr/>
          <p:nvPr/>
        </p:nvSpPr>
        <p:spPr>
          <a:xfrm>
            <a:off x="1243584" y="2609959"/>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Refrigerant leakage to usage</a:t>
            </a:r>
            <a:endParaRPr lang="en-US" sz="669" dirty="0"/>
          </a:p>
        </p:txBody>
      </p:sp>
      <p:sp>
        <p:nvSpPr>
          <p:cNvPr id="43" name="Shape 41"/>
          <p:cNvSpPr/>
          <p:nvPr/>
        </p:nvSpPr>
        <p:spPr>
          <a:xfrm>
            <a:off x="6498984" y="2727394"/>
            <a:ext cx="1014184" cy="57738"/>
          </a:xfrm>
          <a:prstGeom prst="roundRect">
            <a:avLst>
              <a:gd name="adj" fmla="val 63348"/>
            </a:avLst>
          </a:prstGeom>
          <a:solidFill>
            <a:srgbClr val="3DCD58"/>
          </a:solidFill>
          <a:ln w="12700">
            <a:solidFill>
              <a:srgbClr val="3DCD58"/>
            </a:solidFill>
            <a:prstDash val="solid"/>
          </a:ln>
        </p:spPr>
      </p:sp>
      <p:sp>
        <p:nvSpPr>
          <p:cNvPr id="44" name="Shape 42"/>
          <p:cNvSpPr/>
          <p:nvPr/>
        </p:nvSpPr>
        <p:spPr>
          <a:xfrm>
            <a:off x="621792" y="2841171"/>
            <a:ext cx="411480" cy="1018903"/>
          </a:xfrm>
          <a:prstGeom prst="rect">
            <a:avLst/>
          </a:prstGeom>
          <a:solidFill>
            <a:srgbClr val="007A27"/>
          </a:solidFill>
          <a:ln w="7620">
            <a:solidFill>
              <a:srgbClr val="FFFFFF"/>
            </a:solidFill>
            <a:prstDash val="solid"/>
          </a:ln>
        </p:spPr>
      </p:sp>
      <p:sp>
        <p:nvSpPr>
          <p:cNvPr id="45" name="Text 43"/>
          <p:cNvSpPr/>
          <p:nvPr/>
        </p:nvSpPr>
        <p:spPr>
          <a:xfrm>
            <a:off x="685800" y="2886891"/>
            <a:ext cx="283464" cy="927463"/>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SCOPE 3</a:t>
            </a:r>
            <a:endParaRPr lang="en-US" sz="750" dirty="0"/>
          </a:p>
        </p:txBody>
      </p:sp>
      <p:sp>
        <p:nvSpPr>
          <p:cNvPr id="46" name="Shape 44"/>
          <p:cNvSpPr/>
          <p:nvPr/>
        </p:nvSpPr>
        <p:spPr>
          <a:xfrm>
            <a:off x="1033272" y="3010989"/>
            <a:ext cx="10536631" cy="0"/>
          </a:xfrm>
          <a:prstGeom prst="line">
            <a:avLst/>
          </a:prstGeom>
          <a:noFill/>
          <a:ln w="4445">
            <a:solidFill>
              <a:srgbClr val="E2E6E2"/>
            </a:solidFill>
            <a:prstDash val="solid"/>
          </a:ln>
        </p:spPr>
      </p:sp>
      <p:sp>
        <p:nvSpPr>
          <p:cNvPr id="47" name="Shape 45"/>
          <p:cNvSpPr/>
          <p:nvPr/>
        </p:nvSpPr>
        <p:spPr>
          <a:xfrm>
            <a:off x="1143000" y="2816352"/>
            <a:ext cx="45720" cy="219456"/>
          </a:xfrm>
          <a:prstGeom prst="roundRect">
            <a:avLst>
              <a:gd name="adj" fmla="val 60000"/>
            </a:avLst>
          </a:prstGeom>
          <a:solidFill>
            <a:srgbClr val="007A27"/>
          </a:solidFill>
          <a:ln w="12700">
            <a:solidFill>
              <a:srgbClr val="007A27"/>
            </a:solidFill>
            <a:prstDash val="solid"/>
          </a:ln>
        </p:spPr>
      </p:sp>
      <p:sp>
        <p:nvSpPr>
          <p:cNvPr id="48" name="Text 46"/>
          <p:cNvSpPr/>
          <p:nvPr/>
        </p:nvSpPr>
        <p:spPr>
          <a:xfrm>
            <a:off x="1243584" y="2779776"/>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Sold product emissions, cat 10, 11, 12</a:t>
            </a:r>
            <a:endParaRPr lang="en-US" sz="669" dirty="0"/>
          </a:p>
        </p:txBody>
      </p:sp>
      <p:sp>
        <p:nvSpPr>
          <p:cNvPr id="49" name="Shape 47"/>
          <p:cNvSpPr/>
          <p:nvPr/>
        </p:nvSpPr>
        <p:spPr>
          <a:xfrm>
            <a:off x="5484800" y="2897211"/>
            <a:ext cx="1014184" cy="57738"/>
          </a:xfrm>
          <a:prstGeom prst="roundRect">
            <a:avLst>
              <a:gd name="adj" fmla="val 63348"/>
            </a:avLst>
          </a:prstGeom>
          <a:solidFill>
            <a:srgbClr val="007A27"/>
          </a:solidFill>
          <a:ln w="12700">
            <a:solidFill>
              <a:srgbClr val="007A27"/>
            </a:solidFill>
            <a:prstDash val="solid"/>
          </a:ln>
        </p:spPr>
      </p:sp>
      <p:sp>
        <p:nvSpPr>
          <p:cNvPr id="50" name="Shape 48"/>
          <p:cNvSpPr/>
          <p:nvPr/>
        </p:nvSpPr>
        <p:spPr>
          <a:xfrm>
            <a:off x="1033272" y="3180806"/>
            <a:ext cx="10536631" cy="0"/>
          </a:xfrm>
          <a:prstGeom prst="line">
            <a:avLst/>
          </a:prstGeom>
          <a:noFill/>
          <a:ln w="4445">
            <a:solidFill>
              <a:srgbClr val="E2E6E2"/>
            </a:solidFill>
            <a:prstDash val="solid"/>
          </a:ln>
        </p:spPr>
      </p:sp>
      <p:sp>
        <p:nvSpPr>
          <p:cNvPr id="51" name="Shape 49"/>
          <p:cNvSpPr/>
          <p:nvPr/>
        </p:nvSpPr>
        <p:spPr>
          <a:xfrm>
            <a:off x="1143000" y="2986169"/>
            <a:ext cx="45720" cy="219456"/>
          </a:xfrm>
          <a:prstGeom prst="roundRect">
            <a:avLst>
              <a:gd name="adj" fmla="val 60000"/>
            </a:avLst>
          </a:prstGeom>
          <a:solidFill>
            <a:srgbClr val="007A27"/>
          </a:solidFill>
          <a:ln w="12700">
            <a:solidFill>
              <a:srgbClr val="007A27"/>
            </a:solidFill>
            <a:prstDash val="solid"/>
          </a:ln>
        </p:spPr>
      </p:sp>
      <p:sp>
        <p:nvSpPr>
          <p:cNvPr id="52" name="Text 50"/>
          <p:cNvSpPr/>
          <p:nvPr/>
        </p:nvSpPr>
        <p:spPr>
          <a:xfrm>
            <a:off x="1243584" y="2949593"/>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Employee commuting and WFH, cat 7</a:t>
            </a:r>
            <a:endParaRPr lang="en-US" sz="669" dirty="0"/>
          </a:p>
        </p:txBody>
      </p:sp>
      <p:sp>
        <p:nvSpPr>
          <p:cNvPr id="53" name="Shape 51"/>
          <p:cNvSpPr/>
          <p:nvPr/>
        </p:nvSpPr>
        <p:spPr>
          <a:xfrm>
            <a:off x="6498984" y="3067028"/>
            <a:ext cx="1014184" cy="57738"/>
          </a:xfrm>
          <a:prstGeom prst="roundRect">
            <a:avLst>
              <a:gd name="adj" fmla="val 63348"/>
            </a:avLst>
          </a:prstGeom>
          <a:solidFill>
            <a:srgbClr val="007A27"/>
          </a:solidFill>
          <a:ln w="12700">
            <a:solidFill>
              <a:srgbClr val="007A27"/>
            </a:solidFill>
            <a:prstDash val="solid"/>
          </a:ln>
        </p:spPr>
      </p:sp>
      <p:sp>
        <p:nvSpPr>
          <p:cNvPr id="54" name="Shape 52"/>
          <p:cNvSpPr/>
          <p:nvPr/>
        </p:nvSpPr>
        <p:spPr>
          <a:xfrm>
            <a:off x="1033272" y="3350623"/>
            <a:ext cx="10536631" cy="0"/>
          </a:xfrm>
          <a:prstGeom prst="line">
            <a:avLst/>
          </a:prstGeom>
          <a:noFill/>
          <a:ln w="4445">
            <a:solidFill>
              <a:srgbClr val="E2E6E2"/>
            </a:solidFill>
            <a:prstDash val="solid"/>
          </a:ln>
        </p:spPr>
      </p:sp>
      <p:sp>
        <p:nvSpPr>
          <p:cNvPr id="55" name="Shape 53"/>
          <p:cNvSpPr/>
          <p:nvPr/>
        </p:nvSpPr>
        <p:spPr>
          <a:xfrm>
            <a:off x="1143000" y="3155986"/>
            <a:ext cx="45720" cy="219456"/>
          </a:xfrm>
          <a:prstGeom prst="roundRect">
            <a:avLst>
              <a:gd name="adj" fmla="val 60000"/>
            </a:avLst>
          </a:prstGeom>
          <a:solidFill>
            <a:srgbClr val="007A27"/>
          </a:solidFill>
          <a:ln w="12700">
            <a:solidFill>
              <a:srgbClr val="007A27"/>
            </a:solidFill>
            <a:prstDash val="solid"/>
          </a:ln>
        </p:spPr>
      </p:sp>
      <p:sp>
        <p:nvSpPr>
          <p:cNvPr id="56" name="Text 54"/>
          <p:cNvSpPr/>
          <p:nvPr/>
        </p:nvSpPr>
        <p:spPr>
          <a:xfrm>
            <a:off x="1243584" y="3119410"/>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Q1: Category 4 and 9 product linked transport</a:t>
            </a:r>
            <a:endParaRPr lang="en-US" sz="669" dirty="0"/>
          </a:p>
        </p:txBody>
      </p:sp>
      <p:sp>
        <p:nvSpPr>
          <p:cNvPr id="57" name="Shape 55"/>
          <p:cNvSpPr/>
          <p:nvPr/>
        </p:nvSpPr>
        <p:spPr>
          <a:xfrm>
            <a:off x="7513168" y="3236845"/>
            <a:ext cx="1014184" cy="57738"/>
          </a:xfrm>
          <a:prstGeom prst="roundRect">
            <a:avLst>
              <a:gd name="adj" fmla="val 63348"/>
            </a:avLst>
          </a:prstGeom>
          <a:solidFill>
            <a:srgbClr val="007A27"/>
          </a:solidFill>
          <a:ln w="12700">
            <a:solidFill>
              <a:srgbClr val="007A27"/>
            </a:solidFill>
            <a:prstDash val="solid"/>
          </a:ln>
        </p:spPr>
      </p:sp>
      <p:sp>
        <p:nvSpPr>
          <p:cNvPr id="58" name="Shape 56"/>
          <p:cNvSpPr/>
          <p:nvPr/>
        </p:nvSpPr>
        <p:spPr>
          <a:xfrm>
            <a:off x="1033272" y="3520440"/>
            <a:ext cx="10536631" cy="0"/>
          </a:xfrm>
          <a:prstGeom prst="line">
            <a:avLst/>
          </a:prstGeom>
          <a:noFill/>
          <a:ln w="4445">
            <a:solidFill>
              <a:srgbClr val="E2E6E2"/>
            </a:solidFill>
            <a:prstDash val="solid"/>
          </a:ln>
        </p:spPr>
      </p:sp>
      <p:sp>
        <p:nvSpPr>
          <p:cNvPr id="59" name="Shape 57"/>
          <p:cNvSpPr/>
          <p:nvPr/>
        </p:nvSpPr>
        <p:spPr>
          <a:xfrm>
            <a:off x="1143000" y="3325803"/>
            <a:ext cx="45720" cy="219456"/>
          </a:xfrm>
          <a:prstGeom prst="roundRect">
            <a:avLst>
              <a:gd name="adj" fmla="val 60000"/>
            </a:avLst>
          </a:prstGeom>
          <a:solidFill>
            <a:srgbClr val="007A27"/>
          </a:solidFill>
          <a:ln w="12700">
            <a:solidFill>
              <a:srgbClr val="007A27"/>
            </a:solidFill>
            <a:prstDash val="solid"/>
          </a:ln>
        </p:spPr>
      </p:sp>
      <p:sp>
        <p:nvSpPr>
          <p:cNvPr id="60" name="Text 58"/>
          <p:cNvSpPr/>
          <p:nvPr/>
        </p:nvSpPr>
        <p:spPr>
          <a:xfrm>
            <a:off x="1243584" y="3289227"/>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Waste emission estimation, cat 5</a:t>
            </a:r>
            <a:endParaRPr lang="en-US" sz="669" dirty="0"/>
          </a:p>
        </p:txBody>
      </p:sp>
      <p:sp>
        <p:nvSpPr>
          <p:cNvPr id="61" name="Shape 59"/>
          <p:cNvSpPr/>
          <p:nvPr/>
        </p:nvSpPr>
        <p:spPr>
          <a:xfrm>
            <a:off x="7513168" y="3406663"/>
            <a:ext cx="2028368" cy="57738"/>
          </a:xfrm>
          <a:prstGeom prst="roundRect">
            <a:avLst>
              <a:gd name="adj" fmla="val 63348"/>
            </a:avLst>
          </a:prstGeom>
          <a:solidFill>
            <a:srgbClr val="007A27"/>
          </a:solidFill>
          <a:ln w="12700">
            <a:solidFill>
              <a:srgbClr val="007A27"/>
            </a:solidFill>
            <a:prstDash val="solid"/>
          </a:ln>
        </p:spPr>
      </p:sp>
      <p:sp>
        <p:nvSpPr>
          <p:cNvPr id="62" name="Shape 60"/>
          <p:cNvSpPr/>
          <p:nvPr/>
        </p:nvSpPr>
        <p:spPr>
          <a:xfrm>
            <a:off x="1033272" y="3690257"/>
            <a:ext cx="10536631" cy="0"/>
          </a:xfrm>
          <a:prstGeom prst="line">
            <a:avLst/>
          </a:prstGeom>
          <a:noFill/>
          <a:ln w="4445">
            <a:solidFill>
              <a:srgbClr val="E2E6E2"/>
            </a:solidFill>
            <a:prstDash val="solid"/>
          </a:ln>
        </p:spPr>
      </p:sp>
      <p:sp>
        <p:nvSpPr>
          <p:cNvPr id="63" name="Shape 61"/>
          <p:cNvSpPr/>
          <p:nvPr/>
        </p:nvSpPr>
        <p:spPr>
          <a:xfrm>
            <a:off x="1143000" y="3495621"/>
            <a:ext cx="45720" cy="219456"/>
          </a:xfrm>
          <a:prstGeom prst="roundRect">
            <a:avLst>
              <a:gd name="adj" fmla="val 60000"/>
            </a:avLst>
          </a:prstGeom>
          <a:solidFill>
            <a:srgbClr val="007A27"/>
          </a:solidFill>
          <a:ln w="12700">
            <a:solidFill>
              <a:srgbClr val="007A27"/>
            </a:solidFill>
            <a:prstDash val="solid"/>
          </a:ln>
        </p:spPr>
      </p:sp>
      <p:sp>
        <p:nvSpPr>
          <p:cNvPr id="64" name="Text 62"/>
          <p:cNvSpPr/>
          <p:nvPr/>
        </p:nvSpPr>
        <p:spPr>
          <a:xfrm>
            <a:off x="1243584" y="3459045"/>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Category 15 investments</a:t>
            </a:r>
            <a:endParaRPr lang="en-US" sz="669" dirty="0"/>
          </a:p>
        </p:txBody>
      </p:sp>
      <p:sp>
        <p:nvSpPr>
          <p:cNvPr id="65" name="Shape 63"/>
          <p:cNvSpPr/>
          <p:nvPr/>
        </p:nvSpPr>
        <p:spPr>
          <a:xfrm>
            <a:off x="9541535" y="3576480"/>
            <a:ext cx="2028368" cy="57738"/>
          </a:xfrm>
          <a:prstGeom prst="roundRect">
            <a:avLst>
              <a:gd name="adj" fmla="val 63348"/>
            </a:avLst>
          </a:prstGeom>
          <a:solidFill>
            <a:srgbClr val="007A27"/>
          </a:solidFill>
          <a:ln w="12700">
            <a:solidFill>
              <a:srgbClr val="007A27"/>
            </a:solidFill>
            <a:prstDash val="solid"/>
          </a:ln>
        </p:spPr>
      </p:sp>
      <p:sp>
        <p:nvSpPr>
          <p:cNvPr id="66" name="Shape 64"/>
          <p:cNvSpPr/>
          <p:nvPr/>
        </p:nvSpPr>
        <p:spPr>
          <a:xfrm>
            <a:off x="1033272" y="3860074"/>
            <a:ext cx="10536631" cy="0"/>
          </a:xfrm>
          <a:prstGeom prst="line">
            <a:avLst/>
          </a:prstGeom>
          <a:noFill/>
          <a:ln w="4445">
            <a:solidFill>
              <a:srgbClr val="E2E6E2"/>
            </a:solidFill>
            <a:prstDash val="solid"/>
          </a:ln>
        </p:spPr>
      </p:sp>
      <p:sp>
        <p:nvSpPr>
          <p:cNvPr id="67" name="Shape 65"/>
          <p:cNvSpPr/>
          <p:nvPr/>
        </p:nvSpPr>
        <p:spPr>
          <a:xfrm>
            <a:off x="1143000" y="3665438"/>
            <a:ext cx="45720" cy="219456"/>
          </a:xfrm>
          <a:prstGeom prst="roundRect">
            <a:avLst>
              <a:gd name="adj" fmla="val 60000"/>
            </a:avLst>
          </a:prstGeom>
          <a:solidFill>
            <a:srgbClr val="007A27"/>
          </a:solidFill>
          <a:ln w="12700">
            <a:solidFill>
              <a:srgbClr val="007A27"/>
            </a:solidFill>
            <a:prstDash val="solid"/>
          </a:ln>
        </p:spPr>
      </p:sp>
      <p:sp>
        <p:nvSpPr>
          <p:cNvPr id="68" name="Text 66"/>
          <p:cNvSpPr/>
          <p:nvPr/>
        </p:nvSpPr>
        <p:spPr>
          <a:xfrm>
            <a:off x="1243584" y="3628862"/>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FLAG segmentation</a:t>
            </a:r>
            <a:endParaRPr lang="en-US" sz="669" dirty="0"/>
          </a:p>
        </p:txBody>
      </p:sp>
      <p:sp>
        <p:nvSpPr>
          <p:cNvPr id="69" name="Shape 67"/>
          <p:cNvSpPr/>
          <p:nvPr/>
        </p:nvSpPr>
        <p:spPr>
          <a:xfrm>
            <a:off x="9541535" y="3746297"/>
            <a:ext cx="2028368" cy="57738"/>
          </a:xfrm>
          <a:prstGeom prst="roundRect">
            <a:avLst>
              <a:gd name="adj" fmla="val 63348"/>
            </a:avLst>
          </a:prstGeom>
          <a:solidFill>
            <a:srgbClr val="007A27"/>
          </a:solidFill>
          <a:ln w="12700">
            <a:solidFill>
              <a:srgbClr val="007A27"/>
            </a:solidFill>
            <a:prstDash val="solid"/>
          </a:ln>
        </p:spPr>
      </p:sp>
      <p:sp>
        <p:nvSpPr>
          <p:cNvPr id="70" name="Shape 68"/>
          <p:cNvSpPr/>
          <p:nvPr/>
        </p:nvSpPr>
        <p:spPr>
          <a:xfrm>
            <a:off x="621792" y="3860074"/>
            <a:ext cx="411480" cy="1188720"/>
          </a:xfrm>
          <a:prstGeom prst="rect">
            <a:avLst/>
          </a:prstGeom>
          <a:solidFill>
            <a:srgbClr val="FFB04C"/>
          </a:solidFill>
          <a:ln w="7620">
            <a:solidFill>
              <a:srgbClr val="FFFFFF"/>
            </a:solidFill>
            <a:prstDash val="solid"/>
          </a:ln>
        </p:spPr>
      </p:sp>
      <p:sp>
        <p:nvSpPr>
          <p:cNvPr id="71" name="Text 69"/>
          <p:cNvSpPr/>
          <p:nvPr/>
        </p:nvSpPr>
        <p:spPr>
          <a:xfrm>
            <a:off x="685800" y="3905794"/>
            <a:ext cx="283464" cy="109728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INVENTORY</a:t>
            </a:r>
            <a:endParaRPr lang="en-US" sz="750" dirty="0"/>
          </a:p>
        </p:txBody>
      </p:sp>
      <p:sp>
        <p:nvSpPr>
          <p:cNvPr id="72" name="Shape 70"/>
          <p:cNvSpPr/>
          <p:nvPr/>
        </p:nvSpPr>
        <p:spPr>
          <a:xfrm>
            <a:off x="1033272" y="4029891"/>
            <a:ext cx="10536631" cy="0"/>
          </a:xfrm>
          <a:prstGeom prst="line">
            <a:avLst/>
          </a:prstGeom>
          <a:noFill/>
          <a:ln w="4445">
            <a:solidFill>
              <a:srgbClr val="E2E6E2"/>
            </a:solidFill>
            <a:prstDash val="solid"/>
          </a:ln>
        </p:spPr>
      </p:sp>
      <p:sp>
        <p:nvSpPr>
          <p:cNvPr id="73" name="Shape 71"/>
          <p:cNvSpPr/>
          <p:nvPr/>
        </p:nvSpPr>
        <p:spPr>
          <a:xfrm>
            <a:off x="1143000" y="3835255"/>
            <a:ext cx="45720" cy="219456"/>
          </a:xfrm>
          <a:prstGeom prst="roundRect">
            <a:avLst>
              <a:gd name="adj" fmla="val 60000"/>
            </a:avLst>
          </a:prstGeom>
          <a:solidFill>
            <a:srgbClr val="FFB04C"/>
          </a:solidFill>
          <a:ln w="12700">
            <a:solidFill>
              <a:srgbClr val="FFB04C"/>
            </a:solidFill>
            <a:prstDash val="solid"/>
          </a:ln>
        </p:spPr>
      </p:sp>
      <p:sp>
        <p:nvSpPr>
          <p:cNvPr id="74" name="Text 72"/>
          <p:cNvSpPr/>
          <p:nvPr/>
        </p:nvSpPr>
        <p:spPr>
          <a:xfrm>
            <a:off x="1243584" y="3798679"/>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System admin improvements</a:t>
            </a:r>
            <a:endParaRPr lang="en-US" sz="669" dirty="0"/>
          </a:p>
        </p:txBody>
      </p:sp>
      <p:sp>
        <p:nvSpPr>
          <p:cNvPr id="75" name="Shape 73"/>
          <p:cNvSpPr/>
          <p:nvPr/>
        </p:nvSpPr>
        <p:spPr>
          <a:xfrm>
            <a:off x="5484800" y="3916114"/>
            <a:ext cx="1014184" cy="57738"/>
          </a:xfrm>
          <a:prstGeom prst="roundRect">
            <a:avLst>
              <a:gd name="adj" fmla="val 63348"/>
            </a:avLst>
          </a:prstGeom>
          <a:solidFill>
            <a:srgbClr val="FFB04C"/>
          </a:solidFill>
          <a:ln w="12700">
            <a:solidFill>
              <a:srgbClr val="FFB04C"/>
            </a:solidFill>
            <a:prstDash val="solid"/>
          </a:ln>
        </p:spPr>
      </p:sp>
      <p:sp>
        <p:nvSpPr>
          <p:cNvPr id="76" name="Shape 74"/>
          <p:cNvSpPr/>
          <p:nvPr/>
        </p:nvSpPr>
        <p:spPr>
          <a:xfrm>
            <a:off x="1033272" y="4199709"/>
            <a:ext cx="10536631" cy="0"/>
          </a:xfrm>
          <a:prstGeom prst="line">
            <a:avLst/>
          </a:prstGeom>
          <a:noFill/>
          <a:ln w="4445">
            <a:solidFill>
              <a:srgbClr val="E2E6E2"/>
            </a:solidFill>
            <a:prstDash val="solid"/>
          </a:ln>
        </p:spPr>
      </p:sp>
      <p:sp>
        <p:nvSpPr>
          <p:cNvPr id="77" name="Shape 75"/>
          <p:cNvSpPr/>
          <p:nvPr/>
        </p:nvSpPr>
        <p:spPr>
          <a:xfrm>
            <a:off x="1143000" y="4005072"/>
            <a:ext cx="45720" cy="219456"/>
          </a:xfrm>
          <a:prstGeom prst="roundRect">
            <a:avLst>
              <a:gd name="adj" fmla="val 60000"/>
            </a:avLst>
          </a:prstGeom>
          <a:solidFill>
            <a:srgbClr val="FFB04C"/>
          </a:solidFill>
          <a:ln w="12700">
            <a:solidFill>
              <a:srgbClr val="FFB04C"/>
            </a:solidFill>
            <a:prstDash val="solid"/>
          </a:ln>
        </p:spPr>
      </p:sp>
      <p:sp>
        <p:nvSpPr>
          <p:cNvPr id="78" name="Text 76"/>
          <p:cNvSpPr/>
          <p:nvPr/>
        </p:nvSpPr>
        <p:spPr>
          <a:xfrm>
            <a:off x="1243584" y="3968496"/>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Inventory revamp</a:t>
            </a:r>
            <a:endParaRPr lang="en-US" sz="669" dirty="0"/>
          </a:p>
        </p:txBody>
      </p:sp>
      <p:sp>
        <p:nvSpPr>
          <p:cNvPr id="79" name="Shape 77"/>
          <p:cNvSpPr/>
          <p:nvPr/>
        </p:nvSpPr>
        <p:spPr>
          <a:xfrm>
            <a:off x="5484800" y="4085931"/>
            <a:ext cx="1014184" cy="57738"/>
          </a:xfrm>
          <a:prstGeom prst="roundRect">
            <a:avLst>
              <a:gd name="adj" fmla="val 63348"/>
            </a:avLst>
          </a:prstGeom>
          <a:solidFill>
            <a:srgbClr val="FFB04C"/>
          </a:solidFill>
          <a:ln w="12700">
            <a:solidFill>
              <a:srgbClr val="FFB04C"/>
            </a:solidFill>
            <a:prstDash val="solid"/>
          </a:ln>
        </p:spPr>
      </p:sp>
      <p:sp>
        <p:nvSpPr>
          <p:cNvPr id="80" name="Shape 78"/>
          <p:cNvSpPr/>
          <p:nvPr/>
        </p:nvSpPr>
        <p:spPr>
          <a:xfrm>
            <a:off x="1033272" y="4369526"/>
            <a:ext cx="10536631" cy="0"/>
          </a:xfrm>
          <a:prstGeom prst="line">
            <a:avLst/>
          </a:prstGeom>
          <a:noFill/>
          <a:ln w="4445">
            <a:solidFill>
              <a:srgbClr val="E2E6E2"/>
            </a:solidFill>
            <a:prstDash val="solid"/>
          </a:ln>
        </p:spPr>
      </p:sp>
      <p:sp>
        <p:nvSpPr>
          <p:cNvPr id="81" name="Shape 79"/>
          <p:cNvSpPr/>
          <p:nvPr/>
        </p:nvSpPr>
        <p:spPr>
          <a:xfrm>
            <a:off x="1143000" y="4174889"/>
            <a:ext cx="45720" cy="219456"/>
          </a:xfrm>
          <a:prstGeom prst="roundRect">
            <a:avLst>
              <a:gd name="adj" fmla="val 60000"/>
            </a:avLst>
          </a:prstGeom>
          <a:solidFill>
            <a:srgbClr val="FFB04C"/>
          </a:solidFill>
          <a:ln w="12700">
            <a:solidFill>
              <a:srgbClr val="FFB04C"/>
            </a:solidFill>
            <a:prstDash val="solid"/>
          </a:ln>
        </p:spPr>
      </p:sp>
      <p:sp>
        <p:nvSpPr>
          <p:cNvPr id="82" name="Text 80"/>
          <p:cNvSpPr/>
          <p:nvPr/>
        </p:nvSpPr>
        <p:spPr>
          <a:xfrm>
            <a:off x="1243584" y="4138313"/>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Pre-calculated emissions import</a:t>
            </a:r>
            <a:endParaRPr lang="en-US" sz="669" dirty="0"/>
          </a:p>
        </p:txBody>
      </p:sp>
      <p:sp>
        <p:nvSpPr>
          <p:cNvPr id="83" name="Shape 81"/>
          <p:cNvSpPr/>
          <p:nvPr/>
        </p:nvSpPr>
        <p:spPr>
          <a:xfrm>
            <a:off x="5484800" y="4255748"/>
            <a:ext cx="1014184" cy="57738"/>
          </a:xfrm>
          <a:prstGeom prst="roundRect">
            <a:avLst>
              <a:gd name="adj" fmla="val 63348"/>
            </a:avLst>
          </a:prstGeom>
          <a:solidFill>
            <a:srgbClr val="FFB04C"/>
          </a:solidFill>
          <a:ln w="12700">
            <a:solidFill>
              <a:srgbClr val="FFB04C"/>
            </a:solidFill>
            <a:prstDash val="solid"/>
          </a:ln>
        </p:spPr>
      </p:sp>
      <p:sp>
        <p:nvSpPr>
          <p:cNvPr id="84" name="Shape 82"/>
          <p:cNvSpPr/>
          <p:nvPr/>
        </p:nvSpPr>
        <p:spPr>
          <a:xfrm>
            <a:off x="1033272" y="4539343"/>
            <a:ext cx="10536631" cy="0"/>
          </a:xfrm>
          <a:prstGeom prst="line">
            <a:avLst/>
          </a:prstGeom>
          <a:noFill/>
          <a:ln w="4445">
            <a:solidFill>
              <a:srgbClr val="E2E6E2"/>
            </a:solidFill>
            <a:prstDash val="solid"/>
          </a:ln>
        </p:spPr>
      </p:sp>
      <p:sp>
        <p:nvSpPr>
          <p:cNvPr id="85" name="Shape 83"/>
          <p:cNvSpPr/>
          <p:nvPr/>
        </p:nvSpPr>
        <p:spPr>
          <a:xfrm>
            <a:off x="1143000" y="4344706"/>
            <a:ext cx="45720" cy="219456"/>
          </a:xfrm>
          <a:prstGeom prst="roundRect">
            <a:avLst>
              <a:gd name="adj" fmla="val 60000"/>
            </a:avLst>
          </a:prstGeom>
          <a:solidFill>
            <a:srgbClr val="FFB04C"/>
          </a:solidFill>
          <a:ln w="12700">
            <a:solidFill>
              <a:srgbClr val="FFB04C"/>
            </a:solidFill>
            <a:prstDash val="solid"/>
          </a:ln>
        </p:spPr>
      </p:sp>
      <p:sp>
        <p:nvSpPr>
          <p:cNvPr id="86" name="Text 84"/>
          <p:cNvSpPr/>
          <p:nvPr/>
        </p:nvSpPr>
        <p:spPr>
          <a:xfrm>
            <a:off x="1243584" y="4308130"/>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Base year, exclusions, materiality</a:t>
            </a:r>
            <a:endParaRPr lang="en-US" sz="669" dirty="0"/>
          </a:p>
        </p:txBody>
      </p:sp>
      <p:sp>
        <p:nvSpPr>
          <p:cNvPr id="87" name="Shape 85"/>
          <p:cNvSpPr/>
          <p:nvPr/>
        </p:nvSpPr>
        <p:spPr>
          <a:xfrm>
            <a:off x="6498984" y="4425565"/>
            <a:ext cx="1014184" cy="57738"/>
          </a:xfrm>
          <a:prstGeom prst="roundRect">
            <a:avLst>
              <a:gd name="adj" fmla="val 63348"/>
            </a:avLst>
          </a:prstGeom>
          <a:solidFill>
            <a:srgbClr val="FFB04C"/>
          </a:solidFill>
          <a:ln w="12700">
            <a:solidFill>
              <a:srgbClr val="FFB04C"/>
            </a:solidFill>
            <a:prstDash val="solid"/>
          </a:ln>
        </p:spPr>
      </p:sp>
      <p:sp>
        <p:nvSpPr>
          <p:cNvPr id="88" name="Shape 86"/>
          <p:cNvSpPr/>
          <p:nvPr/>
        </p:nvSpPr>
        <p:spPr>
          <a:xfrm>
            <a:off x="1033272" y="4709160"/>
            <a:ext cx="10536631" cy="0"/>
          </a:xfrm>
          <a:prstGeom prst="line">
            <a:avLst/>
          </a:prstGeom>
          <a:noFill/>
          <a:ln w="4445">
            <a:solidFill>
              <a:srgbClr val="E2E6E2"/>
            </a:solidFill>
            <a:prstDash val="solid"/>
          </a:ln>
        </p:spPr>
      </p:sp>
      <p:sp>
        <p:nvSpPr>
          <p:cNvPr id="89" name="Shape 87"/>
          <p:cNvSpPr/>
          <p:nvPr/>
        </p:nvSpPr>
        <p:spPr>
          <a:xfrm>
            <a:off x="1143000" y="4514523"/>
            <a:ext cx="45720" cy="219456"/>
          </a:xfrm>
          <a:prstGeom prst="roundRect">
            <a:avLst>
              <a:gd name="adj" fmla="val 60000"/>
            </a:avLst>
          </a:prstGeom>
          <a:solidFill>
            <a:srgbClr val="FFB04C"/>
          </a:solidFill>
          <a:ln w="12700">
            <a:solidFill>
              <a:srgbClr val="FFB04C"/>
            </a:solidFill>
            <a:prstDash val="solid"/>
          </a:ln>
        </p:spPr>
      </p:sp>
      <p:sp>
        <p:nvSpPr>
          <p:cNvPr id="90" name="Text 88"/>
          <p:cNvSpPr/>
          <p:nvPr/>
        </p:nvSpPr>
        <p:spPr>
          <a:xfrm>
            <a:off x="1243584" y="4477947"/>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Financial and equity consolidation</a:t>
            </a:r>
            <a:endParaRPr lang="en-US" sz="669" dirty="0"/>
          </a:p>
        </p:txBody>
      </p:sp>
      <p:sp>
        <p:nvSpPr>
          <p:cNvPr id="91" name="Shape 89"/>
          <p:cNvSpPr/>
          <p:nvPr/>
        </p:nvSpPr>
        <p:spPr>
          <a:xfrm>
            <a:off x="7513168" y="4595383"/>
            <a:ext cx="2028368" cy="57738"/>
          </a:xfrm>
          <a:prstGeom prst="roundRect">
            <a:avLst>
              <a:gd name="adj" fmla="val 63348"/>
            </a:avLst>
          </a:prstGeom>
          <a:solidFill>
            <a:srgbClr val="FFB04C"/>
          </a:solidFill>
          <a:ln w="12700">
            <a:solidFill>
              <a:srgbClr val="FFB04C"/>
            </a:solidFill>
            <a:prstDash val="solid"/>
          </a:ln>
        </p:spPr>
      </p:sp>
      <p:sp>
        <p:nvSpPr>
          <p:cNvPr id="92" name="Shape 90"/>
          <p:cNvSpPr/>
          <p:nvPr/>
        </p:nvSpPr>
        <p:spPr>
          <a:xfrm>
            <a:off x="1033272" y="4878977"/>
            <a:ext cx="10536631" cy="0"/>
          </a:xfrm>
          <a:prstGeom prst="line">
            <a:avLst/>
          </a:prstGeom>
          <a:noFill/>
          <a:ln w="4445">
            <a:solidFill>
              <a:srgbClr val="E2E6E2"/>
            </a:solidFill>
            <a:prstDash val="solid"/>
          </a:ln>
        </p:spPr>
      </p:sp>
      <p:sp>
        <p:nvSpPr>
          <p:cNvPr id="93" name="Shape 91"/>
          <p:cNvSpPr/>
          <p:nvPr/>
        </p:nvSpPr>
        <p:spPr>
          <a:xfrm>
            <a:off x="1143000" y="4684341"/>
            <a:ext cx="45720" cy="219456"/>
          </a:xfrm>
          <a:prstGeom prst="roundRect">
            <a:avLst>
              <a:gd name="adj" fmla="val 60000"/>
            </a:avLst>
          </a:prstGeom>
          <a:solidFill>
            <a:srgbClr val="FFB04C"/>
          </a:solidFill>
          <a:ln w="12700">
            <a:solidFill>
              <a:srgbClr val="FFB04C"/>
            </a:solidFill>
            <a:prstDash val="solid"/>
          </a:ln>
        </p:spPr>
      </p:sp>
      <p:sp>
        <p:nvSpPr>
          <p:cNvPr id="94" name="Text 92"/>
          <p:cNvSpPr/>
          <p:nvPr/>
        </p:nvSpPr>
        <p:spPr>
          <a:xfrm>
            <a:off x="1243584" y="4647765"/>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Rebaselining</a:t>
            </a:r>
            <a:endParaRPr lang="en-US" sz="669" dirty="0"/>
          </a:p>
        </p:txBody>
      </p:sp>
      <p:sp>
        <p:nvSpPr>
          <p:cNvPr id="95" name="Shape 93"/>
          <p:cNvSpPr/>
          <p:nvPr/>
        </p:nvSpPr>
        <p:spPr>
          <a:xfrm>
            <a:off x="7513168" y="4765200"/>
            <a:ext cx="2028368" cy="57738"/>
          </a:xfrm>
          <a:prstGeom prst="roundRect">
            <a:avLst>
              <a:gd name="adj" fmla="val 63348"/>
            </a:avLst>
          </a:prstGeom>
          <a:solidFill>
            <a:srgbClr val="FFB04C"/>
          </a:solidFill>
          <a:ln w="12700">
            <a:solidFill>
              <a:srgbClr val="FFB04C"/>
            </a:solidFill>
            <a:prstDash val="solid"/>
          </a:ln>
        </p:spPr>
      </p:sp>
      <p:sp>
        <p:nvSpPr>
          <p:cNvPr id="96" name="Shape 94"/>
          <p:cNvSpPr/>
          <p:nvPr/>
        </p:nvSpPr>
        <p:spPr>
          <a:xfrm>
            <a:off x="1033272" y="5048794"/>
            <a:ext cx="10536631" cy="0"/>
          </a:xfrm>
          <a:prstGeom prst="line">
            <a:avLst/>
          </a:prstGeom>
          <a:noFill/>
          <a:ln w="4445">
            <a:solidFill>
              <a:srgbClr val="E2E6E2"/>
            </a:solidFill>
            <a:prstDash val="solid"/>
          </a:ln>
        </p:spPr>
      </p:sp>
      <p:sp>
        <p:nvSpPr>
          <p:cNvPr id="97" name="Shape 95"/>
          <p:cNvSpPr/>
          <p:nvPr/>
        </p:nvSpPr>
        <p:spPr>
          <a:xfrm>
            <a:off x="1143000" y="4854158"/>
            <a:ext cx="45720" cy="219456"/>
          </a:xfrm>
          <a:prstGeom prst="roundRect">
            <a:avLst>
              <a:gd name="adj" fmla="val 60000"/>
            </a:avLst>
          </a:prstGeom>
          <a:solidFill>
            <a:srgbClr val="FFB04C"/>
          </a:solidFill>
          <a:ln w="12700">
            <a:solidFill>
              <a:srgbClr val="FFB04C"/>
            </a:solidFill>
            <a:prstDash val="solid"/>
          </a:ln>
        </p:spPr>
      </p:sp>
      <p:sp>
        <p:nvSpPr>
          <p:cNvPr id="98" name="Text 96"/>
          <p:cNvSpPr/>
          <p:nvPr/>
        </p:nvSpPr>
        <p:spPr>
          <a:xfrm>
            <a:off x="1243584" y="4817582"/>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Dedicated auditor experience</a:t>
            </a:r>
            <a:endParaRPr lang="en-US" sz="669" dirty="0"/>
          </a:p>
        </p:txBody>
      </p:sp>
      <p:sp>
        <p:nvSpPr>
          <p:cNvPr id="99" name="Shape 97"/>
          <p:cNvSpPr/>
          <p:nvPr/>
        </p:nvSpPr>
        <p:spPr>
          <a:xfrm>
            <a:off x="9541535" y="4935017"/>
            <a:ext cx="2028368" cy="57738"/>
          </a:xfrm>
          <a:prstGeom prst="roundRect">
            <a:avLst>
              <a:gd name="adj" fmla="val 63348"/>
            </a:avLst>
          </a:prstGeom>
          <a:solidFill>
            <a:srgbClr val="FFB04C"/>
          </a:solidFill>
          <a:ln w="12700">
            <a:solidFill>
              <a:srgbClr val="FFB04C"/>
            </a:solidFill>
            <a:prstDash val="solid"/>
          </a:ln>
        </p:spPr>
      </p:sp>
      <p:sp>
        <p:nvSpPr>
          <p:cNvPr id="100" name="Shape 98"/>
          <p:cNvSpPr/>
          <p:nvPr/>
        </p:nvSpPr>
        <p:spPr>
          <a:xfrm>
            <a:off x="621792" y="5048794"/>
            <a:ext cx="411480" cy="849086"/>
          </a:xfrm>
          <a:prstGeom prst="rect">
            <a:avLst/>
          </a:prstGeom>
          <a:solidFill>
            <a:srgbClr val="275B7F"/>
          </a:solidFill>
          <a:ln w="7620">
            <a:solidFill>
              <a:srgbClr val="FFFFFF"/>
            </a:solidFill>
            <a:prstDash val="solid"/>
          </a:ln>
        </p:spPr>
      </p:sp>
      <p:sp>
        <p:nvSpPr>
          <p:cNvPr id="101" name="Text 99"/>
          <p:cNvSpPr/>
          <p:nvPr/>
        </p:nvSpPr>
        <p:spPr>
          <a:xfrm>
            <a:off x="685800" y="5094514"/>
            <a:ext cx="283464" cy="757646"/>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INTELLIGENCE</a:t>
            </a:r>
            <a:endParaRPr lang="en-US" sz="750" dirty="0"/>
          </a:p>
        </p:txBody>
      </p:sp>
      <p:sp>
        <p:nvSpPr>
          <p:cNvPr id="102" name="Shape 100"/>
          <p:cNvSpPr/>
          <p:nvPr/>
        </p:nvSpPr>
        <p:spPr>
          <a:xfrm>
            <a:off x="1033272" y="5218611"/>
            <a:ext cx="10536631" cy="0"/>
          </a:xfrm>
          <a:prstGeom prst="line">
            <a:avLst/>
          </a:prstGeom>
          <a:noFill/>
          <a:ln w="4445">
            <a:solidFill>
              <a:srgbClr val="E2E6E2"/>
            </a:solidFill>
            <a:prstDash val="solid"/>
          </a:ln>
        </p:spPr>
      </p:sp>
      <p:sp>
        <p:nvSpPr>
          <p:cNvPr id="103" name="Shape 101"/>
          <p:cNvSpPr/>
          <p:nvPr/>
        </p:nvSpPr>
        <p:spPr>
          <a:xfrm>
            <a:off x="1143000" y="5023975"/>
            <a:ext cx="45720" cy="219456"/>
          </a:xfrm>
          <a:prstGeom prst="roundRect">
            <a:avLst>
              <a:gd name="adj" fmla="val 60000"/>
            </a:avLst>
          </a:prstGeom>
          <a:solidFill>
            <a:srgbClr val="275B7F"/>
          </a:solidFill>
          <a:ln w="12700">
            <a:solidFill>
              <a:srgbClr val="275B7F"/>
            </a:solidFill>
            <a:prstDash val="solid"/>
          </a:ln>
        </p:spPr>
      </p:sp>
      <p:sp>
        <p:nvSpPr>
          <p:cNvPr id="104" name="Text 102"/>
          <p:cNvSpPr/>
          <p:nvPr/>
        </p:nvSpPr>
        <p:spPr>
          <a:xfrm>
            <a:off x="1243584" y="4987399"/>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Sera for carbon inventory</a:t>
            </a:r>
            <a:endParaRPr lang="en-US" sz="669" dirty="0"/>
          </a:p>
        </p:txBody>
      </p:sp>
      <p:sp>
        <p:nvSpPr>
          <p:cNvPr id="105" name="Shape 103"/>
          <p:cNvSpPr/>
          <p:nvPr/>
        </p:nvSpPr>
        <p:spPr>
          <a:xfrm>
            <a:off x="6498984" y="5104834"/>
            <a:ext cx="1014184" cy="57738"/>
          </a:xfrm>
          <a:prstGeom prst="roundRect">
            <a:avLst>
              <a:gd name="adj" fmla="val 63348"/>
            </a:avLst>
          </a:prstGeom>
          <a:solidFill>
            <a:srgbClr val="275B7F"/>
          </a:solidFill>
          <a:ln w="12700">
            <a:solidFill>
              <a:srgbClr val="275B7F"/>
            </a:solidFill>
            <a:prstDash val="solid"/>
          </a:ln>
        </p:spPr>
      </p:sp>
      <p:sp>
        <p:nvSpPr>
          <p:cNvPr id="106" name="Shape 104"/>
          <p:cNvSpPr/>
          <p:nvPr/>
        </p:nvSpPr>
        <p:spPr>
          <a:xfrm>
            <a:off x="1033272" y="5388429"/>
            <a:ext cx="10536631" cy="0"/>
          </a:xfrm>
          <a:prstGeom prst="line">
            <a:avLst/>
          </a:prstGeom>
          <a:noFill/>
          <a:ln w="4445">
            <a:solidFill>
              <a:srgbClr val="E2E6E2"/>
            </a:solidFill>
            <a:prstDash val="solid"/>
          </a:ln>
        </p:spPr>
      </p:sp>
      <p:sp>
        <p:nvSpPr>
          <p:cNvPr id="107" name="Shape 105"/>
          <p:cNvSpPr/>
          <p:nvPr/>
        </p:nvSpPr>
        <p:spPr>
          <a:xfrm>
            <a:off x="1143000" y="5193792"/>
            <a:ext cx="45720" cy="219456"/>
          </a:xfrm>
          <a:prstGeom prst="roundRect">
            <a:avLst>
              <a:gd name="adj" fmla="val 60000"/>
            </a:avLst>
          </a:prstGeom>
          <a:solidFill>
            <a:srgbClr val="275B7F"/>
          </a:solidFill>
          <a:ln w="12700">
            <a:solidFill>
              <a:srgbClr val="275B7F"/>
            </a:solidFill>
            <a:prstDash val="solid"/>
          </a:ln>
        </p:spPr>
      </p:sp>
      <p:sp>
        <p:nvSpPr>
          <p:cNvPr id="108" name="Text 106"/>
          <p:cNvSpPr/>
          <p:nvPr/>
        </p:nvSpPr>
        <p:spPr>
          <a:xfrm>
            <a:off x="1243584" y="5157216"/>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Scenario analysis and decarbonization planning</a:t>
            </a:r>
            <a:endParaRPr lang="en-US" sz="669" dirty="0"/>
          </a:p>
        </p:txBody>
      </p:sp>
      <p:sp>
        <p:nvSpPr>
          <p:cNvPr id="109" name="Shape 107"/>
          <p:cNvSpPr/>
          <p:nvPr/>
        </p:nvSpPr>
        <p:spPr>
          <a:xfrm>
            <a:off x="6498984" y="5274651"/>
            <a:ext cx="1014184" cy="57738"/>
          </a:xfrm>
          <a:prstGeom prst="roundRect">
            <a:avLst>
              <a:gd name="adj" fmla="val 63348"/>
            </a:avLst>
          </a:prstGeom>
          <a:solidFill>
            <a:srgbClr val="275B7F"/>
          </a:solidFill>
          <a:ln w="12700">
            <a:solidFill>
              <a:srgbClr val="275B7F"/>
            </a:solidFill>
            <a:prstDash val="solid"/>
          </a:ln>
        </p:spPr>
      </p:sp>
      <p:sp>
        <p:nvSpPr>
          <p:cNvPr id="110" name="Shape 108"/>
          <p:cNvSpPr/>
          <p:nvPr/>
        </p:nvSpPr>
        <p:spPr>
          <a:xfrm>
            <a:off x="1033272" y="5558246"/>
            <a:ext cx="10536631" cy="0"/>
          </a:xfrm>
          <a:prstGeom prst="line">
            <a:avLst/>
          </a:prstGeom>
          <a:noFill/>
          <a:ln w="4445">
            <a:solidFill>
              <a:srgbClr val="E2E6E2"/>
            </a:solidFill>
            <a:prstDash val="solid"/>
          </a:ln>
        </p:spPr>
      </p:sp>
      <p:sp>
        <p:nvSpPr>
          <p:cNvPr id="111" name="Shape 109"/>
          <p:cNvSpPr/>
          <p:nvPr/>
        </p:nvSpPr>
        <p:spPr>
          <a:xfrm>
            <a:off x="1143000" y="5363609"/>
            <a:ext cx="45720" cy="219456"/>
          </a:xfrm>
          <a:prstGeom prst="roundRect">
            <a:avLst>
              <a:gd name="adj" fmla="val 60000"/>
            </a:avLst>
          </a:prstGeom>
          <a:solidFill>
            <a:srgbClr val="275B7F"/>
          </a:solidFill>
          <a:ln w="12700">
            <a:solidFill>
              <a:srgbClr val="275B7F"/>
            </a:solidFill>
            <a:prstDash val="solid"/>
          </a:ln>
        </p:spPr>
      </p:sp>
      <p:sp>
        <p:nvSpPr>
          <p:cNvPr id="112" name="Text 110"/>
          <p:cNvSpPr/>
          <p:nvPr/>
        </p:nvSpPr>
        <p:spPr>
          <a:xfrm>
            <a:off x="1243584" y="5327033"/>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Improved method transparency per data point</a:t>
            </a:r>
            <a:endParaRPr lang="en-US" sz="669" dirty="0"/>
          </a:p>
        </p:txBody>
      </p:sp>
      <p:sp>
        <p:nvSpPr>
          <p:cNvPr id="113" name="Shape 111"/>
          <p:cNvSpPr/>
          <p:nvPr/>
        </p:nvSpPr>
        <p:spPr>
          <a:xfrm>
            <a:off x="7513168" y="5444468"/>
            <a:ext cx="2028368" cy="57738"/>
          </a:xfrm>
          <a:prstGeom prst="roundRect">
            <a:avLst>
              <a:gd name="adj" fmla="val 63348"/>
            </a:avLst>
          </a:prstGeom>
          <a:solidFill>
            <a:srgbClr val="275B7F"/>
          </a:solidFill>
          <a:ln w="12700">
            <a:solidFill>
              <a:srgbClr val="275B7F"/>
            </a:solidFill>
            <a:prstDash val="solid"/>
          </a:ln>
        </p:spPr>
      </p:sp>
      <p:sp>
        <p:nvSpPr>
          <p:cNvPr id="114" name="Shape 112"/>
          <p:cNvSpPr/>
          <p:nvPr/>
        </p:nvSpPr>
        <p:spPr>
          <a:xfrm>
            <a:off x="1033272" y="5728063"/>
            <a:ext cx="10536631" cy="0"/>
          </a:xfrm>
          <a:prstGeom prst="line">
            <a:avLst/>
          </a:prstGeom>
          <a:noFill/>
          <a:ln w="4445">
            <a:solidFill>
              <a:srgbClr val="E2E6E2"/>
            </a:solidFill>
            <a:prstDash val="solid"/>
          </a:ln>
        </p:spPr>
      </p:sp>
      <p:sp>
        <p:nvSpPr>
          <p:cNvPr id="115" name="Shape 113"/>
          <p:cNvSpPr/>
          <p:nvPr/>
        </p:nvSpPr>
        <p:spPr>
          <a:xfrm>
            <a:off x="1143000" y="5533426"/>
            <a:ext cx="45720" cy="219456"/>
          </a:xfrm>
          <a:prstGeom prst="roundRect">
            <a:avLst>
              <a:gd name="adj" fmla="val 60000"/>
            </a:avLst>
          </a:prstGeom>
          <a:solidFill>
            <a:srgbClr val="275B7F"/>
          </a:solidFill>
          <a:ln w="12700">
            <a:solidFill>
              <a:srgbClr val="275B7F"/>
            </a:solidFill>
            <a:prstDash val="solid"/>
          </a:ln>
        </p:spPr>
      </p:sp>
      <p:sp>
        <p:nvSpPr>
          <p:cNvPr id="116" name="Text 114"/>
          <p:cNvSpPr/>
          <p:nvPr/>
        </p:nvSpPr>
        <p:spPr>
          <a:xfrm>
            <a:off x="1243584" y="5496850"/>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Supply chain PCF integration</a:t>
            </a:r>
            <a:endParaRPr lang="en-US" sz="669" dirty="0"/>
          </a:p>
        </p:txBody>
      </p:sp>
      <p:sp>
        <p:nvSpPr>
          <p:cNvPr id="117" name="Shape 115"/>
          <p:cNvSpPr/>
          <p:nvPr/>
        </p:nvSpPr>
        <p:spPr>
          <a:xfrm>
            <a:off x="7513168" y="5614285"/>
            <a:ext cx="2028368" cy="57738"/>
          </a:xfrm>
          <a:prstGeom prst="roundRect">
            <a:avLst>
              <a:gd name="adj" fmla="val 63348"/>
            </a:avLst>
          </a:prstGeom>
          <a:solidFill>
            <a:srgbClr val="275B7F"/>
          </a:solidFill>
          <a:ln w="12700">
            <a:solidFill>
              <a:srgbClr val="275B7F"/>
            </a:solidFill>
            <a:prstDash val="solid"/>
          </a:ln>
        </p:spPr>
      </p:sp>
      <p:sp>
        <p:nvSpPr>
          <p:cNvPr id="118" name="Shape 116"/>
          <p:cNvSpPr/>
          <p:nvPr/>
        </p:nvSpPr>
        <p:spPr>
          <a:xfrm>
            <a:off x="1033272" y="5897880"/>
            <a:ext cx="10536631" cy="0"/>
          </a:xfrm>
          <a:prstGeom prst="line">
            <a:avLst/>
          </a:prstGeom>
          <a:noFill/>
          <a:ln w="4445">
            <a:solidFill>
              <a:srgbClr val="E2E6E2"/>
            </a:solidFill>
            <a:prstDash val="solid"/>
          </a:ln>
        </p:spPr>
      </p:sp>
      <p:sp>
        <p:nvSpPr>
          <p:cNvPr id="119" name="Shape 117"/>
          <p:cNvSpPr/>
          <p:nvPr/>
        </p:nvSpPr>
        <p:spPr>
          <a:xfrm>
            <a:off x="1143000" y="5703243"/>
            <a:ext cx="45720" cy="219456"/>
          </a:xfrm>
          <a:prstGeom prst="roundRect">
            <a:avLst>
              <a:gd name="adj" fmla="val 60000"/>
            </a:avLst>
          </a:prstGeom>
          <a:solidFill>
            <a:srgbClr val="275B7F"/>
          </a:solidFill>
          <a:ln w="12700">
            <a:solidFill>
              <a:srgbClr val="275B7F"/>
            </a:solidFill>
            <a:prstDash val="solid"/>
          </a:ln>
        </p:spPr>
      </p:sp>
      <p:sp>
        <p:nvSpPr>
          <p:cNvPr id="120" name="Text 118"/>
          <p:cNvSpPr/>
          <p:nvPr/>
        </p:nvSpPr>
        <p:spPr>
          <a:xfrm>
            <a:off x="1243584" y="5666667"/>
            <a:ext cx="2075688" cy="292608"/>
          </a:xfrm>
          <a:prstGeom prst="rect">
            <a:avLst/>
          </a:prstGeom>
          <a:noFill/>
          <a:ln/>
        </p:spPr>
        <p:txBody>
          <a:bodyPr wrap="square" lIns="0" tIns="0" rIns="0" bIns="0" rtlCol="0" anchor="ctr">
            <a:normAutofit/>
          </a:bodyPr>
          <a:lstStyle/>
          <a:p>
            <a:pPr indent="0" marL="0">
              <a:buNone/>
            </a:pPr>
            <a:r>
              <a:rPr lang="en-US" sz="669" dirty="0">
                <a:solidFill>
                  <a:srgbClr val="1E2420"/>
                </a:solidFill>
                <a:latin typeface="Calibri" pitchFamily="34" charset="0"/>
                <a:ea typeface="Calibri" pitchFamily="34" charset="-122"/>
                <a:cs typeface="Calibri" pitchFamily="34" charset="-120"/>
              </a:rPr>
              <a:t>Advanced ECM library</a:t>
            </a:r>
            <a:endParaRPr lang="en-US" sz="669" dirty="0"/>
          </a:p>
        </p:txBody>
      </p:sp>
      <p:sp>
        <p:nvSpPr>
          <p:cNvPr id="121" name="Shape 119"/>
          <p:cNvSpPr/>
          <p:nvPr/>
        </p:nvSpPr>
        <p:spPr>
          <a:xfrm>
            <a:off x="7513168" y="5784103"/>
            <a:ext cx="2028368" cy="57738"/>
          </a:xfrm>
          <a:prstGeom prst="roundRect">
            <a:avLst>
              <a:gd name="adj" fmla="val 63348"/>
            </a:avLst>
          </a:prstGeom>
          <a:solidFill>
            <a:srgbClr val="275B7F"/>
          </a:solidFill>
          <a:ln w="12700">
            <a:solidFill>
              <a:srgbClr val="275B7F"/>
            </a:solidFill>
            <a:prstDash val="solid"/>
          </a:ln>
        </p:spPr>
      </p:sp>
      <p:sp>
        <p:nvSpPr>
          <p:cNvPr id="122" name="Shape 120"/>
          <p:cNvSpPr/>
          <p:nvPr/>
        </p:nvSpPr>
        <p:spPr>
          <a:xfrm>
            <a:off x="621792" y="6437376"/>
            <a:ext cx="10948111" cy="0"/>
          </a:xfrm>
          <a:prstGeom prst="line">
            <a:avLst/>
          </a:prstGeom>
          <a:noFill/>
          <a:ln w="9525">
            <a:solidFill>
              <a:srgbClr val="E2E6E2"/>
            </a:solidFill>
            <a:prstDash val="solid"/>
          </a:ln>
        </p:spPr>
      </p:sp>
      <p:sp>
        <p:nvSpPr>
          <p:cNvPr id="123" name="Text 121"/>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24" name="Text 122"/>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Carbon Performance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Factors and calculation depth first, then coverage, then the governance that makes it auditable.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Factors and calculation depth</a:t>
            </a:r>
            <a:endParaRPr lang="en-US" sz="14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Make the number defensible.</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EAC and PPA management for market based Scope 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Thermal source attribution across Scope 1 and 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Refrigerant leakage to usage based fugitive emissions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specific and standard factor datasets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Improved method transparency per data point</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Inventory coverage</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Close the Scope 3 gaps.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Sold product emissions, categories 10, 11 and 12</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Employee commuting and working from home, category 7</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4 and 9 product linked transport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Waste emission estimation, category 5</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15 investments and FLAG segmentation</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Boundaries and governance</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Consultant grade control.</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Base year, exclusions and materiality settings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Financial and equity consolidation of ownership</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Rebaselining and base year recalculation workflows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revamp with per gas breakdown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Dedicated auditor experience</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AI and decision support</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inventory to action.</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for carbon inventory, AI guided troubleshooting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scenario analysis and decarbonization planning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Initiatives and actions management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ECM library with energy and carbon cobenefits</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Carbon Performance owns the inventory every product consumes</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It is the producer of record, so its data model decisions constrain the other three products.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PLATFORM</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Ingestion and quality</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Prerequisites for depth.</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Pipeline and transformation foundation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data quality checks, L1 and L2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Programmatic connectors for activity data</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Allocations foundation</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ONTOLOGY</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Hierarchy and calculation</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Inherited, not rebuilt.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entity hierarchy and organisational boundary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Calculation governance and versioning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Emission factor library owned by core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trail and lineage on key values</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CROSS PRODUCT</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Who consumes the inventory</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baseline, four experiences.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feeds categories 1 and 4 into the inventory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Reporting and Compliance discloses emissions from Collect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Strategy plans reductions against the same baseline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Climate Risk reads transition exposure from it</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SERA</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AI capabilities</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Where the differentiation sits.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guided inventory troubleshooting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Anomaly explanation and discrepancy management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Mapping memory and smart mapping suggestions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assisted method selection guidance</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4</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04</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Q4 2026 in detail</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The wedge, the capacity math, and the ranked plan.</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18541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85623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Q4 POINT OF VIEW</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Q3 landed ingestion, Q4 closes emission factor and calculation depth</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Protect what is in flight, sequence the wedge themes, defer the rest with a clear reason.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PROTECT</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Carry over that must finish</a:t>
            </a:r>
            <a:endParaRPr lang="en-US" sz="14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These are already funded and partly built. Slipping them costs more than starting anything new.</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data quality and overview (engine epics in testing)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Scope 3 product emissions, categories 10, 11, 12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Pre-calculated emissions import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revamp, scoped</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Accor portfolio experience</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SEQUENCE</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The Q4 wedge</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Emission factors and calculation depth: the gaps that still force hypercare on every enterprise deal.</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 and supplier specific emission factors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Standard EF datasets: EcoInvent, Exiobase, FLAG, EEA, Base Carbone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Deterministic emission factor configuration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Renewable energy and market based Scope 2, RECs and EACs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statements and extended classification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contextual intelligence</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8103413" y="2084832"/>
            <a:ext cx="3466490" cy="73152"/>
          </a:xfrm>
          <a:prstGeom prst="rect">
            <a:avLst/>
          </a:prstGeom>
          <a:solidFill>
            <a:srgbClr val="FFB04C"/>
          </a:solidFill>
          <a:ln w="12700">
            <a:solidFill>
              <a:srgbClr val="FFB04C"/>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DEFER</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Real, but not Q4</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Named explicitly so the room knows what is being traded away and when it returns.</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Self serve decarbonization planning and execution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Dedicated auditor experience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15 investments and FLAG depth, 2027</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Languages and EU hosting, out of Q4 scope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Full PCF inside CP, rides supply chain</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DEPENDENCIES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Carbon Performance needs from platform teams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Q4 plan is not executable without these commitments. Platform PMs confirm delivery, not theme rank.</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ATLAS DATA</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Ingestion and pipelines</a:t>
            </a:r>
            <a:endParaRPr lang="en-US" sz="1600" dirty="0"/>
          </a:p>
        </p:txBody>
      </p:sp>
      <p:sp>
        <p:nvSpPr>
          <p:cNvPr id="13" name="Text 11"/>
          <p:cNvSpPr/>
          <p:nvPr/>
        </p:nvSpPr>
        <p:spPr>
          <a:xfrm>
            <a:off x="822960"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Pipeline and transformation foundation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CP data collection setup</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Programmatic connectors and APIs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collection lifecycle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Bulk rollback and overwrite</a:t>
            </a:r>
            <a:endParaRPr lang="en-US" sz="1100" dirty="0"/>
          </a:p>
        </p:txBody>
      </p:sp>
      <p:sp>
        <p:nvSpPr>
          <p:cNvPr id="14" name="Shape 12"/>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5" name="Shape 13"/>
          <p:cNvSpPr/>
          <p:nvPr/>
        </p:nvSpPr>
        <p:spPr>
          <a:xfrm>
            <a:off x="3427400" y="2084832"/>
            <a:ext cx="2531288" cy="73152"/>
          </a:xfrm>
          <a:prstGeom prst="rect">
            <a:avLst/>
          </a:prstGeom>
          <a:solidFill>
            <a:srgbClr val="007A27"/>
          </a:solidFill>
          <a:ln w="12700">
            <a:solidFill>
              <a:srgbClr val="007A27"/>
            </a:solidFill>
            <a:prstDash val="solid"/>
          </a:ln>
        </p:spPr>
      </p:sp>
      <p:sp>
        <p:nvSpPr>
          <p:cNvPr id="16" name="Text 14"/>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DATA QUALITY AND SERVICES</a:t>
            </a:r>
            <a:endParaRPr lang="en-US" sz="900" dirty="0"/>
          </a:p>
        </p:txBody>
      </p:sp>
      <p:sp>
        <p:nvSpPr>
          <p:cNvPr id="17" name="Text 15"/>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Checks and validation</a:t>
            </a:r>
            <a:endParaRPr lang="en-US" sz="1600" dirty="0"/>
          </a:p>
        </p:txBody>
      </p:sp>
      <p:sp>
        <p:nvSpPr>
          <p:cNvPr id="18" name="Text 16"/>
          <p:cNvSpPr/>
          <p:nvPr/>
        </p:nvSpPr>
        <p:spPr>
          <a:xfrm>
            <a:off x="3628568"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DQ checks and overview (rank 1)</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Entity and overview DQ pages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Validation at ingestion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Discrepancy management</a:t>
            </a:r>
            <a:endParaRPr lang="en-US" sz="1100" dirty="0"/>
          </a:p>
        </p:txBody>
      </p:sp>
      <p:sp>
        <p:nvSpPr>
          <p:cNvPr id="19" name="Shape 17"/>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0" name="Shape 18"/>
          <p:cNvSpPr/>
          <p:nvPr/>
        </p:nvSpPr>
        <p:spPr>
          <a:xfrm>
            <a:off x="6233008" y="2084832"/>
            <a:ext cx="2531288" cy="73152"/>
          </a:xfrm>
          <a:prstGeom prst="rect">
            <a:avLst/>
          </a:prstGeom>
          <a:solidFill>
            <a:srgbClr val="FFB04C"/>
          </a:solidFill>
          <a:ln w="12700">
            <a:solidFill>
              <a:srgbClr val="FFB04C"/>
            </a:solidFill>
            <a:prstDash val="solid"/>
          </a:ln>
        </p:spPr>
      </p:sp>
      <p:sp>
        <p:nvSpPr>
          <p:cNvPr id="21" name="Text 19"/>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MEASUREMENT AND EF LIBRARY</a:t>
            </a:r>
            <a:endParaRPr lang="en-US" sz="900" dirty="0"/>
          </a:p>
        </p:txBody>
      </p:sp>
      <p:sp>
        <p:nvSpPr>
          <p:cNvPr id="22" name="Text 20"/>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Emission factors</a:t>
            </a:r>
            <a:endParaRPr lang="en-US" sz="1600" dirty="0"/>
          </a:p>
        </p:txBody>
      </p:sp>
      <p:sp>
        <p:nvSpPr>
          <p:cNvPr id="23" name="Text 21"/>
          <p:cNvSpPr/>
          <p:nvPr/>
        </p:nvSpPr>
        <p:spPr>
          <a:xfrm>
            <a:off x="6434176"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 and supplier specific EFs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Standard EF datasets (rank 26)</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Deterministic EF configuration (rank 14)</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Vendor and industry EFs</a:t>
            </a:r>
            <a:endParaRPr lang="en-US" sz="1100" dirty="0"/>
          </a:p>
        </p:txBody>
      </p:sp>
      <p:sp>
        <p:nvSpPr>
          <p:cNvPr id="24" name="Shape 22"/>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5" name="Shape 23"/>
          <p:cNvSpPr/>
          <p:nvPr/>
        </p:nvSpPr>
        <p:spPr>
          <a:xfrm>
            <a:off x="9038615" y="2084832"/>
            <a:ext cx="2531288" cy="73152"/>
          </a:xfrm>
          <a:prstGeom prst="rect">
            <a:avLst/>
          </a:prstGeom>
          <a:solidFill>
            <a:srgbClr val="275B7F"/>
          </a:solidFill>
          <a:ln w="12700">
            <a:solidFill>
              <a:srgbClr val="275B7F"/>
            </a:solidFill>
            <a:prstDash val="solid"/>
          </a:ln>
        </p:spPr>
      </p:sp>
      <p:sp>
        <p:nvSpPr>
          <p:cNvPr id="26" name="Text 24"/>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ONTOLOGY, SERA, ANALYTICS</a:t>
            </a:r>
            <a:endParaRPr lang="en-US" sz="900" dirty="0"/>
          </a:p>
        </p:txBody>
      </p:sp>
      <p:sp>
        <p:nvSpPr>
          <p:cNvPr id="27" name="Text 25"/>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Hierarchies and experience</a:t>
            </a:r>
            <a:endParaRPr lang="en-US" sz="1600" dirty="0"/>
          </a:p>
        </p:txBody>
      </p:sp>
      <p:sp>
        <p:nvSpPr>
          <p:cNvPr id="28" name="Text 26"/>
          <p:cNvSpPr/>
          <p:nvPr/>
        </p:nvSpPr>
        <p:spPr>
          <a:xfrm>
            <a:off x="9239783"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Multi-hierarchy access, allocations foundation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Financial and equity consolidation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contextual intelligence, Accor portfolio experience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Navigate, Slice and Analyze, Quick Charts and Data Explorer</a:t>
            </a:r>
            <a:endParaRPr lang="en-US" sz="1100" dirty="0"/>
          </a:p>
        </p:txBody>
      </p:sp>
      <p:sp>
        <p:nvSpPr>
          <p:cNvPr id="29" name="Shape 27"/>
          <p:cNvSpPr/>
          <p:nvPr/>
        </p:nvSpPr>
        <p:spPr>
          <a:xfrm>
            <a:off x="621792" y="6437376"/>
            <a:ext cx="10948111" cy="0"/>
          </a:xfrm>
          <a:prstGeom prst="line">
            <a:avLst/>
          </a:prstGeom>
          <a:noFill/>
          <a:ln w="9525">
            <a:solidFill>
              <a:srgbClr val="E2E6E2"/>
            </a:solidFill>
            <a:prstDash val="solid"/>
          </a:ln>
        </p:spPr>
      </p:sp>
      <p:sp>
        <p:nvSpPr>
          <p:cNvPr id="30" name="Text 2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1" name="Text 2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Migrate, close the competitive gap, then drive supplier action</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Three 2026 goals and one 2027 goal, sequenced against the RA+ migration.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2270684" cy="555955"/>
          </a:xfrm>
          <a:prstGeom prst="roundRect">
            <a:avLst>
              <a:gd name="adj" fmla="val 4934"/>
            </a:avLst>
          </a:prstGeom>
          <a:solidFill>
            <a:srgbClr val="F7F8F7"/>
          </a:solidFill>
          <a:ln w="5080">
            <a:solidFill>
              <a:srgbClr val="F7F8F7"/>
            </a:solidFill>
            <a:prstDash val="solid"/>
          </a:ln>
        </p:spPr>
      </p:sp>
      <p:sp>
        <p:nvSpPr>
          <p:cNvPr id="15" name="Text 13"/>
          <p:cNvSpPr/>
          <p:nvPr/>
        </p:nvSpPr>
        <p:spPr>
          <a:xfrm>
            <a:off x="822960"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RA+ tech integrations and shared UI</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Navigation, layouts, database</a:t>
            </a:r>
            <a:endParaRPr lang="en-US" sz="950" dirty="0"/>
          </a:p>
        </p:txBody>
      </p:sp>
      <p:sp>
        <p:nvSpPr>
          <p:cNvPr id="16" name="Shape 14"/>
          <p:cNvSpPr/>
          <p:nvPr/>
        </p:nvSpPr>
        <p:spPr>
          <a:xfrm>
            <a:off x="758952" y="3582619"/>
            <a:ext cx="2270684" cy="555955"/>
          </a:xfrm>
          <a:prstGeom prst="roundRect">
            <a:avLst>
              <a:gd name="adj" fmla="val 4934"/>
            </a:avLst>
          </a:prstGeom>
          <a:solidFill>
            <a:srgbClr val="F7F8F7"/>
          </a:solidFill>
          <a:ln w="5080">
            <a:solidFill>
              <a:srgbClr val="F7F8F7"/>
            </a:solidFill>
            <a:prstDash val="solid"/>
          </a:ln>
        </p:spPr>
      </p:sp>
      <p:sp>
        <p:nvSpPr>
          <p:cNvPr id="17" name="Text 15"/>
          <p:cNvSpPr/>
          <p:nvPr/>
        </p:nvSpPr>
        <p:spPr>
          <a:xfrm>
            <a:off x="822960"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End to end supply chain emissions management</a:t>
            </a:r>
            <a:endParaRPr lang="en-US" sz="950" dirty="0"/>
          </a:p>
        </p:txBody>
      </p:sp>
      <p:sp>
        <p:nvSpPr>
          <p:cNvPr id="18" name="Shape 16"/>
          <p:cNvSpPr/>
          <p:nvPr/>
        </p:nvSpPr>
        <p:spPr>
          <a:xfrm>
            <a:off x="758952" y="4211726"/>
            <a:ext cx="2270684" cy="555955"/>
          </a:xfrm>
          <a:prstGeom prst="roundRect">
            <a:avLst>
              <a:gd name="adj" fmla="val 4934"/>
            </a:avLst>
          </a:prstGeom>
          <a:solidFill>
            <a:srgbClr val="F7F8F7"/>
          </a:solidFill>
          <a:ln w="5080">
            <a:solidFill>
              <a:srgbClr val="F7F8F7"/>
            </a:solidFill>
            <a:prstDash val="solid"/>
          </a:ln>
        </p:spPr>
      </p:sp>
      <p:sp>
        <p:nvSpPr>
          <p:cNvPr id="19" name="Text 17"/>
          <p:cNvSpPr/>
          <p:nvPr/>
        </p:nvSpPr>
        <p:spPr>
          <a:xfrm>
            <a:off x="822960"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Custom questionnaires</a:t>
            </a:r>
            <a:endParaRPr lang="en-US" sz="1000" dirty="0"/>
          </a:p>
        </p:txBody>
      </p:sp>
      <p:sp>
        <p:nvSpPr>
          <p:cNvPr id="20" name="Shape 18"/>
          <p:cNvSpPr/>
          <p:nvPr/>
        </p:nvSpPr>
        <p:spPr>
          <a:xfrm>
            <a:off x="758952" y="4840834"/>
            <a:ext cx="2270684" cy="555955"/>
          </a:xfrm>
          <a:prstGeom prst="roundRect">
            <a:avLst>
              <a:gd name="adj" fmla="val 4934"/>
            </a:avLst>
          </a:prstGeom>
          <a:solidFill>
            <a:srgbClr val="F7F8F7"/>
          </a:solidFill>
          <a:ln w="5080">
            <a:solidFill>
              <a:srgbClr val="F7F8F7"/>
            </a:solidFill>
            <a:prstDash val="solid"/>
          </a:ln>
        </p:spPr>
      </p:sp>
      <p:sp>
        <p:nvSpPr>
          <p:cNvPr id="21" name="Text 19"/>
          <p:cNvSpPr/>
          <p:nvPr/>
        </p:nvSpPr>
        <p:spPr>
          <a:xfrm>
            <a:off x="822960"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Guided supplier decarbonisation actions</a:t>
            </a:r>
            <a:endParaRPr lang="en-US" sz="950" dirty="0"/>
          </a:p>
        </p:txBody>
      </p:sp>
      <p:sp>
        <p:nvSpPr>
          <p:cNvPr id="22" name="Shape 20"/>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3422828" y="2084832"/>
            <a:ext cx="2545004" cy="713232"/>
          </a:xfrm>
          <a:prstGeom prst="rect">
            <a:avLst/>
          </a:prstGeom>
          <a:solidFill>
            <a:srgbClr val="EAF8ED"/>
          </a:solidFill>
          <a:ln w="12700">
            <a:solidFill>
              <a:srgbClr val="EAF8ED"/>
            </a:solidFill>
            <a:prstDash val="solid"/>
          </a:ln>
        </p:spPr>
      </p:sp>
      <p:sp>
        <p:nvSpPr>
          <p:cNvPr id="24" name="Shape 22"/>
          <p:cNvSpPr/>
          <p:nvPr/>
        </p:nvSpPr>
        <p:spPr>
          <a:xfrm>
            <a:off x="3422828" y="2084832"/>
            <a:ext cx="54864" cy="4178808"/>
          </a:xfrm>
          <a:prstGeom prst="rect">
            <a:avLst/>
          </a:prstGeom>
          <a:solidFill>
            <a:srgbClr val="007A27"/>
          </a:solidFill>
          <a:ln w="12700">
            <a:solidFill>
              <a:srgbClr val="007A27"/>
            </a:solidFill>
            <a:prstDash val="solid"/>
          </a:ln>
        </p:spPr>
      </p:sp>
      <p:sp>
        <p:nvSpPr>
          <p:cNvPr id="25" name="Text 23"/>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3559988" y="2953512"/>
            <a:ext cx="2270684" cy="555955"/>
          </a:xfrm>
          <a:prstGeom prst="roundRect">
            <a:avLst>
              <a:gd name="adj" fmla="val 4934"/>
            </a:avLst>
          </a:prstGeom>
          <a:solidFill>
            <a:srgbClr val="F7F8F7"/>
          </a:solidFill>
          <a:ln w="5080">
            <a:solidFill>
              <a:srgbClr val="F7F8F7"/>
            </a:solidFill>
            <a:prstDash val="solid"/>
          </a:ln>
        </p:spPr>
      </p:sp>
      <p:sp>
        <p:nvSpPr>
          <p:cNvPr id="28" name="Text 26"/>
          <p:cNvSpPr/>
          <p:nvPr/>
        </p:nvSpPr>
        <p:spPr>
          <a:xfrm>
            <a:off x="3623996"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Rebranding completion to a stronger RA+ experience</a:t>
            </a:r>
            <a:endParaRPr lang="en-US" sz="900" dirty="0"/>
          </a:p>
        </p:txBody>
      </p:sp>
      <p:sp>
        <p:nvSpPr>
          <p:cNvPr id="29" name="Shape 27"/>
          <p:cNvSpPr/>
          <p:nvPr/>
        </p:nvSpPr>
        <p:spPr>
          <a:xfrm>
            <a:off x="3559988" y="3582619"/>
            <a:ext cx="2270684" cy="555955"/>
          </a:xfrm>
          <a:prstGeom prst="roundRect">
            <a:avLst>
              <a:gd name="adj" fmla="val 4934"/>
            </a:avLst>
          </a:prstGeom>
          <a:solidFill>
            <a:srgbClr val="F7F8F7"/>
          </a:solidFill>
          <a:ln w="5080">
            <a:solidFill>
              <a:srgbClr val="F7F8F7"/>
            </a:solidFill>
            <a:prstDash val="solid"/>
          </a:ln>
        </p:spPr>
      </p:sp>
      <p:sp>
        <p:nvSpPr>
          <p:cNvPr id="30" name="Text 28"/>
          <p:cNvSpPr/>
          <p:nvPr/>
        </p:nvSpPr>
        <p:spPr>
          <a:xfrm>
            <a:off x="3623996"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Improve data quality assurance</a:t>
            </a:r>
            <a:endParaRPr lang="en-US" sz="1000" dirty="0"/>
          </a:p>
        </p:txBody>
      </p:sp>
      <p:sp>
        <p:nvSpPr>
          <p:cNvPr id="31" name="Shape 29"/>
          <p:cNvSpPr/>
          <p:nvPr/>
        </p:nvSpPr>
        <p:spPr>
          <a:xfrm>
            <a:off x="3559988" y="4211726"/>
            <a:ext cx="2270684" cy="555955"/>
          </a:xfrm>
          <a:prstGeom prst="roundRect">
            <a:avLst>
              <a:gd name="adj" fmla="val 4934"/>
            </a:avLst>
          </a:prstGeom>
          <a:solidFill>
            <a:srgbClr val="F7F8F7"/>
          </a:solidFill>
          <a:ln w="5080">
            <a:solidFill>
              <a:srgbClr val="F7F8F7"/>
            </a:solidFill>
            <a:prstDash val="solid"/>
          </a:ln>
        </p:spPr>
      </p:sp>
      <p:sp>
        <p:nvSpPr>
          <p:cNvPr id="32" name="Text 30"/>
          <p:cNvSpPr/>
          <p:nvPr/>
        </p:nvSpPr>
        <p:spPr>
          <a:xfrm>
            <a:off x="3623996"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Sponsor decision support and supplier transparency</a:t>
            </a:r>
            <a:endParaRPr lang="en-US" sz="900" dirty="0"/>
          </a:p>
        </p:txBody>
      </p:sp>
      <p:sp>
        <p:nvSpPr>
          <p:cNvPr id="33" name="Shape 31"/>
          <p:cNvSpPr/>
          <p:nvPr/>
        </p:nvSpPr>
        <p:spPr>
          <a:xfrm>
            <a:off x="3559988" y="4840834"/>
            <a:ext cx="2270684" cy="555955"/>
          </a:xfrm>
          <a:prstGeom prst="roundRect">
            <a:avLst>
              <a:gd name="adj" fmla="val 4934"/>
            </a:avLst>
          </a:prstGeom>
          <a:solidFill>
            <a:srgbClr val="F7F8F7"/>
          </a:solidFill>
          <a:ln w="5080">
            <a:solidFill>
              <a:srgbClr val="F7F8F7"/>
            </a:solidFill>
            <a:prstDash val="solid"/>
          </a:ln>
        </p:spPr>
      </p:sp>
      <p:sp>
        <p:nvSpPr>
          <p:cNvPr id="34" name="Text 32"/>
          <p:cNvSpPr/>
          <p:nvPr/>
        </p:nvSpPr>
        <p:spPr>
          <a:xfrm>
            <a:off x="3623996"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Zeigo network integration</a:t>
            </a:r>
            <a:endParaRPr lang="en-US" sz="1000" dirty="0"/>
          </a:p>
        </p:txBody>
      </p:sp>
      <p:sp>
        <p:nvSpPr>
          <p:cNvPr id="35" name="Shape 33"/>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6" name="Shape 34"/>
          <p:cNvSpPr/>
          <p:nvPr/>
        </p:nvSpPr>
        <p:spPr>
          <a:xfrm>
            <a:off x="6223864" y="2084832"/>
            <a:ext cx="2545004" cy="713232"/>
          </a:xfrm>
          <a:prstGeom prst="rect">
            <a:avLst/>
          </a:prstGeom>
          <a:solidFill>
            <a:srgbClr val="FFF4E3"/>
          </a:solidFill>
          <a:ln w="12700">
            <a:solidFill>
              <a:srgbClr val="FFF4E3"/>
            </a:solidFill>
            <a:prstDash val="solid"/>
          </a:ln>
        </p:spPr>
      </p:sp>
      <p:sp>
        <p:nvSpPr>
          <p:cNvPr id="37" name="Shape 35"/>
          <p:cNvSpPr/>
          <p:nvPr/>
        </p:nvSpPr>
        <p:spPr>
          <a:xfrm>
            <a:off x="6223864" y="2084832"/>
            <a:ext cx="54864" cy="4178808"/>
          </a:xfrm>
          <a:prstGeom prst="rect">
            <a:avLst/>
          </a:prstGeom>
          <a:solidFill>
            <a:srgbClr val="FFB04C"/>
          </a:solidFill>
          <a:ln w="12700">
            <a:solidFill>
              <a:srgbClr val="FFB04C"/>
            </a:solidFill>
            <a:prstDash val="solid"/>
          </a:ln>
        </p:spPr>
      </p:sp>
      <p:sp>
        <p:nvSpPr>
          <p:cNvPr id="38" name="Text 36"/>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39" name="Text 37"/>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40" name="Shape 38"/>
          <p:cNvSpPr/>
          <p:nvPr/>
        </p:nvSpPr>
        <p:spPr>
          <a:xfrm>
            <a:off x="6361024" y="2953512"/>
            <a:ext cx="2270684" cy="555955"/>
          </a:xfrm>
          <a:prstGeom prst="roundRect">
            <a:avLst>
              <a:gd name="adj" fmla="val 4934"/>
            </a:avLst>
          </a:prstGeom>
          <a:solidFill>
            <a:srgbClr val="F7F8F7"/>
          </a:solidFill>
          <a:ln w="5080">
            <a:solidFill>
              <a:srgbClr val="F7F8F7"/>
            </a:solidFill>
            <a:prstDash val="solid"/>
          </a:ln>
        </p:spPr>
      </p:sp>
      <p:sp>
        <p:nvSpPr>
          <p:cNvPr id="41" name="Text 39"/>
          <p:cNvSpPr/>
          <p:nvPr/>
        </p:nvSpPr>
        <p:spPr>
          <a:xfrm>
            <a:off x="6425032"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Light PCF calculator, SEED integrations</a:t>
            </a:r>
            <a:endParaRPr lang="en-US" sz="950" dirty="0"/>
          </a:p>
        </p:txBody>
      </p:sp>
      <p:sp>
        <p:nvSpPr>
          <p:cNvPr id="42" name="Shape 40"/>
          <p:cNvSpPr/>
          <p:nvPr/>
        </p:nvSpPr>
        <p:spPr>
          <a:xfrm>
            <a:off x="6361024" y="3582619"/>
            <a:ext cx="2270684" cy="555955"/>
          </a:xfrm>
          <a:prstGeom prst="roundRect">
            <a:avLst>
              <a:gd name="adj" fmla="val 4934"/>
            </a:avLst>
          </a:prstGeom>
          <a:solidFill>
            <a:srgbClr val="F7F8F7"/>
          </a:solidFill>
          <a:ln w="5080">
            <a:solidFill>
              <a:srgbClr val="F7F8F7"/>
            </a:solidFill>
            <a:prstDash val="solid"/>
          </a:ln>
        </p:spPr>
      </p:sp>
      <p:sp>
        <p:nvSpPr>
          <p:cNvPr id="43" name="Text 41"/>
          <p:cNvSpPr/>
          <p:nvPr/>
        </p:nvSpPr>
        <p:spPr>
          <a:xfrm>
            <a:off x="6425032"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tier level subscription</a:t>
            </a:r>
            <a:endParaRPr lang="en-US" sz="1000" dirty="0"/>
          </a:p>
        </p:txBody>
      </p:sp>
      <p:sp>
        <p:nvSpPr>
          <p:cNvPr id="44" name="Shape 42"/>
          <p:cNvSpPr/>
          <p:nvPr/>
        </p:nvSpPr>
        <p:spPr>
          <a:xfrm>
            <a:off x="6361024" y="4211726"/>
            <a:ext cx="2270684" cy="555955"/>
          </a:xfrm>
          <a:prstGeom prst="roundRect">
            <a:avLst>
              <a:gd name="adj" fmla="val 4934"/>
            </a:avLst>
          </a:prstGeom>
          <a:solidFill>
            <a:srgbClr val="F7F8F7"/>
          </a:solidFill>
          <a:ln w="5080">
            <a:solidFill>
              <a:srgbClr val="F7F8F7"/>
            </a:solidFill>
            <a:prstDash val="solid"/>
          </a:ln>
        </p:spPr>
      </p:sp>
      <p:sp>
        <p:nvSpPr>
          <p:cNvPr id="45" name="Text 43"/>
          <p:cNvSpPr/>
          <p:nvPr/>
        </p:nvSpPr>
        <p:spPr>
          <a:xfrm>
            <a:off x="6425032"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Multi tier supplier visibility</a:t>
            </a:r>
            <a:endParaRPr lang="en-US" sz="1000" dirty="0"/>
          </a:p>
        </p:txBody>
      </p:sp>
      <p:sp>
        <p:nvSpPr>
          <p:cNvPr id="46" name="Shape 44"/>
          <p:cNvSpPr/>
          <p:nvPr/>
        </p:nvSpPr>
        <p:spPr>
          <a:xfrm>
            <a:off x="6361024" y="4840834"/>
            <a:ext cx="2270684" cy="555955"/>
          </a:xfrm>
          <a:prstGeom prst="roundRect">
            <a:avLst>
              <a:gd name="adj" fmla="val 4934"/>
            </a:avLst>
          </a:prstGeom>
          <a:solidFill>
            <a:srgbClr val="F7F8F7"/>
          </a:solidFill>
          <a:ln w="5080">
            <a:solidFill>
              <a:srgbClr val="F7F8F7"/>
            </a:solidFill>
            <a:prstDash val="solid"/>
          </a:ln>
        </p:spPr>
      </p:sp>
      <p:sp>
        <p:nvSpPr>
          <p:cNvPr id="47" name="Text 45"/>
          <p:cNvSpPr/>
          <p:nvPr/>
        </p:nvSpPr>
        <p:spPr>
          <a:xfrm>
            <a:off x="6425032"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Supplier onboarding and programme participation</a:t>
            </a:r>
            <a:endParaRPr lang="en-US" sz="900" dirty="0"/>
          </a:p>
        </p:txBody>
      </p:sp>
      <p:sp>
        <p:nvSpPr>
          <p:cNvPr id="48" name="Shape 46"/>
          <p:cNvSpPr/>
          <p:nvPr/>
        </p:nvSpPr>
        <p:spPr>
          <a:xfrm>
            <a:off x="6361024" y="5469941"/>
            <a:ext cx="2270684" cy="555955"/>
          </a:xfrm>
          <a:prstGeom prst="roundRect">
            <a:avLst>
              <a:gd name="adj" fmla="val 4934"/>
            </a:avLst>
          </a:prstGeom>
          <a:solidFill>
            <a:srgbClr val="F7F8F7"/>
          </a:solidFill>
          <a:ln w="5080">
            <a:solidFill>
              <a:srgbClr val="F7F8F7"/>
            </a:solidFill>
            <a:prstDash val="solid"/>
          </a:ln>
        </p:spPr>
      </p:sp>
      <p:sp>
        <p:nvSpPr>
          <p:cNvPr id="49" name="Text 47"/>
          <p:cNvSpPr/>
          <p:nvPr/>
        </p:nvSpPr>
        <p:spPr>
          <a:xfrm>
            <a:off x="6425032" y="5469941"/>
            <a:ext cx="2142668"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Zeigo Activate sunset to be replaced by a light CP calculator</a:t>
            </a:r>
            <a:endParaRPr lang="en-US" sz="900" dirty="0"/>
          </a:p>
        </p:txBody>
      </p:sp>
      <p:sp>
        <p:nvSpPr>
          <p:cNvPr id="50" name="Shape 48"/>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51" name="Shape 49"/>
          <p:cNvSpPr/>
          <p:nvPr/>
        </p:nvSpPr>
        <p:spPr>
          <a:xfrm>
            <a:off x="9024899" y="2084832"/>
            <a:ext cx="2545004" cy="713232"/>
          </a:xfrm>
          <a:prstGeom prst="rect">
            <a:avLst/>
          </a:prstGeom>
          <a:solidFill>
            <a:srgbClr val="EAF1F5"/>
          </a:solidFill>
          <a:ln w="12700">
            <a:solidFill>
              <a:srgbClr val="EAF1F5"/>
            </a:solidFill>
            <a:prstDash val="solid"/>
          </a:ln>
        </p:spPr>
      </p:sp>
      <p:sp>
        <p:nvSpPr>
          <p:cNvPr id="52" name="Shape 50"/>
          <p:cNvSpPr/>
          <p:nvPr/>
        </p:nvSpPr>
        <p:spPr>
          <a:xfrm>
            <a:off x="9024899" y="2084832"/>
            <a:ext cx="54864" cy="4178808"/>
          </a:xfrm>
          <a:prstGeom prst="rect">
            <a:avLst/>
          </a:prstGeom>
          <a:solidFill>
            <a:srgbClr val="275B7F"/>
          </a:solidFill>
          <a:ln w="12700">
            <a:solidFill>
              <a:srgbClr val="275B7F"/>
            </a:solidFill>
            <a:prstDash val="solid"/>
          </a:ln>
        </p:spPr>
      </p:sp>
      <p:sp>
        <p:nvSpPr>
          <p:cNvPr id="53" name="Text 51"/>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54" name="Text 52"/>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55" name="Shape 53"/>
          <p:cNvSpPr/>
          <p:nvPr/>
        </p:nvSpPr>
        <p:spPr>
          <a:xfrm>
            <a:off x="9162059" y="2953512"/>
            <a:ext cx="2270684" cy="555955"/>
          </a:xfrm>
          <a:prstGeom prst="roundRect">
            <a:avLst>
              <a:gd name="adj" fmla="val 4934"/>
            </a:avLst>
          </a:prstGeom>
          <a:solidFill>
            <a:srgbClr val="F7F8F7"/>
          </a:solidFill>
          <a:ln w="5080">
            <a:solidFill>
              <a:srgbClr val="F7F8F7"/>
            </a:solidFill>
            <a:prstDash val="solid"/>
          </a:ln>
        </p:spPr>
      </p:sp>
      <p:sp>
        <p:nvSpPr>
          <p:cNvPr id="56" name="Text 54"/>
          <p:cNvSpPr/>
          <p:nvPr/>
        </p:nvSpPr>
        <p:spPr>
          <a:xfrm>
            <a:off x="9226067"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Supply chain and climate risk integration</a:t>
            </a:r>
            <a:endParaRPr lang="en-US" sz="950" dirty="0"/>
          </a:p>
        </p:txBody>
      </p:sp>
      <p:sp>
        <p:nvSpPr>
          <p:cNvPr id="57" name="Shape 55"/>
          <p:cNvSpPr/>
          <p:nvPr/>
        </p:nvSpPr>
        <p:spPr>
          <a:xfrm>
            <a:off x="9162059" y="3582619"/>
            <a:ext cx="2270684" cy="555955"/>
          </a:xfrm>
          <a:prstGeom prst="roundRect">
            <a:avLst>
              <a:gd name="adj" fmla="val 4934"/>
            </a:avLst>
          </a:prstGeom>
          <a:solidFill>
            <a:srgbClr val="F7F8F7"/>
          </a:solidFill>
          <a:ln w="5080">
            <a:solidFill>
              <a:srgbClr val="F7F8F7"/>
            </a:solidFill>
            <a:prstDash val="solid"/>
          </a:ln>
        </p:spPr>
      </p:sp>
      <p:sp>
        <p:nvSpPr>
          <p:cNvPr id="58" name="Text 56"/>
          <p:cNvSpPr/>
          <p:nvPr/>
        </p:nvSpPr>
        <p:spPr>
          <a:xfrm>
            <a:off x="9226067"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ESG reporting and compliance integration</a:t>
            </a:r>
            <a:endParaRPr lang="en-US" sz="950" dirty="0"/>
          </a:p>
        </p:txBody>
      </p:sp>
      <p:sp>
        <p:nvSpPr>
          <p:cNvPr id="59" name="Shape 57"/>
          <p:cNvSpPr/>
          <p:nvPr/>
        </p:nvSpPr>
        <p:spPr>
          <a:xfrm>
            <a:off x="9162059" y="4211726"/>
            <a:ext cx="2270684" cy="555955"/>
          </a:xfrm>
          <a:prstGeom prst="roundRect">
            <a:avLst>
              <a:gd name="adj" fmla="val 4934"/>
            </a:avLst>
          </a:prstGeom>
          <a:solidFill>
            <a:srgbClr val="F7F8F7"/>
          </a:solidFill>
          <a:ln w="5080">
            <a:solidFill>
              <a:srgbClr val="F7F8F7"/>
            </a:solidFill>
            <a:prstDash val="solid"/>
          </a:ln>
        </p:spPr>
      </p:sp>
      <p:sp>
        <p:nvSpPr>
          <p:cNvPr id="60" name="Text 58"/>
          <p:cNvSpPr/>
          <p:nvPr/>
        </p:nvSpPr>
        <p:spPr>
          <a:xfrm>
            <a:off x="9226067"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Engagement gamification and leaderboards</a:t>
            </a:r>
            <a:endParaRPr lang="en-US" sz="950" dirty="0"/>
          </a:p>
        </p:txBody>
      </p:sp>
      <p:sp>
        <p:nvSpPr>
          <p:cNvPr id="61" name="Shape 59"/>
          <p:cNvSpPr/>
          <p:nvPr/>
        </p:nvSpPr>
        <p:spPr>
          <a:xfrm>
            <a:off x="9162059" y="4840834"/>
            <a:ext cx="2270684" cy="555955"/>
          </a:xfrm>
          <a:prstGeom prst="roundRect">
            <a:avLst>
              <a:gd name="adj" fmla="val 4934"/>
            </a:avLst>
          </a:prstGeom>
          <a:solidFill>
            <a:srgbClr val="F7F8F7"/>
          </a:solidFill>
          <a:ln w="5080">
            <a:solidFill>
              <a:srgbClr val="F7F8F7"/>
            </a:solidFill>
            <a:prstDash val="solid"/>
          </a:ln>
        </p:spPr>
      </p:sp>
      <p:sp>
        <p:nvSpPr>
          <p:cNvPr id="62" name="Text 60"/>
          <p:cNvSpPr/>
          <p:nvPr/>
        </p:nvSpPr>
        <p:spPr>
          <a:xfrm>
            <a:off x="9226067"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Cross programme supplier discovery</a:t>
            </a:r>
            <a:endParaRPr lang="en-US" sz="950" dirty="0"/>
          </a:p>
        </p:txBody>
      </p:sp>
      <p:sp>
        <p:nvSpPr>
          <p:cNvPr id="63" name="Shape 61"/>
          <p:cNvSpPr/>
          <p:nvPr/>
        </p:nvSpPr>
        <p:spPr>
          <a:xfrm>
            <a:off x="621792" y="6437376"/>
            <a:ext cx="10948111" cy="0"/>
          </a:xfrm>
          <a:prstGeom prst="line">
            <a:avLst/>
          </a:prstGeom>
          <a:noFill/>
          <a:ln w="9525">
            <a:solidFill>
              <a:srgbClr val="E2E6E2"/>
            </a:solidFill>
            <a:prstDash val="solid"/>
          </a:ln>
        </p:spPr>
      </p:sp>
      <p:sp>
        <p:nvSpPr>
          <p:cNvPr id="64" name="Text 6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5" name="Text 6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Supply Chain plan on a timeline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Migration and supplier engagement in 2026, then product carbon footprint and connected action in 2027.</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470616"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5484800"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6498984"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7513168"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7513168"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852735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9541535"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10555719"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Shape 19"/>
          <p:cNvSpPr/>
          <p:nvPr/>
        </p:nvSpPr>
        <p:spPr>
          <a:xfrm>
            <a:off x="3456432" y="2103120"/>
            <a:ext cx="0" cy="3794760"/>
          </a:xfrm>
          <a:prstGeom prst="line">
            <a:avLst/>
          </a:prstGeom>
          <a:noFill/>
          <a:ln w="11430">
            <a:solidFill>
              <a:srgbClr val="C8CECA"/>
            </a:solidFill>
            <a:prstDash val="solid"/>
          </a:ln>
        </p:spPr>
      </p:sp>
      <p:sp>
        <p:nvSpPr>
          <p:cNvPr id="22" name="Shape 20"/>
          <p:cNvSpPr/>
          <p:nvPr/>
        </p:nvSpPr>
        <p:spPr>
          <a:xfrm>
            <a:off x="4470616" y="2103120"/>
            <a:ext cx="0" cy="3794760"/>
          </a:xfrm>
          <a:prstGeom prst="line">
            <a:avLst/>
          </a:prstGeom>
          <a:noFill/>
          <a:ln w="4445">
            <a:solidFill>
              <a:srgbClr val="E2E6E2"/>
            </a:solidFill>
            <a:prstDash val="solid"/>
          </a:ln>
        </p:spPr>
      </p:sp>
      <p:sp>
        <p:nvSpPr>
          <p:cNvPr id="23" name="Shape 21"/>
          <p:cNvSpPr/>
          <p:nvPr/>
        </p:nvSpPr>
        <p:spPr>
          <a:xfrm>
            <a:off x="5484800" y="2103120"/>
            <a:ext cx="0" cy="3794760"/>
          </a:xfrm>
          <a:prstGeom prst="line">
            <a:avLst/>
          </a:prstGeom>
          <a:noFill/>
          <a:ln w="4445">
            <a:solidFill>
              <a:srgbClr val="E2E6E2"/>
            </a:solidFill>
            <a:prstDash val="solid"/>
          </a:ln>
        </p:spPr>
      </p:sp>
      <p:sp>
        <p:nvSpPr>
          <p:cNvPr id="24" name="Shape 22"/>
          <p:cNvSpPr/>
          <p:nvPr/>
        </p:nvSpPr>
        <p:spPr>
          <a:xfrm>
            <a:off x="6498984" y="2103120"/>
            <a:ext cx="0" cy="3794760"/>
          </a:xfrm>
          <a:prstGeom prst="line">
            <a:avLst/>
          </a:prstGeom>
          <a:noFill/>
          <a:ln w="4445">
            <a:solidFill>
              <a:srgbClr val="E2E6E2"/>
            </a:solidFill>
            <a:prstDash val="solid"/>
          </a:ln>
        </p:spPr>
      </p:sp>
      <p:sp>
        <p:nvSpPr>
          <p:cNvPr id="25" name="Shape 23"/>
          <p:cNvSpPr/>
          <p:nvPr/>
        </p:nvSpPr>
        <p:spPr>
          <a:xfrm>
            <a:off x="7513168" y="2103120"/>
            <a:ext cx="0" cy="3794760"/>
          </a:xfrm>
          <a:prstGeom prst="line">
            <a:avLst/>
          </a:prstGeom>
          <a:noFill/>
          <a:ln w="11430">
            <a:solidFill>
              <a:srgbClr val="C8CECA"/>
            </a:solidFill>
            <a:prstDash val="solid"/>
          </a:ln>
        </p:spPr>
      </p:sp>
      <p:sp>
        <p:nvSpPr>
          <p:cNvPr id="26" name="Shape 24"/>
          <p:cNvSpPr/>
          <p:nvPr/>
        </p:nvSpPr>
        <p:spPr>
          <a:xfrm>
            <a:off x="8527352" y="2103120"/>
            <a:ext cx="0" cy="3794760"/>
          </a:xfrm>
          <a:prstGeom prst="line">
            <a:avLst/>
          </a:prstGeom>
          <a:noFill/>
          <a:ln w="4445">
            <a:solidFill>
              <a:srgbClr val="E2E6E2"/>
            </a:solidFill>
            <a:prstDash val="solid"/>
          </a:ln>
        </p:spPr>
      </p:sp>
      <p:sp>
        <p:nvSpPr>
          <p:cNvPr id="27" name="Shape 25"/>
          <p:cNvSpPr/>
          <p:nvPr/>
        </p:nvSpPr>
        <p:spPr>
          <a:xfrm>
            <a:off x="9541535" y="2103120"/>
            <a:ext cx="0" cy="3794760"/>
          </a:xfrm>
          <a:prstGeom prst="line">
            <a:avLst/>
          </a:prstGeom>
          <a:noFill/>
          <a:ln w="4445">
            <a:solidFill>
              <a:srgbClr val="E2E6E2"/>
            </a:solidFill>
            <a:prstDash val="solid"/>
          </a:ln>
        </p:spPr>
      </p:sp>
      <p:sp>
        <p:nvSpPr>
          <p:cNvPr id="28" name="Shape 26"/>
          <p:cNvSpPr/>
          <p:nvPr/>
        </p:nvSpPr>
        <p:spPr>
          <a:xfrm>
            <a:off x="10555719" y="2103120"/>
            <a:ext cx="0" cy="3794760"/>
          </a:xfrm>
          <a:prstGeom prst="line">
            <a:avLst/>
          </a:prstGeom>
          <a:noFill/>
          <a:ln w="4445">
            <a:solidFill>
              <a:srgbClr val="E2E6E2"/>
            </a:solidFill>
            <a:prstDash val="solid"/>
          </a:ln>
        </p:spPr>
      </p:sp>
      <p:sp>
        <p:nvSpPr>
          <p:cNvPr id="29" name="Shape 27"/>
          <p:cNvSpPr/>
          <p:nvPr/>
        </p:nvSpPr>
        <p:spPr>
          <a:xfrm>
            <a:off x="11569903" y="2103120"/>
            <a:ext cx="0" cy="3794760"/>
          </a:xfrm>
          <a:prstGeom prst="line">
            <a:avLst/>
          </a:prstGeom>
          <a:noFill/>
          <a:ln w="11430">
            <a:solidFill>
              <a:srgbClr val="C8CECA"/>
            </a:solidFill>
            <a:prstDash val="solid"/>
          </a:ln>
        </p:spPr>
      </p:sp>
      <p:sp>
        <p:nvSpPr>
          <p:cNvPr id="30" name="Shape 28"/>
          <p:cNvSpPr/>
          <p:nvPr/>
        </p:nvSpPr>
        <p:spPr>
          <a:xfrm>
            <a:off x="621792" y="2331720"/>
            <a:ext cx="411480" cy="764177"/>
          </a:xfrm>
          <a:prstGeom prst="rect">
            <a:avLst/>
          </a:prstGeom>
          <a:solidFill>
            <a:srgbClr val="3DCD58"/>
          </a:solidFill>
          <a:ln w="7620">
            <a:solidFill>
              <a:srgbClr val="FFFFFF"/>
            </a:solidFill>
            <a:prstDash val="solid"/>
          </a:ln>
        </p:spPr>
      </p:sp>
      <p:sp>
        <p:nvSpPr>
          <p:cNvPr id="31" name="Text 29"/>
          <p:cNvSpPr/>
          <p:nvPr/>
        </p:nvSpPr>
        <p:spPr>
          <a:xfrm>
            <a:off x="685800" y="2377440"/>
            <a:ext cx="283464" cy="672737"/>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EXPERIENCE</a:t>
            </a:r>
            <a:endParaRPr lang="en-US" sz="750" dirty="0"/>
          </a:p>
        </p:txBody>
      </p:sp>
      <p:sp>
        <p:nvSpPr>
          <p:cNvPr id="32" name="Shape 30"/>
          <p:cNvSpPr/>
          <p:nvPr/>
        </p:nvSpPr>
        <p:spPr>
          <a:xfrm>
            <a:off x="1033272" y="2586446"/>
            <a:ext cx="10536631" cy="0"/>
          </a:xfrm>
          <a:prstGeom prst="line">
            <a:avLst/>
          </a:prstGeom>
          <a:noFill/>
          <a:ln w="4445">
            <a:solidFill>
              <a:srgbClr val="E2E6E2"/>
            </a:solidFill>
            <a:prstDash val="solid"/>
          </a:ln>
        </p:spPr>
      </p:sp>
      <p:sp>
        <p:nvSpPr>
          <p:cNvPr id="33" name="Shape 31"/>
          <p:cNvSpPr/>
          <p:nvPr/>
        </p:nvSpPr>
        <p:spPr>
          <a:xfrm>
            <a:off x="1143000" y="2349355"/>
            <a:ext cx="45720" cy="219456"/>
          </a:xfrm>
          <a:prstGeom prst="roundRect">
            <a:avLst>
              <a:gd name="adj" fmla="val 60000"/>
            </a:avLst>
          </a:prstGeom>
          <a:solidFill>
            <a:srgbClr val="3DCD58"/>
          </a:solidFill>
          <a:ln w="12700">
            <a:solidFill>
              <a:srgbClr val="3DCD58"/>
            </a:solidFill>
            <a:prstDash val="solid"/>
          </a:ln>
        </p:spPr>
      </p:sp>
      <p:sp>
        <p:nvSpPr>
          <p:cNvPr id="34" name="Text 32"/>
          <p:cNvSpPr/>
          <p:nvPr/>
        </p:nvSpPr>
        <p:spPr>
          <a:xfrm>
            <a:off x="1243584" y="2312779"/>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integrations and shared experience</a:t>
            </a:r>
            <a:endParaRPr lang="en-US" sz="950" dirty="0"/>
          </a:p>
        </p:txBody>
      </p:sp>
      <p:sp>
        <p:nvSpPr>
          <p:cNvPr id="35" name="Shape 33"/>
          <p:cNvSpPr/>
          <p:nvPr/>
        </p:nvSpPr>
        <p:spPr>
          <a:xfrm>
            <a:off x="5484800" y="2415779"/>
            <a:ext cx="1014184" cy="86607"/>
          </a:xfrm>
          <a:prstGeom prst="roundRect">
            <a:avLst>
              <a:gd name="adj" fmla="val 42232"/>
            </a:avLst>
          </a:prstGeom>
          <a:solidFill>
            <a:srgbClr val="3DCD58"/>
          </a:solidFill>
          <a:ln w="12700">
            <a:solidFill>
              <a:srgbClr val="3DCD58"/>
            </a:solidFill>
            <a:prstDash val="solid"/>
          </a:ln>
        </p:spPr>
      </p:sp>
      <p:sp>
        <p:nvSpPr>
          <p:cNvPr id="36" name="Shape 34"/>
          <p:cNvSpPr/>
          <p:nvPr/>
        </p:nvSpPr>
        <p:spPr>
          <a:xfrm>
            <a:off x="1033272" y="2841171"/>
            <a:ext cx="10536631" cy="0"/>
          </a:xfrm>
          <a:prstGeom prst="line">
            <a:avLst/>
          </a:prstGeom>
          <a:noFill/>
          <a:ln w="4445">
            <a:solidFill>
              <a:srgbClr val="E2E6E2"/>
            </a:solidFill>
            <a:prstDash val="solid"/>
          </a:ln>
        </p:spPr>
      </p:sp>
      <p:sp>
        <p:nvSpPr>
          <p:cNvPr id="37" name="Shape 35"/>
          <p:cNvSpPr/>
          <p:nvPr/>
        </p:nvSpPr>
        <p:spPr>
          <a:xfrm>
            <a:off x="1143000" y="2604081"/>
            <a:ext cx="45720" cy="219456"/>
          </a:xfrm>
          <a:prstGeom prst="roundRect">
            <a:avLst>
              <a:gd name="adj" fmla="val 60000"/>
            </a:avLst>
          </a:prstGeom>
          <a:solidFill>
            <a:srgbClr val="3DCD58"/>
          </a:solidFill>
          <a:ln w="12700">
            <a:solidFill>
              <a:srgbClr val="3DCD58"/>
            </a:solidFill>
            <a:prstDash val="solid"/>
          </a:ln>
        </p:spPr>
      </p:sp>
      <p:sp>
        <p:nvSpPr>
          <p:cNvPr id="38" name="Text 36"/>
          <p:cNvSpPr/>
          <p:nvPr/>
        </p:nvSpPr>
        <p:spPr>
          <a:xfrm>
            <a:off x="1243584" y="2567505"/>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Rebranding completion</a:t>
            </a:r>
            <a:endParaRPr lang="en-US" sz="950" dirty="0"/>
          </a:p>
        </p:txBody>
      </p:sp>
      <p:sp>
        <p:nvSpPr>
          <p:cNvPr id="39" name="Shape 37"/>
          <p:cNvSpPr/>
          <p:nvPr/>
        </p:nvSpPr>
        <p:spPr>
          <a:xfrm>
            <a:off x="6498984" y="2670505"/>
            <a:ext cx="1014184" cy="86607"/>
          </a:xfrm>
          <a:prstGeom prst="roundRect">
            <a:avLst>
              <a:gd name="adj" fmla="val 42232"/>
            </a:avLst>
          </a:prstGeom>
          <a:solidFill>
            <a:srgbClr val="3DCD58"/>
          </a:solidFill>
          <a:ln w="12700">
            <a:solidFill>
              <a:srgbClr val="3DCD58"/>
            </a:solidFill>
            <a:prstDash val="solid"/>
          </a:ln>
        </p:spPr>
      </p:sp>
      <p:sp>
        <p:nvSpPr>
          <p:cNvPr id="40" name="Shape 38"/>
          <p:cNvSpPr/>
          <p:nvPr/>
        </p:nvSpPr>
        <p:spPr>
          <a:xfrm>
            <a:off x="1033272" y="3095897"/>
            <a:ext cx="10536631" cy="0"/>
          </a:xfrm>
          <a:prstGeom prst="line">
            <a:avLst/>
          </a:prstGeom>
          <a:noFill/>
          <a:ln w="4445">
            <a:solidFill>
              <a:srgbClr val="E2E6E2"/>
            </a:solidFill>
            <a:prstDash val="solid"/>
          </a:ln>
        </p:spPr>
      </p:sp>
      <p:sp>
        <p:nvSpPr>
          <p:cNvPr id="41" name="Shape 39"/>
          <p:cNvSpPr/>
          <p:nvPr/>
        </p:nvSpPr>
        <p:spPr>
          <a:xfrm>
            <a:off x="1143000" y="2858806"/>
            <a:ext cx="45720" cy="219456"/>
          </a:xfrm>
          <a:prstGeom prst="roundRect">
            <a:avLst>
              <a:gd name="adj" fmla="val 60000"/>
            </a:avLst>
          </a:prstGeom>
          <a:solidFill>
            <a:srgbClr val="3DCD58"/>
          </a:solidFill>
          <a:ln w="12700">
            <a:solidFill>
              <a:srgbClr val="3DCD58"/>
            </a:solidFill>
            <a:prstDash val="solid"/>
          </a:ln>
        </p:spPr>
      </p:sp>
      <p:sp>
        <p:nvSpPr>
          <p:cNvPr id="42" name="Text 40"/>
          <p:cNvSpPr/>
          <p:nvPr/>
        </p:nvSpPr>
        <p:spPr>
          <a:xfrm>
            <a:off x="1243584" y="2822230"/>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Supplier onboarding and participation</a:t>
            </a:r>
            <a:endParaRPr lang="en-US" sz="950" dirty="0"/>
          </a:p>
        </p:txBody>
      </p:sp>
      <p:sp>
        <p:nvSpPr>
          <p:cNvPr id="43" name="Shape 41"/>
          <p:cNvSpPr/>
          <p:nvPr/>
        </p:nvSpPr>
        <p:spPr>
          <a:xfrm>
            <a:off x="7513168" y="2925231"/>
            <a:ext cx="2028368" cy="86607"/>
          </a:xfrm>
          <a:prstGeom prst="roundRect">
            <a:avLst>
              <a:gd name="adj" fmla="val 42232"/>
            </a:avLst>
          </a:prstGeom>
          <a:solidFill>
            <a:srgbClr val="3DCD58"/>
          </a:solidFill>
          <a:ln w="12700">
            <a:solidFill>
              <a:srgbClr val="3DCD58"/>
            </a:solidFill>
            <a:prstDash val="solid"/>
          </a:ln>
        </p:spPr>
      </p:sp>
      <p:sp>
        <p:nvSpPr>
          <p:cNvPr id="44" name="Shape 42"/>
          <p:cNvSpPr/>
          <p:nvPr/>
        </p:nvSpPr>
        <p:spPr>
          <a:xfrm>
            <a:off x="621792" y="3095897"/>
            <a:ext cx="411480" cy="1018903"/>
          </a:xfrm>
          <a:prstGeom prst="rect">
            <a:avLst/>
          </a:prstGeom>
          <a:solidFill>
            <a:srgbClr val="007A27"/>
          </a:solidFill>
          <a:ln w="7620">
            <a:solidFill>
              <a:srgbClr val="FFFFFF"/>
            </a:solidFill>
            <a:prstDash val="solid"/>
          </a:ln>
        </p:spPr>
      </p:sp>
      <p:sp>
        <p:nvSpPr>
          <p:cNvPr id="45" name="Text 43"/>
          <p:cNvSpPr/>
          <p:nvPr/>
        </p:nvSpPr>
        <p:spPr>
          <a:xfrm>
            <a:off x="685800" y="3141617"/>
            <a:ext cx="283464" cy="927463"/>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MEASUREMENT</a:t>
            </a:r>
            <a:endParaRPr lang="en-US" sz="750" dirty="0"/>
          </a:p>
        </p:txBody>
      </p:sp>
      <p:sp>
        <p:nvSpPr>
          <p:cNvPr id="46" name="Shape 44"/>
          <p:cNvSpPr/>
          <p:nvPr/>
        </p:nvSpPr>
        <p:spPr>
          <a:xfrm>
            <a:off x="1033272" y="3350623"/>
            <a:ext cx="10536631" cy="0"/>
          </a:xfrm>
          <a:prstGeom prst="line">
            <a:avLst/>
          </a:prstGeom>
          <a:noFill/>
          <a:ln w="4445">
            <a:solidFill>
              <a:srgbClr val="E2E6E2"/>
            </a:solidFill>
            <a:prstDash val="solid"/>
          </a:ln>
        </p:spPr>
      </p:sp>
      <p:sp>
        <p:nvSpPr>
          <p:cNvPr id="47" name="Shape 45"/>
          <p:cNvSpPr/>
          <p:nvPr/>
        </p:nvSpPr>
        <p:spPr>
          <a:xfrm>
            <a:off x="1143000" y="3113532"/>
            <a:ext cx="45720" cy="219456"/>
          </a:xfrm>
          <a:prstGeom prst="roundRect">
            <a:avLst>
              <a:gd name="adj" fmla="val 60000"/>
            </a:avLst>
          </a:prstGeom>
          <a:solidFill>
            <a:srgbClr val="007A27"/>
          </a:solidFill>
          <a:ln w="12700">
            <a:solidFill>
              <a:srgbClr val="007A27"/>
            </a:solidFill>
            <a:prstDash val="solid"/>
          </a:ln>
        </p:spPr>
      </p:sp>
      <p:sp>
        <p:nvSpPr>
          <p:cNvPr id="48" name="Text 46"/>
          <p:cNvSpPr/>
          <p:nvPr/>
        </p:nvSpPr>
        <p:spPr>
          <a:xfrm>
            <a:off x="1243584" y="30769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End to end supply chain emissions</a:t>
            </a:r>
            <a:endParaRPr lang="en-US" sz="950" dirty="0"/>
          </a:p>
        </p:txBody>
      </p:sp>
      <p:sp>
        <p:nvSpPr>
          <p:cNvPr id="49" name="Shape 47"/>
          <p:cNvSpPr/>
          <p:nvPr/>
        </p:nvSpPr>
        <p:spPr>
          <a:xfrm>
            <a:off x="5484800" y="3179957"/>
            <a:ext cx="1014184" cy="86607"/>
          </a:xfrm>
          <a:prstGeom prst="roundRect">
            <a:avLst>
              <a:gd name="adj" fmla="val 42232"/>
            </a:avLst>
          </a:prstGeom>
          <a:solidFill>
            <a:srgbClr val="007A27"/>
          </a:solidFill>
          <a:ln w="12700">
            <a:solidFill>
              <a:srgbClr val="007A27"/>
            </a:solidFill>
            <a:prstDash val="solid"/>
          </a:ln>
        </p:spPr>
      </p:sp>
      <p:sp>
        <p:nvSpPr>
          <p:cNvPr id="50" name="Shape 48"/>
          <p:cNvSpPr/>
          <p:nvPr/>
        </p:nvSpPr>
        <p:spPr>
          <a:xfrm>
            <a:off x="1033272" y="3605349"/>
            <a:ext cx="10536631" cy="0"/>
          </a:xfrm>
          <a:prstGeom prst="line">
            <a:avLst/>
          </a:prstGeom>
          <a:noFill/>
          <a:ln w="4445">
            <a:solidFill>
              <a:srgbClr val="E2E6E2"/>
            </a:solidFill>
            <a:prstDash val="solid"/>
          </a:ln>
        </p:spPr>
      </p:sp>
      <p:sp>
        <p:nvSpPr>
          <p:cNvPr id="51" name="Shape 49"/>
          <p:cNvSpPr/>
          <p:nvPr/>
        </p:nvSpPr>
        <p:spPr>
          <a:xfrm>
            <a:off x="1143000" y="3368258"/>
            <a:ext cx="45720" cy="219456"/>
          </a:xfrm>
          <a:prstGeom prst="roundRect">
            <a:avLst>
              <a:gd name="adj" fmla="val 60000"/>
            </a:avLst>
          </a:prstGeom>
          <a:solidFill>
            <a:srgbClr val="007A27"/>
          </a:solidFill>
          <a:ln w="12700">
            <a:solidFill>
              <a:srgbClr val="007A27"/>
            </a:solidFill>
            <a:prstDash val="solid"/>
          </a:ln>
        </p:spPr>
      </p:sp>
      <p:sp>
        <p:nvSpPr>
          <p:cNvPr id="52" name="Text 50"/>
          <p:cNvSpPr/>
          <p:nvPr/>
        </p:nvSpPr>
        <p:spPr>
          <a:xfrm>
            <a:off x="1243584" y="3331682"/>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Improved data quality assurance</a:t>
            </a:r>
            <a:endParaRPr lang="en-US" sz="950" dirty="0"/>
          </a:p>
        </p:txBody>
      </p:sp>
      <p:sp>
        <p:nvSpPr>
          <p:cNvPr id="53" name="Shape 51"/>
          <p:cNvSpPr/>
          <p:nvPr/>
        </p:nvSpPr>
        <p:spPr>
          <a:xfrm>
            <a:off x="6498984" y="3434682"/>
            <a:ext cx="1014184" cy="86607"/>
          </a:xfrm>
          <a:prstGeom prst="roundRect">
            <a:avLst>
              <a:gd name="adj" fmla="val 42232"/>
            </a:avLst>
          </a:prstGeom>
          <a:solidFill>
            <a:srgbClr val="007A27"/>
          </a:solidFill>
          <a:ln w="12700">
            <a:solidFill>
              <a:srgbClr val="007A27"/>
            </a:solidFill>
            <a:prstDash val="solid"/>
          </a:ln>
        </p:spPr>
      </p:sp>
      <p:sp>
        <p:nvSpPr>
          <p:cNvPr id="54" name="Shape 52"/>
          <p:cNvSpPr/>
          <p:nvPr/>
        </p:nvSpPr>
        <p:spPr>
          <a:xfrm>
            <a:off x="1033272" y="3860074"/>
            <a:ext cx="10536631" cy="0"/>
          </a:xfrm>
          <a:prstGeom prst="line">
            <a:avLst/>
          </a:prstGeom>
          <a:noFill/>
          <a:ln w="4445">
            <a:solidFill>
              <a:srgbClr val="E2E6E2"/>
            </a:solidFill>
            <a:prstDash val="solid"/>
          </a:ln>
        </p:spPr>
      </p:sp>
      <p:sp>
        <p:nvSpPr>
          <p:cNvPr id="55" name="Shape 53"/>
          <p:cNvSpPr/>
          <p:nvPr/>
        </p:nvSpPr>
        <p:spPr>
          <a:xfrm>
            <a:off x="1143000" y="3622983"/>
            <a:ext cx="45720" cy="219456"/>
          </a:xfrm>
          <a:prstGeom prst="roundRect">
            <a:avLst>
              <a:gd name="adj" fmla="val 60000"/>
            </a:avLst>
          </a:prstGeom>
          <a:solidFill>
            <a:srgbClr val="007A27"/>
          </a:solidFill>
          <a:ln w="12700">
            <a:solidFill>
              <a:srgbClr val="007A27"/>
            </a:solidFill>
            <a:prstDash val="solid"/>
          </a:ln>
        </p:spPr>
      </p:sp>
      <p:sp>
        <p:nvSpPr>
          <p:cNvPr id="56" name="Text 54"/>
          <p:cNvSpPr/>
          <p:nvPr/>
        </p:nvSpPr>
        <p:spPr>
          <a:xfrm>
            <a:off x="1243584" y="3586407"/>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Light PCF calculator and SEED</a:t>
            </a:r>
            <a:endParaRPr lang="en-US" sz="950" dirty="0"/>
          </a:p>
        </p:txBody>
      </p:sp>
      <p:sp>
        <p:nvSpPr>
          <p:cNvPr id="57" name="Shape 55"/>
          <p:cNvSpPr/>
          <p:nvPr/>
        </p:nvSpPr>
        <p:spPr>
          <a:xfrm>
            <a:off x="7513168" y="3689408"/>
            <a:ext cx="2028368" cy="86607"/>
          </a:xfrm>
          <a:prstGeom prst="roundRect">
            <a:avLst>
              <a:gd name="adj" fmla="val 42232"/>
            </a:avLst>
          </a:prstGeom>
          <a:solidFill>
            <a:srgbClr val="007A27"/>
          </a:solidFill>
          <a:ln w="12700">
            <a:solidFill>
              <a:srgbClr val="007A27"/>
            </a:solidFill>
            <a:prstDash val="solid"/>
          </a:ln>
        </p:spPr>
      </p:sp>
      <p:sp>
        <p:nvSpPr>
          <p:cNvPr id="58" name="Shape 56"/>
          <p:cNvSpPr/>
          <p:nvPr/>
        </p:nvSpPr>
        <p:spPr>
          <a:xfrm>
            <a:off x="1033272" y="4114800"/>
            <a:ext cx="10536631" cy="0"/>
          </a:xfrm>
          <a:prstGeom prst="line">
            <a:avLst/>
          </a:prstGeom>
          <a:noFill/>
          <a:ln w="4445">
            <a:solidFill>
              <a:srgbClr val="E2E6E2"/>
            </a:solidFill>
            <a:prstDash val="solid"/>
          </a:ln>
        </p:spPr>
      </p:sp>
      <p:sp>
        <p:nvSpPr>
          <p:cNvPr id="59" name="Shape 57"/>
          <p:cNvSpPr/>
          <p:nvPr/>
        </p:nvSpPr>
        <p:spPr>
          <a:xfrm>
            <a:off x="1143000" y="3877709"/>
            <a:ext cx="45720" cy="219456"/>
          </a:xfrm>
          <a:prstGeom prst="roundRect">
            <a:avLst>
              <a:gd name="adj" fmla="val 60000"/>
            </a:avLst>
          </a:prstGeom>
          <a:solidFill>
            <a:srgbClr val="007A27"/>
          </a:solidFill>
          <a:ln w="12700">
            <a:solidFill>
              <a:srgbClr val="007A27"/>
            </a:solidFill>
            <a:prstDash val="solid"/>
          </a:ln>
        </p:spPr>
      </p:sp>
      <p:sp>
        <p:nvSpPr>
          <p:cNvPr id="60" name="Text 58"/>
          <p:cNvSpPr/>
          <p:nvPr/>
        </p:nvSpPr>
        <p:spPr>
          <a:xfrm>
            <a:off x="1243584" y="3841133"/>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Multi tier supplier visibility</a:t>
            </a:r>
            <a:endParaRPr lang="en-US" sz="950" dirty="0"/>
          </a:p>
        </p:txBody>
      </p:sp>
      <p:sp>
        <p:nvSpPr>
          <p:cNvPr id="61" name="Shape 59"/>
          <p:cNvSpPr/>
          <p:nvPr/>
        </p:nvSpPr>
        <p:spPr>
          <a:xfrm>
            <a:off x="7513168" y="3944134"/>
            <a:ext cx="2028368" cy="86607"/>
          </a:xfrm>
          <a:prstGeom prst="roundRect">
            <a:avLst>
              <a:gd name="adj" fmla="val 42232"/>
            </a:avLst>
          </a:prstGeom>
          <a:solidFill>
            <a:srgbClr val="007A27"/>
          </a:solidFill>
          <a:ln w="12700">
            <a:solidFill>
              <a:srgbClr val="007A27"/>
            </a:solidFill>
            <a:prstDash val="solid"/>
          </a:ln>
        </p:spPr>
      </p:sp>
      <p:sp>
        <p:nvSpPr>
          <p:cNvPr id="62" name="Shape 60"/>
          <p:cNvSpPr/>
          <p:nvPr/>
        </p:nvSpPr>
        <p:spPr>
          <a:xfrm>
            <a:off x="621792" y="4114800"/>
            <a:ext cx="411480" cy="1018903"/>
          </a:xfrm>
          <a:prstGeom prst="rect">
            <a:avLst/>
          </a:prstGeom>
          <a:solidFill>
            <a:srgbClr val="FFB04C"/>
          </a:solidFill>
          <a:ln w="7620">
            <a:solidFill>
              <a:srgbClr val="FFFFFF"/>
            </a:solidFill>
            <a:prstDash val="solid"/>
          </a:ln>
        </p:spPr>
      </p:sp>
      <p:sp>
        <p:nvSpPr>
          <p:cNvPr id="63" name="Text 61"/>
          <p:cNvSpPr/>
          <p:nvPr/>
        </p:nvSpPr>
        <p:spPr>
          <a:xfrm>
            <a:off x="685800" y="4160520"/>
            <a:ext cx="283464" cy="927463"/>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ENGAGEMENT</a:t>
            </a:r>
            <a:endParaRPr lang="en-US" sz="750" dirty="0"/>
          </a:p>
        </p:txBody>
      </p:sp>
      <p:sp>
        <p:nvSpPr>
          <p:cNvPr id="64" name="Shape 62"/>
          <p:cNvSpPr/>
          <p:nvPr/>
        </p:nvSpPr>
        <p:spPr>
          <a:xfrm>
            <a:off x="1033272" y="4369526"/>
            <a:ext cx="10536631" cy="0"/>
          </a:xfrm>
          <a:prstGeom prst="line">
            <a:avLst/>
          </a:prstGeom>
          <a:noFill/>
          <a:ln w="4445">
            <a:solidFill>
              <a:srgbClr val="E2E6E2"/>
            </a:solidFill>
            <a:prstDash val="solid"/>
          </a:ln>
        </p:spPr>
      </p:sp>
      <p:sp>
        <p:nvSpPr>
          <p:cNvPr id="65" name="Shape 63"/>
          <p:cNvSpPr/>
          <p:nvPr/>
        </p:nvSpPr>
        <p:spPr>
          <a:xfrm>
            <a:off x="1143000" y="4132435"/>
            <a:ext cx="45720" cy="219456"/>
          </a:xfrm>
          <a:prstGeom prst="roundRect">
            <a:avLst>
              <a:gd name="adj" fmla="val 60000"/>
            </a:avLst>
          </a:prstGeom>
          <a:solidFill>
            <a:srgbClr val="FFB04C"/>
          </a:solidFill>
          <a:ln w="12700">
            <a:solidFill>
              <a:srgbClr val="FFB04C"/>
            </a:solidFill>
            <a:prstDash val="solid"/>
          </a:ln>
        </p:spPr>
      </p:sp>
      <p:sp>
        <p:nvSpPr>
          <p:cNvPr id="66" name="Text 64"/>
          <p:cNvSpPr/>
          <p:nvPr/>
        </p:nvSpPr>
        <p:spPr>
          <a:xfrm>
            <a:off x="1243584" y="4095859"/>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Custom questionnaires and guided action</a:t>
            </a:r>
            <a:endParaRPr lang="en-US" sz="950" dirty="0"/>
          </a:p>
        </p:txBody>
      </p:sp>
      <p:sp>
        <p:nvSpPr>
          <p:cNvPr id="67" name="Shape 65"/>
          <p:cNvSpPr/>
          <p:nvPr/>
        </p:nvSpPr>
        <p:spPr>
          <a:xfrm>
            <a:off x="5484800" y="4198859"/>
            <a:ext cx="1014184" cy="86607"/>
          </a:xfrm>
          <a:prstGeom prst="roundRect">
            <a:avLst>
              <a:gd name="adj" fmla="val 42232"/>
            </a:avLst>
          </a:prstGeom>
          <a:solidFill>
            <a:srgbClr val="FFB04C"/>
          </a:solidFill>
          <a:ln w="12700">
            <a:solidFill>
              <a:srgbClr val="FFB04C"/>
            </a:solidFill>
            <a:prstDash val="solid"/>
          </a:ln>
        </p:spPr>
      </p:sp>
      <p:sp>
        <p:nvSpPr>
          <p:cNvPr id="68" name="Shape 66"/>
          <p:cNvSpPr/>
          <p:nvPr/>
        </p:nvSpPr>
        <p:spPr>
          <a:xfrm>
            <a:off x="1033272" y="4624251"/>
            <a:ext cx="10536631" cy="0"/>
          </a:xfrm>
          <a:prstGeom prst="line">
            <a:avLst/>
          </a:prstGeom>
          <a:noFill/>
          <a:ln w="4445">
            <a:solidFill>
              <a:srgbClr val="E2E6E2"/>
            </a:solidFill>
            <a:prstDash val="solid"/>
          </a:ln>
        </p:spPr>
      </p:sp>
      <p:sp>
        <p:nvSpPr>
          <p:cNvPr id="69" name="Shape 67"/>
          <p:cNvSpPr/>
          <p:nvPr/>
        </p:nvSpPr>
        <p:spPr>
          <a:xfrm>
            <a:off x="1143000" y="4387161"/>
            <a:ext cx="45720" cy="219456"/>
          </a:xfrm>
          <a:prstGeom prst="roundRect">
            <a:avLst>
              <a:gd name="adj" fmla="val 60000"/>
            </a:avLst>
          </a:prstGeom>
          <a:solidFill>
            <a:srgbClr val="FFB04C"/>
          </a:solidFill>
          <a:ln w="12700">
            <a:solidFill>
              <a:srgbClr val="FFB04C"/>
            </a:solidFill>
            <a:prstDash val="solid"/>
          </a:ln>
        </p:spPr>
      </p:sp>
      <p:sp>
        <p:nvSpPr>
          <p:cNvPr id="70" name="Text 68"/>
          <p:cNvSpPr/>
          <p:nvPr/>
        </p:nvSpPr>
        <p:spPr>
          <a:xfrm>
            <a:off x="1243584" y="4350585"/>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Sponsor decision support and transparency</a:t>
            </a:r>
            <a:endParaRPr lang="en-US" sz="950" dirty="0"/>
          </a:p>
        </p:txBody>
      </p:sp>
      <p:sp>
        <p:nvSpPr>
          <p:cNvPr id="71" name="Shape 69"/>
          <p:cNvSpPr/>
          <p:nvPr/>
        </p:nvSpPr>
        <p:spPr>
          <a:xfrm>
            <a:off x="6498984" y="4453585"/>
            <a:ext cx="1014184" cy="86607"/>
          </a:xfrm>
          <a:prstGeom prst="roundRect">
            <a:avLst>
              <a:gd name="adj" fmla="val 42232"/>
            </a:avLst>
          </a:prstGeom>
          <a:solidFill>
            <a:srgbClr val="FFB04C"/>
          </a:solidFill>
          <a:ln w="12700">
            <a:solidFill>
              <a:srgbClr val="FFB04C"/>
            </a:solidFill>
            <a:prstDash val="solid"/>
          </a:ln>
        </p:spPr>
      </p:sp>
      <p:sp>
        <p:nvSpPr>
          <p:cNvPr id="72" name="Shape 70"/>
          <p:cNvSpPr/>
          <p:nvPr/>
        </p:nvSpPr>
        <p:spPr>
          <a:xfrm>
            <a:off x="1033272" y="4878977"/>
            <a:ext cx="10536631" cy="0"/>
          </a:xfrm>
          <a:prstGeom prst="line">
            <a:avLst/>
          </a:prstGeom>
          <a:noFill/>
          <a:ln w="4445">
            <a:solidFill>
              <a:srgbClr val="E2E6E2"/>
            </a:solidFill>
            <a:prstDash val="solid"/>
          </a:ln>
        </p:spPr>
      </p:sp>
      <p:sp>
        <p:nvSpPr>
          <p:cNvPr id="73" name="Shape 71"/>
          <p:cNvSpPr/>
          <p:nvPr/>
        </p:nvSpPr>
        <p:spPr>
          <a:xfrm>
            <a:off x="1143000" y="4641886"/>
            <a:ext cx="45720" cy="219456"/>
          </a:xfrm>
          <a:prstGeom prst="roundRect">
            <a:avLst>
              <a:gd name="adj" fmla="val 60000"/>
            </a:avLst>
          </a:prstGeom>
          <a:solidFill>
            <a:srgbClr val="FFB04C"/>
          </a:solidFill>
          <a:ln w="12700">
            <a:solidFill>
              <a:srgbClr val="FFB04C"/>
            </a:solidFill>
            <a:prstDash val="solid"/>
          </a:ln>
        </p:spPr>
      </p:sp>
      <p:sp>
        <p:nvSpPr>
          <p:cNvPr id="74" name="Text 72"/>
          <p:cNvSpPr/>
          <p:nvPr/>
        </p:nvSpPr>
        <p:spPr>
          <a:xfrm>
            <a:off x="1243584" y="4605310"/>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Zeigo network integration</a:t>
            </a:r>
            <a:endParaRPr lang="en-US" sz="950" dirty="0"/>
          </a:p>
        </p:txBody>
      </p:sp>
      <p:sp>
        <p:nvSpPr>
          <p:cNvPr id="75" name="Shape 73"/>
          <p:cNvSpPr/>
          <p:nvPr/>
        </p:nvSpPr>
        <p:spPr>
          <a:xfrm>
            <a:off x="6498984" y="4708311"/>
            <a:ext cx="1014184" cy="86607"/>
          </a:xfrm>
          <a:prstGeom prst="roundRect">
            <a:avLst>
              <a:gd name="adj" fmla="val 42232"/>
            </a:avLst>
          </a:prstGeom>
          <a:solidFill>
            <a:srgbClr val="FFB04C"/>
          </a:solidFill>
          <a:ln w="12700">
            <a:solidFill>
              <a:srgbClr val="FFB04C"/>
            </a:solidFill>
            <a:prstDash val="solid"/>
          </a:ln>
        </p:spPr>
      </p:sp>
      <p:sp>
        <p:nvSpPr>
          <p:cNvPr id="76" name="Shape 74"/>
          <p:cNvSpPr/>
          <p:nvPr/>
        </p:nvSpPr>
        <p:spPr>
          <a:xfrm>
            <a:off x="1033272" y="5133703"/>
            <a:ext cx="10536631" cy="0"/>
          </a:xfrm>
          <a:prstGeom prst="line">
            <a:avLst/>
          </a:prstGeom>
          <a:noFill/>
          <a:ln w="4445">
            <a:solidFill>
              <a:srgbClr val="E2E6E2"/>
            </a:solidFill>
            <a:prstDash val="solid"/>
          </a:ln>
        </p:spPr>
      </p:sp>
      <p:sp>
        <p:nvSpPr>
          <p:cNvPr id="77" name="Shape 75"/>
          <p:cNvSpPr/>
          <p:nvPr/>
        </p:nvSpPr>
        <p:spPr>
          <a:xfrm>
            <a:off x="1143000" y="4896612"/>
            <a:ext cx="45720" cy="219456"/>
          </a:xfrm>
          <a:prstGeom prst="roundRect">
            <a:avLst>
              <a:gd name="adj" fmla="val 60000"/>
            </a:avLst>
          </a:prstGeom>
          <a:solidFill>
            <a:srgbClr val="FFB04C"/>
          </a:solidFill>
          <a:ln w="12700">
            <a:solidFill>
              <a:srgbClr val="FFB04C"/>
            </a:solidFill>
            <a:prstDash val="solid"/>
          </a:ln>
        </p:spPr>
      </p:sp>
      <p:sp>
        <p:nvSpPr>
          <p:cNvPr id="78" name="Text 76"/>
          <p:cNvSpPr/>
          <p:nvPr/>
        </p:nvSpPr>
        <p:spPr>
          <a:xfrm>
            <a:off x="1243584" y="48600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Gamification and supplier discovery</a:t>
            </a:r>
            <a:endParaRPr lang="en-US" sz="950" dirty="0"/>
          </a:p>
        </p:txBody>
      </p:sp>
      <p:sp>
        <p:nvSpPr>
          <p:cNvPr id="79" name="Shape 77"/>
          <p:cNvSpPr/>
          <p:nvPr/>
        </p:nvSpPr>
        <p:spPr>
          <a:xfrm>
            <a:off x="9541535" y="4963037"/>
            <a:ext cx="2028368" cy="86607"/>
          </a:xfrm>
          <a:prstGeom prst="roundRect">
            <a:avLst>
              <a:gd name="adj" fmla="val 42232"/>
            </a:avLst>
          </a:prstGeom>
          <a:solidFill>
            <a:srgbClr val="FFB04C"/>
          </a:solidFill>
          <a:ln w="12700">
            <a:solidFill>
              <a:srgbClr val="FFB04C"/>
            </a:solidFill>
            <a:prstDash val="solid"/>
          </a:ln>
        </p:spPr>
      </p:sp>
      <p:sp>
        <p:nvSpPr>
          <p:cNvPr id="80" name="Shape 78"/>
          <p:cNvSpPr/>
          <p:nvPr/>
        </p:nvSpPr>
        <p:spPr>
          <a:xfrm>
            <a:off x="621792" y="5133703"/>
            <a:ext cx="411480" cy="764177"/>
          </a:xfrm>
          <a:prstGeom prst="rect">
            <a:avLst/>
          </a:prstGeom>
          <a:solidFill>
            <a:srgbClr val="275B7F"/>
          </a:solidFill>
          <a:ln w="7620">
            <a:solidFill>
              <a:srgbClr val="FFFFFF"/>
            </a:solidFill>
            <a:prstDash val="solid"/>
          </a:ln>
        </p:spPr>
      </p:sp>
      <p:sp>
        <p:nvSpPr>
          <p:cNvPr id="81" name="Text 79"/>
          <p:cNvSpPr/>
          <p:nvPr/>
        </p:nvSpPr>
        <p:spPr>
          <a:xfrm>
            <a:off x="685800" y="5179423"/>
            <a:ext cx="283464" cy="672737"/>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INTEGRATION</a:t>
            </a:r>
            <a:endParaRPr lang="en-US" sz="750" dirty="0"/>
          </a:p>
        </p:txBody>
      </p:sp>
      <p:sp>
        <p:nvSpPr>
          <p:cNvPr id="82" name="Shape 80"/>
          <p:cNvSpPr/>
          <p:nvPr/>
        </p:nvSpPr>
        <p:spPr>
          <a:xfrm>
            <a:off x="1033272" y="5388429"/>
            <a:ext cx="10536631" cy="0"/>
          </a:xfrm>
          <a:prstGeom prst="line">
            <a:avLst/>
          </a:prstGeom>
          <a:noFill/>
          <a:ln w="4445">
            <a:solidFill>
              <a:srgbClr val="E2E6E2"/>
            </a:solidFill>
            <a:prstDash val="solid"/>
          </a:ln>
        </p:spPr>
      </p:sp>
      <p:sp>
        <p:nvSpPr>
          <p:cNvPr id="83" name="Shape 81"/>
          <p:cNvSpPr/>
          <p:nvPr/>
        </p:nvSpPr>
        <p:spPr>
          <a:xfrm>
            <a:off x="1143000" y="5151338"/>
            <a:ext cx="45720" cy="219456"/>
          </a:xfrm>
          <a:prstGeom prst="roundRect">
            <a:avLst>
              <a:gd name="adj" fmla="val 60000"/>
            </a:avLst>
          </a:prstGeom>
          <a:solidFill>
            <a:srgbClr val="275B7F"/>
          </a:solidFill>
          <a:ln w="12700">
            <a:solidFill>
              <a:srgbClr val="275B7F"/>
            </a:solidFill>
            <a:prstDash val="solid"/>
          </a:ln>
        </p:spPr>
      </p:sp>
      <p:sp>
        <p:nvSpPr>
          <p:cNvPr id="84" name="Text 82"/>
          <p:cNvSpPr/>
          <p:nvPr/>
        </p:nvSpPr>
        <p:spPr>
          <a:xfrm>
            <a:off x="1243584" y="5114762"/>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Advanced tier level subscription</a:t>
            </a:r>
            <a:endParaRPr lang="en-US" sz="950" dirty="0"/>
          </a:p>
        </p:txBody>
      </p:sp>
      <p:sp>
        <p:nvSpPr>
          <p:cNvPr id="85" name="Shape 83"/>
          <p:cNvSpPr/>
          <p:nvPr/>
        </p:nvSpPr>
        <p:spPr>
          <a:xfrm>
            <a:off x="7513168" y="5217762"/>
            <a:ext cx="2028368" cy="86607"/>
          </a:xfrm>
          <a:prstGeom prst="roundRect">
            <a:avLst>
              <a:gd name="adj" fmla="val 42232"/>
            </a:avLst>
          </a:prstGeom>
          <a:solidFill>
            <a:srgbClr val="275B7F"/>
          </a:solidFill>
          <a:ln w="12700">
            <a:solidFill>
              <a:srgbClr val="275B7F"/>
            </a:solidFill>
            <a:prstDash val="solid"/>
          </a:ln>
        </p:spPr>
      </p:sp>
      <p:sp>
        <p:nvSpPr>
          <p:cNvPr id="86" name="Shape 84"/>
          <p:cNvSpPr/>
          <p:nvPr/>
        </p:nvSpPr>
        <p:spPr>
          <a:xfrm>
            <a:off x="1033272" y="5643154"/>
            <a:ext cx="10536631" cy="0"/>
          </a:xfrm>
          <a:prstGeom prst="line">
            <a:avLst/>
          </a:prstGeom>
          <a:noFill/>
          <a:ln w="4445">
            <a:solidFill>
              <a:srgbClr val="E2E6E2"/>
            </a:solidFill>
            <a:prstDash val="solid"/>
          </a:ln>
        </p:spPr>
      </p:sp>
      <p:sp>
        <p:nvSpPr>
          <p:cNvPr id="87" name="Shape 85"/>
          <p:cNvSpPr/>
          <p:nvPr/>
        </p:nvSpPr>
        <p:spPr>
          <a:xfrm>
            <a:off x="1143000" y="5406063"/>
            <a:ext cx="45720" cy="219456"/>
          </a:xfrm>
          <a:prstGeom prst="roundRect">
            <a:avLst>
              <a:gd name="adj" fmla="val 60000"/>
            </a:avLst>
          </a:prstGeom>
          <a:solidFill>
            <a:srgbClr val="275B7F"/>
          </a:solidFill>
          <a:ln w="12700">
            <a:solidFill>
              <a:srgbClr val="275B7F"/>
            </a:solidFill>
            <a:prstDash val="solid"/>
          </a:ln>
        </p:spPr>
      </p:sp>
      <p:sp>
        <p:nvSpPr>
          <p:cNvPr id="88" name="Text 86"/>
          <p:cNvSpPr/>
          <p:nvPr/>
        </p:nvSpPr>
        <p:spPr>
          <a:xfrm>
            <a:off x="1243584" y="5369487"/>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Climate Risk integration</a:t>
            </a:r>
            <a:endParaRPr lang="en-US" sz="950" dirty="0"/>
          </a:p>
        </p:txBody>
      </p:sp>
      <p:sp>
        <p:nvSpPr>
          <p:cNvPr id="89" name="Shape 87"/>
          <p:cNvSpPr/>
          <p:nvPr/>
        </p:nvSpPr>
        <p:spPr>
          <a:xfrm>
            <a:off x="9541535" y="5472488"/>
            <a:ext cx="2028368" cy="86607"/>
          </a:xfrm>
          <a:prstGeom prst="roundRect">
            <a:avLst>
              <a:gd name="adj" fmla="val 42232"/>
            </a:avLst>
          </a:prstGeom>
          <a:solidFill>
            <a:srgbClr val="275B7F"/>
          </a:solidFill>
          <a:ln w="12700">
            <a:solidFill>
              <a:srgbClr val="275B7F"/>
            </a:solidFill>
            <a:prstDash val="solid"/>
          </a:ln>
        </p:spPr>
      </p:sp>
      <p:sp>
        <p:nvSpPr>
          <p:cNvPr id="90" name="Shape 88"/>
          <p:cNvSpPr/>
          <p:nvPr/>
        </p:nvSpPr>
        <p:spPr>
          <a:xfrm>
            <a:off x="1033272" y="5897880"/>
            <a:ext cx="10536631" cy="0"/>
          </a:xfrm>
          <a:prstGeom prst="line">
            <a:avLst/>
          </a:prstGeom>
          <a:noFill/>
          <a:ln w="4445">
            <a:solidFill>
              <a:srgbClr val="E2E6E2"/>
            </a:solidFill>
            <a:prstDash val="solid"/>
          </a:ln>
        </p:spPr>
      </p:sp>
      <p:sp>
        <p:nvSpPr>
          <p:cNvPr id="91" name="Shape 89"/>
          <p:cNvSpPr/>
          <p:nvPr/>
        </p:nvSpPr>
        <p:spPr>
          <a:xfrm>
            <a:off x="1143000" y="5660789"/>
            <a:ext cx="45720" cy="219456"/>
          </a:xfrm>
          <a:prstGeom prst="roundRect">
            <a:avLst>
              <a:gd name="adj" fmla="val 60000"/>
            </a:avLst>
          </a:prstGeom>
          <a:solidFill>
            <a:srgbClr val="275B7F"/>
          </a:solidFill>
          <a:ln w="12700">
            <a:solidFill>
              <a:srgbClr val="275B7F"/>
            </a:solidFill>
            <a:prstDash val="solid"/>
          </a:ln>
        </p:spPr>
      </p:sp>
      <p:sp>
        <p:nvSpPr>
          <p:cNvPr id="92" name="Text 90"/>
          <p:cNvSpPr/>
          <p:nvPr/>
        </p:nvSpPr>
        <p:spPr>
          <a:xfrm>
            <a:off x="1243584" y="5624213"/>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Reporting and Compliance integration</a:t>
            </a:r>
            <a:endParaRPr lang="en-US" sz="950" dirty="0"/>
          </a:p>
        </p:txBody>
      </p:sp>
      <p:sp>
        <p:nvSpPr>
          <p:cNvPr id="93" name="Shape 91"/>
          <p:cNvSpPr/>
          <p:nvPr/>
        </p:nvSpPr>
        <p:spPr>
          <a:xfrm>
            <a:off x="9541535" y="5727214"/>
            <a:ext cx="2028368" cy="86607"/>
          </a:xfrm>
          <a:prstGeom prst="roundRect">
            <a:avLst>
              <a:gd name="adj" fmla="val 42232"/>
            </a:avLst>
          </a:prstGeom>
          <a:solidFill>
            <a:srgbClr val="275B7F"/>
          </a:solidFill>
          <a:ln w="12700">
            <a:solidFill>
              <a:srgbClr val="275B7F"/>
            </a:solidFill>
            <a:prstDash val="solid"/>
          </a:ln>
        </p:spPr>
      </p:sp>
      <p:sp>
        <p:nvSpPr>
          <p:cNvPr id="94" name="Shape 92"/>
          <p:cNvSpPr/>
          <p:nvPr/>
        </p:nvSpPr>
        <p:spPr>
          <a:xfrm>
            <a:off x="621792" y="6437376"/>
            <a:ext cx="10948111" cy="0"/>
          </a:xfrm>
          <a:prstGeom prst="line">
            <a:avLst/>
          </a:prstGeom>
          <a:noFill/>
          <a:ln w="9525">
            <a:solidFill>
              <a:srgbClr val="E2E6E2"/>
            </a:solidFill>
            <a:prstDash val="solid"/>
          </a:ln>
        </p:spPr>
      </p:sp>
      <p:sp>
        <p:nvSpPr>
          <p:cNvPr id="95" name="Text 9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96" name="Text 9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supply chain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Migration and shared experience first, then the capabilities that close the competitive gap.</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Migration and core experience</a:t>
            </a:r>
            <a:endParaRPr lang="en-US" sz="14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Land in RA+ properly.</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Platform stabilisation and core experience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navigation, page layouts and responsive design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embedded onboarding and recommendations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Additional languages: Chinese, French, Spanish, Portuguese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Notification centre and in product reminders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Product carbon footprint</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commercial gap closer.</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level PCF tables with CSV download</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Light PCF calculator, SEED and AI scraping integrations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risk overview, emissions heatmap, top ten hotspots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and material footprint charts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PACT compliance targets, action alerts and KPI strip</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Data collection campaigns</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Ask suppliers the right questions.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 questionnaires with a guided builder wizard</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Drag and drop ordering and conditional logic</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upload against responses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Response tracking, evidence preview and export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Simplified participant forms for suppliers</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Data quality assurance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Numbers that survive review.</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Outlier detection and peer benchmarking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upload with AI validation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Composite supplier data quality score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product validation against CP inventories</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From measurement to supplier action</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Supplier data becomes decarbonisation the sponsor can evidence.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TAKE ACTION</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Guided decarbonisation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Sera powered recommendations.</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Project recommendations with regional and category filters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Sponsor highlighted projects and project discovery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learning content and delivery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participant, sponsor and admin views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SPONSOR</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Decision support</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Prove the programme works.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Enhanced sponsor dashboards and reporting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Sponsor planning and supplier transparency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Programme analytics and engagement tracking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Zeigo network integration</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2027 H1</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Reach and scale</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Beyond tier one.</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Multi tier supplier visibility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onboarding and programme participation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tier level subscription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Zeigo Activate sunset replaced by a light CP calculator</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2027 H2</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Resilience and reuse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Connect the products.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ESG reporting and compliance integration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Gamification, leaderboards and custom nudges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programme supplier discovery</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02666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69748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REPORTING AND COMPLIANCE</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Stand the product up in 2026, migrate SE and automate in 2027</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Framework Library, Indicator Management and Disclosure Management, in that order.</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2270684" cy="376210"/>
          </a:xfrm>
          <a:prstGeom prst="roundRect">
            <a:avLst>
              <a:gd name="adj" fmla="val 7292"/>
            </a:avLst>
          </a:prstGeom>
          <a:solidFill>
            <a:srgbClr val="F7F8F7"/>
          </a:solidFill>
          <a:ln w="5080">
            <a:solidFill>
              <a:srgbClr val="F7F8F7"/>
            </a:solidFill>
            <a:prstDash val="solid"/>
          </a:ln>
        </p:spPr>
      </p:sp>
      <p:sp>
        <p:nvSpPr>
          <p:cNvPr id="15" name="Text 13"/>
          <p:cNvSpPr/>
          <p:nvPr/>
        </p:nvSpPr>
        <p:spPr>
          <a:xfrm>
            <a:off x="822960"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Core platform foundations built and current time spent on the planning for everything to build on the top of the core.</a:t>
            </a:r>
            <a:endParaRPr lang="en-US" sz="900" dirty="0"/>
          </a:p>
        </p:txBody>
      </p:sp>
      <p:sp>
        <p:nvSpPr>
          <p:cNvPr id="16" name="Shape 14"/>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3422828" y="2084832"/>
            <a:ext cx="2545004" cy="713232"/>
          </a:xfrm>
          <a:prstGeom prst="rect">
            <a:avLst/>
          </a:prstGeom>
          <a:solidFill>
            <a:srgbClr val="EAF8ED"/>
          </a:solidFill>
          <a:ln w="12700">
            <a:solidFill>
              <a:srgbClr val="EAF8ED"/>
            </a:solidFill>
            <a:prstDash val="solid"/>
          </a:ln>
        </p:spPr>
      </p:sp>
      <p:sp>
        <p:nvSpPr>
          <p:cNvPr id="18" name="Shape 16"/>
          <p:cNvSpPr/>
          <p:nvPr/>
        </p:nvSpPr>
        <p:spPr>
          <a:xfrm>
            <a:off x="3422828" y="2084832"/>
            <a:ext cx="54864" cy="4178808"/>
          </a:xfrm>
          <a:prstGeom prst="rect">
            <a:avLst/>
          </a:prstGeom>
          <a:solidFill>
            <a:srgbClr val="007A27"/>
          </a:solidFill>
          <a:ln w="12700">
            <a:solidFill>
              <a:srgbClr val="007A27"/>
            </a:solidFill>
            <a:prstDash val="solid"/>
          </a:ln>
        </p:spPr>
      </p:sp>
      <p:sp>
        <p:nvSpPr>
          <p:cNvPr id="19" name="Text 17"/>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0" name="Text 18"/>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1" name="Shape 19"/>
          <p:cNvSpPr/>
          <p:nvPr/>
        </p:nvSpPr>
        <p:spPr>
          <a:xfrm>
            <a:off x="3559988" y="2953512"/>
            <a:ext cx="2270684" cy="376210"/>
          </a:xfrm>
          <a:prstGeom prst="roundRect">
            <a:avLst>
              <a:gd name="adj" fmla="val 7292"/>
            </a:avLst>
          </a:prstGeom>
          <a:solidFill>
            <a:srgbClr val="F7F8F7"/>
          </a:solidFill>
          <a:ln w="5080">
            <a:solidFill>
              <a:srgbClr val="F7F8F7"/>
            </a:solidFill>
            <a:prstDash val="solid"/>
          </a:ln>
        </p:spPr>
      </p:sp>
      <p:sp>
        <p:nvSpPr>
          <p:cNvPr id="22" name="Text 20"/>
          <p:cNvSpPr/>
          <p:nvPr/>
        </p:nvSpPr>
        <p:spPr>
          <a:xfrm>
            <a:off x="3623996"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Build indicator library foundation</a:t>
            </a:r>
            <a:endParaRPr lang="en-US" sz="950" dirty="0"/>
          </a:p>
        </p:txBody>
      </p:sp>
      <p:sp>
        <p:nvSpPr>
          <p:cNvPr id="23" name="Shape 21"/>
          <p:cNvSpPr/>
          <p:nvPr/>
        </p:nvSpPr>
        <p:spPr>
          <a:xfrm>
            <a:off x="3559988" y="3402874"/>
            <a:ext cx="2270684" cy="376210"/>
          </a:xfrm>
          <a:prstGeom prst="roundRect">
            <a:avLst>
              <a:gd name="adj" fmla="val 7292"/>
            </a:avLst>
          </a:prstGeom>
          <a:solidFill>
            <a:srgbClr val="F7F8F7"/>
          </a:solidFill>
          <a:ln w="5080">
            <a:solidFill>
              <a:srgbClr val="F7F8F7"/>
            </a:solidFill>
            <a:prstDash val="solid"/>
          </a:ln>
        </p:spPr>
      </p:sp>
      <p:sp>
        <p:nvSpPr>
          <p:cNvPr id="24" name="Text 22"/>
          <p:cNvSpPr/>
          <p:nvPr/>
        </p:nvSpPr>
        <p:spPr>
          <a:xfrm>
            <a:off x="3623996" y="3402874"/>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Approval hierarchies and bulk assignment</a:t>
            </a:r>
            <a:endParaRPr lang="en-US" sz="950" dirty="0"/>
          </a:p>
        </p:txBody>
      </p:sp>
      <p:sp>
        <p:nvSpPr>
          <p:cNvPr id="25" name="Shape 23"/>
          <p:cNvSpPr/>
          <p:nvPr/>
        </p:nvSpPr>
        <p:spPr>
          <a:xfrm>
            <a:off x="3559988" y="3852237"/>
            <a:ext cx="2270684" cy="376210"/>
          </a:xfrm>
          <a:prstGeom prst="roundRect">
            <a:avLst>
              <a:gd name="adj" fmla="val 7292"/>
            </a:avLst>
          </a:prstGeom>
          <a:solidFill>
            <a:srgbClr val="F7F8F7"/>
          </a:solidFill>
          <a:ln w="5080">
            <a:solidFill>
              <a:srgbClr val="F7F8F7"/>
            </a:solidFill>
            <a:prstDash val="solid"/>
          </a:ln>
        </p:spPr>
      </p:sp>
      <p:sp>
        <p:nvSpPr>
          <p:cNvPr id="26" name="Text 24"/>
          <p:cNvSpPr/>
          <p:nvPr/>
        </p:nvSpPr>
        <p:spPr>
          <a:xfrm>
            <a:off x="3623996" y="3852237"/>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Reporting cycles and reporting workspace</a:t>
            </a:r>
            <a:endParaRPr lang="en-US" sz="950" dirty="0"/>
          </a:p>
        </p:txBody>
      </p:sp>
      <p:sp>
        <p:nvSpPr>
          <p:cNvPr id="27" name="Shape 25"/>
          <p:cNvSpPr/>
          <p:nvPr/>
        </p:nvSpPr>
        <p:spPr>
          <a:xfrm>
            <a:off x="3559988" y="4301599"/>
            <a:ext cx="2270684" cy="376210"/>
          </a:xfrm>
          <a:prstGeom prst="roundRect">
            <a:avLst>
              <a:gd name="adj" fmla="val 7292"/>
            </a:avLst>
          </a:prstGeom>
          <a:solidFill>
            <a:srgbClr val="F7F8F7"/>
          </a:solidFill>
          <a:ln w="5080">
            <a:solidFill>
              <a:srgbClr val="F7F8F7"/>
            </a:solidFill>
            <a:prstDash val="solid"/>
          </a:ln>
        </p:spPr>
      </p:sp>
      <p:sp>
        <p:nvSpPr>
          <p:cNvPr id="28" name="Text 26"/>
          <p:cNvSpPr/>
          <p:nvPr/>
        </p:nvSpPr>
        <p:spPr>
          <a:xfrm>
            <a:off x="3623996" y="4301599"/>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Governed data collection campaigns</a:t>
            </a:r>
            <a:endParaRPr lang="en-US" sz="950" dirty="0"/>
          </a:p>
        </p:txBody>
      </p:sp>
      <p:sp>
        <p:nvSpPr>
          <p:cNvPr id="29" name="Shape 27"/>
          <p:cNvSpPr/>
          <p:nvPr/>
        </p:nvSpPr>
        <p:spPr>
          <a:xfrm>
            <a:off x="3559988" y="4750961"/>
            <a:ext cx="2270684" cy="376210"/>
          </a:xfrm>
          <a:prstGeom prst="roundRect">
            <a:avLst>
              <a:gd name="adj" fmla="val 7292"/>
            </a:avLst>
          </a:prstGeom>
          <a:solidFill>
            <a:srgbClr val="F7F8F7"/>
          </a:solidFill>
          <a:ln w="5080">
            <a:solidFill>
              <a:srgbClr val="F7F8F7"/>
            </a:solidFill>
            <a:prstDash val="solid"/>
          </a:ln>
        </p:spPr>
      </p:sp>
      <p:sp>
        <p:nvSpPr>
          <p:cNvPr id="30" name="Text 28"/>
          <p:cNvSpPr/>
          <p:nvPr/>
        </p:nvSpPr>
        <p:spPr>
          <a:xfrm>
            <a:off x="3623996" y="4750961"/>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Regulated frameworks and templates</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CSRD, ESRS, EU Taxonomy, IFRS S1 and S2</a:t>
            </a:r>
            <a:endParaRPr lang="en-US" sz="950" dirty="0"/>
          </a:p>
        </p:txBody>
      </p:sp>
      <p:sp>
        <p:nvSpPr>
          <p:cNvPr id="31" name="Shape 29"/>
          <p:cNvSpPr/>
          <p:nvPr/>
        </p:nvSpPr>
        <p:spPr>
          <a:xfrm>
            <a:off x="3559988" y="5200323"/>
            <a:ext cx="2270684" cy="376210"/>
          </a:xfrm>
          <a:prstGeom prst="roundRect">
            <a:avLst>
              <a:gd name="adj" fmla="val 7292"/>
            </a:avLst>
          </a:prstGeom>
          <a:solidFill>
            <a:srgbClr val="F7F8F7"/>
          </a:solidFill>
          <a:ln w="5080">
            <a:solidFill>
              <a:srgbClr val="F7F8F7"/>
            </a:solidFill>
            <a:prstDash val="solid"/>
          </a:ln>
        </p:spPr>
      </p:sp>
      <p:sp>
        <p:nvSpPr>
          <p:cNvPr id="32" name="Text 30"/>
          <p:cNvSpPr/>
          <p:nvPr/>
        </p:nvSpPr>
        <p:spPr>
          <a:xfrm>
            <a:off x="3623996" y="5200323"/>
            <a:ext cx="2142668"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Set foundations: configure, collect, disclose end to end</a:t>
            </a:r>
            <a:endParaRPr lang="en-US" sz="900" dirty="0"/>
          </a:p>
        </p:txBody>
      </p:sp>
      <p:sp>
        <p:nvSpPr>
          <p:cNvPr id="33" name="Shape 31"/>
          <p:cNvSpPr/>
          <p:nvPr/>
        </p:nvSpPr>
        <p:spPr>
          <a:xfrm>
            <a:off x="3559988" y="5649686"/>
            <a:ext cx="2270684" cy="376210"/>
          </a:xfrm>
          <a:prstGeom prst="roundRect">
            <a:avLst>
              <a:gd name="adj" fmla="val 7292"/>
            </a:avLst>
          </a:prstGeom>
          <a:solidFill>
            <a:srgbClr val="F7F8F7"/>
          </a:solidFill>
          <a:ln w="5080">
            <a:solidFill>
              <a:srgbClr val="F7F8F7"/>
            </a:solidFill>
            <a:prstDash val="solid"/>
          </a:ln>
        </p:spPr>
      </p:sp>
      <p:sp>
        <p:nvSpPr>
          <p:cNvPr id="34" name="Text 32"/>
          <p:cNvSpPr/>
          <p:nvPr/>
        </p:nvSpPr>
        <p:spPr>
          <a:xfrm>
            <a:off x="3623996" y="5649686"/>
            <a:ext cx="2142668"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Set foundations: Advanced data ingestion and transformation rules</a:t>
            </a:r>
            <a:endParaRPr lang="en-US" sz="900" dirty="0"/>
          </a:p>
        </p:txBody>
      </p:sp>
      <p:sp>
        <p:nvSpPr>
          <p:cNvPr id="35" name="Shape 33"/>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6" name="Shape 34"/>
          <p:cNvSpPr/>
          <p:nvPr/>
        </p:nvSpPr>
        <p:spPr>
          <a:xfrm>
            <a:off x="6223864" y="2084832"/>
            <a:ext cx="2545004" cy="713232"/>
          </a:xfrm>
          <a:prstGeom prst="rect">
            <a:avLst/>
          </a:prstGeom>
          <a:solidFill>
            <a:srgbClr val="FFF4E3"/>
          </a:solidFill>
          <a:ln w="12700">
            <a:solidFill>
              <a:srgbClr val="FFF4E3"/>
            </a:solidFill>
            <a:prstDash val="solid"/>
          </a:ln>
        </p:spPr>
      </p:sp>
      <p:sp>
        <p:nvSpPr>
          <p:cNvPr id="37" name="Shape 35"/>
          <p:cNvSpPr/>
          <p:nvPr/>
        </p:nvSpPr>
        <p:spPr>
          <a:xfrm>
            <a:off x="6223864" y="2084832"/>
            <a:ext cx="54864" cy="4178808"/>
          </a:xfrm>
          <a:prstGeom prst="rect">
            <a:avLst/>
          </a:prstGeom>
          <a:solidFill>
            <a:srgbClr val="FFB04C"/>
          </a:solidFill>
          <a:ln w="12700">
            <a:solidFill>
              <a:srgbClr val="FFB04C"/>
            </a:solidFill>
            <a:prstDash val="solid"/>
          </a:ln>
        </p:spPr>
      </p:sp>
      <p:sp>
        <p:nvSpPr>
          <p:cNvPr id="38" name="Text 36"/>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39" name="Text 37"/>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40" name="Shape 38"/>
          <p:cNvSpPr/>
          <p:nvPr/>
        </p:nvSpPr>
        <p:spPr>
          <a:xfrm>
            <a:off x="6361024" y="2953512"/>
            <a:ext cx="2270684" cy="376210"/>
          </a:xfrm>
          <a:prstGeom prst="roundRect">
            <a:avLst>
              <a:gd name="adj" fmla="val 7292"/>
            </a:avLst>
          </a:prstGeom>
          <a:solidFill>
            <a:srgbClr val="F7F8F7"/>
          </a:solidFill>
          <a:ln w="5080">
            <a:solidFill>
              <a:srgbClr val="F7F8F7"/>
            </a:solidFill>
            <a:prstDash val="solid"/>
          </a:ln>
        </p:spPr>
      </p:sp>
      <p:sp>
        <p:nvSpPr>
          <p:cNvPr id="41" name="Text 39"/>
          <p:cNvSpPr/>
          <p:nvPr/>
        </p:nvSpPr>
        <p:spPr>
          <a:xfrm>
            <a:off x="6425032"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campaign management</a:t>
            </a:r>
            <a:endParaRPr lang="en-US" sz="1000" dirty="0"/>
          </a:p>
        </p:txBody>
      </p:sp>
      <p:sp>
        <p:nvSpPr>
          <p:cNvPr id="42" name="Shape 40"/>
          <p:cNvSpPr/>
          <p:nvPr/>
        </p:nvSpPr>
        <p:spPr>
          <a:xfrm>
            <a:off x="6361024" y="3402874"/>
            <a:ext cx="2270684" cy="376210"/>
          </a:xfrm>
          <a:prstGeom prst="roundRect">
            <a:avLst>
              <a:gd name="adj" fmla="val 7292"/>
            </a:avLst>
          </a:prstGeom>
          <a:solidFill>
            <a:srgbClr val="F7F8F7"/>
          </a:solidFill>
          <a:ln w="5080">
            <a:solidFill>
              <a:srgbClr val="F7F8F7"/>
            </a:solidFill>
            <a:prstDash val="solid"/>
          </a:ln>
        </p:spPr>
      </p:sp>
      <p:sp>
        <p:nvSpPr>
          <p:cNvPr id="43" name="Text 41"/>
          <p:cNvSpPr/>
          <p:nvPr/>
        </p:nvSpPr>
        <p:spPr>
          <a:xfrm>
            <a:off x="6425032" y="3402874"/>
            <a:ext cx="2142668"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Indicator performance analytics</a:t>
            </a:r>
            <a:endParaRPr lang="en-US" sz="1000" dirty="0"/>
          </a:p>
        </p:txBody>
      </p:sp>
      <p:sp>
        <p:nvSpPr>
          <p:cNvPr id="44" name="Shape 42"/>
          <p:cNvSpPr/>
          <p:nvPr/>
        </p:nvSpPr>
        <p:spPr>
          <a:xfrm>
            <a:off x="6361024" y="3852237"/>
            <a:ext cx="2270684" cy="376210"/>
          </a:xfrm>
          <a:prstGeom prst="roundRect">
            <a:avLst>
              <a:gd name="adj" fmla="val 7292"/>
            </a:avLst>
          </a:prstGeom>
          <a:solidFill>
            <a:srgbClr val="F7F8F7"/>
          </a:solidFill>
          <a:ln w="5080">
            <a:solidFill>
              <a:srgbClr val="F7F8F7"/>
            </a:solidFill>
            <a:prstDash val="solid"/>
          </a:ln>
        </p:spPr>
      </p:sp>
      <p:sp>
        <p:nvSpPr>
          <p:cNvPr id="45" name="Text 43"/>
          <p:cNvSpPr/>
          <p:nvPr/>
        </p:nvSpPr>
        <p:spPr>
          <a:xfrm>
            <a:off x="6425032" y="3852237"/>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Governed disclosure authoring with AI drafting</a:t>
            </a:r>
            <a:endParaRPr lang="en-US" sz="950" dirty="0"/>
          </a:p>
        </p:txBody>
      </p:sp>
      <p:sp>
        <p:nvSpPr>
          <p:cNvPr id="46" name="Shape 44"/>
          <p:cNvSpPr/>
          <p:nvPr/>
        </p:nvSpPr>
        <p:spPr>
          <a:xfrm>
            <a:off x="6361024" y="4301599"/>
            <a:ext cx="2270684" cy="376210"/>
          </a:xfrm>
          <a:prstGeom prst="roundRect">
            <a:avLst>
              <a:gd name="adj" fmla="val 7292"/>
            </a:avLst>
          </a:prstGeom>
          <a:solidFill>
            <a:srgbClr val="F7F8F7"/>
          </a:solidFill>
          <a:ln w="5080">
            <a:solidFill>
              <a:srgbClr val="F7F8F7"/>
            </a:solidFill>
            <a:prstDash val="solid"/>
          </a:ln>
        </p:spPr>
      </p:sp>
      <p:sp>
        <p:nvSpPr>
          <p:cNvPr id="47" name="Text 45"/>
          <p:cNvSpPr/>
          <p:nvPr/>
        </p:nvSpPr>
        <p:spPr>
          <a:xfrm>
            <a:off x="6425032" y="4301599"/>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Corporate SE fully migrated off RA Classic</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Historical data migrated, Q1 2027 CSRD cycle run in RA+</a:t>
            </a:r>
            <a:endParaRPr lang="en-US" sz="950" dirty="0"/>
          </a:p>
        </p:txBody>
      </p:sp>
      <p:sp>
        <p:nvSpPr>
          <p:cNvPr id="48" name="Shape 46"/>
          <p:cNvSpPr/>
          <p:nvPr/>
        </p:nvSpPr>
        <p:spPr>
          <a:xfrm>
            <a:off x="6361024" y="4750961"/>
            <a:ext cx="2270684" cy="376210"/>
          </a:xfrm>
          <a:prstGeom prst="roundRect">
            <a:avLst>
              <a:gd name="adj" fmla="val 7292"/>
            </a:avLst>
          </a:prstGeom>
          <a:solidFill>
            <a:srgbClr val="F7F8F7"/>
          </a:solidFill>
          <a:ln w="5080">
            <a:solidFill>
              <a:srgbClr val="F7F8F7"/>
            </a:solidFill>
            <a:prstDash val="solid"/>
          </a:ln>
        </p:spPr>
      </p:sp>
      <p:sp>
        <p:nvSpPr>
          <p:cNvPr id="49" name="Text 47"/>
          <p:cNvSpPr/>
          <p:nvPr/>
        </p:nvSpPr>
        <p:spPr>
          <a:xfrm>
            <a:off x="6425032" y="4750961"/>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Audit ready disclosures produced in product</a:t>
            </a:r>
            <a:endParaRPr lang="en-US" sz="950" dirty="0"/>
          </a:p>
        </p:txBody>
      </p:sp>
      <p:sp>
        <p:nvSpPr>
          <p:cNvPr id="50" name="Shape 48"/>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51" name="Shape 49"/>
          <p:cNvSpPr/>
          <p:nvPr/>
        </p:nvSpPr>
        <p:spPr>
          <a:xfrm>
            <a:off x="9024899" y="2084832"/>
            <a:ext cx="2545004" cy="713232"/>
          </a:xfrm>
          <a:prstGeom prst="rect">
            <a:avLst/>
          </a:prstGeom>
          <a:solidFill>
            <a:srgbClr val="EAF1F5"/>
          </a:solidFill>
          <a:ln w="12700">
            <a:solidFill>
              <a:srgbClr val="EAF1F5"/>
            </a:solidFill>
            <a:prstDash val="solid"/>
          </a:ln>
        </p:spPr>
      </p:sp>
      <p:sp>
        <p:nvSpPr>
          <p:cNvPr id="52" name="Shape 50"/>
          <p:cNvSpPr/>
          <p:nvPr/>
        </p:nvSpPr>
        <p:spPr>
          <a:xfrm>
            <a:off x="9024899" y="2084832"/>
            <a:ext cx="54864" cy="4178808"/>
          </a:xfrm>
          <a:prstGeom prst="rect">
            <a:avLst/>
          </a:prstGeom>
          <a:solidFill>
            <a:srgbClr val="275B7F"/>
          </a:solidFill>
          <a:ln w="12700">
            <a:solidFill>
              <a:srgbClr val="275B7F"/>
            </a:solidFill>
            <a:prstDash val="solid"/>
          </a:ln>
        </p:spPr>
      </p:sp>
      <p:sp>
        <p:nvSpPr>
          <p:cNvPr id="53" name="Text 51"/>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54" name="Text 52"/>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55" name="Shape 53"/>
          <p:cNvSpPr/>
          <p:nvPr/>
        </p:nvSpPr>
        <p:spPr>
          <a:xfrm>
            <a:off x="9162059" y="2953512"/>
            <a:ext cx="2270684" cy="376210"/>
          </a:xfrm>
          <a:prstGeom prst="roundRect">
            <a:avLst>
              <a:gd name="adj" fmla="val 7292"/>
            </a:avLst>
          </a:prstGeom>
          <a:solidFill>
            <a:srgbClr val="F7F8F7"/>
          </a:solidFill>
          <a:ln w="5080">
            <a:solidFill>
              <a:srgbClr val="F7F8F7"/>
            </a:solidFill>
            <a:prstDash val="solid"/>
          </a:ln>
        </p:spPr>
      </p:sp>
      <p:sp>
        <p:nvSpPr>
          <p:cNvPr id="56" name="Text 54"/>
          <p:cNvSpPr/>
          <p:nvPr/>
        </p:nvSpPr>
        <p:spPr>
          <a:xfrm>
            <a:off x="9226067" y="2953512"/>
            <a:ext cx="2142668"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AI compliance intelligence and mapping suggestions</a:t>
            </a:r>
            <a:endParaRPr lang="en-US" sz="900" dirty="0"/>
          </a:p>
        </p:txBody>
      </p:sp>
      <p:sp>
        <p:nvSpPr>
          <p:cNvPr id="57" name="Shape 55"/>
          <p:cNvSpPr/>
          <p:nvPr/>
        </p:nvSpPr>
        <p:spPr>
          <a:xfrm>
            <a:off x="9162059" y="3402874"/>
            <a:ext cx="2270684" cy="376210"/>
          </a:xfrm>
          <a:prstGeom prst="roundRect">
            <a:avLst>
              <a:gd name="adj" fmla="val 7292"/>
            </a:avLst>
          </a:prstGeom>
          <a:solidFill>
            <a:srgbClr val="F7F8F7"/>
          </a:solidFill>
          <a:ln w="5080">
            <a:solidFill>
              <a:srgbClr val="F7F8F7"/>
            </a:solidFill>
            <a:prstDash val="solid"/>
          </a:ln>
        </p:spPr>
      </p:sp>
      <p:sp>
        <p:nvSpPr>
          <p:cNvPr id="58" name="Text 56"/>
          <p:cNvSpPr/>
          <p:nvPr/>
        </p:nvSpPr>
        <p:spPr>
          <a:xfrm>
            <a:off x="9226067" y="3402874"/>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External assurance and auditor experience</a:t>
            </a:r>
            <a:endParaRPr lang="en-US" sz="950" dirty="0"/>
          </a:p>
        </p:txBody>
      </p:sp>
      <p:sp>
        <p:nvSpPr>
          <p:cNvPr id="59" name="Shape 57"/>
          <p:cNvSpPr/>
          <p:nvPr/>
        </p:nvSpPr>
        <p:spPr>
          <a:xfrm>
            <a:off x="9162059" y="3852237"/>
            <a:ext cx="2270684" cy="376210"/>
          </a:xfrm>
          <a:prstGeom prst="roundRect">
            <a:avLst>
              <a:gd name="adj" fmla="val 7292"/>
            </a:avLst>
          </a:prstGeom>
          <a:solidFill>
            <a:srgbClr val="F7F8F7"/>
          </a:solidFill>
          <a:ln w="5080">
            <a:solidFill>
              <a:srgbClr val="F7F8F7"/>
            </a:solidFill>
            <a:prstDash val="solid"/>
          </a:ln>
        </p:spPr>
      </p:sp>
      <p:sp>
        <p:nvSpPr>
          <p:cNvPr id="60" name="Text 58"/>
          <p:cNvSpPr/>
          <p:nvPr/>
        </p:nvSpPr>
        <p:spPr>
          <a:xfrm>
            <a:off x="9226067" y="3852237"/>
            <a:ext cx="2142668"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Voluntary frameworks: GRI, SASB, GRESB, EcoVadis</a:t>
            </a:r>
            <a:endParaRPr lang="en-US" sz="900" dirty="0"/>
          </a:p>
        </p:txBody>
      </p:sp>
      <p:sp>
        <p:nvSpPr>
          <p:cNvPr id="61" name="Shape 59"/>
          <p:cNvSpPr/>
          <p:nvPr/>
        </p:nvSpPr>
        <p:spPr>
          <a:xfrm>
            <a:off x="9162059" y="4301599"/>
            <a:ext cx="2270684" cy="376210"/>
          </a:xfrm>
          <a:prstGeom prst="roundRect">
            <a:avLst>
              <a:gd name="adj" fmla="val 7292"/>
            </a:avLst>
          </a:prstGeom>
          <a:solidFill>
            <a:srgbClr val="F7F8F7"/>
          </a:solidFill>
          <a:ln w="5080">
            <a:solidFill>
              <a:srgbClr val="F7F8F7"/>
            </a:solidFill>
            <a:prstDash val="solid"/>
          </a:ln>
        </p:spPr>
      </p:sp>
      <p:sp>
        <p:nvSpPr>
          <p:cNvPr id="62" name="Text 60"/>
          <p:cNvSpPr/>
          <p:nvPr/>
        </p:nvSpPr>
        <p:spPr>
          <a:xfrm>
            <a:off x="9226067" y="4301599"/>
            <a:ext cx="2142668"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CP emissions and CR risk feeding disclosures</a:t>
            </a:r>
            <a:endParaRPr lang="en-US" sz="950" dirty="0"/>
          </a:p>
        </p:txBody>
      </p:sp>
      <p:sp>
        <p:nvSpPr>
          <p:cNvPr id="63" name="Shape 61"/>
          <p:cNvSpPr/>
          <p:nvPr/>
        </p:nvSpPr>
        <p:spPr>
          <a:xfrm>
            <a:off x="621792" y="6437376"/>
            <a:ext cx="10948111" cy="0"/>
          </a:xfrm>
          <a:prstGeom prst="line">
            <a:avLst/>
          </a:prstGeom>
          <a:noFill/>
          <a:ln w="9525">
            <a:solidFill>
              <a:srgbClr val="E2E6E2"/>
            </a:solidFill>
            <a:prstDash val="solid"/>
          </a:ln>
        </p:spPr>
      </p:sp>
      <p:sp>
        <p:nvSpPr>
          <p:cNvPr id="64" name="Text 6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5" name="Text 6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02666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69748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REPORTING AND COMPLIANCE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Reporting and Compliance plan on a timeline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Build the governed foundation in 2026, prove it through the SE migration, then automate disclosure and assurance.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470616"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5484800"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6498984"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7513168"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7513168"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852735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9541535"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10555719"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Shape 19"/>
          <p:cNvSpPr/>
          <p:nvPr/>
        </p:nvSpPr>
        <p:spPr>
          <a:xfrm>
            <a:off x="3456432" y="2103120"/>
            <a:ext cx="0" cy="3794760"/>
          </a:xfrm>
          <a:prstGeom prst="line">
            <a:avLst/>
          </a:prstGeom>
          <a:noFill/>
          <a:ln w="11430">
            <a:solidFill>
              <a:srgbClr val="C8CECA"/>
            </a:solidFill>
            <a:prstDash val="solid"/>
          </a:ln>
        </p:spPr>
      </p:sp>
      <p:sp>
        <p:nvSpPr>
          <p:cNvPr id="22" name="Shape 20"/>
          <p:cNvSpPr/>
          <p:nvPr/>
        </p:nvSpPr>
        <p:spPr>
          <a:xfrm>
            <a:off x="4470616" y="2103120"/>
            <a:ext cx="0" cy="3794760"/>
          </a:xfrm>
          <a:prstGeom prst="line">
            <a:avLst/>
          </a:prstGeom>
          <a:noFill/>
          <a:ln w="4445">
            <a:solidFill>
              <a:srgbClr val="E2E6E2"/>
            </a:solidFill>
            <a:prstDash val="solid"/>
          </a:ln>
        </p:spPr>
      </p:sp>
      <p:sp>
        <p:nvSpPr>
          <p:cNvPr id="23" name="Shape 21"/>
          <p:cNvSpPr/>
          <p:nvPr/>
        </p:nvSpPr>
        <p:spPr>
          <a:xfrm>
            <a:off x="5484800" y="2103120"/>
            <a:ext cx="0" cy="3794760"/>
          </a:xfrm>
          <a:prstGeom prst="line">
            <a:avLst/>
          </a:prstGeom>
          <a:noFill/>
          <a:ln w="4445">
            <a:solidFill>
              <a:srgbClr val="E2E6E2"/>
            </a:solidFill>
            <a:prstDash val="solid"/>
          </a:ln>
        </p:spPr>
      </p:sp>
      <p:sp>
        <p:nvSpPr>
          <p:cNvPr id="24" name="Shape 22"/>
          <p:cNvSpPr/>
          <p:nvPr/>
        </p:nvSpPr>
        <p:spPr>
          <a:xfrm>
            <a:off x="6498984" y="2103120"/>
            <a:ext cx="0" cy="3794760"/>
          </a:xfrm>
          <a:prstGeom prst="line">
            <a:avLst/>
          </a:prstGeom>
          <a:noFill/>
          <a:ln w="4445">
            <a:solidFill>
              <a:srgbClr val="E2E6E2"/>
            </a:solidFill>
            <a:prstDash val="solid"/>
          </a:ln>
        </p:spPr>
      </p:sp>
      <p:sp>
        <p:nvSpPr>
          <p:cNvPr id="25" name="Shape 23"/>
          <p:cNvSpPr/>
          <p:nvPr/>
        </p:nvSpPr>
        <p:spPr>
          <a:xfrm>
            <a:off x="7513168" y="2103120"/>
            <a:ext cx="0" cy="3794760"/>
          </a:xfrm>
          <a:prstGeom prst="line">
            <a:avLst/>
          </a:prstGeom>
          <a:noFill/>
          <a:ln w="11430">
            <a:solidFill>
              <a:srgbClr val="C8CECA"/>
            </a:solidFill>
            <a:prstDash val="solid"/>
          </a:ln>
        </p:spPr>
      </p:sp>
      <p:sp>
        <p:nvSpPr>
          <p:cNvPr id="26" name="Shape 24"/>
          <p:cNvSpPr/>
          <p:nvPr/>
        </p:nvSpPr>
        <p:spPr>
          <a:xfrm>
            <a:off x="8527352" y="2103120"/>
            <a:ext cx="0" cy="3794760"/>
          </a:xfrm>
          <a:prstGeom prst="line">
            <a:avLst/>
          </a:prstGeom>
          <a:noFill/>
          <a:ln w="4445">
            <a:solidFill>
              <a:srgbClr val="E2E6E2"/>
            </a:solidFill>
            <a:prstDash val="solid"/>
          </a:ln>
        </p:spPr>
      </p:sp>
      <p:sp>
        <p:nvSpPr>
          <p:cNvPr id="27" name="Shape 25"/>
          <p:cNvSpPr/>
          <p:nvPr/>
        </p:nvSpPr>
        <p:spPr>
          <a:xfrm>
            <a:off x="9541535" y="2103120"/>
            <a:ext cx="0" cy="3794760"/>
          </a:xfrm>
          <a:prstGeom prst="line">
            <a:avLst/>
          </a:prstGeom>
          <a:noFill/>
          <a:ln w="4445">
            <a:solidFill>
              <a:srgbClr val="E2E6E2"/>
            </a:solidFill>
            <a:prstDash val="solid"/>
          </a:ln>
        </p:spPr>
      </p:sp>
      <p:sp>
        <p:nvSpPr>
          <p:cNvPr id="28" name="Shape 26"/>
          <p:cNvSpPr/>
          <p:nvPr/>
        </p:nvSpPr>
        <p:spPr>
          <a:xfrm>
            <a:off x="10555719" y="2103120"/>
            <a:ext cx="0" cy="3794760"/>
          </a:xfrm>
          <a:prstGeom prst="line">
            <a:avLst/>
          </a:prstGeom>
          <a:noFill/>
          <a:ln w="4445">
            <a:solidFill>
              <a:srgbClr val="E2E6E2"/>
            </a:solidFill>
            <a:prstDash val="solid"/>
          </a:ln>
        </p:spPr>
      </p:sp>
      <p:sp>
        <p:nvSpPr>
          <p:cNvPr id="29" name="Shape 27"/>
          <p:cNvSpPr/>
          <p:nvPr/>
        </p:nvSpPr>
        <p:spPr>
          <a:xfrm>
            <a:off x="11569903" y="2103120"/>
            <a:ext cx="0" cy="3794760"/>
          </a:xfrm>
          <a:prstGeom prst="line">
            <a:avLst/>
          </a:prstGeom>
          <a:noFill/>
          <a:ln w="11430">
            <a:solidFill>
              <a:srgbClr val="C8CECA"/>
            </a:solidFill>
            <a:prstDash val="solid"/>
          </a:ln>
        </p:spPr>
      </p:sp>
      <p:sp>
        <p:nvSpPr>
          <p:cNvPr id="30" name="Shape 28"/>
          <p:cNvSpPr/>
          <p:nvPr/>
        </p:nvSpPr>
        <p:spPr>
          <a:xfrm>
            <a:off x="621792" y="2331720"/>
            <a:ext cx="411480" cy="822960"/>
          </a:xfrm>
          <a:prstGeom prst="rect">
            <a:avLst/>
          </a:prstGeom>
          <a:solidFill>
            <a:srgbClr val="3DCD58"/>
          </a:solidFill>
          <a:ln w="7620">
            <a:solidFill>
              <a:srgbClr val="FFFFFF"/>
            </a:solidFill>
            <a:prstDash val="solid"/>
          </a:ln>
        </p:spPr>
      </p:sp>
      <p:sp>
        <p:nvSpPr>
          <p:cNvPr id="31" name="Text 29"/>
          <p:cNvSpPr/>
          <p:nvPr/>
        </p:nvSpPr>
        <p:spPr>
          <a:xfrm>
            <a:off x="685800" y="2377440"/>
            <a:ext cx="283464" cy="73152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FOUNDATION</a:t>
            </a:r>
            <a:endParaRPr lang="en-US" sz="750" dirty="0"/>
          </a:p>
        </p:txBody>
      </p:sp>
      <p:sp>
        <p:nvSpPr>
          <p:cNvPr id="32" name="Shape 30"/>
          <p:cNvSpPr/>
          <p:nvPr/>
        </p:nvSpPr>
        <p:spPr>
          <a:xfrm>
            <a:off x="1033272" y="2606040"/>
            <a:ext cx="10536631" cy="0"/>
          </a:xfrm>
          <a:prstGeom prst="line">
            <a:avLst/>
          </a:prstGeom>
          <a:noFill/>
          <a:ln w="4445">
            <a:solidFill>
              <a:srgbClr val="E2E6E2"/>
            </a:solidFill>
            <a:prstDash val="solid"/>
          </a:ln>
        </p:spPr>
      </p:sp>
      <p:sp>
        <p:nvSpPr>
          <p:cNvPr id="33" name="Shape 31"/>
          <p:cNvSpPr/>
          <p:nvPr/>
        </p:nvSpPr>
        <p:spPr>
          <a:xfrm>
            <a:off x="1143000" y="2359152"/>
            <a:ext cx="45720" cy="219456"/>
          </a:xfrm>
          <a:prstGeom prst="roundRect">
            <a:avLst>
              <a:gd name="adj" fmla="val 60000"/>
            </a:avLst>
          </a:prstGeom>
          <a:solidFill>
            <a:srgbClr val="3DCD58"/>
          </a:solidFill>
          <a:ln w="12700">
            <a:solidFill>
              <a:srgbClr val="3DCD58"/>
            </a:solidFill>
            <a:prstDash val="solid"/>
          </a:ln>
        </p:spPr>
      </p:sp>
      <p:sp>
        <p:nvSpPr>
          <p:cNvPr id="34" name="Text 32"/>
          <p:cNvSpPr/>
          <p:nvPr/>
        </p:nvSpPr>
        <p:spPr>
          <a:xfrm>
            <a:off x="1243584" y="23225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Core platform foundations and planning</a:t>
            </a:r>
            <a:endParaRPr lang="en-US" sz="950" dirty="0"/>
          </a:p>
        </p:txBody>
      </p:sp>
      <p:sp>
        <p:nvSpPr>
          <p:cNvPr id="35" name="Shape 33"/>
          <p:cNvSpPr/>
          <p:nvPr/>
        </p:nvSpPr>
        <p:spPr>
          <a:xfrm>
            <a:off x="5484800" y="2422246"/>
            <a:ext cx="1014184" cy="93269"/>
          </a:xfrm>
          <a:prstGeom prst="roundRect">
            <a:avLst>
              <a:gd name="adj" fmla="val 39216"/>
            </a:avLst>
          </a:prstGeom>
          <a:solidFill>
            <a:srgbClr val="3DCD58"/>
          </a:solidFill>
          <a:ln w="12700">
            <a:solidFill>
              <a:srgbClr val="3DCD58"/>
            </a:solidFill>
            <a:prstDash val="solid"/>
          </a:ln>
        </p:spPr>
      </p:sp>
      <p:sp>
        <p:nvSpPr>
          <p:cNvPr id="36" name="Shape 34"/>
          <p:cNvSpPr/>
          <p:nvPr/>
        </p:nvSpPr>
        <p:spPr>
          <a:xfrm>
            <a:off x="1033272" y="2880360"/>
            <a:ext cx="10536631" cy="0"/>
          </a:xfrm>
          <a:prstGeom prst="line">
            <a:avLst/>
          </a:prstGeom>
          <a:noFill/>
          <a:ln w="4445">
            <a:solidFill>
              <a:srgbClr val="E2E6E2"/>
            </a:solidFill>
            <a:prstDash val="solid"/>
          </a:ln>
        </p:spPr>
      </p:sp>
      <p:sp>
        <p:nvSpPr>
          <p:cNvPr id="37" name="Shape 35"/>
          <p:cNvSpPr/>
          <p:nvPr/>
        </p:nvSpPr>
        <p:spPr>
          <a:xfrm>
            <a:off x="1143000" y="2633472"/>
            <a:ext cx="45720" cy="219456"/>
          </a:xfrm>
          <a:prstGeom prst="roundRect">
            <a:avLst>
              <a:gd name="adj" fmla="val 60000"/>
            </a:avLst>
          </a:prstGeom>
          <a:solidFill>
            <a:srgbClr val="3DCD58"/>
          </a:solidFill>
          <a:ln w="12700">
            <a:solidFill>
              <a:srgbClr val="3DCD58"/>
            </a:solidFill>
            <a:prstDash val="solid"/>
          </a:ln>
        </p:spPr>
      </p:sp>
      <p:sp>
        <p:nvSpPr>
          <p:cNvPr id="38" name="Text 36"/>
          <p:cNvSpPr/>
          <p:nvPr/>
        </p:nvSpPr>
        <p:spPr>
          <a:xfrm>
            <a:off x="1243584" y="25968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Indicator library and approval hierarchy</a:t>
            </a:r>
            <a:endParaRPr lang="en-US" sz="950" dirty="0"/>
          </a:p>
        </p:txBody>
      </p:sp>
      <p:sp>
        <p:nvSpPr>
          <p:cNvPr id="39" name="Shape 37"/>
          <p:cNvSpPr/>
          <p:nvPr/>
        </p:nvSpPr>
        <p:spPr>
          <a:xfrm>
            <a:off x="6498984" y="2696566"/>
            <a:ext cx="1014184" cy="93269"/>
          </a:xfrm>
          <a:prstGeom prst="roundRect">
            <a:avLst>
              <a:gd name="adj" fmla="val 39216"/>
            </a:avLst>
          </a:prstGeom>
          <a:solidFill>
            <a:srgbClr val="3DCD58"/>
          </a:solidFill>
          <a:ln w="12700">
            <a:solidFill>
              <a:srgbClr val="3DCD58"/>
            </a:solidFill>
            <a:prstDash val="solid"/>
          </a:ln>
        </p:spPr>
      </p:sp>
      <p:sp>
        <p:nvSpPr>
          <p:cNvPr id="40" name="Shape 38"/>
          <p:cNvSpPr/>
          <p:nvPr/>
        </p:nvSpPr>
        <p:spPr>
          <a:xfrm>
            <a:off x="1033272" y="3154680"/>
            <a:ext cx="10536631" cy="0"/>
          </a:xfrm>
          <a:prstGeom prst="line">
            <a:avLst/>
          </a:prstGeom>
          <a:noFill/>
          <a:ln w="4445">
            <a:solidFill>
              <a:srgbClr val="E2E6E2"/>
            </a:solidFill>
            <a:prstDash val="solid"/>
          </a:ln>
        </p:spPr>
      </p:sp>
      <p:sp>
        <p:nvSpPr>
          <p:cNvPr id="41" name="Shape 39"/>
          <p:cNvSpPr/>
          <p:nvPr/>
        </p:nvSpPr>
        <p:spPr>
          <a:xfrm>
            <a:off x="1143000" y="2907792"/>
            <a:ext cx="45720" cy="219456"/>
          </a:xfrm>
          <a:prstGeom prst="roundRect">
            <a:avLst>
              <a:gd name="adj" fmla="val 60000"/>
            </a:avLst>
          </a:prstGeom>
          <a:solidFill>
            <a:srgbClr val="3DCD58"/>
          </a:solidFill>
          <a:ln w="12700">
            <a:solidFill>
              <a:srgbClr val="3DCD58"/>
            </a:solidFill>
            <a:prstDash val="solid"/>
          </a:ln>
        </p:spPr>
      </p:sp>
      <p:sp>
        <p:nvSpPr>
          <p:cNvPr id="42" name="Text 40"/>
          <p:cNvSpPr/>
          <p:nvPr/>
        </p:nvSpPr>
        <p:spPr>
          <a:xfrm>
            <a:off x="1243584" y="28712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Advanced ingestion and transformation</a:t>
            </a:r>
            <a:endParaRPr lang="en-US" sz="950" dirty="0"/>
          </a:p>
        </p:txBody>
      </p:sp>
      <p:sp>
        <p:nvSpPr>
          <p:cNvPr id="43" name="Shape 41"/>
          <p:cNvSpPr/>
          <p:nvPr/>
        </p:nvSpPr>
        <p:spPr>
          <a:xfrm>
            <a:off x="6498984" y="2970886"/>
            <a:ext cx="1014184" cy="93269"/>
          </a:xfrm>
          <a:prstGeom prst="roundRect">
            <a:avLst>
              <a:gd name="adj" fmla="val 39216"/>
            </a:avLst>
          </a:prstGeom>
          <a:solidFill>
            <a:srgbClr val="3DCD58"/>
          </a:solidFill>
          <a:ln w="12700">
            <a:solidFill>
              <a:srgbClr val="3DCD58"/>
            </a:solidFill>
            <a:prstDash val="solid"/>
          </a:ln>
        </p:spPr>
      </p:sp>
      <p:sp>
        <p:nvSpPr>
          <p:cNvPr id="44" name="Shape 42"/>
          <p:cNvSpPr/>
          <p:nvPr/>
        </p:nvSpPr>
        <p:spPr>
          <a:xfrm>
            <a:off x="621792" y="3154680"/>
            <a:ext cx="411480" cy="822960"/>
          </a:xfrm>
          <a:prstGeom prst="rect">
            <a:avLst/>
          </a:prstGeom>
          <a:solidFill>
            <a:srgbClr val="007A27"/>
          </a:solidFill>
          <a:ln w="7620">
            <a:solidFill>
              <a:srgbClr val="FFFFFF"/>
            </a:solidFill>
            <a:prstDash val="solid"/>
          </a:ln>
        </p:spPr>
      </p:sp>
      <p:sp>
        <p:nvSpPr>
          <p:cNvPr id="45" name="Text 43"/>
          <p:cNvSpPr/>
          <p:nvPr/>
        </p:nvSpPr>
        <p:spPr>
          <a:xfrm>
            <a:off x="685800" y="3200400"/>
            <a:ext cx="283464" cy="73152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COLLECT</a:t>
            </a:r>
            <a:endParaRPr lang="en-US" sz="750" dirty="0"/>
          </a:p>
        </p:txBody>
      </p:sp>
      <p:sp>
        <p:nvSpPr>
          <p:cNvPr id="46" name="Shape 44"/>
          <p:cNvSpPr/>
          <p:nvPr/>
        </p:nvSpPr>
        <p:spPr>
          <a:xfrm>
            <a:off x="1033272" y="3429000"/>
            <a:ext cx="10536631" cy="0"/>
          </a:xfrm>
          <a:prstGeom prst="line">
            <a:avLst/>
          </a:prstGeom>
          <a:noFill/>
          <a:ln w="4445">
            <a:solidFill>
              <a:srgbClr val="E2E6E2"/>
            </a:solidFill>
            <a:prstDash val="solid"/>
          </a:ln>
        </p:spPr>
      </p:sp>
      <p:sp>
        <p:nvSpPr>
          <p:cNvPr id="47" name="Shape 45"/>
          <p:cNvSpPr/>
          <p:nvPr/>
        </p:nvSpPr>
        <p:spPr>
          <a:xfrm>
            <a:off x="1143000" y="3182112"/>
            <a:ext cx="45720" cy="219456"/>
          </a:xfrm>
          <a:prstGeom prst="roundRect">
            <a:avLst>
              <a:gd name="adj" fmla="val 60000"/>
            </a:avLst>
          </a:prstGeom>
          <a:solidFill>
            <a:srgbClr val="007A27"/>
          </a:solidFill>
          <a:ln w="12700">
            <a:solidFill>
              <a:srgbClr val="007A27"/>
            </a:solidFill>
            <a:prstDash val="solid"/>
          </a:ln>
        </p:spPr>
      </p:sp>
      <p:sp>
        <p:nvSpPr>
          <p:cNvPr id="48" name="Text 46"/>
          <p:cNvSpPr/>
          <p:nvPr/>
        </p:nvSpPr>
        <p:spPr>
          <a:xfrm>
            <a:off x="1243584" y="31455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Reporting cycles and workspace</a:t>
            </a:r>
            <a:endParaRPr lang="en-US" sz="950" dirty="0"/>
          </a:p>
        </p:txBody>
      </p:sp>
      <p:sp>
        <p:nvSpPr>
          <p:cNvPr id="49" name="Shape 47"/>
          <p:cNvSpPr/>
          <p:nvPr/>
        </p:nvSpPr>
        <p:spPr>
          <a:xfrm>
            <a:off x="6498984" y="3245206"/>
            <a:ext cx="1014184" cy="93269"/>
          </a:xfrm>
          <a:prstGeom prst="roundRect">
            <a:avLst>
              <a:gd name="adj" fmla="val 39216"/>
            </a:avLst>
          </a:prstGeom>
          <a:solidFill>
            <a:srgbClr val="007A27"/>
          </a:solidFill>
          <a:ln w="12700">
            <a:solidFill>
              <a:srgbClr val="007A27"/>
            </a:solidFill>
            <a:prstDash val="solid"/>
          </a:ln>
        </p:spPr>
      </p:sp>
      <p:sp>
        <p:nvSpPr>
          <p:cNvPr id="50" name="Shape 48"/>
          <p:cNvSpPr/>
          <p:nvPr/>
        </p:nvSpPr>
        <p:spPr>
          <a:xfrm>
            <a:off x="1033272" y="3703320"/>
            <a:ext cx="10536631" cy="0"/>
          </a:xfrm>
          <a:prstGeom prst="line">
            <a:avLst/>
          </a:prstGeom>
          <a:noFill/>
          <a:ln w="4445">
            <a:solidFill>
              <a:srgbClr val="E2E6E2"/>
            </a:solidFill>
            <a:prstDash val="solid"/>
          </a:ln>
        </p:spPr>
      </p:sp>
      <p:sp>
        <p:nvSpPr>
          <p:cNvPr id="51" name="Shape 49"/>
          <p:cNvSpPr/>
          <p:nvPr/>
        </p:nvSpPr>
        <p:spPr>
          <a:xfrm>
            <a:off x="1143000" y="3456432"/>
            <a:ext cx="45720" cy="219456"/>
          </a:xfrm>
          <a:prstGeom prst="roundRect">
            <a:avLst>
              <a:gd name="adj" fmla="val 60000"/>
            </a:avLst>
          </a:prstGeom>
          <a:solidFill>
            <a:srgbClr val="007A27"/>
          </a:solidFill>
          <a:ln w="12700">
            <a:solidFill>
              <a:srgbClr val="007A27"/>
            </a:solidFill>
            <a:prstDash val="solid"/>
          </a:ln>
        </p:spPr>
      </p:sp>
      <p:sp>
        <p:nvSpPr>
          <p:cNvPr id="52" name="Text 50"/>
          <p:cNvSpPr/>
          <p:nvPr/>
        </p:nvSpPr>
        <p:spPr>
          <a:xfrm>
            <a:off x="1243584" y="34198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Governed data collection campaigns</a:t>
            </a:r>
            <a:endParaRPr lang="en-US" sz="950" dirty="0"/>
          </a:p>
        </p:txBody>
      </p:sp>
      <p:sp>
        <p:nvSpPr>
          <p:cNvPr id="53" name="Shape 51"/>
          <p:cNvSpPr/>
          <p:nvPr/>
        </p:nvSpPr>
        <p:spPr>
          <a:xfrm>
            <a:off x="6498984" y="3519526"/>
            <a:ext cx="1014184" cy="93269"/>
          </a:xfrm>
          <a:prstGeom prst="roundRect">
            <a:avLst>
              <a:gd name="adj" fmla="val 39216"/>
            </a:avLst>
          </a:prstGeom>
          <a:solidFill>
            <a:srgbClr val="007A27"/>
          </a:solidFill>
          <a:ln w="12700">
            <a:solidFill>
              <a:srgbClr val="007A27"/>
            </a:solidFill>
            <a:prstDash val="solid"/>
          </a:ln>
        </p:spPr>
      </p:sp>
      <p:sp>
        <p:nvSpPr>
          <p:cNvPr id="54" name="Shape 52"/>
          <p:cNvSpPr/>
          <p:nvPr/>
        </p:nvSpPr>
        <p:spPr>
          <a:xfrm>
            <a:off x="1033272" y="3977640"/>
            <a:ext cx="10536631" cy="0"/>
          </a:xfrm>
          <a:prstGeom prst="line">
            <a:avLst/>
          </a:prstGeom>
          <a:noFill/>
          <a:ln w="4445">
            <a:solidFill>
              <a:srgbClr val="E2E6E2"/>
            </a:solidFill>
            <a:prstDash val="solid"/>
          </a:ln>
        </p:spPr>
      </p:sp>
      <p:sp>
        <p:nvSpPr>
          <p:cNvPr id="55" name="Shape 53"/>
          <p:cNvSpPr/>
          <p:nvPr/>
        </p:nvSpPr>
        <p:spPr>
          <a:xfrm>
            <a:off x="1143000" y="3730752"/>
            <a:ext cx="45720" cy="219456"/>
          </a:xfrm>
          <a:prstGeom prst="roundRect">
            <a:avLst>
              <a:gd name="adj" fmla="val 60000"/>
            </a:avLst>
          </a:prstGeom>
          <a:solidFill>
            <a:srgbClr val="007A27"/>
          </a:solidFill>
          <a:ln w="12700">
            <a:solidFill>
              <a:srgbClr val="007A27"/>
            </a:solidFill>
            <a:prstDash val="solid"/>
          </a:ln>
        </p:spPr>
      </p:sp>
      <p:sp>
        <p:nvSpPr>
          <p:cNvPr id="56" name="Text 54"/>
          <p:cNvSpPr/>
          <p:nvPr/>
        </p:nvSpPr>
        <p:spPr>
          <a:xfrm>
            <a:off x="1243584" y="36941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Advanced campaign management and analytics</a:t>
            </a:r>
            <a:endParaRPr lang="en-US" sz="950" dirty="0"/>
          </a:p>
        </p:txBody>
      </p:sp>
      <p:sp>
        <p:nvSpPr>
          <p:cNvPr id="57" name="Shape 55"/>
          <p:cNvSpPr/>
          <p:nvPr/>
        </p:nvSpPr>
        <p:spPr>
          <a:xfrm>
            <a:off x="7513168" y="3793846"/>
            <a:ext cx="2028368" cy="93269"/>
          </a:xfrm>
          <a:prstGeom prst="roundRect">
            <a:avLst>
              <a:gd name="adj" fmla="val 39216"/>
            </a:avLst>
          </a:prstGeom>
          <a:solidFill>
            <a:srgbClr val="007A27"/>
          </a:solidFill>
          <a:ln w="12700">
            <a:solidFill>
              <a:srgbClr val="007A27"/>
            </a:solidFill>
            <a:prstDash val="solid"/>
          </a:ln>
        </p:spPr>
      </p:sp>
      <p:sp>
        <p:nvSpPr>
          <p:cNvPr id="58" name="Shape 56"/>
          <p:cNvSpPr/>
          <p:nvPr/>
        </p:nvSpPr>
        <p:spPr>
          <a:xfrm>
            <a:off x="621792" y="3977640"/>
            <a:ext cx="411480" cy="822960"/>
          </a:xfrm>
          <a:prstGeom prst="rect">
            <a:avLst/>
          </a:prstGeom>
          <a:solidFill>
            <a:srgbClr val="FFB04C"/>
          </a:solidFill>
          <a:ln w="7620">
            <a:solidFill>
              <a:srgbClr val="FFFFFF"/>
            </a:solidFill>
            <a:prstDash val="solid"/>
          </a:ln>
        </p:spPr>
      </p:sp>
      <p:sp>
        <p:nvSpPr>
          <p:cNvPr id="59" name="Text 57"/>
          <p:cNvSpPr/>
          <p:nvPr/>
        </p:nvSpPr>
        <p:spPr>
          <a:xfrm>
            <a:off x="685800" y="4023360"/>
            <a:ext cx="283464" cy="73152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DISCLOSE</a:t>
            </a:r>
            <a:endParaRPr lang="en-US" sz="750" dirty="0"/>
          </a:p>
        </p:txBody>
      </p:sp>
      <p:sp>
        <p:nvSpPr>
          <p:cNvPr id="60" name="Shape 58"/>
          <p:cNvSpPr/>
          <p:nvPr/>
        </p:nvSpPr>
        <p:spPr>
          <a:xfrm>
            <a:off x="1033272" y="4251960"/>
            <a:ext cx="10536631" cy="0"/>
          </a:xfrm>
          <a:prstGeom prst="line">
            <a:avLst/>
          </a:prstGeom>
          <a:noFill/>
          <a:ln w="4445">
            <a:solidFill>
              <a:srgbClr val="E2E6E2"/>
            </a:solidFill>
            <a:prstDash val="solid"/>
          </a:ln>
        </p:spPr>
      </p:sp>
      <p:sp>
        <p:nvSpPr>
          <p:cNvPr id="61" name="Shape 59"/>
          <p:cNvSpPr/>
          <p:nvPr/>
        </p:nvSpPr>
        <p:spPr>
          <a:xfrm>
            <a:off x="1143000" y="4005072"/>
            <a:ext cx="45720" cy="219456"/>
          </a:xfrm>
          <a:prstGeom prst="roundRect">
            <a:avLst>
              <a:gd name="adj" fmla="val 60000"/>
            </a:avLst>
          </a:prstGeom>
          <a:solidFill>
            <a:srgbClr val="FFB04C"/>
          </a:solidFill>
          <a:ln w="12700">
            <a:solidFill>
              <a:srgbClr val="FFB04C"/>
            </a:solidFill>
            <a:prstDash val="solid"/>
          </a:ln>
        </p:spPr>
      </p:sp>
      <p:sp>
        <p:nvSpPr>
          <p:cNvPr id="62" name="Text 60"/>
          <p:cNvSpPr/>
          <p:nvPr/>
        </p:nvSpPr>
        <p:spPr>
          <a:xfrm>
            <a:off x="1243584" y="39684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Regulated frameworks and templates</a:t>
            </a:r>
            <a:endParaRPr lang="en-US" sz="950" dirty="0"/>
          </a:p>
        </p:txBody>
      </p:sp>
      <p:sp>
        <p:nvSpPr>
          <p:cNvPr id="63" name="Shape 61"/>
          <p:cNvSpPr/>
          <p:nvPr/>
        </p:nvSpPr>
        <p:spPr>
          <a:xfrm>
            <a:off x="6498984" y="4068166"/>
            <a:ext cx="1014184" cy="93269"/>
          </a:xfrm>
          <a:prstGeom prst="roundRect">
            <a:avLst>
              <a:gd name="adj" fmla="val 39216"/>
            </a:avLst>
          </a:prstGeom>
          <a:solidFill>
            <a:srgbClr val="FFB04C"/>
          </a:solidFill>
          <a:ln w="12700">
            <a:solidFill>
              <a:srgbClr val="FFB04C"/>
            </a:solidFill>
            <a:prstDash val="solid"/>
          </a:ln>
        </p:spPr>
      </p:sp>
      <p:sp>
        <p:nvSpPr>
          <p:cNvPr id="64" name="Shape 62"/>
          <p:cNvSpPr/>
          <p:nvPr/>
        </p:nvSpPr>
        <p:spPr>
          <a:xfrm>
            <a:off x="1033272" y="4526280"/>
            <a:ext cx="10536631" cy="0"/>
          </a:xfrm>
          <a:prstGeom prst="line">
            <a:avLst/>
          </a:prstGeom>
          <a:noFill/>
          <a:ln w="4445">
            <a:solidFill>
              <a:srgbClr val="E2E6E2"/>
            </a:solidFill>
            <a:prstDash val="solid"/>
          </a:ln>
        </p:spPr>
      </p:sp>
      <p:sp>
        <p:nvSpPr>
          <p:cNvPr id="65" name="Shape 63"/>
          <p:cNvSpPr/>
          <p:nvPr/>
        </p:nvSpPr>
        <p:spPr>
          <a:xfrm>
            <a:off x="1143000" y="4279392"/>
            <a:ext cx="45720" cy="219456"/>
          </a:xfrm>
          <a:prstGeom prst="roundRect">
            <a:avLst>
              <a:gd name="adj" fmla="val 60000"/>
            </a:avLst>
          </a:prstGeom>
          <a:solidFill>
            <a:srgbClr val="FFB04C"/>
          </a:solidFill>
          <a:ln w="12700">
            <a:solidFill>
              <a:srgbClr val="FFB04C"/>
            </a:solidFill>
            <a:prstDash val="solid"/>
          </a:ln>
        </p:spPr>
      </p:sp>
      <p:sp>
        <p:nvSpPr>
          <p:cNvPr id="66" name="Text 64"/>
          <p:cNvSpPr/>
          <p:nvPr/>
        </p:nvSpPr>
        <p:spPr>
          <a:xfrm>
            <a:off x="1243584" y="42428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AI drafting and audit ready disclosure</a:t>
            </a:r>
            <a:endParaRPr lang="en-US" sz="950" dirty="0"/>
          </a:p>
        </p:txBody>
      </p:sp>
      <p:sp>
        <p:nvSpPr>
          <p:cNvPr id="67" name="Shape 65"/>
          <p:cNvSpPr/>
          <p:nvPr/>
        </p:nvSpPr>
        <p:spPr>
          <a:xfrm>
            <a:off x="7513168" y="4342486"/>
            <a:ext cx="2028368" cy="93269"/>
          </a:xfrm>
          <a:prstGeom prst="roundRect">
            <a:avLst>
              <a:gd name="adj" fmla="val 39216"/>
            </a:avLst>
          </a:prstGeom>
          <a:solidFill>
            <a:srgbClr val="FFB04C"/>
          </a:solidFill>
          <a:ln w="12700">
            <a:solidFill>
              <a:srgbClr val="FFB04C"/>
            </a:solidFill>
            <a:prstDash val="solid"/>
          </a:ln>
        </p:spPr>
      </p:sp>
      <p:sp>
        <p:nvSpPr>
          <p:cNvPr id="68" name="Shape 66"/>
          <p:cNvSpPr/>
          <p:nvPr/>
        </p:nvSpPr>
        <p:spPr>
          <a:xfrm>
            <a:off x="1033272" y="4800600"/>
            <a:ext cx="10536631" cy="0"/>
          </a:xfrm>
          <a:prstGeom prst="line">
            <a:avLst/>
          </a:prstGeom>
          <a:noFill/>
          <a:ln w="4445">
            <a:solidFill>
              <a:srgbClr val="E2E6E2"/>
            </a:solidFill>
            <a:prstDash val="solid"/>
          </a:ln>
        </p:spPr>
      </p:sp>
      <p:sp>
        <p:nvSpPr>
          <p:cNvPr id="69" name="Shape 67"/>
          <p:cNvSpPr/>
          <p:nvPr/>
        </p:nvSpPr>
        <p:spPr>
          <a:xfrm>
            <a:off x="1143000" y="4553712"/>
            <a:ext cx="45720" cy="219456"/>
          </a:xfrm>
          <a:prstGeom prst="roundRect">
            <a:avLst>
              <a:gd name="adj" fmla="val 60000"/>
            </a:avLst>
          </a:prstGeom>
          <a:solidFill>
            <a:srgbClr val="FFB04C"/>
          </a:solidFill>
          <a:ln w="12700">
            <a:solidFill>
              <a:srgbClr val="FFB04C"/>
            </a:solidFill>
            <a:prstDash val="solid"/>
          </a:ln>
        </p:spPr>
      </p:sp>
      <p:sp>
        <p:nvSpPr>
          <p:cNvPr id="70" name="Text 68"/>
          <p:cNvSpPr/>
          <p:nvPr/>
        </p:nvSpPr>
        <p:spPr>
          <a:xfrm>
            <a:off x="1243584" y="45171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Voluntary frameworks</a:t>
            </a:r>
            <a:endParaRPr lang="en-US" sz="950" dirty="0"/>
          </a:p>
        </p:txBody>
      </p:sp>
      <p:sp>
        <p:nvSpPr>
          <p:cNvPr id="71" name="Shape 69"/>
          <p:cNvSpPr/>
          <p:nvPr/>
        </p:nvSpPr>
        <p:spPr>
          <a:xfrm>
            <a:off x="9541535" y="4616806"/>
            <a:ext cx="2028368" cy="93269"/>
          </a:xfrm>
          <a:prstGeom prst="roundRect">
            <a:avLst>
              <a:gd name="adj" fmla="val 39216"/>
            </a:avLst>
          </a:prstGeom>
          <a:solidFill>
            <a:srgbClr val="FFB04C"/>
          </a:solidFill>
          <a:ln w="12700">
            <a:solidFill>
              <a:srgbClr val="FFB04C"/>
            </a:solidFill>
            <a:prstDash val="solid"/>
          </a:ln>
        </p:spPr>
      </p:sp>
      <p:sp>
        <p:nvSpPr>
          <p:cNvPr id="72" name="Shape 70"/>
          <p:cNvSpPr/>
          <p:nvPr/>
        </p:nvSpPr>
        <p:spPr>
          <a:xfrm>
            <a:off x="621792" y="4800600"/>
            <a:ext cx="411480" cy="1097280"/>
          </a:xfrm>
          <a:prstGeom prst="rect">
            <a:avLst/>
          </a:prstGeom>
          <a:solidFill>
            <a:srgbClr val="275B7F"/>
          </a:solidFill>
          <a:ln w="7620">
            <a:solidFill>
              <a:srgbClr val="FFFFFF"/>
            </a:solidFill>
            <a:prstDash val="solid"/>
          </a:ln>
        </p:spPr>
      </p:sp>
      <p:sp>
        <p:nvSpPr>
          <p:cNvPr id="73" name="Text 71"/>
          <p:cNvSpPr/>
          <p:nvPr/>
        </p:nvSpPr>
        <p:spPr>
          <a:xfrm>
            <a:off x="685800" y="4846320"/>
            <a:ext cx="283464" cy="100584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ASSURANCE</a:t>
            </a:r>
            <a:endParaRPr lang="en-US" sz="750" dirty="0"/>
          </a:p>
        </p:txBody>
      </p:sp>
      <p:sp>
        <p:nvSpPr>
          <p:cNvPr id="74" name="Shape 72"/>
          <p:cNvSpPr/>
          <p:nvPr/>
        </p:nvSpPr>
        <p:spPr>
          <a:xfrm>
            <a:off x="1033272" y="5074920"/>
            <a:ext cx="10536631" cy="0"/>
          </a:xfrm>
          <a:prstGeom prst="line">
            <a:avLst/>
          </a:prstGeom>
          <a:noFill/>
          <a:ln w="4445">
            <a:solidFill>
              <a:srgbClr val="E2E6E2"/>
            </a:solidFill>
            <a:prstDash val="solid"/>
          </a:ln>
        </p:spPr>
      </p:sp>
      <p:sp>
        <p:nvSpPr>
          <p:cNvPr id="75" name="Shape 73"/>
          <p:cNvSpPr/>
          <p:nvPr/>
        </p:nvSpPr>
        <p:spPr>
          <a:xfrm>
            <a:off x="1143000" y="4828032"/>
            <a:ext cx="45720" cy="219456"/>
          </a:xfrm>
          <a:prstGeom prst="roundRect">
            <a:avLst>
              <a:gd name="adj" fmla="val 60000"/>
            </a:avLst>
          </a:prstGeom>
          <a:solidFill>
            <a:srgbClr val="275B7F"/>
          </a:solidFill>
          <a:ln w="12700">
            <a:solidFill>
              <a:srgbClr val="275B7F"/>
            </a:solidFill>
            <a:prstDash val="solid"/>
          </a:ln>
        </p:spPr>
      </p:sp>
      <p:sp>
        <p:nvSpPr>
          <p:cNvPr id="76" name="Text 74"/>
          <p:cNvSpPr/>
          <p:nvPr/>
        </p:nvSpPr>
        <p:spPr>
          <a:xfrm>
            <a:off x="1243584" y="47914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Q1: SE migration and CSRD cycle in RA+</a:t>
            </a:r>
            <a:endParaRPr lang="en-US" sz="950" dirty="0"/>
          </a:p>
        </p:txBody>
      </p:sp>
      <p:sp>
        <p:nvSpPr>
          <p:cNvPr id="77" name="Shape 75"/>
          <p:cNvSpPr/>
          <p:nvPr/>
        </p:nvSpPr>
        <p:spPr>
          <a:xfrm>
            <a:off x="7513168" y="4891126"/>
            <a:ext cx="1014184" cy="93269"/>
          </a:xfrm>
          <a:prstGeom prst="roundRect">
            <a:avLst>
              <a:gd name="adj" fmla="val 39216"/>
            </a:avLst>
          </a:prstGeom>
          <a:solidFill>
            <a:srgbClr val="275B7F"/>
          </a:solidFill>
          <a:ln w="12700">
            <a:solidFill>
              <a:srgbClr val="275B7F"/>
            </a:solidFill>
            <a:prstDash val="solid"/>
          </a:ln>
        </p:spPr>
      </p:sp>
      <p:sp>
        <p:nvSpPr>
          <p:cNvPr id="78" name="Shape 76"/>
          <p:cNvSpPr/>
          <p:nvPr/>
        </p:nvSpPr>
        <p:spPr>
          <a:xfrm>
            <a:off x="1033272" y="5349240"/>
            <a:ext cx="10536631" cy="0"/>
          </a:xfrm>
          <a:prstGeom prst="line">
            <a:avLst/>
          </a:prstGeom>
          <a:noFill/>
          <a:ln w="4445">
            <a:solidFill>
              <a:srgbClr val="E2E6E2"/>
            </a:solidFill>
            <a:prstDash val="solid"/>
          </a:ln>
        </p:spPr>
      </p:sp>
      <p:sp>
        <p:nvSpPr>
          <p:cNvPr id="79" name="Shape 77"/>
          <p:cNvSpPr/>
          <p:nvPr/>
        </p:nvSpPr>
        <p:spPr>
          <a:xfrm>
            <a:off x="1143000" y="5102352"/>
            <a:ext cx="45720" cy="219456"/>
          </a:xfrm>
          <a:prstGeom prst="roundRect">
            <a:avLst>
              <a:gd name="adj" fmla="val 60000"/>
            </a:avLst>
          </a:prstGeom>
          <a:solidFill>
            <a:srgbClr val="275B7F"/>
          </a:solidFill>
          <a:ln w="12700">
            <a:solidFill>
              <a:srgbClr val="275B7F"/>
            </a:solidFill>
            <a:prstDash val="solid"/>
          </a:ln>
        </p:spPr>
      </p:sp>
      <p:sp>
        <p:nvSpPr>
          <p:cNvPr id="80" name="Text 78"/>
          <p:cNvSpPr/>
          <p:nvPr/>
        </p:nvSpPr>
        <p:spPr>
          <a:xfrm>
            <a:off x="1243584" y="50657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AI compliance intelligence</a:t>
            </a:r>
            <a:endParaRPr lang="en-US" sz="950" dirty="0"/>
          </a:p>
        </p:txBody>
      </p:sp>
      <p:sp>
        <p:nvSpPr>
          <p:cNvPr id="81" name="Shape 79"/>
          <p:cNvSpPr/>
          <p:nvPr/>
        </p:nvSpPr>
        <p:spPr>
          <a:xfrm>
            <a:off x="9541535" y="5165446"/>
            <a:ext cx="2028368" cy="93269"/>
          </a:xfrm>
          <a:prstGeom prst="roundRect">
            <a:avLst>
              <a:gd name="adj" fmla="val 39216"/>
            </a:avLst>
          </a:prstGeom>
          <a:solidFill>
            <a:srgbClr val="275B7F"/>
          </a:solidFill>
          <a:ln w="12700">
            <a:solidFill>
              <a:srgbClr val="275B7F"/>
            </a:solidFill>
            <a:prstDash val="solid"/>
          </a:ln>
        </p:spPr>
      </p:sp>
      <p:sp>
        <p:nvSpPr>
          <p:cNvPr id="82" name="Shape 80"/>
          <p:cNvSpPr/>
          <p:nvPr/>
        </p:nvSpPr>
        <p:spPr>
          <a:xfrm>
            <a:off x="1033272" y="5623560"/>
            <a:ext cx="10536631" cy="0"/>
          </a:xfrm>
          <a:prstGeom prst="line">
            <a:avLst/>
          </a:prstGeom>
          <a:noFill/>
          <a:ln w="4445">
            <a:solidFill>
              <a:srgbClr val="E2E6E2"/>
            </a:solidFill>
            <a:prstDash val="solid"/>
          </a:ln>
        </p:spPr>
      </p:sp>
      <p:sp>
        <p:nvSpPr>
          <p:cNvPr id="83" name="Shape 81"/>
          <p:cNvSpPr/>
          <p:nvPr/>
        </p:nvSpPr>
        <p:spPr>
          <a:xfrm>
            <a:off x="1143000" y="5376672"/>
            <a:ext cx="45720" cy="219456"/>
          </a:xfrm>
          <a:prstGeom prst="roundRect">
            <a:avLst>
              <a:gd name="adj" fmla="val 60000"/>
            </a:avLst>
          </a:prstGeom>
          <a:solidFill>
            <a:srgbClr val="275B7F"/>
          </a:solidFill>
          <a:ln w="12700">
            <a:solidFill>
              <a:srgbClr val="275B7F"/>
            </a:solidFill>
            <a:prstDash val="solid"/>
          </a:ln>
        </p:spPr>
      </p:sp>
      <p:sp>
        <p:nvSpPr>
          <p:cNvPr id="84" name="Text 82"/>
          <p:cNvSpPr/>
          <p:nvPr/>
        </p:nvSpPr>
        <p:spPr>
          <a:xfrm>
            <a:off x="1243584" y="53400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External assurance and auditor experience</a:t>
            </a:r>
            <a:endParaRPr lang="en-US" sz="950" dirty="0"/>
          </a:p>
        </p:txBody>
      </p:sp>
      <p:sp>
        <p:nvSpPr>
          <p:cNvPr id="85" name="Shape 83"/>
          <p:cNvSpPr/>
          <p:nvPr/>
        </p:nvSpPr>
        <p:spPr>
          <a:xfrm>
            <a:off x="9541535" y="5439766"/>
            <a:ext cx="2028368" cy="93269"/>
          </a:xfrm>
          <a:prstGeom prst="roundRect">
            <a:avLst>
              <a:gd name="adj" fmla="val 39216"/>
            </a:avLst>
          </a:prstGeom>
          <a:solidFill>
            <a:srgbClr val="275B7F"/>
          </a:solidFill>
          <a:ln w="12700">
            <a:solidFill>
              <a:srgbClr val="275B7F"/>
            </a:solidFill>
            <a:prstDash val="solid"/>
          </a:ln>
        </p:spPr>
      </p:sp>
      <p:sp>
        <p:nvSpPr>
          <p:cNvPr id="86" name="Shape 84"/>
          <p:cNvSpPr/>
          <p:nvPr/>
        </p:nvSpPr>
        <p:spPr>
          <a:xfrm>
            <a:off x="1033272" y="5897880"/>
            <a:ext cx="10536631" cy="0"/>
          </a:xfrm>
          <a:prstGeom prst="line">
            <a:avLst/>
          </a:prstGeom>
          <a:noFill/>
          <a:ln w="4445">
            <a:solidFill>
              <a:srgbClr val="E2E6E2"/>
            </a:solidFill>
            <a:prstDash val="solid"/>
          </a:ln>
        </p:spPr>
      </p:sp>
      <p:sp>
        <p:nvSpPr>
          <p:cNvPr id="87" name="Shape 85"/>
          <p:cNvSpPr/>
          <p:nvPr/>
        </p:nvSpPr>
        <p:spPr>
          <a:xfrm>
            <a:off x="1143000" y="5650992"/>
            <a:ext cx="45720" cy="219456"/>
          </a:xfrm>
          <a:prstGeom prst="roundRect">
            <a:avLst>
              <a:gd name="adj" fmla="val 60000"/>
            </a:avLst>
          </a:prstGeom>
          <a:solidFill>
            <a:srgbClr val="275B7F"/>
          </a:solidFill>
          <a:ln w="12700">
            <a:solidFill>
              <a:srgbClr val="275B7F"/>
            </a:solidFill>
            <a:prstDash val="solid"/>
          </a:ln>
        </p:spPr>
      </p:sp>
      <p:sp>
        <p:nvSpPr>
          <p:cNvPr id="88" name="Text 86"/>
          <p:cNvSpPr/>
          <p:nvPr/>
        </p:nvSpPr>
        <p:spPr>
          <a:xfrm>
            <a:off x="1243584" y="56144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CP and Climate Risk disclosure feeds</a:t>
            </a:r>
            <a:endParaRPr lang="en-US" sz="950" dirty="0"/>
          </a:p>
        </p:txBody>
      </p:sp>
      <p:sp>
        <p:nvSpPr>
          <p:cNvPr id="89" name="Shape 87"/>
          <p:cNvSpPr/>
          <p:nvPr/>
        </p:nvSpPr>
        <p:spPr>
          <a:xfrm>
            <a:off x="9541535" y="5714086"/>
            <a:ext cx="2028368" cy="93269"/>
          </a:xfrm>
          <a:prstGeom prst="roundRect">
            <a:avLst>
              <a:gd name="adj" fmla="val 39216"/>
            </a:avLst>
          </a:prstGeom>
          <a:solidFill>
            <a:srgbClr val="275B7F"/>
          </a:solidFill>
          <a:ln w="12700">
            <a:solidFill>
              <a:srgbClr val="275B7F"/>
            </a:solidFill>
            <a:prstDash val="solid"/>
          </a:ln>
        </p:spPr>
      </p:sp>
      <p:sp>
        <p:nvSpPr>
          <p:cNvPr id="90" name="Shape 88"/>
          <p:cNvSpPr/>
          <p:nvPr/>
        </p:nvSpPr>
        <p:spPr>
          <a:xfrm>
            <a:off x="621792" y="6437376"/>
            <a:ext cx="10948111" cy="0"/>
          </a:xfrm>
          <a:prstGeom prst="line">
            <a:avLst/>
          </a:prstGeom>
          <a:noFill/>
          <a:ln w="9525">
            <a:solidFill>
              <a:srgbClr val="E2E6E2"/>
            </a:solidFill>
            <a:prstDash val="solid"/>
          </a:ln>
        </p:spPr>
      </p:sp>
      <p:sp>
        <p:nvSpPr>
          <p:cNvPr id="91" name="Text 8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92" name="Text 9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RA+ PLATFORM</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Core platform foundations: configure, collect, disclose end to end</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Built once in the core, consumed by every product on top.</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STEP 1</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Configure</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Set the structure once.</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hierarchy and emission factors, owned by the core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Config engine, calc methods and templates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Framework and disclosure definitions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Approval hierarchies and bulk assignment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Permissions, roles and workspace setup</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STEP 2</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Collect</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Get the data in, governed.</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data ingestion and transformation rules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Governed data collection campaigns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Reporting cycles and reporting workspace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quality assurance and validation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Bulk uploads, integrations and connectors</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8103413" y="2084832"/>
            <a:ext cx="3466490" cy="73152"/>
          </a:xfrm>
          <a:prstGeom prst="rect">
            <a:avLst/>
          </a:prstGeom>
          <a:solidFill>
            <a:srgbClr val="FFB04C"/>
          </a:solidFill>
          <a:ln w="12700">
            <a:solidFill>
              <a:srgbClr val="FFB04C"/>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STEP 3</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Disclose</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Produce the output, audit ready.</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management on the shared indicator library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Full traceability from disclosure back to source data</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and audit trail by design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Regulated framework output: CSRD, ESRS, IFRS S1 and S2</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Every product consumes the same foundation</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50088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17170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RA+ SHARED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hierarchy. One user workflow. One analytics engine.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Built once in the shared platform, inherited by every sustainability and energy product.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SHARED STRUCTURE</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Hierarchy</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Organise once, inherit everywhere.</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Entity, site, asset, supplier and product relationships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Organisational boundaries and multi-hierarchy views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Role-based access aligned to operating responsibility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Consistent allocation across carbon, energy, risk and disclosure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trusted structure for every reporting cycle</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SHARED EXPERIENCE</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User workflow</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Configure, collect, review and act once.</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Configurable campaigns, assignments and approvals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quality checks, exceptions and remediation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lineage and audit trail by design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Initiatives and actions connected to accountable owners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repeatable way of working across products</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8103413" y="2084832"/>
            <a:ext cx="3466490" cy="73152"/>
          </a:xfrm>
          <a:prstGeom prst="rect">
            <a:avLst/>
          </a:prstGeom>
          <a:solidFill>
            <a:srgbClr val="FFB04C"/>
          </a:solidFill>
          <a:ln w="12700">
            <a:solidFill>
              <a:srgbClr val="FFB04C"/>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SHARED INTELLIGENCE</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Analytics engine</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Turn governed data into decisions.</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Reusable metrics, calculations and comparison logic</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Dashboards from portfolio to source data</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 analysis, forecasting and value at risk</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AI-assisted insight grounded in governed platform data</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decision layer from operations to leadership</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55244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22326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RA+ SHARED PLATFORM DASHBOARD</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Turn the shared platform roadmap into an owned delivery model</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 live dashboard makes progress, ownership, timing and risk visible across the foundations every product consumes.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TRACK THE WORK</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Capability register</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record for every shared capability.</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Hierarchy, workflow and analytics grouped as three foundations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Named owner and target period for every capability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Planned, in progress, at risk and complete states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Progress and latest update stored in the shared data model</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RUN THE PORTFOLIO</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Leadership dashboard</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See the portfolio signal, then inspect the detail.</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Overall and pillar-level progress at a glance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Visible completion, activity and at-risk counts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Filters by foundation and delivery status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Editable updates without rebuilding the roadmap deck</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8103413" y="2084832"/>
            <a:ext cx="3466490" cy="73152"/>
          </a:xfrm>
          <a:prstGeom prst="rect">
            <a:avLst/>
          </a:prstGeom>
          <a:solidFill>
            <a:srgbClr val="FFB04C"/>
          </a:solidFill>
          <a:ln w="12700">
            <a:solidFill>
              <a:srgbClr val="FFB04C"/>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CREATE ACCOUNTABILITY</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Operating cadence</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Use the same facts in product and leadership reviews.</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Owners update progress and evidence before reviews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At-risk capabilities become explicit decisions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dependencies stay visible across products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The dashboard becomes the source for roadmap reporting</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02666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69748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REPORTING AND COMPLIANCE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reporting and compliance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Framework Library scopes the work, Indicator Management holds the data, Disclosure Management produces the output.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Framework Library</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Entry point and scope.</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Pre-built templates: CSRD and ESRS, EU Taxonomy, CDP, IFRS S1 and S2, CA Climate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powered framework question and answer and interpretation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indicator to framework mapping suggestions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Regulated frameworks and templates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GRI, SASB, GRESB, EcoVadis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Indicator Management</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Foundation of data management.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Standard indicator catalogue pre-aligned to major frameworks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 indicators with formula and transform engine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Dataset registry, schema and source mapping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Flexible approval hierarchies and bulk assignment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Direct indicator data uploads</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Disclosure Management</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Reporting cycle workspace.</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attributes and schema definition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Governed multi hierarchy reporting cycles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collection campaigns across entities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assisted drafting with data lineage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Multi step approvals, audit trail and export</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Migration and assurance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Prove it on Schneider first.</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Corporate SE migrated off RA Classic</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 indicators connected to its Datahub</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ready disclosures with full lineage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External assurance and auditor experience</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02666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69748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REPORTING AND COMPLIANCE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R&amp;C depends on the platform more than any other product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It is a data receiver from every product, so integration quality is the value proposition.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PLATFORM</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Separation and ingestion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Prerequisites for launch.</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Indicator data upload paths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Dataset registry and column mapping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Formula and transform engine on RA+</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ONTOLOGY</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Hierarchy and access</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Inherited, not rebuilt.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Reporting cycles scoped to the entity hierarchy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access for cycle scope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Configure module syncing across products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Flexible approval hierarchies</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CROSS PRODUCT</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Data in, disclosures out</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Lineage end to end.</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CP emissions from Collect into environmental disclosures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Climate Risk outputs into TCFD, ISSB and CSRD climate sections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disclosure reporting with CP and CR</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data as a future feed</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SERA</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AI capabilities</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Where the differentiation sits.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Framework question and answer in natural language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Draft response generation from document repository and platform data</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Indicator to framework mapping suggestions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Indicator performance analytics and assurance</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CLIMATE RISK</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Turn Eclr into a self serve product, then price the risk</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Asset register and exposure in 2026, scenarios, value at risk and adaptation in 2027.</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2270684"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Asset and site register on the shared hierarchy</a:t>
            </a:r>
            <a:endParaRPr lang="en-US" sz="900" dirty="0"/>
          </a:p>
        </p:txBody>
      </p:sp>
      <p:sp>
        <p:nvSpPr>
          <p:cNvPr id="16" name="Shape 14"/>
          <p:cNvSpPr/>
          <p:nvPr/>
        </p:nvSpPr>
        <p:spPr>
          <a:xfrm>
            <a:off x="758952" y="3739896"/>
            <a:ext cx="2270684"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Eclr platform stabilisation on RA+</a:t>
            </a:r>
            <a:endParaRPr lang="en-US" sz="950" dirty="0"/>
          </a:p>
        </p:txBody>
      </p:sp>
      <p:sp>
        <p:nvSpPr>
          <p:cNvPr id="18" name="Shape 16"/>
          <p:cNvSpPr/>
          <p:nvPr/>
        </p:nvSpPr>
        <p:spPr>
          <a:xfrm>
            <a:off x="758952" y="4526280"/>
            <a:ext cx="2270684"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Hazard data foundations</a:t>
            </a:r>
            <a:endParaRPr lang="en-US" sz="1000" dirty="0"/>
          </a:p>
        </p:txBody>
      </p:sp>
      <p:sp>
        <p:nvSpPr>
          <p:cNvPr id="20" name="Shape 18"/>
          <p:cNvSpPr/>
          <p:nvPr/>
        </p:nvSpPr>
        <p:spPr>
          <a:xfrm>
            <a:off x="758952" y="5312664"/>
            <a:ext cx="2270684" cy="713232"/>
          </a:xfrm>
          <a:prstGeom prst="roundRect">
            <a:avLst>
              <a:gd name="adj" fmla="val 3846"/>
            </a:avLst>
          </a:prstGeom>
          <a:solidFill>
            <a:srgbClr val="F7F8F7"/>
          </a:solidFill>
          <a:ln w="5080">
            <a:solidFill>
              <a:srgbClr val="F7F8F7"/>
            </a:solidFill>
            <a:prstDash val="solid"/>
          </a:ln>
        </p:spPr>
      </p:sp>
      <p:sp>
        <p:nvSpPr>
          <p:cNvPr id="21" name="Text 19"/>
          <p:cNvSpPr/>
          <p:nvPr/>
        </p:nvSpPr>
        <p:spPr>
          <a:xfrm>
            <a:off x="822960"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Resilience impact types in the shared taxonomy</a:t>
            </a:r>
            <a:endParaRPr lang="en-US" sz="950" dirty="0"/>
          </a:p>
        </p:txBody>
      </p:sp>
      <p:sp>
        <p:nvSpPr>
          <p:cNvPr id="22" name="Shape 20"/>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3422828" y="2084832"/>
            <a:ext cx="2545004" cy="713232"/>
          </a:xfrm>
          <a:prstGeom prst="rect">
            <a:avLst/>
          </a:prstGeom>
          <a:solidFill>
            <a:srgbClr val="EAF8ED"/>
          </a:solidFill>
          <a:ln w="12700">
            <a:solidFill>
              <a:srgbClr val="EAF8ED"/>
            </a:solidFill>
            <a:prstDash val="solid"/>
          </a:ln>
        </p:spPr>
      </p:sp>
      <p:sp>
        <p:nvSpPr>
          <p:cNvPr id="24" name="Shape 22"/>
          <p:cNvSpPr/>
          <p:nvPr/>
        </p:nvSpPr>
        <p:spPr>
          <a:xfrm>
            <a:off x="3422828" y="2084832"/>
            <a:ext cx="54864" cy="4178808"/>
          </a:xfrm>
          <a:prstGeom prst="rect">
            <a:avLst/>
          </a:prstGeom>
          <a:solidFill>
            <a:srgbClr val="007A27"/>
          </a:solidFill>
          <a:ln w="12700">
            <a:solidFill>
              <a:srgbClr val="007A27"/>
            </a:solidFill>
            <a:prstDash val="solid"/>
          </a:ln>
        </p:spPr>
      </p:sp>
      <p:sp>
        <p:nvSpPr>
          <p:cNvPr id="25" name="Text 23"/>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3559988" y="2953512"/>
            <a:ext cx="2270684"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3623996"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Physical hazard exposure on owned assets</a:t>
            </a:r>
            <a:endParaRPr lang="en-US" sz="950" dirty="0"/>
          </a:p>
        </p:txBody>
      </p:sp>
      <p:sp>
        <p:nvSpPr>
          <p:cNvPr id="29" name="Shape 27"/>
          <p:cNvSpPr/>
          <p:nvPr/>
        </p:nvSpPr>
        <p:spPr>
          <a:xfrm>
            <a:off x="3559988" y="3739896"/>
            <a:ext cx="2270684"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3623996"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Eclr turned to a full self serve product</a:t>
            </a:r>
            <a:endParaRPr lang="en-US" sz="950" dirty="0"/>
          </a:p>
        </p:txBody>
      </p:sp>
      <p:sp>
        <p:nvSpPr>
          <p:cNvPr id="31" name="Shape 29"/>
          <p:cNvSpPr/>
          <p:nvPr/>
        </p:nvSpPr>
        <p:spPr>
          <a:xfrm>
            <a:off x="3559988" y="4526280"/>
            <a:ext cx="2270684"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3623996"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Scalable performance at portfolio volumes</a:t>
            </a:r>
            <a:endParaRPr lang="en-US" sz="950" dirty="0"/>
          </a:p>
        </p:txBody>
      </p:sp>
      <p:sp>
        <p:nvSpPr>
          <p:cNvPr id="33" name="Shape 31"/>
          <p:cNvSpPr/>
          <p:nvPr/>
        </p:nvSpPr>
        <p:spPr>
          <a:xfrm>
            <a:off x="3559988" y="5312664"/>
            <a:ext cx="2270684" cy="713232"/>
          </a:xfrm>
          <a:prstGeom prst="roundRect">
            <a:avLst>
              <a:gd name="adj" fmla="val 3846"/>
            </a:avLst>
          </a:prstGeom>
          <a:solidFill>
            <a:srgbClr val="F7F8F7"/>
          </a:solidFill>
          <a:ln w="5080">
            <a:solidFill>
              <a:srgbClr val="F7F8F7"/>
            </a:solidFill>
            <a:prstDash val="solid"/>
          </a:ln>
        </p:spPr>
      </p:sp>
      <p:sp>
        <p:nvSpPr>
          <p:cNvPr id="34" name="Text 32"/>
          <p:cNvSpPr/>
          <p:nvPr/>
        </p:nvSpPr>
        <p:spPr>
          <a:xfrm>
            <a:off x="3623996"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Adaptation planning primitives with Strategy</a:t>
            </a:r>
            <a:endParaRPr lang="en-US" sz="950" dirty="0"/>
          </a:p>
        </p:txBody>
      </p:sp>
      <p:sp>
        <p:nvSpPr>
          <p:cNvPr id="35" name="Shape 33"/>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6" name="Shape 34"/>
          <p:cNvSpPr/>
          <p:nvPr/>
        </p:nvSpPr>
        <p:spPr>
          <a:xfrm>
            <a:off x="6223864" y="2084832"/>
            <a:ext cx="2545004" cy="713232"/>
          </a:xfrm>
          <a:prstGeom prst="rect">
            <a:avLst/>
          </a:prstGeom>
          <a:solidFill>
            <a:srgbClr val="FFF4E3"/>
          </a:solidFill>
          <a:ln w="12700">
            <a:solidFill>
              <a:srgbClr val="FFF4E3"/>
            </a:solidFill>
            <a:prstDash val="solid"/>
          </a:ln>
        </p:spPr>
      </p:sp>
      <p:sp>
        <p:nvSpPr>
          <p:cNvPr id="37" name="Shape 35"/>
          <p:cNvSpPr/>
          <p:nvPr/>
        </p:nvSpPr>
        <p:spPr>
          <a:xfrm>
            <a:off x="6223864" y="2084832"/>
            <a:ext cx="54864" cy="4178808"/>
          </a:xfrm>
          <a:prstGeom prst="rect">
            <a:avLst/>
          </a:prstGeom>
          <a:solidFill>
            <a:srgbClr val="FFB04C"/>
          </a:solidFill>
          <a:ln w="12700">
            <a:solidFill>
              <a:srgbClr val="FFB04C"/>
            </a:solidFill>
            <a:prstDash val="solid"/>
          </a:ln>
        </p:spPr>
      </p:sp>
      <p:sp>
        <p:nvSpPr>
          <p:cNvPr id="38" name="Text 36"/>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39" name="Text 37"/>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40" name="Shape 38"/>
          <p:cNvSpPr/>
          <p:nvPr/>
        </p:nvSpPr>
        <p:spPr>
          <a:xfrm>
            <a:off x="6361024" y="2953512"/>
            <a:ext cx="2270684" cy="713232"/>
          </a:xfrm>
          <a:prstGeom prst="roundRect">
            <a:avLst>
              <a:gd name="adj" fmla="val 3846"/>
            </a:avLst>
          </a:prstGeom>
          <a:solidFill>
            <a:srgbClr val="F7F8F7"/>
          </a:solidFill>
          <a:ln w="5080">
            <a:solidFill>
              <a:srgbClr val="F7F8F7"/>
            </a:solidFill>
            <a:prstDash val="solid"/>
          </a:ln>
        </p:spPr>
      </p:sp>
      <p:sp>
        <p:nvSpPr>
          <p:cNvPr id="41" name="Text 39"/>
          <p:cNvSpPr/>
          <p:nvPr/>
        </p:nvSpPr>
        <p:spPr>
          <a:xfrm>
            <a:off x="6425032"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Physical and transition scenario analysis</a:t>
            </a:r>
            <a:endParaRPr lang="en-US" sz="950" dirty="0"/>
          </a:p>
        </p:txBody>
      </p:sp>
      <p:sp>
        <p:nvSpPr>
          <p:cNvPr id="42" name="Shape 40"/>
          <p:cNvSpPr/>
          <p:nvPr/>
        </p:nvSpPr>
        <p:spPr>
          <a:xfrm>
            <a:off x="6361024" y="3739896"/>
            <a:ext cx="2270684" cy="713232"/>
          </a:xfrm>
          <a:prstGeom prst="roundRect">
            <a:avLst>
              <a:gd name="adj" fmla="val 3846"/>
            </a:avLst>
          </a:prstGeom>
          <a:solidFill>
            <a:srgbClr val="F7F8F7"/>
          </a:solidFill>
          <a:ln w="5080">
            <a:solidFill>
              <a:srgbClr val="F7F8F7"/>
            </a:solidFill>
            <a:prstDash val="solid"/>
          </a:ln>
        </p:spPr>
      </p:sp>
      <p:sp>
        <p:nvSpPr>
          <p:cNvPr id="43" name="Text 41"/>
          <p:cNvSpPr/>
          <p:nvPr/>
        </p:nvSpPr>
        <p:spPr>
          <a:xfrm>
            <a:off x="6425032"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ClimVar - Value at Risk</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Expressed in financial terms</a:t>
            </a:r>
            <a:endParaRPr lang="en-US" sz="1000" dirty="0"/>
          </a:p>
        </p:txBody>
      </p:sp>
      <p:sp>
        <p:nvSpPr>
          <p:cNvPr id="44" name="Shape 42"/>
          <p:cNvSpPr/>
          <p:nvPr/>
        </p:nvSpPr>
        <p:spPr>
          <a:xfrm>
            <a:off x="6361024" y="4526280"/>
            <a:ext cx="2270684" cy="713232"/>
          </a:xfrm>
          <a:prstGeom prst="roundRect">
            <a:avLst>
              <a:gd name="adj" fmla="val 3846"/>
            </a:avLst>
          </a:prstGeom>
          <a:solidFill>
            <a:srgbClr val="F7F8F7"/>
          </a:solidFill>
          <a:ln w="5080">
            <a:solidFill>
              <a:srgbClr val="F7F8F7"/>
            </a:solidFill>
            <a:prstDash val="solid"/>
          </a:ln>
        </p:spPr>
      </p:sp>
      <p:sp>
        <p:nvSpPr>
          <p:cNvPr id="45" name="Text 43"/>
          <p:cNvSpPr/>
          <p:nvPr/>
        </p:nvSpPr>
        <p:spPr>
          <a:xfrm>
            <a:off x="6425032"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Adaptation actions tracked with monthly actuals</a:t>
            </a:r>
            <a:endParaRPr lang="en-US" sz="900" dirty="0"/>
          </a:p>
        </p:txBody>
      </p:sp>
      <p:sp>
        <p:nvSpPr>
          <p:cNvPr id="46" name="Shape 44"/>
          <p:cNvSpPr/>
          <p:nvPr/>
        </p:nvSpPr>
        <p:spPr>
          <a:xfrm>
            <a:off x="6361024" y="5312664"/>
            <a:ext cx="2270684" cy="713232"/>
          </a:xfrm>
          <a:prstGeom prst="roundRect">
            <a:avLst>
              <a:gd name="adj" fmla="val 3846"/>
            </a:avLst>
          </a:prstGeom>
          <a:solidFill>
            <a:srgbClr val="F7F8F7"/>
          </a:solidFill>
          <a:ln w="5080">
            <a:solidFill>
              <a:srgbClr val="F7F8F7"/>
            </a:solidFill>
            <a:prstDash val="solid"/>
          </a:ln>
        </p:spPr>
      </p:sp>
      <p:sp>
        <p:nvSpPr>
          <p:cNvPr id="47" name="Text 45"/>
          <p:cNvSpPr/>
          <p:nvPr/>
        </p:nvSpPr>
        <p:spPr>
          <a:xfrm>
            <a:off x="6425032"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Portfolio level risk analytics and heatmaps</a:t>
            </a:r>
            <a:endParaRPr lang="en-US" sz="950" dirty="0"/>
          </a:p>
        </p:txBody>
      </p:sp>
      <p:sp>
        <p:nvSpPr>
          <p:cNvPr id="48" name="Shape 46"/>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49" name="Shape 47"/>
          <p:cNvSpPr/>
          <p:nvPr/>
        </p:nvSpPr>
        <p:spPr>
          <a:xfrm>
            <a:off x="9024899" y="2084832"/>
            <a:ext cx="2545004" cy="713232"/>
          </a:xfrm>
          <a:prstGeom prst="rect">
            <a:avLst/>
          </a:prstGeom>
          <a:solidFill>
            <a:srgbClr val="EAF1F5"/>
          </a:solidFill>
          <a:ln w="12700">
            <a:solidFill>
              <a:srgbClr val="EAF1F5"/>
            </a:solidFill>
            <a:prstDash val="solid"/>
          </a:ln>
        </p:spPr>
      </p:sp>
      <p:sp>
        <p:nvSpPr>
          <p:cNvPr id="50" name="Shape 48"/>
          <p:cNvSpPr/>
          <p:nvPr/>
        </p:nvSpPr>
        <p:spPr>
          <a:xfrm>
            <a:off x="9024899" y="2084832"/>
            <a:ext cx="54864" cy="4178808"/>
          </a:xfrm>
          <a:prstGeom prst="rect">
            <a:avLst/>
          </a:prstGeom>
          <a:solidFill>
            <a:srgbClr val="275B7F"/>
          </a:solidFill>
          <a:ln w="12700">
            <a:solidFill>
              <a:srgbClr val="275B7F"/>
            </a:solidFill>
            <a:prstDash val="solid"/>
          </a:ln>
        </p:spPr>
      </p:sp>
      <p:sp>
        <p:nvSpPr>
          <p:cNvPr id="51" name="Text 49"/>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52" name="Text 50"/>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53" name="Shape 51"/>
          <p:cNvSpPr/>
          <p:nvPr/>
        </p:nvSpPr>
        <p:spPr>
          <a:xfrm>
            <a:off x="9162059" y="2953512"/>
            <a:ext cx="2270684" cy="713232"/>
          </a:xfrm>
          <a:prstGeom prst="roundRect">
            <a:avLst>
              <a:gd name="adj" fmla="val 3846"/>
            </a:avLst>
          </a:prstGeom>
          <a:solidFill>
            <a:srgbClr val="F7F8F7"/>
          </a:solidFill>
          <a:ln w="5080">
            <a:solidFill>
              <a:srgbClr val="F7F8F7"/>
            </a:solidFill>
            <a:prstDash val="solid"/>
          </a:ln>
        </p:spPr>
      </p:sp>
      <p:sp>
        <p:nvSpPr>
          <p:cNvPr id="54" name="Text 52"/>
          <p:cNvSpPr/>
          <p:nvPr/>
        </p:nvSpPr>
        <p:spPr>
          <a:xfrm>
            <a:off x="9226067"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Transition plan modelling linked to targets</a:t>
            </a:r>
            <a:endParaRPr lang="en-US" sz="950" dirty="0"/>
          </a:p>
        </p:txBody>
      </p:sp>
      <p:sp>
        <p:nvSpPr>
          <p:cNvPr id="55" name="Shape 53"/>
          <p:cNvSpPr/>
          <p:nvPr/>
        </p:nvSpPr>
        <p:spPr>
          <a:xfrm>
            <a:off x="9162059" y="3739896"/>
            <a:ext cx="2270684" cy="713232"/>
          </a:xfrm>
          <a:prstGeom prst="roundRect">
            <a:avLst>
              <a:gd name="adj" fmla="val 3846"/>
            </a:avLst>
          </a:prstGeom>
          <a:solidFill>
            <a:srgbClr val="F7F8F7"/>
          </a:solidFill>
          <a:ln w="5080">
            <a:solidFill>
              <a:srgbClr val="F7F8F7"/>
            </a:solidFill>
            <a:prstDash val="solid"/>
          </a:ln>
        </p:spPr>
      </p:sp>
      <p:sp>
        <p:nvSpPr>
          <p:cNvPr id="56" name="Text 54"/>
          <p:cNvSpPr/>
          <p:nvPr/>
        </p:nvSpPr>
        <p:spPr>
          <a:xfrm>
            <a:off x="9226067"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Risk data flowing into R&amp;C disclosures</a:t>
            </a:r>
            <a:endParaRPr lang="en-US" sz="950" dirty="0"/>
          </a:p>
        </p:txBody>
      </p:sp>
      <p:sp>
        <p:nvSpPr>
          <p:cNvPr id="57" name="Shape 55"/>
          <p:cNvSpPr/>
          <p:nvPr/>
        </p:nvSpPr>
        <p:spPr>
          <a:xfrm>
            <a:off x="9162059" y="4526280"/>
            <a:ext cx="2270684" cy="713232"/>
          </a:xfrm>
          <a:prstGeom prst="roundRect">
            <a:avLst>
              <a:gd name="adj" fmla="val 3846"/>
            </a:avLst>
          </a:prstGeom>
          <a:solidFill>
            <a:srgbClr val="F7F8F7"/>
          </a:solidFill>
          <a:ln w="5080">
            <a:solidFill>
              <a:srgbClr val="F7F8F7"/>
            </a:solidFill>
            <a:prstDash val="solid"/>
          </a:ln>
        </p:spPr>
      </p:sp>
      <p:sp>
        <p:nvSpPr>
          <p:cNvPr id="58" name="Text 56"/>
          <p:cNvSpPr/>
          <p:nvPr/>
        </p:nvSpPr>
        <p:spPr>
          <a:xfrm>
            <a:off x="9226067"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Supply chain and climate risk integration</a:t>
            </a:r>
            <a:endParaRPr lang="en-US" sz="950" dirty="0"/>
          </a:p>
        </p:txBody>
      </p:sp>
      <p:sp>
        <p:nvSpPr>
          <p:cNvPr id="59" name="Shape 57"/>
          <p:cNvSpPr/>
          <p:nvPr/>
        </p:nvSpPr>
        <p:spPr>
          <a:xfrm>
            <a:off x="9162059" y="5312664"/>
            <a:ext cx="2270684" cy="713232"/>
          </a:xfrm>
          <a:prstGeom prst="roundRect">
            <a:avLst>
              <a:gd name="adj" fmla="val 3846"/>
            </a:avLst>
          </a:prstGeom>
          <a:solidFill>
            <a:srgbClr val="F7F8F7"/>
          </a:solidFill>
          <a:ln w="5080">
            <a:solidFill>
              <a:srgbClr val="F7F8F7"/>
            </a:solidFill>
            <a:prstDash val="solid"/>
          </a:ln>
        </p:spPr>
      </p:sp>
      <p:sp>
        <p:nvSpPr>
          <p:cNvPr id="60" name="Text 58"/>
          <p:cNvSpPr/>
          <p:nvPr/>
        </p:nvSpPr>
        <p:spPr>
          <a:xfrm>
            <a:off x="9226067"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Value at risk across the extended value chain</a:t>
            </a:r>
            <a:endParaRPr lang="en-US" sz="950" dirty="0"/>
          </a:p>
        </p:txBody>
      </p:sp>
      <p:sp>
        <p:nvSpPr>
          <p:cNvPr id="61" name="Shape 59"/>
          <p:cNvSpPr/>
          <p:nvPr/>
        </p:nvSpPr>
        <p:spPr>
          <a:xfrm>
            <a:off x="621792" y="6437376"/>
            <a:ext cx="10948111" cy="0"/>
          </a:xfrm>
          <a:prstGeom prst="line">
            <a:avLst/>
          </a:prstGeom>
          <a:noFill/>
          <a:ln w="9525">
            <a:solidFill>
              <a:srgbClr val="E2E6E2"/>
            </a:solidFill>
            <a:prstDash val="solid"/>
          </a:ln>
        </p:spPr>
      </p:sp>
      <p:sp>
        <p:nvSpPr>
          <p:cNvPr id="62" name="Text 60"/>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3" name="Text 61"/>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CLIMATE RISK</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Climate Risk plan on a timeline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Establish exposure in 2026, then convert scenarios into financial value, adaptation and disclosure in 2027.</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470616"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5484800"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6498984"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7513168"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7513168"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852735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9541535"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10555719"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Shape 19"/>
          <p:cNvSpPr/>
          <p:nvPr/>
        </p:nvSpPr>
        <p:spPr>
          <a:xfrm>
            <a:off x="3456432" y="2103120"/>
            <a:ext cx="0" cy="3794760"/>
          </a:xfrm>
          <a:prstGeom prst="line">
            <a:avLst/>
          </a:prstGeom>
          <a:noFill/>
          <a:ln w="11430">
            <a:solidFill>
              <a:srgbClr val="C8CECA"/>
            </a:solidFill>
            <a:prstDash val="solid"/>
          </a:ln>
        </p:spPr>
      </p:sp>
      <p:sp>
        <p:nvSpPr>
          <p:cNvPr id="22" name="Shape 20"/>
          <p:cNvSpPr/>
          <p:nvPr/>
        </p:nvSpPr>
        <p:spPr>
          <a:xfrm>
            <a:off x="4470616" y="2103120"/>
            <a:ext cx="0" cy="3794760"/>
          </a:xfrm>
          <a:prstGeom prst="line">
            <a:avLst/>
          </a:prstGeom>
          <a:noFill/>
          <a:ln w="4445">
            <a:solidFill>
              <a:srgbClr val="E2E6E2"/>
            </a:solidFill>
            <a:prstDash val="solid"/>
          </a:ln>
        </p:spPr>
      </p:sp>
      <p:sp>
        <p:nvSpPr>
          <p:cNvPr id="23" name="Shape 21"/>
          <p:cNvSpPr/>
          <p:nvPr/>
        </p:nvSpPr>
        <p:spPr>
          <a:xfrm>
            <a:off x="5484800" y="2103120"/>
            <a:ext cx="0" cy="3794760"/>
          </a:xfrm>
          <a:prstGeom prst="line">
            <a:avLst/>
          </a:prstGeom>
          <a:noFill/>
          <a:ln w="4445">
            <a:solidFill>
              <a:srgbClr val="E2E6E2"/>
            </a:solidFill>
            <a:prstDash val="solid"/>
          </a:ln>
        </p:spPr>
      </p:sp>
      <p:sp>
        <p:nvSpPr>
          <p:cNvPr id="24" name="Shape 22"/>
          <p:cNvSpPr/>
          <p:nvPr/>
        </p:nvSpPr>
        <p:spPr>
          <a:xfrm>
            <a:off x="6498984" y="2103120"/>
            <a:ext cx="0" cy="3794760"/>
          </a:xfrm>
          <a:prstGeom prst="line">
            <a:avLst/>
          </a:prstGeom>
          <a:noFill/>
          <a:ln w="4445">
            <a:solidFill>
              <a:srgbClr val="E2E6E2"/>
            </a:solidFill>
            <a:prstDash val="solid"/>
          </a:ln>
        </p:spPr>
      </p:sp>
      <p:sp>
        <p:nvSpPr>
          <p:cNvPr id="25" name="Shape 23"/>
          <p:cNvSpPr/>
          <p:nvPr/>
        </p:nvSpPr>
        <p:spPr>
          <a:xfrm>
            <a:off x="7513168" y="2103120"/>
            <a:ext cx="0" cy="3794760"/>
          </a:xfrm>
          <a:prstGeom prst="line">
            <a:avLst/>
          </a:prstGeom>
          <a:noFill/>
          <a:ln w="11430">
            <a:solidFill>
              <a:srgbClr val="C8CECA"/>
            </a:solidFill>
            <a:prstDash val="solid"/>
          </a:ln>
        </p:spPr>
      </p:sp>
      <p:sp>
        <p:nvSpPr>
          <p:cNvPr id="26" name="Shape 24"/>
          <p:cNvSpPr/>
          <p:nvPr/>
        </p:nvSpPr>
        <p:spPr>
          <a:xfrm>
            <a:off x="8527352" y="2103120"/>
            <a:ext cx="0" cy="3794760"/>
          </a:xfrm>
          <a:prstGeom prst="line">
            <a:avLst/>
          </a:prstGeom>
          <a:noFill/>
          <a:ln w="4445">
            <a:solidFill>
              <a:srgbClr val="E2E6E2"/>
            </a:solidFill>
            <a:prstDash val="solid"/>
          </a:ln>
        </p:spPr>
      </p:sp>
      <p:sp>
        <p:nvSpPr>
          <p:cNvPr id="27" name="Shape 25"/>
          <p:cNvSpPr/>
          <p:nvPr/>
        </p:nvSpPr>
        <p:spPr>
          <a:xfrm>
            <a:off x="9541535" y="2103120"/>
            <a:ext cx="0" cy="3794760"/>
          </a:xfrm>
          <a:prstGeom prst="line">
            <a:avLst/>
          </a:prstGeom>
          <a:noFill/>
          <a:ln w="4445">
            <a:solidFill>
              <a:srgbClr val="E2E6E2"/>
            </a:solidFill>
            <a:prstDash val="solid"/>
          </a:ln>
        </p:spPr>
      </p:sp>
      <p:sp>
        <p:nvSpPr>
          <p:cNvPr id="28" name="Shape 26"/>
          <p:cNvSpPr/>
          <p:nvPr/>
        </p:nvSpPr>
        <p:spPr>
          <a:xfrm>
            <a:off x="10555719" y="2103120"/>
            <a:ext cx="0" cy="3794760"/>
          </a:xfrm>
          <a:prstGeom prst="line">
            <a:avLst/>
          </a:prstGeom>
          <a:noFill/>
          <a:ln w="4445">
            <a:solidFill>
              <a:srgbClr val="E2E6E2"/>
            </a:solidFill>
            <a:prstDash val="solid"/>
          </a:ln>
        </p:spPr>
      </p:sp>
      <p:sp>
        <p:nvSpPr>
          <p:cNvPr id="29" name="Shape 27"/>
          <p:cNvSpPr/>
          <p:nvPr/>
        </p:nvSpPr>
        <p:spPr>
          <a:xfrm>
            <a:off x="11569903" y="2103120"/>
            <a:ext cx="0" cy="3794760"/>
          </a:xfrm>
          <a:prstGeom prst="line">
            <a:avLst/>
          </a:prstGeom>
          <a:noFill/>
          <a:ln w="11430">
            <a:solidFill>
              <a:srgbClr val="C8CECA"/>
            </a:solidFill>
            <a:prstDash val="solid"/>
          </a:ln>
        </p:spPr>
      </p:sp>
      <p:sp>
        <p:nvSpPr>
          <p:cNvPr id="30" name="Shape 28"/>
          <p:cNvSpPr/>
          <p:nvPr/>
        </p:nvSpPr>
        <p:spPr>
          <a:xfrm>
            <a:off x="621792" y="2331720"/>
            <a:ext cx="411480" cy="822960"/>
          </a:xfrm>
          <a:prstGeom prst="rect">
            <a:avLst/>
          </a:prstGeom>
          <a:solidFill>
            <a:srgbClr val="3DCD58"/>
          </a:solidFill>
          <a:ln w="7620">
            <a:solidFill>
              <a:srgbClr val="FFFFFF"/>
            </a:solidFill>
            <a:prstDash val="solid"/>
          </a:ln>
        </p:spPr>
      </p:sp>
      <p:sp>
        <p:nvSpPr>
          <p:cNvPr id="31" name="Text 29"/>
          <p:cNvSpPr/>
          <p:nvPr/>
        </p:nvSpPr>
        <p:spPr>
          <a:xfrm>
            <a:off x="685800" y="2377440"/>
            <a:ext cx="283464" cy="73152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FOUNDATION</a:t>
            </a:r>
            <a:endParaRPr lang="en-US" sz="750" dirty="0"/>
          </a:p>
        </p:txBody>
      </p:sp>
      <p:sp>
        <p:nvSpPr>
          <p:cNvPr id="32" name="Shape 30"/>
          <p:cNvSpPr/>
          <p:nvPr/>
        </p:nvSpPr>
        <p:spPr>
          <a:xfrm>
            <a:off x="1033272" y="2606040"/>
            <a:ext cx="10536631" cy="0"/>
          </a:xfrm>
          <a:prstGeom prst="line">
            <a:avLst/>
          </a:prstGeom>
          <a:noFill/>
          <a:ln w="4445">
            <a:solidFill>
              <a:srgbClr val="E2E6E2"/>
            </a:solidFill>
            <a:prstDash val="solid"/>
          </a:ln>
        </p:spPr>
      </p:sp>
      <p:sp>
        <p:nvSpPr>
          <p:cNvPr id="33" name="Shape 31"/>
          <p:cNvSpPr/>
          <p:nvPr/>
        </p:nvSpPr>
        <p:spPr>
          <a:xfrm>
            <a:off x="1143000" y="2359152"/>
            <a:ext cx="45720" cy="219456"/>
          </a:xfrm>
          <a:prstGeom prst="roundRect">
            <a:avLst>
              <a:gd name="adj" fmla="val 60000"/>
            </a:avLst>
          </a:prstGeom>
          <a:solidFill>
            <a:srgbClr val="3DCD58"/>
          </a:solidFill>
          <a:ln w="12700">
            <a:solidFill>
              <a:srgbClr val="3DCD58"/>
            </a:solidFill>
            <a:prstDash val="solid"/>
          </a:ln>
        </p:spPr>
      </p:sp>
      <p:sp>
        <p:nvSpPr>
          <p:cNvPr id="34" name="Text 32"/>
          <p:cNvSpPr/>
          <p:nvPr/>
        </p:nvSpPr>
        <p:spPr>
          <a:xfrm>
            <a:off x="1243584" y="23225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Asset and site register</a:t>
            </a:r>
            <a:endParaRPr lang="en-US" sz="950" dirty="0"/>
          </a:p>
        </p:txBody>
      </p:sp>
      <p:sp>
        <p:nvSpPr>
          <p:cNvPr id="35" name="Shape 33"/>
          <p:cNvSpPr/>
          <p:nvPr/>
        </p:nvSpPr>
        <p:spPr>
          <a:xfrm>
            <a:off x="5484800" y="2422246"/>
            <a:ext cx="1014184" cy="93269"/>
          </a:xfrm>
          <a:prstGeom prst="roundRect">
            <a:avLst>
              <a:gd name="adj" fmla="val 39216"/>
            </a:avLst>
          </a:prstGeom>
          <a:solidFill>
            <a:srgbClr val="3DCD58"/>
          </a:solidFill>
          <a:ln w="12700">
            <a:solidFill>
              <a:srgbClr val="3DCD58"/>
            </a:solidFill>
            <a:prstDash val="solid"/>
          </a:ln>
        </p:spPr>
      </p:sp>
      <p:sp>
        <p:nvSpPr>
          <p:cNvPr id="36" name="Shape 34"/>
          <p:cNvSpPr/>
          <p:nvPr/>
        </p:nvSpPr>
        <p:spPr>
          <a:xfrm>
            <a:off x="1033272" y="2880360"/>
            <a:ext cx="10536631" cy="0"/>
          </a:xfrm>
          <a:prstGeom prst="line">
            <a:avLst/>
          </a:prstGeom>
          <a:noFill/>
          <a:ln w="4445">
            <a:solidFill>
              <a:srgbClr val="E2E6E2"/>
            </a:solidFill>
            <a:prstDash val="solid"/>
          </a:ln>
        </p:spPr>
      </p:sp>
      <p:sp>
        <p:nvSpPr>
          <p:cNvPr id="37" name="Shape 35"/>
          <p:cNvSpPr/>
          <p:nvPr/>
        </p:nvSpPr>
        <p:spPr>
          <a:xfrm>
            <a:off x="1143000" y="2633472"/>
            <a:ext cx="45720" cy="219456"/>
          </a:xfrm>
          <a:prstGeom prst="roundRect">
            <a:avLst>
              <a:gd name="adj" fmla="val 60000"/>
            </a:avLst>
          </a:prstGeom>
          <a:solidFill>
            <a:srgbClr val="3DCD58"/>
          </a:solidFill>
          <a:ln w="12700">
            <a:solidFill>
              <a:srgbClr val="3DCD58"/>
            </a:solidFill>
            <a:prstDash val="solid"/>
          </a:ln>
        </p:spPr>
      </p:sp>
      <p:sp>
        <p:nvSpPr>
          <p:cNvPr id="38" name="Text 36"/>
          <p:cNvSpPr/>
          <p:nvPr/>
        </p:nvSpPr>
        <p:spPr>
          <a:xfrm>
            <a:off x="1243584" y="25968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Eclr stabilisation and hazard foundations</a:t>
            </a:r>
            <a:endParaRPr lang="en-US" sz="950" dirty="0"/>
          </a:p>
        </p:txBody>
      </p:sp>
      <p:sp>
        <p:nvSpPr>
          <p:cNvPr id="39" name="Shape 37"/>
          <p:cNvSpPr/>
          <p:nvPr/>
        </p:nvSpPr>
        <p:spPr>
          <a:xfrm>
            <a:off x="5484800" y="2696566"/>
            <a:ext cx="1014184" cy="93269"/>
          </a:xfrm>
          <a:prstGeom prst="roundRect">
            <a:avLst>
              <a:gd name="adj" fmla="val 39216"/>
            </a:avLst>
          </a:prstGeom>
          <a:solidFill>
            <a:srgbClr val="3DCD58"/>
          </a:solidFill>
          <a:ln w="12700">
            <a:solidFill>
              <a:srgbClr val="3DCD58"/>
            </a:solidFill>
            <a:prstDash val="solid"/>
          </a:ln>
        </p:spPr>
      </p:sp>
      <p:sp>
        <p:nvSpPr>
          <p:cNvPr id="40" name="Shape 38"/>
          <p:cNvSpPr/>
          <p:nvPr/>
        </p:nvSpPr>
        <p:spPr>
          <a:xfrm>
            <a:off x="1033272" y="3154680"/>
            <a:ext cx="10536631" cy="0"/>
          </a:xfrm>
          <a:prstGeom prst="line">
            <a:avLst/>
          </a:prstGeom>
          <a:noFill/>
          <a:ln w="4445">
            <a:solidFill>
              <a:srgbClr val="E2E6E2"/>
            </a:solidFill>
            <a:prstDash val="solid"/>
          </a:ln>
        </p:spPr>
      </p:sp>
      <p:sp>
        <p:nvSpPr>
          <p:cNvPr id="41" name="Shape 39"/>
          <p:cNvSpPr/>
          <p:nvPr/>
        </p:nvSpPr>
        <p:spPr>
          <a:xfrm>
            <a:off x="1143000" y="2907792"/>
            <a:ext cx="45720" cy="219456"/>
          </a:xfrm>
          <a:prstGeom prst="roundRect">
            <a:avLst>
              <a:gd name="adj" fmla="val 60000"/>
            </a:avLst>
          </a:prstGeom>
          <a:solidFill>
            <a:srgbClr val="3DCD58"/>
          </a:solidFill>
          <a:ln w="12700">
            <a:solidFill>
              <a:srgbClr val="3DCD58"/>
            </a:solidFill>
            <a:prstDash val="solid"/>
          </a:ln>
        </p:spPr>
      </p:sp>
      <p:sp>
        <p:nvSpPr>
          <p:cNvPr id="42" name="Text 40"/>
          <p:cNvSpPr/>
          <p:nvPr/>
        </p:nvSpPr>
        <p:spPr>
          <a:xfrm>
            <a:off x="1243584" y="28712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Eclr self serve at portfolio scale</a:t>
            </a:r>
            <a:endParaRPr lang="en-US" sz="950" dirty="0"/>
          </a:p>
        </p:txBody>
      </p:sp>
      <p:sp>
        <p:nvSpPr>
          <p:cNvPr id="43" name="Shape 41"/>
          <p:cNvSpPr/>
          <p:nvPr/>
        </p:nvSpPr>
        <p:spPr>
          <a:xfrm>
            <a:off x="6498984" y="2970886"/>
            <a:ext cx="1014184" cy="93269"/>
          </a:xfrm>
          <a:prstGeom prst="roundRect">
            <a:avLst>
              <a:gd name="adj" fmla="val 39216"/>
            </a:avLst>
          </a:prstGeom>
          <a:solidFill>
            <a:srgbClr val="3DCD58"/>
          </a:solidFill>
          <a:ln w="12700">
            <a:solidFill>
              <a:srgbClr val="3DCD58"/>
            </a:solidFill>
            <a:prstDash val="solid"/>
          </a:ln>
        </p:spPr>
      </p:sp>
      <p:sp>
        <p:nvSpPr>
          <p:cNvPr id="44" name="Shape 42"/>
          <p:cNvSpPr/>
          <p:nvPr/>
        </p:nvSpPr>
        <p:spPr>
          <a:xfrm>
            <a:off x="621792" y="3154680"/>
            <a:ext cx="411480" cy="1097280"/>
          </a:xfrm>
          <a:prstGeom prst="rect">
            <a:avLst/>
          </a:prstGeom>
          <a:solidFill>
            <a:srgbClr val="007A27"/>
          </a:solidFill>
          <a:ln w="7620">
            <a:solidFill>
              <a:srgbClr val="FFFFFF"/>
            </a:solidFill>
            <a:prstDash val="solid"/>
          </a:ln>
        </p:spPr>
      </p:sp>
      <p:sp>
        <p:nvSpPr>
          <p:cNvPr id="45" name="Text 43"/>
          <p:cNvSpPr/>
          <p:nvPr/>
        </p:nvSpPr>
        <p:spPr>
          <a:xfrm>
            <a:off x="685800" y="3200400"/>
            <a:ext cx="283464" cy="100584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RISK INSIGHT</a:t>
            </a:r>
            <a:endParaRPr lang="en-US" sz="750" dirty="0"/>
          </a:p>
        </p:txBody>
      </p:sp>
      <p:sp>
        <p:nvSpPr>
          <p:cNvPr id="46" name="Shape 44"/>
          <p:cNvSpPr/>
          <p:nvPr/>
        </p:nvSpPr>
        <p:spPr>
          <a:xfrm>
            <a:off x="1033272" y="3429000"/>
            <a:ext cx="10536631" cy="0"/>
          </a:xfrm>
          <a:prstGeom prst="line">
            <a:avLst/>
          </a:prstGeom>
          <a:noFill/>
          <a:ln w="4445">
            <a:solidFill>
              <a:srgbClr val="E2E6E2"/>
            </a:solidFill>
            <a:prstDash val="solid"/>
          </a:ln>
        </p:spPr>
      </p:sp>
      <p:sp>
        <p:nvSpPr>
          <p:cNvPr id="47" name="Shape 45"/>
          <p:cNvSpPr/>
          <p:nvPr/>
        </p:nvSpPr>
        <p:spPr>
          <a:xfrm>
            <a:off x="1143000" y="3182112"/>
            <a:ext cx="45720" cy="219456"/>
          </a:xfrm>
          <a:prstGeom prst="roundRect">
            <a:avLst>
              <a:gd name="adj" fmla="val 60000"/>
            </a:avLst>
          </a:prstGeom>
          <a:solidFill>
            <a:srgbClr val="007A27"/>
          </a:solidFill>
          <a:ln w="12700">
            <a:solidFill>
              <a:srgbClr val="007A27"/>
            </a:solidFill>
            <a:prstDash val="solid"/>
          </a:ln>
        </p:spPr>
      </p:sp>
      <p:sp>
        <p:nvSpPr>
          <p:cNvPr id="48" name="Text 46"/>
          <p:cNvSpPr/>
          <p:nvPr/>
        </p:nvSpPr>
        <p:spPr>
          <a:xfrm>
            <a:off x="1243584" y="31455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Physical hazard exposure</a:t>
            </a:r>
            <a:endParaRPr lang="en-US" sz="950" dirty="0"/>
          </a:p>
        </p:txBody>
      </p:sp>
      <p:sp>
        <p:nvSpPr>
          <p:cNvPr id="49" name="Shape 47"/>
          <p:cNvSpPr/>
          <p:nvPr/>
        </p:nvSpPr>
        <p:spPr>
          <a:xfrm>
            <a:off x="6498984" y="3245206"/>
            <a:ext cx="1014184" cy="93269"/>
          </a:xfrm>
          <a:prstGeom prst="roundRect">
            <a:avLst>
              <a:gd name="adj" fmla="val 39216"/>
            </a:avLst>
          </a:prstGeom>
          <a:solidFill>
            <a:srgbClr val="007A27"/>
          </a:solidFill>
          <a:ln w="12700">
            <a:solidFill>
              <a:srgbClr val="007A27"/>
            </a:solidFill>
            <a:prstDash val="solid"/>
          </a:ln>
        </p:spPr>
      </p:sp>
      <p:sp>
        <p:nvSpPr>
          <p:cNvPr id="50" name="Shape 48"/>
          <p:cNvSpPr/>
          <p:nvPr/>
        </p:nvSpPr>
        <p:spPr>
          <a:xfrm>
            <a:off x="1033272" y="3703320"/>
            <a:ext cx="10536631" cy="0"/>
          </a:xfrm>
          <a:prstGeom prst="line">
            <a:avLst/>
          </a:prstGeom>
          <a:noFill/>
          <a:ln w="4445">
            <a:solidFill>
              <a:srgbClr val="E2E6E2"/>
            </a:solidFill>
            <a:prstDash val="solid"/>
          </a:ln>
        </p:spPr>
      </p:sp>
      <p:sp>
        <p:nvSpPr>
          <p:cNvPr id="51" name="Shape 49"/>
          <p:cNvSpPr/>
          <p:nvPr/>
        </p:nvSpPr>
        <p:spPr>
          <a:xfrm>
            <a:off x="1143000" y="3456432"/>
            <a:ext cx="45720" cy="219456"/>
          </a:xfrm>
          <a:prstGeom prst="roundRect">
            <a:avLst>
              <a:gd name="adj" fmla="val 60000"/>
            </a:avLst>
          </a:prstGeom>
          <a:solidFill>
            <a:srgbClr val="007A27"/>
          </a:solidFill>
          <a:ln w="12700">
            <a:solidFill>
              <a:srgbClr val="007A27"/>
            </a:solidFill>
            <a:prstDash val="solid"/>
          </a:ln>
        </p:spPr>
      </p:sp>
      <p:sp>
        <p:nvSpPr>
          <p:cNvPr id="52" name="Text 50"/>
          <p:cNvSpPr/>
          <p:nvPr/>
        </p:nvSpPr>
        <p:spPr>
          <a:xfrm>
            <a:off x="1243584" y="34198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Physical and transition scenarios</a:t>
            </a:r>
            <a:endParaRPr lang="en-US" sz="950" dirty="0"/>
          </a:p>
        </p:txBody>
      </p:sp>
      <p:sp>
        <p:nvSpPr>
          <p:cNvPr id="53" name="Shape 51"/>
          <p:cNvSpPr/>
          <p:nvPr/>
        </p:nvSpPr>
        <p:spPr>
          <a:xfrm>
            <a:off x="7513168" y="3519526"/>
            <a:ext cx="2028368" cy="93269"/>
          </a:xfrm>
          <a:prstGeom prst="roundRect">
            <a:avLst>
              <a:gd name="adj" fmla="val 39216"/>
            </a:avLst>
          </a:prstGeom>
          <a:solidFill>
            <a:srgbClr val="007A27"/>
          </a:solidFill>
          <a:ln w="12700">
            <a:solidFill>
              <a:srgbClr val="007A27"/>
            </a:solidFill>
            <a:prstDash val="solid"/>
          </a:ln>
        </p:spPr>
      </p:sp>
      <p:sp>
        <p:nvSpPr>
          <p:cNvPr id="54" name="Shape 52"/>
          <p:cNvSpPr/>
          <p:nvPr/>
        </p:nvSpPr>
        <p:spPr>
          <a:xfrm>
            <a:off x="1033272" y="3977640"/>
            <a:ext cx="10536631" cy="0"/>
          </a:xfrm>
          <a:prstGeom prst="line">
            <a:avLst/>
          </a:prstGeom>
          <a:noFill/>
          <a:ln w="4445">
            <a:solidFill>
              <a:srgbClr val="E2E6E2"/>
            </a:solidFill>
            <a:prstDash val="solid"/>
          </a:ln>
        </p:spPr>
      </p:sp>
      <p:sp>
        <p:nvSpPr>
          <p:cNvPr id="55" name="Shape 53"/>
          <p:cNvSpPr/>
          <p:nvPr/>
        </p:nvSpPr>
        <p:spPr>
          <a:xfrm>
            <a:off x="1143000" y="3730752"/>
            <a:ext cx="45720" cy="219456"/>
          </a:xfrm>
          <a:prstGeom prst="roundRect">
            <a:avLst>
              <a:gd name="adj" fmla="val 60000"/>
            </a:avLst>
          </a:prstGeom>
          <a:solidFill>
            <a:srgbClr val="007A27"/>
          </a:solidFill>
          <a:ln w="12700">
            <a:solidFill>
              <a:srgbClr val="007A27"/>
            </a:solidFill>
            <a:prstDash val="solid"/>
          </a:ln>
        </p:spPr>
      </p:sp>
      <p:sp>
        <p:nvSpPr>
          <p:cNvPr id="56" name="Text 54"/>
          <p:cNvSpPr/>
          <p:nvPr/>
        </p:nvSpPr>
        <p:spPr>
          <a:xfrm>
            <a:off x="1243584" y="36941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ClimVar - Value at Risk</a:t>
            </a:r>
            <a:endParaRPr lang="en-US" sz="950" dirty="0"/>
          </a:p>
        </p:txBody>
      </p:sp>
      <p:sp>
        <p:nvSpPr>
          <p:cNvPr id="57" name="Shape 55"/>
          <p:cNvSpPr/>
          <p:nvPr/>
        </p:nvSpPr>
        <p:spPr>
          <a:xfrm>
            <a:off x="7513168" y="3793846"/>
            <a:ext cx="2028368" cy="93269"/>
          </a:xfrm>
          <a:prstGeom prst="roundRect">
            <a:avLst>
              <a:gd name="adj" fmla="val 39216"/>
            </a:avLst>
          </a:prstGeom>
          <a:solidFill>
            <a:srgbClr val="007A27"/>
          </a:solidFill>
          <a:ln w="12700">
            <a:solidFill>
              <a:srgbClr val="007A27"/>
            </a:solidFill>
            <a:prstDash val="solid"/>
          </a:ln>
        </p:spPr>
      </p:sp>
      <p:sp>
        <p:nvSpPr>
          <p:cNvPr id="58" name="Shape 56"/>
          <p:cNvSpPr/>
          <p:nvPr/>
        </p:nvSpPr>
        <p:spPr>
          <a:xfrm>
            <a:off x="1033272" y="4251960"/>
            <a:ext cx="10536631" cy="0"/>
          </a:xfrm>
          <a:prstGeom prst="line">
            <a:avLst/>
          </a:prstGeom>
          <a:noFill/>
          <a:ln w="4445">
            <a:solidFill>
              <a:srgbClr val="E2E6E2"/>
            </a:solidFill>
            <a:prstDash val="solid"/>
          </a:ln>
        </p:spPr>
      </p:sp>
      <p:sp>
        <p:nvSpPr>
          <p:cNvPr id="59" name="Shape 57"/>
          <p:cNvSpPr/>
          <p:nvPr/>
        </p:nvSpPr>
        <p:spPr>
          <a:xfrm>
            <a:off x="1143000" y="4005072"/>
            <a:ext cx="45720" cy="219456"/>
          </a:xfrm>
          <a:prstGeom prst="roundRect">
            <a:avLst>
              <a:gd name="adj" fmla="val 60000"/>
            </a:avLst>
          </a:prstGeom>
          <a:solidFill>
            <a:srgbClr val="007A27"/>
          </a:solidFill>
          <a:ln w="12700">
            <a:solidFill>
              <a:srgbClr val="007A27"/>
            </a:solidFill>
            <a:prstDash val="solid"/>
          </a:ln>
        </p:spPr>
      </p:sp>
      <p:sp>
        <p:nvSpPr>
          <p:cNvPr id="60" name="Text 58"/>
          <p:cNvSpPr/>
          <p:nvPr/>
        </p:nvSpPr>
        <p:spPr>
          <a:xfrm>
            <a:off x="1243584" y="39684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Portfolio analytics and heatmaps</a:t>
            </a:r>
            <a:endParaRPr lang="en-US" sz="950" dirty="0"/>
          </a:p>
        </p:txBody>
      </p:sp>
      <p:sp>
        <p:nvSpPr>
          <p:cNvPr id="61" name="Shape 59"/>
          <p:cNvSpPr/>
          <p:nvPr/>
        </p:nvSpPr>
        <p:spPr>
          <a:xfrm>
            <a:off x="7513168" y="4068166"/>
            <a:ext cx="2028368" cy="93269"/>
          </a:xfrm>
          <a:prstGeom prst="roundRect">
            <a:avLst>
              <a:gd name="adj" fmla="val 39216"/>
            </a:avLst>
          </a:prstGeom>
          <a:solidFill>
            <a:srgbClr val="007A27"/>
          </a:solidFill>
          <a:ln w="12700">
            <a:solidFill>
              <a:srgbClr val="007A27"/>
            </a:solidFill>
            <a:prstDash val="solid"/>
          </a:ln>
        </p:spPr>
      </p:sp>
      <p:sp>
        <p:nvSpPr>
          <p:cNvPr id="62" name="Shape 60"/>
          <p:cNvSpPr/>
          <p:nvPr/>
        </p:nvSpPr>
        <p:spPr>
          <a:xfrm>
            <a:off x="621792" y="4251960"/>
            <a:ext cx="411480" cy="822960"/>
          </a:xfrm>
          <a:prstGeom prst="rect">
            <a:avLst/>
          </a:prstGeom>
          <a:solidFill>
            <a:srgbClr val="FFB04C"/>
          </a:solidFill>
          <a:ln w="7620">
            <a:solidFill>
              <a:srgbClr val="FFFFFF"/>
            </a:solidFill>
            <a:prstDash val="solid"/>
          </a:ln>
        </p:spPr>
      </p:sp>
      <p:sp>
        <p:nvSpPr>
          <p:cNvPr id="63" name="Text 61"/>
          <p:cNvSpPr/>
          <p:nvPr/>
        </p:nvSpPr>
        <p:spPr>
          <a:xfrm>
            <a:off x="685800" y="4297680"/>
            <a:ext cx="283464" cy="73152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ADAPTATION</a:t>
            </a:r>
            <a:endParaRPr lang="en-US" sz="750" dirty="0"/>
          </a:p>
        </p:txBody>
      </p:sp>
      <p:sp>
        <p:nvSpPr>
          <p:cNvPr id="64" name="Shape 62"/>
          <p:cNvSpPr/>
          <p:nvPr/>
        </p:nvSpPr>
        <p:spPr>
          <a:xfrm>
            <a:off x="1033272" y="4526280"/>
            <a:ext cx="10536631" cy="0"/>
          </a:xfrm>
          <a:prstGeom prst="line">
            <a:avLst/>
          </a:prstGeom>
          <a:noFill/>
          <a:ln w="4445">
            <a:solidFill>
              <a:srgbClr val="E2E6E2"/>
            </a:solidFill>
            <a:prstDash val="solid"/>
          </a:ln>
        </p:spPr>
      </p:sp>
      <p:sp>
        <p:nvSpPr>
          <p:cNvPr id="65" name="Shape 63"/>
          <p:cNvSpPr/>
          <p:nvPr/>
        </p:nvSpPr>
        <p:spPr>
          <a:xfrm>
            <a:off x="1143000" y="4279392"/>
            <a:ext cx="45720" cy="219456"/>
          </a:xfrm>
          <a:prstGeom prst="roundRect">
            <a:avLst>
              <a:gd name="adj" fmla="val 60000"/>
            </a:avLst>
          </a:prstGeom>
          <a:solidFill>
            <a:srgbClr val="FFB04C"/>
          </a:solidFill>
          <a:ln w="12700">
            <a:solidFill>
              <a:srgbClr val="FFB04C"/>
            </a:solidFill>
            <a:prstDash val="solid"/>
          </a:ln>
        </p:spPr>
      </p:sp>
      <p:sp>
        <p:nvSpPr>
          <p:cNvPr id="66" name="Text 64"/>
          <p:cNvSpPr/>
          <p:nvPr/>
        </p:nvSpPr>
        <p:spPr>
          <a:xfrm>
            <a:off x="1243584" y="42428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Adaptation planning primitives</a:t>
            </a:r>
            <a:endParaRPr lang="en-US" sz="950" dirty="0"/>
          </a:p>
        </p:txBody>
      </p:sp>
      <p:sp>
        <p:nvSpPr>
          <p:cNvPr id="67" name="Shape 65"/>
          <p:cNvSpPr/>
          <p:nvPr/>
        </p:nvSpPr>
        <p:spPr>
          <a:xfrm>
            <a:off x="6498984" y="4342486"/>
            <a:ext cx="1014184" cy="93269"/>
          </a:xfrm>
          <a:prstGeom prst="roundRect">
            <a:avLst>
              <a:gd name="adj" fmla="val 39216"/>
            </a:avLst>
          </a:prstGeom>
          <a:solidFill>
            <a:srgbClr val="FFB04C"/>
          </a:solidFill>
          <a:ln w="12700">
            <a:solidFill>
              <a:srgbClr val="FFB04C"/>
            </a:solidFill>
            <a:prstDash val="solid"/>
          </a:ln>
        </p:spPr>
      </p:sp>
      <p:sp>
        <p:nvSpPr>
          <p:cNvPr id="68" name="Shape 66"/>
          <p:cNvSpPr/>
          <p:nvPr/>
        </p:nvSpPr>
        <p:spPr>
          <a:xfrm>
            <a:off x="1033272" y="4800600"/>
            <a:ext cx="10536631" cy="0"/>
          </a:xfrm>
          <a:prstGeom prst="line">
            <a:avLst/>
          </a:prstGeom>
          <a:noFill/>
          <a:ln w="4445">
            <a:solidFill>
              <a:srgbClr val="E2E6E2"/>
            </a:solidFill>
            <a:prstDash val="solid"/>
          </a:ln>
        </p:spPr>
      </p:sp>
      <p:sp>
        <p:nvSpPr>
          <p:cNvPr id="69" name="Shape 67"/>
          <p:cNvSpPr/>
          <p:nvPr/>
        </p:nvSpPr>
        <p:spPr>
          <a:xfrm>
            <a:off x="1143000" y="4553712"/>
            <a:ext cx="45720" cy="219456"/>
          </a:xfrm>
          <a:prstGeom prst="roundRect">
            <a:avLst>
              <a:gd name="adj" fmla="val 60000"/>
            </a:avLst>
          </a:prstGeom>
          <a:solidFill>
            <a:srgbClr val="FFB04C"/>
          </a:solidFill>
          <a:ln w="12700">
            <a:solidFill>
              <a:srgbClr val="FFB04C"/>
            </a:solidFill>
            <a:prstDash val="solid"/>
          </a:ln>
        </p:spPr>
      </p:sp>
      <p:sp>
        <p:nvSpPr>
          <p:cNvPr id="70" name="Text 68"/>
          <p:cNvSpPr/>
          <p:nvPr/>
        </p:nvSpPr>
        <p:spPr>
          <a:xfrm>
            <a:off x="1243584" y="45171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Actions tracked with monthly actuals</a:t>
            </a:r>
            <a:endParaRPr lang="en-US" sz="950" dirty="0"/>
          </a:p>
        </p:txBody>
      </p:sp>
      <p:sp>
        <p:nvSpPr>
          <p:cNvPr id="71" name="Shape 69"/>
          <p:cNvSpPr/>
          <p:nvPr/>
        </p:nvSpPr>
        <p:spPr>
          <a:xfrm>
            <a:off x="7513168" y="4616806"/>
            <a:ext cx="2028368" cy="93269"/>
          </a:xfrm>
          <a:prstGeom prst="roundRect">
            <a:avLst>
              <a:gd name="adj" fmla="val 39216"/>
            </a:avLst>
          </a:prstGeom>
          <a:solidFill>
            <a:srgbClr val="FFB04C"/>
          </a:solidFill>
          <a:ln w="12700">
            <a:solidFill>
              <a:srgbClr val="FFB04C"/>
            </a:solidFill>
            <a:prstDash val="solid"/>
          </a:ln>
        </p:spPr>
      </p:sp>
      <p:sp>
        <p:nvSpPr>
          <p:cNvPr id="72" name="Shape 70"/>
          <p:cNvSpPr/>
          <p:nvPr/>
        </p:nvSpPr>
        <p:spPr>
          <a:xfrm>
            <a:off x="1033272" y="5074920"/>
            <a:ext cx="10536631" cy="0"/>
          </a:xfrm>
          <a:prstGeom prst="line">
            <a:avLst/>
          </a:prstGeom>
          <a:noFill/>
          <a:ln w="4445">
            <a:solidFill>
              <a:srgbClr val="E2E6E2"/>
            </a:solidFill>
            <a:prstDash val="solid"/>
          </a:ln>
        </p:spPr>
      </p:sp>
      <p:sp>
        <p:nvSpPr>
          <p:cNvPr id="73" name="Shape 71"/>
          <p:cNvSpPr/>
          <p:nvPr/>
        </p:nvSpPr>
        <p:spPr>
          <a:xfrm>
            <a:off x="1143000" y="4828032"/>
            <a:ext cx="45720" cy="219456"/>
          </a:xfrm>
          <a:prstGeom prst="roundRect">
            <a:avLst>
              <a:gd name="adj" fmla="val 60000"/>
            </a:avLst>
          </a:prstGeom>
          <a:solidFill>
            <a:srgbClr val="FFB04C"/>
          </a:solidFill>
          <a:ln w="12700">
            <a:solidFill>
              <a:srgbClr val="FFB04C"/>
            </a:solidFill>
            <a:prstDash val="solid"/>
          </a:ln>
        </p:spPr>
      </p:sp>
      <p:sp>
        <p:nvSpPr>
          <p:cNvPr id="74" name="Text 72"/>
          <p:cNvSpPr/>
          <p:nvPr/>
        </p:nvSpPr>
        <p:spPr>
          <a:xfrm>
            <a:off x="1243584" y="47914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Transition plans linked to targets</a:t>
            </a:r>
            <a:endParaRPr lang="en-US" sz="950" dirty="0"/>
          </a:p>
        </p:txBody>
      </p:sp>
      <p:sp>
        <p:nvSpPr>
          <p:cNvPr id="75" name="Shape 73"/>
          <p:cNvSpPr/>
          <p:nvPr/>
        </p:nvSpPr>
        <p:spPr>
          <a:xfrm>
            <a:off x="9541535" y="4891126"/>
            <a:ext cx="2028368" cy="93269"/>
          </a:xfrm>
          <a:prstGeom prst="roundRect">
            <a:avLst>
              <a:gd name="adj" fmla="val 39216"/>
            </a:avLst>
          </a:prstGeom>
          <a:solidFill>
            <a:srgbClr val="FFB04C"/>
          </a:solidFill>
          <a:ln w="12700">
            <a:solidFill>
              <a:srgbClr val="FFB04C"/>
            </a:solidFill>
            <a:prstDash val="solid"/>
          </a:ln>
        </p:spPr>
      </p:sp>
      <p:sp>
        <p:nvSpPr>
          <p:cNvPr id="76" name="Shape 74"/>
          <p:cNvSpPr/>
          <p:nvPr/>
        </p:nvSpPr>
        <p:spPr>
          <a:xfrm>
            <a:off x="621792" y="5074920"/>
            <a:ext cx="411480" cy="822960"/>
          </a:xfrm>
          <a:prstGeom prst="rect">
            <a:avLst/>
          </a:prstGeom>
          <a:solidFill>
            <a:srgbClr val="275B7F"/>
          </a:solidFill>
          <a:ln w="7620">
            <a:solidFill>
              <a:srgbClr val="FFFFFF"/>
            </a:solidFill>
            <a:prstDash val="solid"/>
          </a:ln>
        </p:spPr>
      </p:sp>
      <p:sp>
        <p:nvSpPr>
          <p:cNvPr id="77" name="Text 75"/>
          <p:cNvSpPr/>
          <p:nvPr/>
        </p:nvSpPr>
        <p:spPr>
          <a:xfrm>
            <a:off x="685800" y="5120640"/>
            <a:ext cx="283464" cy="73152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INTEGRATION</a:t>
            </a:r>
            <a:endParaRPr lang="en-US" sz="750" dirty="0"/>
          </a:p>
        </p:txBody>
      </p:sp>
      <p:sp>
        <p:nvSpPr>
          <p:cNvPr id="78" name="Shape 76"/>
          <p:cNvSpPr/>
          <p:nvPr/>
        </p:nvSpPr>
        <p:spPr>
          <a:xfrm>
            <a:off x="1033272" y="5349240"/>
            <a:ext cx="10536631" cy="0"/>
          </a:xfrm>
          <a:prstGeom prst="line">
            <a:avLst/>
          </a:prstGeom>
          <a:noFill/>
          <a:ln w="4445">
            <a:solidFill>
              <a:srgbClr val="E2E6E2"/>
            </a:solidFill>
            <a:prstDash val="solid"/>
          </a:ln>
        </p:spPr>
      </p:sp>
      <p:sp>
        <p:nvSpPr>
          <p:cNvPr id="79" name="Shape 77"/>
          <p:cNvSpPr/>
          <p:nvPr/>
        </p:nvSpPr>
        <p:spPr>
          <a:xfrm>
            <a:off x="1143000" y="5102352"/>
            <a:ext cx="45720" cy="219456"/>
          </a:xfrm>
          <a:prstGeom prst="roundRect">
            <a:avLst>
              <a:gd name="adj" fmla="val 60000"/>
            </a:avLst>
          </a:prstGeom>
          <a:solidFill>
            <a:srgbClr val="275B7F"/>
          </a:solidFill>
          <a:ln w="12700">
            <a:solidFill>
              <a:srgbClr val="275B7F"/>
            </a:solidFill>
            <a:prstDash val="solid"/>
          </a:ln>
        </p:spPr>
      </p:sp>
      <p:sp>
        <p:nvSpPr>
          <p:cNvPr id="80" name="Text 78"/>
          <p:cNvSpPr/>
          <p:nvPr/>
        </p:nvSpPr>
        <p:spPr>
          <a:xfrm>
            <a:off x="1243584" y="50657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Risk data into disclosures</a:t>
            </a:r>
            <a:endParaRPr lang="en-US" sz="950" dirty="0"/>
          </a:p>
        </p:txBody>
      </p:sp>
      <p:sp>
        <p:nvSpPr>
          <p:cNvPr id="81" name="Shape 79"/>
          <p:cNvSpPr/>
          <p:nvPr/>
        </p:nvSpPr>
        <p:spPr>
          <a:xfrm>
            <a:off x="9541535" y="5165446"/>
            <a:ext cx="2028368" cy="93269"/>
          </a:xfrm>
          <a:prstGeom prst="roundRect">
            <a:avLst>
              <a:gd name="adj" fmla="val 39216"/>
            </a:avLst>
          </a:prstGeom>
          <a:solidFill>
            <a:srgbClr val="275B7F"/>
          </a:solidFill>
          <a:ln w="12700">
            <a:solidFill>
              <a:srgbClr val="275B7F"/>
            </a:solidFill>
            <a:prstDash val="solid"/>
          </a:ln>
        </p:spPr>
      </p:sp>
      <p:sp>
        <p:nvSpPr>
          <p:cNvPr id="82" name="Shape 80"/>
          <p:cNvSpPr/>
          <p:nvPr/>
        </p:nvSpPr>
        <p:spPr>
          <a:xfrm>
            <a:off x="1033272" y="5623560"/>
            <a:ext cx="10536631" cy="0"/>
          </a:xfrm>
          <a:prstGeom prst="line">
            <a:avLst/>
          </a:prstGeom>
          <a:noFill/>
          <a:ln w="4445">
            <a:solidFill>
              <a:srgbClr val="E2E6E2"/>
            </a:solidFill>
            <a:prstDash val="solid"/>
          </a:ln>
        </p:spPr>
      </p:sp>
      <p:sp>
        <p:nvSpPr>
          <p:cNvPr id="83" name="Shape 81"/>
          <p:cNvSpPr/>
          <p:nvPr/>
        </p:nvSpPr>
        <p:spPr>
          <a:xfrm>
            <a:off x="1143000" y="5376672"/>
            <a:ext cx="45720" cy="219456"/>
          </a:xfrm>
          <a:prstGeom prst="roundRect">
            <a:avLst>
              <a:gd name="adj" fmla="val 60000"/>
            </a:avLst>
          </a:prstGeom>
          <a:solidFill>
            <a:srgbClr val="275B7F"/>
          </a:solidFill>
          <a:ln w="12700">
            <a:solidFill>
              <a:srgbClr val="275B7F"/>
            </a:solidFill>
            <a:prstDash val="solid"/>
          </a:ln>
        </p:spPr>
      </p:sp>
      <p:sp>
        <p:nvSpPr>
          <p:cNvPr id="84" name="Text 82"/>
          <p:cNvSpPr/>
          <p:nvPr/>
        </p:nvSpPr>
        <p:spPr>
          <a:xfrm>
            <a:off x="1243584" y="53400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Supply chain risk integration</a:t>
            </a:r>
            <a:endParaRPr lang="en-US" sz="950" dirty="0"/>
          </a:p>
        </p:txBody>
      </p:sp>
      <p:sp>
        <p:nvSpPr>
          <p:cNvPr id="85" name="Shape 83"/>
          <p:cNvSpPr/>
          <p:nvPr/>
        </p:nvSpPr>
        <p:spPr>
          <a:xfrm>
            <a:off x="9541535" y="5439766"/>
            <a:ext cx="2028368" cy="93269"/>
          </a:xfrm>
          <a:prstGeom prst="roundRect">
            <a:avLst>
              <a:gd name="adj" fmla="val 39216"/>
            </a:avLst>
          </a:prstGeom>
          <a:solidFill>
            <a:srgbClr val="275B7F"/>
          </a:solidFill>
          <a:ln w="12700">
            <a:solidFill>
              <a:srgbClr val="275B7F"/>
            </a:solidFill>
            <a:prstDash val="solid"/>
          </a:ln>
        </p:spPr>
      </p:sp>
      <p:sp>
        <p:nvSpPr>
          <p:cNvPr id="86" name="Shape 84"/>
          <p:cNvSpPr/>
          <p:nvPr/>
        </p:nvSpPr>
        <p:spPr>
          <a:xfrm>
            <a:off x="1033272" y="5897880"/>
            <a:ext cx="10536631" cy="0"/>
          </a:xfrm>
          <a:prstGeom prst="line">
            <a:avLst/>
          </a:prstGeom>
          <a:noFill/>
          <a:ln w="4445">
            <a:solidFill>
              <a:srgbClr val="E2E6E2"/>
            </a:solidFill>
            <a:prstDash val="solid"/>
          </a:ln>
        </p:spPr>
      </p:sp>
      <p:sp>
        <p:nvSpPr>
          <p:cNvPr id="87" name="Shape 85"/>
          <p:cNvSpPr/>
          <p:nvPr/>
        </p:nvSpPr>
        <p:spPr>
          <a:xfrm>
            <a:off x="1143000" y="5650992"/>
            <a:ext cx="45720" cy="219456"/>
          </a:xfrm>
          <a:prstGeom prst="roundRect">
            <a:avLst>
              <a:gd name="adj" fmla="val 60000"/>
            </a:avLst>
          </a:prstGeom>
          <a:solidFill>
            <a:srgbClr val="275B7F"/>
          </a:solidFill>
          <a:ln w="12700">
            <a:solidFill>
              <a:srgbClr val="275B7F"/>
            </a:solidFill>
            <a:prstDash val="solid"/>
          </a:ln>
        </p:spPr>
      </p:sp>
      <p:sp>
        <p:nvSpPr>
          <p:cNvPr id="88" name="Text 86"/>
          <p:cNvSpPr/>
          <p:nvPr/>
        </p:nvSpPr>
        <p:spPr>
          <a:xfrm>
            <a:off x="1243584" y="56144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Value at risk across the value chain</a:t>
            </a:r>
            <a:endParaRPr lang="en-US" sz="950" dirty="0"/>
          </a:p>
        </p:txBody>
      </p:sp>
      <p:sp>
        <p:nvSpPr>
          <p:cNvPr id="89" name="Shape 87"/>
          <p:cNvSpPr/>
          <p:nvPr/>
        </p:nvSpPr>
        <p:spPr>
          <a:xfrm>
            <a:off x="9541535" y="5714086"/>
            <a:ext cx="2028368" cy="93269"/>
          </a:xfrm>
          <a:prstGeom prst="roundRect">
            <a:avLst>
              <a:gd name="adj" fmla="val 39216"/>
            </a:avLst>
          </a:prstGeom>
          <a:solidFill>
            <a:srgbClr val="275B7F"/>
          </a:solidFill>
          <a:ln w="12700">
            <a:solidFill>
              <a:srgbClr val="275B7F"/>
            </a:solidFill>
            <a:prstDash val="solid"/>
          </a:ln>
        </p:spPr>
      </p:sp>
      <p:sp>
        <p:nvSpPr>
          <p:cNvPr id="90" name="Shape 88"/>
          <p:cNvSpPr/>
          <p:nvPr/>
        </p:nvSpPr>
        <p:spPr>
          <a:xfrm>
            <a:off x="621792" y="6437376"/>
            <a:ext cx="10948111" cy="0"/>
          </a:xfrm>
          <a:prstGeom prst="line">
            <a:avLst/>
          </a:prstGeom>
          <a:noFill/>
          <a:ln w="9525">
            <a:solidFill>
              <a:srgbClr val="E2E6E2"/>
            </a:solidFill>
            <a:prstDash val="solid"/>
          </a:ln>
        </p:spPr>
      </p:sp>
      <p:sp>
        <p:nvSpPr>
          <p:cNvPr id="91" name="Text 8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92" name="Text 9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CLIMATE RISK</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climate risk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 shared asset model first, then exposure, then decision grade analysis.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Asset foundation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Shared model before analytics.</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Asset and site register on the shared hierarchy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Eclr platform stabilisation and self serve onboarding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Scalable performance at portfolio data volumes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access aligned to the entity hierarchy</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Exposure</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First defensible risk output.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Physical hazard exposure on owned assets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Resilience impact types in the shared taxonomy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Portfolio heatmaps and hotspot ranking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Hazard data provenance and methodology transparency</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Scenarios and value at risk</a:t>
            </a:r>
            <a:endParaRPr lang="en-US" sz="14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Decision grade analysis.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Physical and transition scenario analysis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ClimVar - Value at Risk expressed in financial terms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Time horizon comparison across scenarios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exposure read from the CP inventory</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Adaptation</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risk to response.</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actions on the shared Strategy action model</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Monthly plan versus actuals on adaptation measures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plan modelling linked to targets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CLIMATE RISK</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Climate Risk only pays off when it is connected</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forward view is worth little until it reaches disclosures, planning and the supply base.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PLATFORM</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Hierarchy and assets</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Inherited, not rebuilt.</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entity and asset hierarchy from core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Bulk import of asset and site data at scale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Reusable analytics and query infrastructure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Performance at enterprise portfolio volumes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STRATEGY</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One action model</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Adaptation reuses decarbonisation plumbing.</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actions as configurable action types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Initiative portfolios covering resilience measures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Monthly actuals and underperformance alerts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ready evidence on adaptation spend</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REPORTING</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Risk into disclosure</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Where the value is realised.</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Climate Risk outputs into TCFD, ISSB and CSRD climate sections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Value at risk turned into financial values for disclosure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 narrative drafted with lineage back to the model</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plan disclosed against targets</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CROSS PRODUCT</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Beyond owned assets</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Extend the boundary.</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site exposure through Supply Chain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exposure from the CP inventory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programme risk and emissions views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hazard taxonomy across products</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Close the plan to execution gap, then recommend, then widen scope</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shared planning layer consumed by CP decarbonisation, CR adaptation and supplier action.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2270684" cy="555955"/>
          </a:xfrm>
          <a:prstGeom prst="roundRect">
            <a:avLst>
              <a:gd name="adj" fmla="val 4934"/>
            </a:avLst>
          </a:prstGeom>
          <a:solidFill>
            <a:srgbClr val="F7F8F7"/>
          </a:solidFill>
          <a:ln w="5080">
            <a:solidFill>
              <a:srgbClr val="F7F8F7"/>
            </a:solidFill>
            <a:prstDash val="solid"/>
          </a:ln>
        </p:spPr>
      </p:sp>
      <p:sp>
        <p:nvSpPr>
          <p:cNvPr id="15" name="Text 13"/>
          <p:cNvSpPr/>
          <p:nvPr/>
        </p:nvSpPr>
        <p:spPr>
          <a:xfrm>
            <a:off x="822960"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Introduce actions</a:t>
            </a:r>
            <a:endParaRPr lang="en-US" sz="1000" dirty="0"/>
          </a:p>
        </p:txBody>
      </p:sp>
      <p:sp>
        <p:nvSpPr>
          <p:cNvPr id="16" name="Shape 14"/>
          <p:cNvSpPr/>
          <p:nvPr/>
        </p:nvSpPr>
        <p:spPr>
          <a:xfrm>
            <a:off x="758952" y="3582619"/>
            <a:ext cx="2270684" cy="555955"/>
          </a:xfrm>
          <a:prstGeom prst="roundRect">
            <a:avLst>
              <a:gd name="adj" fmla="val 4934"/>
            </a:avLst>
          </a:prstGeom>
          <a:solidFill>
            <a:srgbClr val="F7F8F7"/>
          </a:solidFill>
          <a:ln w="5080">
            <a:solidFill>
              <a:srgbClr val="F7F8F7"/>
            </a:solidFill>
            <a:prstDash val="solid"/>
          </a:ln>
        </p:spPr>
      </p:sp>
      <p:sp>
        <p:nvSpPr>
          <p:cNvPr id="17" name="Text 15"/>
          <p:cNvSpPr/>
          <p:nvPr/>
        </p:nvSpPr>
        <p:spPr>
          <a:xfrm>
            <a:off x="822960"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Centralised actions library</a:t>
            </a:r>
            <a:endParaRPr lang="en-US" sz="1000" dirty="0"/>
          </a:p>
        </p:txBody>
      </p:sp>
      <p:sp>
        <p:nvSpPr>
          <p:cNvPr id="18" name="Shape 16"/>
          <p:cNvSpPr/>
          <p:nvPr/>
        </p:nvSpPr>
        <p:spPr>
          <a:xfrm>
            <a:off x="758952" y="4211726"/>
            <a:ext cx="2270684" cy="555955"/>
          </a:xfrm>
          <a:prstGeom prst="roundRect">
            <a:avLst>
              <a:gd name="adj" fmla="val 4934"/>
            </a:avLst>
          </a:prstGeom>
          <a:solidFill>
            <a:srgbClr val="F7F8F7"/>
          </a:solidFill>
          <a:ln w="5080">
            <a:solidFill>
              <a:srgbClr val="F7F8F7"/>
            </a:solidFill>
            <a:prstDash val="solid"/>
          </a:ln>
        </p:spPr>
      </p:sp>
      <p:sp>
        <p:nvSpPr>
          <p:cNvPr id="19" name="Text 17"/>
          <p:cNvSpPr/>
          <p:nvPr/>
        </p:nvSpPr>
        <p:spPr>
          <a:xfrm>
            <a:off x="822960"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Configure action types</a:t>
            </a:r>
            <a:endParaRPr lang="en-US" sz="1000" dirty="0"/>
          </a:p>
        </p:txBody>
      </p:sp>
      <p:sp>
        <p:nvSpPr>
          <p:cNvPr id="20" name="Shape 18"/>
          <p:cNvSpPr/>
          <p:nvPr/>
        </p:nvSpPr>
        <p:spPr>
          <a:xfrm>
            <a:off x="758952" y="4840834"/>
            <a:ext cx="2270684" cy="555955"/>
          </a:xfrm>
          <a:prstGeom prst="roundRect">
            <a:avLst>
              <a:gd name="adj" fmla="val 4934"/>
            </a:avLst>
          </a:prstGeom>
          <a:solidFill>
            <a:srgbClr val="F7F8F7"/>
          </a:solidFill>
          <a:ln w="5080">
            <a:solidFill>
              <a:srgbClr val="F7F8F7"/>
            </a:solidFill>
            <a:prstDash val="solid"/>
          </a:ln>
        </p:spPr>
      </p:sp>
      <p:sp>
        <p:nvSpPr>
          <p:cNvPr id="21" name="Text 19"/>
          <p:cNvSpPr/>
          <p:nvPr/>
        </p:nvSpPr>
        <p:spPr>
          <a:xfrm>
            <a:off x="822960"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Library of standard initiative types</a:t>
            </a:r>
            <a:endParaRPr lang="en-US" sz="950" dirty="0"/>
          </a:p>
        </p:txBody>
      </p:sp>
      <p:sp>
        <p:nvSpPr>
          <p:cNvPr id="22" name="Shape 20"/>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3422828" y="2084832"/>
            <a:ext cx="2545004" cy="713232"/>
          </a:xfrm>
          <a:prstGeom prst="rect">
            <a:avLst/>
          </a:prstGeom>
          <a:solidFill>
            <a:srgbClr val="EAF8ED"/>
          </a:solidFill>
          <a:ln w="12700">
            <a:solidFill>
              <a:srgbClr val="EAF8ED"/>
            </a:solidFill>
            <a:prstDash val="solid"/>
          </a:ln>
        </p:spPr>
      </p:sp>
      <p:sp>
        <p:nvSpPr>
          <p:cNvPr id="24" name="Shape 22"/>
          <p:cNvSpPr/>
          <p:nvPr/>
        </p:nvSpPr>
        <p:spPr>
          <a:xfrm>
            <a:off x="3422828" y="2084832"/>
            <a:ext cx="54864" cy="4178808"/>
          </a:xfrm>
          <a:prstGeom prst="rect">
            <a:avLst/>
          </a:prstGeom>
          <a:solidFill>
            <a:srgbClr val="007A27"/>
          </a:solidFill>
          <a:ln w="12700">
            <a:solidFill>
              <a:srgbClr val="007A27"/>
            </a:solidFill>
            <a:prstDash val="solid"/>
          </a:ln>
        </p:spPr>
      </p:sp>
      <p:sp>
        <p:nvSpPr>
          <p:cNvPr id="25" name="Text 23"/>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3559988" y="2953512"/>
            <a:ext cx="2270684" cy="555955"/>
          </a:xfrm>
          <a:prstGeom prst="roundRect">
            <a:avLst>
              <a:gd name="adj" fmla="val 4934"/>
            </a:avLst>
          </a:prstGeom>
          <a:solidFill>
            <a:srgbClr val="F7F8F7"/>
          </a:solidFill>
          <a:ln w="5080">
            <a:solidFill>
              <a:srgbClr val="F7F8F7"/>
            </a:solidFill>
            <a:prstDash val="solid"/>
          </a:ln>
        </p:spPr>
      </p:sp>
      <p:sp>
        <p:nvSpPr>
          <p:cNvPr id="28" name="Text 26"/>
          <p:cNvSpPr/>
          <p:nvPr/>
        </p:nvSpPr>
        <p:spPr>
          <a:xfrm>
            <a:off x="3623996"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Actions bulk upload</a:t>
            </a:r>
            <a:endParaRPr lang="en-US" sz="1000" dirty="0"/>
          </a:p>
        </p:txBody>
      </p:sp>
      <p:sp>
        <p:nvSpPr>
          <p:cNvPr id="29" name="Shape 27"/>
          <p:cNvSpPr/>
          <p:nvPr/>
        </p:nvSpPr>
        <p:spPr>
          <a:xfrm>
            <a:off x="3559988" y="3582619"/>
            <a:ext cx="2270684" cy="555955"/>
          </a:xfrm>
          <a:prstGeom prst="roundRect">
            <a:avLst>
              <a:gd name="adj" fmla="val 4934"/>
            </a:avLst>
          </a:prstGeom>
          <a:solidFill>
            <a:srgbClr val="F7F8F7"/>
          </a:solidFill>
          <a:ln w="5080">
            <a:solidFill>
              <a:srgbClr val="F7F8F7"/>
            </a:solidFill>
            <a:prstDash val="solid"/>
          </a:ln>
        </p:spPr>
      </p:sp>
      <p:sp>
        <p:nvSpPr>
          <p:cNvPr id="30" name="Text 28"/>
          <p:cNvSpPr/>
          <p:nvPr/>
        </p:nvSpPr>
        <p:spPr>
          <a:xfrm>
            <a:off x="3623996"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ECM recommendations</a:t>
            </a:r>
            <a:endParaRPr lang="en-US" sz="1000" dirty="0"/>
          </a:p>
        </p:txBody>
      </p:sp>
      <p:sp>
        <p:nvSpPr>
          <p:cNvPr id="31" name="Shape 29"/>
          <p:cNvSpPr/>
          <p:nvPr/>
        </p:nvSpPr>
        <p:spPr>
          <a:xfrm>
            <a:off x="3559988" y="4211726"/>
            <a:ext cx="2270684" cy="555955"/>
          </a:xfrm>
          <a:prstGeom prst="roundRect">
            <a:avLst>
              <a:gd name="adj" fmla="val 4934"/>
            </a:avLst>
          </a:prstGeom>
          <a:solidFill>
            <a:srgbClr val="F7F8F7"/>
          </a:solidFill>
          <a:ln w="5080">
            <a:solidFill>
              <a:srgbClr val="F7F8F7"/>
            </a:solidFill>
            <a:prstDash val="solid"/>
          </a:ln>
        </p:spPr>
      </p:sp>
      <p:sp>
        <p:nvSpPr>
          <p:cNvPr id="32" name="Text 30"/>
          <p:cNvSpPr/>
          <p:nvPr/>
        </p:nvSpPr>
        <p:spPr>
          <a:xfrm>
            <a:off x="3623996"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Initiative type recommendations</a:t>
            </a:r>
            <a:endParaRPr lang="en-US" sz="1000" dirty="0"/>
          </a:p>
        </p:txBody>
      </p:sp>
      <p:sp>
        <p:nvSpPr>
          <p:cNvPr id="33" name="Shape 31"/>
          <p:cNvSpPr/>
          <p:nvPr/>
        </p:nvSpPr>
        <p:spPr>
          <a:xfrm>
            <a:off x="3559988" y="4840834"/>
            <a:ext cx="2270684" cy="555955"/>
          </a:xfrm>
          <a:prstGeom prst="roundRect">
            <a:avLst>
              <a:gd name="adj" fmla="val 4934"/>
            </a:avLst>
          </a:prstGeom>
          <a:solidFill>
            <a:srgbClr val="F7F8F7"/>
          </a:solidFill>
          <a:ln w="5080">
            <a:solidFill>
              <a:srgbClr val="F7F8F7"/>
            </a:solidFill>
            <a:prstDash val="solid"/>
          </a:ln>
        </p:spPr>
      </p:sp>
      <p:sp>
        <p:nvSpPr>
          <p:cNvPr id="34" name="Text 32"/>
          <p:cNvSpPr/>
          <p:nvPr/>
        </p:nvSpPr>
        <p:spPr>
          <a:xfrm>
            <a:off x="3623996"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Energy, water and waste targets</a:t>
            </a:r>
            <a:endParaRPr lang="en-US" sz="1000" dirty="0"/>
          </a:p>
        </p:txBody>
      </p:sp>
      <p:sp>
        <p:nvSpPr>
          <p:cNvPr id="35" name="Shape 33"/>
          <p:cNvSpPr/>
          <p:nvPr/>
        </p:nvSpPr>
        <p:spPr>
          <a:xfrm>
            <a:off x="3559988" y="5469941"/>
            <a:ext cx="2270684" cy="555955"/>
          </a:xfrm>
          <a:prstGeom prst="roundRect">
            <a:avLst>
              <a:gd name="adj" fmla="val 4934"/>
            </a:avLst>
          </a:prstGeom>
          <a:solidFill>
            <a:srgbClr val="F7F8F7"/>
          </a:solidFill>
          <a:ln w="5080">
            <a:solidFill>
              <a:srgbClr val="F7F8F7"/>
            </a:solidFill>
            <a:prstDash val="solid"/>
          </a:ln>
        </p:spPr>
      </p:sp>
      <p:sp>
        <p:nvSpPr>
          <p:cNvPr id="36" name="Text 34"/>
          <p:cNvSpPr/>
          <p:nvPr/>
        </p:nvSpPr>
        <p:spPr>
          <a:xfrm>
            <a:off x="3623996" y="5469941"/>
            <a:ext cx="2142668"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Advanced scenario analysis and decarbonization planning</a:t>
            </a:r>
            <a:endParaRPr lang="en-US" sz="900" dirty="0"/>
          </a:p>
        </p:txBody>
      </p:sp>
      <p:sp>
        <p:nvSpPr>
          <p:cNvPr id="37" name="Shape 35"/>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8" name="Shape 36"/>
          <p:cNvSpPr/>
          <p:nvPr/>
        </p:nvSpPr>
        <p:spPr>
          <a:xfrm>
            <a:off x="6223864" y="2084832"/>
            <a:ext cx="2545004" cy="713232"/>
          </a:xfrm>
          <a:prstGeom prst="rect">
            <a:avLst/>
          </a:prstGeom>
          <a:solidFill>
            <a:srgbClr val="FFF4E3"/>
          </a:solidFill>
          <a:ln w="12700">
            <a:solidFill>
              <a:srgbClr val="FFF4E3"/>
            </a:solidFill>
            <a:prstDash val="solid"/>
          </a:ln>
        </p:spPr>
      </p:sp>
      <p:sp>
        <p:nvSpPr>
          <p:cNvPr id="39" name="Shape 37"/>
          <p:cNvSpPr/>
          <p:nvPr/>
        </p:nvSpPr>
        <p:spPr>
          <a:xfrm>
            <a:off x="6223864" y="2084832"/>
            <a:ext cx="54864" cy="4178808"/>
          </a:xfrm>
          <a:prstGeom prst="rect">
            <a:avLst/>
          </a:prstGeom>
          <a:solidFill>
            <a:srgbClr val="FFB04C"/>
          </a:solidFill>
          <a:ln w="12700">
            <a:solidFill>
              <a:srgbClr val="FFB04C"/>
            </a:solidFill>
            <a:prstDash val="solid"/>
          </a:ln>
        </p:spPr>
      </p:sp>
      <p:sp>
        <p:nvSpPr>
          <p:cNvPr id="40" name="Text 38"/>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41" name="Text 39"/>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42" name="Shape 40"/>
          <p:cNvSpPr/>
          <p:nvPr/>
        </p:nvSpPr>
        <p:spPr>
          <a:xfrm>
            <a:off x="6361024" y="2953512"/>
            <a:ext cx="2270684" cy="555955"/>
          </a:xfrm>
          <a:prstGeom prst="roundRect">
            <a:avLst>
              <a:gd name="adj" fmla="val 4934"/>
            </a:avLst>
          </a:prstGeom>
          <a:solidFill>
            <a:srgbClr val="F7F8F7"/>
          </a:solidFill>
          <a:ln w="5080">
            <a:solidFill>
              <a:srgbClr val="F7F8F7"/>
            </a:solidFill>
            <a:prstDash val="solid"/>
          </a:ln>
        </p:spPr>
      </p:sp>
      <p:sp>
        <p:nvSpPr>
          <p:cNvPr id="43" name="Text 41"/>
          <p:cNvSpPr/>
          <p:nvPr/>
        </p:nvSpPr>
        <p:spPr>
          <a:xfrm>
            <a:off x="6425032"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Complex target structures</a:t>
            </a:r>
            <a:endParaRPr lang="en-US" sz="1000" dirty="0"/>
          </a:p>
        </p:txBody>
      </p:sp>
      <p:sp>
        <p:nvSpPr>
          <p:cNvPr id="44" name="Shape 42"/>
          <p:cNvSpPr/>
          <p:nvPr/>
        </p:nvSpPr>
        <p:spPr>
          <a:xfrm>
            <a:off x="6361024" y="3582619"/>
            <a:ext cx="2270684" cy="555955"/>
          </a:xfrm>
          <a:prstGeom prst="roundRect">
            <a:avLst>
              <a:gd name="adj" fmla="val 4934"/>
            </a:avLst>
          </a:prstGeom>
          <a:solidFill>
            <a:srgbClr val="F7F8F7"/>
          </a:solidFill>
          <a:ln w="5080">
            <a:solidFill>
              <a:srgbClr val="F7F8F7"/>
            </a:solidFill>
            <a:prstDash val="solid"/>
          </a:ln>
        </p:spPr>
      </p:sp>
      <p:sp>
        <p:nvSpPr>
          <p:cNvPr id="45" name="Text 43"/>
          <p:cNvSpPr/>
          <p:nvPr/>
        </p:nvSpPr>
        <p:spPr>
          <a:xfrm>
            <a:off x="6425032"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Cascading reduction targets</a:t>
            </a:r>
            <a:endParaRPr lang="en-US" sz="1000" dirty="0"/>
          </a:p>
        </p:txBody>
      </p:sp>
      <p:sp>
        <p:nvSpPr>
          <p:cNvPr id="46" name="Shape 44"/>
          <p:cNvSpPr/>
          <p:nvPr/>
        </p:nvSpPr>
        <p:spPr>
          <a:xfrm>
            <a:off x="6361024" y="4211726"/>
            <a:ext cx="2270684" cy="555955"/>
          </a:xfrm>
          <a:prstGeom prst="roundRect">
            <a:avLst>
              <a:gd name="adj" fmla="val 4934"/>
            </a:avLst>
          </a:prstGeom>
          <a:solidFill>
            <a:srgbClr val="F7F8F7"/>
          </a:solidFill>
          <a:ln w="5080">
            <a:solidFill>
              <a:srgbClr val="F7F8F7"/>
            </a:solidFill>
            <a:prstDash val="solid"/>
          </a:ln>
        </p:spPr>
      </p:sp>
      <p:sp>
        <p:nvSpPr>
          <p:cNvPr id="47" name="Text 45"/>
          <p:cNvSpPr/>
          <p:nvPr/>
        </p:nvSpPr>
        <p:spPr>
          <a:xfrm>
            <a:off x="6425032"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Implementation statuses and on track</a:t>
            </a:r>
            <a:endParaRPr lang="en-US" sz="950" dirty="0"/>
          </a:p>
        </p:txBody>
      </p:sp>
      <p:sp>
        <p:nvSpPr>
          <p:cNvPr id="48" name="Shape 46"/>
          <p:cNvSpPr/>
          <p:nvPr/>
        </p:nvSpPr>
        <p:spPr>
          <a:xfrm>
            <a:off x="6361024" y="4840834"/>
            <a:ext cx="2270684" cy="555955"/>
          </a:xfrm>
          <a:prstGeom prst="roundRect">
            <a:avLst>
              <a:gd name="adj" fmla="val 4934"/>
            </a:avLst>
          </a:prstGeom>
          <a:solidFill>
            <a:srgbClr val="F7F8F7"/>
          </a:solidFill>
          <a:ln w="5080">
            <a:solidFill>
              <a:srgbClr val="F7F8F7"/>
            </a:solidFill>
            <a:prstDash val="solid"/>
          </a:ln>
        </p:spPr>
      </p:sp>
      <p:sp>
        <p:nvSpPr>
          <p:cNvPr id="49" name="Text 47"/>
          <p:cNvSpPr/>
          <p:nvPr/>
        </p:nvSpPr>
        <p:spPr>
          <a:xfrm>
            <a:off x="6425032"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ECM library</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Energy and carbon cobenefits</a:t>
            </a:r>
            <a:endParaRPr lang="en-US" sz="1000" dirty="0"/>
          </a:p>
        </p:txBody>
      </p:sp>
      <p:sp>
        <p:nvSpPr>
          <p:cNvPr id="50" name="Shape 48"/>
          <p:cNvSpPr/>
          <p:nvPr/>
        </p:nvSpPr>
        <p:spPr>
          <a:xfrm>
            <a:off x="6361024" y="5469941"/>
            <a:ext cx="2270684" cy="555955"/>
          </a:xfrm>
          <a:prstGeom prst="roundRect">
            <a:avLst>
              <a:gd name="adj" fmla="val 4934"/>
            </a:avLst>
          </a:prstGeom>
          <a:solidFill>
            <a:srgbClr val="F7F8F7"/>
          </a:solidFill>
          <a:ln w="5080">
            <a:solidFill>
              <a:srgbClr val="F7F8F7"/>
            </a:solidFill>
            <a:prstDash val="solid"/>
          </a:ln>
        </p:spPr>
      </p:sp>
      <p:sp>
        <p:nvSpPr>
          <p:cNvPr id="51" name="Text 49"/>
          <p:cNvSpPr/>
          <p:nvPr/>
        </p:nvSpPr>
        <p:spPr>
          <a:xfrm>
            <a:off x="6425032" y="5469941"/>
            <a:ext cx="2142668"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Enhanced strategy landing page and notifications</a:t>
            </a:r>
            <a:endParaRPr lang="en-US" sz="900" dirty="0"/>
          </a:p>
        </p:txBody>
      </p:sp>
      <p:sp>
        <p:nvSpPr>
          <p:cNvPr id="52" name="Shape 50"/>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53" name="Shape 51"/>
          <p:cNvSpPr/>
          <p:nvPr/>
        </p:nvSpPr>
        <p:spPr>
          <a:xfrm>
            <a:off x="9024899" y="2084832"/>
            <a:ext cx="2545004" cy="713232"/>
          </a:xfrm>
          <a:prstGeom prst="rect">
            <a:avLst/>
          </a:prstGeom>
          <a:solidFill>
            <a:srgbClr val="EAF1F5"/>
          </a:solidFill>
          <a:ln w="12700">
            <a:solidFill>
              <a:srgbClr val="EAF1F5"/>
            </a:solidFill>
            <a:prstDash val="solid"/>
          </a:ln>
        </p:spPr>
      </p:sp>
      <p:sp>
        <p:nvSpPr>
          <p:cNvPr id="54" name="Shape 52"/>
          <p:cNvSpPr/>
          <p:nvPr/>
        </p:nvSpPr>
        <p:spPr>
          <a:xfrm>
            <a:off x="9024899" y="2084832"/>
            <a:ext cx="54864" cy="4178808"/>
          </a:xfrm>
          <a:prstGeom prst="rect">
            <a:avLst/>
          </a:prstGeom>
          <a:solidFill>
            <a:srgbClr val="275B7F"/>
          </a:solidFill>
          <a:ln w="12700">
            <a:solidFill>
              <a:srgbClr val="275B7F"/>
            </a:solidFill>
            <a:prstDash val="solid"/>
          </a:ln>
        </p:spPr>
      </p:sp>
      <p:sp>
        <p:nvSpPr>
          <p:cNvPr id="55" name="Text 53"/>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56" name="Text 54"/>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57" name="Shape 55"/>
          <p:cNvSpPr/>
          <p:nvPr/>
        </p:nvSpPr>
        <p:spPr>
          <a:xfrm>
            <a:off x="9162059" y="2953512"/>
            <a:ext cx="2270684" cy="555955"/>
          </a:xfrm>
          <a:prstGeom prst="roundRect">
            <a:avLst>
              <a:gd name="adj" fmla="val 4934"/>
            </a:avLst>
          </a:prstGeom>
          <a:solidFill>
            <a:srgbClr val="F7F8F7"/>
          </a:solidFill>
          <a:ln w="5080">
            <a:solidFill>
              <a:srgbClr val="F7F8F7"/>
            </a:solidFill>
            <a:prstDash val="solid"/>
          </a:ln>
        </p:spPr>
      </p:sp>
      <p:sp>
        <p:nvSpPr>
          <p:cNvPr id="58" name="Text 56"/>
          <p:cNvSpPr/>
          <p:nvPr/>
        </p:nvSpPr>
        <p:spPr>
          <a:xfrm>
            <a:off x="9226067"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Qualitative market intelligence</a:t>
            </a:r>
            <a:endParaRPr lang="en-US" sz="1000" dirty="0"/>
          </a:p>
        </p:txBody>
      </p:sp>
      <p:sp>
        <p:nvSpPr>
          <p:cNvPr id="59" name="Shape 57"/>
          <p:cNvSpPr/>
          <p:nvPr/>
        </p:nvSpPr>
        <p:spPr>
          <a:xfrm>
            <a:off x="9162059" y="3582619"/>
            <a:ext cx="2270684" cy="555955"/>
          </a:xfrm>
          <a:prstGeom prst="roundRect">
            <a:avLst>
              <a:gd name="adj" fmla="val 4934"/>
            </a:avLst>
          </a:prstGeom>
          <a:solidFill>
            <a:srgbClr val="F7F8F7"/>
          </a:solidFill>
          <a:ln w="5080">
            <a:solidFill>
              <a:srgbClr val="F7F8F7"/>
            </a:solidFill>
            <a:prstDash val="solid"/>
          </a:ln>
        </p:spPr>
      </p:sp>
      <p:sp>
        <p:nvSpPr>
          <p:cNvPr id="60" name="Text 58"/>
          <p:cNvSpPr/>
          <p:nvPr/>
        </p:nvSpPr>
        <p:spPr>
          <a:xfrm>
            <a:off x="9226067"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Net zero scenario suggestions</a:t>
            </a:r>
            <a:endParaRPr lang="en-US" sz="1000" dirty="0"/>
          </a:p>
        </p:txBody>
      </p:sp>
      <p:sp>
        <p:nvSpPr>
          <p:cNvPr id="61" name="Shape 59"/>
          <p:cNvSpPr/>
          <p:nvPr/>
        </p:nvSpPr>
        <p:spPr>
          <a:xfrm>
            <a:off x="9162059" y="4211726"/>
            <a:ext cx="2270684" cy="555955"/>
          </a:xfrm>
          <a:prstGeom prst="roundRect">
            <a:avLst>
              <a:gd name="adj" fmla="val 4934"/>
            </a:avLst>
          </a:prstGeom>
          <a:solidFill>
            <a:srgbClr val="F7F8F7"/>
          </a:solidFill>
          <a:ln w="5080">
            <a:solidFill>
              <a:srgbClr val="F7F8F7"/>
            </a:solidFill>
            <a:prstDash val="solid"/>
          </a:ln>
        </p:spPr>
      </p:sp>
      <p:sp>
        <p:nvSpPr>
          <p:cNvPr id="62" name="Text 60"/>
          <p:cNvSpPr/>
          <p:nvPr/>
        </p:nvSpPr>
        <p:spPr>
          <a:xfrm>
            <a:off x="9226067"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Multi hierarchy plans</a:t>
            </a:r>
            <a:endParaRPr lang="en-US" sz="1000" dirty="0"/>
          </a:p>
        </p:txBody>
      </p:sp>
      <p:sp>
        <p:nvSpPr>
          <p:cNvPr id="63" name="Shape 61"/>
          <p:cNvSpPr/>
          <p:nvPr/>
        </p:nvSpPr>
        <p:spPr>
          <a:xfrm>
            <a:off x="9162059" y="4840834"/>
            <a:ext cx="2270684" cy="555955"/>
          </a:xfrm>
          <a:prstGeom prst="roundRect">
            <a:avLst>
              <a:gd name="adj" fmla="val 4934"/>
            </a:avLst>
          </a:prstGeom>
          <a:solidFill>
            <a:srgbClr val="F7F8F7"/>
          </a:solidFill>
          <a:ln w="5080">
            <a:solidFill>
              <a:srgbClr val="F7F8F7"/>
            </a:solidFill>
            <a:prstDash val="solid"/>
          </a:ln>
        </p:spPr>
      </p:sp>
      <p:sp>
        <p:nvSpPr>
          <p:cNvPr id="64" name="Text 62"/>
          <p:cNvSpPr/>
          <p:nvPr/>
        </p:nvSpPr>
        <p:spPr>
          <a:xfrm>
            <a:off x="9226067"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Cascading allocation across entities</a:t>
            </a:r>
            <a:endParaRPr lang="en-US" sz="950" dirty="0"/>
          </a:p>
        </p:txBody>
      </p:sp>
      <p:sp>
        <p:nvSpPr>
          <p:cNvPr id="65" name="Shape 63"/>
          <p:cNvSpPr/>
          <p:nvPr/>
        </p:nvSpPr>
        <p:spPr>
          <a:xfrm>
            <a:off x="621792" y="6437376"/>
            <a:ext cx="10948111" cy="0"/>
          </a:xfrm>
          <a:prstGeom prst="line">
            <a:avLst/>
          </a:prstGeom>
          <a:noFill/>
          <a:ln w="9525">
            <a:solidFill>
              <a:srgbClr val="E2E6E2"/>
            </a:solidFill>
            <a:prstDash val="solid"/>
          </a:ln>
        </p:spPr>
      </p:sp>
      <p:sp>
        <p:nvSpPr>
          <p:cNvPr id="66" name="Text 6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7" name="Text 6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Strategy plan on a timeline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Connect targets to actions in 2026, then scale recommendations, execution insight and enterprise planning in 2027.</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470616"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5484800"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6498984"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7513168"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7513168"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852735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9541535"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10555719"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Shape 19"/>
          <p:cNvSpPr/>
          <p:nvPr/>
        </p:nvSpPr>
        <p:spPr>
          <a:xfrm>
            <a:off x="3456432" y="2103120"/>
            <a:ext cx="0" cy="3794760"/>
          </a:xfrm>
          <a:prstGeom prst="line">
            <a:avLst/>
          </a:prstGeom>
          <a:noFill/>
          <a:ln w="11430">
            <a:solidFill>
              <a:srgbClr val="C8CECA"/>
            </a:solidFill>
            <a:prstDash val="solid"/>
          </a:ln>
        </p:spPr>
      </p:sp>
      <p:sp>
        <p:nvSpPr>
          <p:cNvPr id="22" name="Shape 20"/>
          <p:cNvSpPr/>
          <p:nvPr/>
        </p:nvSpPr>
        <p:spPr>
          <a:xfrm>
            <a:off x="4470616" y="2103120"/>
            <a:ext cx="0" cy="3794760"/>
          </a:xfrm>
          <a:prstGeom prst="line">
            <a:avLst/>
          </a:prstGeom>
          <a:noFill/>
          <a:ln w="4445">
            <a:solidFill>
              <a:srgbClr val="E2E6E2"/>
            </a:solidFill>
            <a:prstDash val="solid"/>
          </a:ln>
        </p:spPr>
      </p:sp>
      <p:sp>
        <p:nvSpPr>
          <p:cNvPr id="23" name="Shape 21"/>
          <p:cNvSpPr/>
          <p:nvPr/>
        </p:nvSpPr>
        <p:spPr>
          <a:xfrm>
            <a:off x="5484800" y="2103120"/>
            <a:ext cx="0" cy="3794760"/>
          </a:xfrm>
          <a:prstGeom prst="line">
            <a:avLst/>
          </a:prstGeom>
          <a:noFill/>
          <a:ln w="4445">
            <a:solidFill>
              <a:srgbClr val="E2E6E2"/>
            </a:solidFill>
            <a:prstDash val="solid"/>
          </a:ln>
        </p:spPr>
      </p:sp>
      <p:sp>
        <p:nvSpPr>
          <p:cNvPr id="24" name="Shape 22"/>
          <p:cNvSpPr/>
          <p:nvPr/>
        </p:nvSpPr>
        <p:spPr>
          <a:xfrm>
            <a:off x="6498984" y="2103120"/>
            <a:ext cx="0" cy="3794760"/>
          </a:xfrm>
          <a:prstGeom prst="line">
            <a:avLst/>
          </a:prstGeom>
          <a:noFill/>
          <a:ln w="4445">
            <a:solidFill>
              <a:srgbClr val="E2E6E2"/>
            </a:solidFill>
            <a:prstDash val="solid"/>
          </a:ln>
        </p:spPr>
      </p:sp>
      <p:sp>
        <p:nvSpPr>
          <p:cNvPr id="25" name="Shape 23"/>
          <p:cNvSpPr/>
          <p:nvPr/>
        </p:nvSpPr>
        <p:spPr>
          <a:xfrm>
            <a:off x="7513168" y="2103120"/>
            <a:ext cx="0" cy="3794760"/>
          </a:xfrm>
          <a:prstGeom prst="line">
            <a:avLst/>
          </a:prstGeom>
          <a:noFill/>
          <a:ln w="11430">
            <a:solidFill>
              <a:srgbClr val="C8CECA"/>
            </a:solidFill>
            <a:prstDash val="solid"/>
          </a:ln>
        </p:spPr>
      </p:sp>
      <p:sp>
        <p:nvSpPr>
          <p:cNvPr id="26" name="Shape 24"/>
          <p:cNvSpPr/>
          <p:nvPr/>
        </p:nvSpPr>
        <p:spPr>
          <a:xfrm>
            <a:off x="8527352" y="2103120"/>
            <a:ext cx="0" cy="3794760"/>
          </a:xfrm>
          <a:prstGeom prst="line">
            <a:avLst/>
          </a:prstGeom>
          <a:noFill/>
          <a:ln w="4445">
            <a:solidFill>
              <a:srgbClr val="E2E6E2"/>
            </a:solidFill>
            <a:prstDash val="solid"/>
          </a:ln>
        </p:spPr>
      </p:sp>
      <p:sp>
        <p:nvSpPr>
          <p:cNvPr id="27" name="Shape 25"/>
          <p:cNvSpPr/>
          <p:nvPr/>
        </p:nvSpPr>
        <p:spPr>
          <a:xfrm>
            <a:off x="9541535" y="2103120"/>
            <a:ext cx="0" cy="3794760"/>
          </a:xfrm>
          <a:prstGeom prst="line">
            <a:avLst/>
          </a:prstGeom>
          <a:noFill/>
          <a:ln w="4445">
            <a:solidFill>
              <a:srgbClr val="E2E6E2"/>
            </a:solidFill>
            <a:prstDash val="solid"/>
          </a:ln>
        </p:spPr>
      </p:sp>
      <p:sp>
        <p:nvSpPr>
          <p:cNvPr id="28" name="Shape 26"/>
          <p:cNvSpPr/>
          <p:nvPr/>
        </p:nvSpPr>
        <p:spPr>
          <a:xfrm>
            <a:off x="10555719" y="2103120"/>
            <a:ext cx="0" cy="3794760"/>
          </a:xfrm>
          <a:prstGeom prst="line">
            <a:avLst/>
          </a:prstGeom>
          <a:noFill/>
          <a:ln w="4445">
            <a:solidFill>
              <a:srgbClr val="E2E6E2"/>
            </a:solidFill>
            <a:prstDash val="solid"/>
          </a:ln>
        </p:spPr>
      </p:sp>
      <p:sp>
        <p:nvSpPr>
          <p:cNvPr id="29" name="Shape 27"/>
          <p:cNvSpPr/>
          <p:nvPr/>
        </p:nvSpPr>
        <p:spPr>
          <a:xfrm>
            <a:off x="11569903" y="2103120"/>
            <a:ext cx="0" cy="3794760"/>
          </a:xfrm>
          <a:prstGeom prst="line">
            <a:avLst/>
          </a:prstGeom>
          <a:noFill/>
          <a:ln w="11430">
            <a:solidFill>
              <a:srgbClr val="C8CECA"/>
            </a:solidFill>
            <a:prstDash val="solid"/>
          </a:ln>
        </p:spPr>
      </p:sp>
      <p:sp>
        <p:nvSpPr>
          <p:cNvPr id="30" name="Shape 28"/>
          <p:cNvSpPr/>
          <p:nvPr/>
        </p:nvSpPr>
        <p:spPr>
          <a:xfrm>
            <a:off x="621792" y="2331720"/>
            <a:ext cx="411480" cy="891540"/>
          </a:xfrm>
          <a:prstGeom prst="rect">
            <a:avLst/>
          </a:prstGeom>
          <a:solidFill>
            <a:srgbClr val="3DCD58"/>
          </a:solidFill>
          <a:ln w="7620">
            <a:solidFill>
              <a:srgbClr val="FFFFFF"/>
            </a:solidFill>
            <a:prstDash val="solid"/>
          </a:ln>
        </p:spPr>
      </p:sp>
      <p:sp>
        <p:nvSpPr>
          <p:cNvPr id="31" name="Text 29"/>
          <p:cNvSpPr/>
          <p:nvPr/>
        </p:nvSpPr>
        <p:spPr>
          <a:xfrm>
            <a:off x="685800" y="2377440"/>
            <a:ext cx="283464" cy="80010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ACTION MODEL</a:t>
            </a:r>
            <a:endParaRPr lang="en-US" sz="750" dirty="0"/>
          </a:p>
        </p:txBody>
      </p:sp>
      <p:sp>
        <p:nvSpPr>
          <p:cNvPr id="32" name="Shape 30"/>
          <p:cNvSpPr/>
          <p:nvPr/>
        </p:nvSpPr>
        <p:spPr>
          <a:xfrm>
            <a:off x="1033272" y="2628900"/>
            <a:ext cx="10536631" cy="0"/>
          </a:xfrm>
          <a:prstGeom prst="line">
            <a:avLst/>
          </a:prstGeom>
          <a:noFill/>
          <a:ln w="4445">
            <a:solidFill>
              <a:srgbClr val="E2E6E2"/>
            </a:solidFill>
            <a:prstDash val="solid"/>
          </a:ln>
        </p:spPr>
      </p:sp>
      <p:sp>
        <p:nvSpPr>
          <p:cNvPr id="33" name="Shape 31"/>
          <p:cNvSpPr/>
          <p:nvPr/>
        </p:nvSpPr>
        <p:spPr>
          <a:xfrm>
            <a:off x="1143000" y="2370582"/>
            <a:ext cx="45720" cy="219456"/>
          </a:xfrm>
          <a:prstGeom prst="roundRect">
            <a:avLst>
              <a:gd name="adj" fmla="val 60000"/>
            </a:avLst>
          </a:prstGeom>
          <a:solidFill>
            <a:srgbClr val="3DCD58"/>
          </a:solidFill>
          <a:ln w="12700">
            <a:solidFill>
              <a:srgbClr val="3DCD58"/>
            </a:solidFill>
            <a:prstDash val="solid"/>
          </a:ln>
        </p:spPr>
      </p:sp>
      <p:sp>
        <p:nvSpPr>
          <p:cNvPr id="34" name="Text 32"/>
          <p:cNvSpPr/>
          <p:nvPr/>
        </p:nvSpPr>
        <p:spPr>
          <a:xfrm>
            <a:off x="1243584" y="233400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Actions and centralised library</a:t>
            </a:r>
            <a:endParaRPr lang="en-US" sz="950" dirty="0"/>
          </a:p>
        </p:txBody>
      </p:sp>
      <p:sp>
        <p:nvSpPr>
          <p:cNvPr id="35" name="Shape 33"/>
          <p:cNvSpPr/>
          <p:nvPr/>
        </p:nvSpPr>
        <p:spPr>
          <a:xfrm>
            <a:off x="5484800" y="2429789"/>
            <a:ext cx="1014184" cy="101041"/>
          </a:xfrm>
          <a:prstGeom prst="roundRect">
            <a:avLst>
              <a:gd name="adj" fmla="val 36199"/>
            </a:avLst>
          </a:prstGeom>
          <a:solidFill>
            <a:srgbClr val="3DCD58"/>
          </a:solidFill>
          <a:ln w="12700">
            <a:solidFill>
              <a:srgbClr val="3DCD58"/>
            </a:solidFill>
            <a:prstDash val="solid"/>
          </a:ln>
        </p:spPr>
      </p:sp>
      <p:sp>
        <p:nvSpPr>
          <p:cNvPr id="36" name="Shape 34"/>
          <p:cNvSpPr/>
          <p:nvPr/>
        </p:nvSpPr>
        <p:spPr>
          <a:xfrm>
            <a:off x="1033272" y="2926080"/>
            <a:ext cx="10536631" cy="0"/>
          </a:xfrm>
          <a:prstGeom prst="line">
            <a:avLst/>
          </a:prstGeom>
          <a:noFill/>
          <a:ln w="4445">
            <a:solidFill>
              <a:srgbClr val="E2E6E2"/>
            </a:solidFill>
            <a:prstDash val="solid"/>
          </a:ln>
        </p:spPr>
      </p:sp>
      <p:sp>
        <p:nvSpPr>
          <p:cNvPr id="37" name="Shape 35"/>
          <p:cNvSpPr/>
          <p:nvPr/>
        </p:nvSpPr>
        <p:spPr>
          <a:xfrm>
            <a:off x="1143000" y="2667762"/>
            <a:ext cx="45720" cy="219456"/>
          </a:xfrm>
          <a:prstGeom prst="roundRect">
            <a:avLst>
              <a:gd name="adj" fmla="val 60000"/>
            </a:avLst>
          </a:prstGeom>
          <a:solidFill>
            <a:srgbClr val="3DCD58"/>
          </a:solidFill>
          <a:ln w="12700">
            <a:solidFill>
              <a:srgbClr val="3DCD58"/>
            </a:solidFill>
            <a:prstDash val="solid"/>
          </a:ln>
        </p:spPr>
      </p:sp>
      <p:sp>
        <p:nvSpPr>
          <p:cNvPr id="38" name="Text 36"/>
          <p:cNvSpPr/>
          <p:nvPr/>
        </p:nvSpPr>
        <p:spPr>
          <a:xfrm>
            <a:off x="1243584" y="263118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Configurable action and initiative types</a:t>
            </a:r>
            <a:endParaRPr lang="en-US" sz="950" dirty="0"/>
          </a:p>
        </p:txBody>
      </p:sp>
      <p:sp>
        <p:nvSpPr>
          <p:cNvPr id="39" name="Shape 37"/>
          <p:cNvSpPr/>
          <p:nvPr/>
        </p:nvSpPr>
        <p:spPr>
          <a:xfrm>
            <a:off x="5484800" y="2726969"/>
            <a:ext cx="1014184" cy="101041"/>
          </a:xfrm>
          <a:prstGeom prst="roundRect">
            <a:avLst>
              <a:gd name="adj" fmla="val 36199"/>
            </a:avLst>
          </a:prstGeom>
          <a:solidFill>
            <a:srgbClr val="3DCD58"/>
          </a:solidFill>
          <a:ln w="12700">
            <a:solidFill>
              <a:srgbClr val="3DCD58"/>
            </a:solidFill>
            <a:prstDash val="solid"/>
          </a:ln>
        </p:spPr>
      </p:sp>
      <p:sp>
        <p:nvSpPr>
          <p:cNvPr id="40" name="Shape 38"/>
          <p:cNvSpPr/>
          <p:nvPr/>
        </p:nvSpPr>
        <p:spPr>
          <a:xfrm>
            <a:off x="1033272" y="3223260"/>
            <a:ext cx="10536631" cy="0"/>
          </a:xfrm>
          <a:prstGeom prst="line">
            <a:avLst/>
          </a:prstGeom>
          <a:noFill/>
          <a:ln w="4445">
            <a:solidFill>
              <a:srgbClr val="E2E6E2"/>
            </a:solidFill>
            <a:prstDash val="solid"/>
          </a:ln>
        </p:spPr>
      </p:sp>
      <p:sp>
        <p:nvSpPr>
          <p:cNvPr id="41" name="Shape 39"/>
          <p:cNvSpPr/>
          <p:nvPr/>
        </p:nvSpPr>
        <p:spPr>
          <a:xfrm>
            <a:off x="1143000" y="2964942"/>
            <a:ext cx="45720" cy="219456"/>
          </a:xfrm>
          <a:prstGeom prst="roundRect">
            <a:avLst>
              <a:gd name="adj" fmla="val 60000"/>
            </a:avLst>
          </a:prstGeom>
          <a:solidFill>
            <a:srgbClr val="3DCD58"/>
          </a:solidFill>
          <a:ln w="12700">
            <a:solidFill>
              <a:srgbClr val="3DCD58"/>
            </a:solidFill>
            <a:prstDash val="solid"/>
          </a:ln>
        </p:spPr>
      </p:sp>
      <p:sp>
        <p:nvSpPr>
          <p:cNvPr id="42" name="Text 40"/>
          <p:cNvSpPr/>
          <p:nvPr/>
        </p:nvSpPr>
        <p:spPr>
          <a:xfrm>
            <a:off x="1243584" y="292836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Actions bulk upload</a:t>
            </a:r>
            <a:endParaRPr lang="en-US" sz="950" dirty="0"/>
          </a:p>
        </p:txBody>
      </p:sp>
      <p:sp>
        <p:nvSpPr>
          <p:cNvPr id="43" name="Shape 41"/>
          <p:cNvSpPr/>
          <p:nvPr/>
        </p:nvSpPr>
        <p:spPr>
          <a:xfrm>
            <a:off x="6498984" y="3024149"/>
            <a:ext cx="1014184" cy="101041"/>
          </a:xfrm>
          <a:prstGeom prst="roundRect">
            <a:avLst>
              <a:gd name="adj" fmla="val 36199"/>
            </a:avLst>
          </a:prstGeom>
          <a:solidFill>
            <a:srgbClr val="3DCD58"/>
          </a:solidFill>
          <a:ln w="12700">
            <a:solidFill>
              <a:srgbClr val="3DCD58"/>
            </a:solidFill>
            <a:prstDash val="solid"/>
          </a:ln>
        </p:spPr>
      </p:sp>
      <p:sp>
        <p:nvSpPr>
          <p:cNvPr id="44" name="Shape 42"/>
          <p:cNvSpPr/>
          <p:nvPr/>
        </p:nvSpPr>
        <p:spPr>
          <a:xfrm>
            <a:off x="621792" y="3223260"/>
            <a:ext cx="411480" cy="1188720"/>
          </a:xfrm>
          <a:prstGeom prst="rect">
            <a:avLst/>
          </a:prstGeom>
          <a:solidFill>
            <a:srgbClr val="007A27"/>
          </a:solidFill>
          <a:ln w="7620">
            <a:solidFill>
              <a:srgbClr val="FFFFFF"/>
            </a:solidFill>
            <a:prstDash val="solid"/>
          </a:ln>
        </p:spPr>
      </p:sp>
      <p:sp>
        <p:nvSpPr>
          <p:cNvPr id="45" name="Text 43"/>
          <p:cNvSpPr/>
          <p:nvPr/>
        </p:nvSpPr>
        <p:spPr>
          <a:xfrm>
            <a:off x="685800" y="3268980"/>
            <a:ext cx="283464" cy="109728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PLANNING</a:t>
            </a:r>
            <a:endParaRPr lang="en-US" sz="750" dirty="0"/>
          </a:p>
        </p:txBody>
      </p:sp>
      <p:sp>
        <p:nvSpPr>
          <p:cNvPr id="46" name="Shape 44"/>
          <p:cNvSpPr/>
          <p:nvPr/>
        </p:nvSpPr>
        <p:spPr>
          <a:xfrm>
            <a:off x="1033272" y="3520440"/>
            <a:ext cx="10536631" cy="0"/>
          </a:xfrm>
          <a:prstGeom prst="line">
            <a:avLst/>
          </a:prstGeom>
          <a:noFill/>
          <a:ln w="4445">
            <a:solidFill>
              <a:srgbClr val="E2E6E2"/>
            </a:solidFill>
            <a:prstDash val="solid"/>
          </a:ln>
        </p:spPr>
      </p:sp>
      <p:sp>
        <p:nvSpPr>
          <p:cNvPr id="47" name="Shape 45"/>
          <p:cNvSpPr/>
          <p:nvPr/>
        </p:nvSpPr>
        <p:spPr>
          <a:xfrm>
            <a:off x="1143000" y="3262122"/>
            <a:ext cx="45720" cy="219456"/>
          </a:xfrm>
          <a:prstGeom prst="roundRect">
            <a:avLst>
              <a:gd name="adj" fmla="val 60000"/>
            </a:avLst>
          </a:prstGeom>
          <a:solidFill>
            <a:srgbClr val="007A27"/>
          </a:solidFill>
          <a:ln w="12700">
            <a:solidFill>
              <a:srgbClr val="007A27"/>
            </a:solidFill>
            <a:prstDash val="solid"/>
          </a:ln>
        </p:spPr>
      </p:sp>
      <p:sp>
        <p:nvSpPr>
          <p:cNvPr id="48" name="Text 46"/>
          <p:cNvSpPr/>
          <p:nvPr/>
        </p:nvSpPr>
        <p:spPr>
          <a:xfrm>
            <a:off x="1243584" y="322554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Energy, water and waste targets</a:t>
            </a:r>
            <a:endParaRPr lang="en-US" sz="950" dirty="0"/>
          </a:p>
        </p:txBody>
      </p:sp>
      <p:sp>
        <p:nvSpPr>
          <p:cNvPr id="49" name="Shape 47"/>
          <p:cNvSpPr/>
          <p:nvPr/>
        </p:nvSpPr>
        <p:spPr>
          <a:xfrm>
            <a:off x="6498984" y="3321329"/>
            <a:ext cx="1014184" cy="101041"/>
          </a:xfrm>
          <a:prstGeom prst="roundRect">
            <a:avLst>
              <a:gd name="adj" fmla="val 36199"/>
            </a:avLst>
          </a:prstGeom>
          <a:solidFill>
            <a:srgbClr val="007A27"/>
          </a:solidFill>
          <a:ln w="12700">
            <a:solidFill>
              <a:srgbClr val="007A27"/>
            </a:solidFill>
            <a:prstDash val="solid"/>
          </a:ln>
        </p:spPr>
      </p:sp>
      <p:sp>
        <p:nvSpPr>
          <p:cNvPr id="50" name="Shape 48"/>
          <p:cNvSpPr/>
          <p:nvPr/>
        </p:nvSpPr>
        <p:spPr>
          <a:xfrm>
            <a:off x="1033272" y="3817620"/>
            <a:ext cx="10536631" cy="0"/>
          </a:xfrm>
          <a:prstGeom prst="line">
            <a:avLst/>
          </a:prstGeom>
          <a:noFill/>
          <a:ln w="4445">
            <a:solidFill>
              <a:srgbClr val="E2E6E2"/>
            </a:solidFill>
            <a:prstDash val="solid"/>
          </a:ln>
        </p:spPr>
      </p:sp>
      <p:sp>
        <p:nvSpPr>
          <p:cNvPr id="51" name="Shape 49"/>
          <p:cNvSpPr/>
          <p:nvPr/>
        </p:nvSpPr>
        <p:spPr>
          <a:xfrm>
            <a:off x="1143000" y="3559302"/>
            <a:ext cx="45720" cy="219456"/>
          </a:xfrm>
          <a:prstGeom prst="roundRect">
            <a:avLst>
              <a:gd name="adj" fmla="val 60000"/>
            </a:avLst>
          </a:prstGeom>
          <a:solidFill>
            <a:srgbClr val="007A27"/>
          </a:solidFill>
          <a:ln w="12700">
            <a:solidFill>
              <a:srgbClr val="007A27"/>
            </a:solidFill>
            <a:prstDash val="solid"/>
          </a:ln>
        </p:spPr>
      </p:sp>
      <p:sp>
        <p:nvSpPr>
          <p:cNvPr id="52" name="Text 50"/>
          <p:cNvSpPr/>
          <p:nvPr/>
        </p:nvSpPr>
        <p:spPr>
          <a:xfrm>
            <a:off x="1243584" y="352272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Advanced scenario and decarbonization planning</a:t>
            </a:r>
            <a:endParaRPr lang="en-US" sz="950" dirty="0"/>
          </a:p>
        </p:txBody>
      </p:sp>
      <p:sp>
        <p:nvSpPr>
          <p:cNvPr id="53" name="Shape 51"/>
          <p:cNvSpPr/>
          <p:nvPr/>
        </p:nvSpPr>
        <p:spPr>
          <a:xfrm>
            <a:off x="6498984" y="3618509"/>
            <a:ext cx="1014184" cy="101041"/>
          </a:xfrm>
          <a:prstGeom prst="roundRect">
            <a:avLst>
              <a:gd name="adj" fmla="val 36199"/>
            </a:avLst>
          </a:prstGeom>
          <a:solidFill>
            <a:srgbClr val="007A27"/>
          </a:solidFill>
          <a:ln w="12700">
            <a:solidFill>
              <a:srgbClr val="007A27"/>
            </a:solidFill>
            <a:prstDash val="solid"/>
          </a:ln>
        </p:spPr>
      </p:sp>
      <p:sp>
        <p:nvSpPr>
          <p:cNvPr id="54" name="Shape 52"/>
          <p:cNvSpPr/>
          <p:nvPr/>
        </p:nvSpPr>
        <p:spPr>
          <a:xfrm>
            <a:off x="1033272" y="4114800"/>
            <a:ext cx="10536631" cy="0"/>
          </a:xfrm>
          <a:prstGeom prst="line">
            <a:avLst/>
          </a:prstGeom>
          <a:noFill/>
          <a:ln w="4445">
            <a:solidFill>
              <a:srgbClr val="E2E6E2"/>
            </a:solidFill>
            <a:prstDash val="solid"/>
          </a:ln>
        </p:spPr>
      </p:sp>
      <p:sp>
        <p:nvSpPr>
          <p:cNvPr id="55" name="Shape 53"/>
          <p:cNvSpPr/>
          <p:nvPr/>
        </p:nvSpPr>
        <p:spPr>
          <a:xfrm>
            <a:off x="1143000" y="3856482"/>
            <a:ext cx="45720" cy="219456"/>
          </a:xfrm>
          <a:prstGeom prst="roundRect">
            <a:avLst>
              <a:gd name="adj" fmla="val 60000"/>
            </a:avLst>
          </a:prstGeom>
          <a:solidFill>
            <a:srgbClr val="007A27"/>
          </a:solidFill>
          <a:ln w="12700">
            <a:solidFill>
              <a:srgbClr val="007A27"/>
            </a:solidFill>
            <a:prstDash val="solid"/>
          </a:ln>
        </p:spPr>
      </p:sp>
      <p:sp>
        <p:nvSpPr>
          <p:cNvPr id="56" name="Text 54"/>
          <p:cNvSpPr/>
          <p:nvPr/>
        </p:nvSpPr>
        <p:spPr>
          <a:xfrm>
            <a:off x="1243584" y="381990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Complex and cascading targets</a:t>
            </a:r>
            <a:endParaRPr lang="en-US" sz="950" dirty="0"/>
          </a:p>
        </p:txBody>
      </p:sp>
      <p:sp>
        <p:nvSpPr>
          <p:cNvPr id="57" name="Shape 55"/>
          <p:cNvSpPr/>
          <p:nvPr/>
        </p:nvSpPr>
        <p:spPr>
          <a:xfrm>
            <a:off x="7513168" y="3915689"/>
            <a:ext cx="2028368" cy="101041"/>
          </a:xfrm>
          <a:prstGeom prst="roundRect">
            <a:avLst>
              <a:gd name="adj" fmla="val 36199"/>
            </a:avLst>
          </a:prstGeom>
          <a:solidFill>
            <a:srgbClr val="007A27"/>
          </a:solidFill>
          <a:ln w="12700">
            <a:solidFill>
              <a:srgbClr val="007A27"/>
            </a:solidFill>
            <a:prstDash val="solid"/>
          </a:ln>
        </p:spPr>
      </p:sp>
      <p:sp>
        <p:nvSpPr>
          <p:cNvPr id="58" name="Shape 56"/>
          <p:cNvSpPr/>
          <p:nvPr/>
        </p:nvSpPr>
        <p:spPr>
          <a:xfrm>
            <a:off x="1033272" y="4411980"/>
            <a:ext cx="10536631" cy="0"/>
          </a:xfrm>
          <a:prstGeom prst="line">
            <a:avLst/>
          </a:prstGeom>
          <a:noFill/>
          <a:ln w="4445">
            <a:solidFill>
              <a:srgbClr val="E2E6E2"/>
            </a:solidFill>
            <a:prstDash val="solid"/>
          </a:ln>
        </p:spPr>
      </p:sp>
      <p:sp>
        <p:nvSpPr>
          <p:cNvPr id="59" name="Shape 57"/>
          <p:cNvSpPr/>
          <p:nvPr/>
        </p:nvSpPr>
        <p:spPr>
          <a:xfrm>
            <a:off x="1143000" y="4153662"/>
            <a:ext cx="45720" cy="219456"/>
          </a:xfrm>
          <a:prstGeom prst="roundRect">
            <a:avLst>
              <a:gd name="adj" fmla="val 60000"/>
            </a:avLst>
          </a:prstGeom>
          <a:solidFill>
            <a:srgbClr val="007A27"/>
          </a:solidFill>
          <a:ln w="12700">
            <a:solidFill>
              <a:srgbClr val="007A27"/>
            </a:solidFill>
            <a:prstDash val="solid"/>
          </a:ln>
        </p:spPr>
      </p:sp>
      <p:sp>
        <p:nvSpPr>
          <p:cNvPr id="60" name="Text 58"/>
          <p:cNvSpPr/>
          <p:nvPr/>
        </p:nvSpPr>
        <p:spPr>
          <a:xfrm>
            <a:off x="1243584" y="411708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Multi hierarchy plans and allocation</a:t>
            </a:r>
            <a:endParaRPr lang="en-US" sz="950" dirty="0"/>
          </a:p>
        </p:txBody>
      </p:sp>
      <p:sp>
        <p:nvSpPr>
          <p:cNvPr id="61" name="Shape 59"/>
          <p:cNvSpPr/>
          <p:nvPr/>
        </p:nvSpPr>
        <p:spPr>
          <a:xfrm>
            <a:off x="9541535" y="4212869"/>
            <a:ext cx="2028368" cy="101041"/>
          </a:xfrm>
          <a:prstGeom prst="roundRect">
            <a:avLst>
              <a:gd name="adj" fmla="val 36199"/>
            </a:avLst>
          </a:prstGeom>
          <a:solidFill>
            <a:srgbClr val="007A27"/>
          </a:solidFill>
          <a:ln w="12700">
            <a:solidFill>
              <a:srgbClr val="007A27"/>
            </a:solidFill>
            <a:prstDash val="solid"/>
          </a:ln>
        </p:spPr>
      </p:sp>
      <p:sp>
        <p:nvSpPr>
          <p:cNvPr id="62" name="Shape 60"/>
          <p:cNvSpPr/>
          <p:nvPr/>
        </p:nvSpPr>
        <p:spPr>
          <a:xfrm>
            <a:off x="621792" y="4411980"/>
            <a:ext cx="411480" cy="891540"/>
          </a:xfrm>
          <a:prstGeom prst="rect">
            <a:avLst/>
          </a:prstGeom>
          <a:solidFill>
            <a:srgbClr val="FFB04C"/>
          </a:solidFill>
          <a:ln w="7620">
            <a:solidFill>
              <a:srgbClr val="FFFFFF"/>
            </a:solidFill>
            <a:prstDash val="solid"/>
          </a:ln>
        </p:spPr>
      </p:sp>
      <p:sp>
        <p:nvSpPr>
          <p:cNvPr id="63" name="Text 61"/>
          <p:cNvSpPr/>
          <p:nvPr/>
        </p:nvSpPr>
        <p:spPr>
          <a:xfrm>
            <a:off x="685800" y="4457700"/>
            <a:ext cx="283464" cy="80010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GUIDANCE</a:t>
            </a:r>
            <a:endParaRPr lang="en-US" sz="750" dirty="0"/>
          </a:p>
        </p:txBody>
      </p:sp>
      <p:sp>
        <p:nvSpPr>
          <p:cNvPr id="64" name="Shape 62"/>
          <p:cNvSpPr/>
          <p:nvPr/>
        </p:nvSpPr>
        <p:spPr>
          <a:xfrm>
            <a:off x="1033272" y="4709160"/>
            <a:ext cx="10536631" cy="0"/>
          </a:xfrm>
          <a:prstGeom prst="line">
            <a:avLst/>
          </a:prstGeom>
          <a:noFill/>
          <a:ln w="4445">
            <a:solidFill>
              <a:srgbClr val="E2E6E2"/>
            </a:solidFill>
            <a:prstDash val="solid"/>
          </a:ln>
        </p:spPr>
      </p:sp>
      <p:sp>
        <p:nvSpPr>
          <p:cNvPr id="65" name="Shape 63"/>
          <p:cNvSpPr/>
          <p:nvPr/>
        </p:nvSpPr>
        <p:spPr>
          <a:xfrm>
            <a:off x="1143000" y="4450842"/>
            <a:ext cx="45720" cy="219456"/>
          </a:xfrm>
          <a:prstGeom prst="roundRect">
            <a:avLst>
              <a:gd name="adj" fmla="val 60000"/>
            </a:avLst>
          </a:prstGeom>
          <a:solidFill>
            <a:srgbClr val="FFB04C"/>
          </a:solidFill>
          <a:ln w="12700">
            <a:solidFill>
              <a:srgbClr val="FFB04C"/>
            </a:solidFill>
            <a:prstDash val="solid"/>
          </a:ln>
        </p:spPr>
      </p:sp>
      <p:sp>
        <p:nvSpPr>
          <p:cNvPr id="66" name="Text 64"/>
          <p:cNvSpPr/>
          <p:nvPr/>
        </p:nvSpPr>
        <p:spPr>
          <a:xfrm>
            <a:off x="1243584" y="441426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ECM and initiative recommendations</a:t>
            </a:r>
            <a:endParaRPr lang="en-US" sz="950" dirty="0"/>
          </a:p>
        </p:txBody>
      </p:sp>
      <p:sp>
        <p:nvSpPr>
          <p:cNvPr id="67" name="Shape 65"/>
          <p:cNvSpPr/>
          <p:nvPr/>
        </p:nvSpPr>
        <p:spPr>
          <a:xfrm>
            <a:off x="6498984" y="4510049"/>
            <a:ext cx="1014184" cy="101041"/>
          </a:xfrm>
          <a:prstGeom prst="roundRect">
            <a:avLst>
              <a:gd name="adj" fmla="val 36199"/>
            </a:avLst>
          </a:prstGeom>
          <a:solidFill>
            <a:srgbClr val="FFB04C"/>
          </a:solidFill>
          <a:ln w="12700">
            <a:solidFill>
              <a:srgbClr val="FFB04C"/>
            </a:solidFill>
            <a:prstDash val="solid"/>
          </a:ln>
        </p:spPr>
      </p:sp>
      <p:sp>
        <p:nvSpPr>
          <p:cNvPr id="68" name="Shape 66"/>
          <p:cNvSpPr/>
          <p:nvPr/>
        </p:nvSpPr>
        <p:spPr>
          <a:xfrm>
            <a:off x="1033272" y="5006340"/>
            <a:ext cx="10536631" cy="0"/>
          </a:xfrm>
          <a:prstGeom prst="line">
            <a:avLst/>
          </a:prstGeom>
          <a:noFill/>
          <a:ln w="4445">
            <a:solidFill>
              <a:srgbClr val="E2E6E2"/>
            </a:solidFill>
            <a:prstDash val="solid"/>
          </a:ln>
        </p:spPr>
      </p:sp>
      <p:sp>
        <p:nvSpPr>
          <p:cNvPr id="69" name="Shape 67"/>
          <p:cNvSpPr/>
          <p:nvPr/>
        </p:nvSpPr>
        <p:spPr>
          <a:xfrm>
            <a:off x="1143000" y="4748022"/>
            <a:ext cx="45720" cy="219456"/>
          </a:xfrm>
          <a:prstGeom prst="roundRect">
            <a:avLst>
              <a:gd name="adj" fmla="val 60000"/>
            </a:avLst>
          </a:prstGeom>
          <a:solidFill>
            <a:srgbClr val="FFB04C"/>
          </a:solidFill>
          <a:ln w="12700">
            <a:solidFill>
              <a:srgbClr val="FFB04C"/>
            </a:solidFill>
            <a:prstDash val="solid"/>
          </a:ln>
        </p:spPr>
      </p:sp>
      <p:sp>
        <p:nvSpPr>
          <p:cNvPr id="70" name="Text 68"/>
          <p:cNvSpPr/>
          <p:nvPr/>
        </p:nvSpPr>
        <p:spPr>
          <a:xfrm>
            <a:off x="1243584" y="471144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Advanced ECM library</a:t>
            </a:r>
            <a:endParaRPr lang="en-US" sz="950" dirty="0"/>
          </a:p>
        </p:txBody>
      </p:sp>
      <p:sp>
        <p:nvSpPr>
          <p:cNvPr id="71" name="Shape 69"/>
          <p:cNvSpPr/>
          <p:nvPr/>
        </p:nvSpPr>
        <p:spPr>
          <a:xfrm>
            <a:off x="7513168" y="4807229"/>
            <a:ext cx="2028368" cy="101041"/>
          </a:xfrm>
          <a:prstGeom prst="roundRect">
            <a:avLst>
              <a:gd name="adj" fmla="val 36199"/>
            </a:avLst>
          </a:prstGeom>
          <a:solidFill>
            <a:srgbClr val="FFB04C"/>
          </a:solidFill>
          <a:ln w="12700">
            <a:solidFill>
              <a:srgbClr val="FFB04C"/>
            </a:solidFill>
            <a:prstDash val="solid"/>
          </a:ln>
        </p:spPr>
      </p:sp>
      <p:sp>
        <p:nvSpPr>
          <p:cNvPr id="72" name="Shape 70"/>
          <p:cNvSpPr/>
          <p:nvPr/>
        </p:nvSpPr>
        <p:spPr>
          <a:xfrm>
            <a:off x="1033272" y="5303520"/>
            <a:ext cx="10536631" cy="0"/>
          </a:xfrm>
          <a:prstGeom prst="line">
            <a:avLst/>
          </a:prstGeom>
          <a:noFill/>
          <a:ln w="4445">
            <a:solidFill>
              <a:srgbClr val="E2E6E2"/>
            </a:solidFill>
            <a:prstDash val="solid"/>
          </a:ln>
        </p:spPr>
      </p:sp>
      <p:sp>
        <p:nvSpPr>
          <p:cNvPr id="73" name="Shape 71"/>
          <p:cNvSpPr/>
          <p:nvPr/>
        </p:nvSpPr>
        <p:spPr>
          <a:xfrm>
            <a:off x="1143000" y="5045202"/>
            <a:ext cx="45720" cy="219456"/>
          </a:xfrm>
          <a:prstGeom prst="roundRect">
            <a:avLst>
              <a:gd name="adj" fmla="val 60000"/>
            </a:avLst>
          </a:prstGeom>
          <a:solidFill>
            <a:srgbClr val="FFB04C"/>
          </a:solidFill>
          <a:ln w="12700">
            <a:solidFill>
              <a:srgbClr val="FFB04C"/>
            </a:solidFill>
            <a:prstDash val="solid"/>
          </a:ln>
        </p:spPr>
      </p:sp>
      <p:sp>
        <p:nvSpPr>
          <p:cNvPr id="74" name="Text 72"/>
          <p:cNvSpPr/>
          <p:nvPr/>
        </p:nvSpPr>
        <p:spPr>
          <a:xfrm>
            <a:off x="1243584" y="500862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Market intelligence and net zero suggestions</a:t>
            </a:r>
            <a:endParaRPr lang="en-US" sz="950" dirty="0"/>
          </a:p>
        </p:txBody>
      </p:sp>
      <p:sp>
        <p:nvSpPr>
          <p:cNvPr id="75" name="Shape 73"/>
          <p:cNvSpPr/>
          <p:nvPr/>
        </p:nvSpPr>
        <p:spPr>
          <a:xfrm>
            <a:off x="9541535" y="5104409"/>
            <a:ext cx="2028368" cy="101041"/>
          </a:xfrm>
          <a:prstGeom prst="roundRect">
            <a:avLst>
              <a:gd name="adj" fmla="val 36199"/>
            </a:avLst>
          </a:prstGeom>
          <a:solidFill>
            <a:srgbClr val="FFB04C"/>
          </a:solidFill>
          <a:ln w="12700">
            <a:solidFill>
              <a:srgbClr val="FFB04C"/>
            </a:solidFill>
            <a:prstDash val="solid"/>
          </a:ln>
        </p:spPr>
      </p:sp>
      <p:sp>
        <p:nvSpPr>
          <p:cNvPr id="76" name="Shape 74"/>
          <p:cNvSpPr/>
          <p:nvPr/>
        </p:nvSpPr>
        <p:spPr>
          <a:xfrm>
            <a:off x="621792" y="5303520"/>
            <a:ext cx="411480" cy="594360"/>
          </a:xfrm>
          <a:prstGeom prst="rect">
            <a:avLst/>
          </a:prstGeom>
          <a:solidFill>
            <a:srgbClr val="275B7F"/>
          </a:solidFill>
          <a:ln w="7620">
            <a:solidFill>
              <a:srgbClr val="FFFFFF"/>
            </a:solidFill>
            <a:prstDash val="solid"/>
          </a:ln>
        </p:spPr>
      </p:sp>
      <p:sp>
        <p:nvSpPr>
          <p:cNvPr id="77" name="Text 75"/>
          <p:cNvSpPr/>
          <p:nvPr/>
        </p:nvSpPr>
        <p:spPr>
          <a:xfrm>
            <a:off x="685800" y="5349240"/>
            <a:ext cx="283464" cy="502920"/>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EXECUTION</a:t>
            </a:r>
            <a:endParaRPr lang="en-US" sz="750" dirty="0"/>
          </a:p>
        </p:txBody>
      </p:sp>
      <p:sp>
        <p:nvSpPr>
          <p:cNvPr id="78" name="Shape 76"/>
          <p:cNvSpPr/>
          <p:nvPr/>
        </p:nvSpPr>
        <p:spPr>
          <a:xfrm>
            <a:off x="1033272" y="5600700"/>
            <a:ext cx="10536631" cy="0"/>
          </a:xfrm>
          <a:prstGeom prst="line">
            <a:avLst/>
          </a:prstGeom>
          <a:noFill/>
          <a:ln w="4445">
            <a:solidFill>
              <a:srgbClr val="E2E6E2"/>
            </a:solidFill>
            <a:prstDash val="solid"/>
          </a:ln>
        </p:spPr>
      </p:sp>
      <p:sp>
        <p:nvSpPr>
          <p:cNvPr id="79" name="Shape 77"/>
          <p:cNvSpPr/>
          <p:nvPr/>
        </p:nvSpPr>
        <p:spPr>
          <a:xfrm>
            <a:off x="1143000" y="5342382"/>
            <a:ext cx="45720" cy="219456"/>
          </a:xfrm>
          <a:prstGeom prst="roundRect">
            <a:avLst>
              <a:gd name="adj" fmla="val 60000"/>
            </a:avLst>
          </a:prstGeom>
          <a:solidFill>
            <a:srgbClr val="275B7F"/>
          </a:solidFill>
          <a:ln w="12700">
            <a:solidFill>
              <a:srgbClr val="275B7F"/>
            </a:solidFill>
            <a:prstDash val="solid"/>
          </a:ln>
        </p:spPr>
      </p:sp>
      <p:sp>
        <p:nvSpPr>
          <p:cNvPr id="80" name="Text 78"/>
          <p:cNvSpPr/>
          <p:nvPr/>
        </p:nvSpPr>
        <p:spPr>
          <a:xfrm>
            <a:off x="1243584" y="530580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Implementation status and on track views</a:t>
            </a:r>
            <a:endParaRPr lang="en-US" sz="950" dirty="0"/>
          </a:p>
        </p:txBody>
      </p:sp>
      <p:sp>
        <p:nvSpPr>
          <p:cNvPr id="81" name="Shape 79"/>
          <p:cNvSpPr/>
          <p:nvPr/>
        </p:nvSpPr>
        <p:spPr>
          <a:xfrm>
            <a:off x="7513168" y="5401589"/>
            <a:ext cx="2028368" cy="101041"/>
          </a:xfrm>
          <a:prstGeom prst="roundRect">
            <a:avLst>
              <a:gd name="adj" fmla="val 36199"/>
            </a:avLst>
          </a:prstGeom>
          <a:solidFill>
            <a:srgbClr val="275B7F"/>
          </a:solidFill>
          <a:ln w="12700">
            <a:solidFill>
              <a:srgbClr val="275B7F"/>
            </a:solidFill>
            <a:prstDash val="solid"/>
          </a:ln>
        </p:spPr>
      </p:sp>
      <p:sp>
        <p:nvSpPr>
          <p:cNvPr id="82" name="Shape 80"/>
          <p:cNvSpPr/>
          <p:nvPr/>
        </p:nvSpPr>
        <p:spPr>
          <a:xfrm>
            <a:off x="1033272" y="5897880"/>
            <a:ext cx="10536631" cy="0"/>
          </a:xfrm>
          <a:prstGeom prst="line">
            <a:avLst/>
          </a:prstGeom>
          <a:noFill/>
          <a:ln w="4445">
            <a:solidFill>
              <a:srgbClr val="E2E6E2"/>
            </a:solidFill>
            <a:prstDash val="solid"/>
          </a:ln>
        </p:spPr>
      </p:sp>
      <p:sp>
        <p:nvSpPr>
          <p:cNvPr id="83" name="Shape 81"/>
          <p:cNvSpPr/>
          <p:nvPr/>
        </p:nvSpPr>
        <p:spPr>
          <a:xfrm>
            <a:off x="1143000" y="5639562"/>
            <a:ext cx="45720" cy="219456"/>
          </a:xfrm>
          <a:prstGeom prst="roundRect">
            <a:avLst>
              <a:gd name="adj" fmla="val 60000"/>
            </a:avLst>
          </a:prstGeom>
          <a:solidFill>
            <a:srgbClr val="275B7F"/>
          </a:solidFill>
          <a:ln w="12700">
            <a:solidFill>
              <a:srgbClr val="275B7F"/>
            </a:solidFill>
            <a:prstDash val="solid"/>
          </a:ln>
        </p:spPr>
      </p:sp>
      <p:sp>
        <p:nvSpPr>
          <p:cNvPr id="84" name="Text 82"/>
          <p:cNvSpPr/>
          <p:nvPr/>
        </p:nvSpPr>
        <p:spPr>
          <a:xfrm>
            <a:off x="1243584" y="560298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Strategy landing page and notifications</a:t>
            </a:r>
            <a:endParaRPr lang="en-US" sz="950" dirty="0"/>
          </a:p>
        </p:txBody>
      </p:sp>
      <p:sp>
        <p:nvSpPr>
          <p:cNvPr id="85" name="Shape 83"/>
          <p:cNvSpPr/>
          <p:nvPr/>
        </p:nvSpPr>
        <p:spPr>
          <a:xfrm>
            <a:off x="7513168" y="5698769"/>
            <a:ext cx="2028368" cy="101041"/>
          </a:xfrm>
          <a:prstGeom prst="roundRect">
            <a:avLst>
              <a:gd name="adj" fmla="val 36199"/>
            </a:avLst>
          </a:prstGeom>
          <a:solidFill>
            <a:srgbClr val="275B7F"/>
          </a:solidFill>
          <a:ln w="12700">
            <a:solidFill>
              <a:srgbClr val="275B7F"/>
            </a:solidFill>
            <a:prstDash val="solid"/>
          </a:ln>
        </p:spPr>
      </p:sp>
      <p:sp>
        <p:nvSpPr>
          <p:cNvPr id="86" name="Shape 84"/>
          <p:cNvSpPr/>
          <p:nvPr/>
        </p:nvSpPr>
        <p:spPr>
          <a:xfrm>
            <a:off x="621792" y="6437376"/>
            <a:ext cx="10948111" cy="0"/>
          </a:xfrm>
          <a:prstGeom prst="line">
            <a:avLst/>
          </a:prstGeom>
          <a:noFill/>
          <a:ln w="9525">
            <a:solidFill>
              <a:srgbClr val="E2E6E2"/>
            </a:solidFill>
            <a:prstDash val="solid"/>
          </a:ln>
        </p:spPr>
      </p:sp>
      <p:sp>
        <p:nvSpPr>
          <p:cNvPr id="87" name="Text 8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88" name="Text 8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strategy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Targets and initiatives, then execution, then guided recommendations.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Planning foundation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Targets, scenarios, initiatives.</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Reduction goals by entity, scope and horizon, with pathway comparison</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Initiative portfolios showing contribution to each target</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Relevancy and business as usual views</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Standard initiative types, impact sequencing</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Beyond GHG: energy, water and waste targets</a:t>
            </a:r>
            <a:endParaRPr lang="en-US" sz="105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Actions execution</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Programs, projects, purchases.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Site level actions with absolute measures under each initiative</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Configurable action types published without engineering releases</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Monthly plan versus actuals with underperformance alerts</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Audit ready evidence: vendor, contract, EAC registry, documents</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Centralised action library deployed across many sites</a:t>
            </a:r>
            <a:endParaRPr lang="en-US" sz="105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Recommendations</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Sera guided next steps.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Site aware energy efficiency measures from the governed ECM catalogue</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Initiative type recommendations from residual emissions</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Typical savings, cost ranges and feasibility in site context</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Later: qualitative market intelligence and net zero scenarios</a:t>
            </a:r>
            <a:endParaRPr lang="en-US" sz="105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Scale and governance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Enterprise structures.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Complex and cascading target structures</a:t>
            </a:r>
            <a:endParaRPr lang="en-US" sz="1050" dirty="0"/>
          </a:p>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Multi hierarchy plans and cascading allocation</a:t>
            </a:r>
            <a:endParaRPr lang="en-US" sz="1050" dirty="0"/>
          </a:p>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Implementation statuses and on track reporting</a:t>
            </a:r>
            <a:endParaRPr lang="en-US" sz="1050" dirty="0"/>
          </a:p>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Strategy landing page and notifications</a:t>
            </a:r>
            <a:endParaRPr lang="en-US" sz="105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planning layer serves every product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Adaptation actions share the same action model as decarbonisation actions.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CARBON PERFORMANCE</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Decarbonisation planning</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Plan against the inventory.</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Targets set on the governed baseline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scenario analysis and decarbonization planning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Initiatives and actions management inside CP</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ECM library with energy and carbon cobenefits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CLIMATE RISK</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Adaptation planning</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Same model, resilience measures.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planning primitives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Resilience impact types in the shared taxonomy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actions with monthly actuals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plan modelling linked to targets</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SUPPLY CHAIN</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Supplier action</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Extend the plan outward.</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Guided supplier decarbonisation actions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Project recommendations from the shared action library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Programme analytics on supplier progress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reductions credited to corporate targets</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REPORTING</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Evidence and disclosure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Plans become statements.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Targets and progress disclosed against frameworks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plan narrative with lineage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ready evidence on every action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Indicator performance analytics on plan delivery</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Data quality, ontology and trust, sequenced</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capabilities every product depends on, delivered once.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2270684"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File and ingestion validation, L0 and L1</a:t>
            </a:r>
            <a:endParaRPr lang="en-US" sz="950" dirty="0"/>
          </a:p>
        </p:txBody>
      </p:sp>
      <p:sp>
        <p:nvSpPr>
          <p:cNvPr id="16" name="Shape 14"/>
          <p:cNvSpPr/>
          <p:nvPr/>
        </p:nvSpPr>
        <p:spPr>
          <a:xfrm>
            <a:off x="758952" y="3739896"/>
            <a:ext cx="2270684"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Hierarchies and bulk import at scale</a:t>
            </a:r>
            <a:endParaRPr lang="en-US" sz="950" dirty="0"/>
          </a:p>
        </p:txBody>
      </p:sp>
      <p:sp>
        <p:nvSpPr>
          <p:cNvPr id="18" name="Shape 16"/>
          <p:cNvSpPr/>
          <p:nvPr/>
        </p:nvSpPr>
        <p:spPr>
          <a:xfrm>
            <a:off x="758952" y="4526280"/>
            <a:ext cx="2270684"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Shared navigation, layouts and product switcher</a:t>
            </a:r>
            <a:endParaRPr lang="en-US" sz="900" dirty="0"/>
          </a:p>
        </p:txBody>
      </p:sp>
      <p:sp>
        <p:nvSpPr>
          <p:cNvPr id="20" name="Shape 18"/>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1" name="Shape 19"/>
          <p:cNvSpPr/>
          <p:nvPr/>
        </p:nvSpPr>
        <p:spPr>
          <a:xfrm>
            <a:off x="3422828" y="2084832"/>
            <a:ext cx="2545004" cy="713232"/>
          </a:xfrm>
          <a:prstGeom prst="rect">
            <a:avLst/>
          </a:prstGeom>
          <a:solidFill>
            <a:srgbClr val="EAF8ED"/>
          </a:solidFill>
          <a:ln w="12700">
            <a:solidFill>
              <a:srgbClr val="EAF8ED"/>
            </a:solidFill>
            <a:prstDash val="solid"/>
          </a:ln>
        </p:spPr>
      </p:sp>
      <p:sp>
        <p:nvSpPr>
          <p:cNvPr id="22" name="Shape 20"/>
          <p:cNvSpPr/>
          <p:nvPr/>
        </p:nvSpPr>
        <p:spPr>
          <a:xfrm>
            <a:off x="3422828" y="2084832"/>
            <a:ext cx="54864" cy="4178808"/>
          </a:xfrm>
          <a:prstGeom prst="rect">
            <a:avLst/>
          </a:prstGeom>
          <a:solidFill>
            <a:srgbClr val="007A27"/>
          </a:solidFill>
          <a:ln w="12700">
            <a:solidFill>
              <a:srgbClr val="007A27"/>
            </a:solidFill>
            <a:prstDash val="solid"/>
          </a:ln>
        </p:spPr>
      </p:sp>
      <p:sp>
        <p:nvSpPr>
          <p:cNvPr id="23" name="Text 21"/>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4" name="Text 22"/>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5" name="Shape 23"/>
          <p:cNvSpPr/>
          <p:nvPr/>
        </p:nvSpPr>
        <p:spPr>
          <a:xfrm>
            <a:off x="3559988" y="2953512"/>
            <a:ext cx="2270684" cy="713232"/>
          </a:xfrm>
          <a:prstGeom prst="roundRect">
            <a:avLst>
              <a:gd name="adj" fmla="val 3846"/>
            </a:avLst>
          </a:prstGeom>
          <a:solidFill>
            <a:srgbClr val="F7F8F7"/>
          </a:solidFill>
          <a:ln w="5080">
            <a:solidFill>
              <a:srgbClr val="F7F8F7"/>
            </a:solidFill>
            <a:prstDash val="solid"/>
          </a:ln>
        </p:spPr>
      </p:sp>
      <p:sp>
        <p:nvSpPr>
          <p:cNvPr id="26" name="Text 24"/>
          <p:cNvSpPr/>
          <p:nvPr/>
        </p:nvSpPr>
        <p:spPr>
          <a:xfrm>
            <a:off x="3623996"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Anomaly and consistency checks on aggregates, L2</a:t>
            </a:r>
            <a:endParaRPr lang="en-US" sz="900" dirty="0"/>
          </a:p>
        </p:txBody>
      </p:sp>
      <p:sp>
        <p:nvSpPr>
          <p:cNvPr id="27" name="Shape 25"/>
          <p:cNvSpPr/>
          <p:nvPr/>
        </p:nvSpPr>
        <p:spPr>
          <a:xfrm>
            <a:off x="3559988" y="3739896"/>
            <a:ext cx="2270684"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3623996"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Configurable checks, thresholds and approvals</a:t>
            </a:r>
            <a:endParaRPr lang="en-US" sz="950" dirty="0"/>
          </a:p>
        </p:txBody>
      </p:sp>
      <p:sp>
        <p:nvSpPr>
          <p:cNvPr id="29" name="Shape 27"/>
          <p:cNvSpPr/>
          <p:nvPr/>
        </p:nvSpPr>
        <p:spPr>
          <a:xfrm>
            <a:off x="3559988" y="4526280"/>
            <a:ext cx="2270684"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3623996"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Audit trail and data lineage on key values</a:t>
            </a:r>
            <a:endParaRPr lang="en-US" sz="950" dirty="0"/>
          </a:p>
        </p:txBody>
      </p:sp>
      <p:sp>
        <p:nvSpPr>
          <p:cNvPr id="31" name="Shape 29"/>
          <p:cNvSpPr/>
          <p:nvPr/>
        </p:nvSpPr>
        <p:spPr>
          <a:xfrm>
            <a:off x="3559988" y="5312664"/>
            <a:ext cx="2270684"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3623996"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Allocations foundation</a:t>
            </a:r>
            <a:endParaRPr lang="en-US" sz="1000" dirty="0"/>
          </a:p>
        </p:txBody>
      </p:sp>
      <p:sp>
        <p:nvSpPr>
          <p:cNvPr id="33" name="Shape 31"/>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4" name="Shape 32"/>
          <p:cNvSpPr/>
          <p:nvPr/>
        </p:nvSpPr>
        <p:spPr>
          <a:xfrm>
            <a:off x="6223864" y="2084832"/>
            <a:ext cx="2545004" cy="713232"/>
          </a:xfrm>
          <a:prstGeom prst="rect">
            <a:avLst/>
          </a:prstGeom>
          <a:solidFill>
            <a:srgbClr val="FFF4E3"/>
          </a:solidFill>
          <a:ln w="12700">
            <a:solidFill>
              <a:srgbClr val="FFF4E3"/>
            </a:solidFill>
            <a:prstDash val="solid"/>
          </a:ln>
        </p:spPr>
      </p:sp>
      <p:sp>
        <p:nvSpPr>
          <p:cNvPr id="35" name="Shape 33"/>
          <p:cNvSpPr/>
          <p:nvPr/>
        </p:nvSpPr>
        <p:spPr>
          <a:xfrm>
            <a:off x="6223864" y="2084832"/>
            <a:ext cx="54864" cy="4178808"/>
          </a:xfrm>
          <a:prstGeom prst="rect">
            <a:avLst/>
          </a:prstGeom>
          <a:solidFill>
            <a:srgbClr val="FFB04C"/>
          </a:solidFill>
          <a:ln w="12700">
            <a:solidFill>
              <a:srgbClr val="FFB04C"/>
            </a:solidFill>
            <a:prstDash val="solid"/>
          </a:ln>
        </p:spPr>
      </p:sp>
      <p:sp>
        <p:nvSpPr>
          <p:cNvPr id="36" name="Text 34"/>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37" name="Text 35"/>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38" name="Shape 36"/>
          <p:cNvSpPr/>
          <p:nvPr/>
        </p:nvSpPr>
        <p:spPr>
          <a:xfrm>
            <a:off x="6361024" y="2953512"/>
            <a:ext cx="2270684" cy="713232"/>
          </a:xfrm>
          <a:prstGeom prst="roundRect">
            <a:avLst>
              <a:gd name="adj" fmla="val 3846"/>
            </a:avLst>
          </a:prstGeom>
          <a:solidFill>
            <a:srgbClr val="F7F8F7"/>
          </a:solidFill>
          <a:ln w="5080">
            <a:solidFill>
              <a:srgbClr val="F7F8F7"/>
            </a:solidFill>
            <a:prstDash val="solid"/>
          </a:ln>
        </p:spPr>
      </p:sp>
      <p:sp>
        <p:nvSpPr>
          <p:cNvPr id="39" name="Text 37"/>
          <p:cNvSpPr/>
          <p:nvPr/>
        </p:nvSpPr>
        <p:spPr>
          <a:xfrm>
            <a:off x="6425032"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Inventory and statement readiness checks, L3</a:t>
            </a:r>
            <a:endParaRPr lang="en-US" sz="950" dirty="0"/>
          </a:p>
        </p:txBody>
      </p:sp>
      <p:sp>
        <p:nvSpPr>
          <p:cNvPr id="40" name="Shape 38"/>
          <p:cNvSpPr/>
          <p:nvPr/>
        </p:nvSpPr>
        <p:spPr>
          <a:xfrm>
            <a:off x="6361024" y="3739896"/>
            <a:ext cx="2270684" cy="713232"/>
          </a:xfrm>
          <a:prstGeom prst="roundRect">
            <a:avLst>
              <a:gd name="adj" fmla="val 3846"/>
            </a:avLst>
          </a:prstGeom>
          <a:solidFill>
            <a:srgbClr val="F7F8F7"/>
          </a:solidFill>
          <a:ln w="5080">
            <a:solidFill>
              <a:srgbClr val="F7F8F7"/>
            </a:solidFill>
            <a:prstDash val="solid"/>
          </a:ln>
        </p:spPr>
      </p:sp>
      <p:sp>
        <p:nvSpPr>
          <p:cNvPr id="41" name="Text 39"/>
          <p:cNvSpPr/>
          <p:nvPr/>
        </p:nvSpPr>
        <p:spPr>
          <a:xfrm>
            <a:off x="6425032"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Control plane for tenant ontology governance</a:t>
            </a:r>
            <a:endParaRPr lang="en-US" sz="950" dirty="0"/>
          </a:p>
        </p:txBody>
      </p:sp>
      <p:sp>
        <p:nvSpPr>
          <p:cNvPr id="42" name="Shape 40"/>
          <p:cNvSpPr/>
          <p:nvPr/>
        </p:nvSpPr>
        <p:spPr>
          <a:xfrm>
            <a:off x="6361024" y="4526280"/>
            <a:ext cx="2270684" cy="713232"/>
          </a:xfrm>
          <a:prstGeom prst="roundRect">
            <a:avLst>
              <a:gd name="adj" fmla="val 3846"/>
            </a:avLst>
          </a:prstGeom>
          <a:solidFill>
            <a:srgbClr val="F7F8F7"/>
          </a:solidFill>
          <a:ln w="5080">
            <a:solidFill>
              <a:srgbClr val="F7F8F7"/>
            </a:solidFill>
            <a:prstDash val="solid"/>
          </a:ln>
        </p:spPr>
      </p:sp>
      <p:sp>
        <p:nvSpPr>
          <p:cNvPr id="43" name="Text 41"/>
          <p:cNvSpPr/>
          <p:nvPr/>
        </p:nvSpPr>
        <p:spPr>
          <a:xfrm>
            <a:off x="6425032"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Calculation governance and versioning</a:t>
            </a:r>
            <a:endParaRPr lang="en-US" sz="950" dirty="0"/>
          </a:p>
        </p:txBody>
      </p:sp>
      <p:sp>
        <p:nvSpPr>
          <p:cNvPr id="44" name="Shape 42"/>
          <p:cNvSpPr/>
          <p:nvPr/>
        </p:nvSpPr>
        <p:spPr>
          <a:xfrm>
            <a:off x="6361024" y="5312664"/>
            <a:ext cx="2270684" cy="713232"/>
          </a:xfrm>
          <a:prstGeom prst="roundRect">
            <a:avLst>
              <a:gd name="adj" fmla="val 3846"/>
            </a:avLst>
          </a:prstGeom>
          <a:solidFill>
            <a:srgbClr val="F7F8F7"/>
          </a:solidFill>
          <a:ln w="5080">
            <a:solidFill>
              <a:srgbClr val="F7F8F7"/>
            </a:solidFill>
            <a:prstDash val="solid"/>
          </a:ln>
        </p:spPr>
      </p:sp>
      <p:sp>
        <p:nvSpPr>
          <p:cNvPr id="45" name="Text 43"/>
          <p:cNvSpPr/>
          <p:nvPr/>
        </p:nvSpPr>
        <p:spPr>
          <a:xfrm>
            <a:off x="6425032"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Reusable analytics and query infrastructure</a:t>
            </a:r>
            <a:endParaRPr lang="en-US" sz="950" dirty="0"/>
          </a:p>
        </p:txBody>
      </p:sp>
      <p:sp>
        <p:nvSpPr>
          <p:cNvPr id="46" name="Shape 44"/>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47" name="Shape 45"/>
          <p:cNvSpPr/>
          <p:nvPr/>
        </p:nvSpPr>
        <p:spPr>
          <a:xfrm>
            <a:off x="9024899" y="2084832"/>
            <a:ext cx="2545004" cy="713232"/>
          </a:xfrm>
          <a:prstGeom prst="rect">
            <a:avLst/>
          </a:prstGeom>
          <a:solidFill>
            <a:srgbClr val="EAF1F5"/>
          </a:solidFill>
          <a:ln w="12700">
            <a:solidFill>
              <a:srgbClr val="EAF1F5"/>
            </a:solidFill>
            <a:prstDash val="solid"/>
          </a:ln>
        </p:spPr>
      </p:sp>
      <p:sp>
        <p:nvSpPr>
          <p:cNvPr id="48" name="Shape 46"/>
          <p:cNvSpPr/>
          <p:nvPr/>
        </p:nvSpPr>
        <p:spPr>
          <a:xfrm>
            <a:off x="9024899" y="2084832"/>
            <a:ext cx="54864" cy="4178808"/>
          </a:xfrm>
          <a:prstGeom prst="rect">
            <a:avLst/>
          </a:prstGeom>
          <a:solidFill>
            <a:srgbClr val="275B7F"/>
          </a:solidFill>
          <a:ln w="12700">
            <a:solidFill>
              <a:srgbClr val="275B7F"/>
            </a:solidFill>
            <a:prstDash val="solid"/>
          </a:ln>
        </p:spPr>
      </p:sp>
      <p:sp>
        <p:nvSpPr>
          <p:cNvPr id="49" name="Text 47"/>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50" name="Text 48"/>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51" name="Shape 49"/>
          <p:cNvSpPr/>
          <p:nvPr/>
        </p:nvSpPr>
        <p:spPr>
          <a:xfrm>
            <a:off x="9162059" y="2953512"/>
            <a:ext cx="2270684" cy="713232"/>
          </a:xfrm>
          <a:prstGeom prst="roundRect">
            <a:avLst>
              <a:gd name="adj" fmla="val 3846"/>
            </a:avLst>
          </a:prstGeom>
          <a:solidFill>
            <a:srgbClr val="F7F8F7"/>
          </a:solidFill>
          <a:ln w="5080">
            <a:solidFill>
              <a:srgbClr val="F7F8F7"/>
            </a:solidFill>
            <a:prstDash val="solid"/>
          </a:ln>
        </p:spPr>
      </p:sp>
      <p:sp>
        <p:nvSpPr>
          <p:cNvPr id="52" name="Text 50"/>
          <p:cNvSpPr/>
          <p:nvPr/>
        </p:nvSpPr>
        <p:spPr>
          <a:xfrm>
            <a:off x="9226067"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Data quality scoring and confidence metadata, L4</a:t>
            </a:r>
            <a:endParaRPr lang="en-US" sz="900" dirty="0"/>
          </a:p>
        </p:txBody>
      </p:sp>
      <p:sp>
        <p:nvSpPr>
          <p:cNvPr id="53" name="Shape 51"/>
          <p:cNvSpPr/>
          <p:nvPr/>
        </p:nvSpPr>
        <p:spPr>
          <a:xfrm>
            <a:off x="9162059" y="3739896"/>
            <a:ext cx="2270684" cy="713232"/>
          </a:xfrm>
          <a:prstGeom prst="roundRect">
            <a:avLst>
              <a:gd name="adj" fmla="val 3846"/>
            </a:avLst>
          </a:prstGeom>
          <a:solidFill>
            <a:srgbClr val="F7F8F7"/>
          </a:solidFill>
          <a:ln w="5080">
            <a:solidFill>
              <a:srgbClr val="F7F8F7"/>
            </a:solidFill>
            <a:prstDash val="solid"/>
          </a:ln>
        </p:spPr>
      </p:sp>
      <p:sp>
        <p:nvSpPr>
          <p:cNvPr id="54" name="Text 52"/>
          <p:cNvSpPr/>
          <p:nvPr/>
        </p:nvSpPr>
        <p:spPr>
          <a:xfrm>
            <a:off x="9226067"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AI checks and discrepancy management</a:t>
            </a:r>
            <a:endParaRPr lang="en-US" sz="950" dirty="0"/>
          </a:p>
        </p:txBody>
      </p:sp>
      <p:sp>
        <p:nvSpPr>
          <p:cNvPr id="55" name="Shape 53"/>
          <p:cNvSpPr/>
          <p:nvPr/>
        </p:nvSpPr>
        <p:spPr>
          <a:xfrm>
            <a:off x="9162059" y="4526280"/>
            <a:ext cx="2270684" cy="713232"/>
          </a:xfrm>
          <a:prstGeom prst="roundRect">
            <a:avLst>
              <a:gd name="adj" fmla="val 3846"/>
            </a:avLst>
          </a:prstGeom>
          <a:solidFill>
            <a:srgbClr val="F7F8F7"/>
          </a:solidFill>
          <a:ln w="5080">
            <a:solidFill>
              <a:srgbClr val="F7F8F7"/>
            </a:solidFill>
            <a:prstDash val="solid"/>
          </a:ln>
        </p:spPr>
      </p:sp>
      <p:sp>
        <p:nvSpPr>
          <p:cNvPr id="56" name="Text 54"/>
          <p:cNvSpPr/>
          <p:nvPr/>
        </p:nvSpPr>
        <p:spPr>
          <a:xfrm>
            <a:off x="9226067"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Sera agents acting on the shared ontology</a:t>
            </a:r>
            <a:endParaRPr lang="en-US" sz="950" dirty="0"/>
          </a:p>
        </p:txBody>
      </p:sp>
      <p:sp>
        <p:nvSpPr>
          <p:cNvPr id="57" name="Shape 55"/>
          <p:cNvSpPr/>
          <p:nvPr/>
        </p:nvSpPr>
        <p:spPr>
          <a:xfrm>
            <a:off x="9162059" y="5312664"/>
            <a:ext cx="2270684" cy="713232"/>
          </a:xfrm>
          <a:prstGeom prst="roundRect">
            <a:avLst>
              <a:gd name="adj" fmla="val 3846"/>
            </a:avLst>
          </a:prstGeom>
          <a:solidFill>
            <a:srgbClr val="F7F8F7"/>
          </a:solidFill>
          <a:ln w="5080">
            <a:solidFill>
              <a:srgbClr val="F7F8F7"/>
            </a:solidFill>
            <a:prstDash val="solid"/>
          </a:ln>
        </p:spPr>
      </p:sp>
      <p:sp>
        <p:nvSpPr>
          <p:cNvPr id="58" name="Text 56"/>
          <p:cNvSpPr/>
          <p:nvPr/>
        </p:nvSpPr>
        <p:spPr>
          <a:xfrm>
            <a:off x="9226067"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EU hosting, languages, enterprise performance</a:t>
            </a:r>
            <a:endParaRPr lang="en-US" sz="950" dirty="0"/>
          </a:p>
        </p:txBody>
      </p:sp>
      <p:sp>
        <p:nvSpPr>
          <p:cNvPr id="59" name="Shape 57"/>
          <p:cNvSpPr/>
          <p:nvPr/>
        </p:nvSpPr>
        <p:spPr>
          <a:xfrm>
            <a:off x="621792" y="6437376"/>
            <a:ext cx="10948111" cy="0"/>
          </a:xfrm>
          <a:prstGeom prst="line">
            <a:avLst/>
          </a:prstGeom>
          <a:noFill/>
          <a:ln w="9525">
            <a:solidFill>
              <a:srgbClr val="E2E6E2"/>
            </a:solidFill>
            <a:prstDash val="solid"/>
          </a:ln>
        </p:spPr>
      </p:sp>
      <p:sp>
        <p:nvSpPr>
          <p:cNvPr id="60" name="Text 5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1" name="Text 5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Core Platform plan on a timeline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Advance from validated data to governed intelligence, with trust and scale built once for every product.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470616"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5484800"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6498984"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7513168" y="1901952"/>
            <a:ext cx="4056736"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7513168"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8527352"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9541535"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10555719" y="2121408"/>
            <a:ext cx="1014184"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Shape 19"/>
          <p:cNvSpPr/>
          <p:nvPr/>
        </p:nvSpPr>
        <p:spPr>
          <a:xfrm>
            <a:off x="3456432" y="2103120"/>
            <a:ext cx="0" cy="3794760"/>
          </a:xfrm>
          <a:prstGeom prst="line">
            <a:avLst/>
          </a:prstGeom>
          <a:noFill/>
          <a:ln w="11430">
            <a:solidFill>
              <a:srgbClr val="C8CECA"/>
            </a:solidFill>
            <a:prstDash val="solid"/>
          </a:ln>
        </p:spPr>
      </p:sp>
      <p:sp>
        <p:nvSpPr>
          <p:cNvPr id="22" name="Shape 20"/>
          <p:cNvSpPr/>
          <p:nvPr/>
        </p:nvSpPr>
        <p:spPr>
          <a:xfrm>
            <a:off x="4470616" y="2103120"/>
            <a:ext cx="0" cy="3794760"/>
          </a:xfrm>
          <a:prstGeom prst="line">
            <a:avLst/>
          </a:prstGeom>
          <a:noFill/>
          <a:ln w="4445">
            <a:solidFill>
              <a:srgbClr val="E2E6E2"/>
            </a:solidFill>
            <a:prstDash val="solid"/>
          </a:ln>
        </p:spPr>
      </p:sp>
      <p:sp>
        <p:nvSpPr>
          <p:cNvPr id="23" name="Shape 21"/>
          <p:cNvSpPr/>
          <p:nvPr/>
        </p:nvSpPr>
        <p:spPr>
          <a:xfrm>
            <a:off x="5484800" y="2103120"/>
            <a:ext cx="0" cy="3794760"/>
          </a:xfrm>
          <a:prstGeom prst="line">
            <a:avLst/>
          </a:prstGeom>
          <a:noFill/>
          <a:ln w="4445">
            <a:solidFill>
              <a:srgbClr val="E2E6E2"/>
            </a:solidFill>
            <a:prstDash val="solid"/>
          </a:ln>
        </p:spPr>
      </p:sp>
      <p:sp>
        <p:nvSpPr>
          <p:cNvPr id="24" name="Shape 22"/>
          <p:cNvSpPr/>
          <p:nvPr/>
        </p:nvSpPr>
        <p:spPr>
          <a:xfrm>
            <a:off x="6498984" y="2103120"/>
            <a:ext cx="0" cy="3794760"/>
          </a:xfrm>
          <a:prstGeom prst="line">
            <a:avLst/>
          </a:prstGeom>
          <a:noFill/>
          <a:ln w="4445">
            <a:solidFill>
              <a:srgbClr val="E2E6E2"/>
            </a:solidFill>
            <a:prstDash val="solid"/>
          </a:ln>
        </p:spPr>
      </p:sp>
      <p:sp>
        <p:nvSpPr>
          <p:cNvPr id="25" name="Shape 23"/>
          <p:cNvSpPr/>
          <p:nvPr/>
        </p:nvSpPr>
        <p:spPr>
          <a:xfrm>
            <a:off x="7513168" y="2103120"/>
            <a:ext cx="0" cy="3794760"/>
          </a:xfrm>
          <a:prstGeom prst="line">
            <a:avLst/>
          </a:prstGeom>
          <a:noFill/>
          <a:ln w="11430">
            <a:solidFill>
              <a:srgbClr val="C8CECA"/>
            </a:solidFill>
            <a:prstDash val="solid"/>
          </a:ln>
        </p:spPr>
      </p:sp>
      <p:sp>
        <p:nvSpPr>
          <p:cNvPr id="26" name="Shape 24"/>
          <p:cNvSpPr/>
          <p:nvPr/>
        </p:nvSpPr>
        <p:spPr>
          <a:xfrm>
            <a:off x="8527352" y="2103120"/>
            <a:ext cx="0" cy="3794760"/>
          </a:xfrm>
          <a:prstGeom prst="line">
            <a:avLst/>
          </a:prstGeom>
          <a:noFill/>
          <a:ln w="4445">
            <a:solidFill>
              <a:srgbClr val="E2E6E2"/>
            </a:solidFill>
            <a:prstDash val="solid"/>
          </a:ln>
        </p:spPr>
      </p:sp>
      <p:sp>
        <p:nvSpPr>
          <p:cNvPr id="27" name="Shape 25"/>
          <p:cNvSpPr/>
          <p:nvPr/>
        </p:nvSpPr>
        <p:spPr>
          <a:xfrm>
            <a:off x="9541535" y="2103120"/>
            <a:ext cx="0" cy="3794760"/>
          </a:xfrm>
          <a:prstGeom prst="line">
            <a:avLst/>
          </a:prstGeom>
          <a:noFill/>
          <a:ln w="4445">
            <a:solidFill>
              <a:srgbClr val="E2E6E2"/>
            </a:solidFill>
            <a:prstDash val="solid"/>
          </a:ln>
        </p:spPr>
      </p:sp>
      <p:sp>
        <p:nvSpPr>
          <p:cNvPr id="28" name="Shape 26"/>
          <p:cNvSpPr/>
          <p:nvPr/>
        </p:nvSpPr>
        <p:spPr>
          <a:xfrm>
            <a:off x="10555719" y="2103120"/>
            <a:ext cx="0" cy="3794760"/>
          </a:xfrm>
          <a:prstGeom prst="line">
            <a:avLst/>
          </a:prstGeom>
          <a:noFill/>
          <a:ln w="4445">
            <a:solidFill>
              <a:srgbClr val="E2E6E2"/>
            </a:solidFill>
            <a:prstDash val="solid"/>
          </a:ln>
        </p:spPr>
      </p:sp>
      <p:sp>
        <p:nvSpPr>
          <p:cNvPr id="29" name="Shape 27"/>
          <p:cNvSpPr/>
          <p:nvPr/>
        </p:nvSpPr>
        <p:spPr>
          <a:xfrm>
            <a:off x="11569903" y="2103120"/>
            <a:ext cx="0" cy="3794760"/>
          </a:xfrm>
          <a:prstGeom prst="line">
            <a:avLst/>
          </a:prstGeom>
          <a:noFill/>
          <a:ln w="11430">
            <a:solidFill>
              <a:srgbClr val="C8CECA"/>
            </a:solidFill>
            <a:prstDash val="solid"/>
          </a:ln>
        </p:spPr>
      </p:sp>
      <p:sp>
        <p:nvSpPr>
          <p:cNvPr id="30" name="Shape 28"/>
          <p:cNvSpPr/>
          <p:nvPr/>
        </p:nvSpPr>
        <p:spPr>
          <a:xfrm>
            <a:off x="621792" y="2331720"/>
            <a:ext cx="411480" cy="950976"/>
          </a:xfrm>
          <a:prstGeom prst="rect">
            <a:avLst/>
          </a:prstGeom>
          <a:solidFill>
            <a:srgbClr val="3DCD58"/>
          </a:solidFill>
          <a:ln w="7620">
            <a:solidFill>
              <a:srgbClr val="FFFFFF"/>
            </a:solidFill>
            <a:prstDash val="solid"/>
          </a:ln>
        </p:spPr>
      </p:sp>
      <p:sp>
        <p:nvSpPr>
          <p:cNvPr id="31" name="Text 29"/>
          <p:cNvSpPr/>
          <p:nvPr/>
        </p:nvSpPr>
        <p:spPr>
          <a:xfrm>
            <a:off x="685800" y="2377440"/>
            <a:ext cx="283464" cy="859536"/>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DATA QUALITY</a:t>
            </a:r>
            <a:endParaRPr lang="en-US" sz="750" dirty="0"/>
          </a:p>
        </p:txBody>
      </p:sp>
      <p:sp>
        <p:nvSpPr>
          <p:cNvPr id="32" name="Shape 30"/>
          <p:cNvSpPr/>
          <p:nvPr/>
        </p:nvSpPr>
        <p:spPr>
          <a:xfrm>
            <a:off x="1033272" y="2569464"/>
            <a:ext cx="10536631" cy="0"/>
          </a:xfrm>
          <a:prstGeom prst="line">
            <a:avLst/>
          </a:prstGeom>
          <a:noFill/>
          <a:ln w="4445">
            <a:solidFill>
              <a:srgbClr val="E2E6E2"/>
            </a:solidFill>
            <a:prstDash val="solid"/>
          </a:ln>
        </p:spPr>
      </p:sp>
      <p:sp>
        <p:nvSpPr>
          <p:cNvPr id="33" name="Shape 31"/>
          <p:cNvSpPr/>
          <p:nvPr/>
        </p:nvSpPr>
        <p:spPr>
          <a:xfrm>
            <a:off x="1143000" y="2340864"/>
            <a:ext cx="45720" cy="219456"/>
          </a:xfrm>
          <a:prstGeom prst="roundRect">
            <a:avLst>
              <a:gd name="adj" fmla="val 60000"/>
            </a:avLst>
          </a:prstGeom>
          <a:solidFill>
            <a:srgbClr val="3DCD58"/>
          </a:solidFill>
          <a:ln w="12700">
            <a:solidFill>
              <a:srgbClr val="3DCD58"/>
            </a:solidFill>
            <a:prstDash val="solid"/>
          </a:ln>
        </p:spPr>
      </p:sp>
      <p:sp>
        <p:nvSpPr>
          <p:cNvPr id="34" name="Text 32"/>
          <p:cNvSpPr/>
          <p:nvPr/>
        </p:nvSpPr>
        <p:spPr>
          <a:xfrm>
            <a:off x="1243584" y="2304288"/>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File and ingestion validation, L0 and L1</a:t>
            </a:r>
            <a:endParaRPr lang="en-US" sz="936" dirty="0"/>
          </a:p>
        </p:txBody>
      </p:sp>
      <p:sp>
        <p:nvSpPr>
          <p:cNvPr id="35" name="Shape 33"/>
          <p:cNvSpPr/>
          <p:nvPr/>
        </p:nvSpPr>
        <p:spPr>
          <a:xfrm>
            <a:off x="5484800" y="2410176"/>
            <a:ext cx="1014184" cy="80833"/>
          </a:xfrm>
          <a:prstGeom prst="roundRect">
            <a:avLst>
              <a:gd name="adj" fmla="val 45249"/>
            </a:avLst>
          </a:prstGeom>
          <a:solidFill>
            <a:srgbClr val="3DCD58"/>
          </a:solidFill>
          <a:ln w="12700">
            <a:solidFill>
              <a:srgbClr val="3DCD58"/>
            </a:solidFill>
            <a:prstDash val="solid"/>
          </a:ln>
        </p:spPr>
      </p:sp>
      <p:sp>
        <p:nvSpPr>
          <p:cNvPr id="36" name="Shape 34"/>
          <p:cNvSpPr/>
          <p:nvPr/>
        </p:nvSpPr>
        <p:spPr>
          <a:xfrm>
            <a:off x="1033272" y="2807208"/>
            <a:ext cx="10536631" cy="0"/>
          </a:xfrm>
          <a:prstGeom prst="line">
            <a:avLst/>
          </a:prstGeom>
          <a:noFill/>
          <a:ln w="4445">
            <a:solidFill>
              <a:srgbClr val="E2E6E2"/>
            </a:solidFill>
            <a:prstDash val="solid"/>
          </a:ln>
        </p:spPr>
      </p:sp>
      <p:sp>
        <p:nvSpPr>
          <p:cNvPr id="37" name="Shape 35"/>
          <p:cNvSpPr/>
          <p:nvPr/>
        </p:nvSpPr>
        <p:spPr>
          <a:xfrm>
            <a:off x="1143000" y="2578608"/>
            <a:ext cx="45720" cy="219456"/>
          </a:xfrm>
          <a:prstGeom prst="roundRect">
            <a:avLst>
              <a:gd name="adj" fmla="val 60000"/>
            </a:avLst>
          </a:prstGeom>
          <a:solidFill>
            <a:srgbClr val="3DCD58"/>
          </a:solidFill>
          <a:ln w="12700">
            <a:solidFill>
              <a:srgbClr val="3DCD58"/>
            </a:solidFill>
            <a:prstDash val="solid"/>
          </a:ln>
        </p:spPr>
      </p:sp>
      <p:sp>
        <p:nvSpPr>
          <p:cNvPr id="38" name="Text 36"/>
          <p:cNvSpPr/>
          <p:nvPr/>
        </p:nvSpPr>
        <p:spPr>
          <a:xfrm>
            <a:off x="1243584" y="2542032"/>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Anomaly and consistency checks, L2</a:t>
            </a:r>
            <a:endParaRPr lang="en-US" sz="936" dirty="0"/>
          </a:p>
        </p:txBody>
      </p:sp>
      <p:sp>
        <p:nvSpPr>
          <p:cNvPr id="39" name="Shape 37"/>
          <p:cNvSpPr/>
          <p:nvPr/>
        </p:nvSpPr>
        <p:spPr>
          <a:xfrm>
            <a:off x="6498984" y="2647920"/>
            <a:ext cx="1014184" cy="80833"/>
          </a:xfrm>
          <a:prstGeom prst="roundRect">
            <a:avLst>
              <a:gd name="adj" fmla="val 45249"/>
            </a:avLst>
          </a:prstGeom>
          <a:solidFill>
            <a:srgbClr val="3DCD58"/>
          </a:solidFill>
          <a:ln w="12700">
            <a:solidFill>
              <a:srgbClr val="3DCD58"/>
            </a:solidFill>
            <a:prstDash val="solid"/>
          </a:ln>
        </p:spPr>
      </p:sp>
      <p:sp>
        <p:nvSpPr>
          <p:cNvPr id="40" name="Shape 38"/>
          <p:cNvSpPr/>
          <p:nvPr/>
        </p:nvSpPr>
        <p:spPr>
          <a:xfrm>
            <a:off x="1033272" y="3044952"/>
            <a:ext cx="10536631" cy="0"/>
          </a:xfrm>
          <a:prstGeom prst="line">
            <a:avLst/>
          </a:prstGeom>
          <a:noFill/>
          <a:ln w="4445">
            <a:solidFill>
              <a:srgbClr val="E2E6E2"/>
            </a:solidFill>
            <a:prstDash val="solid"/>
          </a:ln>
        </p:spPr>
      </p:sp>
      <p:sp>
        <p:nvSpPr>
          <p:cNvPr id="41" name="Shape 39"/>
          <p:cNvSpPr/>
          <p:nvPr/>
        </p:nvSpPr>
        <p:spPr>
          <a:xfrm>
            <a:off x="1143000" y="2816352"/>
            <a:ext cx="45720" cy="219456"/>
          </a:xfrm>
          <a:prstGeom prst="roundRect">
            <a:avLst>
              <a:gd name="adj" fmla="val 60000"/>
            </a:avLst>
          </a:prstGeom>
          <a:solidFill>
            <a:srgbClr val="3DCD58"/>
          </a:solidFill>
          <a:ln w="12700">
            <a:solidFill>
              <a:srgbClr val="3DCD58"/>
            </a:solidFill>
            <a:prstDash val="solid"/>
          </a:ln>
        </p:spPr>
      </p:sp>
      <p:sp>
        <p:nvSpPr>
          <p:cNvPr id="42" name="Text 40"/>
          <p:cNvSpPr/>
          <p:nvPr/>
        </p:nvSpPr>
        <p:spPr>
          <a:xfrm>
            <a:off x="1243584" y="2779776"/>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Inventory readiness checks, L3</a:t>
            </a:r>
            <a:endParaRPr lang="en-US" sz="936" dirty="0"/>
          </a:p>
        </p:txBody>
      </p:sp>
      <p:sp>
        <p:nvSpPr>
          <p:cNvPr id="43" name="Shape 41"/>
          <p:cNvSpPr/>
          <p:nvPr/>
        </p:nvSpPr>
        <p:spPr>
          <a:xfrm>
            <a:off x="7513168" y="2885664"/>
            <a:ext cx="2028368" cy="80833"/>
          </a:xfrm>
          <a:prstGeom prst="roundRect">
            <a:avLst>
              <a:gd name="adj" fmla="val 45249"/>
            </a:avLst>
          </a:prstGeom>
          <a:solidFill>
            <a:srgbClr val="3DCD58"/>
          </a:solidFill>
          <a:ln w="12700">
            <a:solidFill>
              <a:srgbClr val="3DCD58"/>
            </a:solidFill>
            <a:prstDash val="solid"/>
          </a:ln>
        </p:spPr>
      </p:sp>
      <p:sp>
        <p:nvSpPr>
          <p:cNvPr id="44" name="Shape 42"/>
          <p:cNvSpPr/>
          <p:nvPr/>
        </p:nvSpPr>
        <p:spPr>
          <a:xfrm>
            <a:off x="1033272" y="3282696"/>
            <a:ext cx="10536631" cy="0"/>
          </a:xfrm>
          <a:prstGeom prst="line">
            <a:avLst/>
          </a:prstGeom>
          <a:noFill/>
          <a:ln w="4445">
            <a:solidFill>
              <a:srgbClr val="E2E6E2"/>
            </a:solidFill>
            <a:prstDash val="solid"/>
          </a:ln>
        </p:spPr>
      </p:sp>
      <p:sp>
        <p:nvSpPr>
          <p:cNvPr id="45" name="Shape 43"/>
          <p:cNvSpPr/>
          <p:nvPr/>
        </p:nvSpPr>
        <p:spPr>
          <a:xfrm>
            <a:off x="1143000" y="3054096"/>
            <a:ext cx="45720" cy="219456"/>
          </a:xfrm>
          <a:prstGeom prst="roundRect">
            <a:avLst>
              <a:gd name="adj" fmla="val 60000"/>
            </a:avLst>
          </a:prstGeom>
          <a:solidFill>
            <a:srgbClr val="3DCD58"/>
          </a:solidFill>
          <a:ln w="12700">
            <a:solidFill>
              <a:srgbClr val="3DCD58"/>
            </a:solidFill>
            <a:prstDash val="solid"/>
          </a:ln>
        </p:spPr>
      </p:sp>
      <p:sp>
        <p:nvSpPr>
          <p:cNvPr id="46" name="Text 44"/>
          <p:cNvSpPr/>
          <p:nvPr/>
        </p:nvSpPr>
        <p:spPr>
          <a:xfrm>
            <a:off x="1243584" y="3017520"/>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Quality scoring and confidence, L4</a:t>
            </a:r>
            <a:endParaRPr lang="en-US" sz="936" dirty="0"/>
          </a:p>
        </p:txBody>
      </p:sp>
      <p:sp>
        <p:nvSpPr>
          <p:cNvPr id="47" name="Shape 45"/>
          <p:cNvSpPr/>
          <p:nvPr/>
        </p:nvSpPr>
        <p:spPr>
          <a:xfrm>
            <a:off x="9541535" y="3123408"/>
            <a:ext cx="2028368" cy="80833"/>
          </a:xfrm>
          <a:prstGeom prst="roundRect">
            <a:avLst>
              <a:gd name="adj" fmla="val 45249"/>
            </a:avLst>
          </a:prstGeom>
          <a:solidFill>
            <a:srgbClr val="3DCD58"/>
          </a:solidFill>
          <a:ln w="12700">
            <a:solidFill>
              <a:srgbClr val="3DCD58"/>
            </a:solidFill>
            <a:prstDash val="solid"/>
          </a:ln>
        </p:spPr>
      </p:sp>
      <p:sp>
        <p:nvSpPr>
          <p:cNvPr id="48" name="Shape 46"/>
          <p:cNvSpPr/>
          <p:nvPr/>
        </p:nvSpPr>
        <p:spPr>
          <a:xfrm>
            <a:off x="621792" y="3282696"/>
            <a:ext cx="411480" cy="950976"/>
          </a:xfrm>
          <a:prstGeom prst="rect">
            <a:avLst/>
          </a:prstGeom>
          <a:solidFill>
            <a:srgbClr val="007A27"/>
          </a:solidFill>
          <a:ln w="7620">
            <a:solidFill>
              <a:srgbClr val="FFFFFF"/>
            </a:solidFill>
            <a:prstDash val="solid"/>
          </a:ln>
        </p:spPr>
      </p:sp>
      <p:sp>
        <p:nvSpPr>
          <p:cNvPr id="49" name="Text 47"/>
          <p:cNvSpPr/>
          <p:nvPr/>
        </p:nvSpPr>
        <p:spPr>
          <a:xfrm>
            <a:off x="685800" y="3328416"/>
            <a:ext cx="283464" cy="859536"/>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ONTOLOGY &amp; CALC</a:t>
            </a:r>
            <a:endParaRPr lang="en-US" sz="750" dirty="0"/>
          </a:p>
        </p:txBody>
      </p:sp>
      <p:sp>
        <p:nvSpPr>
          <p:cNvPr id="50" name="Shape 48"/>
          <p:cNvSpPr/>
          <p:nvPr/>
        </p:nvSpPr>
        <p:spPr>
          <a:xfrm>
            <a:off x="1033272" y="3520440"/>
            <a:ext cx="10536631" cy="0"/>
          </a:xfrm>
          <a:prstGeom prst="line">
            <a:avLst/>
          </a:prstGeom>
          <a:noFill/>
          <a:ln w="4445">
            <a:solidFill>
              <a:srgbClr val="E2E6E2"/>
            </a:solidFill>
            <a:prstDash val="solid"/>
          </a:ln>
        </p:spPr>
      </p:sp>
      <p:sp>
        <p:nvSpPr>
          <p:cNvPr id="51" name="Shape 49"/>
          <p:cNvSpPr/>
          <p:nvPr/>
        </p:nvSpPr>
        <p:spPr>
          <a:xfrm>
            <a:off x="1143000" y="3291840"/>
            <a:ext cx="45720" cy="219456"/>
          </a:xfrm>
          <a:prstGeom prst="roundRect">
            <a:avLst>
              <a:gd name="adj" fmla="val 60000"/>
            </a:avLst>
          </a:prstGeom>
          <a:solidFill>
            <a:srgbClr val="007A27"/>
          </a:solidFill>
          <a:ln w="12700">
            <a:solidFill>
              <a:srgbClr val="007A27"/>
            </a:solidFill>
            <a:prstDash val="solid"/>
          </a:ln>
        </p:spPr>
      </p:sp>
      <p:sp>
        <p:nvSpPr>
          <p:cNvPr id="52" name="Text 50"/>
          <p:cNvSpPr/>
          <p:nvPr/>
        </p:nvSpPr>
        <p:spPr>
          <a:xfrm>
            <a:off x="1243584" y="3255264"/>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Hierarchies and bulk import at scale</a:t>
            </a:r>
            <a:endParaRPr lang="en-US" sz="936" dirty="0"/>
          </a:p>
        </p:txBody>
      </p:sp>
      <p:sp>
        <p:nvSpPr>
          <p:cNvPr id="53" name="Shape 51"/>
          <p:cNvSpPr/>
          <p:nvPr/>
        </p:nvSpPr>
        <p:spPr>
          <a:xfrm>
            <a:off x="5484800" y="3361152"/>
            <a:ext cx="1014184" cy="80833"/>
          </a:xfrm>
          <a:prstGeom prst="roundRect">
            <a:avLst>
              <a:gd name="adj" fmla="val 45249"/>
            </a:avLst>
          </a:prstGeom>
          <a:solidFill>
            <a:srgbClr val="007A27"/>
          </a:solidFill>
          <a:ln w="12700">
            <a:solidFill>
              <a:srgbClr val="007A27"/>
            </a:solidFill>
            <a:prstDash val="solid"/>
          </a:ln>
        </p:spPr>
      </p:sp>
      <p:sp>
        <p:nvSpPr>
          <p:cNvPr id="54" name="Shape 52"/>
          <p:cNvSpPr/>
          <p:nvPr/>
        </p:nvSpPr>
        <p:spPr>
          <a:xfrm>
            <a:off x="1033272" y="3758184"/>
            <a:ext cx="10536631" cy="0"/>
          </a:xfrm>
          <a:prstGeom prst="line">
            <a:avLst/>
          </a:prstGeom>
          <a:noFill/>
          <a:ln w="4445">
            <a:solidFill>
              <a:srgbClr val="E2E6E2"/>
            </a:solidFill>
            <a:prstDash val="solid"/>
          </a:ln>
        </p:spPr>
      </p:sp>
      <p:sp>
        <p:nvSpPr>
          <p:cNvPr id="55" name="Shape 53"/>
          <p:cNvSpPr/>
          <p:nvPr/>
        </p:nvSpPr>
        <p:spPr>
          <a:xfrm>
            <a:off x="1143000" y="3529584"/>
            <a:ext cx="45720" cy="219456"/>
          </a:xfrm>
          <a:prstGeom prst="roundRect">
            <a:avLst>
              <a:gd name="adj" fmla="val 60000"/>
            </a:avLst>
          </a:prstGeom>
          <a:solidFill>
            <a:srgbClr val="007A27"/>
          </a:solidFill>
          <a:ln w="12700">
            <a:solidFill>
              <a:srgbClr val="007A27"/>
            </a:solidFill>
            <a:prstDash val="solid"/>
          </a:ln>
        </p:spPr>
      </p:sp>
      <p:sp>
        <p:nvSpPr>
          <p:cNvPr id="56" name="Text 54"/>
          <p:cNvSpPr/>
          <p:nvPr/>
        </p:nvSpPr>
        <p:spPr>
          <a:xfrm>
            <a:off x="1243584" y="3493008"/>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Allocations foundation</a:t>
            </a:r>
            <a:endParaRPr lang="en-US" sz="936" dirty="0"/>
          </a:p>
        </p:txBody>
      </p:sp>
      <p:sp>
        <p:nvSpPr>
          <p:cNvPr id="57" name="Shape 55"/>
          <p:cNvSpPr/>
          <p:nvPr/>
        </p:nvSpPr>
        <p:spPr>
          <a:xfrm>
            <a:off x="6498984" y="3598896"/>
            <a:ext cx="1014184" cy="80833"/>
          </a:xfrm>
          <a:prstGeom prst="roundRect">
            <a:avLst>
              <a:gd name="adj" fmla="val 45249"/>
            </a:avLst>
          </a:prstGeom>
          <a:solidFill>
            <a:srgbClr val="007A27"/>
          </a:solidFill>
          <a:ln w="12700">
            <a:solidFill>
              <a:srgbClr val="007A27"/>
            </a:solidFill>
            <a:prstDash val="solid"/>
          </a:ln>
        </p:spPr>
      </p:sp>
      <p:sp>
        <p:nvSpPr>
          <p:cNvPr id="58" name="Shape 56"/>
          <p:cNvSpPr/>
          <p:nvPr/>
        </p:nvSpPr>
        <p:spPr>
          <a:xfrm>
            <a:off x="1033272" y="3995928"/>
            <a:ext cx="10536631" cy="0"/>
          </a:xfrm>
          <a:prstGeom prst="line">
            <a:avLst/>
          </a:prstGeom>
          <a:noFill/>
          <a:ln w="4445">
            <a:solidFill>
              <a:srgbClr val="E2E6E2"/>
            </a:solidFill>
            <a:prstDash val="solid"/>
          </a:ln>
        </p:spPr>
      </p:sp>
      <p:sp>
        <p:nvSpPr>
          <p:cNvPr id="59" name="Shape 57"/>
          <p:cNvSpPr/>
          <p:nvPr/>
        </p:nvSpPr>
        <p:spPr>
          <a:xfrm>
            <a:off x="1143000" y="3767328"/>
            <a:ext cx="45720" cy="219456"/>
          </a:xfrm>
          <a:prstGeom prst="roundRect">
            <a:avLst>
              <a:gd name="adj" fmla="val 60000"/>
            </a:avLst>
          </a:prstGeom>
          <a:solidFill>
            <a:srgbClr val="007A27"/>
          </a:solidFill>
          <a:ln w="12700">
            <a:solidFill>
              <a:srgbClr val="007A27"/>
            </a:solidFill>
            <a:prstDash val="solid"/>
          </a:ln>
        </p:spPr>
      </p:sp>
      <p:sp>
        <p:nvSpPr>
          <p:cNvPr id="60" name="Text 58"/>
          <p:cNvSpPr/>
          <p:nvPr/>
        </p:nvSpPr>
        <p:spPr>
          <a:xfrm>
            <a:off x="1243584" y="3730752"/>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Ontology control plane</a:t>
            </a:r>
            <a:endParaRPr lang="en-US" sz="936" dirty="0"/>
          </a:p>
        </p:txBody>
      </p:sp>
      <p:sp>
        <p:nvSpPr>
          <p:cNvPr id="61" name="Shape 59"/>
          <p:cNvSpPr/>
          <p:nvPr/>
        </p:nvSpPr>
        <p:spPr>
          <a:xfrm>
            <a:off x="7513168" y="3836640"/>
            <a:ext cx="2028368" cy="80833"/>
          </a:xfrm>
          <a:prstGeom prst="roundRect">
            <a:avLst>
              <a:gd name="adj" fmla="val 45249"/>
            </a:avLst>
          </a:prstGeom>
          <a:solidFill>
            <a:srgbClr val="007A27"/>
          </a:solidFill>
          <a:ln w="12700">
            <a:solidFill>
              <a:srgbClr val="007A27"/>
            </a:solidFill>
            <a:prstDash val="solid"/>
          </a:ln>
        </p:spPr>
      </p:sp>
      <p:sp>
        <p:nvSpPr>
          <p:cNvPr id="62" name="Shape 60"/>
          <p:cNvSpPr/>
          <p:nvPr/>
        </p:nvSpPr>
        <p:spPr>
          <a:xfrm>
            <a:off x="1033272" y="4233672"/>
            <a:ext cx="10536631" cy="0"/>
          </a:xfrm>
          <a:prstGeom prst="line">
            <a:avLst/>
          </a:prstGeom>
          <a:noFill/>
          <a:ln w="4445">
            <a:solidFill>
              <a:srgbClr val="E2E6E2"/>
            </a:solidFill>
            <a:prstDash val="solid"/>
          </a:ln>
        </p:spPr>
      </p:sp>
      <p:sp>
        <p:nvSpPr>
          <p:cNvPr id="63" name="Shape 61"/>
          <p:cNvSpPr/>
          <p:nvPr/>
        </p:nvSpPr>
        <p:spPr>
          <a:xfrm>
            <a:off x="1143000" y="4005072"/>
            <a:ext cx="45720" cy="219456"/>
          </a:xfrm>
          <a:prstGeom prst="roundRect">
            <a:avLst>
              <a:gd name="adj" fmla="val 60000"/>
            </a:avLst>
          </a:prstGeom>
          <a:solidFill>
            <a:srgbClr val="007A27"/>
          </a:solidFill>
          <a:ln w="12700">
            <a:solidFill>
              <a:srgbClr val="007A27"/>
            </a:solidFill>
            <a:prstDash val="solid"/>
          </a:ln>
        </p:spPr>
      </p:sp>
      <p:sp>
        <p:nvSpPr>
          <p:cNvPr id="64" name="Text 62"/>
          <p:cNvSpPr/>
          <p:nvPr/>
        </p:nvSpPr>
        <p:spPr>
          <a:xfrm>
            <a:off x="1243584" y="3968496"/>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Calculation governance and versioning</a:t>
            </a:r>
            <a:endParaRPr lang="en-US" sz="936" dirty="0"/>
          </a:p>
        </p:txBody>
      </p:sp>
      <p:sp>
        <p:nvSpPr>
          <p:cNvPr id="65" name="Shape 63"/>
          <p:cNvSpPr/>
          <p:nvPr/>
        </p:nvSpPr>
        <p:spPr>
          <a:xfrm>
            <a:off x="7513168" y="4074384"/>
            <a:ext cx="2028368" cy="80833"/>
          </a:xfrm>
          <a:prstGeom prst="roundRect">
            <a:avLst>
              <a:gd name="adj" fmla="val 45249"/>
            </a:avLst>
          </a:prstGeom>
          <a:solidFill>
            <a:srgbClr val="007A27"/>
          </a:solidFill>
          <a:ln w="12700">
            <a:solidFill>
              <a:srgbClr val="007A27"/>
            </a:solidFill>
            <a:prstDash val="solid"/>
          </a:ln>
        </p:spPr>
      </p:sp>
      <p:sp>
        <p:nvSpPr>
          <p:cNvPr id="66" name="Shape 64"/>
          <p:cNvSpPr/>
          <p:nvPr/>
        </p:nvSpPr>
        <p:spPr>
          <a:xfrm>
            <a:off x="621792" y="4233672"/>
            <a:ext cx="411480" cy="950976"/>
          </a:xfrm>
          <a:prstGeom prst="rect">
            <a:avLst/>
          </a:prstGeom>
          <a:solidFill>
            <a:srgbClr val="FFB04C"/>
          </a:solidFill>
          <a:ln w="7620">
            <a:solidFill>
              <a:srgbClr val="FFFFFF"/>
            </a:solidFill>
            <a:prstDash val="solid"/>
          </a:ln>
        </p:spPr>
      </p:sp>
      <p:sp>
        <p:nvSpPr>
          <p:cNvPr id="67" name="Text 65"/>
          <p:cNvSpPr/>
          <p:nvPr/>
        </p:nvSpPr>
        <p:spPr>
          <a:xfrm>
            <a:off x="685800" y="4279392"/>
            <a:ext cx="283464" cy="859536"/>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TRUST &amp; AI</a:t>
            </a:r>
            <a:endParaRPr lang="en-US" sz="750" dirty="0"/>
          </a:p>
        </p:txBody>
      </p:sp>
      <p:sp>
        <p:nvSpPr>
          <p:cNvPr id="68" name="Shape 66"/>
          <p:cNvSpPr/>
          <p:nvPr/>
        </p:nvSpPr>
        <p:spPr>
          <a:xfrm>
            <a:off x="1033272" y="4471416"/>
            <a:ext cx="10536631" cy="0"/>
          </a:xfrm>
          <a:prstGeom prst="line">
            <a:avLst/>
          </a:prstGeom>
          <a:noFill/>
          <a:ln w="4445">
            <a:solidFill>
              <a:srgbClr val="E2E6E2"/>
            </a:solidFill>
            <a:prstDash val="solid"/>
          </a:ln>
        </p:spPr>
      </p:sp>
      <p:sp>
        <p:nvSpPr>
          <p:cNvPr id="69" name="Shape 67"/>
          <p:cNvSpPr/>
          <p:nvPr/>
        </p:nvSpPr>
        <p:spPr>
          <a:xfrm>
            <a:off x="1143000" y="4242816"/>
            <a:ext cx="45720" cy="219456"/>
          </a:xfrm>
          <a:prstGeom prst="roundRect">
            <a:avLst>
              <a:gd name="adj" fmla="val 60000"/>
            </a:avLst>
          </a:prstGeom>
          <a:solidFill>
            <a:srgbClr val="FFB04C"/>
          </a:solidFill>
          <a:ln w="12700">
            <a:solidFill>
              <a:srgbClr val="FFB04C"/>
            </a:solidFill>
            <a:prstDash val="solid"/>
          </a:ln>
        </p:spPr>
      </p:sp>
      <p:sp>
        <p:nvSpPr>
          <p:cNvPr id="70" name="Text 68"/>
          <p:cNvSpPr/>
          <p:nvPr/>
        </p:nvSpPr>
        <p:spPr>
          <a:xfrm>
            <a:off x="1243584" y="4206240"/>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Configurable checks and approvals</a:t>
            </a:r>
            <a:endParaRPr lang="en-US" sz="936" dirty="0"/>
          </a:p>
        </p:txBody>
      </p:sp>
      <p:sp>
        <p:nvSpPr>
          <p:cNvPr id="71" name="Shape 69"/>
          <p:cNvSpPr/>
          <p:nvPr/>
        </p:nvSpPr>
        <p:spPr>
          <a:xfrm>
            <a:off x="6498984" y="4312128"/>
            <a:ext cx="1014184" cy="80833"/>
          </a:xfrm>
          <a:prstGeom prst="roundRect">
            <a:avLst>
              <a:gd name="adj" fmla="val 45249"/>
            </a:avLst>
          </a:prstGeom>
          <a:solidFill>
            <a:srgbClr val="FFB04C"/>
          </a:solidFill>
          <a:ln w="12700">
            <a:solidFill>
              <a:srgbClr val="FFB04C"/>
            </a:solidFill>
            <a:prstDash val="solid"/>
          </a:ln>
        </p:spPr>
      </p:sp>
      <p:sp>
        <p:nvSpPr>
          <p:cNvPr id="72" name="Shape 70"/>
          <p:cNvSpPr/>
          <p:nvPr/>
        </p:nvSpPr>
        <p:spPr>
          <a:xfrm>
            <a:off x="1033272" y="4709160"/>
            <a:ext cx="10536631" cy="0"/>
          </a:xfrm>
          <a:prstGeom prst="line">
            <a:avLst/>
          </a:prstGeom>
          <a:noFill/>
          <a:ln w="4445">
            <a:solidFill>
              <a:srgbClr val="E2E6E2"/>
            </a:solidFill>
            <a:prstDash val="solid"/>
          </a:ln>
        </p:spPr>
      </p:sp>
      <p:sp>
        <p:nvSpPr>
          <p:cNvPr id="73" name="Shape 71"/>
          <p:cNvSpPr/>
          <p:nvPr/>
        </p:nvSpPr>
        <p:spPr>
          <a:xfrm>
            <a:off x="1143000" y="4480560"/>
            <a:ext cx="45720" cy="219456"/>
          </a:xfrm>
          <a:prstGeom prst="roundRect">
            <a:avLst>
              <a:gd name="adj" fmla="val 60000"/>
            </a:avLst>
          </a:prstGeom>
          <a:solidFill>
            <a:srgbClr val="FFB04C"/>
          </a:solidFill>
          <a:ln w="12700">
            <a:solidFill>
              <a:srgbClr val="FFB04C"/>
            </a:solidFill>
            <a:prstDash val="solid"/>
          </a:ln>
        </p:spPr>
      </p:sp>
      <p:sp>
        <p:nvSpPr>
          <p:cNvPr id="74" name="Text 72"/>
          <p:cNvSpPr/>
          <p:nvPr/>
        </p:nvSpPr>
        <p:spPr>
          <a:xfrm>
            <a:off x="1243584" y="4443984"/>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Audit trail and data lineage</a:t>
            </a:r>
            <a:endParaRPr lang="en-US" sz="936" dirty="0"/>
          </a:p>
        </p:txBody>
      </p:sp>
      <p:sp>
        <p:nvSpPr>
          <p:cNvPr id="75" name="Shape 73"/>
          <p:cNvSpPr/>
          <p:nvPr/>
        </p:nvSpPr>
        <p:spPr>
          <a:xfrm>
            <a:off x="6498984" y="4549872"/>
            <a:ext cx="1014184" cy="80833"/>
          </a:xfrm>
          <a:prstGeom prst="roundRect">
            <a:avLst>
              <a:gd name="adj" fmla="val 45249"/>
            </a:avLst>
          </a:prstGeom>
          <a:solidFill>
            <a:srgbClr val="FFB04C"/>
          </a:solidFill>
          <a:ln w="12700">
            <a:solidFill>
              <a:srgbClr val="FFB04C"/>
            </a:solidFill>
            <a:prstDash val="solid"/>
          </a:ln>
        </p:spPr>
      </p:sp>
      <p:sp>
        <p:nvSpPr>
          <p:cNvPr id="76" name="Shape 74"/>
          <p:cNvSpPr/>
          <p:nvPr/>
        </p:nvSpPr>
        <p:spPr>
          <a:xfrm>
            <a:off x="1033272" y="4946904"/>
            <a:ext cx="10536631" cy="0"/>
          </a:xfrm>
          <a:prstGeom prst="line">
            <a:avLst/>
          </a:prstGeom>
          <a:noFill/>
          <a:ln w="4445">
            <a:solidFill>
              <a:srgbClr val="E2E6E2"/>
            </a:solidFill>
            <a:prstDash val="solid"/>
          </a:ln>
        </p:spPr>
      </p:sp>
      <p:sp>
        <p:nvSpPr>
          <p:cNvPr id="77" name="Shape 75"/>
          <p:cNvSpPr/>
          <p:nvPr/>
        </p:nvSpPr>
        <p:spPr>
          <a:xfrm>
            <a:off x="1143000" y="4718304"/>
            <a:ext cx="45720" cy="219456"/>
          </a:xfrm>
          <a:prstGeom prst="roundRect">
            <a:avLst>
              <a:gd name="adj" fmla="val 60000"/>
            </a:avLst>
          </a:prstGeom>
          <a:solidFill>
            <a:srgbClr val="FFB04C"/>
          </a:solidFill>
          <a:ln w="12700">
            <a:solidFill>
              <a:srgbClr val="FFB04C"/>
            </a:solidFill>
            <a:prstDash val="solid"/>
          </a:ln>
        </p:spPr>
      </p:sp>
      <p:sp>
        <p:nvSpPr>
          <p:cNvPr id="78" name="Text 76"/>
          <p:cNvSpPr/>
          <p:nvPr/>
        </p:nvSpPr>
        <p:spPr>
          <a:xfrm>
            <a:off x="1243584" y="4681728"/>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AI checks and discrepancy management</a:t>
            </a:r>
            <a:endParaRPr lang="en-US" sz="936" dirty="0"/>
          </a:p>
        </p:txBody>
      </p:sp>
      <p:sp>
        <p:nvSpPr>
          <p:cNvPr id="79" name="Shape 77"/>
          <p:cNvSpPr/>
          <p:nvPr/>
        </p:nvSpPr>
        <p:spPr>
          <a:xfrm>
            <a:off x="9541535" y="4787616"/>
            <a:ext cx="2028368" cy="80833"/>
          </a:xfrm>
          <a:prstGeom prst="roundRect">
            <a:avLst>
              <a:gd name="adj" fmla="val 45249"/>
            </a:avLst>
          </a:prstGeom>
          <a:solidFill>
            <a:srgbClr val="FFB04C"/>
          </a:solidFill>
          <a:ln w="12700">
            <a:solidFill>
              <a:srgbClr val="FFB04C"/>
            </a:solidFill>
            <a:prstDash val="solid"/>
          </a:ln>
        </p:spPr>
      </p:sp>
      <p:sp>
        <p:nvSpPr>
          <p:cNvPr id="80" name="Shape 78"/>
          <p:cNvSpPr/>
          <p:nvPr/>
        </p:nvSpPr>
        <p:spPr>
          <a:xfrm>
            <a:off x="1033272" y="5184648"/>
            <a:ext cx="10536631" cy="0"/>
          </a:xfrm>
          <a:prstGeom prst="line">
            <a:avLst/>
          </a:prstGeom>
          <a:noFill/>
          <a:ln w="4445">
            <a:solidFill>
              <a:srgbClr val="E2E6E2"/>
            </a:solidFill>
            <a:prstDash val="solid"/>
          </a:ln>
        </p:spPr>
      </p:sp>
      <p:sp>
        <p:nvSpPr>
          <p:cNvPr id="81" name="Shape 79"/>
          <p:cNvSpPr/>
          <p:nvPr/>
        </p:nvSpPr>
        <p:spPr>
          <a:xfrm>
            <a:off x="1143000" y="4956048"/>
            <a:ext cx="45720" cy="219456"/>
          </a:xfrm>
          <a:prstGeom prst="roundRect">
            <a:avLst>
              <a:gd name="adj" fmla="val 60000"/>
            </a:avLst>
          </a:prstGeom>
          <a:solidFill>
            <a:srgbClr val="FFB04C"/>
          </a:solidFill>
          <a:ln w="12700">
            <a:solidFill>
              <a:srgbClr val="FFB04C"/>
            </a:solidFill>
            <a:prstDash val="solid"/>
          </a:ln>
        </p:spPr>
      </p:sp>
      <p:sp>
        <p:nvSpPr>
          <p:cNvPr id="82" name="Text 80"/>
          <p:cNvSpPr/>
          <p:nvPr/>
        </p:nvSpPr>
        <p:spPr>
          <a:xfrm>
            <a:off x="1243584" y="4919472"/>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Sera agents on the shared ontology</a:t>
            </a:r>
            <a:endParaRPr lang="en-US" sz="936" dirty="0"/>
          </a:p>
        </p:txBody>
      </p:sp>
      <p:sp>
        <p:nvSpPr>
          <p:cNvPr id="83" name="Shape 81"/>
          <p:cNvSpPr/>
          <p:nvPr/>
        </p:nvSpPr>
        <p:spPr>
          <a:xfrm>
            <a:off x="9541535" y="5025360"/>
            <a:ext cx="2028368" cy="80833"/>
          </a:xfrm>
          <a:prstGeom prst="roundRect">
            <a:avLst>
              <a:gd name="adj" fmla="val 45249"/>
            </a:avLst>
          </a:prstGeom>
          <a:solidFill>
            <a:srgbClr val="FFB04C"/>
          </a:solidFill>
          <a:ln w="12700">
            <a:solidFill>
              <a:srgbClr val="FFB04C"/>
            </a:solidFill>
            <a:prstDash val="solid"/>
          </a:ln>
        </p:spPr>
      </p:sp>
      <p:sp>
        <p:nvSpPr>
          <p:cNvPr id="84" name="Shape 82"/>
          <p:cNvSpPr/>
          <p:nvPr/>
        </p:nvSpPr>
        <p:spPr>
          <a:xfrm>
            <a:off x="621792" y="5184648"/>
            <a:ext cx="411480" cy="713232"/>
          </a:xfrm>
          <a:prstGeom prst="rect">
            <a:avLst/>
          </a:prstGeom>
          <a:solidFill>
            <a:srgbClr val="275B7F"/>
          </a:solidFill>
          <a:ln w="7620">
            <a:solidFill>
              <a:srgbClr val="FFFFFF"/>
            </a:solidFill>
            <a:prstDash val="solid"/>
          </a:ln>
        </p:spPr>
      </p:sp>
      <p:sp>
        <p:nvSpPr>
          <p:cNvPr id="85" name="Text 83"/>
          <p:cNvSpPr/>
          <p:nvPr/>
        </p:nvSpPr>
        <p:spPr>
          <a:xfrm>
            <a:off x="685800" y="5230368"/>
            <a:ext cx="283464" cy="621792"/>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SCALE</a:t>
            </a:r>
            <a:endParaRPr lang="en-US" sz="750" dirty="0"/>
          </a:p>
        </p:txBody>
      </p:sp>
      <p:sp>
        <p:nvSpPr>
          <p:cNvPr id="86" name="Shape 84"/>
          <p:cNvSpPr/>
          <p:nvPr/>
        </p:nvSpPr>
        <p:spPr>
          <a:xfrm>
            <a:off x="1033272" y="5422392"/>
            <a:ext cx="10536631" cy="0"/>
          </a:xfrm>
          <a:prstGeom prst="line">
            <a:avLst/>
          </a:prstGeom>
          <a:noFill/>
          <a:ln w="4445">
            <a:solidFill>
              <a:srgbClr val="E2E6E2"/>
            </a:solidFill>
            <a:prstDash val="solid"/>
          </a:ln>
        </p:spPr>
      </p:sp>
      <p:sp>
        <p:nvSpPr>
          <p:cNvPr id="87" name="Shape 85"/>
          <p:cNvSpPr/>
          <p:nvPr/>
        </p:nvSpPr>
        <p:spPr>
          <a:xfrm>
            <a:off x="1143000" y="5193792"/>
            <a:ext cx="45720" cy="219456"/>
          </a:xfrm>
          <a:prstGeom prst="roundRect">
            <a:avLst>
              <a:gd name="adj" fmla="val 60000"/>
            </a:avLst>
          </a:prstGeom>
          <a:solidFill>
            <a:srgbClr val="275B7F"/>
          </a:solidFill>
          <a:ln w="12700">
            <a:solidFill>
              <a:srgbClr val="275B7F"/>
            </a:solidFill>
            <a:prstDash val="solid"/>
          </a:ln>
        </p:spPr>
      </p:sp>
      <p:sp>
        <p:nvSpPr>
          <p:cNvPr id="88" name="Text 86"/>
          <p:cNvSpPr/>
          <p:nvPr/>
        </p:nvSpPr>
        <p:spPr>
          <a:xfrm>
            <a:off x="1243584" y="5157216"/>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Shared experience and product switcher</a:t>
            </a:r>
            <a:endParaRPr lang="en-US" sz="936" dirty="0"/>
          </a:p>
        </p:txBody>
      </p:sp>
      <p:sp>
        <p:nvSpPr>
          <p:cNvPr id="89" name="Shape 87"/>
          <p:cNvSpPr/>
          <p:nvPr/>
        </p:nvSpPr>
        <p:spPr>
          <a:xfrm>
            <a:off x="5484800" y="5263104"/>
            <a:ext cx="1014184" cy="80833"/>
          </a:xfrm>
          <a:prstGeom prst="roundRect">
            <a:avLst>
              <a:gd name="adj" fmla="val 45249"/>
            </a:avLst>
          </a:prstGeom>
          <a:solidFill>
            <a:srgbClr val="275B7F"/>
          </a:solidFill>
          <a:ln w="12700">
            <a:solidFill>
              <a:srgbClr val="275B7F"/>
            </a:solidFill>
            <a:prstDash val="solid"/>
          </a:ln>
        </p:spPr>
      </p:sp>
      <p:sp>
        <p:nvSpPr>
          <p:cNvPr id="90" name="Shape 88"/>
          <p:cNvSpPr/>
          <p:nvPr/>
        </p:nvSpPr>
        <p:spPr>
          <a:xfrm>
            <a:off x="1033272" y="5660136"/>
            <a:ext cx="10536631" cy="0"/>
          </a:xfrm>
          <a:prstGeom prst="line">
            <a:avLst/>
          </a:prstGeom>
          <a:noFill/>
          <a:ln w="4445">
            <a:solidFill>
              <a:srgbClr val="E2E6E2"/>
            </a:solidFill>
            <a:prstDash val="solid"/>
          </a:ln>
        </p:spPr>
      </p:sp>
      <p:sp>
        <p:nvSpPr>
          <p:cNvPr id="91" name="Shape 89"/>
          <p:cNvSpPr/>
          <p:nvPr/>
        </p:nvSpPr>
        <p:spPr>
          <a:xfrm>
            <a:off x="1143000" y="5431536"/>
            <a:ext cx="45720" cy="219456"/>
          </a:xfrm>
          <a:prstGeom prst="roundRect">
            <a:avLst>
              <a:gd name="adj" fmla="val 60000"/>
            </a:avLst>
          </a:prstGeom>
          <a:solidFill>
            <a:srgbClr val="275B7F"/>
          </a:solidFill>
          <a:ln w="12700">
            <a:solidFill>
              <a:srgbClr val="275B7F"/>
            </a:solidFill>
            <a:prstDash val="solid"/>
          </a:ln>
        </p:spPr>
      </p:sp>
      <p:sp>
        <p:nvSpPr>
          <p:cNvPr id="92" name="Text 90"/>
          <p:cNvSpPr/>
          <p:nvPr/>
        </p:nvSpPr>
        <p:spPr>
          <a:xfrm>
            <a:off x="1243584" y="5394960"/>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Reusable analytics infrastructure</a:t>
            </a:r>
            <a:endParaRPr lang="en-US" sz="936" dirty="0"/>
          </a:p>
        </p:txBody>
      </p:sp>
      <p:sp>
        <p:nvSpPr>
          <p:cNvPr id="93" name="Shape 91"/>
          <p:cNvSpPr/>
          <p:nvPr/>
        </p:nvSpPr>
        <p:spPr>
          <a:xfrm>
            <a:off x="7513168" y="5500848"/>
            <a:ext cx="2028368" cy="80833"/>
          </a:xfrm>
          <a:prstGeom prst="roundRect">
            <a:avLst>
              <a:gd name="adj" fmla="val 45249"/>
            </a:avLst>
          </a:prstGeom>
          <a:solidFill>
            <a:srgbClr val="275B7F"/>
          </a:solidFill>
          <a:ln w="12700">
            <a:solidFill>
              <a:srgbClr val="275B7F"/>
            </a:solidFill>
            <a:prstDash val="solid"/>
          </a:ln>
        </p:spPr>
      </p:sp>
      <p:sp>
        <p:nvSpPr>
          <p:cNvPr id="94" name="Shape 92"/>
          <p:cNvSpPr/>
          <p:nvPr/>
        </p:nvSpPr>
        <p:spPr>
          <a:xfrm>
            <a:off x="1033272" y="5897880"/>
            <a:ext cx="10536631" cy="0"/>
          </a:xfrm>
          <a:prstGeom prst="line">
            <a:avLst/>
          </a:prstGeom>
          <a:noFill/>
          <a:ln w="4445">
            <a:solidFill>
              <a:srgbClr val="E2E6E2"/>
            </a:solidFill>
            <a:prstDash val="solid"/>
          </a:ln>
        </p:spPr>
      </p:sp>
      <p:sp>
        <p:nvSpPr>
          <p:cNvPr id="95" name="Shape 93"/>
          <p:cNvSpPr/>
          <p:nvPr/>
        </p:nvSpPr>
        <p:spPr>
          <a:xfrm>
            <a:off x="1143000" y="5669280"/>
            <a:ext cx="45720" cy="219456"/>
          </a:xfrm>
          <a:prstGeom prst="roundRect">
            <a:avLst>
              <a:gd name="adj" fmla="val 60000"/>
            </a:avLst>
          </a:prstGeom>
          <a:solidFill>
            <a:srgbClr val="275B7F"/>
          </a:solidFill>
          <a:ln w="12700">
            <a:solidFill>
              <a:srgbClr val="275B7F"/>
            </a:solidFill>
            <a:prstDash val="solid"/>
          </a:ln>
        </p:spPr>
      </p:sp>
      <p:sp>
        <p:nvSpPr>
          <p:cNvPr id="96" name="Text 94"/>
          <p:cNvSpPr/>
          <p:nvPr/>
        </p:nvSpPr>
        <p:spPr>
          <a:xfrm>
            <a:off x="1243584" y="5632704"/>
            <a:ext cx="2075688" cy="292608"/>
          </a:xfrm>
          <a:prstGeom prst="rect">
            <a:avLst/>
          </a:prstGeom>
          <a:noFill/>
          <a:ln/>
        </p:spPr>
        <p:txBody>
          <a:bodyPr wrap="square" lIns="0" tIns="0" rIns="0" bIns="0" rtlCol="0" anchor="ctr">
            <a:normAutofit/>
          </a:bodyPr>
          <a:lstStyle/>
          <a:p>
            <a:pPr indent="0" marL="0">
              <a:buNone/>
            </a:pPr>
            <a:r>
              <a:rPr lang="en-US" sz="936" dirty="0">
                <a:solidFill>
                  <a:srgbClr val="1E2420"/>
                </a:solidFill>
                <a:latin typeface="Calibri" pitchFamily="34" charset="0"/>
                <a:ea typeface="Calibri" pitchFamily="34" charset="-122"/>
                <a:cs typeface="Calibri" pitchFamily="34" charset="-120"/>
              </a:rPr>
              <a:t>EU hosting, languages and performance</a:t>
            </a:r>
            <a:endParaRPr lang="en-US" sz="936" dirty="0"/>
          </a:p>
        </p:txBody>
      </p:sp>
      <p:sp>
        <p:nvSpPr>
          <p:cNvPr id="97" name="Shape 95"/>
          <p:cNvSpPr/>
          <p:nvPr/>
        </p:nvSpPr>
        <p:spPr>
          <a:xfrm>
            <a:off x="9541535" y="5738592"/>
            <a:ext cx="2028368" cy="80833"/>
          </a:xfrm>
          <a:prstGeom prst="roundRect">
            <a:avLst>
              <a:gd name="adj" fmla="val 45249"/>
            </a:avLst>
          </a:prstGeom>
          <a:solidFill>
            <a:srgbClr val="275B7F"/>
          </a:solidFill>
          <a:ln w="12700">
            <a:solidFill>
              <a:srgbClr val="275B7F"/>
            </a:solidFill>
            <a:prstDash val="solid"/>
          </a:ln>
        </p:spPr>
      </p:sp>
      <p:sp>
        <p:nvSpPr>
          <p:cNvPr id="98" name="Shape 96"/>
          <p:cNvSpPr/>
          <p:nvPr/>
        </p:nvSpPr>
        <p:spPr>
          <a:xfrm>
            <a:off x="621792" y="6437376"/>
            <a:ext cx="10948111" cy="0"/>
          </a:xfrm>
          <a:prstGeom prst="line">
            <a:avLst/>
          </a:prstGeom>
          <a:noFill/>
          <a:ln w="9525">
            <a:solidFill>
              <a:srgbClr val="E2E6E2"/>
            </a:solidFill>
            <a:prstDash val="solid"/>
          </a:ln>
        </p:spPr>
      </p:sp>
      <p:sp>
        <p:nvSpPr>
          <p:cNvPr id="99" name="Text 97"/>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00" name="Text 98"/>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platform work none of the products can ship alone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Funded as core so it is built once and inherited by all products.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Ingestion and quality</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Data in, trusted.</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Pipeline and transformation foundation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Programmatic connectors and APIs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quality across the L0 to L4 lifecycle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Standard and supplier specific factor datasets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Ontology and calculation</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model, one engine.</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ontology: typed objects, relationships, actions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Control plane for tenant governance of hierarchies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Allocations and calculation versioning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regression testing on the engine</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Application and analytics</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experience.</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Unified application experience and product switcher</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Reusable analytics and query infrastructure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contextual intelligence across products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Multi level approval and audit trail</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Trust and reach</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Enterprise ready.</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EU hosting and data residency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Languages and localisation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access and segregation of duties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Performance at enterprise data volumes</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core unblocks in each product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Core is judged on what the products can ship because of it.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CARBON PERFORMANCE</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Depth and defensibility</a:t>
            </a:r>
            <a:endParaRPr lang="en-US" sz="1600" dirty="0"/>
          </a:p>
        </p:txBody>
      </p:sp>
      <p:sp>
        <p:nvSpPr>
          <p:cNvPr id="13" name="Text 11"/>
          <p:cNvSpPr/>
          <p:nvPr/>
        </p:nvSpPr>
        <p:spPr>
          <a:xfrm>
            <a:off x="822960"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data quality checks on activity data</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Calculation governance and versioning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Allocations foundation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trail on every inventory value</a:t>
            </a:r>
            <a:endParaRPr lang="en-US" sz="1100" dirty="0"/>
          </a:p>
        </p:txBody>
      </p:sp>
      <p:sp>
        <p:nvSpPr>
          <p:cNvPr id="14" name="Shape 12"/>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5" name="Shape 13"/>
          <p:cNvSpPr/>
          <p:nvPr/>
        </p:nvSpPr>
        <p:spPr>
          <a:xfrm>
            <a:off x="3427400" y="2084832"/>
            <a:ext cx="2531288" cy="73152"/>
          </a:xfrm>
          <a:prstGeom prst="rect">
            <a:avLst/>
          </a:prstGeom>
          <a:solidFill>
            <a:srgbClr val="007A27"/>
          </a:solidFill>
          <a:ln w="12700">
            <a:solidFill>
              <a:srgbClr val="007A27"/>
            </a:solidFill>
            <a:prstDash val="solid"/>
          </a:ln>
        </p:spPr>
      </p:sp>
      <p:sp>
        <p:nvSpPr>
          <p:cNvPr id="16" name="Text 14"/>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SUPPLY CHAIN</a:t>
            </a:r>
            <a:endParaRPr lang="en-US" sz="900" dirty="0"/>
          </a:p>
        </p:txBody>
      </p:sp>
      <p:sp>
        <p:nvSpPr>
          <p:cNvPr id="17" name="Text 15"/>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Scale of engagement</a:t>
            </a:r>
            <a:endParaRPr lang="en-US" sz="1600" dirty="0"/>
          </a:p>
        </p:txBody>
      </p:sp>
      <p:sp>
        <p:nvSpPr>
          <p:cNvPr id="18" name="Text 16"/>
          <p:cNvSpPr/>
          <p:nvPr/>
        </p:nvSpPr>
        <p:spPr>
          <a:xfrm>
            <a:off x="3628568"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navigation, layouts and database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specific factor datasets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Languages and localisation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product validation against CP inventories</a:t>
            </a:r>
            <a:endParaRPr lang="en-US" sz="1100" dirty="0"/>
          </a:p>
        </p:txBody>
      </p:sp>
      <p:sp>
        <p:nvSpPr>
          <p:cNvPr id="19" name="Shape 17"/>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0" name="Shape 18"/>
          <p:cNvSpPr/>
          <p:nvPr/>
        </p:nvSpPr>
        <p:spPr>
          <a:xfrm>
            <a:off x="6233008" y="2084832"/>
            <a:ext cx="2531288" cy="73152"/>
          </a:xfrm>
          <a:prstGeom prst="rect">
            <a:avLst/>
          </a:prstGeom>
          <a:solidFill>
            <a:srgbClr val="FFB04C"/>
          </a:solidFill>
          <a:ln w="12700">
            <a:solidFill>
              <a:srgbClr val="FFB04C"/>
            </a:solidFill>
            <a:prstDash val="solid"/>
          </a:ln>
        </p:spPr>
      </p:sp>
      <p:sp>
        <p:nvSpPr>
          <p:cNvPr id="21" name="Text 19"/>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REPORTING</a:t>
            </a:r>
            <a:endParaRPr lang="en-US" sz="900" dirty="0"/>
          </a:p>
        </p:txBody>
      </p:sp>
      <p:sp>
        <p:nvSpPr>
          <p:cNvPr id="22" name="Text 20"/>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Launch prerequisites</a:t>
            </a:r>
            <a:endParaRPr lang="en-US" sz="1600" dirty="0"/>
          </a:p>
        </p:txBody>
      </p:sp>
      <p:sp>
        <p:nvSpPr>
          <p:cNvPr id="23" name="Text 21"/>
          <p:cNvSpPr/>
          <p:nvPr/>
        </p:nvSpPr>
        <p:spPr>
          <a:xfrm>
            <a:off x="6434176"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Dataset registry and column mapping</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Formula and transform engine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Flexible approval hierarchies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Lineage from source to disclosure field</a:t>
            </a:r>
            <a:endParaRPr lang="en-US" sz="1100" dirty="0"/>
          </a:p>
        </p:txBody>
      </p:sp>
      <p:sp>
        <p:nvSpPr>
          <p:cNvPr id="24" name="Shape 22"/>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5" name="Shape 23"/>
          <p:cNvSpPr/>
          <p:nvPr/>
        </p:nvSpPr>
        <p:spPr>
          <a:xfrm>
            <a:off x="9038615" y="2084832"/>
            <a:ext cx="2531288" cy="73152"/>
          </a:xfrm>
          <a:prstGeom prst="rect">
            <a:avLst/>
          </a:prstGeom>
          <a:solidFill>
            <a:srgbClr val="275B7F"/>
          </a:solidFill>
          <a:ln w="12700">
            <a:solidFill>
              <a:srgbClr val="275B7F"/>
            </a:solidFill>
            <a:prstDash val="solid"/>
          </a:ln>
        </p:spPr>
      </p:sp>
      <p:sp>
        <p:nvSpPr>
          <p:cNvPr id="26" name="Text 24"/>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RISK AND STRATEGY</a:t>
            </a:r>
            <a:endParaRPr lang="en-US" sz="900" dirty="0"/>
          </a:p>
        </p:txBody>
      </p:sp>
      <p:sp>
        <p:nvSpPr>
          <p:cNvPr id="27" name="Text 25"/>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Model and planning</a:t>
            </a:r>
            <a:endParaRPr lang="en-US" sz="1600" dirty="0"/>
          </a:p>
        </p:txBody>
      </p:sp>
      <p:sp>
        <p:nvSpPr>
          <p:cNvPr id="28" name="Text 26"/>
          <p:cNvSpPr/>
          <p:nvPr/>
        </p:nvSpPr>
        <p:spPr>
          <a:xfrm>
            <a:off x="9239783"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entity and asset hierarchy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Reusable analytics and query infrastructure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agents on the shared ontology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Performance at portfolio data volumes</a:t>
            </a:r>
            <a:endParaRPr lang="en-US" sz="1100" dirty="0"/>
          </a:p>
        </p:txBody>
      </p:sp>
      <p:sp>
        <p:nvSpPr>
          <p:cNvPr id="29" name="Shape 27"/>
          <p:cNvSpPr/>
          <p:nvPr/>
        </p:nvSpPr>
        <p:spPr>
          <a:xfrm>
            <a:off x="621792" y="6437376"/>
            <a:ext cx="10948111" cy="0"/>
          </a:xfrm>
          <a:prstGeom prst="line">
            <a:avLst/>
          </a:prstGeom>
          <a:noFill/>
          <a:ln w="9525">
            <a:solidFill>
              <a:srgbClr val="E2E6E2"/>
            </a:solidFill>
            <a:prstDash val="solid"/>
          </a:ln>
        </p:spPr>
      </p:sp>
      <p:sp>
        <p:nvSpPr>
          <p:cNvPr id="30" name="Text 2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1" name="Text 2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5</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05</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2027 direction</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Three bets that turn a compliant inventory into a differentiated platform.</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08026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75107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SEQUENCING</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How 2027 lays out across the year</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Half by half shape of the three bets, based on current theme ranks.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H1 2027</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Complete the categories</a:t>
            </a:r>
            <a:endParaRPr lang="en-US" sz="1400" dirty="0"/>
          </a:p>
        </p:txBody>
      </p:sp>
      <p:sp>
        <p:nvSpPr>
          <p:cNvPr id="14" name="Shape 12"/>
          <p:cNvSpPr/>
          <p:nvPr/>
        </p:nvSpPr>
        <p:spPr>
          <a:xfrm>
            <a:off x="758952" y="2953512"/>
            <a:ext cx="2270684"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Category 4 and 9 product linked transport</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Upstream and downstream transport</a:t>
            </a:r>
            <a:endParaRPr lang="en-US" sz="950" dirty="0"/>
          </a:p>
        </p:txBody>
      </p:sp>
      <p:sp>
        <p:nvSpPr>
          <p:cNvPr id="16" name="Shape 14"/>
          <p:cNvSpPr/>
          <p:nvPr/>
        </p:nvSpPr>
        <p:spPr>
          <a:xfrm>
            <a:off x="758952" y="3739896"/>
            <a:ext cx="2270684"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Waste emission estimation, category 5</a:t>
            </a:r>
            <a:endParaRPr lang="en-US" sz="950" dirty="0"/>
          </a:p>
        </p:txBody>
      </p:sp>
      <p:sp>
        <p:nvSpPr>
          <p:cNvPr id="18" name="Shape 16"/>
          <p:cNvSpPr/>
          <p:nvPr/>
        </p:nvSpPr>
        <p:spPr>
          <a:xfrm>
            <a:off x="758952" y="4526280"/>
            <a:ext cx="2270684"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Enterprise GHG inventory foundations</a:t>
            </a:r>
            <a:endParaRPr lang="en-US" sz="950" dirty="0"/>
          </a:p>
        </p:txBody>
      </p:sp>
      <p:sp>
        <p:nvSpPr>
          <p:cNvPr id="20" name="Shape 18"/>
          <p:cNvSpPr/>
          <p:nvPr/>
        </p:nvSpPr>
        <p:spPr>
          <a:xfrm>
            <a:off x="758952" y="5312664"/>
            <a:ext cx="2270684" cy="713232"/>
          </a:xfrm>
          <a:prstGeom prst="roundRect">
            <a:avLst>
              <a:gd name="adj" fmla="val 3846"/>
            </a:avLst>
          </a:prstGeom>
          <a:solidFill>
            <a:srgbClr val="F7F8F7"/>
          </a:solidFill>
          <a:ln w="5080">
            <a:solidFill>
              <a:srgbClr val="F7F8F7"/>
            </a:solidFill>
            <a:prstDash val="solid"/>
          </a:ln>
        </p:spPr>
      </p:sp>
      <p:sp>
        <p:nvSpPr>
          <p:cNvPr id="21" name="Text 19"/>
          <p:cNvSpPr/>
          <p:nvPr/>
        </p:nvSpPr>
        <p:spPr>
          <a:xfrm>
            <a:off x="822960"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Financial and equity consolidation</a:t>
            </a:r>
            <a:endParaRPr lang="en-US" sz="950" dirty="0"/>
          </a:p>
        </p:txBody>
      </p:sp>
      <p:sp>
        <p:nvSpPr>
          <p:cNvPr id="22" name="Shape 20"/>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3422828" y="2084832"/>
            <a:ext cx="2545004" cy="713232"/>
          </a:xfrm>
          <a:prstGeom prst="rect">
            <a:avLst/>
          </a:prstGeom>
          <a:solidFill>
            <a:srgbClr val="EAF8ED"/>
          </a:solidFill>
          <a:ln w="12700">
            <a:solidFill>
              <a:srgbClr val="EAF8ED"/>
            </a:solidFill>
            <a:prstDash val="solid"/>
          </a:ln>
        </p:spPr>
      </p:sp>
      <p:sp>
        <p:nvSpPr>
          <p:cNvPr id="24" name="Shape 22"/>
          <p:cNvSpPr/>
          <p:nvPr/>
        </p:nvSpPr>
        <p:spPr>
          <a:xfrm>
            <a:off x="3422828" y="2084832"/>
            <a:ext cx="54864" cy="4178808"/>
          </a:xfrm>
          <a:prstGeom prst="rect">
            <a:avLst/>
          </a:prstGeom>
          <a:solidFill>
            <a:srgbClr val="007A27"/>
          </a:solidFill>
          <a:ln w="12700">
            <a:solidFill>
              <a:srgbClr val="007A27"/>
            </a:solidFill>
            <a:prstDash val="solid"/>
          </a:ln>
        </p:spPr>
      </p:sp>
      <p:sp>
        <p:nvSpPr>
          <p:cNvPr id="25" name="Text 23"/>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H1 2027</a:t>
            </a:r>
            <a:endParaRPr lang="en-US" sz="850" dirty="0"/>
          </a:p>
        </p:txBody>
      </p:sp>
      <p:sp>
        <p:nvSpPr>
          <p:cNvPr id="26" name="Text 24"/>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Governance and trust</a:t>
            </a:r>
            <a:endParaRPr lang="en-US" sz="1400" dirty="0"/>
          </a:p>
        </p:txBody>
      </p:sp>
      <p:sp>
        <p:nvSpPr>
          <p:cNvPr id="27" name="Shape 25"/>
          <p:cNvSpPr/>
          <p:nvPr/>
        </p:nvSpPr>
        <p:spPr>
          <a:xfrm>
            <a:off x="3559988" y="2953512"/>
            <a:ext cx="2270684"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3623996"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Calculation governance and methodology transparency</a:t>
            </a:r>
            <a:endParaRPr lang="en-US" sz="900" dirty="0"/>
          </a:p>
        </p:txBody>
      </p:sp>
      <p:sp>
        <p:nvSpPr>
          <p:cNvPr id="29" name="Shape 27"/>
          <p:cNvSpPr/>
          <p:nvPr/>
        </p:nvSpPr>
        <p:spPr>
          <a:xfrm>
            <a:off x="3559988" y="3739896"/>
            <a:ext cx="2270684"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3623996"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User defined custom calculation methods</a:t>
            </a:r>
            <a:endParaRPr lang="en-US" sz="950" dirty="0"/>
          </a:p>
        </p:txBody>
      </p:sp>
      <p:sp>
        <p:nvSpPr>
          <p:cNvPr id="31" name="Shape 29"/>
          <p:cNvSpPr/>
          <p:nvPr/>
        </p:nvSpPr>
        <p:spPr>
          <a:xfrm>
            <a:off x="3559988" y="4526280"/>
            <a:ext cx="2270684"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3623996"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Reusable inventory setup and boundaries</a:t>
            </a:r>
            <a:endParaRPr lang="en-US" sz="950" dirty="0"/>
          </a:p>
        </p:txBody>
      </p:sp>
      <p:sp>
        <p:nvSpPr>
          <p:cNvPr id="33" name="Shape 31"/>
          <p:cNvSpPr/>
          <p:nvPr/>
        </p:nvSpPr>
        <p:spPr>
          <a:xfrm>
            <a:off x="3559988" y="5312664"/>
            <a:ext cx="2270684" cy="713232"/>
          </a:xfrm>
          <a:prstGeom prst="roundRect">
            <a:avLst>
              <a:gd name="adj" fmla="val 3846"/>
            </a:avLst>
          </a:prstGeom>
          <a:solidFill>
            <a:srgbClr val="F7F8F7"/>
          </a:solidFill>
          <a:ln w="5080">
            <a:solidFill>
              <a:srgbClr val="F7F8F7"/>
            </a:solidFill>
            <a:prstDash val="solid"/>
          </a:ln>
        </p:spPr>
      </p:sp>
      <p:sp>
        <p:nvSpPr>
          <p:cNvPr id="34" name="Text 32"/>
          <p:cNvSpPr/>
          <p:nvPr/>
        </p:nvSpPr>
        <p:spPr>
          <a:xfrm>
            <a:off x="3623996"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Automated regression testing on the engine</a:t>
            </a:r>
            <a:endParaRPr lang="en-US" sz="950" dirty="0"/>
          </a:p>
        </p:txBody>
      </p:sp>
      <p:sp>
        <p:nvSpPr>
          <p:cNvPr id="35" name="Shape 33"/>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6" name="Shape 34"/>
          <p:cNvSpPr/>
          <p:nvPr/>
        </p:nvSpPr>
        <p:spPr>
          <a:xfrm>
            <a:off x="6223864" y="2084832"/>
            <a:ext cx="2545004" cy="713232"/>
          </a:xfrm>
          <a:prstGeom prst="rect">
            <a:avLst/>
          </a:prstGeom>
          <a:solidFill>
            <a:srgbClr val="FFF4E3"/>
          </a:solidFill>
          <a:ln w="12700">
            <a:solidFill>
              <a:srgbClr val="FFF4E3"/>
            </a:solidFill>
            <a:prstDash val="solid"/>
          </a:ln>
        </p:spPr>
      </p:sp>
      <p:sp>
        <p:nvSpPr>
          <p:cNvPr id="37" name="Shape 35"/>
          <p:cNvSpPr/>
          <p:nvPr/>
        </p:nvSpPr>
        <p:spPr>
          <a:xfrm>
            <a:off x="6223864" y="2084832"/>
            <a:ext cx="54864" cy="4178808"/>
          </a:xfrm>
          <a:prstGeom prst="rect">
            <a:avLst/>
          </a:prstGeom>
          <a:solidFill>
            <a:srgbClr val="FFB04C"/>
          </a:solidFill>
          <a:ln w="12700">
            <a:solidFill>
              <a:srgbClr val="FFB04C"/>
            </a:solidFill>
            <a:prstDash val="solid"/>
          </a:ln>
        </p:spPr>
      </p:sp>
      <p:sp>
        <p:nvSpPr>
          <p:cNvPr id="38" name="Text 36"/>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H2 2027</a:t>
            </a:r>
            <a:endParaRPr lang="en-US" sz="850" dirty="0"/>
          </a:p>
        </p:txBody>
      </p:sp>
      <p:sp>
        <p:nvSpPr>
          <p:cNvPr id="39" name="Text 37"/>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Assurance and AI</a:t>
            </a:r>
            <a:endParaRPr lang="en-US" sz="1400" dirty="0"/>
          </a:p>
        </p:txBody>
      </p:sp>
      <p:sp>
        <p:nvSpPr>
          <p:cNvPr id="40" name="Shape 38"/>
          <p:cNvSpPr/>
          <p:nvPr/>
        </p:nvSpPr>
        <p:spPr>
          <a:xfrm>
            <a:off x="6361024" y="2953512"/>
            <a:ext cx="2270684" cy="713232"/>
          </a:xfrm>
          <a:prstGeom prst="roundRect">
            <a:avLst>
              <a:gd name="adj" fmla="val 3846"/>
            </a:avLst>
          </a:prstGeom>
          <a:solidFill>
            <a:srgbClr val="F7F8F7"/>
          </a:solidFill>
          <a:ln w="5080">
            <a:solidFill>
              <a:srgbClr val="F7F8F7"/>
            </a:solidFill>
            <a:prstDash val="solid"/>
          </a:ln>
        </p:spPr>
      </p:sp>
      <p:sp>
        <p:nvSpPr>
          <p:cNvPr id="41" name="Text 39"/>
          <p:cNvSpPr/>
          <p:nvPr/>
        </p:nvSpPr>
        <p:spPr>
          <a:xfrm>
            <a:off x="6425032"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AI powered emissions troubleshooting</a:t>
            </a:r>
            <a:endParaRPr lang="en-US" sz="950" dirty="0"/>
          </a:p>
        </p:txBody>
      </p:sp>
      <p:sp>
        <p:nvSpPr>
          <p:cNvPr id="42" name="Shape 40"/>
          <p:cNvSpPr/>
          <p:nvPr/>
        </p:nvSpPr>
        <p:spPr>
          <a:xfrm>
            <a:off x="6361024" y="3739896"/>
            <a:ext cx="2270684" cy="713232"/>
          </a:xfrm>
          <a:prstGeom prst="roundRect">
            <a:avLst>
              <a:gd name="adj" fmla="val 3846"/>
            </a:avLst>
          </a:prstGeom>
          <a:solidFill>
            <a:srgbClr val="F7F8F7"/>
          </a:solidFill>
          <a:ln w="5080">
            <a:solidFill>
              <a:srgbClr val="F7F8F7"/>
            </a:solidFill>
            <a:prstDash val="solid"/>
          </a:ln>
        </p:spPr>
      </p:sp>
      <p:sp>
        <p:nvSpPr>
          <p:cNvPr id="43" name="Text 41"/>
          <p:cNvSpPr/>
          <p:nvPr/>
        </p:nvSpPr>
        <p:spPr>
          <a:xfrm>
            <a:off x="6425032"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Year on year variance checks, Scope 1 and 2</a:t>
            </a:r>
            <a:endParaRPr lang="en-US" sz="950" dirty="0"/>
          </a:p>
        </p:txBody>
      </p:sp>
      <p:sp>
        <p:nvSpPr>
          <p:cNvPr id="44" name="Shape 42"/>
          <p:cNvSpPr/>
          <p:nvPr/>
        </p:nvSpPr>
        <p:spPr>
          <a:xfrm>
            <a:off x="6361024" y="4526280"/>
            <a:ext cx="2270684" cy="713232"/>
          </a:xfrm>
          <a:prstGeom prst="roundRect">
            <a:avLst>
              <a:gd name="adj" fmla="val 3846"/>
            </a:avLst>
          </a:prstGeom>
          <a:solidFill>
            <a:srgbClr val="F7F8F7"/>
          </a:solidFill>
          <a:ln w="5080">
            <a:solidFill>
              <a:srgbClr val="F7F8F7"/>
            </a:solidFill>
            <a:prstDash val="solid"/>
          </a:ln>
        </p:spPr>
      </p:sp>
      <p:sp>
        <p:nvSpPr>
          <p:cNvPr id="45" name="Text 43"/>
          <p:cNvSpPr/>
          <p:nvPr/>
        </p:nvSpPr>
        <p:spPr>
          <a:xfrm>
            <a:off x="6425032"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Scope 1, 2, 3 disclosure reporting</a:t>
            </a:r>
            <a:endParaRPr lang="en-US" sz="950" dirty="0"/>
          </a:p>
        </p:txBody>
      </p:sp>
      <p:sp>
        <p:nvSpPr>
          <p:cNvPr id="46" name="Shape 44"/>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47" name="Shape 45"/>
          <p:cNvSpPr/>
          <p:nvPr/>
        </p:nvSpPr>
        <p:spPr>
          <a:xfrm>
            <a:off x="9024899" y="2084832"/>
            <a:ext cx="2545004" cy="713232"/>
          </a:xfrm>
          <a:prstGeom prst="rect">
            <a:avLst/>
          </a:prstGeom>
          <a:solidFill>
            <a:srgbClr val="EAF1F5"/>
          </a:solidFill>
          <a:ln w="12700">
            <a:solidFill>
              <a:srgbClr val="EAF1F5"/>
            </a:solidFill>
            <a:prstDash val="solid"/>
          </a:ln>
        </p:spPr>
      </p:sp>
      <p:sp>
        <p:nvSpPr>
          <p:cNvPr id="48" name="Shape 46"/>
          <p:cNvSpPr/>
          <p:nvPr/>
        </p:nvSpPr>
        <p:spPr>
          <a:xfrm>
            <a:off x="9024899" y="2084832"/>
            <a:ext cx="54864" cy="4178808"/>
          </a:xfrm>
          <a:prstGeom prst="rect">
            <a:avLst/>
          </a:prstGeom>
          <a:solidFill>
            <a:srgbClr val="275B7F"/>
          </a:solidFill>
          <a:ln w="12700">
            <a:solidFill>
              <a:srgbClr val="275B7F"/>
            </a:solidFill>
            <a:prstDash val="solid"/>
          </a:ln>
        </p:spPr>
      </p:sp>
      <p:sp>
        <p:nvSpPr>
          <p:cNvPr id="49" name="Text 47"/>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H2 2027</a:t>
            </a:r>
            <a:endParaRPr lang="en-US" sz="850" dirty="0"/>
          </a:p>
        </p:txBody>
      </p:sp>
      <p:sp>
        <p:nvSpPr>
          <p:cNvPr id="50" name="Text 48"/>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Insight and scale</a:t>
            </a:r>
            <a:endParaRPr lang="en-US" sz="1400" dirty="0"/>
          </a:p>
        </p:txBody>
      </p:sp>
      <p:sp>
        <p:nvSpPr>
          <p:cNvPr id="51" name="Shape 49"/>
          <p:cNvSpPr/>
          <p:nvPr/>
        </p:nvSpPr>
        <p:spPr>
          <a:xfrm>
            <a:off x="9162059" y="2953512"/>
            <a:ext cx="2270684" cy="713232"/>
          </a:xfrm>
          <a:prstGeom prst="roundRect">
            <a:avLst>
              <a:gd name="adj" fmla="val 3846"/>
            </a:avLst>
          </a:prstGeom>
          <a:solidFill>
            <a:srgbClr val="F7F8F7"/>
          </a:solidFill>
          <a:ln w="5080">
            <a:solidFill>
              <a:srgbClr val="F7F8F7"/>
            </a:solidFill>
            <a:prstDash val="solid"/>
          </a:ln>
        </p:spPr>
      </p:sp>
      <p:sp>
        <p:nvSpPr>
          <p:cNvPr id="52" name="Text 50"/>
          <p:cNvSpPr/>
          <p:nvPr/>
        </p:nvSpPr>
        <p:spPr>
          <a:xfrm>
            <a:off x="9226067" y="2953512"/>
            <a:ext cx="2142668"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Intensity and normalisation metrics</a:t>
            </a:r>
            <a:endParaRPr lang="en-US" sz="950" dirty="0"/>
          </a:p>
        </p:txBody>
      </p:sp>
      <p:sp>
        <p:nvSpPr>
          <p:cNvPr id="53" name="Shape 51"/>
          <p:cNvSpPr/>
          <p:nvPr/>
        </p:nvSpPr>
        <p:spPr>
          <a:xfrm>
            <a:off x="9162059" y="3739896"/>
            <a:ext cx="2270684" cy="713232"/>
          </a:xfrm>
          <a:prstGeom prst="roundRect">
            <a:avLst>
              <a:gd name="adj" fmla="val 3846"/>
            </a:avLst>
          </a:prstGeom>
          <a:solidFill>
            <a:srgbClr val="F7F8F7"/>
          </a:solidFill>
          <a:ln w="5080">
            <a:solidFill>
              <a:srgbClr val="F7F8F7"/>
            </a:solidFill>
            <a:prstDash val="solid"/>
          </a:ln>
        </p:spPr>
      </p:sp>
      <p:sp>
        <p:nvSpPr>
          <p:cNvPr id="54" name="Text 52"/>
          <p:cNvSpPr/>
          <p:nvPr/>
        </p:nvSpPr>
        <p:spPr>
          <a:xfrm>
            <a:off x="9226067" y="3739896"/>
            <a:ext cx="2142668"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Water data support</a:t>
            </a:r>
            <a:endParaRPr lang="en-US" sz="1000" dirty="0"/>
          </a:p>
        </p:txBody>
      </p:sp>
      <p:sp>
        <p:nvSpPr>
          <p:cNvPr id="55" name="Shape 53"/>
          <p:cNvSpPr/>
          <p:nvPr/>
        </p:nvSpPr>
        <p:spPr>
          <a:xfrm>
            <a:off x="9162059" y="4526280"/>
            <a:ext cx="2270684" cy="713232"/>
          </a:xfrm>
          <a:prstGeom prst="roundRect">
            <a:avLst>
              <a:gd name="adj" fmla="val 3846"/>
            </a:avLst>
          </a:prstGeom>
          <a:solidFill>
            <a:srgbClr val="F7F8F7"/>
          </a:solidFill>
          <a:ln w="5080">
            <a:solidFill>
              <a:srgbClr val="F7F8F7"/>
            </a:solidFill>
            <a:prstDash val="solid"/>
          </a:ln>
        </p:spPr>
      </p:sp>
      <p:sp>
        <p:nvSpPr>
          <p:cNvPr id="56" name="Text 54"/>
          <p:cNvSpPr/>
          <p:nvPr/>
        </p:nvSpPr>
        <p:spPr>
          <a:xfrm>
            <a:off x="9226067" y="4526280"/>
            <a:ext cx="2142668"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Multi level approval workflows</a:t>
            </a:r>
            <a:endParaRPr lang="en-US" sz="1000" dirty="0"/>
          </a:p>
        </p:txBody>
      </p:sp>
      <p:sp>
        <p:nvSpPr>
          <p:cNvPr id="57" name="Shape 55"/>
          <p:cNvSpPr/>
          <p:nvPr/>
        </p:nvSpPr>
        <p:spPr>
          <a:xfrm>
            <a:off x="9162059" y="5312664"/>
            <a:ext cx="2270684" cy="713232"/>
          </a:xfrm>
          <a:prstGeom prst="roundRect">
            <a:avLst>
              <a:gd name="adj" fmla="val 3846"/>
            </a:avLst>
          </a:prstGeom>
          <a:solidFill>
            <a:srgbClr val="F7F8F7"/>
          </a:solidFill>
          <a:ln w="5080">
            <a:solidFill>
              <a:srgbClr val="F7F8F7"/>
            </a:solidFill>
            <a:prstDash val="solid"/>
          </a:ln>
        </p:spPr>
      </p:sp>
      <p:sp>
        <p:nvSpPr>
          <p:cNvPr id="58" name="Text 56"/>
          <p:cNvSpPr/>
          <p:nvPr/>
        </p:nvSpPr>
        <p:spPr>
          <a:xfrm>
            <a:off x="9226067" y="5312664"/>
            <a:ext cx="2142668"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Live currency conversion for spend based calculations</a:t>
            </a:r>
            <a:endParaRPr lang="en-US" sz="900" dirty="0"/>
          </a:p>
        </p:txBody>
      </p:sp>
      <p:sp>
        <p:nvSpPr>
          <p:cNvPr id="59" name="Shape 57"/>
          <p:cNvSpPr/>
          <p:nvPr/>
        </p:nvSpPr>
        <p:spPr>
          <a:xfrm>
            <a:off x="621792" y="6437376"/>
            <a:ext cx="10948111" cy="0"/>
          </a:xfrm>
          <a:prstGeom prst="line">
            <a:avLst/>
          </a:prstGeom>
          <a:noFill/>
          <a:ln w="9525">
            <a:solidFill>
              <a:srgbClr val="E2E6E2"/>
            </a:solidFill>
            <a:prstDash val="solid"/>
          </a:ln>
        </p:spPr>
      </p:sp>
      <p:sp>
        <p:nvSpPr>
          <p:cNvPr id="60" name="Text 5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1" name="Text 5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Carbon Performance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Close the inventory</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Eliminate the methodology and category gaps that still force hypercare. Consultant grade means no off platform workarounds.</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Scope 3 category 15 investments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Additional emission sources outside GHGP scopes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Calculation governance and methodology transparency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Inventory boundaries, exclusions and quality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Specialized standards: PCAF, FLAG, Bilan Carbone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Organizational boundary and consolidation</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From inventory to decision</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Turn a trustworthy inventory into boardroom ready insight and self serve planning, the wedge that replaces the consultant.</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From reporting to decision support</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Boardroom ready decarbonization reporting</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Self serve decarbonization planning and execution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Decision support for performance management</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Dedicated auditor experience</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Cross product compounding</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CP data becomes more valuable when supply chain, climate risk, and reporting and compliance can consume it. Network effects across RA+.</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Enhanced end to end supply chain emissions management (rank 44)</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R&amp;C integration with CP emissions data (rank 33)</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Supplier specific emission factors, CP and SC</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Reusable analytics infrastructure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PCF integrations</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Supply Chain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Win on product carbon footprint</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Close the competitive gap on PCF so the supply base measures on RA+ rather than on a rival tool.</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Light PCF calculator, SEED integrations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Advanced tier level subscription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Zeigo Activate sunset, replaced by a light CP calculator</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Supplier specific emission factors, CP and SC</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Scale supplier participation</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 network only compounds when suppliers join, stay engaged and keep data flowing across programmes.</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Supplier onboarding and programme participation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Multi tier supplier visibility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Engagement gamification and leaderboards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Cross programme supplier discovery</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From data to supplier action</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Sponsor decision support turns collected data into evidenced decarbonisation the board can stand behind.</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Sponsor decision support and supplier transparency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Guided supplier decarbonisation actions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ESG reporting and compliance integration</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Reporting and Compliance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Complete the SE migration</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Corporate SE runs its Q1 2027 CSRD cycle in RA+, which is the proof point that retires RA Classic for good.</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Corporate SE fully migrated off RA Classic</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Historical data migrated and reconciled</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Audit ready disclosures produced in product</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Advanced campaign management</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AI assisted disclosure</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Drafting, mapping and analytics compress the cost of every reporting cycle and widen what one team can cover.</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Governed disclosure authoring with AI drafting</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AI compliance intelligence and mapping suggestions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Indicator performance analytics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Approval hierarchies and bulk assignment</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The disclosure hub for RA+</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Every product feeds its evidence into R&amp;C, so disclosure becomes the reason the platform holds together.</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CP emissions and CR risk feeding disclosures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External assurance and auditor experience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Voluntary frameworks: GRI, SASB, GRESB, EcoVadis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Data receiver from every product to facilitate disclosure</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Climate Risk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Price the risk</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ClimVar turns exposure into financial value at risk, the language the CFO and the board actually trade in.</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ClimVar - Value at Risk, expressed in financial terms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Physical and transition scenario analysis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Portfolio level risk analytics and heatmaps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Transition plan modelling linked to targets</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From risk to funded adaptation</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Scenarios convert into tracked adaptation actions with monthly actuals, not reports that sit on a shelf.</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Adaptation planning primitives with Strategy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Adaptation actions tracked with monthly actuals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Value at risk, scenario analysis and adaptation actions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Decision grade analysis at portfolio volumes</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Risk beyond owned assets</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model extends into the value chain and into disclosures, so risk stops being a standalone exercise.</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Value at risk across the extended value chain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Risk data flowing into R&amp;C disclosures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Risk data turned into financial values for disclosure</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the RA+ Platform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that every product inherits.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One trusted data backbone</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Ingestion, quality and ontology are built once so Carbon Performance, Supply Chain, Reporting and Climate Risk all consume the same source of truth.</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Advanced data ingestion and transformation rules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Data quality across the L0 to L4 lifecycle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Control plane for tenant ontology governance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Programmatic connectors and APIs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Data receiver from every product to facilitate disclosure</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One calculation and trust engine</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Calculations, allocations and lineage are governed centrally so every product's numbers are defensible and reproducible.</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Calculation governance and versioning</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Allocations foundation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Audit trail and data lineage on key values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Automated regression testing on the engine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Anomaly and consistency checks on aggregates</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Enterprise scale and intelligence</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EU hosting, languages, performance and Sera make RA+ deployable at enterprise scale and understandable to every user.</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EU hosting and data residency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Languages and localisation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Performance at enterprise data volumes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Sera agents acting on the shared ontology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Reusable analytics and query infrastructure</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C3B25"/>
        </a:solidFill>
      </p:bgPr>
    </p:bg>
    <p:spTree>
      <p:nvGrpSpPr>
        <p:cNvPr id="1" name=""/>
        <p:cNvGrpSpPr/>
        <p:nvPr/>
      </p:nvGrpSpPr>
      <p:grpSpPr>
        <a:xfrm>
          <a:off x="0" y="0"/>
          <a:ext cx="0" cy="0"/>
          <a:chOff x="0" y="0"/>
          <a:chExt cx="0" cy="0"/>
        </a:xfrm>
      </p:grpSpPr>
      <p:sp>
        <p:nvSpPr>
          <p:cNvPr id="2" name="Shape 0"/>
          <p:cNvSpPr/>
          <p:nvPr/>
        </p:nvSpPr>
        <p:spPr>
          <a:xfrm>
            <a:off x="5135728" y="502920"/>
            <a:ext cx="1920240" cy="310896"/>
          </a:xfrm>
          <a:prstGeom prst="roundRect">
            <a:avLst>
              <a:gd name="adj" fmla="val 50000"/>
            </a:avLst>
          </a:prstGeom>
          <a:solidFill>
            <a:srgbClr val="0C3B25"/>
          </a:solidFill>
          <a:ln w="12700">
            <a:solidFill>
              <a:srgbClr val="CDFC57"/>
            </a:solidFill>
            <a:prstDash val="solid"/>
          </a:ln>
        </p:spPr>
      </p:sp>
      <p:sp>
        <p:nvSpPr>
          <p:cNvPr id="3" name="Text 1"/>
          <p:cNvSpPr/>
          <p:nvPr/>
        </p:nvSpPr>
        <p:spPr>
          <a:xfrm>
            <a:off x="5135728" y="502920"/>
            <a:ext cx="1920240" cy="310896"/>
          </a:xfrm>
          <a:prstGeom prst="rect">
            <a:avLst/>
          </a:prstGeom>
          <a:noFill/>
          <a:ln/>
        </p:spPr>
        <p:txBody>
          <a:bodyPr wrap="square" lIns="0" tIns="0" rIns="0" bIns="0" rtlCol="0" anchor="ctr"/>
          <a:lstStyle/>
          <a:p>
            <a:pPr algn="ctr" indent="0" marL="0">
              <a:buNone/>
            </a:pPr>
            <a:r>
              <a:rPr lang="en-US" sz="1000" b="1" spc="300" kern="0" dirty="0">
                <a:solidFill>
                  <a:srgbClr val="CDFC57"/>
                </a:solidFill>
                <a:latin typeface="Calibri" pitchFamily="34" charset="0"/>
                <a:ea typeface="Calibri" pitchFamily="34" charset="-122"/>
                <a:cs typeface="Calibri" pitchFamily="34" charset="-120"/>
              </a:rPr>
              <a:t>2027 VISION</a:t>
            </a:r>
            <a:endParaRPr lang="en-US" sz="1000" dirty="0"/>
          </a:p>
        </p:txBody>
      </p:sp>
      <p:sp>
        <p:nvSpPr>
          <p:cNvPr id="4" name="Text 2"/>
          <p:cNvSpPr/>
          <p:nvPr/>
        </p:nvSpPr>
        <p:spPr>
          <a:xfrm>
            <a:off x="621792" y="1005840"/>
            <a:ext cx="10948111" cy="868680"/>
          </a:xfrm>
          <a:prstGeom prst="rect">
            <a:avLst/>
          </a:prstGeom>
          <a:noFill/>
          <a:ln/>
        </p:spPr>
        <p:txBody>
          <a:bodyPr wrap="square" lIns="0" tIns="0" rIns="0" bIns="0" rtlCol="0" anchor="ctr">
            <a:normAutofit/>
          </a:bodyPr>
          <a:lstStyle/>
          <a:p>
            <a:pPr algn="ctr" indent="0" marL="0">
              <a:buNone/>
            </a:pPr>
            <a:r>
              <a:rPr lang="en-US" sz="3000" b="1" dirty="0">
                <a:solidFill>
                  <a:srgbClr val="FFFFFF"/>
                </a:solidFill>
                <a:latin typeface="Calibri" pitchFamily="34" charset="0"/>
                <a:ea typeface="Calibri" pitchFamily="34" charset="-122"/>
                <a:cs typeface="Calibri" pitchFamily="34" charset="-120"/>
              </a:rPr>
              <a:t>From data you collect </a:t>
            </a:r>
            <a:pPr algn="ctr" indent="0" marL="0">
              <a:buNone/>
            </a:pPr>
            <a:r>
              <a:rPr lang="en-US" sz="3000" b="1" dirty="0">
                <a:solidFill>
                  <a:srgbClr val="CDFC57"/>
                </a:solidFill>
                <a:latin typeface="Calibri" pitchFamily="34" charset="0"/>
                <a:ea typeface="Calibri" pitchFamily="34" charset="-122"/>
                <a:cs typeface="Calibri" pitchFamily="34" charset="-120"/>
              </a:rPr>
              <a:t>to intelligence that decides.</a:t>
            </a:r>
            <a:endParaRPr lang="en-US" sz="3000" dirty="0"/>
          </a:p>
        </p:txBody>
      </p:sp>
      <p:sp>
        <p:nvSpPr>
          <p:cNvPr id="5" name="Text 3"/>
          <p:cNvSpPr/>
          <p:nvPr/>
        </p:nvSpPr>
        <p:spPr>
          <a:xfrm>
            <a:off x="2163928" y="1965960"/>
            <a:ext cx="7863840" cy="960120"/>
          </a:xfrm>
          <a:prstGeom prst="rect">
            <a:avLst/>
          </a:prstGeom>
          <a:noFill/>
          <a:ln/>
        </p:spPr>
        <p:txBody>
          <a:bodyPr wrap="square" lIns="0" tIns="0" rIns="0" bIns="0" rtlCol="0" anchor="t">
            <a:normAutofit/>
          </a:bodyPr>
          <a:lstStyle/>
          <a:p>
            <a:pPr algn="ctr" indent="0" marL="0">
              <a:lnSpc>
                <a:spcPct val="125000"/>
              </a:lnSpc>
              <a:buNone/>
            </a:pPr>
            <a:r>
              <a:rPr lang="en-US" sz="1200" dirty="0">
                <a:solidFill>
                  <a:srgbClr val="BFD9C9"/>
                </a:solidFill>
                <a:latin typeface="Calibri" pitchFamily="34" charset="0"/>
                <a:ea typeface="Calibri" pitchFamily="34" charset="-122"/>
                <a:cs typeface="Calibri" pitchFamily="34" charset="-120"/>
              </a:rPr>
              <a:t>By 2027, RA+ is no longer the place where sustainability data is stored. It is the place where the business is run: every footprint consultant grade, every risk priced in financial terms, every disclosure generated from the same trusted numbers, every decision grounded in one shared source of truth.</a:t>
            </a:r>
            <a:endParaRPr lang="en-US" sz="1200" dirty="0"/>
          </a:p>
        </p:txBody>
      </p:sp>
      <p:sp>
        <p:nvSpPr>
          <p:cNvPr id="6" name="Shape 4"/>
          <p:cNvSpPr/>
          <p:nvPr/>
        </p:nvSpPr>
        <p:spPr>
          <a:xfrm>
            <a:off x="621792" y="3246120"/>
            <a:ext cx="3405530" cy="1828800"/>
          </a:xfrm>
          <a:prstGeom prst="roundRect">
            <a:avLst>
              <a:gd name="adj" fmla="val 3000"/>
            </a:avLst>
          </a:prstGeom>
          <a:solidFill>
            <a:srgbClr val="0F4A2E"/>
          </a:solidFill>
          <a:ln w="9525">
            <a:solidFill>
              <a:srgbClr val="CDFC57"/>
            </a:solidFill>
            <a:prstDash val="solid"/>
          </a:ln>
        </p:spPr>
      </p:sp>
      <p:sp>
        <p:nvSpPr>
          <p:cNvPr id="7" name="Text 5"/>
          <p:cNvSpPr/>
          <p:nvPr/>
        </p:nvSpPr>
        <p:spPr>
          <a:xfrm>
            <a:off x="850392" y="3447288"/>
            <a:ext cx="2948330" cy="365760"/>
          </a:xfrm>
          <a:prstGeom prst="rect">
            <a:avLst/>
          </a:prstGeom>
          <a:noFill/>
          <a:ln/>
        </p:spPr>
        <p:txBody>
          <a:bodyPr wrap="square" lIns="0" tIns="0" rIns="0" bIns="0" rtlCol="0" anchor="ctr">
            <a:normAutofit/>
          </a:bodyPr>
          <a:lstStyle/>
          <a:p>
            <a:pPr algn="ctr" indent="0" marL="0">
              <a:buNone/>
            </a:pPr>
            <a:r>
              <a:rPr lang="en-US" sz="1500" b="1" dirty="0">
                <a:solidFill>
                  <a:srgbClr val="CDFC57"/>
                </a:solidFill>
                <a:latin typeface="Calibri" pitchFamily="34" charset="0"/>
                <a:ea typeface="Calibri" pitchFamily="34" charset="-122"/>
                <a:cs typeface="Calibri" pitchFamily="34" charset="-120"/>
              </a:rPr>
              <a:t>One platform</a:t>
            </a:r>
            <a:endParaRPr lang="en-US" sz="1500" dirty="0"/>
          </a:p>
        </p:txBody>
      </p:sp>
      <p:sp>
        <p:nvSpPr>
          <p:cNvPr id="8" name="Text 6"/>
          <p:cNvSpPr/>
          <p:nvPr/>
        </p:nvSpPr>
        <p:spPr>
          <a:xfrm>
            <a:off x="850392" y="3886200"/>
            <a:ext cx="2948330" cy="960120"/>
          </a:xfrm>
          <a:prstGeom prst="rect">
            <a:avLst/>
          </a:prstGeom>
          <a:noFill/>
          <a:ln/>
        </p:spPr>
        <p:txBody>
          <a:bodyPr wrap="square" lIns="0" tIns="0" rIns="0" bIns="0" rtlCol="0" anchor="t">
            <a:normAutofit/>
          </a:bodyPr>
          <a:lstStyle/>
          <a:p>
            <a:pPr algn="ctr" indent="0" marL="0">
              <a:lnSpc>
                <a:spcPct val="120000"/>
              </a:lnSpc>
              <a:buNone/>
            </a:pPr>
            <a:r>
              <a:rPr lang="en-US" sz="1050" dirty="0">
                <a:solidFill>
                  <a:srgbClr val="BFD9C9"/>
                </a:solidFill>
                <a:latin typeface="Calibri" pitchFamily="34" charset="0"/>
                <a:ea typeface="Calibri" pitchFamily="34" charset="-122"/>
                <a:cs typeface="Calibri" pitchFamily="34" charset="-120"/>
              </a:rPr>
              <a:t>Sustainability, Energy and Efficiency converge on a single data spine. One hierarchy, one ontology, one version of the truth for every product.</a:t>
            </a:r>
            <a:endParaRPr lang="en-US" sz="1050" dirty="0"/>
          </a:p>
        </p:txBody>
      </p:sp>
      <p:sp>
        <p:nvSpPr>
          <p:cNvPr id="9" name="Shape 7"/>
          <p:cNvSpPr/>
          <p:nvPr/>
        </p:nvSpPr>
        <p:spPr>
          <a:xfrm>
            <a:off x="4393082" y="3246120"/>
            <a:ext cx="3405530" cy="1828800"/>
          </a:xfrm>
          <a:prstGeom prst="roundRect">
            <a:avLst>
              <a:gd name="adj" fmla="val 3000"/>
            </a:avLst>
          </a:prstGeom>
          <a:solidFill>
            <a:srgbClr val="0F4A2E"/>
          </a:solidFill>
          <a:ln w="9525">
            <a:solidFill>
              <a:srgbClr val="CDFC57"/>
            </a:solidFill>
            <a:prstDash val="solid"/>
          </a:ln>
        </p:spPr>
      </p:sp>
      <p:sp>
        <p:nvSpPr>
          <p:cNvPr id="10" name="Text 8"/>
          <p:cNvSpPr/>
          <p:nvPr/>
        </p:nvSpPr>
        <p:spPr>
          <a:xfrm>
            <a:off x="4621682" y="3447288"/>
            <a:ext cx="2948330" cy="365760"/>
          </a:xfrm>
          <a:prstGeom prst="rect">
            <a:avLst/>
          </a:prstGeom>
          <a:noFill/>
          <a:ln/>
        </p:spPr>
        <p:txBody>
          <a:bodyPr wrap="square" lIns="0" tIns="0" rIns="0" bIns="0" rtlCol="0" anchor="ctr">
            <a:normAutofit/>
          </a:bodyPr>
          <a:lstStyle/>
          <a:p>
            <a:pPr algn="ctr" indent="0" marL="0">
              <a:buNone/>
            </a:pPr>
            <a:r>
              <a:rPr lang="en-US" sz="1500" b="1" dirty="0">
                <a:solidFill>
                  <a:srgbClr val="CDFC57"/>
                </a:solidFill>
                <a:latin typeface="Calibri" pitchFamily="34" charset="0"/>
                <a:ea typeface="Calibri" pitchFamily="34" charset="-122"/>
                <a:cs typeface="Calibri" pitchFamily="34" charset="-120"/>
              </a:rPr>
              <a:t>AI native</a:t>
            </a:r>
            <a:endParaRPr lang="en-US" sz="1500" dirty="0"/>
          </a:p>
        </p:txBody>
      </p:sp>
      <p:sp>
        <p:nvSpPr>
          <p:cNvPr id="11" name="Text 9"/>
          <p:cNvSpPr/>
          <p:nvPr/>
        </p:nvSpPr>
        <p:spPr>
          <a:xfrm>
            <a:off x="4621682" y="3886200"/>
            <a:ext cx="2948330" cy="960120"/>
          </a:xfrm>
          <a:prstGeom prst="rect">
            <a:avLst/>
          </a:prstGeom>
          <a:noFill/>
          <a:ln/>
        </p:spPr>
        <p:txBody>
          <a:bodyPr wrap="square" lIns="0" tIns="0" rIns="0" bIns="0" rtlCol="0" anchor="t">
            <a:normAutofit/>
          </a:bodyPr>
          <a:lstStyle/>
          <a:p>
            <a:pPr algn="ctr" indent="0" marL="0">
              <a:lnSpc>
                <a:spcPct val="120000"/>
              </a:lnSpc>
              <a:buNone/>
            </a:pPr>
            <a:r>
              <a:rPr lang="en-US" sz="1050" dirty="0">
                <a:solidFill>
                  <a:srgbClr val="BFD9C9"/>
                </a:solidFill>
                <a:latin typeface="Calibri" pitchFamily="34" charset="0"/>
                <a:ea typeface="Calibri" pitchFamily="34" charset="-122"/>
                <a:cs typeface="Calibri" pitchFamily="34" charset="-120"/>
              </a:rPr>
              <a:t>Sera agents act on the shared ontology across every product, turning data into recommendations, scenarios and actions before anyone asks.</a:t>
            </a:r>
            <a:endParaRPr lang="en-US" sz="1050" dirty="0"/>
          </a:p>
        </p:txBody>
      </p:sp>
      <p:sp>
        <p:nvSpPr>
          <p:cNvPr id="12" name="Shape 10"/>
          <p:cNvSpPr/>
          <p:nvPr/>
        </p:nvSpPr>
        <p:spPr>
          <a:xfrm>
            <a:off x="8164373" y="3246120"/>
            <a:ext cx="3405530" cy="1828800"/>
          </a:xfrm>
          <a:prstGeom prst="roundRect">
            <a:avLst>
              <a:gd name="adj" fmla="val 3000"/>
            </a:avLst>
          </a:prstGeom>
          <a:solidFill>
            <a:srgbClr val="0F4A2E"/>
          </a:solidFill>
          <a:ln w="9525">
            <a:solidFill>
              <a:srgbClr val="CDFC57"/>
            </a:solidFill>
            <a:prstDash val="solid"/>
          </a:ln>
        </p:spPr>
      </p:sp>
      <p:sp>
        <p:nvSpPr>
          <p:cNvPr id="13" name="Text 11"/>
          <p:cNvSpPr/>
          <p:nvPr/>
        </p:nvSpPr>
        <p:spPr>
          <a:xfrm>
            <a:off x="8392973" y="3447288"/>
            <a:ext cx="2948330" cy="365760"/>
          </a:xfrm>
          <a:prstGeom prst="rect">
            <a:avLst/>
          </a:prstGeom>
          <a:noFill/>
          <a:ln/>
        </p:spPr>
        <p:txBody>
          <a:bodyPr wrap="square" lIns="0" tIns="0" rIns="0" bIns="0" rtlCol="0" anchor="ctr">
            <a:normAutofit/>
          </a:bodyPr>
          <a:lstStyle/>
          <a:p>
            <a:pPr algn="ctr" indent="0" marL="0">
              <a:buNone/>
            </a:pPr>
            <a:r>
              <a:rPr lang="en-US" sz="1500" b="1" dirty="0">
                <a:solidFill>
                  <a:srgbClr val="CDFC57"/>
                </a:solidFill>
                <a:latin typeface="Calibri" pitchFamily="34" charset="0"/>
                <a:ea typeface="Calibri" pitchFamily="34" charset="-122"/>
                <a:cs typeface="Calibri" pitchFamily="34" charset="-120"/>
              </a:rPr>
              <a:t>Board grade</a:t>
            </a:r>
            <a:endParaRPr lang="en-US" sz="1500" dirty="0"/>
          </a:p>
        </p:txBody>
      </p:sp>
      <p:sp>
        <p:nvSpPr>
          <p:cNvPr id="14" name="Text 12"/>
          <p:cNvSpPr/>
          <p:nvPr/>
        </p:nvSpPr>
        <p:spPr>
          <a:xfrm>
            <a:off x="8392973" y="3886200"/>
            <a:ext cx="2948330" cy="960120"/>
          </a:xfrm>
          <a:prstGeom prst="rect">
            <a:avLst/>
          </a:prstGeom>
          <a:noFill/>
          <a:ln/>
        </p:spPr>
        <p:txBody>
          <a:bodyPr wrap="square" lIns="0" tIns="0" rIns="0" bIns="0" rtlCol="0" anchor="t">
            <a:normAutofit/>
          </a:bodyPr>
          <a:lstStyle/>
          <a:p>
            <a:pPr algn="ctr" indent="0" marL="0">
              <a:lnSpc>
                <a:spcPct val="120000"/>
              </a:lnSpc>
              <a:buNone/>
            </a:pPr>
            <a:r>
              <a:rPr lang="en-US" sz="1050" dirty="0">
                <a:solidFill>
                  <a:srgbClr val="BFD9C9"/>
                </a:solidFill>
                <a:latin typeface="Calibri" pitchFamily="34" charset="0"/>
                <a:ea typeface="Calibri" pitchFamily="34" charset="-122"/>
                <a:cs typeface="Calibri" pitchFamily="34" charset="-120"/>
              </a:rPr>
              <a:t>Every number is auditable, every disclosure is generated, every value at risk is expressed in the language the CFO and the board trade in.</a:t>
            </a:r>
            <a:endParaRPr lang="en-US" sz="1050" dirty="0"/>
          </a:p>
        </p:txBody>
      </p:sp>
      <p:sp>
        <p:nvSpPr>
          <p:cNvPr id="15" name="Text 13"/>
          <p:cNvSpPr/>
          <p:nvPr/>
        </p:nvSpPr>
        <p:spPr>
          <a:xfrm>
            <a:off x="621792" y="5532120"/>
            <a:ext cx="10948111" cy="457200"/>
          </a:xfrm>
          <a:prstGeom prst="rect">
            <a:avLst/>
          </a:prstGeom>
          <a:noFill/>
          <a:ln/>
        </p:spPr>
        <p:txBody>
          <a:bodyPr wrap="square" lIns="0" tIns="0" rIns="0" bIns="0" rtlCol="0" anchor="ctr"/>
          <a:lstStyle/>
          <a:p>
            <a:pPr algn="ctr" indent="0" marL="0">
              <a:buNone/>
            </a:pPr>
            <a:r>
              <a:rPr lang="en-US" sz="1800" spc="100" kern="0" dirty="0">
                <a:solidFill>
                  <a:srgbClr val="FFFFFF"/>
                </a:solidFill>
                <a:latin typeface="Calibri" pitchFamily="34" charset="0"/>
                <a:ea typeface="Calibri" pitchFamily="34" charset="-122"/>
                <a:cs typeface="Calibri" pitchFamily="34" charset="-120"/>
              </a:rPr>
              <a:t>End-to-end value, only we can deliver.</a:t>
            </a:r>
            <a:endParaRPr lang="en-US" sz="1800" dirty="0"/>
          </a:p>
        </p:txBody>
      </p:sp>
      <p:sp>
        <p:nvSpPr>
          <p:cNvPr id="16" name="Text 14"/>
          <p:cNvSpPr/>
          <p:nvPr/>
        </p:nvSpPr>
        <p:spPr>
          <a:xfrm>
            <a:off x="8460943" y="6355080"/>
            <a:ext cx="3108960" cy="274320"/>
          </a:xfrm>
          <a:prstGeom prst="rect">
            <a:avLst/>
          </a:prstGeom>
          <a:noFill/>
          <a:ln/>
        </p:spPr>
        <p:txBody>
          <a:bodyPr wrap="square" lIns="0" tIns="0" rIns="0" bIns="0" rtlCol="0" anchor="ctr"/>
          <a:lstStyle/>
          <a:p>
            <a:pPr algn="r" indent="0" marL="0">
              <a:buNone/>
            </a:pPr>
            <a:r>
              <a:rPr lang="en-US" sz="1300" b="1" dirty="0">
                <a:solidFill>
                  <a:srgbClr val="3DCD58"/>
                </a:solidFill>
                <a:latin typeface="Calibri" pitchFamily="34" charset="0"/>
                <a:ea typeface="Calibri" pitchFamily="34" charset="-122"/>
                <a:cs typeface="Calibri" pitchFamily="34" charset="-120"/>
              </a:rPr>
              <a:t>SE </a:t>
            </a:r>
            <a:pPr algn="r" indent="0" marL="0">
              <a:buNone/>
            </a:pPr>
            <a:r>
              <a:rPr lang="en-US" sz="1300" dirty="0">
                <a:solidFill>
                  <a:srgbClr val="FFFFFF"/>
                </a:solidFill>
                <a:latin typeface="Calibri" pitchFamily="34" charset="0"/>
                <a:ea typeface="Calibri" pitchFamily="34" charset="-122"/>
                <a:cs typeface="Calibri" pitchFamily="34" charset="-120"/>
              </a:rPr>
              <a:t>ADVISORY SERVICES</a:t>
            </a:r>
            <a:endParaRPr lang="en-US" sz="1300" dirty="0"/>
          </a:p>
        </p:txBody>
      </p:sp>
      <p:sp>
        <p:nvSpPr>
          <p:cNvPr id="25" name="Slide Number Placeholder 0"/>
          <p:cNvSpPr>
            <a:spLocks noGrp="1"/>
          </p:cNvSpPr>
          <p:nvPr>
            <p:ph type="sldNum" sz="quarter" idx="4294967295"/>
          </p:nvPr>
        </p:nvSpPr>
        <p:spPr>
          <a:xfrm>
            <a:off x="10929823" y="608076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0C3B25"/>
        </a:solidFill>
      </p:bgPr>
    </p:bg>
    <p:spTree>
      <p:nvGrpSpPr>
        <p:cNvPr id="1" name=""/>
        <p:cNvGrpSpPr/>
        <p:nvPr/>
      </p:nvGrpSpPr>
      <p:grpSpPr>
        <a:xfrm>
          <a:off x="0" y="0"/>
          <a:ext cx="0" cy="0"/>
          <a:chOff x="0" y="0"/>
          <a:chExt cx="0" cy="0"/>
        </a:xfrm>
      </p:grpSpPr>
      <p:sp>
        <p:nvSpPr>
          <p:cNvPr id="2" name="Shape 0"/>
          <p:cNvSpPr/>
          <p:nvPr/>
        </p:nvSpPr>
        <p:spPr>
          <a:xfrm>
            <a:off x="621792" y="384048"/>
            <a:ext cx="2514600" cy="310896"/>
          </a:xfrm>
          <a:prstGeom prst="roundRect">
            <a:avLst>
              <a:gd name="adj" fmla="val 50000"/>
            </a:avLst>
          </a:prstGeom>
          <a:solidFill>
            <a:srgbClr val="0C3B25"/>
          </a:solidFill>
          <a:ln w="12700">
            <a:solidFill>
              <a:srgbClr val="CDFC57"/>
            </a:solidFill>
            <a:prstDash val="solid"/>
          </a:ln>
        </p:spPr>
      </p:sp>
      <p:sp>
        <p:nvSpPr>
          <p:cNvPr id="3" name="Text 1"/>
          <p:cNvSpPr/>
          <p:nvPr/>
        </p:nvSpPr>
        <p:spPr>
          <a:xfrm>
            <a:off x="621792" y="384048"/>
            <a:ext cx="2514600" cy="310896"/>
          </a:xfrm>
          <a:prstGeom prst="rect">
            <a:avLst/>
          </a:prstGeom>
          <a:noFill/>
          <a:ln/>
        </p:spPr>
        <p:txBody>
          <a:bodyPr wrap="square" lIns="0" tIns="0" rIns="0" bIns="0" rtlCol="0" anchor="ctr"/>
          <a:lstStyle/>
          <a:p>
            <a:pPr algn="ctr" indent="0" marL="0">
              <a:buNone/>
            </a:pPr>
            <a:r>
              <a:rPr lang="en-US" sz="900" b="1" spc="180" kern="0" dirty="0">
                <a:solidFill>
                  <a:srgbClr val="CDFC57"/>
                </a:solidFill>
                <a:latin typeface="Calibri" pitchFamily="34" charset="0"/>
                <a:ea typeface="Calibri" pitchFamily="34" charset="-122"/>
                <a:cs typeface="Calibri" pitchFamily="34" charset="-120"/>
              </a:rPr>
              <a:t>BEYOND 2027 | DIRECTIONAL</a:t>
            </a:r>
            <a:endParaRPr lang="en-US" sz="900" dirty="0"/>
          </a:p>
        </p:txBody>
      </p:sp>
      <p:sp>
        <p:nvSpPr>
          <p:cNvPr id="4" name="Text 2"/>
          <p:cNvSpPr/>
          <p:nvPr/>
        </p:nvSpPr>
        <p:spPr>
          <a:xfrm>
            <a:off x="621792" y="850392"/>
            <a:ext cx="10948111" cy="713232"/>
          </a:xfrm>
          <a:prstGeom prst="rect">
            <a:avLst/>
          </a:prstGeom>
          <a:noFill/>
          <a:ln/>
        </p:spPr>
        <p:txBody>
          <a:bodyPr wrap="square" lIns="0" tIns="0" rIns="0" bIns="0" rtlCol="0" anchor="ctr">
            <a:normAutofit/>
          </a:bodyPr>
          <a:lstStyle/>
          <a:p>
            <a:pPr indent="0" marL="0">
              <a:buNone/>
            </a:pPr>
            <a:r>
              <a:rPr lang="en-US" sz="2700" b="1" dirty="0">
                <a:solidFill>
                  <a:srgbClr val="FFFFFF"/>
                </a:solidFill>
                <a:latin typeface="Calibri" pitchFamily="34" charset="0"/>
                <a:ea typeface="Calibri" pitchFamily="34" charset="-122"/>
                <a:cs typeface="Calibri" pitchFamily="34" charset="-120"/>
              </a:rPr>
              <a:t>The long-term path: from connected products to an autonomous value platform</a:t>
            </a:r>
            <a:endParaRPr lang="en-US" sz="2700" dirty="0"/>
          </a:p>
        </p:txBody>
      </p:sp>
      <p:sp>
        <p:nvSpPr>
          <p:cNvPr id="5" name="Text 3"/>
          <p:cNvSpPr/>
          <p:nvPr/>
        </p:nvSpPr>
        <p:spPr>
          <a:xfrm>
            <a:off x="621792" y="1627632"/>
            <a:ext cx="9875520" cy="438912"/>
          </a:xfrm>
          <a:prstGeom prst="rect">
            <a:avLst/>
          </a:prstGeom>
          <a:noFill/>
          <a:ln/>
        </p:spPr>
        <p:txBody>
          <a:bodyPr wrap="square" lIns="0" tIns="0" rIns="0" bIns="0" rtlCol="0" anchor="t">
            <a:normAutofit/>
          </a:bodyPr>
          <a:lstStyle/>
          <a:p>
            <a:pPr indent="0" marL="0">
              <a:buNone/>
            </a:pPr>
            <a:r>
              <a:rPr lang="en-US" sz="1150" dirty="0">
                <a:solidFill>
                  <a:srgbClr val="BFD9C9"/>
                </a:solidFill>
                <a:latin typeface="Calibri" pitchFamily="34" charset="0"/>
                <a:ea typeface="Calibri" pitchFamily="34" charset="-122"/>
                <a:cs typeface="Calibri" pitchFamily="34" charset="-120"/>
              </a:rPr>
              <a:t>A strategic horizon, not a committed release plan. Each stage compounds the shared data, intelligence and experience built through 2027.</a:t>
            </a:r>
            <a:endParaRPr lang="en-US" sz="1150" dirty="0"/>
          </a:p>
        </p:txBody>
      </p:sp>
      <p:sp>
        <p:nvSpPr>
          <p:cNvPr id="6" name="Shape 4"/>
          <p:cNvSpPr/>
          <p:nvPr/>
        </p:nvSpPr>
        <p:spPr>
          <a:xfrm>
            <a:off x="621792" y="2267712"/>
            <a:ext cx="3393338" cy="0"/>
          </a:xfrm>
          <a:prstGeom prst="line">
            <a:avLst/>
          </a:prstGeom>
          <a:noFill/>
          <a:ln w="10160">
            <a:solidFill>
              <a:srgbClr val="5E806E"/>
            </a:solidFill>
            <a:prstDash val="solid"/>
          </a:ln>
        </p:spPr>
      </p:sp>
      <p:sp>
        <p:nvSpPr>
          <p:cNvPr id="7" name="Text 5"/>
          <p:cNvSpPr/>
          <p:nvPr/>
        </p:nvSpPr>
        <p:spPr>
          <a:xfrm>
            <a:off x="4115714" y="2148840"/>
            <a:ext cx="182880" cy="228600"/>
          </a:xfrm>
          <a:prstGeom prst="rect">
            <a:avLst/>
          </a:prstGeom>
          <a:noFill/>
          <a:ln/>
        </p:spPr>
        <p:txBody>
          <a:bodyPr wrap="square" lIns="0" tIns="0" rIns="0" bIns="0" rtlCol="0" anchor="ctr"/>
          <a:lstStyle/>
          <a:p>
            <a:pPr algn="ctr" indent="0" marL="0">
              <a:buNone/>
            </a:pPr>
            <a:r>
              <a:rPr lang="en-US" sz="1700" dirty="0">
                <a:solidFill>
                  <a:srgbClr val="769585"/>
                </a:solidFill>
                <a:latin typeface="Calibri" pitchFamily="34" charset="0"/>
                <a:ea typeface="Calibri" pitchFamily="34" charset="-122"/>
                <a:cs typeface="Calibri" pitchFamily="34" charset="-120"/>
              </a:rPr>
              <a:t>›</a:t>
            </a:r>
            <a:endParaRPr lang="en-US" sz="1700" dirty="0"/>
          </a:p>
        </p:txBody>
      </p:sp>
      <p:sp>
        <p:nvSpPr>
          <p:cNvPr id="8" name="Shape 6"/>
          <p:cNvSpPr/>
          <p:nvPr/>
        </p:nvSpPr>
        <p:spPr>
          <a:xfrm>
            <a:off x="621792" y="2432304"/>
            <a:ext cx="731520" cy="292608"/>
          </a:xfrm>
          <a:prstGeom prst="roundRect">
            <a:avLst>
              <a:gd name="adj" fmla="val 12500"/>
            </a:avLst>
          </a:prstGeom>
          <a:solidFill>
            <a:srgbClr val="0C3B25"/>
          </a:solidFill>
          <a:ln w="12700">
            <a:solidFill>
              <a:srgbClr val="3DCD58"/>
            </a:solidFill>
            <a:prstDash val="solid"/>
          </a:ln>
        </p:spPr>
      </p:sp>
      <p:sp>
        <p:nvSpPr>
          <p:cNvPr id="9" name="Text 7"/>
          <p:cNvSpPr/>
          <p:nvPr/>
        </p:nvSpPr>
        <p:spPr>
          <a:xfrm>
            <a:off x="621792" y="2432304"/>
            <a:ext cx="731520" cy="292608"/>
          </a:xfrm>
          <a:prstGeom prst="rect">
            <a:avLst/>
          </a:prstGeom>
          <a:noFill/>
          <a:ln/>
        </p:spPr>
        <p:txBody>
          <a:bodyPr wrap="square" lIns="0" tIns="0" rIns="0" bIns="0" rtlCol="0" anchor="ctr"/>
          <a:lstStyle/>
          <a:p>
            <a:pPr algn="ctr" indent="0" marL="0">
              <a:buNone/>
            </a:pPr>
            <a:r>
              <a:rPr lang="en-US" sz="1000" b="1" dirty="0">
                <a:solidFill>
                  <a:srgbClr val="3DCD58"/>
                </a:solidFill>
                <a:latin typeface="Calibri" pitchFamily="34" charset="0"/>
                <a:ea typeface="Calibri" pitchFamily="34" charset="-122"/>
                <a:cs typeface="Calibri" pitchFamily="34" charset="-120"/>
              </a:rPr>
              <a:t>2028</a:t>
            </a:r>
            <a:endParaRPr lang="en-US" sz="1000" dirty="0"/>
          </a:p>
        </p:txBody>
      </p:sp>
      <p:sp>
        <p:nvSpPr>
          <p:cNvPr id="10" name="Text 8"/>
          <p:cNvSpPr/>
          <p:nvPr/>
        </p:nvSpPr>
        <p:spPr>
          <a:xfrm>
            <a:off x="621792" y="2889504"/>
            <a:ext cx="3393338" cy="38404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Scale the platform</a:t>
            </a:r>
            <a:endParaRPr lang="en-US" sz="1600" dirty="0"/>
          </a:p>
        </p:txBody>
      </p:sp>
      <p:sp>
        <p:nvSpPr>
          <p:cNvPr id="11" name="Text 9"/>
          <p:cNvSpPr/>
          <p:nvPr/>
        </p:nvSpPr>
        <p:spPr>
          <a:xfrm>
            <a:off x="621792" y="3310128"/>
            <a:ext cx="3393338" cy="594360"/>
          </a:xfrm>
          <a:prstGeom prst="rect">
            <a:avLst/>
          </a:prstGeom>
          <a:noFill/>
          <a:ln/>
        </p:spPr>
        <p:txBody>
          <a:bodyPr wrap="square" lIns="0" tIns="0" rIns="0" bIns="0" rtlCol="0" anchor="t">
            <a:normAutofit/>
          </a:bodyPr>
          <a:lstStyle/>
          <a:p>
            <a:pPr indent="0" marL="0">
              <a:buNone/>
            </a:pPr>
            <a:r>
              <a:rPr lang="en-US" sz="1000" dirty="0">
                <a:solidFill>
                  <a:srgbClr val="BFD9C9"/>
                </a:solidFill>
                <a:latin typeface="Calibri" pitchFamily="34" charset="0"/>
                <a:ea typeface="Calibri" pitchFamily="34" charset="-122"/>
                <a:cs typeface="Calibri" pitchFamily="34" charset="-120"/>
              </a:rPr>
              <a:t>Make one trusted foundation deployable across the enterprise and the extended value chain.</a:t>
            </a:r>
            <a:endParaRPr lang="en-US" sz="1000" dirty="0"/>
          </a:p>
        </p:txBody>
      </p:sp>
      <p:sp>
        <p:nvSpPr>
          <p:cNvPr id="12" name="Shape 10"/>
          <p:cNvSpPr/>
          <p:nvPr/>
        </p:nvSpPr>
        <p:spPr>
          <a:xfrm>
            <a:off x="621792" y="3977640"/>
            <a:ext cx="3393338" cy="0"/>
          </a:xfrm>
          <a:prstGeom prst="line">
            <a:avLst/>
          </a:prstGeom>
          <a:noFill/>
          <a:ln w="6350">
            <a:solidFill>
              <a:srgbClr val="315D47"/>
            </a:solidFill>
            <a:prstDash val="solid"/>
          </a:ln>
        </p:spPr>
      </p:sp>
      <p:sp>
        <p:nvSpPr>
          <p:cNvPr id="13" name="Shape 11"/>
          <p:cNvSpPr/>
          <p:nvPr/>
        </p:nvSpPr>
        <p:spPr>
          <a:xfrm>
            <a:off x="621792" y="4114800"/>
            <a:ext cx="54864" cy="54864"/>
          </a:xfrm>
          <a:prstGeom prst="ellipse">
            <a:avLst/>
          </a:prstGeom>
          <a:solidFill>
            <a:srgbClr val="3DCD58"/>
          </a:solidFill>
          <a:ln w="12700">
            <a:solidFill>
              <a:srgbClr val="3DCD58"/>
            </a:solidFill>
            <a:prstDash val="solid"/>
          </a:ln>
        </p:spPr>
      </p:sp>
      <p:sp>
        <p:nvSpPr>
          <p:cNvPr id="14" name="Text 12"/>
          <p:cNvSpPr/>
          <p:nvPr/>
        </p:nvSpPr>
        <p:spPr>
          <a:xfrm>
            <a:off x="768096" y="4059936"/>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Sustainability Performance broadens the carbon baseline</a:t>
            </a:r>
            <a:endParaRPr lang="en-US" sz="900" dirty="0"/>
          </a:p>
        </p:txBody>
      </p:sp>
      <p:sp>
        <p:nvSpPr>
          <p:cNvPr id="15" name="Shape 13"/>
          <p:cNvSpPr/>
          <p:nvPr/>
        </p:nvSpPr>
        <p:spPr>
          <a:xfrm>
            <a:off x="621792" y="4443984"/>
            <a:ext cx="3393338" cy="0"/>
          </a:xfrm>
          <a:prstGeom prst="line">
            <a:avLst/>
          </a:prstGeom>
          <a:noFill/>
          <a:ln w="6350">
            <a:solidFill>
              <a:srgbClr val="315D47"/>
            </a:solidFill>
            <a:prstDash val="solid"/>
          </a:ln>
        </p:spPr>
      </p:sp>
      <p:sp>
        <p:nvSpPr>
          <p:cNvPr id="16" name="Shape 14"/>
          <p:cNvSpPr/>
          <p:nvPr/>
        </p:nvSpPr>
        <p:spPr>
          <a:xfrm>
            <a:off x="621792" y="4581144"/>
            <a:ext cx="54864" cy="54864"/>
          </a:xfrm>
          <a:prstGeom prst="ellipse">
            <a:avLst/>
          </a:prstGeom>
          <a:solidFill>
            <a:srgbClr val="3DCD58"/>
          </a:solidFill>
          <a:ln w="12700">
            <a:solidFill>
              <a:srgbClr val="3DCD58"/>
            </a:solidFill>
            <a:prstDash val="solid"/>
          </a:ln>
        </p:spPr>
      </p:sp>
      <p:sp>
        <p:nvSpPr>
          <p:cNvPr id="17" name="Text 15"/>
          <p:cNvSpPr/>
          <p:nvPr/>
        </p:nvSpPr>
        <p:spPr>
          <a:xfrm>
            <a:off x="768096" y="4526280"/>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Energy and efficiency data converge on the shared spine</a:t>
            </a:r>
            <a:endParaRPr lang="en-US" sz="900" dirty="0"/>
          </a:p>
        </p:txBody>
      </p:sp>
      <p:sp>
        <p:nvSpPr>
          <p:cNvPr id="18" name="Shape 16"/>
          <p:cNvSpPr/>
          <p:nvPr/>
        </p:nvSpPr>
        <p:spPr>
          <a:xfrm>
            <a:off x="621792" y="4910328"/>
            <a:ext cx="3393338" cy="0"/>
          </a:xfrm>
          <a:prstGeom prst="line">
            <a:avLst/>
          </a:prstGeom>
          <a:noFill/>
          <a:ln w="6350">
            <a:solidFill>
              <a:srgbClr val="315D47"/>
            </a:solidFill>
            <a:prstDash val="solid"/>
          </a:ln>
        </p:spPr>
      </p:sp>
      <p:sp>
        <p:nvSpPr>
          <p:cNvPr id="19" name="Shape 17"/>
          <p:cNvSpPr/>
          <p:nvPr/>
        </p:nvSpPr>
        <p:spPr>
          <a:xfrm>
            <a:off x="621792" y="5047488"/>
            <a:ext cx="54864" cy="54864"/>
          </a:xfrm>
          <a:prstGeom prst="ellipse">
            <a:avLst/>
          </a:prstGeom>
          <a:solidFill>
            <a:srgbClr val="3DCD58"/>
          </a:solidFill>
          <a:ln w="12700">
            <a:solidFill>
              <a:srgbClr val="3DCD58"/>
            </a:solidFill>
            <a:prstDash val="solid"/>
          </a:ln>
        </p:spPr>
      </p:sp>
      <p:sp>
        <p:nvSpPr>
          <p:cNvPr id="20" name="Text 18"/>
          <p:cNvSpPr/>
          <p:nvPr/>
        </p:nvSpPr>
        <p:spPr>
          <a:xfrm>
            <a:off x="768096" y="4992624"/>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Global deployment, localisation and ecosystem APIs</a:t>
            </a:r>
            <a:endParaRPr lang="en-US" sz="900" dirty="0"/>
          </a:p>
        </p:txBody>
      </p:sp>
      <p:sp>
        <p:nvSpPr>
          <p:cNvPr id="21" name="Shape 19"/>
          <p:cNvSpPr/>
          <p:nvPr/>
        </p:nvSpPr>
        <p:spPr>
          <a:xfrm>
            <a:off x="4399178" y="2267712"/>
            <a:ext cx="3393338" cy="0"/>
          </a:xfrm>
          <a:prstGeom prst="line">
            <a:avLst/>
          </a:prstGeom>
          <a:noFill/>
          <a:ln w="10160">
            <a:solidFill>
              <a:srgbClr val="5E806E"/>
            </a:solidFill>
            <a:prstDash val="solid"/>
          </a:ln>
        </p:spPr>
      </p:sp>
      <p:sp>
        <p:nvSpPr>
          <p:cNvPr id="22" name="Text 20"/>
          <p:cNvSpPr/>
          <p:nvPr/>
        </p:nvSpPr>
        <p:spPr>
          <a:xfrm>
            <a:off x="7893101" y="2148840"/>
            <a:ext cx="182880" cy="228600"/>
          </a:xfrm>
          <a:prstGeom prst="rect">
            <a:avLst/>
          </a:prstGeom>
          <a:noFill/>
          <a:ln/>
        </p:spPr>
        <p:txBody>
          <a:bodyPr wrap="square" lIns="0" tIns="0" rIns="0" bIns="0" rtlCol="0" anchor="ctr"/>
          <a:lstStyle/>
          <a:p>
            <a:pPr algn="ctr" indent="0" marL="0">
              <a:buNone/>
            </a:pPr>
            <a:r>
              <a:rPr lang="en-US" sz="1700" dirty="0">
                <a:solidFill>
                  <a:srgbClr val="769585"/>
                </a:solidFill>
                <a:latin typeface="Calibri" pitchFamily="34" charset="0"/>
                <a:ea typeface="Calibri" pitchFamily="34" charset="-122"/>
                <a:cs typeface="Calibri" pitchFamily="34" charset="-120"/>
              </a:rPr>
              <a:t>›</a:t>
            </a:r>
            <a:endParaRPr lang="en-US" sz="1700" dirty="0"/>
          </a:p>
        </p:txBody>
      </p:sp>
      <p:sp>
        <p:nvSpPr>
          <p:cNvPr id="23" name="Shape 21"/>
          <p:cNvSpPr/>
          <p:nvPr/>
        </p:nvSpPr>
        <p:spPr>
          <a:xfrm>
            <a:off x="4399178" y="2432304"/>
            <a:ext cx="731520" cy="292608"/>
          </a:xfrm>
          <a:prstGeom prst="roundRect">
            <a:avLst>
              <a:gd name="adj" fmla="val 12500"/>
            </a:avLst>
          </a:prstGeom>
          <a:solidFill>
            <a:srgbClr val="0C3B25"/>
          </a:solidFill>
          <a:ln w="12700">
            <a:solidFill>
              <a:srgbClr val="CDFC57"/>
            </a:solidFill>
            <a:prstDash val="solid"/>
          </a:ln>
        </p:spPr>
      </p:sp>
      <p:sp>
        <p:nvSpPr>
          <p:cNvPr id="24" name="Text 22"/>
          <p:cNvSpPr/>
          <p:nvPr/>
        </p:nvSpPr>
        <p:spPr>
          <a:xfrm>
            <a:off x="4399178" y="2432304"/>
            <a:ext cx="731520" cy="292608"/>
          </a:xfrm>
          <a:prstGeom prst="rect">
            <a:avLst/>
          </a:prstGeom>
          <a:noFill/>
          <a:ln/>
        </p:spPr>
        <p:txBody>
          <a:bodyPr wrap="square" lIns="0" tIns="0" rIns="0" bIns="0" rtlCol="0" anchor="ctr"/>
          <a:lstStyle/>
          <a:p>
            <a:pPr algn="ctr" indent="0" marL="0">
              <a:buNone/>
            </a:pPr>
            <a:r>
              <a:rPr lang="en-US" sz="1000" b="1" dirty="0">
                <a:solidFill>
                  <a:srgbClr val="CDFC57"/>
                </a:solidFill>
                <a:latin typeface="Calibri" pitchFamily="34" charset="0"/>
                <a:ea typeface="Calibri" pitchFamily="34" charset="-122"/>
                <a:cs typeface="Calibri" pitchFamily="34" charset="-120"/>
              </a:rPr>
              <a:t>2029</a:t>
            </a:r>
            <a:endParaRPr lang="en-US" sz="1000" dirty="0"/>
          </a:p>
        </p:txBody>
      </p:sp>
      <p:sp>
        <p:nvSpPr>
          <p:cNvPr id="25" name="Text 23"/>
          <p:cNvSpPr/>
          <p:nvPr/>
        </p:nvSpPr>
        <p:spPr>
          <a:xfrm>
            <a:off x="4399178" y="2889504"/>
            <a:ext cx="3393338" cy="38404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Industrialise intelligence</a:t>
            </a:r>
            <a:endParaRPr lang="en-US" sz="1600" dirty="0"/>
          </a:p>
        </p:txBody>
      </p:sp>
      <p:sp>
        <p:nvSpPr>
          <p:cNvPr id="26" name="Text 24"/>
          <p:cNvSpPr/>
          <p:nvPr/>
        </p:nvSpPr>
        <p:spPr>
          <a:xfrm>
            <a:off x="4399178" y="3310128"/>
            <a:ext cx="3393338" cy="594360"/>
          </a:xfrm>
          <a:prstGeom prst="rect">
            <a:avLst/>
          </a:prstGeom>
          <a:noFill/>
          <a:ln/>
        </p:spPr>
        <p:txBody>
          <a:bodyPr wrap="square" lIns="0" tIns="0" rIns="0" bIns="0" rtlCol="0" anchor="t">
            <a:normAutofit/>
          </a:bodyPr>
          <a:lstStyle/>
          <a:p>
            <a:pPr indent="0" marL="0">
              <a:buNone/>
            </a:pPr>
            <a:r>
              <a:rPr lang="en-US" sz="1000" dirty="0">
                <a:solidFill>
                  <a:srgbClr val="BFD9C9"/>
                </a:solidFill>
                <a:latin typeface="Calibri" pitchFamily="34" charset="0"/>
                <a:ea typeface="Calibri" pitchFamily="34" charset="-122"/>
                <a:cs typeface="Calibri" pitchFamily="34" charset="-120"/>
              </a:rPr>
              <a:t>Turn shared context into decision support that works across every product and workflow.</a:t>
            </a:r>
            <a:endParaRPr lang="en-US" sz="1000" dirty="0"/>
          </a:p>
        </p:txBody>
      </p:sp>
      <p:sp>
        <p:nvSpPr>
          <p:cNvPr id="27" name="Shape 25"/>
          <p:cNvSpPr/>
          <p:nvPr/>
        </p:nvSpPr>
        <p:spPr>
          <a:xfrm>
            <a:off x="4399178" y="3977640"/>
            <a:ext cx="3393338" cy="0"/>
          </a:xfrm>
          <a:prstGeom prst="line">
            <a:avLst/>
          </a:prstGeom>
          <a:noFill/>
          <a:ln w="6350">
            <a:solidFill>
              <a:srgbClr val="315D47"/>
            </a:solidFill>
            <a:prstDash val="solid"/>
          </a:ln>
        </p:spPr>
      </p:sp>
      <p:sp>
        <p:nvSpPr>
          <p:cNvPr id="28" name="Shape 26"/>
          <p:cNvSpPr/>
          <p:nvPr/>
        </p:nvSpPr>
        <p:spPr>
          <a:xfrm>
            <a:off x="4399178" y="4114800"/>
            <a:ext cx="54864" cy="54864"/>
          </a:xfrm>
          <a:prstGeom prst="ellipse">
            <a:avLst/>
          </a:prstGeom>
          <a:solidFill>
            <a:srgbClr val="3DCD58"/>
          </a:solidFill>
          <a:ln w="12700">
            <a:solidFill>
              <a:srgbClr val="3DCD58"/>
            </a:solidFill>
            <a:prstDash val="solid"/>
          </a:ln>
        </p:spPr>
      </p:sp>
      <p:sp>
        <p:nvSpPr>
          <p:cNvPr id="29" name="Text 27"/>
          <p:cNvSpPr/>
          <p:nvPr/>
        </p:nvSpPr>
        <p:spPr>
          <a:xfrm>
            <a:off x="4545482" y="4059936"/>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Cross-domain scenarios connect cost, carbon, energy and risk</a:t>
            </a:r>
            <a:endParaRPr lang="en-US" sz="900" dirty="0"/>
          </a:p>
        </p:txBody>
      </p:sp>
      <p:sp>
        <p:nvSpPr>
          <p:cNvPr id="30" name="Shape 28"/>
          <p:cNvSpPr/>
          <p:nvPr/>
        </p:nvSpPr>
        <p:spPr>
          <a:xfrm>
            <a:off x="4399178" y="4443984"/>
            <a:ext cx="3393338" cy="0"/>
          </a:xfrm>
          <a:prstGeom prst="line">
            <a:avLst/>
          </a:prstGeom>
          <a:noFill/>
          <a:ln w="6350">
            <a:solidFill>
              <a:srgbClr val="315D47"/>
            </a:solidFill>
            <a:prstDash val="solid"/>
          </a:ln>
        </p:spPr>
      </p:sp>
      <p:sp>
        <p:nvSpPr>
          <p:cNvPr id="31" name="Shape 29"/>
          <p:cNvSpPr/>
          <p:nvPr/>
        </p:nvSpPr>
        <p:spPr>
          <a:xfrm>
            <a:off x="4399178" y="4581144"/>
            <a:ext cx="54864" cy="54864"/>
          </a:xfrm>
          <a:prstGeom prst="ellipse">
            <a:avLst/>
          </a:prstGeom>
          <a:solidFill>
            <a:srgbClr val="3DCD58"/>
          </a:solidFill>
          <a:ln w="12700">
            <a:solidFill>
              <a:srgbClr val="3DCD58"/>
            </a:solidFill>
            <a:prstDash val="solid"/>
          </a:ln>
        </p:spPr>
      </p:sp>
      <p:sp>
        <p:nvSpPr>
          <p:cNvPr id="32" name="Text 30"/>
          <p:cNvSpPr/>
          <p:nvPr/>
        </p:nvSpPr>
        <p:spPr>
          <a:xfrm>
            <a:off x="4545482" y="4526280"/>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Sera orchestrates recommendations across the portfolio</a:t>
            </a:r>
            <a:endParaRPr lang="en-US" sz="900" dirty="0"/>
          </a:p>
        </p:txBody>
      </p:sp>
      <p:sp>
        <p:nvSpPr>
          <p:cNvPr id="33" name="Shape 31"/>
          <p:cNvSpPr/>
          <p:nvPr/>
        </p:nvSpPr>
        <p:spPr>
          <a:xfrm>
            <a:off x="4399178" y="4910328"/>
            <a:ext cx="3393338" cy="0"/>
          </a:xfrm>
          <a:prstGeom prst="line">
            <a:avLst/>
          </a:prstGeom>
          <a:noFill/>
          <a:ln w="6350">
            <a:solidFill>
              <a:srgbClr val="315D47"/>
            </a:solidFill>
            <a:prstDash val="solid"/>
          </a:ln>
        </p:spPr>
      </p:sp>
      <p:sp>
        <p:nvSpPr>
          <p:cNvPr id="34" name="Shape 32"/>
          <p:cNvSpPr/>
          <p:nvPr/>
        </p:nvSpPr>
        <p:spPr>
          <a:xfrm>
            <a:off x="4399178" y="5047488"/>
            <a:ext cx="54864" cy="54864"/>
          </a:xfrm>
          <a:prstGeom prst="ellipse">
            <a:avLst/>
          </a:prstGeom>
          <a:solidFill>
            <a:srgbClr val="3DCD58"/>
          </a:solidFill>
          <a:ln w="12700">
            <a:solidFill>
              <a:srgbClr val="3DCD58"/>
            </a:solidFill>
            <a:prstDash val="solid"/>
          </a:ln>
        </p:spPr>
      </p:sp>
      <p:sp>
        <p:nvSpPr>
          <p:cNvPr id="35" name="Text 33"/>
          <p:cNvSpPr/>
          <p:nvPr/>
        </p:nvSpPr>
        <p:spPr>
          <a:xfrm>
            <a:off x="4545482" y="4992624"/>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Predictive controls surface value and exposure earlier</a:t>
            </a:r>
            <a:endParaRPr lang="en-US" sz="900" dirty="0"/>
          </a:p>
        </p:txBody>
      </p:sp>
      <p:sp>
        <p:nvSpPr>
          <p:cNvPr id="36" name="Shape 34"/>
          <p:cNvSpPr/>
          <p:nvPr/>
        </p:nvSpPr>
        <p:spPr>
          <a:xfrm>
            <a:off x="8176565" y="2267712"/>
            <a:ext cx="3393338" cy="0"/>
          </a:xfrm>
          <a:prstGeom prst="line">
            <a:avLst/>
          </a:prstGeom>
          <a:noFill/>
          <a:ln w="10160">
            <a:solidFill>
              <a:srgbClr val="5E806E"/>
            </a:solidFill>
            <a:prstDash val="solid"/>
          </a:ln>
        </p:spPr>
      </p:sp>
      <p:sp>
        <p:nvSpPr>
          <p:cNvPr id="37" name="Shape 35"/>
          <p:cNvSpPr/>
          <p:nvPr/>
        </p:nvSpPr>
        <p:spPr>
          <a:xfrm>
            <a:off x="8176565" y="2432304"/>
            <a:ext cx="731520" cy="292608"/>
          </a:xfrm>
          <a:prstGeom prst="roundRect">
            <a:avLst>
              <a:gd name="adj" fmla="val 12500"/>
            </a:avLst>
          </a:prstGeom>
          <a:solidFill>
            <a:srgbClr val="0C3B25"/>
          </a:solidFill>
          <a:ln w="12700">
            <a:solidFill>
              <a:srgbClr val="FFB04C"/>
            </a:solidFill>
            <a:prstDash val="solid"/>
          </a:ln>
        </p:spPr>
      </p:sp>
      <p:sp>
        <p:nvSpPr>
          <p:cNvPr id="38" name="Text 36"/>
          <p:cNvSpPr/>
          <p:nvPr/>
        </p:nvSpPr>
        <p:spPr>
          <a:xfrm>
            <a:off x="8176565" y="2432304"/>
            <a:ext cx="731520" cy="292608"/>
          </a:xfrm>
          <a:prstGeom prst="rect">
            <a:avLst/>
          </a:prstGeom>
          <a:noFill/>
          <a:ln/>
        </p:spPr>
        <p:txBody>
          <a:bodyPr wrap="square" lIns="0" tIns="0" rIns="0" bIns="0" rtlCol="0" anchor="ctr"/>
          <a:lstStyle/>
          <a:p>
            <a:pPr algn="ctr" indent="0" marL="0">
              <a:buNone/>
            </a:pPr>
            <a:r>
              <a:rPr lang="en-US" sz="1000" b="1" dirty="0">
                <a:solidFill>
                  <a:srgbClr val="FFB04C"/>
                </a:solidFill>
                <a:latin typeface="Calibri" pitchFamily="34" charset="0"/>
                <a:ea typeface="Calibri" pitchFamily="34" charset="-122"/>
                <a:cs typeface="Calibri" pitchFamily="34" charset="-120"/>
              </a:rPr>
              <a:t>2030+</a:t>
            </a:r>
            <a:endParaRPr lang="en-US" sz="1000" dirty="0"/>
          </a:p>
        </p:txBody>
      </p:sp>
      <p:sp>
        <p:nvSpPr>
          <p:cNvPr id="39" name="Text 37"/>
          <p:cNvSpPr/>
          <p:nvPr/>
        </p:nvSpPr>
        <p:spPr>
          <a:xfrm>
            <a:off x="8176565" y="2889504"/>
            <a:ext cx="3393338" cy="38404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Autonomous value</a:t>
            </a:r>
            <a:endParaRPr lang="en-US" sz="1600" dirty="0"/>
          </a:p>
        </p:txBody>
      </p:sp>
      <p:sp>
        <p:nvSpPr>
          <p:cNvPr id="40" name="Text 38"/>
          <p:cNvSpPr/>
          <p:nvPr/>
        </p:nvSpPr>
        <p:spPr>
          <a:xfrm>
            <a:off x="8176565" y="3310128"/>
            <a:ext cx="3393338" cy="594360"/>
          </a:xfrm>
          <a:prstGeom prst="rect">
            <a:avLst/>
          </a:prstGeom>
          <a:noFill/>
          <a:ln/>
        </p:spPr>
        <p:txBody>
          <a:bodyPr wrap="square" lIns="0" tIns="0" rIns="0" bIns="0" rtlCol="0" anchor="t">
            <a:normAutofit/>
          </a:bodyPr>
          <a:lstStyle/>
          <a:p>
            <a:pPr indent="0" marL="0">
              <a:buNone/>
            </a:pPr>
            <a:r>
              <a:rPr lang="en-US" sz="1000" dirty="0">
                <a:solidFill>
                  <a:srgbClr val="BFD9C9"/>
                </a:solidFill>
                <a:latin typeface="Calibri" pitchFamily="34" charset="0"/>
                <a:ea typeface="Calibri" pitchFamily="34" charset="-122"/>
                <a:cs typeface="Calibri" pitchFamily="34" charset="-120"/>
              </a:rPr>
              <a:t>Move from insight to governed action, with humans setting ambition, guardrails and accountability.</a:t>
            </a:r>
            <a:endParaRPr lang="en-US" sz="1000" dirty="0"/>
          </a:p>
        </p:txBody>
      </p:sp>
      <p:sp>
        <p:nvSpPr>
          <p:cNvPr id="41" name="Shape 39"/>
          <p:cNvSpPr/>
          <p:nvPr/>
        </p:nvSpPr>
        <p:spPr>
          <a:xfrm>
            <a:off x="8176565" y="3977640"/>
            <a:ext cx="3393338" cy="0"/>
          </a:xfrm>
          <a:prstGeom prst="line">
            <a:avLst/>
          </a:prstGeom>
          <a:noFill/>
          <a:ln w="6350">
            <a:solidFill>
              <a:srgbClr val="315D47"/>
            </a:solidFill>
            <a:prstDash val="solid"/>
          </a:ln>
        </p:spPr>
      </p:sp>
      <p:sp>
        <p:nvSpPr>
          <p:cNvPr id="42" name="Shape 40"/>
          <p:cNvSpPr/>
          <p:nvPr/>
        </p:nvSpPr>
        <p:spPr>
          <a:xfrm>
            <a:off x="8176565" y="4114800"/>
            <a:ext cx="54864" cy="54864"/>
          </a:xfrm>
          <a:prstGeom prst="ellipse">
            <a:avLst/>
          </a:prstGeom>
          <a:solidFill>
            <a:srgbClr val="3DCD58"/>
          </a:solidFill>
          <a:ln w="12700">
            <a:solidFill>
              <a:srgbClr val="3DCD58"/>
            </a:solidFill>
            <a:prstDash val="solid"/>
          </a:ln>
        </p:spPr>
      </p:sp>
      <p:sp>
        <p:nvSpPr>
          <p:cNvPr id="43" name="Text 41"/>
          <p:cNvSpPr/>
          <p:nvPr/>
        </p:nvSpPr>
        <p:spPr>
          <a:xfrm>
            <a:off x="8322869" y="4059936"/>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Continuous optimisation of energy, efficiency and sustainability</a:t>
            </a:r>
            <a:endParaRPr lang="en-US" sz="900" dirty="0"/>
          </a:p>
        </p:txBody>
      </p:sp>
      <p:sp>
        <p:nvSpPr>
          <p:cNvPr id="44" name="Shape 42"/>
          <p:cNvSpPr/>
          <p:nvPr/>
        </p:nvSpPr>
        <p:spPr>
          <a:xfrm>
            <a:off x="8176565" y="4443984"/>
            <a:ext cx="3393338" cy="0"/>
          </a:xfrm>
          <a:prstGeom prst="line">
            <a:avLst/>
          </a:prstGeom>
          <a:noFill/>
          <a:ln w="6350">
            <a:solidFill>
              <a:srgbClr val="315D47"/>
            </a:solidFill>
            <a:prstDash val="solid"/>
          </a:ln>
        </p:spPr>
      </p:sp>
      <p:sp>
        <p:nvSpPr>
          <p:cNvPr id="45" name="Shape 43"/>
          <p:cNvSpPr/>
          <p:nvPr/>
        </p:nvSpPr>
        <p:spPr>
          <a:xfrm>
            <a:off x="8176565" y="4581144"/>
            <a:ext cx="54864" cy="54864"/>
          </a:xfrm>
          <a:prstGeom prst="ellipse">
            <a:avLst/>
          </a:prstGeom>
          <a:solidFill>
            <a:srgbClr val="3DCD58"/>
          </a:solidFill>
          <a:ln w="12700">
            <a:solidFill>
              <a:srgbClr val="3DCD58"/>
            </a:solidFill>
            <a:prstDash val="solid"/>
          </a:ln>
        </p:spPr>
      </p:sp>
      <p:sp>
        <p:nvSpPr>
          <p:cNvPr id="46" name="Text 44"/>
          <p:cNvSpPr/>
          <p:nvPr/>
        </p:nvSpPr>
        <p:spPr>
          <a:xfrm>
            <a:off x="8322869" y="4526280"/>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Closed-loop execution with evidence and assurance by design</a:t>
            </a:r>
            <a:endParaRPr lang="en-US" sz="900" dirty="0"/>
          </a:p>
        </p:txBody>
      </p:sp>
      <p:sp>
        <p:nvSpPr>
          <p:cNvPr id="47" name="Shape 45"/>
          <p:cNvSpPr/>
          <p:nvPr/>
        </p:nvSpPr>
        <p:spPr>
          <a:xfrm>
            <a:off x="8176565" y="4910328"/>
            <a:ext cx="3393338" cy="0"/>
          </a:xfrm>
          <a:prstGeom prst="line">
            <a:avLst/>
          </a:prstGeom>
          <a:noFill/>
          <a:ln w="6350">
            <a:solidFill>
              <a:srgbClr val="315D47"/>
            </a:solidFill>
            <a:prstDash val="solid"/>
          </a:ln>
        </p:spPr>
      </p:sp>
      <p:sp>
        <p:nvSpPr>
          <p:cNvPr id="48" name="Shape 46"/>
          <p:cNvSpPr/>
          <p:nvPr/>
        </p:nvSpPr>
        <p:spPr>
          <a:xfrm>
            <a:off x="8176565" y="5047488"/>
            <a:ext cx="54864" cy="54864"/>
          </a:xfrm>
          <a:prstGeom prst="ellipse">
            <a:avLst/>
          </a:prstGeom>
          <a:solidFill>
            <a:srgbClr val="3DCD58"/>
          </a:solidFill>
          <a:ln w="12700">
            <a:solidFill>
              <a:srgbClr val="3DCD58"/>
            </a:solidFill>
            <a:prstDash val="solid"/>
          </a:ln>
        </p:spPr>
      </p:sp>
      <p:sp>
        <p:nvSpPr>
          <p:cNvPr id="49" name="Text 47"/>
          <p:cNvSpPr/>
          <p:nvPr/>
        </p:nvSpPr>
        <p:spPr>
          <a:xfrm>
            <a:off x="8322869" y="4992624"/>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Outcome-led services powered by the RA+ intelligence layer</a:t>
            </a:r>
            <a:endParaRPr lang="en-US" sz="900" dirty="0"/>
          </a:p>
        </p:txBody>
      </p:sp>
      <p:sp>
        <p:nvSpPr>
          <p:cNvPr id="50" name="Shape 48"/>
          <p:cNvSpPr/>
          <p:nvPr/>
        </p:nvSpPr>
        <p:spPr>
          <a:xfrm>
            <a:off x="621792" y="5276088"/>
            <a:ext cx="10948111" cy="0"/>
          </a:xfrm>
          <a:prstGeom prst="line">
            <a:avLst/>
          </a:prstGeom>
          <a:noFill/>
          <a:ln w="10160">
            <a:solidFill>
              <a:srgbClr val="5E806E"/>
            </a:solidFill>
            <a:prstDash val="solid"/>
          </a:ln>
        </p:spPr>
      </p:sp>
      <p:sp>
        <p:nvSpPr>
          <p:cNvPr id="51" name="Text 49"/>
          <p:cNvSpPr/>
          <p:nvPr/>
        </p:nvSpPr>
        <p:spPr>
          <a:xfrm>
            <a:off x="621792" y="5404104"/>
            <a:ext cx="1828800" cy="201168"/>
          </a:xfrm>
          <a:prstGeom prst="rect">
            <a:avLst/>
          </a:prstGeom>
          <a:noFill/>
          <a:ln/>
        </p:spPr>
        <p:txBody>
          <a:bodyPr wrap="square" lIns="0" tIns="0" rIns="0" bIns="0" rtlCol="0" anchor="ctr"/>
          <a:lstStyle/>
          <a:p>
            <a:pPr indent="0" marL="0">
              <a:buNone/>
            </a:pPr>
            <a:r>
              <a:rPr lang="en-US" sz="900" b="1" spc="180" kern="0" dirty="0">
                <a:solidFill>
                  <a:srgbClr val="CDFC57"/>
                </a:solidFill>
                <a:latin typeface="Calibri" pitchFamily="34" charset="0"/>
                <a:ea typeface="Calibri" pitchFamily="34" charset="-122"/>
                <a:cs typeface="Calibri" pitchFamily="34" charset="-120"/>
              </a:rPr>
              <a:t>STRATEGIC DRIVERS</a:t>
            </a:r>
            <a:endParaRPr lang="en-US" sz="900" dirty="0"/>
          </a:p>
        </p:txBody>
      </p:sp>
      <p:sp>
        <p:nvSpPr>
          <p:cNvPr id="52" name="Text 50"/>
          <p:cNvSpPr/>
          <p:nvPr/>
        </p:nvSpPr>
        <p:spPr>
          <a:xfrm>
            <a:off x="621792"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Customer economics</a:t>
            </a:r>
            <a:endParaRPr lang="en-US" sz="1100" dirty="0"/>
          </a:p>
        </p:txBody>
      </p:sp>
      <p:sp>
        <p:nvSpPr>
          <p:cNvPr id="53" name="Text 51"/>
          <p:cNvSpPr/>
          <p:nvPr/>
        </p:nvSpPr>
        <p:spPr>
          <a:xfrm>
            <a:off x="621792"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Convert fragmented spend into measurable enterprise value.</a:t>
            </a:r>
            <a:endParaRPr lang="en-US" sz="850" dirty="0"/>
          </a:p>
        </p:txBody>
      </p:sp>
      <p:sp>
        <p:nvSpPr>
          <p:cNvPr id="54" name="Text 52"/>
          <p:cNvSpPr/>
          <p:nvPr/>
        </p:nvSpPr>
        <p:spPr>
          <a:xfrm>
            <a:off x="3427400"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Regulation and trust</a:t>
            </a:r>
            <a:endParaRPr lang="en-US" sz="1100" dirty="0"/>
          </a:p>
        </p:txBody>
      </p:sp>
      <p:sp>
        <p:nvSpPr>
          <p:cNvPr id="55" name="Text 53"/>
          <p:cNvSpPr/>
          <p:nvPr/>
        </p:nvSpPr>
        <p:spPr>
          <a:xfrm>
            <a:off x="3427400"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Keep every decision traceable, defensible and disclosure ready.</a:t>
            </a:r>
            <a:endParaRPr lang="en-US" sz="850" dirty="0"/>
          </a:p>
        </p:txBody>
      </p:sp>
      <p:sp>
        <p:nvSpPr>
          <p:cNvPr id="56" name="Text 54"/>
          <p:cNvSpPr/>
          <p:nvPr/>
        </p:nvSpPr>
        <p:spPr>
          <a:xfrm>
            <a:off x="6233008"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AI-native differentiation</a:t>
            </a:r>
            <a:endParaRPr lang="en-US" sz="1100" dirty="0"/>
          </a:p>
        </p:txBody>
      </p:sp>
      <p:sp>
        <p:nvSpPr>
          <p:cNvPr id="57" name="Text 55"/>
          <p:cNvSpPr/>
          <p:nvPr/>
        </p:nvSpPr>
        <p:spPr>
          <a:xfrm>
            <a:off x="6233008"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Use shared context to move from copilots to governed agents.</a:t>
            </a:r>
            <a:endParaRPr lang="en-US" sz="850" dirty="0"/>
          </a:p>
        </p:txBody>
      </p:sp>
      <p:sp>
        <p:nvSpPr>
          <p:cNvPr id="58" name="Text 56"/>
          <p:cNvSpPr/>
          <p:nvPr/>
        </p:nvSpPr>
        <p:spPr>
          <a:xfrm>
            <a:off x="9038615"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Platform leverage</a:t>
            </a:r>
            <a:endParaRPr lang="en-US" sz="1100" dirty="0"/>
          </a:p>
        </p:txBody>
      </p:sp>
      <p:sp>
        <p:nvSpPr>
          <p:cNvPr id="59" name="Text 57"/>
          <p:cNvSpPr/>
          <p:nvPr/>
        </p:nvSpPr>
        <p:spPr>
          <a:xfrm>
            <a:off x="9038615"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Build core capabilities once, then compound them across every product.</a:t>
            </a:r>
            <a:endParaRPr lang="en-US" sz="850" dirty="0"/>
          </a:p>
        </p:txBody>
      </p:sp>
      <p:sp>
        <p:nvSpPr>
          <p:cNvPr id="60" name="Text 58"/>
          <p:cNvSpPr/>
          <p:nvPr/>
        </p:nvSpPr>
        <p:spPr>
          <a:xfrm>
            <a:off x="621792" y="6464808"/>
            <a:ext cx="9875520" cy="182880"/>
          </a:xfrm>
          <a:prstGeom prst="rect">
            <a:avLst/>
          </a:prstGeom>
          <a:noFill/>
          <a:ln/>
        </p:spPr>
        <p:txBody>
          <a:bodyPr wrap="square" lIns="0" tIns="0" rIns="0" bIns="0" rtlCol="0" anchor="ctr">
            <a:normAutofit/>
          </a:bodyPr>
          <a:lstStyle/>
          <a:p>
            <a:pPr indent="0" marL="0">
              <a:buNone/>
            </a:pPr>
            <a:r>
              <a:rPr lang="en-US" sz="700" i="1" dirty="0">
                <a:solidFill>
                  <a:srgbClr val="769585"/>
                </a:solidFill>
                <a:latin typeface="Calibri" pitchFamily="34" charset="0"/>
                <a:ea typeface="Calibri" pitchFamily="34" charset="-122"/>
                <a:cs typeface="Calibri" pitchFamily="34" charset="-120"/>
              </a:rPr>
              <a:t>Strategic direction beyond 2027. Sequencing and investment gates remain subject to customer validation, architecture readiness and annual portfolio decisions.</a:t>
            </a:r>
            <a:endParaRPr lang="en-US" sz="7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6</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06</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Risks and decisions</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What has to be true, and what we need from this room.</a:t>
            </a:r>
            <a:endParaRPr lang="en-US" sz="1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92354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59436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RISK</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four things that could break this plan</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Each risk carries an owner and a mitigation already in motion.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FFB04C"/>
          </a:solidFill>
          <a:ln w="12700">
            <a:solidFill>
              <a:srgbClr val="FFB04C"/>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RISK 01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Capacity overrun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127 Q4 slots against roughly 45 of capacity. Without a cut, everything slips a little and nothing lands.</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Mitigation: hold the ranked cut line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CP product leadership</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FFB04C"/>
          </a:solidFill>
          <a:ln w="12700">
            <a:solidFill>
              <a:srgbClr val="FFB04C"/>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RISK 02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Unranked demand</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11 themes hold 27 Q4 solutions with no JPD rank, so they cannot be sequenced against everything else.</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Mitigation: rank all CP themes before Q4 lock</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CP product leadership</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RISK 03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Platform dependencies</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Ingestion, data quality and emission factor datasets sit outside CP delivery control.</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Mitigation: confirmed commitments per platform team</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platform PMs</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FFB04C"/>
          </a:solidFill>
          <a:ln w="12700">
            <a:solidFill>
              <a:srgbClr val="FFB04C"/>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RISK 04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Hypercare drag</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Every methodology gap left open pulls delivery engineers into client escalations instead of roadmap work.</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Mitigation: the Q4 emission factor wedge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CP engineering and delivery</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33045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ASSUMPTIONS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has to be true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plan holds only if these four conditions hold.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CONDITION 01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Core capacity is protected</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Roughly one third of capacity stays with Core Platform through 2027.</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Signal: core commitments delivered on plan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platform leadership</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3DCD58"/>
          </a:solidFill>
          <a:ln w="12700">
            <a:solidFill>
              <a:srgbClr val="3DCD58"/>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CONDITION 02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Migration lands on time</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Schneider Electric migration and CSRD cycle completes in Q1 2027.</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Signal: cycle delivered with no reporting gap</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delivery and R&amp;C</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007A27"/>
          </a:solidFill>
          <a:ln w="12700">
            <a:solidFill>
              <a:srgbClr val="007A27"/>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CONDITION 03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Data quality reaches threshold</a:t>
            </a:r>
            <a:endParaRPr lang="en-US" sz="14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Trusted inventory and lineage come before scaled AI and automation.</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Signal: agreed quality thresholds met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Core Platform</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007A27"/>
          </a:solidFill>
          <a:ln w="12700">
            <a:solidFill>
              <a:srgbClr val="007A27"/>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CONDITION 04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Value is measured, not assumed</a:t>
            </a:r>
            <a:endParaRPr lang="en-US" sz="14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Finance validates baselines and owners for each of the three value ledgers.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Signal: quarterly evidence accepted</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Owner: Finance and Product</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5544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22529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GOVERNANCE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Stop, adjust, scale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How the board responds when the evidence at a gate disagrees with the plan.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3419856"/>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Stop</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Evidence shows the outcome will not materialise on the current approach.</a:t>
            </a:r>
            <a:endParaRPr lang="en-US" sz="1100" dirty="0"/>
          </a:p>
        </p:txBody>
      </p:sp>
      <p:sp>
        <p:nvSpPr>
          <p:cNvPr id="15" name="Text 13"/>
          <p:cNvSpPr/>
          <p:nvPr/>
        </p:nvSpPr>
        <p:spPr>
          <a:xfrm>
            <a:off x="850392" y="3685032"/>
            <a:ext cx="3009290" cy="1636776"/>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Data quality thresholds repeatedly missed</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No cross-product adoption after a full cycle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Redirect capacity to the next ranked outcome</a:t>
            </a:r>
            <a:endParaRPr lang="en-US" sz="1100" dirty="0"/>
          </a:p>
        </p:txBody>
      </p:sp>
      <p:sp>
        <p:nvSpPr>
          <p:cNvPr id="16" name="Shape 14"/>
          <p:cNvSpPr/>
          <p:nvPr/>
        </p:nvSpPr>
        <p:spPr>
          <a:xfrm>
            <a:off x="436260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3419856"/>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Adjust</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direction holds but the sequence or scope needs re-cutting.</a:t>
            </a:r>
            <a:endParaRPr lang="en-US" sz="1100" dirty="0"/>
          </a:p>
        </p:txBody>
      </p:sp>
      <p:sp>
        <p:nvSpPr>
          <p:cNvPr id="22" name="Text 20"/>
          <p:cNvSpPr/>
          <p:nvPr/>
        </p:nvSpPr>
        <p:spPr>
          <a:xfrm>
            <a:off x="4591202" y="3685032"/>
            <a:ext cx="3009290" cy="1636776"/>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Re-rank against confirmed capacity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Move commitments between horizons, not out of scope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Re-baseline the affected value ledger</a:t>
            </a:r>
            <a:endParaRPr lang="en-US" sz="1100" dirty="0"/>
          </a:p>
        </p:txBody>
      </p:sp>
      <p:sp>
        <p:nvSpPr>
          <p:cNvPr id="23" name="Shape 21"/>
          <p:cNvSpPr/>
          <p:nvPr/>
        </p:nvSpPr>
        <p:spPr>
          <a:xfrm>
            <a:off x="8103413"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3419856"/>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Scale</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Proof points are met and the platform is compounding faster than isolated investment.</a:t>
            </a:r>
            <a:endParaRPr lang="en-US" sz="1100" dirty="0"/>
          </a:p>
        </p:txBody>
      </p:sp>
      <p:sp>
        <p:nvSpPr>
          <p:cNvPr id="29" name="Text 27"/>
          <p:cNvSpPr/>
          <p:nvPr/>
        </p:nvSpPr>
        <p:spPr>
          <a:xfrm>
            <a:off x="8332013" y="3685032"/>
            <a:ext cx="3009290" cy="1636776"/>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Lighthouse evidence published</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Finance confirms measured contribution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Fund the next tranche and widen the rollout</a:t>
            </a:r>
            <a:endParaRPr lang="en-US" sz="1100" dirty="0"/>
          </a:p>
        </p:txBody>
      </p:sp>
      <p:sp>
        <p:nvSpPr>
          <p:cNvPr id="30" name="Shape 28"/>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Infinity" dist="Infinity" dir="Infinity">
              <a:srgbClr val="0A1F12">
                <a:alpha val="Infinity"/>
              </a:srgbClr>
            </a:outerShdw>
          </a:effectLst>
        </p:spPr>
      </p:sp>
      <p:sp>
        <p:nvSpPr>
          <p:cNvPr id="31" name="Shape 29"/>
          <p:cNvSpPr/>
          <p:nvPr/>
        </p:nvSpPr>
        <p:spPr>
          <a:xfrm>
            <a:off x="676656" y="5760720"/>
            <a:ext cx="45720" cy="365760"/>
          </a:xfrm>
          <a:prstGeom prst="rect">
            <a:avLst/>
          </a:prstGeom>
          <a:solidFill>
            <a:srgbClr val="3DCD58"/>
          </a:solidFill>
          <a:ln w="12700">
            <a:solidFill>
              <a:srgbClr val="3DCD58"/>
            </a:solidFill>
            <a:prstDash val="solid"/>
          </a:ln>
        </p:spPr>
      </p:sp>
      <p:sp>
        <p:nvSpPr>
          <p:cNvPr id="32" name="Text 30"/>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Each gate produces one of these three decisions, recorded with the evidence behind it.</a:t>
            </a:r>
            <a:endParaRPr lang="en-US" sz="12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EXECUTION</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first 90 days after approval</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What happens immediately, with named owners.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78682"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3478682"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3419856"/>
          </a:xfrm>
          <a:prstGeom prst="rect">
            <a:avLst/>
          </a:prstGeom>
          <a:solidFill>
            <a:srgbClr val="3DCD58"/>
          </a:solidFill>
          <a:ln w="12700">
            <a:solidFill>
              <a:srgbClr val="3DCD58"/>
            </a:solidFill>
            <a:prstDash val="solid"/>
          </a:ln>
        </p:spPr>
      </p:sp>
      <p:sp>
        <p:nvSpPr>
          <p:cNvPr id="12" name="Text 10"/>
          <p:cNvSpPr/>
          <p:nvPr/>
        </p:nvSpPr>
        <p:spPr>
          <a:xfrm>
            <a:off x="804672" y="2176272"/>
            <a:ext cx="3149498"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DAYS 0 TO 30</a:t>
            </a:r>
            <a:endParaRPr lang="en-US" sz="850" dirty="0"/>
          </a:p>
        </p:txBody>
      </p:sp>
      <p:sp>
        <p:nvSpPr>
          <p:cNvPr id="13" name="Text 11"/>
          <p:cNvSpPr/>
          <p:nvPr/>
        </p:nvSpPr>
        <p:spPr>
          <a:xfrm>
            <a:off x="804672" y="2423160"/>
            <a:ext cx="3149498"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Lock and baseline</a:t>
            </a:r>
            <a:endParaRPr lang="en-US" sz="1400" dirty="0"/>
          </a:p>
        </p:txBody>
      </p:sp>
      <p:sp>
        <p:nvSpPr>
          <p:cNvPr id="14" name="Shape 12"/>
          <p:cNvSpPr/>
          <p:nvPr/>
        </p:nvSpPr>
        <p:spPr>
          <a:xfrm>
            <a:off x="758952" y="2953512"/>
            <a:ext cx="3204362" cy="722376"/>
          </a:xfrm>
          <a:prstGeom prst="roundRect">
            <a:avLst>
              <a:gd name="adj" fmla="val 3797"/>
            </a:avLst>
          </a:prstGeom>
          <a:solidFill>
            <a:srgbClr val="F7F8F7"/>
          </a:solidFill>
          <a:ln w="5080">
            <a:solidFill>
              <a:srgbClr val="F7F8F7"/>
            </a:solidFill>
            <a:prstDash val="solid"/>
          </a:ln>
        </p:spPr>
      </p:sp>
      <p:sp>
        <p:nvSpPr>
          <p:cNvPr id="15" name="Text 13"/>
          <p:cNvSpPr/>
          <p:nvPr/>
        </p:nvSpPr>
        <p:spPr>
          <a:xfrm>
            <a:off x="822960" y="2953512"/>
            <a:ext cx="3076346" cy="722376"/>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Q4 scope locked at the ranked cut line</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Owner: CP product leadership</a:t>
            </a:r>
            <a:endParaRPr lang="en-US" sz="950" dirty="0"/>
          </a:p>
        </p:txBody>
      </p:sp>
      <p:sp>
        <p:nvSpPr>
          <p:cNvPr id="16" name="Shape 14"/>
          <p:cNvSpPr/>
          <p:nvPr/>
        </p:nvSpPr>
        <p:spPr>
          <a:xfrm>
            <a:off x="758952" y="3749040"/>
            <a:ext cx="3204362" cy="722376"/>
          </a:xfrm>
          <a:prstGeom prst="roundRect">
            <a:avLst>
              <a:gd name="adj" fmla="val 3797"/>
            </a:avLst>
          </a:prstGeom>
          <a:solidFill>
            <a:srgbClr val="F7F8F7"/>
          </a:solidFill>
          <a:ln w="5080">
            <a:solidFill>
              <a:srgbClr val="F7F8F7"/>
            </a:solidFill>
            <a:prstDash val="solid"/>
          </a:ln>
        </p:spPr>
      </p:sp>
      <p:sp>
        <p:nvSpPr>
          <p:cNvPr id="17" name="Text 15"/>
          <p:cNvSpPr/>
          <p:nvPr/>
        </p:nvSpPr>
        <p:spPr>
          <a:xfrm>
            <a:off x="822960" y="3749040"/>
            <a:ext cx="3076346"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All unranked themes ranked</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Owner: product leadership</a:t>
            </a:r>
            <a:endParaRPr lang="en-US" sz="1000" dirty="0"/>
          </a:p>
        </p:txBody>
      </p:sp>
      <p:sp>
        <p:nvSpPr>
          <p:cNvPr id="18" name="Shape 16"/>
          <p:cNvSpPr/>
          <p:nvPr/>
        </p:nvSpPr>
        <p:spPr>
          <a:xfrm>
            <a:off x="758952" y="4544568"/>
            <a:ext cx="3204362" cy="722376"/>
          </a:xfrm>
          <a:prstGeom prst="roundRect">
            <a:avLst>
              <a:gd name="adj" fmla="val 3797"/>
            </a:avLst>
          </a:prstGeom>
          <a:solidFill>
            <a:srgbClr val="F7F8F7"/>
          </a:solidFill>
          <a:ln w="5080">
            <a:solidFill>
              <a:srgbClr val="F7F8F7"/>
            </a:solidFill>
            <a:prstDash val="solid"/>
          </a:ln>
        </p:spPr>
      </p:sp>
      <p:sp>
        <p:nvSpPr>
          <p:cNvPr id="19" name="Text 17"/>
          <p:cNvSpPr/>
          <p:nvPr/>
        </p:nvSpPr>
        <p:spPr>
          <a:xfrm>
            <a:off x="822960" y="4544568"/>
            <a:ext cx="3076346" cy="722376"/>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Finance baselines opened for the three value ledgers</a:t>
            </a:r>
            <a:endParaRPr lang="en-US" sz="900" dirty="0"/>
          </a:p>
          <a:p>
            <a:pPr indent="0" marL="0">
              <a:lnSpc>
                <a:spcPct val="95000"/>
              </a:lnSpc>
              <a:buNone/>
            </a:pPr>
            <a:r>
              <a:rPr lang="en-US" sz="750" dirty="0">
                <a:solidFill>
                  <a:srgbClr val="5A625C"/>
                </a:solidFill>
                <a:latin typeface="Calibri" pitchFamily="34" charset="0"/>
                <a:ea typeface="Calibri" pitchFamily="34" charset="-122"/>
                <a:cs typeface="Calibri" pitchFamily="34" charset="-120"/>
              </a:rPr>
              <a:t>Owner: Finance</a:t>
            </a:r>
            <a:endParaRPr lang="en-US" sz="900" dirty="0"/>
          </a:p>
        </p:txBody>
      </p:sp>
      <p:sp>
        <p:nvSpPr>
          <p:cNvPr id="20" name="Shape 18"/>
          <p:cNvSpPr/>
          <p:nvPr/>
        </p:nvSpPr>
        <p:spPr>
          <a:xfrm>
            <a:off x="4356506" y="2084832"/>
            <a:ext cx="3478682"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1" name="Shape 19"/>
          <p:cNvSpPr/>
          <p:nvPr/>
        </p:nvSpPr>
        <p:spPr>
          <a:xfrm>
            <a:off x="4356506" y="2084832"/>
            <a:ext cx="3478682" cy="713232"/>
          </a:xfrm>
          <a:prstGeom prst="rect">
            <a:avLst/>
          </a:prstGeom>
          <a:solidFill>
            <a:srgbClr val="EAF8ED"/>
          </a:solidFill>
          <a:ln w="12700">
            <a:solidFill>
              <a:srgbClr val="EAF8ED"/>
            </a:solidFill>
            <a:prstDash val="solid"/>
          </a:ln>
        </p:spPr>
      </p:sp>
      <p:sp>
        <p:nvSpPr>
          <p:cNvPr id="22" name="Shape 20"/>
          <p:cNvSpPr/>
          <p:nvPr/>
        </p:nvSpPr>
        <p:spPr>
          <a:xfrm>
            <a:off x="4356506" y="2084832"/>
            <a:ext cx="54864" cy="3419856"/>
          </a:xfrm>
          <a:prstGeom prst="rect">
            <a:avLst/>
          </a:prstGeom>
          <a:solidFill>
            <a:srgbClr val="007A27"/>
          </a:solidFill>
          <a:ln w="12700">
            <a:solidFill>
              <a:srgbClr val="007A27"/>
            </a:solidFill>
            <a:prstDash val="solid"/>
          </a:ln>
        </p:spPr>
      </p:sp>
      <p:sp>
        <p:nvSpPr>
          <p:cNvPr id="23" name="Text 21"/>
          <p:cNvSpPr/>
          <p:nvPr/>
        </p:nvSpPr>
        <p:spPr>
          <a:xfrm>
            <a:off x="4539386" y="2176272"/>
            <a:ext cx="3149498"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DAYS 31 TO 60</a:t>
            </a:r>
            <a:endParaRPr lang="en-US" sz="850" dirty="0"/>
          </a:p>
        </p:txBody>
      </p:sp>
      <p:sp>
        <p:nvSpPr>
          <p:cNvPr id="24" name="Text 22"/>
          <p:cNvSpPr/>
          <p:nvPr/>
        </p:nvSpPr>
        <p:spPr>
          <a:xfrm>
            <a:off x="4539386" y="2423160"/>
            <a:ext cx="3149498"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Prove and prepare</a:t>
            </a:r>
            <a:endParaRPr lang="en-US" sz="1400" dirty="0"/>
          </a:p>
        </p:txBody>
      </p:sp>
      <p:sp>
        <p:nvSpPr>
          <p:cNvPr id="25" name="Shape 23"/>
          <p:cNvSpPr/>
          <p:nvPr/>
        </p:nvSpPr>
        <p:spPr>
          <a:xfrm>
            <a:off x="4493666" y="2953512"/>
            <a:ext cx="3204362" cy="722376"/>
          </a:xfrm>
          <a:prstGeom prst="roundRect">
            <a:avLst>
              <a:gd name="adj" fmla="val 3797"/>
            </a:avLst>
          </a:prstGeom>
          <a:solidFill>
            <a:srgbClr val="F7F8F7"/>
          </a:solidFill>
          <a:ln w="5080">
            <a:solidFill>
              <a:srgbClr val="F7F8F7"/>
            </a:solidFill>
            <a:prstDash val="solid"/>
          </a:ln>
        </p:spPr>
      </p:sp>
      <p:sp>
        <p:nvSpPr>
          <p:cNvPr id="26" name="Text 24"/>
          <p:cNvSpPr/>
          <p:nvPr/>
        </p:nvSpPr>
        <p:spPr>
          <a:xfrm>
            <a:off x="4557674" y="2953512"/>
            <a:ext cx="3076346"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Lighthouse accounts selected</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Owner: Sales and delivery</a:t>
            </a:r>
            <a:endParaRPr lang="en-US" sz="1000" dirty="0"/>
          </a:p>
        </p:txBody>
      </p:sp>
      <p:sp>
        <p:nvSpPr>
          <p:cNvPr id="27" name="Shape 25"/>
          <p:cNvSpPr/>
          <p:nvPr/>
        </p:nvSpPr>
        <p:spPr>
          <a:xfrm>
            <a:off x="4493666" y="3749040"/>
            <a:ext cx="3204362" cy="722376"/>
          </a:xfrm>
          <a:prstGeom prst="roundRect">
            <a:avLst>
              <a:gd name="adj" fmla="val 3797"/>
            </a:avLst>
          </a:prstGeom>
          <a:solidFill>
            <a:srgbClr val="F7F8F7"/>
          </a:solidFill>
          <a:ln w="5080">
            <a:solidFill>
              <a:srgbClr val="F7F8F7"/>
            </a:solidFill>
            <a:prstDash val="solid"/>
          </a:ln>
        </p:spPr>
      </p:sp>
      <p:sp>
        <p:nvSpPr>
          <p:cNvPr id="28" name="Text 26"/>
          <p:cNvSpPr/>
          <p:nvPr/>
        </p:nvSpPr>
        <p:spPr>
          <a:xfrm>
            <a:off x="4557674" y="3749040"/>
            <a:ext cx="3076346" cy="722376"/>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Core Platform commitments confirmed per team</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Owner: platform PMs</a:t>
            </a:r>
            <a:endParaRPr lang="en-US" sz="950" dirty="0"/>
          </a:p>
        </p:txBody>
      </p:sp>
      <p:sp>
        <p:nvSpPr>
          <p:cNvPr id="29" name="Shape 27"/>
          <p:cNvSpPr/>
          <p:nvPr/>
        </p:nvSpPr>
        <p:spPr>
          <a:xfrm>
            <a:off x="4493666" y="4544568"/>
            <a:ext cx="3204362" cy="722376"/>
          </a:xfrm>
          <a:prstGeom prst="roundRect">
            <a:avLst>
              <a:gd name="adj" fmla="val 3797"/>
            </a:avLst>
          </a:prstGeom>
          <a:solidFill>
            <a:srgbClr val="F7F8F7"/>
          </a:solidFill>
          <a:ln w="5080">
            <a:solidFill>
              <a:srgbClr val="F7F8F7"/>
            </a:solidFill>
            <a:prstDash val="solid"/>
          </a:ln>
        </p:spPr>
      </p:sp>
      <p:sp>
        <p:nvSpPr>
          <p:cNvPr id="30" name="Text 28"/>
          <p:cNvSpPr/>
          <p:nvPr/>
        </p:nvSpPr>
        <p:spPr>
          <a:xfrm>
            <a:off x="4557674" y="4544568"/>
            <a:ext cx="3076346" cy="722376"/>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Migration and CSRD plan validated to Q1 2027</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Owner: delivery and R&amp;C</a:t>
            </a:r>
            <a:endParaRPr lang="en-US" sz="950" dirty="0"/>
          </a:p>
        </p:txBody>
      </p:sp>
      <p:sp>
        <p:nvSpPr>
          <p:cNvPr id="31" name="Shape 29"/>
          <p:cNvSpPr/>
          <p:nvPr/>
        </p:nvSpPr>
        <p:spPr>
          <a:xfrm>
            <a:off x="8091221" y="2084832"/>
            <a:ext cx="3478682"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2" name="Shape 30"/>
          <p:cNvSpPr/>
          <p:nvPr/>
        </p:nvSpPr>
        <p:spPr>
          <a:xfrm>
            <a:off x="8091221" y="2084832"/>
            <a:ext cx="3478682" cy="713232"/>
          </a:xfrm>
          <a:prstGeom prst="rect">
            <a:avLst/>
          </a:prstGeom>
          <a:solidFill>
            <a:srgbClr val="EAF8ED"/>
          </a:solidFill>
          <a:ln w="12700">
            <a:solidFill>
              <a:srgbClr val="EAF8ED"/>
            </a:solidFill>
            <a:prstDash val="solid"/>
          </a:ln>
        </p:spPr>
      </p:sp>
      <p:sp>
        <p:nvSpPr>
          <p:cNvPr id="33" name="Shape 31"/>
          <p:cNvSpPr/>
          <p:nvPr/>
        </p:nvSpPr>
        <p:spPr>
          <a:xfrm>
            <a:off x="8091221" y="2084832"/>
            <a:ext cx="54864" cy="3419856"/>
          </a:xfrm>
          <a:prstGeom prst="rect">
            <a:avLst/>
          </a:prstGeom>
          <a:solidFill>
            <a:srgbClr val="007A27"/>
          </a:solidFill>
          <a:ln w="12700">
            <a:solidFill>
              <a:srgbClr val="007A27"/>
            </a:solidFill>
            <a:prstDash val="solid"/>
          </a:ln>
        </p:spPr>
      </p:sp>
      <p:sp>
        <p:nvSpPr>
          <p:cNvPr id="34" name="Text 32"/>
          <p:cNvSpPr/>
          <p:nvPr/>
        </p:nvSpPr>
        <p:spPr>
          <a:xfrm>
            <a:off x="8274101" y="2176272"/>
            <a:ext cx="3149498"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DAYS 61 TO 90</a:t>
            </a:r>
            <a:endParaRPr lang="en-US" sz="850" dirty="0"/>
          </a:p>
        </p:txBody>
      </p:sp>
      <p:sp>
        <p:nvSpPr>
          <p:cNvPr id="35" name="Text 33"/>
          <p:cNvSpPr/>
          <p:nvPr/>
        </p:nvSpPr>
        <p:spPr>
          <a:xfrm>
            <a:off x="8274101" y="2423160"/>
            <a:ext cx="3149498"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Commit and report</a:t>
            </a:r>
            <a:endParaRPr lang="en-US" sz="1400" dirty="0"/>
          </a:p>
        </p:txBody>
      </p:sp>
      <p:sp>
        <p:nvSpPr>
          <p:cNvPr id="36" name="Shape 34"/>
          <p:cNvSpPr/>
          <p:nvPr/>
        </p:nvSpPr>
        <p:spPr>
          <a:xfrm>
            <a:off x="8228381" y="2953512"/>
            <a:ext cx="3204362" cy="722376"/>
          </a:xfrm>
          <a:prstGeom prst="roundRect">
            <a:avLst>
              <a:gd name="adj" fmla="val 3797"/>
            </a:avLst>
          </a:prstGeom>
          <a:solidFill>
            <a:srgbClr val="F7F8F7"/>
          </a:solidFill>
          <a:ln w="5080">
            <a:solidFill>
              <a:srgbClr val="F7F8F7"/>
            </a:solidFill>
            <a:prstDash val="solid"/>
          </a:ln>
        </p:spPr>
      </p:sp>
      <p:sp>
        <p:nvSpPr>
          <p:cNvPr id="37" name="Text 35"/>
          <p:cNvSpPr/>
          <p:nvPr/>
        </p:nvSpPr>
        <p:spPr>
          <a:xfrm>
            <a:off x="8292389" y="2953512"/>
            <a:ext cx="3076346" cy="722376"/>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Commercial model validated with Finance</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Owner: commercial leadership</a:t>
            </a:r>
            <a:endParaRPr lang="en-US" sz="950" dirty="0"/>
          </a:p>
        </p:txBody>
      </p:sp>
      <p:sp>
        <p:nvSpPr>
          <p:cNvPr id="38" name="Shape 36"/>
          <p:cNvSpPr/>
          <p:nvPr/>
        </p:nvSpPr>
        <p:spPr>
          <a:xfrm>
            <a:off x="8228381" y="3749040"/>
            <a:ext cx="3204362" cy="722376"/>
          </a:xfrm>
          <a:prstGeom prst="roundRect">
            <a:avLst>
              <a:gd name="adj" fmla="val 3797"/>
            </a:avLst>
          </a:prstGeom>
          <a:solidFill>
            <a:srgbClr val="F7F8F7"/>
          </a:solidFill>
          <a:ln w="5080">
            <a:solidFill>
              <a:srgbClr val="F7F8F7"/>
            </a:solidFill>
            <a:prstDash val="solid"/>
          </a:ln>
        </p:spPr>
      </p:sp>
      <p:sp>
        <p:nvSpPr>
          <p:cNvPr id="39" name="Text 37"/>
          <p:cNvSpPr/>
          <p:nvPr/>
        </p:nvSpPr>
        <p:spPr>
          <a:xfrm>
            <a:off x="8292389" y="3749040"/>
            <a:ext cx="3076346" cy="722376"/>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Board scorecard first reading issued</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Owner: Finance and Product</a:t>
            </a:r>
            <a:endParaRPr lang="en-US" sz="950" dirty="0"/>
          </a:p>
        </p:txBody>
      </p:sp>
      <p:sp>
        <p:nvSpPr>
          <p:cNvPr id="40" name="Shape 38"/>
          <p:cNvSpPr/>
          <p:nvPr/>
        </p:nvSpPr>
        <p:spPr>
          <a:xfrm>
            <a:off x="8228381" y="4544568"/>
            <a:ext cx="3204362" cy="722376"/>
          </a:xfrm>
          <a:prstGeom prst="roundRect">
            <a:avLst>
              <a:gd name="adj" fmla="val 3797"/>
            </a:avLst>
          </a:prstGeom>
          <a:solidFill>
            <a:srgbClr val="F7F8F7"/>
          </a:solidFill>
          <a:ln w="5080">
            <a:solidFill>
              <a:srgbClr val="F7F8F7"/>
            </a:solidFill>
            <a:prstDash val="solid"/>
          </a:ln>
        </p:spPr>
      </p:sp>
      <p:sp>
        <p:nvSpPr>
          <p:cNvPr id="41" name="Text 39"/>
          <p:cNvSpPr/>
          <p:nvPr/>
        </p:nvSpPr>
        <p:spPr>
          <a:xfrm>
            <a:off x="8292389" y="4544568"/>
            <a:ext cx="3076346" cy="722376"/>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Gate 1 decision pack prepared</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Owner: RA+ leadership</a:t>
            </a:r>
            <a:endParaRPr lang="en-US" sz="1000" dirty="0"/>
          </a:p>
        </p:txBody>
      </p:sp>
      <p:sp>
        <p:nvSpPr>
          <p:cNvPr id="42" name="Shape 40"/>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Infinity" dist="Infinity" dir="Infinity">
              <a:srgbClr val="0A1F12">
                <a:alpha val="Infinity"/>
              </a:srgbClr>
            </a:outerShdw>
          </a:effectLst>
        </p:spPr>
      </p:sp>
      <p:sp>
        <p:nvSpPr>
          <p:cNvPr id="43" name="Shape 41"/>
          <p:cNvSpPr/>
          <p:nvPr/>
        </p:nvSpPr>
        <p:spPr>
          <a:xfrm>
            <a:off x="676656" y="5760720"/>
            <a:ext cx="45720" cy="365760"/>
          </a:xfrm>
          <a:prstGeom prst="rect">
            <a:avLst/>
          </a:prstGeom>
          <a:solidFill>
            <a:srgbClr val="3DCD58"/>
          </a:solidFill>
          <a:ln w="12700">
            <a:solidFill>
              <a:srgbClr val="3DCD58"/>
            </a:solidFill>
            <a:prstDash val="solid"/>
          </a:ln>
        </p:spPr>
      </p:sp>
      <p:sp>
        <p:nvSpPr>
          <p:cNvPr id="44" name="Text 42"/>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Dates start from board approval. Nothing on this page depends on unvalidated figures.</a:t>
            </a:r>
            <a:endParaRPr lang="en-US" sz="1200" dirty="0"/>
          </a:p>
        </p:txBody>
      </p:sp>
      <p:sp>
        <p:nvSpPr>
          <p:cNvPr id="45" name="Shape 43"/>
          <p:cNvSpPr/>
          <p:nvPr/>
        </p:nvSpPr>
        <p:spPr>
          <a:xfrm>
            <a:off x="621792" y="6437376"/>
            <a:ext cx="10948111" cy="0"/>
          </a:xfrm>
          <a:prstGeom prst="line">
            <a:avLst/>
          </a:prstGeom>
          <a:noFill/>
          <a:ln w="9525">
            <a:solidFill>
              <a:srgbClr val="E2E6E2"/>
            </a:solidFill>
            <a:prstDash val="solid"/>
          </a:ln>
        </p:spPr>
      </p:sp>
      <p:sp>
        <p:nvSpPr>
          <p:cNvPr id="46" name="Text 4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47" name="Text 4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50088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17170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DECISIONS REQUESTED</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we ask of the board</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Four decisions, each with a clear consequence if deferred.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1952244"/>
          </a:xfrm>
          <a:prstGeom prst="roundRect">
            <a:avLst>
              <a:gd name="adj" fmla="val 2810"/>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1952244"/>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Approve the platform sequence</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Trusted data and calculation governance ahead of scaled AI and automation.</a:t>
            </a:r>
            <a:endParaRPr lang="en-US" sz="1100" dirty="0"/>
          </a:p>
        </p:txBody>
      </p:sp>
      <p:sp>
        <p:nvSpPr>
          <p:cNvPr id="15" name="Text 13"/>
          <p:cNvSpPr/>
          <p:nvPr/>
        </p:nvSpPr>
        <p:spPr>
          <a:xfrm>
            <a:off x="850392" y="3685032"/>
            <a:ext cx="3009290" cy="169164"/>
          </a:xfrm>
          <a:prstGeom prst="rect">
            <a:avLst/>
          </a:prstGeom>
          <a:noFill/>
          <a:ln/>
        </p:spPr>
        <p:txBody>
          <a:bodyPr wrap="square" lIns="0" tIns="0" rIns="0" bIns="0" rtlCol="0" anchor="t">
            <a:normAutofit/>
          </a:bodyPr>
          <a:lstStyle/>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Consequence if deferred: AI amplifies weak inputs</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Decision needed at Gate 1</a:t>
            </a:r>
            <a:endParaRPr lang="en-US" sz="900" dirty="0"/>
          </a:p>
        </p:txBody>
      </p:sp>
      <p:sp>
        <p:nvSpPr>
          <p:cNvPr id="16" name="Shape 14"/>
          <p:cNvSpPr/>
          <p:nvPr/>
        </p:nvSpPr>
        <p:spPr>
          <a:xfrm>
            <a:off x="4362602" y="2084832"/>
            <a:ext cx="3466490" cy="1952244"/>
          </a:xfrm>
          <a:prstGeom prst="roundRect">
            <a:avLst>
              <a:gd name="adj" fmla="val 2810"/>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1952244"/>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Protect Core Platform capacity</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Treat core capacity as portfolio capacity for the whole of 2027.</a:t>
            </a:r>
            <a:endParaRPr lang="en-US" sz="1100" dirty="0"/>
          </a:p>
        </p:txBody>
      </p:sp>
      <p:sp>
        <p:nvSpPr>
          <p:cNvPr id="22" name="Text 20"/>
          <p:cNvSpPr/>
          <p:nvPr/>
        </p:nvSpPr>
        <p:spPr>
          <a:xfrm>
            <a:off x="4591202" y="3685032"/>
            <a:ext cx="3009290" cy="169164"/>
          </a:xfrm>
          <a:prstGeom prst="rect">
            <a:avLst/>
          </a:prstGeom>
          <a:noFill/>
          <a:ln/>
        </p:spPr>
        <p:txBody>
          <a:bodyPr wrap="square" lIns="0" tIns="0" rIns="0" bIns="0" rtlCol="0" anchor="t">
            <a:normAutofit/>
          </a:bodyPr>
          <a:lstStyle/>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Consequence if deferred: every product outcome slips</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Decision needed at Q4 lock</a:t>
            </a:r>
            <a:endParaRPr lang="en-US" sz="900" dirty="0"/>
          </a:p>
        </p:txBody>
      </p:sp>
      <p:sp>
        <p:nvSpPr>
          <p:cNvPr id="23" name="Shape 21"/>
          <p:cNvSpPr/>
          <p:nvPr/>
        </p:nvSpPr>
        <p:spPr>
          <a:xfrm>
            <a:off x="8103413" y="2084832"/>
            <a:ext cx="3466490" cy="1952244"/>
          </a:xfrm>
          <a:prstGeom prst="roundRect">
            <a:avLst>
              <a:gd name="adj" fmla="val 2810"/>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1952244"/>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Assign the value ledgers</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Finance and Product name owners, baselines and realization rules.</a:t>
            </a:r>
            <a:endParaRPr lang="en-US" sz="1100" dirty="0"/>
          </a:p>
        </p:txBody>
      </p:sp>
      <p:sp>
        <p:nvSpPr>
          <p:cNvPr id="29" name="Text 27"/>
          <p:cNvSpPr/>
          <p:nvPr/>
        </p:nvSpPr>
        <p:spPr>
          <a:xfrm>
            <a:off x="8332013" y="3685032"/>
            <a:ext cx="3009290" cy="169164"/>
          </a:xfrm>
          <a:prstGeom prst="rect">
            <a:avLst/>
          </a:prstGeom>
          <a:noFill/>
          <a:ln/>
        </p:spPr>
        <p:txBody>
          <a:bodyPr wrap="square" lIns="0" tIns="0" rIns="0" bIns="0" rtlCol="0" anchor="t">
            <a:normAutofit/>
          </a:bodyPr>
          <a:lstStyle/>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Consequence if deferred: value cannot be evidenced</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Decision needed within 30 days</a:t>
            </a:r>
            <a:endParaRPr lang="en-US" sz="900" dirty="0"/>
          </a:p>
        </p:txBody>
      </p:sp>
      <p:sp>
        <p:nvSpPr>
          <p:cNvPr id="30" name="Shape 28"/>
          <p:cNvSpPr/>
          <p:nvPr/>
        </p:nvSpPr>
        <p:spPr>
          <a:xfrm>
            <a:off x="621792" y="4311396"/>
            <a:ext cx="3466490" cy="1952244"/>
          </a:xfrm>
          <a:prstGeom prst="roundRect">
            <a:avLst>
              <a:gd name="adj" fmla="val 2810"/>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31" name="Shape 29"/>
          <p:cNvSpPr/>
          <p:nvPr/>
        </p:nvSpPr>
        <p:spPr>
          <a:xfrm>
            <a:off x="621792" y="4311396"/>
            <a:ext cx="64008" cy="1952244"/>
          </a:xfrm>
          <a:prstGeom prst="rect">
            <a:avLst/>
          </a:prstGeom>
          <a:solidFill>
            <a:srgbClr val="3DCD58"/>
          </a:solidFill>
          <a:ln w="12700">
            <a:solidFill>
              <a:srgbClr val="3DCD58"/>
            </a:solidFill>
            <a:prstDash val="solid"/>
          </a:ln>
        </p:spPr>
      </p:sp>
      <p:sp>
        <p:nvSpPr>
          <p:cNvPr id="32" name="Shape 30"/>
          <p:cNvSpPr/>
          <p:nvPr/>
        </p:nvSpPr>
        <p:spPr>
          <a:xfrm>
            <a:off x="868680" y="4512564"/>
            <a:ext cx="438912" cy="438912"/>
          </a:xfrm>
          <a:prstGeom prst="ellipse">
            <a:avLst/>
          </a:prstGeom>
          <a:solidFill>
            <a:srgbClr val="EAF8ED"/>
          </a:solidFill>
          <a:ln w="12700">
            <a:solidFill>
              <a:srgbClr val="EAF8ED"/>
            </a:solidFill>
            <a:prstDash val="solid"/>
          </a:ln>
        </p:spPr>
      </p:sp>
      <p:sp>
        <p:nvSpPr>
          <p:cNvPr id="33" name="Text 31"/>
          <p:cNvSpPr/>
          <p:nvPr/>
        </p:nvSpPr>
        <p:spPr>
          <a:xfrm>
            <a:off x="868680" y="4512564"/>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04</a:t>
            </a:r>
            <a:endParaRPr lang="en-US" sz="1200" dirty="0"/>
          </a:p>
        </p:txBody>
      </p:sp>
      <p:sp>
        <p:nvSpPr>
          <p:cNvPr id="34" name="Text 32"/>
          <p:cNvSpPr/>
          <p:nvPr/>
        </p:nvSpPr>
        <p:spPr>
          <a:xfrm>
            <a:off x="1399032" y="4494276"/>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Gate the next horizon</a:t>
            </a:r>
            <a:endParaRPr lang="en-US" sz="1500" dirty="0"/>
          </a:p>
        </p:txBody>
      </p:sp>
      <p:sp>
        <p:nvSpPr>
          <p:cNvPr id="35" name="Text 33"/>
          <p:cNvSpPr/>
          <p:nvPr/>
        </p:nvSpPr>
        <p:spPr>
          <a:xfrm>
            <a:off x="850392" y="5088636"/>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Fund 2028 against proof points, with explicit stop, adjust and scale decisions.</a:t>
            </a:r>
            <a:endParaRPr lang="en-US" sz="1100" dirty="0"/>
          </a:p>
        </p:txBody>
      </p:sp>
      <p:sp>
        <p:nvSpPr>
          <p:cNvPr id="36" name="Text 34"/>
          <p:cNvSpPr/>
          <p:nvPr/>
        </p:nvSpPr>
        <p:spPr>
          <a:xfrm>
            <a:off x="850392" y="5911596"/>
            <a:ext cx="3009290" cy="169164"/>
          </a:xfrm>
          <a:prstGeom prst="rect">
            <a:avLst/>
          </a:prstGeom>
          <a:noFill/>
          <a:ln/>
        </p:spPr>
        <p:txBody>
          <a:bodyPr wrap="square" lIns="0" tIns="0" rIns="0" bIns="0" rtlCol="0" anchor="t">
            <a:normAutofit/>
          </a:bodyPr>
          <a:lstStyle/>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Consequence if deferred: directional bets harden into promises</a:t>
            </a:r>
            <a:endParaRPr lang="en-US" sz="900" dirty="0"/>
          </a:p>
          <a:p>
            <a:pPr indent="0" marL="0">
              <a:lnSpc>
                <a:spcPct val="110000"/>
              </a:lnSpc>
              <a:spcAft>
                <a:spcPts val="200"/>
              </a:spcAft>
              <a:buNone/>
            </a:pPr>
            <a:r>
              <a:rPr lang="en-US" sz="9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900" dirty="0">
                <a:solidFill>
                  <a:srgbClr val="3A423C"/>
                </a:solidFill>
                <a:latin typeface="Calibri" pitchFamily="34" charset="0"/>
                <a:ea typeface="Calibri" pitchFamily="34" charset="-122"/>
                <a:cs typeface="Calibri" pitchFamily="34" charset="-120"/>
              </a:rPr>
              <a:t>Decision needed at Gate 3</a:t>
            </a:r>
            <a:endParaRPr lang="en-US" sz="900" dirty="0"/>
          </a:p>
        </p:txBody>
      </p:sp>
      <p:sp>
        <p:nvSpPr>
          <p:cNvPr id="37" name="Shape 35"/>
          <p:cNvSpPr/>
          <p:nvPr/>
        </p:nvSpPr>
        <p:spPr>
          <a:xfrm>
            <a:off x="621792" y="6437376"/>
            <a:ext cx="10948111" cy="0"/>
          </a:xfrm>
          <a:prstGeom prst="line">
            <a:avLst/>
          </a:prstGeom>
          <a:noFill/>
          <a:ln w="9525">
            <a:solidFill>
              <a:srgbClr val="E2E6E2"/>
            </a:solidFill>
            <a:prstDash val="solid"/>
          </a:ln>
        </p:spPr>
      </p:sp>
      <p:sp>
        <p:nvSpPr>
          <p:cNvPr id="38" name="Text 3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9" name="Text 3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23901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90982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THE ASK</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we need to leave with today</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Three immediate asks that unlock the Q4 lock and the shape of 2027.</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987802"/>
            <a:ext cx="3466490" cy="1783080"/>
          </a:xfrm>
          <a:prstGeom prst="roundRect">
            <a:avLst>
              <a:gd name="adj" fmla="val 2051"/>
            </a:avLst>
          </a:prstGeom>
          <a:solidFill>
            <a:srgbClr val="FFFFFF"/>
          </a:solidFill>
          <a:ln w="10160">
            <a:solidFill>
              <a:srgbClr val="E2E6E2"/>
            </a:solidFill>
            <a:prstDash val="solid"/>
          </a:ln>
        </p:spPr>
      </p:sp>
      <p:sp>
        <p:nvSpPr>
          <p:cNvPr id="10" name="Shape 8"/>
          <p:cNvSpPr/>
          <p:nvPr/>
        </p:nvSpPr>
        <p:spPr>
          <a:xfrm>
            <a:off x="621792" y="2987802"/>
            <a:ext cx="64008" cy="1783080"/>
          </a:xfrm>
          <a:prstGeom prst="rect">
            <a:avLst/>
          </a:prstGeom>
          <a:solidFill>
            <a:srgbClr val="3DCD58"/>
          </a:solidFill>
          <a:ln w="12700">
            <a:solidFill>
              <a:srgbClr val="3DCD58"/>
            </a:solidFill>
            <a:prstDash val="solid"/>
          </a:ln>
        </p:spPr>
      </p:sp>
      <p:sp>
        <p:nvSpPr>
          <p:cNvPr id="11" name="Text 9"/>
          <p:cNvSpPr/>
          <p:nvPr/>
        </p:nvSpPr>
        <p:spPr>
          <a:xfrm>
            <a:off x="850392" y="3188970"/>
            <a:ext cx="3009290" cy="274320"/>
          </a:xfrm>
          <a:prstGeom prst="rect">
            <a:avLst/>
          </a:prstGeom>
          <a:noFill/>
          <a:ln/>
        </p:spPr>
        <p:txBody>
          <a:bodyPr wrap="square" lIns="0" tIns="0" rIns="0" bIns="0" rtlCol="0" anchor="ctr"/>
          <a:lstStyle/>
          <a:p>
            <a:pPr indent="0" marL="0">
              <a:buNone/>
            </a:pPr>
            <a:r>
              <a:rPr lang="en-US" sz="1000" b="1" spc="150" kern="0" dirty="0">
                <a:solidFill>
                  <a:srgbClr val="007A27"/>
                </a:solidFill>
                <a:latin typeface="Calibri" pitchFamily="34" charset="0"/>
                <a:ea typeface="Calibri" pitchFamily="34" charset="-122"/>
                <a:cs typeface="Calibri" pitchFamily="34" charset="-120"/>
              </a:rPr>
              <a:t>DECISION 01</a:t>
            </a:r>
            <a:endParaRPr lang="en-US" sz="1000" dirty="0"/>
          </a:p>
        </p:txBody>
      </p:sp>
      <p:sp>
        <p:nvSpPr>
          <p:cNvPr id="12" name="Text 10"/>
          <p:cNvSpPr/>
          <p:nvPr/>
        </p:nvSpPr>
        <p:spPr>
          <a:xfrm>
            <a:off x="850392" y="3499866"/>
            <a:ext cx="3009290" cy="45720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Endorse the Q4 wedge</a:t>
            </a:r>
            <a:endParaRPr lang="en-US" sz="1600" dirty="0"/>
          </a:p>
        </p:txBody>
      </p:sp>
      <p:sp>
        <p:nvSpPr>
          <p:cNvPr id="13" name="Text 11"/>
          <p:cNvSpPr/>
          <p:nvPr/>
        </p:nvSpPr>
        <p:spPr>
          <a:xfrm>
            <a:off x="850392" y="3993642"/>
            <a:ext cx="3009290" cy="576072"/>
          </a:xfrm>
          <a:prstGeom prst="rect">
            <a:avLst/>
          </a:prstGeom>
          <a:noFill/>
          <a:ln/>
        </p:spPr>
        <p:txBody>
          <a:bodyPr wrap="square" lIns="0" tIns="0" rIns="0" bIns="0" rtlCol="0" anchor="t">
            <a:normAutofit/>
          </a:bodyPr>
          <a:lstStyle/>
          <a:p>
            <a:pPr indent="0" marL="0">
              <a:buNone/>
            </a:pPr>
            <a:r>
              <a:rPr lang="en-US" sz="1250" dirty="0">
                <a:solidFill>
                  <a:srgbClr val="1E2420"/>
                </a:solidFill>
                <a:latin typeface="Calibri" pitchFamily="34" charset="0"/>
                <a:ea typeface="Calibri" pitchFamily="34" charset="-122"/>
                <a:cs typeface="Calibri" pitchFamily="34" charset="-120"/>
              </a:rPr>
              <a:t>Emission factors and calculation depth first, with the deferred list accepted as stated.</a:t>
            </a:r>
            <a:endParaRPr lang="en-US" sz="1250" dirty="0"/>
          </a:p>
        </p:txBody>
      </p:sp>
      <p:sp>
        <p:nvSpPr>
          <p:cNvPr id="14" name="Shape 12"/>
          <p:cNvSpPr/>
          <p:nvPr/>
        </p:nvSpPr>
        <p:spPr>
          <a:xfrm>
            <a:off x="4362602" y="2987802"/>
            <a:ext cx="3466490" cy="1783080"/>
          </a:xfrm>
          <a:prstGeom prst="roundRect">
            <a:avLst>
              <a:gd name="adj" fmla="val 2051"/>
            </a:avLst>
          </a:prstGeom>
          <a:solidFill>
            <a:srgbClr val="FFFFFF"/>
          </a:solidFill>
          <a:ln w="10160">
            <a:solidFill>
              <a:srgbClr val="E2E6E2"/>
            </a:solidFill>
            <a:prstDash val="solid"/>
          </a:ln>
        </p:spPr>
      </p:sp>
      <p:sp>
        <p:nvSpPr>
          <p:cNvPr id="15" name="Shape 13"/>
          <p:cNvSpPr/>
          <p:nvPr/>
        </p:nvSpPr>
        <p:spPr>
          <a:xfrm>
            <a:off x="4362602" y="2987802"/>
            <a:ext cx="64008" cy="1783080"/>
          </a:xfrm>
          <a:prstGeom prst="rect">
            <a:avLst/>
          </a:prstGeom>
          <a:solidFill>
            <a:srgbClr val="3DCD58"/>
          </a:solidFill>
          <a:ln w="12700">
            <a:solidFill>
              <a:srgbClr val="3DCD58"/>
            </a:solidFill>
            <a:prstDash val="solid"/>
          </a:ln>
        </p:spPr>
      </p:sp>
      <p:sp>
        <p:nvSpPr>
          <p:cNvPr id="16" name="Text 14"/>
          <p:cNvSpPr/>
          <p:nvPr/>
        </p:nvSpPr>
        <p:spPr>
          <a:xfrm>
            <a:off x="4591202" y="3188970"/>
            <a:ext cx="3009290" cy="274320"/>
          </a:xfrm>
          <a:prstGeom prst="rect">
            <a:avLst/>
          </a:prstGeom>
          <a:noFill/>
          <a:ln/>
        </p:spPr>
        <p:txBody>
          <a:bodyPr wrap="square" lIns="0" tIns="0" rIns="0" bIns="0" rtlCol="0" anchor="ctr"/>
          <a:lstStyle/>
          <a:p>
            <a:pPr indent="0" marL="0">
              <a:buNone/>
            </a:pPr>
            <a:r>
              <a:rPr lang="en-US" sz="1000" b="1" spc="150" kern="0" dirty="0">
                <a:solidFill>
                  <a:srgbClr val="007A27"/>
                </a:solidFill>
                <a:latin typeface="Calibri" pitchFamily="34" charset="0"/>
                <a:ea typeface="Calibri" pitchFamily="34" charset="-122"/>
                <a:cs typeface="Calibri" pitchFamily="34" charset="-120"/>
              </a:rPr>
              <a:t>DECISION 02</a:t>
            </a:r>
            <a:endParaRPr lang="en-US" sz="1000" dirty="0"/>
          </a:p>
        </p:txBody>
      </p:sp>
      <p:sp>
        <p:nvSpPr>
          <p:cNvPr id="17" name="Text 15"/>
          <p:cNvSpPr/>
          <p:nvPr/>
        </p:nvSpPr>
        <p:spPr>
          <a:xfrm>
            <a:off x="4591202" y="3499866"/>
            <a:ext cx="3009290" cy="45720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Hold the capacity line</a:t>
            </a:r>
            <a:endParaRPr lang="en-US" sz="1600" dirty="0"/>
          </a:p>
        </p:txBody>
      </p:sp>
      <p:sp>
        <p:nvSpPr>
          <p:cNvPr id="18" name="Text 16"/>
          <p:cNvSpPr/>
          <p:nvPr/>
        </p:nvSpPr>
        <p:spPr>
          <a:xfrm>
            <a:off x="4591202" y="3993642"/>
            <a:ext cx="3009290" cy="576072"/>
          </a:xfrm>
          <a:prstGeom prst="rect">
            <a:avLst/>
          </a:prstGeom>
          <a:noFill/>
          <a:ln/>
        </p:spPr>
        <p:txBody>
          <a:bodyPr wrap="square" lIns="0" tIns="0" rIns="0" bIns="0" rtlCol="0" anchor="t">
            <a:normAutofit/>
          </a:bodyPr>
          <a:lstStyle/>
          <a:p>
            <a:pPr indent="0" marL="0">
              <a:buNone/>
            </a:pPr>
            <a:r>
              <a:rPr lang="en-US" sz="1250" dirty="0">
                <a:solidFill>
                  <a:srgbClr val="1E2420"/>
                </a:solidFill>
                <a:latin typeface="Calibri" pitchFamily="34" charset="0"/>
                <a:ea typeface="Calibri" pitchFamily="34" charset="-122"/>
                <a:cs typeface="Calibri" pitchFamily="34" charset="-120"/>
              </a:rPr>
              <a:t>Approve roughly 45 solution slots for Q4 and the ranked cut at organizational boundary and consolidation.</a:t>
            </a:r>
            <a:endParaRPr lang="en-US" sz="1250" dirty="0"/>
          </a:p>
        </p:txBody>
      </p:sp>
      <p:sp>
        <p:nvSpPr>
          <p:cNvPr id="19" name="Shape 17"/>
          <p:cNvSpPr/>
          <p:nvPr/>
        </p:nvSpPr>
        <p:spPr>
          <a:xfrm>
            <a:off x="8103413" y="2987802"/>
            <a:ext cx="3466490" cy="1783080"/>
          </a:xfrm>
          <a:prstGeom prst="roundRect">
            <a:avLst>
              <a:gd name="adj" fmla="val 2051"/>
            </a:avLst>
          </a:prstGeom>
          <a:solidFill>
            <a:srgbClr val="FFFFFF"/>
          </a:solidFill>
          <a:ln w="10160">
            <a:solidFill>
              <a:srgbClr val="E2E6E2"/>
            </a:solidFill>
            <a:prstDash val="solid"/>
          </a:ln>
        </p:spPr>
      </p:sp>
      <p:sp>
        <p:nvSpPr>
          <p:cNvPr id="20" name="Shape 18"/>
          <p:cNvSpPr/>
          <p:nvPr/>
        </p:nvSpPr>
        <p:spPr>
          <a:xfrm>
            <a:off x="8103413" y="2987802"/>
            <a:ext cx="64008" cy="1783080"/>
          </a:xfrm>
          <a:prstGeom prst="rect">
            <a:avLst/>
          </a:prstGeom>
          <a:solidFill>
            <a:srgbClr val="3DCD58"/>
          </a:solidFill>
          <a:ln w="12700">
            <a:solidFill>
              <a:srgbClr val="3DCD58"/>
            </a:solidFill>
            <a:prstDash val="solid"/>
          </a:ln>
        </p:spPr>
      </p:sp>
      <p:sp>
        <p:nvSpPr>
          <p:cNvPr id="21" name="Text 19"/>
          <p:cNvSpPr/>
          <p:nvPr/>
        </p:nvSpPr>
        <p:spPr>
          <a:xfrm>
            <a:off x="8332013" y="3188970"/>
            <a:ext cx="3009290" cy="274320"/>
          </a:xfrm>
          <a:prstGeom prst="rect">
            <a:avLst/>
          </a:prstGeom>
          <a:noFill/>
          <a:ln/>
        </p:spPr>
        <p:txBody>
          <a:bodyPr wrap="square" lIns="0" tIns="0" rIns="0" bIns="0" rtlCol="0" anchor="ctr"/>
          <a:lstStyle/>
          <a:p>
            <a:pPr indent="0" marL="0">
              <a:buNone/>
            </a:pPr>
            <a:r>
              <a:rPr lang="en-US" sz="1000" b="1" spc="150" kern="0" dirty="0">
                <a:solidFill>
                  <a:srgbClr val="007A27"/>
                </a:solidFill>
                <a:latin typeface="Calibri" pitchFamily="34" charset="0"/>
                <a:ea typeface="Calibri" pitchFamily="34" charset="-122"/>
                <a:cs typeface="Calibri" pitchFamily="34" charset="-120"/>
              </a:rPr>
              <a:t>DECISION 03</a:t>
            </a:r>
            <a:endParaRPr lang="en-US" sz="1000" dirty="0"/>
          </a:p>
        </p:txBody>
      </p:sp>
      <p:sp>
        <p:nvSpPr>
          <p:cNvPr id="22" name="Text 20"/>
          <p:cNvSpPr/>
          <p:nvPr/>
        </p:nvSpPr>
        <p:spPr>
          <a:xfrm>
            <a:off x="8332013" y="3499866"/>
            <a:ext cx="3009290" cy="45720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Confirm the 2027 bets</a:t>
            </a:r>
            <a:endParaRPr lang="en-US" sz="1600" dirty="0"/>
          </a:p>
        </p:txBody>
      </p:sp>
      <p:sp>
        <p:nvSpPr>
          <p:cNvPr id="23" name="Text 21"/>
          <p:cNvSpPr/>
          <p:nvPr/>
        </p:nvSpPr>
        <p:spPr>
          <a:xfrm>
            <a:off x="8332013" y="3993642"/>
            <a:ext cx="3009290" cy="576072"/>
          </a:xfrm>
          <a:prstGeom prst="rect">
            <a:avLst/>
          </a:prstGeom>
          <a:noFill/>
          <a:ln/>
        </p:spPr>
        <p:txBody>
          <a:bodyPr wrap="square" lIns="0" tIns="0" rIns="0" bIns="0" rtlCol="0" anchor="t">
            <a:normAutofit/>
          </a:bodyPr>
          <a:lstStyle/>
          <a:p>
            <a:pPr indent="0" marL="0">
              <a:buNone/>
            </a:pPr>
            <a:r>
              <a:rPr lang="en-US" sz="1250" dirty="0">
                <a:solidFill>
                  <a:srgbClr val="1E2420"/>
                </a:solidFill>
                <a:latin typeface="Calibri" pitchFamily="34" charset="0"/>
                <a:ea typeface="Calibri" pitchFamily="34" charset="-122"/>
                <a:cs typeface="Calibri" pitchFamily="34" charset="-120"/>
              </a:rPr>
              <a:t>Close the inventory, move from measurement to decisions, and compound CP data across RA+.</a:t>
            </a:r>
            <a:endParaRPr lang="en-US" sz="1250" dirty="0"/>
          </a:p>
        </p:txBody>
      </p:sp>
      <p:sp>
        <p:nvSpPr>
          <p:cNvPr id="24" name="Shape 22"/>
          <p:cNvSpPr/>
          <p:nvPr/>
        </p:nvSpPr>
        <p:spPr>
          <a:xfrm>
            <a:off x="621792" y="6437376"/>
            <a:ext cx="10948111" cy="0"/>
          </a:xfrm>
          <a:prstGeom prst="line">
            <a:avLst/>
          </a:prstGeom>
          <a:noFill/>
          <a:ln w="9525">
            <a:solidFill>
              <a:srgbClr val="E2E6E2"/>
            </a:solidFill>
            <a:prstDash val="solid"/>
          </a:ln>
        </p:spPr>
      </p:sp>
      <p:sp>
        <p:nvSpPr>
          <p:cNvPr id="25" name="Text 2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6" name="Text 2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106</Slides>
  <Notes>106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106</vt:i4>
      </vt:variant>
    </vt:vector>
  </HeadingPairs>
  <TitlesOfParts>
    <vt:vector size="10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Performance Roadmap 2026 and 2027</dc:title>
  <dc:subject>PptxGenJS Presentation</dc:subject>
  <dc:creator>Schneider Electric, Sustainability Business</dc:creator>
  <cp:lastModifiedBy>Schneider Electric, Sustainability Business</cp:lastModifiedBy>
  <cp:revision>1</cp:revision>
  <dcterms:created xsi:type="dcterms:W3CDTF">2026-09-07T08:51:51Z</dcterms:created>
  <dcterms:modified xsi:type="dcterms:W3CDTF">2026-09-07T08:51:51Z</dcterms:modified>
</cp:coreProperties>
</file>