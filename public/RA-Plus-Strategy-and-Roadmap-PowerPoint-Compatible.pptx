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slideLayouts/_rels/slideLayout1.xml.rels" ContentType="application/vnd.openxmlformats-package.relationships+xml"/>
  <Override PartName="/ppt/slideLayouts/slideLayout1.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_rels/slide78.xml.rels" ContentType="application/vnd.openxmlformats-package.relationships+xml"/>
  <Override PartName="/ppt/slides/_rels/slide123.xml.rels" ContentType="application/vnd.openxmlformats-package.relationships+xml"/>
  <Override PartName="/ppt/slides/_rels/slide77.xml.rels" ContentType="application/vnd.openxmlformats-package.relationships+xml"/>
  <Override PartName="/ppt/slides/_rels/slide122.xml.rels" ContentType="application/vnd.openxmlformats-package.relationships+xml"/>
  <Override PartName="/ppt/slides/_rels/slide76.xml.rels" ContentType="application/vnd.openxmlformats-package.relationships+xml"/>
  <Override PartName="/ppt/slides/_rels/slide121.xml.rels" ContentType="application/vnd.openxmlformats-package.relationships+xml"/>
  <Override PartName="/ppt/slides/_rels/slide75.xml.rels" ContentType="application/vnd.openxmlformats-package.relationships+xml"/>
  <Override PartName="/ppt/slides/_rels/slide120.xml.rels" ContentType="application/vnd.openxmlformats-package.relationships+xml"/>
  <Override PartName="/ppt/slides/_rels/slide74.xml.rels" ContentType="application/vnd.openxmlformats-package.relationships+xml"/>
  <Override PartName="/ppt/slides/_rels/slide73.xml.rels" ContentType="application/vnd.openxmlformats-package.relationships+xml"/>
  <Override PartName="/ppt/slides/_rels/slide71.xml.rels" ContentType="application/vnd.openxmlformats-package.relationships+xml"/>
  <Override PartName="/ppt/slides/_rels/slide70.xml.rels" ContentType="application/vnd.openxmlformats-package.relationships+xml"/>
  <Override PartName="/ppt/slides/_rels/slide61.xml.rels" ContentType="application/vnd.openxmlformats-package.relationships+xml"/>
  <Override PartName="/ppt/slides/_rels/slide60.xml.rels" ContentType="application/vnd.openxmlformats-package.relationships+xml"/>
  <Override PartName="/ppt/slides/_rels/slide93.xml.rels" ContentType="application/vnd.openxmlformats-package.relationships+xml"/>
  <Override PartName="/ppt/slides/_rels/slide25.xml.rels" ContentType="application/vnd.openxmlformats-package.relationships+xml"/>
  <Override PartName="/ppt/slides/_rels/slide28.xml.rels" ContentType="application/vnd.openxmlformats-package.relationships+xml"/>
  <Override PartName="/ppt/slides/_rels/slide96.xml.rels" ContentType="application/vnd.openxmlformats-package.relationships+xml"/>
  <Override PartName="/ppt/slides/_rels/slide141.xml.rels" ContentType="application/vnd.openxmlformats-package.relationships+xml"/>
  <Override PartName="/ppt/slides/_rels/slide14.xml.rels" ContentType="application/vnd.openxmlformats-package.relationships+xml"/>
  <Override PartName="/ppt/slides/_rels/slide82.xml.rels" ContentType="application/vnd.openxmlformats-package.relationships+xml"/>
  <Override PartName="/ppt/slides/_rels/slide12.xml.rels" ContentType="application/vnd.openxmlformats-package.relationships+xml"/>
  <Override PartName="/ppt/slides/_rels/slide80.xml.rels" ContentType="application/vnd.openxmlformats-package.relationships+xml"/>
  <Override PartName="/ppt/slides/_rels/slide136.xml.rels" ContentType="application/vnd.openxmlformats-package.relationships+xml"/>
  <Override PartName="/ppt/slides/_rels/slide103.xml.rels" ContentType="application/vnd.openxmlformats-package.relationships+xml"/>
  <Override PartName="/ppt/slides/_rels/slide58.xml.rels" ContentType="application/vnd.openxmlformats-package.relationships+xml"/>
  <Override PartName="/ppt/slides/_rels/slide149.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72.xml.rels" ContentType="application/vnd.openxmlformats-package.relationships+xml"/>
  <Override PartName="/ppt/slides/_rels/slide148.xml.rels" ContentType="application/vnd.openxmlformats-package.relationships+xml"/>
  <Override PartName="/ppt/slides/_rels/slide66.xml.rels" ContentType="application/vnd.openxmlformats-package.relationships+xml"/>
  <Override PartName="/ppt/slides/_rels/slide111.xml.rels" ContentType="application/vnd.openxmlformats-package.relationships+xml"/>
  <Override PartName="/ppt/slides/_rels/slide33.xml.rels" ContentType="application/vnd.openxmlformats-package.relationships+xml"/>
  <Override PartName="/ppt/slides/_rels/slide53.xml.rels" ContentType="application/vnd.openxmlformats-package.relationships+xml"/>
  <Override PartName="/ppt/slides/_rels/slide65.xml.rels" ContentType="application/vnd.openxmlformats-package.relationships+xml"/>
  <Override PartName="/ppt/slides/_rels/slide110.xml.rels" ContentType="application/vnd.openxmlformats-package.relationships+xml"/>
  <Override PartName="/ppt/slides/_rels/slide32.xml.rels" ContentType="application/vnd.openxmlformats-package.relationships+xml"/>
  <Override PartName="/ppt/slides/_rels/slide143.xml.rels" ContentType="application/vnd.openxmlformats-package.relationships+xml"/>
  <Override PartName="/ppt/slides/_rels/slide98.xml.rels" ContentType="application/vnd.openxmlformats-package.relationships+xml"/>
  <Override PartName="/ppt/slides/_rels/slide5.xml.rels" ContentType="application/vnd.openxmlformats-package.relationships+xml"/>
  <Override PartName="/ppt/slides/_rels/slide52.xml.rels" ContentType="application/vnd.openxmlformats-package.relationships+xml"/>
  <Override PartName="/ppt/slides/_rels/slide64.xml.rels" ContentType="application/vnd.openxmlformats-package.relationships+xml"/>
  <Override PartName="/ppt/slides/_rels/slide51.xml.rels" ContentType="application/vnd.openxmlformats-package.relationships+xml"/>
  <Override PartName="/ppt/slides/_rels/slide63.xml.rels" ContentType="application/vnd.openxmlformats-package.relationships+xml"/>
  <Override PartName="/ppt/slides/_rels/slide50.xml.rels" ContentType="application/vnd.openxmlformats-package.relationships+xml"/>
  <Override PartName="/ppt/slides/_rels/slide62.xml.rels" ContentType="application/vnd.openxmlformats-package.relationships+xml"/>
  <Override PartName="/ppt/slides/_rels/slide106.xml.rels" ContentType="application/vnd.openxmlformats-package.relationships+xml"/>
  <Override PartName="/ppt/slides/_rels/slide130.xml.rels" ContentType="application/vnd.openxmlformats-package.relationships+xml"/>
  <Override PartName="/ppt/slides/_rels/slide85.xml.rels" ContentType="application/vnd.openxmlformats-package.relationships+xml"/>
  <Override PartName="/ppt/slides/_rels/slide17.xml.rels" ContentType="application/vnd.openxmlformats-package.relationships+xml"/>
  <Override PartName="/ppt/slides/_rels/slide108.xml.rels" ContentType="application/vnd.openxmlformats-package.relationships+xml"/>
  <Override PartName="/ppt/slides/_rels/slide2.xml.rels" ContentType="application/vnd.openxmlformats-package.relationships+xml"/>
  <Override PartName="/ppt/slides/_rels/slide131.xml.rels" ContentType="application/vnd.openxmlformats-package.relationships+xml"/>
  <Override PartName="/ppt/slides/_rels/slide86.xml.rels" ContentType="application/vnd.openxmlformats-package.relationships+xml"/>
  <Override PartName="/ppt/slides/_rels/slide18.xml.rels" ContentType="application/vnd.openxmlformats-package.relationships+xml"/>
  <Override PartName="/ppt/slides/_rels/slide109.xml.rels" ContentType="application/vnd.openxmlformats-package.relationships+xml"/>
  <Override PartName="/ppt/slides/_rels/slide3.xml.rels" ContentType="application/vnd.openxmlformats-package.relationships+xml"/>
  <Override PartName="/ppt/slides/_rels/slide116.xml.rels" ContentType="application/vnd.openxmlformats-package.relationships+xml"/>
  <Override PartName="/ppt/slides/_rels/slide38.xml.rels" ContentType="application/vnd.openxmlformats-package.relationships+xml"/>
  <Override PartName="/ppt/slides/_rels/slide117.xml.rels" ContentType="application/vnd.openxmlformats-package.relationships+xml"/>
  <Override PartName="/ppt/slides/_rels/slide39.xml.rels" ContentType="application/vnd.openxmlformats-package.relationships+xml"/>
  <Override PartName="/ppt/slides/_rels/slide119.xml.rels" ContentType="application/vnd.openxmlformats-package.relationships+xml"/>
  <Override PartName="/ppt/slides/_rels/slide118.xml.rels" ContentType="application/vnd.openxmlformats-package.relationships+xml"/>
  <Override PartName="/ppt/slides/_rels/slide140.xml.rels" ContentType="application/vnd.openxmlformats-package.relationships+xml"/>
  <Override PartName="/ppt/slides/_rels/slide95.xml.rels" ContentType="application/vnd.openxmlformats-package.relationships+xml"/>
  <Override PartName="/ppt/slides/_rels/slide27.xml.rels" ContentType="application/vnd.openxmlformats-package.relationships+xml"/>
  <Override PartName="/ppt/slides/_rels/slide105.xml.rels" ContentType="application/vnd.openxmlformats-package.relationships+xml"/>
  <Override PartName="/ppt/slides/_rels/slide30.xml.rels" ContentType="application/vnd.openxmlformats-package.relationships+xml"/>
  <Override PartName="/ppt/slides/_rels/slide49.xml.rels" ContentType="application/vnd.openxmlformats-package.relationships+xml"/>
  <Override PartName="/ppt/slides/_rels/slide127.xml.rels" ContentType="application/vnd.openxmlformats-package.relationships+xml"/>
  <Override PartName="/ppt/slides/_rels/slide90.xml.rels" ContentType="application/vnd.openxmlformats-package.relationships+xml"/>
  <Override PartName="/ppt/slides/_rels/slide22.xml.rels" ContentType="application/vnd.openxmlformats-package.relationships+xml"/>
  <Override PartName="/ppt/slides/_rels/slide104.xml.rels" ContentType="application/vnd.openxmlformats-package.relationships+xml"/>
  <Override PartName="/ppt/slides/_rels/slide59.xml.rels" ContentType="application/vnd.openxmlformats-package.relationships+xml"/>
  <Override PartName="/ppt/slides/_rels/slide137.xml.rels" ContentType="application/vnd.openxmlformats-package.relationships+xml"/>
  <Override PartName="/ppt/slides/_rels/slide31.xml.rels" ContentType="application/vnd.openxmlformats-package.relationships+xml"/>
  <Override PartName="/ppt/slides/_rels/slide79.xml.rels" ContentType="application/vnd.openxmlformats-package.relationships+xml"/>
  <Override PartName="/ppt/slides/_rels/slide124.xml.rels" ContentType="application/vnd.openxmlformats-package.relationships+xml"/>
  <Override PartName="/ppt/slides/_rels/slide46.xml.rels" ContentType="application/vnd.openxmlformats-package.relationships+xml"/>
  <Override PartName="/ppt/slides/_rels/slide125.xml.rels" ContentType="application/vnd.openxmlformats-package.relationships+xml"/>
  <Override PartName="/ppt/slides/_rels/slide47.xml.rels" ContentType="application/vnd.openxmlformats-package.relationships+xml"/>
  <Override PartName="/ppt/slides/_rels/slide34.xml.rels" ContentType="application/vnd.openxmlformats-package.relationships+xml"/>
  <Override PartName="/ppt/slides/_rels/slide126.xml.rels" ContentType="application/vnd.openxmlformats-package.relationships+xml"/>
  <Override PartName="/ppt/slides/_rels/slide48.xml.rels" ContentType="application/vnd.openxmlformats-package.relationships+xml"/>
  <Override PartName="/ppt/slides/_rels/slide35.xml.rels" ContentType="application/vnd.openxmlformats-package.relationships+xml"/>
  <Override PartName="/ppt/slides/_rels/slide36.xml.rels" ContentType="application/vnd.openxmlformats-package.relationships+xml"/>
  <Override PartName="/ppt/slides/_rels/slide107.xml.rels" ContentType="application/vnd.openxmlformats-package.relationships+xml"/>
  <Override PartName="/ppt/slides/_rels/slide97.xml.rels" ContentType="application/vnd.openxmlformats-package.relationships+xml"/>
  <Override PartName="/ppt/slides/_rels/slide142.xml.rels" ContentType="application/vnd.openxmlformats-package.relationships+xml"/>
  <Override PartName="/ppt/slides/_rels/slide29.xml.rels" ContentType="application/vnd.openxmlformats-package.relationships+xml"/>
  <Override PartName="/ppt/slides/_rels/slide26.xml.rels" ContentType="application/vnd.openxmlformats-package.relationships+xml"/>
  <Override PartName="/ppt/slides/_rels/slide94.xml.rels" ContentType="application/vnd.openxmlformats-package.relationships+xml"/>
  <Override PartName="/ppt/slides/_rels/slide139.xml.rels" ContentType="application/vnd.openxmlformats-package.relationships+xml"/>
  <Override PartName="/ppt/slides/_rels/slide92.xml.rels" ContentType="application/vnd.openxmlformats-package.relationships+xml"/>
  <Override PartName="/ppt/slides/_rels/slide24.xml.rels" ContentType="application/vnd.openxmlformats-package.relationships+xml"/>
  <Override PartName="/ppt/slides/_rels/slide45.xml.rels" ContentType="application/vnd.openxmlformats-package.relationships+xml"/>
  <Override PartName="/ppt/slides/_rels/slide138.xml.rels" ContentType="application/vnd.openxmlformats-package.relationships+xml"/>
  <Override PartName="/ppt/slides/_rels/slide91.xml.rels" ContentType="application/vnd.openxmlformats-package.relationships+xml"/>
  <Override PartName="/ppt/slides/_rels/slide23.xml.rels" ContentType="application/vnd.openxmlformats-package.relationships+xml"/>
  <Override PartName="/ppt/slides/_rels/slide44.xml.rels" ContentType="application/vnd.openxmlformats-package.relationships+xml"/>
  <Override PartName="/ppt/slides/_rels/slide135.xml.rels" ContentType="application/vnd.openxmlformats-package.relationships+xml"/>
  <Override PartName="/ppt/slides/_rels/slide102.xml.rels" ContentType="application/vnd.openxmlformats-package.relationships+xml"/>
  <Override PartName="/ppt/slides/_rels/slide57.xml.rels" ContentType="application/vnd.openxmlformats-package.relationships+xml"/>
  <Override PartName="/ppt/slides/_rels/slide43.xml.rels" ContentType="application/vnd.openxmlformats-package.relationships+xml"/>
  <Override PartName="/ppt/slides/_rels/slide89.xml.rels" ContentType="application/vnd.openxmlformats-package.relationships+xml"/>
  <Override PartName="/ppt/slides/_rels/slide134.xml.rels" ContentType="application/vnd.openxmlformats-package.relationships+xml"/>
  <Override PartName="/ppt/slides/_rels/slide101.xml.rels" ContentType="application/vnd.openxmlformats-package.relationships+xml"/>
  <Override PartName="/ppt/slides/_rels/slide56.xml.rels" ContentType="application/vnd.openxmlformats-package.relationships+xml"/>
  <Override PartName="/ppt/slides/_rels/slide42.xml.rels" ContentType="application/vnd.openxmlformats-package.relationships+xml"/>
  <Override PartName="/ppt/slides/_rels/slide88.xml.rels" ContentType="application/vnd.openxmlformats-package.relationships+xml"/>
  <Override PartName="/ppt/slides/_rels/slide133.xml.rels" ContentType="application/vnd.openxmlformats-package.relationships+xml"/>
  <Override PartName="/ppt/slides/_rels/slide100.xml.rels" ContentType="application/vnd.openxmlformats-package.relationships+xml"/>
  <Override PartName="/ppt/slides/_rels/slide55.xml.rels" ContentType="application/vnd.openxmlformats-package.relationships+xml"/>
  <Override PartName="/ppt/slides/_rels/slide41.xml.rels" ContentType="application/vnd.openxmlformats-package.relationships+xml"/>
  <Override PartName="/ppt/slides/_rels/slide87.xml.rels" ContentType="application/vnd.openxmlformats-package.relationships+xml"/>
  <Override PartName="/ppt/slides/_rels/slide19.xml.rels" ContentType="application/vnd.openxmlformats-package.relationships+xml"/>
  <Override PartName="/ppt/slides/_rels/slide132.xml.rels" ContentType="application/vnd.openxmlformats-package.relationships+xml"/>
  <Override PartName="/ppt/slides/_rels/slide54.xml.rels" ContentType="application/vnd.openxmlformats-package.relationships+xml"/>
  <Override PartName="/ppt/slides/_rels/slide40.xml.rels" ContentType="application/vnd.openxmlformats-package.relationships+xml"/>
  <Override PartName="/ppt/slides/_rels/slide150.xml.rels" ContentType="application/vnd.openxmlformats-package.relationships+xml"/>
  <Override PartName="/ppt/slides/_rels/slide37.xml.rels" ContentType="application/vnd.openxmlformats-package.relationships+xml"/>
  <Override PartName="/ppt/slides/_rels/slide115.xml.rels" ContentType="application/vnd.openxmlformats-package.relationships+xml"/>
  <Override PartName="/ppt/slides/_rels/slide128.xml.rels" ContentType="application/vnd.openxmlformats-package.relationships+xml"/>
  <Override PartName="/ppt/slides/_rels/slide147.xml.rels" ContentType="application/vnd.openxmlformats-package.relationships+xml"/>
  <Override PartName="/ppt/slides/_rels/slide114.xml.rels" ContentType="application/vnd.openxmlformats-package.relationships+xml"/>
  <Override PartName="/ppt/slides/_rels/slide69.xml.rels" ContentType="application/vnd.openxmlformats-package.relationships+xml"/>
  <Override PartName="/ppt/slides/_rels/slide146.xml.rels" ContentType="application/vnd.openxmlformats-package.relationships+xml"/>
  <Override PartName="/ppt/slides/_rels/slide113.xml.rels" ContentType="application/vnd.openxmlformats-package.relationships+xml"/>
  <Override PartName="/ppt/slides/_rels/slide68.xml.rels" ContentType="application/vnd.openxmlformats-package.relationships+xml"/>
  <Override PartName="/ppt/slides/_rels/slide145.xml.rels" ContentType="application/vnd.openxmlformats-package.relationships+xml"/>
  <Override PartName="/ppt/slides/_rels/slide112.xml.rels" ContentType="application/vnd.openxmlformats-package.relationships+xml"/>
  <Override PartName="/ppt/slides/_rels/slide67.xml.rels" ContentType="application/vnd.openxmlformats-package.relationships+xml"/>
  <Override PartName="/ppt/slides/_rels/slide144.xml.rels" ContentType="application/vnd.openxmlformats-package.relationships+xml"/>
  <Override PartName="/ppt/slides/_rels/slide99.xml.rels" ContentType="application/vnd.openxmlformats-package.relationships+xml"/>
  <Override PartName="/ppt/slides/_rels/slide6.xml.rels" ContentType="application/vnd.openxmlformats-package.relationships+xml"/>
  <Override PartName="/ppt/slides/_rels/slide20.xml.rels" ContentType="application/vnd.openxmlformats-package.relationships+xml"/>
  <Override PartName="/ppt/slides/_rels/slide11.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8.xml.rels" ContentType="application/vnd.openxmlformats-package.relationships+xml"/>
  <Override PartName="/ppt/slides/_rels/slide84.xml.rels" ContentType="application/vnd.openxmlformats-package.relationships+xml"/>
  <Override PartName="/ppt/slides/_rels/slide16.xml.rels" ContentType="application/vnd.openxmlformats-package.relationships+xml"/>
  <Override PartName="/ppt/slides/_rels/slide81.xml.rels" ContentType="application/vnd.openxmlformats-package.relationships+xml"/>
  <Override PartName="/ppt/slides/_rels/slide13.xml.rels" ContentType="application/vnd.openxmlformats-package.relationships+xml"/>
  <Override PartName="/ppt/slides/_rels/slide1.xml.rels" ContentType="application/vnd.openxmlformats-package.relationships+xml"/>
  <Override PartName="/ppt/slides/_rels/slide129.xml.rels" ContentType="application/vnd.openxmlformats-package.relationships+xml"/>
  <Override PartName="/ppt/slides/_rels/slide7.xml.rels" ContentType="application/vnd.openxmlformats-package.relationships+xml"/>
  <Override PartName="/ppt/slides/_rels/slide83.xml.rels" ContentType="application/vnd.openxmlformats-package.relationships+xml"/>
  <Override PartName="/ppt/slides/_rels/slide15.xml.rels" ContentType="application/vnd.openxmlformats-package.relationships+xml"/>
  <Override PartName="/ppt/slides/slide127.xml" ContentType="application/vnd.openxmlformats-officedocument.presentationml.slide+xml"/>
  <Override PartName="/ppt/slides/slide126.xml" ContentType="application/vnd.openxmlformats-officedocument.presentationml.slide+xml"/>
  <Override PartName="/ppt/slides/slide119.xml" ContentType="application/vnd.openxmlformats-officedocument.presentationml.slide+xml"/>
  <Override PartName="/ppt/slides/slide118.xml" ContentType="application/vnd.openxmlformats-officedocument.presentationml.slide+xml"/>
  <Override PartName="/ppt/slides/slide117.xml" ContentType="application/vnd.openxmlformats-officedocument.presentationml.slide+xml"/>
  <Override PartName="/ppt/slides/slide116.xml" ContentType="application/vnd.openxmlformats-officedocument.presentationml.slide+xml"/>
  <Override PartName="/ppt/slides/slide109.xml" ContentType="application/vnd.openxmlformats-officedocument.presentationml.slide+xml"/>
  <Override PartName="/ppt/slides/slide108.xml" ContentType="application/vnd.openxmlformats-officedocument.presentationml.slide+xml"/>
  <Override PartName="/ppt/slides/slide107.xml" ContentType="application/vnd.openxmlformats-officedocument.presentationml.slide+xml"/>
  <Override PartName="/ppt/slides/slide106.xml" ContentType="application/vnd.openxmlformats-officedocument.presentationml.slide+xml"/>
  <Override PartName="/ppt/slides/slide95.xml" ContentType="application/vnd.openxmlformats-officedocument.presentationml.slide+xml"/>
  <Override PartName="/ppt/slides/slide27.xml" ContentType="application/vnd.openxmlformats-officedocument.presentationml.slide+xml"/>
  <Override PartName="/ppt/slides/slide89.xml" ContentType="application/vnd.openxmlformats-officedocument.presentationml.slide+xml"/>
  <Override PartName="/ppt/slides/slide88.xml" ContentType="application/vnd.openxmlformats-officedocument.presentationml.slide+xml"/>
  <Override PartName="/ppt/slides/slide87.xml" ContentType="application/vnd.openxmlformats-officedocument.presentationml.slide+xml"/>
  <Override PartName="/ppt/slides/slide19.xml" ContentType="application/vnd.openxmlformats-officedocument.presentationml.slide+xml"/>
  <Override PartName="/ppt/slides/slide86.xml" ContentType="application/vnd.openxmlformats-officedocument.presentationml.slide+xml"/>
  <Override PartName="/ppt/slides/slide18.xml" ContentType="application/vnd.openxmlformats-officedocument.presentationml.slide+xml"/>
  <Override PartName="/ppt/slides/slide85.xml" ContentType="application/vnd.openxmlformats-officedocument.presentationml.slide+xml"/>
  <Override PartName="/ppt/slides/slide17.xml" ContentType="application/vnd.openxmlformats-officedocument.presentationml.slide+xml"/>
  <Override PartName="/ppt/slides/slide125.xml" ContentType="application/vnd.openxmlformats-officedocument.presentationml.slide+xml"/>
  <Override PartName="/ppt/slides/slide79.xml" ContentType="application/vnd.openxmlformats-officedocument.presentationml.slide+xml"/>
  <Override PartName="/ppt/slides/slide124.xml" ContentType="application/vnd.openxmlformats-officedocument.presentationml.slide+xml"/>
  <Override PartName="/ppt/slides/slide4.xml" ContentType="application/vnd.openxmlformats-officedocument.presentationml.slide+xml"/>
  <Override PartName="/ppt/slides/slide145.xml" ContentType="application/vnd.openxmlformats-officedocument.presentationml.slide+xml"/>
  <Override PartName="/ppt/slides/slide99.xml" ContentType="application/vnd.openxmlformats-officedocument.presentationml.slide+xml"/>
  <Override PartName="/ppt/slides/slide49.xml" ContentType="application/vnd.openxmlformats-officedocument.presentationml.slide+xml"/>
  <Override PartName="/ppt/slides/slide21.xml" ContentType="application/vnd.openxmlformats-officedocument.presentationml.slide+xml"/>
  <Override PartName="/ppt/slides/slide58.xml" ContentType="application/vnd.openxmlformats-officedocument.presentationml.slide+xml"/>
  <Override PartName="/ppt/slides/slide104.xml" ContentType="application/vnd.openxmlformats-officedocument.presentationml.slide+xml"/>
  <Override PartName="/ppt/slides/slide5.xml" ContentType="application/vnd.openxmlformats-officedocument.presentationml.slide+xml"/>
  <Override PartName="/ppt/slides/slide146.xml" ContentType="application/vnd.openxmlformats-officedocument.presentationml.slide+xml"/>
  <Override PartName="/ppt/slides/slide90.xml" ContentType="application/vnd.openxmlformats-officedocument.presentationml.slide+xml"/>
  <Override PartName="/ppt/slides/slide22.xml" ContentType="application/vnd.openxmlformats-officedocument.presentationml.slide+xml"/>
  <Override PartName="/ppt/slides/slide59.xml" ContentType="application/vnd.openxmlformats-officedocument.presentationml.slide+xml"/>
  <Override PartName="/ppt/slides/slide105.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35.xml" ContentType="application/vnd.openxmlformats-officedocument.presentationml.slide+xml"/>
  <Override PartName="/ppt/slides/slide140.xml" ContentType="application/vnd.openxmlformats-officedocument.presentationml.slide+xml"/>
  <Override PartName="/ppt/slides/slide36.xml" ContentType="application/vnd.openxmlformats-officedocument.presentationml.slide+xml"/>
  <Override PartName="/ppt/slides/slide141.xml" ContentType="application/vnd.openxmlformats-officedocument.presentationml.slide+xml"/>
  <Override PartName="/ppt/slides/slide37.xml" ContentType="application/vnd.openxmlformats-officedocument.presentationml.slide+xml"/>
  <Override PartName="/ppt/slides/slide142.xml" ContentType="application/vnd.openxmlformats-officedocument.presentationml.slide+xml"/>
  <Override PartName="/ppt/slides/slide1.xml" ContentType="application/vnd.openxmlformats-officedocument.presentationml.slide+xml"/>
  <Override PartName="/ppt/slides/slide38.xml" ContentType="application/vnd.openxmlformats-officedocument.presentationml.slide+xml"/>
  <Override PartName="/ppt/slides/slide143.xml" ContentType="application/vnd.openxmlformats-officedocument.presentationml.slide+xml"/>
  <Override PartName="/ppt/slides/slide2.xml" ContentType="application/vnd.openxmlformats-officedocument.presentationml.slide+xml"/>
  <Override PartName="/ppt/slides/slide29.xml" ContentType="application/vnd.openxmlformats-officedocument.presentationml.slide+xml"/>
  <Override PartName="/ppt/slides/slide97.xml" ContentType="application/vnd.openxmlformats-officedocument.presentationml.slide+xml"/>
  <Override PartName="/ppt/slides/slide39.xml" ContentType="application/vnd.openxmlformats-officedocument.presentationml.slide+xml"/>
  <Override PartName="/ppt/slides/slide150.xml" ContentType="application/vnd.openxmlformats-officedocument.presentationml.slide+xml"/>
  <Override PartName="/ppt/slides/slide144.xml" ContentType="application/vnd.openxmlformats-officedocument.presentationml.slide+xml"/>
  <Override PartName="/ppt/slides/slide3.xml" ContentType="application/vnd.openxmlformats-officedocument.presentationml.slide+xml"/>
  <Override PartName="/ppt/slides/slide98.xml" ContentType="application/vnd.openxmlformats-officedocument.presentationml.slide+xml"/>
  <Override PartName="/ppt/slides/slide147.xml" ContentType="application/vnd.openxmlformats-officedocument.presentationml.slide+xml"/>
  <Override PartName="/ppt/slides/slide6.xml" ContentType="application/vnd.openxmlformats-officedocument.presentationml.slide+xml"/>
  <Override PartName="/ppt/slides/slide148.xml" ContentType="application/vnd.openxmlformats-officedocument.presentationml.slide+xml"/>
  <Override PartName="/ppt/slides/slide7.xml" ContentType="application/vnd.openxmlformats-officedocument.presentationml.slide+xml"/>
  <Override PartName="/ppt/slides/slide45.xml" ContentType="application/vnd.openxmlformats-officedocument.presentationml.slide+xml"/>
  <Override PartName="/ppt/slides/slide149.xml" ContentType="application/vnd.openxmlformats-officedocument.presentationml.slide+xml"/>
  <Override PartName="/ppt/slides/slide8.xml" ContentType="application/vnd.openxmlformats-officedocument.presentationml.slide+xml"/>
  <Override PartName="/ppt/slides/slide139.xml" ContentType="application/vnd.openxmlformats-officedocument.presentationml.slide+xml"/>
  <Override PartName="/ppt/slides/slide102.xml" ContentType="application/vnd.openxmlformats-officedocument.presentationml.slide+xml"/>
  <Override PartName="/ppt/slides/slide56.xml" ContentType="application/vnd.openxmlformats-officedocument.presentationml.slide+xml"/>
  <Override PartName="/ppt/slides/slide136.xml" ContentType="application/vnd.openxmlformats-officedocument.presentationml.slide+xml"/>
  <Override PartName="/ppt/slides/slide138.xml" ContentType="application/vnd.openxmlformats-officedocument.presentationml.slide+xml"/>
  <Override PartName="/ppt/slides/slide101.xml" ContentType="application/vnd.openxmlformats-officedocument.presentationml.slide+xml"/>
  <Override PartName="/ppt/slides/slide55.xml" ContentType="application/vnd.openxmlformats-officedocument.presentationml.slide+xml"/>
  <Override PartName="/ppt/slides/slide135.xml" ContentType="application/vnd.openxmlformats-officedocument.presentationml.slide+xml"/>
  <Override PartName="/ppt/slides/slide137.xml" ContentType="application/vnd.openxmlformats-officedocument.presentationml.slide+xml"/>
  <Override PartName="/ppt/slides/slide100.xml" ContentType="application/vnd.openxmlformats-officedocument.presentationml.slide+xml"/>
  <Override PartName="/ppt/slides/slide54.xml" ContentType="application/vnd.openxmlformats-officedocument.presentationml.slide+xml"/>
  <Override PartName="/ppt/slides/slide134.xml" ContentType="application/vnd.openxmlformats-officedocument.presentationml.slide+xml"/>
  <Override PartName="/ppt/slides/slide133.xml" ContentType="application/vnd.openxmlformats-officedocument.presentationml.slide+xml"/>
  <Override PartName="/ppt/slides/slide132.xml" ContentType="application/vnd.openxmlformats-officedocument.presentationml.slide+xml"/>
  <Override PartName="/ppt/slides/slide131.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28.xml" ContentType="application/vnd.openxmlformats-officedocument.presentationml.slide+xml"/>
  <Override PartName="/ppt/slides/slide57.xml" ContentType="application/vnd.openxmlformats-officedocument.presentationml.slide+xml"/>
  <Override PartName="/ppt/slides/slide103.xml" ContentType="application/vnd.openxmlformats-officedocument.presentationml.slide+xml"/>
  <Override PartName="/ppt/slides/slide20.xml" ContentType="application/vnd.openxmlformats-officedocument.presentationml.slide+xml"/>
  <Override PartName="/ppt/slides/slide48.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slides/slide47.xml" ContentType="application/vnd.openxmlformats-officedocument.presentationml.slide+xml"/>
  <Override PartName="/ppt/slides/slide10.xml" ContentType="application/vnd.openxmlformats-officedocument.presentationml.slide+xml"/>
  <Override PartName="/ppt/slides/slide84.xml" ContentType="application/vnd.openxmlformats-officedocument.presentationml.slide+xml"/>
  <Override PartName="/ppt/slides/slide16.xml" ContentType="application/vnd.openxmlformats-officedocument.presentationml.slide+xml"/>
  <Override PartName="/ppt/slides/slide81.xml" ContentType="application/vnd.openxmlformats-officedocument.presentationml.slide+xml"/>
  <Override PartName="/ppt/slides/slide13.xml" ContentType="application/vnd.openxmlformats-officedocument.presentationml.slide+xml"/>
  <Override PartName="/ppt/slides/slide46.xml" ContentType="application/vnd.openxmlformats-officedocument.presentationml.slide+xml"/>
  <Override PartName="/ppt/slides/slide83.xml" ContentType="application/vnd.openxmlformats-officedocument.presentationml.slide+xml"/>
  <Override PartName="/ppt/slides/slide15.xml" ContentType="application/vnd.openxmlformats-officedocument.presentationml.slide+xml"/>
  <Override PartName="/ppt/slides/slide80.xml" ContentType="application/vnd.openxmlformats-officedocument.presentationml.slide+xml"/>
  <Override PartName="/ppt/slides/slide12.xml" ContentType="application/vnd.openxmlformats-officedocument.presentationml.slide+xml"/>
  <Override PartName="/ppt/slides/slide82.xml" ContentType="application/vnd.openxmlformats-officedocument.presentationml.slide+xml"/>
  <Override PartName="/ppt/slides/slide14.xml" ContentType="application/vnd.openxmlformats-officedocument.presentationml.slide+xml"/>
  <Override PartName="/ppt/slides/slide23.xml" ContentType="application/vnd.openxmlformats-officedocument.presentationml.slide+xml"/>
  <Override PartName="/ppt/slides/slide91.xml" ContentType="application/vnd.openxmlformats-officedocument.presentationml.slide+xml"/>
  <Override PartName="/ppt/slides/slide94.xml" ContentType="application/vnd.openxmlformats-officedocument.presentationml.slide+xml"/>
  <Override PartName="/ppt/slides/slide26.xml" ContentType="application/vnd.openxmlformats-officedocument.presentationml.slide+xml"/>
  <Override PartName="/ppt/slides/slide24.xml" ContentType="application/vnd.openxmlformats-officedocument.presentationml.slide+xml"/>
  <Override PartName="/ppt/slides/slide92.xml" ContentType="application/vnd.openxmlformats-officedocument.presentationml.slide+xml"/>
  <Override PartName="/ppt/slides/slide96.xml" ContentType="application/vnd.openxmlformats-officedocument.presentationml.slide+xml"/>
  <Override PartName="/ppt/slides/slide28.xml" ContentType="application/vnd.openxmlformats-officedocument.presentationml.slide+xml"/>
  <Override PartName="/ppt/slides/slide25.xml" ContentType="application/vnd.openxmlformats-officedocument.presentationml.slide+xml"/>
  <Override PartName="/ppt/slides/slide93.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110.xml" ContentType="application/vnd.openxmlformats-officedocument.presentationml.slide+xml"/>
  <Override PartName="/ppt/slides/slide65.xml" ContentType="application/vnd.openxmlformats-officedocument.presentationml.slide+xml"/>
  <Override PartName="/ppt/slides/slide111.xml" ContentType="application/vnd.openxmlformats-officedocument.presentationml.slide+xml"/>
  <Override PartName="/ppt/slides/slide66.xml" ContentType="application/vnd.openxmlformats-officedocument.presentationml.slide+xml"/>
  <Override PartName="/ppt/slides/slide112.xml" ContentType="application/vnd.openxmlformats-officedocument.presentationml.slide+xml"/>
  <Override PartName="/ppt/slides/slide67.xml" ContentType="application/vnd.openxmlformats-officedocument.presentationml.slide+xml"/>
  <Override PartName="/ppt/slides/slide113.xml" ContentType="application/vnd.openxmlformats-officedocument.presentationml.slide+xml"/>
  <Override PartName="/ppt/slides/slide68.xml" ContentType="application/vnd.openxmlformats-officedocument.presentationml.slide+xml"/>
  <Override PartName="/ppt/slides/slide114.xml" ContentType="application/vnd.openxmlformats-officedocument.presentationml.slide+xml"/>
  <Override PartName="/ppt/slides/slide69.xml" ContentType="application/vnd.openxmlformats-officedocument.presentationml.slide+xml"/>
  <Override PartName="/ppt/slides/slide115.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120.xml" ContentType="application/vnd.openxmlformats-officedocument.presentationml.slide+xml"/>
  <Override PartName="/ppt/slides/slide75.xml" ContentType="application/vnd.openxmlformats-officedocument.presentationml.slide+xml"/>
  <Override PartName="/ppt/slides/slide121.xml" ContentType="application/vnd.openxmlformats-officedocument.presentationml.slide+xml"/>
  <Override PartName="/ppt/slides/slide76.xml" ContentType="application/vnd.openxmlformats-officedocument.presentationml.slide+xml"/>
  <Override PartName="/ppt/slides/slide122.xml" ContentType="application/vnd.openxmlformats-officedocument.presentationml.slide+xml"/>
  <Override PartName="/ppt/slides/slide77.xml" ContentType="application/vnd.openxmlformats-officedocument.presentationml.slide+xml"/>
  <Override PartName="/ppt/slides/slide123.xml" ContentType="application/vnd.openxmlformats-officedocument.presentationml.slide+xml"/>
  <Override PartName="/ppt/slides/slide78.xml" ContentType="application/vnd.openxmlformats-officedocument.presentationml.slide+xml"/>
  <Override PartName="/ppt/notesSlides/notesSlide124.xml" ContentType="application/vnd.openxmlformats-officedocument.presentationml.notesSlide+xml"/>
  <Override PartName="/ppt/notesSlides/notesSlide64.xml" ContentType="application/vnd.openxmlformats-officedocument.presentationml.notesSlide+xml"/>
  <Override PartName="/ppt/notesSlides/notesSlide123.xml" ContentType="application/vnd.openxmlformats-officedocument.presentationml.notesSlide+xml"/>
  <Override PartName="/ppt/notesSlides/notesSlide63.xml" ContentType="application/vnd.openxmlformats-officedocument.presentationml.notesSlide+xml"/>
  <Override PartName="/ppt/notesSlides/notesSlide122.xml" ContentType="application/vnd.openxmlformats-officedocument.presentationml.notesSlide+xml"/>
  <Override PartName="/ppt/notesSlides/notesSlide62.xml" ContentType="application/vnd.openxmlformats-officedocument.presentationml.notesSlide+xml"/>
  <Override PartName="/ppt/notesSlides/notesSlide121.xml" ContentType="application/vnd.openxmlformats-officedocument.presentationml.notesSlide+xml"/>
  <Override PartName="/ppt/notesSlides/notesSlide61.xml" ContentType="application/vnd.openxmlformats-officedocument.presentationml.notesSlide+xml"/>
  <Override PartName="/ppt/notesSlides/notesSlide120.xml" ContentType="application/vnd.openxmlformats-officedocument.presentationml.notesSlide+xml"/>
  <Override PartName="/ppt/notesSlides/notesSlide60.xml" ContentType="application/vnd.openxmlformats-officedocument.presentationml.notesSlide+xml"/>
  <Override PartName="/ppt/notesSlides/notesSlide114.xml" ContentType="application/vnd.openxmlformats-officedocument.presentationml.notesSlide+xml"/>
  <Override PartName="/ppt/notesSlides/notesSlide54.xml" ContentType="application/vnd.openxmlformats-officedocument.presentationml.notesSlide+xml"/>
  <Override PartName="/ppt/notesSlides/notesSlide113.xml" ContentType="application/vnd.openxmlformats-officedocument.presentationml.notesSlide+xml"/>
  <Override PartName="/ppt/notesSlides/notesSlide53.xml" ContentType="application/vnd.openxmlformats-officedocument.presentationml.notesSlide+xml"/>
  <Override PartName="/ppt/notesSlides/notesSlide112.xml" ContentType="application/vnd.openxmlformats-officedocument.presentationml.notesSlide+xml"/>
  <Override PartName="/ppt/notesSlides/notesSlide52.xml" ContentType="application/vnd.openxmlformats-officedocument.presentationml.notesSlide+xml"/>
  <Override PartName="/ppt/notesSlides/notesSlide111.xml" ContentType="application/vnd.openxmlformats-officedocument.presentationml.notesSlide+xml"/>
  <Override PartName="/ppt/notesSlides/notesSlide51.xml" ContentType="application/vnd.openxmlformats-officedocument.presentationml.notesSlide+xml"/>
  <Override PartName="/ppt/notesSlides/notesSlide110.xml" ContentType="application/vnd.openxmlformats-officedocument.presentationml.notesSlide+xml"/>
  <Override PartName="/ppt/notesSlides/notesSlide50.xml" ContentType="application/vnd.openxmlformats-officedocument.presentationml.notesSlide+xml"/>
  <Override PartName="/ppt/notesSlides/notesSlide109.xml" ContentType="application/vnd.openxmlformats-officedocument.presentationml.notesSlide+xml"/>
  <Override PartName="/ppt/notesSlides/notesSlide49.xml" ContentType="application/vnd.openxmlformats-officedocument.presentationml.notesSlide+xml"/>
  <Override PartName="/ppt/notesSlides/notesSlide34.xml" ContentType="application/vnd.openxmlformats-officedocument.presentationml.notesSlide+xml"/>
  <Override PartName="/ppt/notesSlides/_rels/notesSlide46.xml.rels" ContentType="application/vnd.openxmlformats-package.relationships+xml"/>
  <Override PartName="/ppt/notesSlides/_rels/notesSlide149.xml.rels" ContentType="application/vnd.openxmlformats-package.relationships+xml"/>
  <Override PartName="/ppt/notesSlides/_rels/notesSlide45.xml.rels" ContentType="application/vnd.openxmlformats-package.relationships+xml"/>
  <Override PartName="/ppt/notesSlides/_rels/notesSlide148.xml.rels" ContentType="application/vnd.openxmlformats-package.relationships+xml"/>
  <Override PartName="/ppt/notesSlides/_rels/notesSlide44.xml.rels" ContentType="application/vnd.openxmlformats-package.relationships+xml"/>
  <Override PartName="/ppt/notesSlides/_rels/notesSlide147.xml.rels" ContentType="application/vnd.openxmlformats-package.relationships+xml"/>
  <Override PartName="/ppt/notesSlides/_rels/notesSlide43.xml.rels" ContentType="application/vnd.openxmlformats-package.relationships+xml"/>
  <Override PartName="/ppt/notesSlides/_rels/notesSlide146.xml.rels" ContentType="application/vnd.openxmlformats-package.relationships+xml"/>
  <Override PartName="/ppt/notesSlides/_rels/notesSlide42.xml.rels" ContentType="application/vnd.openxmlformats-package.relationships+xml"/>
  <Override PartName="/ppt/notesSlides/_rels/notesSlide145.xml.rels" ContentType="application/vnd.openxmlformats-package.relationships+xml"/>
  <Override PartName="/ppt/notesSlides/_rels/notesSlide41.xml.rels" ContentType="application/vnd.openxmlformats-package.relationships+xml"/>
  <Override PartName="/ppt/notesSlides/_rels/notesSlide144.xml.rels" ContentType="application/vnd.openxmlformats-package.relationships+xml"/>
  <Override PartName="/ppt/notesSlides/_rels/notesSlide40.xml.rels" ContentType="application/vnd.openxmlformats-package.relationships+xml"/>
  <Override PartName="/ppt/notesSlides/_rels/notesSlide143.xml.rels" ContentType="application/vnd.openxmlformats-package.relationships+xml"/>
  <Override PartName="/ppt/notesSlides/_rels/notesSlide96.xml.rels" ContentType="application/vnd.openxmlformats-package.relationships+xml"/>
  <Override PartName="/ppt/notesSlides/_rels/notesSlide28.xml.rels" ContentType="application/vnd.openxmlformats-package.relationships+xml"/>
  <Override PartName="/ppt/notesSlides/_rels/notesSlide95.xml.rels" ContentType="application/vnd.openxmlformats-package.relationships+xml"/>
  <Override PartName="/ppt/notesSlides/_rels/notesSlide27.xml.rels" ContentType="application/vnd.openxmlformats-package.relationships+xml"/>
  <Override PartName="/ppt/notesSlides/_rels/notesSlide107.xml.rels" ContentType="application/vnd.openxmlformats-package.relationships+xml"/>
  <Override PartName="/ppt/notesSlides/_rels/notesSlide72.xml.rels" ContentType="application/vnd.openxmlformats-package.relationships+xml"/>
  <Override PartName="/ppt/notesSlides/_rels/notesSlide89.xml.rels" ContentType="application/vnd.openxmlformats-package.relationships+xml"/>
  <Override PartName="/ppt/notesSlides/_rels/notesSlide106.xml.rels" ContentType="application/vnd.openxmlformats-package.relationships+xml"/>
  <Override PartName="/ppt/notesSlides/_rels/notesSlide71.xml.rels" ContentType="application/vnd.openxmlformats-package.relationships+xml"/>
  <Override PartName="/ppt/notesSlides/_rels/notesSlide32.xml.rels" ContentType="application/vnd.openxmlformats-package.relationships+xml"/>
  <Override PartName="/ppt/notesSlides/_rels/notesSlide135.xml.rels" ContentType="application/vnd.openxmlformats-package.relationships+xml"/>
  <Override PartName="/ppt/notesSlides/_rels/notesSlide100.xml.rels" ContentType="application/vnd.openxmlformats-package.relationships+xml"/>
  <Override PartName="/ppt/notesSlides/_rels/notesSlide5.xml.rels" ContentType="application/vnd.openxmlformats-package.relationships+xml"/>
  <Override PartName="/ppt/notesSlides/_rels/notesSlide33.xml.rels" ContentType="application/vnd.openxmlformats-package.relationships+xml"/>
  <Override PartName="/ppt/notesSlides/_rels/notesSlide136.xml.rels" ContentType="application/vnd.openxmlformats-package.relationships+xml"/>
  <Override PartName="/ppt/notesSlides/_rels/notesSlide101.xml.rels" ContentType="application/vnd.openxmlformats-package.relationships+xml"/>
  <Override PartName="/ppt/notesSlides/_rels/notesSlide140.xml.rels" ContentType="application/vnd.openxmlformats-package.relationships+xml"/>
  <Override PartName="/ppt/notesSlides/_rels/notesSlide57.xml.rels" ContentType="application/vnd.openxmlformats-package.relationships+xml"/>
  <Override PartName="/ppt/notesSlides/_rels/notesSlide1.xml.rels" ContentType="application/vnd.openxmlformats-package.relationships+xml"/>
  <Override PartName="/ppt/notesSlides/_rels/notesSlide20.xml.rels" ContentType="application/vnd.openxmlformats-package.relationships+xml"/>
  <Override PartName="/ppt/notesSlides/_rels/notesSlide123.xml.rels" ContentType="application/vnd.openxmlformats-package.relationships+xml"/>
  <Override PartName="/ppt/notesSlides/_rels/notesSlide75.xml.rels" ContentType="application/vnd.openxmlformats-package.relationships+xml"/>
  <Override PartName="/ppt/notesSlides/_rels/notesSlide34.xml.rels" ContentType="application/vnd.openxmlformats-package.relationships+xml"/>
  <Override PartName="/ppt/notesSlides/_rels/notesSlide137.xml.rels" ContentType="application/vnd.openxmlformats-package.relationships+xml"/>
  <Override PartName="/ppt/notesSlides/_rels/notesSlide102.xml.rels" ContentType="application/vnd.openxmlformats-package.relationships+xml"/>
  <Override PartName="/ppt/notesSlides/_rels/notesSlide84.xml.rels" ContentType="application/vnd.openxmlformats-package.relationships+xml"/>
  <Override PartName="/ppt/notesSlides/_rels/notesSlide119.xml.rels" ContentType="application/vnd.openxmlformats-package.relationships+xml"/>
  <Override PartName="/ppt/notesSlides/_rels/notesSlide16.xml.rels" ContentType="application/vnd.openxmlformats-package.relationships+xml"/>
  <Override PartName="/ppt/notesSlides/_rels/notesSlide7.xml.rels" ContentType="application/vnd.openxmlformats-package.relationships+xml"/>
  <Override PartName="/ppt/notesSlides/_rels/notesSlide111.xml.rels" ContentType="application/vnd.openxmlformats-package.relationships+xml"/>
  <Override PartName="/ppt/notesSlides/_rels/notesSlide9.xml.rels" ContentType="application/vnd.openxmlformats-package.relationships+xml"/>
  <Override PartName="/ppt/notesSlides/_rels/notesSlide112.xml.rels" ContentType="application/vnd.openxmlformats-package.relationships+xml"/>
  <Override PartName="/ppt/notesSlides/_rels/notesSlide53.xml.rels" ContentType="application/vnd.openxmlformats-package.relationships+xml"/>
  <Override PartName="/ppt/notesSlides/_rels/notesSlide54.xml.rels" ContentType="application/vnd.openxmlformats-package.relationships+xml"/>
  <Override PartName="/ppt/notesSlides/_rels/notesSlide120.xml.rels" ContentType="application/vnd.openxmlformats-package.relationships+xml"/>
  <Override PartName="/ppt/notesSlides/_rels/notesSlide37.xml.rels" ContentType="application/vnd.openxmlformats-package.relationships+xml"/>
  <Override PartName="/ppt/notesSlides/_rels/notesSlide98.xml.rels" ContentType="application/vnd.openxmlformats-package.relationships+xml"/>
  <Override PartName="/ppt/notesSlides/_rels/notesSlide61.xml.rels" ContentType="application/vnd.openxmlformats-package.relationships+xml"/>
  <Override PartName="/ppt/notesSlides/_rels/notesSlide59.xml.rels" ContentType="application/vnd.openxmlformats-package.relationships+xml"/>
  <Override PartName="/ppt/notesSlides/_rels/notesSlide142.xml.rels" ContentType="application/vnd.openxmlformats-package.relationships+xml"/>
  <Override PartName="/ppt/notesSlides/_rels/notesSlide121.xml.rels" ContentType="application/vnd.openxmlformats-package.relationships+xml"/>
  <Override PartName="/ppt/notesSlides/_rels/notesSlide38.xml.rels" ContentType="application/vnd.openxmlformats-package.relationships+xml"/>
  <Override PartName="/ppt/notesSlides/_rels/notesSlide99.xml.rels" ContentType="application/vnd.openxmlformats-package.relationships+xml"/>
  <Override PartName="/ppt/notesSlides/_rels/notesSlide82.xml.rels" ContentType="application/vnd.openxmlformats-package.relationships+xml"/>
  <Override PartName="/ppt/notesSlides/_rels/notesSlide14.xml.rels" ContentType="application/vnd.openxmlformats-package.relationships+xml"/>
  <Override PartName="/ppt/notesSlides/_rels/notesSlide117.xml.rels" ContentType="application/vnd.openxmlformats-package.relationships+xml"/>
  <Override PartName="/ppt/notesSlides/_rels/notesSlide62.xml.rels" ContentType="application/vnd.openxmlformats-package.relationships+xml"/>
  <Override PartName="/ppt/notesSlides/_rels/notesSlide122.xml.rels" ContentType="application/vnd.openxmlformats-package.relationships+xml"/>
  <Override PartName="/ppt/notesSlides/_rels/notesSlide39.xml.rels" ContentType="application/vnd.openxmlformats-package.relationships+xml"/>
  <Override PartName="/ppt/notesSlides/_rels/notesSlide50.xml.rels" ContentType="application/vnd.openxmlformats-package.relationships+xml"/>
  <Override PartName="/ppt/notesSlides/_rels/notesSlide63.xml.rels" ContentType="application/vnd.openxmlformats-package.relationships+xml"/>
  <Override PartName="/ppt/notesSlides/_rels/notesSlide52.xml.rels" ContentType="application/vnd.openxmlformats-package.relationships+xml"/>
  <Override PartName="/ppt/notesSlides/_rels/notesSlide2.xml.rels" ContentType="application/vnd.openxmlformats-package.relationships+xml"/>
  <Override PartName="/ppt/notesSlides/_rels/notesSlide124.xml.rels" ContentType="application/vnd.openxmlformats-package.relationships+xml"/>
  <Override PartName="/ppt/notesSlides/_rels/notesSlide21.xml.rels" ContentType="application/vnd.openxmlformats-package.relationships+xml"/>
  <Override PartName="/ppt/notesSlides/_rels/notesSlide64.xml.rels" ContentType="application/vnd.openxmlformats-package.relationships+xml"/>
  <Override PartName="/ppt/notesSlides/_rels/notesSlide51.xml.rels" ContentType="application/vnd.openxmlformats-package.relationships+xml"/>
  <Override PartName="/ppt/notesSlides/_rels/notesSlide49.xml.rels" ContentType="application/vnd.openxmlformats-package.relationships+xml"/>
  <Override PartName="/ppt/notesSlides/_rels/notesSlide132.xml.rels" ContentType="application/vnd.openxmlformats-package.relationships+xml"/>
  <Override PartName="/ppt/notesSlides/_rels/notesSlide83.xml.rels" ContentType="application/vnd.openxmlformats-package.relationships+xml"/>
  <Override PartName="/ppt/notesSlides/_rels/notesSlide118.xml.rels" ContentType="application/vnd.openxmlformats-package.relationships+xml"/>
  <Override PartName="/ppt/notesSlides/_rels/notesSlide15.xml.rels" ContentType="application/vnd.openxmlformats-package.relationships+xml"/>
  <Override PartName="/ppt/notesSlides/_rels/notesSlide6.xml.rels" ContentType="application/vnd.openxmlformats-package.relationships+xml"/>
  <Override PartName="/ppt/notesSlides/_rels/notesSlide110.xml.rels" ContentType="application/vnd.openxmlformats-package.relationships+xml"/>
  <Override PartName="/ppt/notesSlides/_rels/notesSlide8.xml.rels" ContentType="application/vnd.openxmlformats-package.relationships+xml"/>
  <Override PartName="/ppt/notesSlides/_rels/notesSlide60.xml.rels" ContentType="application/vnd.openxmlformats-package.relationships+xml"/>
  <Override PartName="/ppt/notesSlides/_rels/notesSlide76.xml.rels" ContentType="application/vnd.openxmlformats-package.relationships+xml"/>
  <Override PartName="/ppt/notesSlides/_rels/notesSlide78.xml.rels" ContentType="application/vnd.openxmlformats-package.relationships+xml"/>
  <Override PartName="/ppt/notesSlides/_rels/notesSlide77.xml.rels" ContentType="application/vnd.openxmlformats-package.relationships+xml"/>
  <Override PartName="/ppt/notesSlides/_rels/notesSlide113.xml.rels" ContentType="application/vnd.openxmlformats-package.relationships+xml"/>
  <Override PartName="/ppt/notesSlides/_rels/notesSlide10.xml.rels" ContentType="application/vnd.openxmlformats-package.relationships+xml"/>
  <Override PartName="/ppt/notesSlides/_rels/notesSlide58.xml.rels" ContentType="application/vnd.openxmlformats-package.relationships+xml"/>
  <Override PartName="/ppt/notesSlides/_rels/notesSlide141.xml.rels" ContentType="application/vnd.openxmlformats-package.relationships+xml"/>
  <Override PartName="/ppt/notesSlides/_rels/notesSlide138.xml.rels" ContentType="application/vnd.openxmlformats-package.relationships+xml"/>
  <Override PartName="/ppt/notesSlides/_rels/notesSlide35.xml.rels" ContentType="application/vnd.openxmlformats-package.relationships+xml"/>
  <Override PartName="/ppt/notesSlides/_rels/notesSlide139.xml.rels" ContentType="application/vnd.openxmlformats-package.relationships+xml"/>
  <Override PartName="/ppt/notesSlides/_rels/notesSlide36.xml.rels" ContentType="application/vnd.openxmlformats-package.relationships+xml"/>
  <Override PartName="/ppt/notesSlides/_rels/notesSlide108.xml.rels" ContentType="application/vnd.openxmlformats-package.relationships+xml"/>
  <Override PartName="/ppt/notesSlides/_rels/notesSlide73.xml.rels" ContentType="application/vnd.openxmlformats-package.relationships+xml"/>
  <Override PartName="/ppt/notesSlides/_rels/notesSlide109.xml.rels" ContentType="application/vnd.openxmlformats-package.relationships+xml"/>
  <Override PartName="/ppt/notesSlides/_rels/notesSlide74.xml.rels" ContentType="application/vnd.openxmlformats-package.relationships+xml"/>
  <Override PartName="/ppt/notesSlides/_rels/notesSlide56.xml.rels" ContentType="application/vnd.openxmlformats-package.relationships+xml"/>
  <Override PartName="/ppt/notesSlides/_rels/notesSlide114.xml.rels" ContentType="application/vnd.openxmlformats-package.relationships+xml"/>
  <Override PartName="/ppt/notesSlides/_rels/notesSlide11.xml.rels" ContentType="application/vnd.openxmlformats-package.relationships+xml"/>
  <Override PartName="/ppt/notesSlides/_rels/notesSlide31.xml.rels" ContentType="application/vnd.openxmlformats-package.relationships+xml"/>
  <Override PartName="/ppt/notesSlides/_rels/notesSlide134.xml.rels" ContentType="application/vnd.openxmlformats-package.relationships+xml"/>
  <Override PartName="/ppt/notesSlides/_rels/notesSlide55.xml.rels" ContentType="application/vnd.openxmlformats-package.relationships+xml"/>
  <Override PartName="/ppt/notesSlides/_rels/notesSlide30.xml.rels" ContentType="application/vnd.openxmlformats-package.relationships+xml"/>
  <Override PartName="/ppt/notesSlides/_rels/notesSlide133.xml.rels" ContentType="application/vnd.openxmlformats-package.relationships+xml"/>
  <Override PartName="/ppt/notesSlides/_rels/notesSlide3.xml.rels" ContentType="application/vnd.openxmlformats-package.relationships+xml"/>
  <Override PartName="/ppt/notesSlides/_rels/notesSlide29.xml.rels" ContentType="application/vnd.openxmlformats-package.relationships+xml"/>
  <Override PartName="/ppt/notesSlides/_rels/notesSlide97.xml.rels" ContentType="application/vnd.openxmlformats-package.relationships+xml"/>
  <Override PartName="/ppt/notesSlides/_rels/notesSlide80.xml.rels" ContentType="application/vnd.openxmlformats-package.relationships+xml"/>
  <Override PartName="/ppt/notesSlides/_rels/notesSlide115.xml.rels" ContentType="application/vnd.openxmlformats-package.relationships+xml"/>
  <Override PartName="/ppt/notesSlides/_rels/notesSlide12.xml.rels" ContentType="application/vnd.openxmlformats-package.relationships+xml"/>
  <Override PartName="/ppt/notesSlides/_rels/notesSlide4.xml.rels" ContentType="application/vnd.openxmlformats-package.relationships+xml"/>
  <Override PartName="/ppt/notesSlides/_rels/notesSlide81.xml.rels" ContentType="application/vnd.openxmlformats-package.relationships+xml"/>
  <Override PartName="/ppt/notesSlides/_rels/notesSlide116.xml.rels" ContentType="application/vnd.openxmlformats-package.relationships+xml"/>
  <Override PartName="/ppt/notesSlides/_rels/notesSlide13.xml.rels" ContentType="application/vnd.openxmlformats-package.relationships+xml"/>
  <Override PartName="/ppt/notesSlides/_rels/notesSlide79.xml.rels" ContentType="application/vnd.openxmlformats-package.relationships+xml"/>
  <Override PartName="/ppt/notesSlides/_rels/notesSlide150.xml.rels" ContentType="application/vnd.openxmlformats-package.relationships+xml"/>
  <Override PartName="/ppt/notesSlides/_rels/notesSlide67.xml.rels" ContentType="application/vnd.openxmlformats-package.relationships+xml"/>
  <Override PartName="/ppt/notesSlides/_rels/notesSlide90.xml.rels" ContentType="application/vnd.openxmlformats-package.relationships+xml"/>
  <Override PartName="/ppt/notesSlides/_rels/notesSlide22.xml.rels" ContentType="application/vnd.openxmlformats-package.relationships+xml"/>
  <Override PartName="/ppt/notesSlides/_rels/notesSlide125.xml.rels" ContentType="application/vnd.openxmlformats-package.relationships+xml"/>
  <Override PartName="/ppt/notesSlides/_rels/notesSlide65.xml.rels" ContentType="application/vnd.openxmlformats-package.relationships+xml"/>
  <Override PartName="/ppt/notesSlides/_rels/notesSlide91.xml.rels" ContentType="application/vnd.openxmlformats-package.relationships+xml"/>
  <Override PartName="/ppt/notesSlides/_rels/notesSlide23.xml.rels" ContentType="application/vnd.openxmlformats-package.relationships+xml"/>
  <Override PartName="/ppt/notesSlides/_rels/notesSlide126.xml.rels" ContentType="application/vnd.openxmlformats-package.relationships+xml"/>
  <Override PartName="/ppt/notesSlides/_rels/notesSlide66.xml.rels" ContentType="application/vnd.openxmlformats-package.relationships+xml"/>
  <Override PartName="/ppt/notesSlides/_rels/notesSlide24.xml.rels" ContentType="application/vnd.openxmlformats-package.relationships+xml"/>
  <Override PartName="/ppt/notesSlides/_rels/notesSlide92.xml.rels" ContentType="application/vnd.openxmlformats-package.relationships+xml"/>
  <Override PartName="/ppt/notesSlides/_rels/notesSlide127.xml.rels" ContentType="application/vnd.openxmlformats-package.relationships+xml"/>
  <Override PartName="/ppt/notesSlides/_rels/notesSlide93.xml.rels" ContentType="application/vnd.openxmlformats-package.relationships+xml"/>
  <Override PartName="/ppt/notesSlides/_rels/notesSlide25.xml.rels" ContentType="application/vnd.openxmlformats-package.relationships+xml"/>
  <Override PartName="/ppt/notesSlides/_rels/notesSlide128.xml.rels" ContentType="application/vnd.openxmlformats-package.relationships+xml"/>
  <Override PartName="/ppt/notesSlides/_rels/notesSlide68.xml.rels" ContentType="application/vnd.openxmlformats-package.relationships+xml"/>
  <Override PartName="/ppt/notesSlides/_rels/notesSlide26.xml.rels" ContentType="application/vnd.openxmlformats-package.relationships+xml"/>
  <Override PartName="/ppt/notesSlides/_rels/notesSlide94.xml.rels" ContentType="application/vnd.openxmlformats-package.relationships+xml"/>
  <Override PartName="/ppt/notesSlides/_rels/notesSlide129.xml.rels" ContentType="application/vnd.openxmlformats-package.relationships+xml"/>
  <Override PartName="/ppt/notesSlides/_rels/notesSlide69.xml.rels" ContentType="application/vnd.openxmlformats-package.relationships+xml"/>
  <Override PartName="/ppt/notesSlides/_rels/notesSlide130.xml.rels" ContentType="application/vnd.openxmlformats-package.relationships+xml"/>
  <Override PartName="/ppt/notesSlides/_rels/notesSlide47.xml.rels" ContentType="application/vnd.openxmlformats-package.relationships+xml"/>
  <Override PartName="/ppt/notesSlides/_rels/notesSlide131.xml.rels" ContentType="application/vnd.openxmlformats-package.relationships+xml"/>
  <Override PartName="/ppt/notesSlides/_rels/notesSlide48.xml.rels" ContentType="application/vnd.openxmlformats-package.relationships+xml"/>
  <Override PartName="/ppt/notesSlides/_rels/notesSlide17.xml.rels" ContentType="application/vnd.openxmlformats-package.relationships+xml"/>
  <Override PartName="/ppt/notesSlides/_rels/notesSlide85.xml.rels" ContentType="application/vnd.openxmlformats-package.relationships+xml"/>
  <Override PartName="/ppt/notesSlides/_rels/notesSlide103.xml.rels" ContentType="application/vnd.openxmlformats-package.relationships+xml"/>
  <Override PartName="/ppt/notesSlides/_rels/notesSlide18.xml.rels" ContentType="application/vnd.openxmlformats-package.relationships+xml"/>
  <Override PartName="/ppt/notesSlides/_rels/notesSlide86.xml.rels" ContentType="application/vnd.openxmlformats-package.relationships+xml"/>
  <Override PartName="/ppt/notesSlides/_rels/notesSlide104.xml.rels" ContentType="application/vnd.openxmlformats-package.relationships+xml"/>
  <Override PartName="/ppt/notesSlides/_rels/notesSlide19.xml.rels" ContentType="application/vnd.openxmlformats-package.relationships+xml"/>
  <Override PartName="/ppt/notesSlides/_rels/notesSlide87.xml.rels" ContentType="application/vnd.openxmlformats-package.relationships+xml"/>
  <Override PartName="/ppt/notesSlides/_rels/notesSlide105.xml.rels" ContentType="application/vnd.openxmlformats-package.relationships+xml"/>
  <Override PartName="/ppt/notesSlides/_rels/notesSlide70.xml.rels" ContentType="application/vnd.openxmlformats-package.relationships+xml"/>
  <Override PartName="/ppt/notesSlides/_rels/notesSlide88.xml.rels" ContentType="application/vnd.openxmlformats-package.relationships+xml"/>
  <Override PartName="/ppt/notesSlides/notesSlide7.xml" ContentType="application/vnd.openxmlformats-officedocument.presentationml.notesSlide+xml"/>
  <Override PartName="/ppt/notesSlides/notesSlide139.xml" ContentType="application/vnd.openxmlformats-officedocument.presentationml.notesSlide+xml"/>
  <Override PartName="/ppt/notesSlides/notesSlide79.xml" ContentType="application/vnd.openxmlformats-officedocument.presentationml.notesSlide+xml"/>
  <Override PartName="/ppt/notesSlides/notesSlide33.xml" ContentType="application/vnd.openxmlformats-officedocument.presentationml.notesSlide+xml"/>
  <Override PartName="/ppt/notesSlides/notesSlide138.xml" ContentType="application/vnd.openxmlformats-officedocument.presentationml.notesSlide+xml"/>
  <Override PartName="/ppt/notesSlides/notesSlide78.xml" ContentType="application/vnd.openxmlformats-officedocument.presentationml.notesSlide+xml"/>
  <Override PartName="/ppt/notesSlides/notesSlide6.xml" ContentType="application/vnd.openxmlformats-officedocument.presentationml.notesSlide+xml"/>
  <Override PartName="/ppt/notesSlides/notesSlide32.xml" ContentType="application/vnd.openxmlformats-officedocument.presentationml.notesSlide+xml"/>
  <Override PartName="/ppt/notesSlides/notesSlide137.xml" ContentType="application/vnd.openxmlformats-officedocument.presentationml.notesSlide+xml"/>
  <Override PartName="/ppt/notesSlides/notesSlide77.xml" ContentType="application/vnd.openxmlformats-officedocument.presentationml.notesSlide+xml"/>
  <Override PartName="/ppt/notesSlides/notesSlide5.xml" ContentType="application/vnd.openxmlformats-officedocument.presentationml.notesSlide+xml"/>
  <Override PartName="/ppt/notesSlides/notesSlide31.xml" ContentType="application/vnd.openxmlformats-officedocument.presentationml.notesSlide+xml"/>
  <Override PartName="/ppt/notesSlides/notesSlide119.xml" ContentType="application/vnd.openxmlformats-officedocument.presentationml.notesSlide+xml"/>
  <Override PartName="/ppt/notesSlides/notesSlide59.xml" ContentType="application/vnd.openxmlformats-officedocument.presentationml.notesSlide+xml"/>
  <Override PartName="/ppt/notesSlides/notesSlide136.xml" ContentType="application/vnd.openxmlformats-officedocument.presentationml.notesSlide+xml"/>
  <Override PartName="/ppt/notesSlides/notesSlide76.xml" ContentType="application/vnd.openxmlformats-officedocument.presentationml.notesSlide+xml"/>
  <Override PartName="/ppt/notesSlides/notesSlide4.xml" ContentType="application/vnd.openxmlformats-officedocument.presentationml.notesSlide+xml"/>
  <Override PartName="/ppt/notesSlides/notesSlide30.xml" ContentType="application/vnd.openxmlformats-officedocument.presentationml.notesSlide+xml"/>
  <Override PartName="/ppt/notesSlides/notesSlide21.xml" ContentType="application/vnd.openxmlformats-officedocument.presentationml.notesSlide+xml"/>
  <Override PartName="/ppt/notesSlides/notesSlide118.xml" ContentType="application/vnd.openxmlformats-officedocument.presentationml.notesSlide+xml"/>
  <Override PartName="/ppt/notesSlides/notesSlide58.xml" ContentType="application/vnd.openxmlformats-officedocument.presentationml.notesSlide+xml"/>
  <Override PartName="/ppt/notesSlides/notesSlide16.xml" ContentType="application/vnd.openxmlformats-officedocument.presentationml.notesSlide+xml"/>
  <Override PartName="/ppt/notesSlides/notesSlide144.xml" ContentType="application/vnd.openxmlformats-officedocument.presentationml.notesSlide+xml"/>
  <Override PartName="/ppt/notesSlides/notesSlide84.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135.xml" ContentType="application/vnd.openxmlformats-officedocument.presentationml.notesSlide+xml"/>
  <Override PartName="/ppt/notesSlides/notesSlide75.xml" ContentType="application/vnd.openxmlformats-officedocument.presentationml.notesSlide+xml"/>
  <Override PartName="/ppt/notesSlides/notesSlide117.xml" ContentType="application/vnd.openxmlformats-officedocument.presentationml.notesSlide+xml"/>
  <Override PartName="/ppt/notesSlides/notesSlide57.xml" ContentType="application/vnd.openxmlformats-officedocument.presentationml.notesSlide+xml"/>
  <Override PartName="/ppt/notesSlides/notesSlide11.xml" ContentType="application/vnd.openxmlformats-officedocument.presentationml.notesSlide+xml"/>
  <Override PartName="/ppt/notesSlides/notesSlide13.xml" ContentType="application/vnd.openxmlformats-officedocument.presentationml.notesSlide+xml"/>
  <Override PartName="/ppt/notesSlides/notesSlide81.xml" ContentType="application/vnd.openxmlformats-officedocument.presentationml.notesSlide+xml"/>
  <Override PartName="/ppt/notesSlides/notesSlide141.xml" ContentType="application/vnd.openxmlformats-officedocument.presentationml.notesSlide+xml"/>
  <Override PartName="/ppt/notesSlides/notesSlide15.xml" ContentType="application/vnd.openxmlformats-officedocument.presentationml.notesSlide+xml"/>
  <Override PartName="/ppt/notesSlides/notesSlide143.xml" ContentType="application/vnd.openxmlformats-officedocument.presentationml.notesSlide+xml"/>
  <Override PartName="/ppt/notesSlides/notesSlide83.xml" ContentType="application/vnd.openxmlformats-officedocument.presentationml.notesSlide+xml"/>
  <Override PartName="/ppt/notesSlides/notesSlide14.xml" ContentType="application/vnd.openxmlformats-officedocument.presentationml.notesSlide+xml"/>
  <Override PartName="/ppt/notesSlides/notesSlide82.xml" ContentType="application/vnd.openxmlformats-officedocument.presentationml.notesSlide+xml"/>
  <Override PartName="/ppt/notesSlides/notesSlide142.xml" ContentType="application/vnd.openxmlformats-officedocument.presentationml.notesSlide+xml"/>
  <Override PartName="/ppt/notesSlides/notesSlide10.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1.xml" ContentType="application/vnd.openxmlformats-officedocument.presentationml.notesSlide+xml"/>
  <Override PartName="/ppt/notesSlides/notesSlide37.xml" ContentType="application/vnd.openxmlformats-officedocument.presentationml.notesSlide+xml"/>
  <Override PartName="/ppt/notesSlides/notesSlide2.xml" ContentType="application/vnd.openxmlformats-officedocument.presentationml.notesSlide+xml"/>
  <Override PartName="/ppt/notesSlides/notesSlide116.xml" ContentType="application/vnd.openxmlformats-officedocument.presentationml.notesSlide+xml"/>
  <Override PartName="/ppt/notesSlides/notesSlide56.xml" ContentType="application/vnd.openxmlformats-officedocument.presentationml.notesSlide+xml"/>
  <Override PartName="/ppt/notesSlides/notesSlide74.xml" ContentType="application/vnd.openxmlformats-officedocument.presentationml.notesSlide+xml"/>
  <Override PartName="/ppt/notesSlides/notesSlide134.xml" ContentType="application/vnd.openxmlformats-officedocument.presentationml.notesSlide+xml"/>
  <Override PartName="/ppt/notesSlides/notesSlide115.xml" ContentType="application/vnd.openxmlformats-officedocument.presentationml.notesSlide+xml"/>
  <Override PartName="/ppt/notesSlides/notesSlide55.xml" ContentType="application/vnd.openxmlformats-officedocument.presentationml.notesSlide+xml"/>
  <Override PartName="/ppt/notesSlides/notesSlide73.xml" ContentType="application/vnd.openxmlformats-officedocument.presentationml.notesSlide+xml"/>
  <Override PartName="/ppt/notesSlides/notesSlide133.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12.xml" ContentType="application/vnd.openxmlformats-officedocument.presentationml.notesSlide+xml"/>
  <Override PartName="/ppt/notesSlides/notesSlide80.xml" ContentType="application/vnd.openxmlformats-officedocument.presentationml.notesSlide+xml"/>
  <Override PartName="/ppt/notesSlides/notesSlide140.xml" ContentType="application/vnd.openxmlformats-officedocument.presentationml.notesSlide+xml"/>
  <Override PartName="/ppt/notesSlides/notesSlide9.xml" ContentType="application/vnd.openxmlformats-officedocument.presentationml.notesSlide+xml"/>
  <Override PartName="/ppt/notesSlides/notesSlide92.xml" ContentType="application/vnd.openxmlformats-officedocument.presentationml.notesSlide+xml"/>
  <Override PartName="/ppt/notesSlides/notesSlide24.xml" ContentType="application/vnd.openxmlformats-officedocument.presentationml.notesSlide+xml"/>
  <Override PartName="/ppt/notesSlides/notesSlide8.xml" ContentType="application/vnd.openxmlformats-officedocument.presentationml.notesSlide+xml"/>
  <Override PartName="/ppt/notesSlides/notesSlide93.xml" ContentType="application/vnd.openxmlformats-officedocument.presentationml.notesSlide+xml"/>
  <Override PartName="/ppt/notesSlides/notesSlide25.xml" ContentType="application/vnd.openxmlformats-officedocument.presentationml.notesSlide+xml"/>
  <Override PartName="/ppt/notesSlides/notesSlide90.xml" ContentType="application/vnd.openxmlformats-officedocument.presentationml.notesSlide+xml"/>
  <Override PartName="/ppt/notesSlides/notesSlide150.xml" ContentType="application/vnd.openxmlformats-officedocument.presentationml.notesSlide+xml"/>
  <Override PartName="/ppt/notesSlides/notesSlide22.xml" ContentType="application/vnd.openxmlformats-officedocument.presentationml.notesSlide+xml"/>
  <Override PartName="/ppt/notesSlides/notesSlide94.xml" ContentType="application/vnd.openxmlformats-officedocument.presentationml.notesSlide+xml"/>
  <Override PartName="/ppt/notesSlides/notesSlide26.xml" ContentType="application/vnd.openxmlformats-officedocument.presentationml.notesSlide+xml"/>
  <Override PartName="/ppt/notesSlides/notesSlide91.xml" ContentType="application/vnd.openxmlformats-officedocument.presentationml.notesSlide+xml"/>
  <Override PartName="/ppt/notesSlides/notesSlide23.xml" ContentType="application/vnd.openxmlformats-officedocument.presentationml.notesSlide+xml"/>
  <Override PartName="/ppt/notesSlides/notesSlide125.xml" ContentType="application/vnd.openxmlformats-officedocument.presentationml.notesSlide+xml"/>
  <Override PartName="/ppt/notesSlides/notesSlide65.xml" ContentType="application/vnd.openxmlformats-officedocument.presentationml.notesSlide+xml"/>
  <Override PartName="/ppt/notesSlides/notesSlide126.xml" ContentType="application/vnd.openxmlformats-officedocument.presentationml.notesSlide+xml"/>
  <Override PartName="/ppt/notesSlides/notesSlide66.xml" ContentType="application/vnd.openxmlformats-officedocument.presentationml.notesSlide+xml"/>
  <Override PartName="/ppt/notesSlides/notesSlide127.xml" ContentType="application/vnd.openxmlformats-officedocument.presentationml.notesSlide+xml"/>
  <Override PartName="/ppt/notesSlides/notesSlide67.xml" ContentType="application/vnd.openxmlformats-officedocument.presentationml.notesSlide+xml"/>
  <Override PartName="/ppt/notesSlides/notesSlide128.xml" ContentType="application/vnd.openxmlformats-officedocument.presentationml.notesSlide+xml"/>
  <Override PartName="/ppt/notesSlides/notesSlide68.xml" ContentType="application/vnd.openxmlformats-officedocument.presentationml.notesSlide+xml"/>
  <Override PartName="/ppt/notesSlides/notesSlide129.xml" ContentType="application/vnd.openxmlformats-officedocument.presentationml.notesSlide+xml"/>
  <Override PartName="/ppt/notesSlides/notesSlide69.xml" ContentType="application/vnd.openxmlformats-officedocument.presentationml.notesSlide+xml"/>
  <Override PartName="/ppt/notesSlides/notesSlide130.xml" ContentType="application/vnd.openxmlformats-officedocument.presentationml.notesSlide+xml"/>
  <Override PartName="/ppt/notesSlides/notesSlide70.xml" ContentType="application/vnd.openxmlformats-officedocument.presentationml.notesSlide+xml"/>
  <Override PartName="/ppt/notesSlides/notesSlide131.xml" ContentType="application/vnd.openxmlformats-officedocument.presentationml.notesSlide+xml"/>
  <Override PartName="/ppt/notesSlides/notesSlide71.xml" ContentType="application/vnd.openxmlformats-officedocument.presentationml.notesSlide+xml"/>
  <Override PartName="/ppt/notesSlides/notesSlide132.xml" ContentType="application/vnd.openxmlformats-officedocument.presentationml.notesSlide+xml"/>
  <Override PartName="/ppt/notesSlides/notesSlide72.xml" ContentType="application/vnd.openxmlformats-officedocument.presentationml.notesSlide+xml"/>
  <Override PartName="/ppt/notesSlides/notesSlide17.xml" ContentType="application/vnd.openxmlformats-officedocument.presentationml.notesSlide+xml"/>
  <Override PartName="/ppt/notesSlides/notesSlide145.xml" ContentType="application/vnd.openxmlformats-officedocument.presentationml.notesSlide+xml"/>
  <Override PartName="/ppt/notesSlides/notesSlide85.xml" ContentType="application/vnd.openxmlformats-officedocument.presentationml.notesSlide+xml"/>
  <Override PartName="/ppt/notesSlides/notesSlide18.xml" ContentType="application/vnd.openxmlformats-officedocument.presentationml.notesSlide+xml"/>
  <Override PartName="/ppt/notesSlides/notesSlide146.xml" ContentType="application/vnd.openxmlformats-officedocument.presentationml.notesSlide+xml"/>
  <Override PartName="/ppt/notesSlides/notesSlide86.xml" ContentType="application/vnd.openxmlformats-officedocument.presentationml.notesSlide+xml"/>
  <Override PartName="/ppt/notesSlides/notesSlide19.xml" ContentType="application/vnd.openxmlformats-officedocument.presentationml.notesSlide+xml"/>
  <Override PartName="/ppt/notesSlides/notesSlide147.xml" ContentType="application/vnd.openxmlformats-officedocument.presentationml.notesSlide+xml"/>
  <Override PartName="/ppt/notesSlides/notesSlide87.xml" ContentType="application/vnd.openxmlformats-officedocument.presentationml.notesSlide+xml"/>
  <Override PartName="/ppt/notesSlides/notesSlide148.xml" ContentType="application/vnd.openxmlformats-officedocument.presentationml.notesSlide+xml"/>
  <Override PartName="/ppt/notesSlides/notesSlide88.xml" ContentType="application/vnd.openxmlformats-officedocument.presentationml.notesSlide+xml"/>
  <Override PartName="/ppt/notesSlides/notesSlide149.xml" ContentType="application/vnd.openxmlformats-officedocument.presentationml.notesSlide+xml"/>
  <Override PartName="/ppt/notesSlides/notesSlide89.xml" ContentType="application/vnd.openxmlformats-officedocument.presentationml.notesSlide+xml"/>
  <Override PartName="/ppt/notesSlides/notesSlide27.xml" ContentType="application/vnd.openxmlformats-officedocument.presentationml.notesSlide+xml"/>
  <Override PartName="/ppt/notesSlides/notesSlide95.xml" ContentType="application/vnd.openxmlformats-officedocument.presentationml.notesSlide+xml"/>
  <Override PartName="/ppt/notesSlides/notesSlide28.xml" ContentType="application/vnd.openxmlformats-officedocument.presentationml.notesSlide+xml"/>
  <Override PartName="/ppt/notesSlides/notesSlide96.xml" ContentType="application/vnd.openxmlformats-officedocument.presentationml.notesSlide+xml"/>
  <Override PartName="/ppt/notesSlides/notesSlide29.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40.xml" ContentType="application/vnd.openxmlformats-officedocument.presentationml.notesSlide+xml"/>
  <Override PartName="/ppt/notesSlides/notesSlide100.xml" ContentType="application/vnd.openxmlformats-officedocument.presentationml.notesSlide+xml"/>
  <Override PartName="/ppt/notesSlides/notesSlide41.xml" ContentType="application/vnd.openxmlformats-officedocument.presentationml.notesSlide+xml"/>
  <Override PartName="/ppt/notesSlides/notesSlide101.xml" ContentType="application/vnd.openxmlformats-officedocument.presentationml.notesSlide+xml"/>
  <Override PartName="/ppt/notesSlides/notesSlide42.xml" ContentType="application/vnd.openxmlformats-officedocument.presentationml.notesSlide+xml"/>
  <Override PartName="/ppt/notesSlides/notesSlide102.xml" ContentType="application/vnd.openxmlformats-officedocument.presentationml.notesSlide+xml"/>
  <Override PartName="/ppt/notesSlides/notesSlide43.xml" ContentType="application/vnd.openxmlformats-officedocument.presentationml.notesSlide+xml"/>
  <Override PartName="/ppt/notesSlides/notesSlide103.xml" ContentType="application/vnd.openxmlformats-officedocument.presentationml.notesSlide+xml"/>
  <Override PartName="/ppt/notesSlides/notesSlide44.xml" ContentType="application/vnd.openxmlformats-officedocument.presentationml.notesSlide+xml"/>
  <Override PartName="/ppt/notesSlides/notesSlide104.xml" ContentType="application/vnd.openxmlformats-officedocument.presentationml.notesSlide+xml"/>
  <Override PartName="/ppt/notesSlides/notesSlide45.xml" ContentType="application/vnd.openxmlformats-officedocument.presentationml.notesSlide+xml"/>
  <Override PartName="/ppt/notesSlides/notesSlide105.xml" ContentType="application/vnd.openxmlformats-officedocument.presentationml.notesSlide+xml"/>
  <Override PartName="/ppt/notesSlides/notesSlide46.xml" ContentType="application/vnd.openxmlformats-officedocument.presentationml.notesSlide+xml"/>
  <Override PartName="/ppt/notesSlides/notesSlide106.xml" ContentType="application/vnd.openxmlformats-officedocument.presentationml.notesSlide+xml"/>
  <Override PartName="/ppt/notesSlides/notesSlide47.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48.xml" ContentType="application/vnd.openxmlformats-officedocument.presentationml.notesSlide+xml"/>
</Types>
</file>

<file path=_rels/.rels><?xml version="1.0" encoding="UTF-8"?>
<Relationships xmlns="http://schemas.openxmlformats.org/package/2006/relationships"><Relationship Id="rId1" Type="http://schemas.openxmlformats.org/officedocument/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 id="370" r:id="rId118"/>
    <p:sldId id="371" r:id="rId119"/>
    <p:sldId id="372" r:id="rId120"/>
    <p:sldId id="373" r:id="rId121"/>
    <p:sldId id="374" r:id="rId122"/>
    <p:sldId id="375" r:id="rId123"/>
    <p:sldId id="376" r:id="rId124"/>
    <p:sldId id="377" r:id="rId125"/>
    <p:sldId id="378" r:id="rId126"/>
    <p:sldId id="379" r:id="rId127"/>
    <p:sldId id="380" r:id="rId128"/>
    <p:sldId id="381" r:id="rId129"/>
    <p:sldId id="382" r:id="rId130"/>
    <p:sldId id="383" r:id="rId131"/>
    <p:sldId id="384" r:id="rId132"/>
    <p:sldId id="385" r:id="rId133"/>
    <p:sldId id="386" r:id="rId134"/>
    <p:sldId id="387" r:id="rId135"/>
    <p:sldId id="388" r:id="rId136"/>
    <p:sldId id="389" r:id="rId137"/>
    <p:sldId id="390" r:id="rId138"/>
    <p:sldId id="391" r:id="rId139"/>
    <p:sldId id="392" r:id="rId140"/>
    <p:sldId id="393" r:id="rId141"/>
    <p:sldId id="394" r:id="rId142"/>
    <p:sldId id="395" r:id="rId143"/>
    <p:sldId id="396" r:id="rId144"/>
    <p:sldId id="397" r:id="rId145"/>
    <p:sldId id="398" r:id="rId146"/>
    <p:sldId id="399" r:id="rId147"/>
    <p:sldId id="400" r:id="rId148"/>
    <p:sldId id="401" r:id="rId149"/>
    <p:sldId id="402" r:id="rId150"/>
    <p:sldId id="403" r:id="rId151"/>
    <p:sldId id="404" r:id="rId152"/>
    <p:sldId id="405" r:id="rId153"/>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slide" Target="slides/slide51.xml"/><Relationship Id="rId55" Type="http://schemas.openxmlformats.org/officeDocument/2006/relationships/slide" Target="slides/slide52.xml"/><Relationship Id="rId56" Type="http://schemas.openxmlformats.org/officeDocument/2006/relationships/slide" Target="slides/slide53.xml"/><Relationship Id="rId57" Type="http://schemas.openxmlformats.org/officeDocument/2006/relationships/slide" Target="slides/slide54.xml"/><Relationship Id="rId58" Type="http://schemas.openxmlformats.org/officeDocument/2006/relationships/slide" Target="slides/slide55.xml"/><Relationship Id="rId59" Type="http://schemas.openxmlformats.org/officeDocument/2006/relationships/slide" Target="slides/slide56.xml"/><Relationship Id="rId60" Type="http://schemas.openxmlformats.org/officeDocument/2006/relationships/slide" Target="slides/slide57.xml"/><Relationship Id="rId61" Type="http://schemas.openxmlformats.org/officeDocument/2006/relationships/slide" Target="slides/slide58.xml"/><Relationship Id="rId62" Type="http://schemas.openxmlformats.org/officeDocument/2006/relationships/slide" Target="slides/slide59.xml"/><Relationship Id="rId63" Type="http://schemas.openxmlformats.org/officeDocument/2006/relationships/slide" Target="slides/slide60.xml"/><Relationship Id="rId64" Type="http://schemas.openxmlformats.org/officeDocument/2006/relationships/slide" Target="slides/slide61.xml"/><Relationship Id="rId65" Type="http://schemas.openxmlformats.org/officeDocument/2006/relationships/slide" Target="slides/slide62.xml"/><Relationship Id="rId66" Type="http://schemas.openxmlformats.org/officeDocument/2006/relationships/slide" Target="slides/slide63.xml"/><Relationship Id="rId67" Type="http://schemas.openxmlformats.org/officeDocument/2006/relationships/slide" Target="slides/slide64.xml"/><Relationship Id="rId68" Type="http://schemas.openxmlformats.org/officeDocument/2006/relationships/slide" Target="slides/slide65.xml"/><Relationship Id="rId69" Type="http://schemas.openxmlformats.org/officeDocument/2006/relationships/slide" Target="slides/slide66.xml"/><Relationship Id="rId70" Type="http://schemas.openxmlformats.org/officeDocument/2006/relationships/slide" Target="slides/slide67.xml"/><Relationship Id="rId71" Type="http://schemas.openxmlformats.org/officeDocument/2006/relationships/slide" Target="slides/slide68.xml"/><Relationship Id="rId72" Type="http://schemas.openxmlformats.org/officeDocument/2006/relationships/slide" Target="slides/slide69.xml"/><Relationship Id="rId73" Type="http://schemas.openxmlformats.org/officeDocument/2006/relationships/slide" Target="slides/slide70.xml"/><Relationship Id="rId74" Type="http://schemas.openxmlformats.org/officeDocument/2006/relationships/slide" Target="slides/slide71.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6.xml"/><Relationship Id="rId80" Type="http://schemas.openxmlformats.org/officeDocument/2006/relationships/slide" Target="slides/slide77.xml"/><Relationship Id="rId81" Type="http://schemas.openxmlformats.org/officeDocument/2006/relationships/slide" Target="slides/slide78.xml"/><Relationship Id="rId82" Type="http://schemas.openxmlformats.org/officeDocument/2006/relationships/slide" Target="slides/slide79.xml"/><Relationship Id="rId83" Type="http://schemas.openxmlformats.org/officeDocument/2006/relationships/slide" Target="slides/slide80.xml"/><Relationship Id="rId84" Type="http://schemas.openxmlformats.org/officeDocument/2006/relationships/slide" Target="slides/slide81.xml"/><Relationship Id="rId85" Type="http://schemas.openxmlformats.org/officeDocument/2006/relationships/slide" Target="slides/slide82.xml"/><Relationship Id="rId86" Type="http://schemas.openxmlformats.org/officeDocument/2006/relationships/slide" Target="slides/slide83.xml"/><Relationship Id="rId87" Type="http://schemas.openxmlformats.org/officeDocument/2006/relationships/slide" Target="slides/slide84.xml"/><Relationship Id="rId88" Type="http://schemas.openxmlformats.org/officeDocument/2006/relationships/slide" Target="slides/slide85.xml"/><Relationship Id="rId89" Type="http://schemas.openxmlformats.org/officeDocument/2006/relationships/slide" Target="slides/slide86.xml"/><Relationship Id="rId90" Type="http://schemas.openxmlformats.org/officeDocument/2006/relationships/slide" Target="slides/slide87.xml"/><Relationship Id="rId91" Type="http://schemas.openxmlformats.org/officeDocument/2006/relationships/slide" Target="slides/slide88.xml"/><Relationship Id="rId92" Type="http://schemas.openxmlformats.org/officeDocument/2006/relationships/slide" Target="slides/slide89.xml"/><Relationship Id="rId93" Type="http://schemas.openxmlformats.org/officeDocument/2006/relationships/slide" Target="slides/slide90.xml"/><Relationship Id="rId94" Type="http://schemas.openxmlformats.org/officeDocument/2006/relationships/slide" Target="slides/slide91.xml"/><Relationship Id="rId95" Type="http://schemas.openxmlformats.org/officeDocument/2006/relationships/slide" Target="slides/slide92.xml"/><Relationship Id="rId96" Type="http://schemas.openxmlformats.org/officeDocument/2006/relationships/slide" Target="slides/slide93.xml"/><Relationship Id="rId97" Type="http://schemas.openxmlformats.org/officeDocument/2006/relationships/slide" Target="slides/slide94.xml"/><Relationship Id="rId98" Type="http://schemas.openxmlformats.org/officeDocument/2006/relationships/slide" Target="slides/slide95.xml"/><Relationship Id="rId99" Type="http://schemas.openxmlformats.org/officeDocument/2006/relationships/slide" Target="slides/slide96.xml"/><Relationship Id="rId100" Type="http://schemas.openxmlformats.org/officeDocument/2006/relationships/slide" Target="slides/slide97.xml"/><Relationship Id="rId101" Type="http://schemas.openxmlformats.org/officeDocument/2006/relationships/slide" Target="slides/slide98.xml"/><Relationship Id="rId102" Type="http://schemas.openxmlformats.org/officeDocument/2006/relationships/slide" Target="slides/slide99.xml"/><Relationship Id="rId103" Type="http://schemas.openxmlformats.org/officeDocument/2006/relationships/slide" Target="slides/slide100.xml"/><Relationship Id="rId104" Type="http://schemas.openxmlformats.org/officeDocument/2006/relationships/slide" Target="slides/slide101.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105.xml"/><Relationship Id="rId109" Type="http://schemas.openxmlformats.org/officeDocument/2006/relationships/slide" Target="slides/slide106.xml"/><Relationship Id="rId110" Type="http://schemas.openxmlformats.org/officeDocument/2006/relationships/slide" Target="slides/slide107.xml"/><Relationship Id="rId111" Type="http://schemas.openxmlformats.org/officeDocument/2006/relationships/slide" Target="slides/slide108.xml"/><Relationship Id="rId112" Type="http://schemas.openxmlformats.org/officeDocument/2006/relationships/slide" Target="slides/slide109.xml"/><Relationship Id="rId113" Type="http://schemas.openxmlformats.org/officeDocument/2006/relationships/slide" Target="slides/slide110.xml"/><Relationship Id="rId114" Type="http://schemas.openxmlformats.org/officeDocument/2006/relationships/slide" Target="slides/slide111.xml"/><Relationship Id="rId115" Type="http://schemas.openxmlformats.org/officeDocument/2006/relationships/slide" Target="slides/slide112.xml"/><Relationship Id="rId116" Type="http://schemas.openxmlformats.org/officeDocument/2006/relationships/slide" Target="slides/slide113.xml"/><Relationship Id="rId117" Type="http://schemas.openxmlformats.org/officeDocument/2006/relationships/slide" Target="slides/slide114.xml"/><Relationship Id="rId118" Type="http://schemas.openxmlformats.org/officeDocument/2006/relationships/slide" Target="slides/slide115.xml"/><Relationship Id="rId119" Type="http://schemas.openxmlformats.org/officeDocument/2006/relationships/slide" Target="slides/slide116.xml"/><Relationship Id="rId120" Type="http://schemas.openxmlformats.org/officeDocument/2006/relationships/slide" Target="slides/slide117.xml"/><Relationship Id="rId121" Type="http://schemas.openxmlformats.org/officeDocument/2006/relationships/slide" Target="slides/slide118.xml"/><Relationship Id="rId122" Type="http://schemas.openxmlformats.org/officeDocument/2006/relationships/slide" Target="slides/slide119.xml"/><Relationship Id="rId123" Type="http://schemas.openxmlformats.org/officeDocument/2006/relationships/slide" Target="slides/slide120.xml"/><Relationship Id="rId124" Type="http://schemas.openxmlformats.org/officeDocument/2006/relationships/slide" Target="slides/slide121.xml"/><Relationship Id="rId125" Type="http://schemas.openxmlformats.org/officeDocument/2006/relationships/slide" Target="slides/slide122.xml"/><Relationship Id="rId126" Type="http://schemas.openxmlformats.org/officeDocument/2006/relationships/slide" Target="slides/slide123.xml"/><Relationship Id="rId127" Type="http://schemas.openxmlformats.org/officeDocument/2006/relationships/slide" Target="slides/slide124.xml"/><Relationship Id="rId128" Type="http://schemas.openxmlformats.org/officeDocument/2006/relationships/slide" Target="slides/slide125.xml"/><Relationship Id="rId129" Type="http://schemas.openxmlformats.org/officeDocument/2006/relationships/slide" Target="slides/slide126.xml"/><Relationship Id="rId130" Type="http://schemas.openxmlformats.org/officeDocument/2006/relationships/slide" Target="slides/slide127.xml"/><Relationship Id="rId131" Type="http://schemas.openxmlformats.org/officeDocument/2006/relationships/slide" Target="slides/slide128.xml"/><Relationship Id="rId132" Type="http://schemas.openxmlformats.org/officeDocument/2006/relationships/slide" Target="slides/slide129.xml"/><Relationship Id="rId133" Type="http://schemas.openxmlformats.org/officeDocument/2006/relationships/slide" Target="slides/slide130.xml"/><Relationship Id="rId134" Type="http://schemas.openxmlformats.org/officeDocument/2006/relationships/slide" Target="slides/slide131.xml"/><Relationship Id="rId135" Type="http://schemas.openxmlformats.org/officeDocument/2006/relationships/slide" Target="slides/slide132.xml"/><Relationship Id="rId136" Type="http://schemas.openxmlformats.org/officeDocument/2006/relationships/slide" Target="slides/slide133.xml"/><Relationship Id="rId137" Type="http://schemas.openxmlformats.org/officeDocument/2006/relationships/slide" Target="slides/slide134.xml"/><Relationship Id="rId138" Type="http://schemas.openxmlformats.org/officeDocument/2006/relationships/slide" Target="slides/slide135.xml"/><Relationship Id="rId139" Type="http://schemas.openxmlformats.org/officeDocument/2006/relationships/slide" Target="slides/slide136.xml"/><Relationship Id="rId140" Type="http://schemas.openxmlformats.org/officeDocument/2006/relationships/slide" Target="slides/slide137.xml"/><Relationship Id="rId141" Type="http://schemas.openxmlformats.org/officeDocument/2006/relationships/slide" Target="slides/slide138.xml"/><Relationship Id="rId142" Type="http://schemas.openxmlformats.org/officeDocument/2006/relationships/slide" Target="slides/slide139.xml"/><Relationship Id="rId143" Type="http://schemas.openxmlformats.org/officeDocument/2006/relationships/slide" Target="slides/slide140.xml"/><Relationship Id="rId144" Type="http://schemas.openxmlformats.org/officeDocument/2006/relationships/slide" Target="slides/slide141.xml"/><Relationship Id="rId145" Type="http://schemas.openxmlformats.org/officeDocument/2006/relationships/slide" Target="slides/slide142.xml"/><Relationship Id="rId146" Type="http://schemas.openxmlformats.org/officeDocument/2006/relationships/slide" Target="slides/slide143.xml"/><Relationship Id="rId147" Type="http://schemas.openxmlformats.org/officeDocument/2006/relationships/slide" Target="slides/slide144.xml"/><Relationship Id="rId148" Type="http://schemas.openxmlformats.org/officeDocument/2006/relationships/slide" Target="slides/slide145.xml"/><Relationship Id="rId149" Type="http://schemas.openxmlformats.org/officeDocument/2006/relationships/slide" Target="slides/slide146.xml"/><Relationship Id="rId150" Type="http://schemas.openxmlformats.org/officeDocument/2006/relationships/slide" Target="slides/slide147.xml"/><Relationship Id="rId151" Type="http://schemas.openxmlformats.org/officeDocument/2006/relationships/slide" Target="slides/slide148.xml"/><Relationship Id="rId152" Type="http://schemas.openxmlformats.org/officeDocument/2006/relationships/slide" Target="slides/slide149.xml"/><Relationship Id="rId153" Type="http://schemas.openxmlformats.org/officeDocument/2006/relationships/slide" Target="slides/slide150.xml"/><Relationship Id="rId154"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r>
              <a:rPr b="0" lang="en-US" sz="1800" strike="noStrike" u="none">
                <a:solidFill>
                  <a:schemeClr val="dk1"/>
                </a:solidFill>
                <a:effectLst/>
                <a:uFillTx/>
                <a:latin typeface="Calibri"/>
              </a:rPr>
              <a:t>Click to move the slide</a:t>
            </a:r>
            <a:endParaRPr b="0" lang="en-US" sz="1800" strike="noStrike" u="none">
              <a:solidFill>
                <a:schemeClr val="dk1"/>
              </a:solidFill>
              <a:effectLst/>
              <a:uFillTx/>
              <a:latin typeface="Calibri"/>
            </a:endParaRPr>
          </a:p>
        </p:txBody>
      </p:sp>
      <p:sp>
        <p:nvSpPr>
          <p:cNvPr id="4"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indent="0">
              <a:buNone/>
            </a:pPr>
            <a:r>
              <a:rPr b="0" lang="en-US" sz="2000" strike="noStrike" u="none">
                <a:solidFill>
                  <a:srgbClr val="000000"/>
                </a:solidFill>
                <a:effectLst/>
                <a:uFillTx/>
                <a:latin typeface="Arial"/>
              </a:rPr>
              <a:t>Click to edit the notes format</a:t>
            </a:r>
            <a:endParaRPr b="0" lang="en-US" sz="2000" strike="noStrike" u="none">
              <a:solidFill>
                <a:srgbClr val="000000"/>
              </a:solidFill>
              <a:effectLst/>
              <a:uFillTx/>
              <a:latin typeface="Arial"/>
            </a:endParaRPr>
          </a:p>
        </p:txBody>
      </p:sp>
      <p:sp>
        <p:nvSpPr>
          <p:cNvPr id="5"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6" name="PlaceHolder 4"/>
          <p:cNvSpPr>
            <a:spLocks noGrp="1"/>
          </p:cNvSpPr>
          <p:nvPr>
            <p:ph type="dt" idx="2"/>
          </p:nvPr>
        </p:nvSpPr>
        <p:spPr>
          <a:xfrm>
            <a:off x="4278960" y="0"/>
            <a:ext cx="3280680" cy="534240"/>
          </a:xfrm>
          <a:prstGeom prst="rect">
            <a:avLst/>
          </a:prstGeom>
          <a:noFill/>
          <a:ln w="0">
            <a:noFill/>
          </a:ln>
        </p:spPr>
        <p:txBody>
          <a:bodyPr lIns="0" rIns="0" tIns="0" bIns="0" anchor="t">
            <a:noAutofit/>
          </a:bodyPr>
          <a:lstStyle>
            <a:lvl1pPr indent="0" algn="r">
              <a:buNone/>
              <a:defRPr b="0" lang="en-US" sz="1400" strike="noStrike" u="none">
                <a:solidFill>
                  <a:srgbClr val="000000"/>
                </a:solidFill>
                <a:effectLst/>
                <a:uFillTx/>
                <a:latin typeface="Times New Roman"/>
              </a:defRPr>
            </a:lvl1pPr>
          </a:lstStyle>
          <a:p>
            <a:pPr indent="0" algn="r">
              <a:buNone/>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7" name="PlaceHolder 5"/>
          <p:cNvSpPr>
            <a:spLocks noGrp="1"/>
          </p:cNvSpPr>
          <p:nvPr>
            <p:ph type="ftr" idx="3"/>
          </p:nvPr>
        </p:nvSpPr>
        <p:spPr>
          <a:xfrm>
            <a:off x="0" y="10157400"/>
            <a:ext cx="3280680" cy="534240"/>
          </a:xfrm>
          <a:prstGeom prst="rect">
            <a:avLst/>
          </a:prstGeom>
          <a:noFill/>
          <a:ln w="0">
            <a:noFill/>
          </a:ln>
        </p:spPr>
        <p:txBody>
          <a:bodyPr lIns="0" rIns="0" tIns="0" bIns="0" anchor="b">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8" name="PlaceHolder 6"/>
          <p:cNvSpPr>
            <a:spLocks noGrp="1"/>
          </p:cNvSpPr>
          <p:nvPr>
            <p:ph type="sldNum" idx="4"/>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trike="noStrike" u="none">
                <a:solidFill>
                  <a:srgbClr val="000000"/>
                </a:solidFill>
                <a:effectLst/>
                <a:uFillTx/>
                <a:latin typeface="Times New Roman"/>
              </a:defRPr>
            </a:lvl1pPr>
          </a:lstStyle>
          <a:p>
            <a:pPr indent="0" algn="r">
              <a:buNone/>
            </a:pPr>
            <a:fld id="{5194EA87-7AF9-4014-ADF7-8486E67ADB67}" type="slidenum">
              <a:rPr b="0" lang="en-US" sz="1400" strike="noStrike" u="none">
                <a:solidFill>
                  <a:srgbClr val="000000"/>
                </a:solidFill>
                <a:effectLst/>
                <a:uFillTx/>
                <a:latin typeface="Times New Roman"/>
              </a:rPr>
              <a:t>1</a:t>
            </a:fld>
            <a:endParaRPr b="0" lang="en-US" sz="1400" strike="noStrike" u="non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_rels/notesSlide37.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
</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
</Relationships>
</file>

<file path=ppt/notesSlides/_rels/notesSlide39.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
</Relationships>
</file>

<file path=ppt/notesSlides/_rels/notesSlide40.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
</Relationships>
</file>

<file path=ppt/notesSlides/_rels/notesSlide41.xml.rels><?xml version="1.0" encoding="UTF-8"?>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
</Relationships>
</file>

<file path=ppt/notesSlides/_rels/notesSlide42.xml.rels><?xml version="1.0" encoding="UTF-8"?>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
</Relationships>
</file>

<file path=ppt/notesSlides/_rels/notesSlide43.xml.rels><?xml version="1.0" encoding="UTF-8"?>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
</Relationships>
</file>

<file path=ppt/notesSlides/_rels/notesSlide44.xml.rels><?xml version="1.0" encoding="UTF-8"?>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
</Relationships>
</file>

<file path=ppt/notesSlides/_rels/notesSlide45.xml.rels><?xml version="1.0" encoding="UTF-8"?>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
</Relationships>
</file>

<file path=ppt/notesSlides/_rels/notesSlide46.xml.rels><?xml version="1.0" encoding="UTF-8"?>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
</Relationships>
</file>

<file path=ppt/notesSlides/_rels/notesSlide47.xml.rels><?xml version="1.0" encoding="UTF-8"?>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
</Relationships>
</file>

<file path=ppt/notesSlides/_rels/notesSlide48.xml.rels><?xml version="1.0" encoding="UTF-8"?>
<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
</Relationships>
</file>

<file path=ppt/notesSlides/_rels/notesSlide49.xml.rels><?xml version="1.0" encoding="UTF-8"?>
<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
</Relationships>
</file>

<file path=ppt/notesSlides/_rels/notesSlide50.xml.rels><?xml version="1.0" encoding="UTF-8"?>
<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
</Relationships>
</file>

<file path=ppt/notesSlides/_rels/notesSlide51.xml.rels><?xml version="1.0" encoding="UTF-8"?>
<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
</Relationships>
</file>

<file path=ppt/notesSlides/_rels/notesSlide52.xml.rels><?xml version="1.0" encoding="UTF-8"?>
<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
</Relationships>
</file>

<file path=ppt/notesSlides/_rels/notesSlide53.xml.rels><?xml version="1.0" encoding="UTF-8"?>
<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
</Relationships>
</file>

<file path=ppt/notesSlides/_rels/notesSlide54.xml.rels><?xml version="1.0" encoding="UTF-8"?>
<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
</Relationships>
</file>

<file path=ppt/notesSlides/_rels/notesSlide55.xml.rels><?xml version="1.0" encoding="UTF-8"?>
<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
</Relationships>
</file>

<file path=ppt/notesSlides/_rels/notesSlide56.xml.rels><?xml version="1.0" encoding="UTF-8"?>
<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
</Relationships>
</file>

<file path=ppt/notesSlides/_rels/notesSlide57.xml.rels><?xml version="1.0" encoding="UTF-8"?>
<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
</Relationships>
</file>

<file path=ppt/notesSlides/_rels/notesSlide58.xml.rels><?xml version="1.0" encoding="UTF-8"?>
<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
</Relationships>
</file>

<file path=ppt/notesSlides/_rels/notesSlide59.xml.rels><?xml version="1.0" encoding="UTF-8"?>
<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
</Relationships>
</file>

<file path=ppt/notesSlides/_rels/notesSlide60.xml.rels><?xml version="1.0" encoding="UTF-8"?>
<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
</Relationships>
</file>

<file path=ppt/notesSlides/_rels/notesSlide61.xml.rels><?xml version="1.0" encoding="UTF-8"?>
<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
</Relationships>
</file>

<file path=ppt/notesSlides/_rels/notesSlide62.xml.rels><?xml version="1.0" encoding="UTF-8"?>
<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
</Relationships>
</file>

<file path=ppt/notesSlides/_rels/notesSlide63.xml.rels><?xml version="1.0" encoding="UTF-8"?>
<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
</Relationships>
</file>

<file path=ppt/notesSlides/_rels/notesSlide64.xml.rels><?xml version="1.0" encoding="UTF-8"?>
<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
</Relationships>
</file>

<file path=ppt/notesSlides/_rels/notesSlide65.xml.rels><?xml version="1.0" encoding="UTF-8"?>
<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
</Relationships>
</file>

<file path=ppt/notesSlides/_rels/notesSlide66.xml.rels><?xml version="1.0" encoding="UTF-8"?>
<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
</Relationships>
</file>

<file path=ppt/notesSlides/_rels/notesSlide67.xml.rels><?xml version="1.0" encoding="UTF-8"?>
<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
</Relationships>
</file>

<file path=ppt/notesSlides/_rels/notesSlide68.xml.rels><?xml version="1.0" encoding="UTF-8"?>
<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
</Relationships>
</file>

<file path=ppt/notesSlides/_rels/notesSlide69.xml.rels><?xml version="1.0" encoding="UTF-8"?>
<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
</Relationships>
</file>

<file path=ppt/notesSlides/_rels/notesSlide70.xml.rels><?xml version="1.0" encoding="UTF-8"?>
<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
</Relationships>
</file>

<file path=ppt/notesSlides/_rels/notesSlide71.xml.rels><?xml version="1.0" encoding="UTF-8"?>
<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
</Relationships>
</file>

<file path=ppt/notesSlides/_rels/notesSlide72.xml.rels><?xml version="1.0" encoding="UTF-8"?>
<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
</Relationships>
</file>

<file path=ppt/notesSlides/_rels/notesSlide73.xml.rels><?xml version="1.0" encoding="UTF-8"?>
<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
</Relationships>
</file>

<file path=ppt/notesSlides/_rels/notesSlide74.xml.rels><?xml version="1.0" encoding="UTF-8"?>
<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
</Relationships>
</file>

<file path=ppt/notesSlides/_rels/notesSlide75.xml.rels><?xml version="1.0" encoding="UTF-8"?>
<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
</Relationships>
</file>

<file path=ppt/notesSlides/_rels/notesSlide76.xml.rels><?xml version="1.0" encoding="UTF-8"?>
<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
</Relationships>
</file>

<file path=ppt/notesSlides/_rels/notesSlide77.xml.rels><?xml version="1.0" encoding="UTF-8"?>
<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
</Relationships>
</file>

<file path=ppt/notesSlides/_rels/notesSlide78.xml.rels><?xml version="1.0" encoding="UTF-8"?>
<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
</Relationships>
</file>

<file path=ppt/notesSlides/_rels/notesSlide79.xml.rels><?xml version="1.0" encoding="UTF-8"?>
<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
</Relationships>
</file>

<file path=ppt/notesSlides/_rels/notesSlide80.xml.rels><?xml version="1.0" encoding="UTF-8"?>
<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
</Relationships>
</file>

<file path=ppt/notesSlides/_rels/notesSlide81.xml.rels><?xml version="1.0" encoding="UTF-8"?>
<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
</Relationships>
</file>

<file path=ppt/notesSlides/_rels/notesSlide82.xml.rels><?xml version="1.0" encoding="UTF-8"?>
<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
</Relationships>
</file>

<file path=ppt/notesSlides/_rels/notesSlide83.xml.rels><?xml version="1.0" encoding="UTF-8"?>
<Relationships xmlns="http://schemas.openxmlformats.org/package/2006/relationships"><Relationship Id="rId1" Type="http://schemas.openxmlformats.org/officeDocument/2006/relationships/slide" Target="../slides/slide83.xml"/><Relationship Id="rId2" Type="http://schemas.openxmlformats.org/officeDocument/2006/relationships/notesMaster" Target="../notesMasters/notesMaster1.xml"/>
</Relationships>
</file>

<file path=ppt/notesSlides/_rels/notesSlide84.xml.rels><?xml version="1.0" encoding="UTF-8"?>
<Relationships xmlns="http://schemas.openxmlformats.org/package/2006/relationships"><Relationship Id="rId1" Type="http://schemas.openxmlformats.org/officeDocument/2006/relationships/slide" Target="../slides/slide84.xml"/><Relationship Id="rId2" Type="http://schemas.openxmlformats.org/officeDocument/2006/relationships/notesMaster" Target="../notesMasters/notesMaster1.xml"/>
</Relationships>
</file>

<file path=ppt/notesSlides/_rels/notesSlide85.xml.rels><?xml version="1.0" encoding="UTF-8"?>
<Relationships xmlns="http://schemas.openxmlformats.org/package/2006/relationships"><Relationship Id="rId1" Type="http://schemas.openxmlformats.org/officeDocument/2006/relationships/slide" Target="../slides/slide85.xml"/><Relationship Id="rId2" Type="http://schemas.openxmlformats.org/officeDocument/2006/relationships/notesMaster" Target="../notesMasters/notesMaster1.xml"/>
</Relationships>
</file>

<file path=ppt/notesSlides/_rels/notesSlide86.xml.rels><?xml version="1.0" encoding="UTF-8"?>
<Relationships xmlns="http://schemas.openxmlformats.org/package/2006/relationships"><Relationship Id="rId1" Type="http://schemas.openxmlformats.org/officeDocument/2006/relationships/slide" Target="../slides/slide86.xml"/><Relationship Id="rId2" Type="http://schemas.openxmlformats.org/officeDocument/2006/relationships/notesMaster" Target="../notesMasters/notesMaster1.xml"/>
</Relationships>
</file>

<file path=ppt/notesSlides/_rels/notesSlide87.xml.rels><?xml version="1.0" encoding="UTF-8"?>
<Relationships xmlns="http://schemas.openxmlformats.org/package/2006/relationships"><Relationship Id="rId1" Type="http://schemas.openxmlformats.org/officeDocument/2006/relationships/slide" Target="../slides/slide87.xml"/><Relationship Id="rId2" Type="http://schemas.openxmlformats.org/officeDocument/2006/relationships/notesMaster" Target="../notesMasters/notesMaster1.xml"/>
</Relationships>
</file>

<file path=ppt/notesSlides/_rels/notesSlide88.xml.rels><?xml version="1.0" encoding="UTF-8"?>
<Relationships xmlns="http://schemas.openxmlformats.org/package/2006/relationships"><Relationship Id="rId1" Type="http://schemas.openxmlformats.org/officeDocument/2006/relationships/slide" Target="../slides/slide88.xml"/><Relationship Id="rId2" Type="http://schemas.openxmlformats.org/officeDocument/2006/relationships/notesMaster" Target="../notesMasters/notesMaster1.xml"/>
</Relationships>
</file>

<file path=ppt/notesSlides/_rels/notesSlide89.xml.rels><?xml version="1.0" encoding="UTF-8"?>
<Relationships xmlns="http://schemas.openxmlformats.org/package/2006/relationships"><Relationship Id="rId1" Type="http://schemas.openxmlformats.org/officeDocument/2006/relationships/slide" Target="../slides/slide89.xml"/><Relationship Id="rId2" Type="http://schemas.openxmlformats.org/officeDocument/2006/relationships/notesMaster" Target="../notesMasters/notesMaster1.xml"/>
</Relationships>
</file>

<file path=ppt/notesSlides/_rels/notesSlide90.xml.rels><?xml version="1.0" encoding="UTF-8"?>
<Relationships xmlns="http://schemas.openxmlformats.org/package/2006/relationships"><Relationship Id="rId1" Type="http://schemas.openxmlformats.org/officeDocument/2006/relationships/slide" Target="../slides/slide90.xml"/><Relationship Id="rId2" Type="http://schemas.openxmlformats.org/officeDocument/2006/relationships/notesMaster" Target="../notesMasters/notesMaster1.xml"/>
</Relationships>
</file>

<file path=ppt/notesSlides/_rels/notesSlide91.xml.rels><?xml version="1.0" encoding="UTF-8"?>
<Relationships xmlns="http://schemas.openxmlformats.org/package/2006/relationships"><Relationship Id="rId1" Type="http://schemas.openxmlformats.org/officeDocument/2006/relationships/slide" Target="../slides/slide91.xml"/><Relationship Id="rId2" Type="http://schemas.openxmlformats.org/officeDocument/2006/relationships/notesMaster" Target="../notesMasters/notesMaster1.xml"/>
</Relationships>
</file>

<file path=ppt/notesSlides/_rels/notesSlide92.xml.rels><?xml version="1.0" encoding="UTF-8"?>
<Relationships xmlns="http://schemas.openxmlformats.org/package/2006/relationships"><Relationship Id="rId1" Type="http://schemas.openxmlformats.org/officeDocument/2006/relationships/slide" Target="../slides/slide92.xml"/><Relationship Id="rId2" Type="http://schemas.openxmlformats.org/officeDocument/2006/relationships/notesMaster" Target="../notesMasters/notesMaster1.xml"/>
</Relationships>
</file>

<file path=ppt/notesSlides/_rels/notesSlide93.xml.rels><?xml version="1.0" encoding="UTF-8"?>
<Relationships xmlns="http://schemas.openxmlformats.org/package/2006/relationships"><Relationship Id="rId1" Type="http://schemas.openxmlformats.org/officeDocument/2006/relationships/slide" Target="../slides/slide93.xml"/><Relationship Id="rId2" Type="http://schemas.openxmlformats.org/officeDocument/2006/relationships/notesMaster" Target="../notesMasters/notesMaster1.xml"/>
</Relationships>
</file>

<file path=ppt/notesSlides/_rels/notesSlide94.xml.rels><?xml version="1.0" encoding="UTF-8"?>
<Relationships xmlns="http://schemas.openxmlformats.org/package/2006/relationships"><Relationship Id="rId1" Type="http://schemas.openxmlformats.org/officeDocument/2006/relationships/slide" Target="../slides/slide94.xml"/><Relationship Id="rId2" Type="http://schemas.openxmlformats.org/officeDocument/2006/relationships/notesMaster" Target="../notesMasters/notesMaster1.xml"/>
</Relationships>
</file>

<file path=ppt/notesSlides/_rels/notesSlide95.xml.rels><?xml version="1.0" encoding="UTF-8"?>
<Relationships xmlns="http://schemas.openxmlformats.org/package/2006/relationships"><Relationship Id="rId1" Type="http://schemas.openxmlformats.org/officeDocument/2006/relationships/slide" Target="../slides/slide95.xml"/><Relationship Id="rId2" Type="http://schemas.openxmlformats.org/officeDocument/2006/relationships/notesMaster" Target="../notesMasters/notesMaster1.xml"/>
</Relationships>
</file>

<file path=ppt/notesSlides/_rels/notesSlide96.xml.rels><?xml version="1.0" encoding="UTF-8"?>
<Relationships xmlns="http://schemas.openxmlformats.org/package/2006/relationships"><Relationship Id="rId1" Type="http://schemas.openxmlformats.org/officeDocument/2006/relationships/slide" Target="../slides/slide96.xml"/><Relationship Id="rId2" Type="http://schemas.openxmlformats.org/officeDocument/2006/relationships/notesMaster" Target="../notesMasters/notesMaster1.xml"/>
</Relationships>
</file>

<file path=ppt/notesSlides/_rels/notesSlide97.xml.rels><?xml version="1.0" encoding="UTF-8"?>
<Relationships xmlns="http://schemas.openxmlformats.org/package/2006/relationships"><Relationship Id="rId1" Type="http://schemas.openxmlformats.org/officeDocument/2006/relationships/slide" Target="../slides/slide97.xml"/><Relationship Id="rId2" Type="http://schemas.openxmlformats.org/officeDocument/2006/relationships/notesMaster" Target="../notesMasters/notesMaster1.xml"/>
</Relationships>
</file>

<file path=ppt/notesSlides/_rels/notesSlide98.xml.rels><?xml version="1.0" encoding="UTF-8"?>
<Relationships xmlns="http://schemas.openxmlformats.org/package/2006/relationships"><Relationship Id="rId1" Type="http://schemas.openxmlformats.org/officeDocument/2006/relationships/slide" Target="../slides/slide98.xml"/><Relationship Id="rId2" Type="http://schemas.openxmlformats.org/officeDocument/2006/relationships/notesMaster" Target="../notesMasters/notesMaster1.xml"/>
</Relationships>
</file>

<file path=ppt/notesSlides/_rels/notesSlide99.xml.rels><?xml version="1.0" encoding="UTF-8"?>
<Relationships xmlns="http://schemas.openxmlformats.org/package/2006/relationships"><Relationship Id="rId1" Type="http://schemas.openxmlformats.org/officeDocument/2006/relationships/slide" Target="../slides/slide99.xml"/><Relationship Id="rId2" Type="http://schemas.openxmlformats.org/officeDocument/2006/relationships/notesMaster" Target="../notesMasters/notesMaster1.xml"/>
</Relationships>
</file>

<file path=ppt/notesSlides/_rels/notesSlide100.xml.rels><?xml version="1.0" encoding="UTF-8"?>
<Relationships xmlns="http://schemas.openxmlformats.org/package/2006/relationships"><Relationship Id="rId1" Type="http://schemas.openxmlformats.org/officeDocument/2006/relationships/slide" Target="../slides/slide100.xml"/><Relationship Id="rId2" Type="http://schemas.openxmlformats.org/officeDocument/2006/relationships/notesMaster" Target="../notesMasters/notesMaster1.xml"/>
</Relationships>
</file>

<file path=ppt/notesSlides/_rels/notesSlide101.xml.rels><?xml version="1.0" encoding="UTF-8"?>
<Relationships xmlns="http://schemas.openxmlformats.org/package/2006/relationships"><Relationship Id="rId1" Type="http://schemas.openxmlformats.org/officeDocument/2006/relationships/slide" Target="../slides/slide101.xml"/><Relationship Id="rId2" Type="http://schemas.openxmlformats.org/officeDocument/2006/relationships/notesMaster" Target="../notesMasters/notesMaster1.xml"/>
</Relationships>
</file>

<file path=ppt/notesSlides/_rels/notesSlide102.xml.rels><?xml version="1.0" encoding="UTF-8"?>
<Relationships xmlns="http://schemas.openxmlformats.org/package/2006/relationships"><Relationship Id="rId1" Type="http://schemas.openxmlformats.org/officeDocument/2006/relationships/slide" Target="../slides/slide102.xml"/><Relationship Id="rId2" Type="http://schemas.openxmlformats.org/officeDocument/2006/relationships/notesMaster" Target="../notesMasters/notesMaster1.xml"/>
</Relationships>
</file>

<file path=ppt/notesSlides/_rels/notesSlide103.xml.rels><?xml version="1.0" encoding="UTF-8"?>
<Relationships xmlns="http://schemas.openxmlformats.org/package/2006/relationships"><Relationship Id="rId1" Type="http://schemas.openxmlformats.org/officeDocument/2006/relationships/slide" Target="../slides/slide103.xml"/><Relationship Id="rId2" Type="http://schemas.openxmlformats.org/officeDocument/2006/relationships/notesMaster" Target="../notesMasters/notesMaster1.xml"/>
</Relationships>
</file>

<file path=ppt/notesSlides/_rels/notesSlide104.xml.rels><?xml version="1.0" encoding="UTF-8"?>
<Relationships xmlns="http://schemas.openxmlformats.org/package/2006/relationships"><Relationship Id="rId1" Type="http://schemas.openxmlformats.org/officeDocument/2006/relationships/slide" Target="../slides/slide104.xml"/><Relationship Id="rId2" Type="http://schemas.openxmlformats.org/officeDocument/2006/relationships/notesMaster" Target="../notesMasters/notesMaster1.xml"/>
</Relationships>
</file>

<file path=ppt/notesSlides/_rels/notesSlide105.xml.rels><?xml version="1.0" encoding="UTF-8"?>
<Relationships xmlns="http://schemas.openxmlformats.org/package/2006/relationships"><Relationship Id="rId1" Type="http://schemas.openxmlformats.org/officeDocument/2006/relationships/slide" Target="../slides/slide105.xml"/><Relationship Id="rId2" Type="http://schemas.openxmlformats.org/officeDocument/2006/relationships/notesMaster" Target="../notesMasters/notesMaster1.xml"/>
</Relationships>
</file>

<file path=ppt/notesSlides/_rels/notesSlide106.xml.rels><?xml version="1.0" encoding="UTF-8"?>
<Relationships xmlns="http://schemas.openxmlformats.org/package/2006/relationships"><Relationship Id="rId1" Type="http://schemas.openxmlformats.org/officeDocument/2006/relationships/slide" Target="../slides/slide106.xml"/><Relationship Id="rId2" Type="http://schemas.openxmlformats.org/officeDocument/2006/relationships/notesMaster" Target="../notesMasters/notesMaster1.xml"/>
</Relationships>
</file>

<file path=ppt/notesSlides/_rels/notesSlide107.xml.rels><?xml version="1.0" encoding="UTF-8"?>
<Relationships xmlns="http://schemas.openxmlformats.org/package/2006/relationships"><Relationship Id="rId1" Type="http://schemas.openxmlformats.org/officeDocument/2006/relationships/slide" Target="../slides/slide107.xml"/><Relationship Id="rId2" Type="http://schemas.openxmlformats.org/officeDocument/2006/relationships/notesMaster" Target="../notesMasters/notesMaster1.xml"/>
</Relationships>
</file>

<file path=ppt/notesSlides/_rels/notesSlide108.xml.rels><?xml version="1.0" encoding="UTF-8"?>
<Relationships xmlns="http://schemas.openxmlformats.org/package/2006/relationships"><Relationship Id="rId1" Type="http://schemas.openxmlformats.org/officeDocument/2006/relationships/slide" Target="../slides/slide108.xml"/><Relationship Id="rId2" Type="http://schemas.openxmlformats.org/officeDocument/2006/relationships/notesMaster" Target="../notesMasters/notesMaster1.xml"/>
</Relationships>
</file>

<file path=ppt/notesSlides/_rels/notesSlide109.xml.rels><?xml version="1.0" encoding="UTF-8"?>
<Relationships xmlns="http://schemas.openxmlformats.org/package/2006/relationships"><Relationship Id="rId1" Type="http://schemas.openxmlformats.org/officeDocument/2006/relationships/slide" Target="../slides/slide109.xml"/><Relationship Id="rId2" Type="http://schemas.openxmlformats.org/officeDocument/2006/relationships/notesMaster" Target="../notesMasters/notesMaster1.xml"/>
</Relationships>
</file>

<file path=ppt/notesSlides/_rels/notesSlide110.xml.rels><?xml version="1.0" encoding="UTF-8"?>
<Relationships xmlns="http://schemas.openxmlformats.org/package/2006/relationships"><Relationship Id="rId1" Type="http://schemas.openxmlformats.org/officeDocument/2006/relationships/slide" Target="../slides/slide110.xml"/><Relationship Id="rId2" Type="http://schemas.openxmlformats.org/officeDocument/2006/relationships/notesMaster" Target="../notesMasters/notesMaster1.xml"/>
</Relationships>
</file>

<file path=ppt/notesSlides/_rels/notesSlide111.xml.rels><?xml version="1.0" encoding="UTF-8"?>
<Relationships xmlns="http://schemas.openxmlformats.org/package/2006/relationships"><Relationship Id="rId1" Type="http://schemas.openxmlformats.org/officeDocument/2006/relationships/slide" Target="../slides/slide111.xml"/><Relationship Id="rId2" Type="http://schemas.openxmlformats.org/officeDocument/2006/relationships/notesMaster" Target="../notesMasters/notesMaster1.xml"/>
</Relationships>
</file>

<file path=ppt/notesSlides/_rels/notesSlide112.xml.rels><?xml version="1.0" encoding="UTF-8"?>
<Relationships xmlns="http://schemas.openxmlformats.org/package/2006/relationships"><Relationship Id="rId1" Type="http://schemas.openxmlformats.org/officeDocument/2006/relationships/slide" Target="../slides/slide112.xml"/><Relationship Id="rId2" Type="http://schemas.openxmlformats.org/officeDocument/2006/relationships/notesMaster" Target="../notesMasters/notesMaster1.xml"/>
</Relationships>
</file>

<file path=ppt/notesSlides/_rels/notesSlide113.xml.rels><?xml version="1.0" encoding="UTF-8"?>
<Relationships xmlns="http://schemas.openxmlformats.org/package/2006/relationships"><Relationship Id="rId1" Type="http://schemas.openxmlformats.org/officeDocument/2006/relationships/slide" Target="../slides/slide113.xml"/><Relationship Id="rId2" Type="http://schemas.openxmlformats.org/officeDocument/2006/relationships/notesMaster" Target="../notesMasters/notesMaster1.xml"/>
</Relationships>
</file>

<file path=ppt/notesSlides/_rels/notesSlide114.xml.rels><?xml version="1.0" encoding="UTF-8"?>
<Relationships xmlns="http://schemas.openxmlformats.org/package/2006/relationships"><Relationship Id="rId1" Type="http://schemas.openxmlformats.org/officeDocument/2006/relationships/slide" Target="../slides/slide114.xml"/><Relationship Id="rId2" Type="http://schemas.openxmlformats.org/officeDocument/2006/relationships/notesMaster" Target="../notesMasters/notesMaster1.xml"/>
</Relationships>
</file>

<file path=ppt/notesSlides/_rels/notesSlide115.xml.rels><?xml version="1.0" encoding="UTF-8"?>
<Relationships xmlns="http://schemas.openxmlformats.org/package/2006/relationships"><Relationship Id="rId1" Type="http://schemas.openxmlformats.org/officeDocument/2006/relationships/slide" Target="../slides/slide115.xml"/><Relationship Id="rId2" Type="http://schemas.openxmlformats.org/officeDocument/2006/relationships/notesMaster" Target="../notesMasters/notesMaster1.xml"/>
</Relationships>
</file>

<file path=ppt/notesSlides/_rels/notesSlide116.xml.rels><?xml version="1.0" encoding="UTF-8"?>
<Relationships xmlns="http://schemas.openxmlformats.org/package/2006/relationships"><Relationship Id="rId1" Type="http://schemas.openxmlformats.org/officeDocument/2006/relationships/slide" Target="../slides/slide116.xml"/><Relationship Id="rId2" Type="http://schemas.openxmlformats.org/officeDocument/2006/relationships/notesMaster" Target="../notesMasters/notesMaster1.xml"/>
</Relationships>
</file>

<file path=ppt/notesSlides/_rels/notesSlide117.xml.rels><?xml version="1.0" encoding="UTF-8"?>
<Relationships xmlns="http://schemas.openxmlformats.org/package/2006/relationships"><Relationship Id="rId1" Type="http://schemas.openxmlformats.org/officeDocument/2006/relationships/slide" Target="../slides/slide117.xml"/><Relationship Id="rId2" Type="http://schemas.openxmlformats.org/officeDocument/2006/relationships/notesMaster" Target="../notesMasters/notesMaster1.xml"/>
</Relationships>
</file>

<file path=ppt/notesSlides/_rels/notesSlide118.xml.rels><?xml version="1.0" encoding="UTF-8"?>
<Relationships xmlns="http://schemas.openxmlformats.org/package/2006/relationships"><Relationship Id="rId1" Type="http://schemas.openxmlformats.org/officeDocument/2006/relationships/slide" Target="../slides/slide118.xml"/><Relationship Id="rId2" Type="http://schemas.openxmlformats.org/officeDocument/2006/relationships/notesMaster" Target="../notesMasters/notesMaster1.xml"/>
</Relationships>
</file>

<file path=ppt/notesSlides/_rels/notesSlide119.xml.rels><?xml version="1.0" encoding="UTF-8"?>
<Relationships xmlns="http://schemas.openxmlformats.org/package/2006/relationships"><Relationship Id="rId1" Type="http://schemas.openxmlformats.org/officeDocument/2006/relationships/slide" Target="../slides/slide119.xml"/><Relationship Id="rId2" Type="http://schemas.openxmlformats.org/officeDocument/2006/relationships/notesMaster" Target="../notesMasters/notesMaster1.xml"/>
</Relationships>
</file>

<file path=ppt/notesSlides/_rels/notesSlide120.xml.rels><?xml version="1.0" encoding="UTF-8"?>
<Relationships xmlns="http://schemas.openxmlformats.org/package/2006/relationships"><Relationship Id="rId1" Type="http://schemas.openxmlformats.org/officeDocument/2006/relationships/slide" Target="../slides/slide120.xml"/><Relationship Id="rId2" Type="http://schemas.openxmlformats.org/officeDocument/2006/relationships/notesMaster" Target="../notesMasters/notesMaster1.xml"/>
</Relationships>
</file>

<file path=ppt/notesSlides/_rels/notesSlide121.xml.rels><?xml version="1.0" encoding="UTF-8"?>
<Relationships xmlns="http://schemas.openxmlformats.org/package/2006/relationships"><Relationship Id="rId1" Type="http://schemas.openxmlformats.org/officeDocument/2006/relationships/slide" Target="../slides/slide121.xml"/><Relationship Id="rId2" Type="http://schemas.openxmlformats.org/officeDocument/2006/relationships/notesMaster" Target="../notesMasters/notesMaster1.xml"/>
</Relationships>
</file>

<file path=ppt/notesSlides/_rels/notesSlide122.xml.rels><?xml version="1.0" encoding="UTF-8"?>
<Relationships xmlns="http://schemas.openxmlformats.org/package/2006/relationships"><Relationship Id="rId1" Type="http://schemas.openxmlformats.org/officeDocument/2006/relationships/slide" Target="../slides/slide122.xml"/><Relationship Id="rId2" Type="http://schemas.openxmlformats.org/officeDocument/2006/relationships/notesMaster" Target="../notesMasters/notesMaster1.xml"/>
</Relationships>
</file>

<file path=ppt/notesSlides/_rels/notesSlide123.xml.rels><?xml version="1.0" encoding="UTF-8"?>
<Relationships xmlns="http://schemas.openxmlformats.org/package/2006/relationships"><Relationship Id="rId1" Type="http://schemas.openxmlformats.org/officeDocument/2006/relationships/slide" Target="../slides/slide123.xml"/><Relationship Id="rId2" Type="http://schemas.openxmlformats.org/officeDocument/2006/relationships/notesMaster" Target="../notesMasters/notesMaster1.xml"/>
</Relationships>
</file>

<file path=ppt/notesSlides/_rels/notesSlide124.xml.rels><?xml version="1.0" encoding="UTF-8"?>
<Relationships xmlns="http://schemas.openxmlformats.org/package/2006/relationships"><Relationship Id="rId1" Type="http://schemas.openxmlformats.org/officeDocument/2006/relationships/slide" Target="../slides/slide124.xml"/><Relationship Id="rId2" Type="http://schemas.openxmlformats.org/officeDocument/2006/relationships/notesMaster" Target="../notesMasters/notesMaster1.xml"/>
</Relationships>
</file>

<file path=ppt/notesSlides/_rels/notesSlide125.xml.rels><?xml version="1.0" encoding="UTF-8"?>
<Relationships xmlns="http://schemas.openxmlformats.org/package/2006/relationships"><Relationship Id="rId1" Type="http://schemas.openxmlformats.org/officeDocument/2006/relationships/slide" Target="../slides/slide125.xml"/><Relationship Id="rId2" Type="http://schemas.openxmlformats.org/officeDocument/2006/relationships/notesMaster" Target="../notesMasters/notesMaster1.xml"/>
</Relationships>
</file>

<file path=ppt/notesSlides/_rels/notesSlide126.xml.rels><?xml version="1.0" encoding="UTF-8"?>
<Relationships xmlns="http://schemas.openxmlformats.org/package/2006/relationships"><Relationship Id="rId1" Type="http://schemas.openxmlformats.org/officeDocument/2006/relationships/slide" Target="../slides/slide126.xml"/><Relationship Id="rId2" Type="http://schemas.openxmlformats.org/officeDocument/2006/relationships/notesMaster" Target="../notesMasters/notesMaster1.xml"/>
</Relationships>
</file>

<file path=ppt/notesSlides/_rels/notesSlide127.xml.rels><?xml version="1.0" encoding="UTF-8"?>
<Relationships xmlns="http://schemas.openxmlformats.org/package/2006/relationships"><Relationship Id="rId1" Type="http://schemas.openxmlformats.org/officeDocument/2006/relationships/slide" Target="../slides/slide127.xml"/><Relationship Id="rId2" Type="http://schemas.openxmlformats.org/officeDocument/2006/relationships/notesMaster" Target="../notesMasters/notesMaster1.xml"/>
</Relationships>
</file>

<file path=ppt/notesSlides/_rels/notesSlide128.xml.rels><?xml version="1.0" encoding="UTF-8"?>
<Relationships xmlns="http://schemas.openxmlformats.org/package/2006/relationships"><Relationship Id="rId1" Type="http://schemas.openxmlformats.org/officeDocument/2006/relationships/slide" Target="../slides/slide128.xml"/><Relationship Id="rId2" Type="http://schemas.openxmlformats.org/officeDocument/2006/relationships/notesMaster" Target="../notesMasters/notesMaster1.xml"/>
</Relationships>
</file>

<file path=ppt/notesSlides/_rels/notesSlide129.xml.rels><?xml version="1.0" encoding="UTF-8"?>
<Relationships xmlns="http://schemas.openxmlformats.org/package/2006/relationships"><Relationship Id="rId1" Type="http://schemas.openxmlformats.org/officeDocument/2006/relationships/slide" Target="../slides/slide129.xml"/><Relationship Id="rId2" Type="http://schemas.openxmlformats.org/officeDocument/2006/relationships/notesMaster" Target="../notesMasters/notesMaster1.xml"/>
</Relationships>
</file>

<file path=ppt/notesSlides/_rels/notesSlide130.xml.rels><?xml version="1.0" encoding="UTF-8"?>
<Relationships xmlns="http://schemas.openxmlformats.org/package/2006/relationships"><Relationship Id="rId1" Type="http://schemas.openxmlformats.org/officeDocument/2006/relationships/slide" Target="../slides/slide130.xml"/><Relationship Id="rId2" Type="http://schemas.openxmlformats.org/officeDocument/2006/relationships/notesMaster" Target="../notesMasters/notesMaster1.xml"/>
</Relationships>
</file>

<file path=ppt/notesSlides/_rels/notesSlide131.xml.rels><?xml version="1.0" encoding="UTF-8"?>
<Relationships xmlns="http://schemas.openxmlformats.org/package/2006/relationships"><Relationship Id="rId1" Type="http://schemas.openxmlformats.org/officeDocument/2006/relationships/slide" Target="../slides/slide131.xml"/><Relationship Id="rId2" Type="http://schemas.openxmlformats.org/officeDocument/2006/relationships/notesMaster" Target="../notesMasters/notesMaster1.xml"/>
</Relationships>
</file>

<file path=ppt/notesSlides/_rels/notesSlide132.xml.rels><?xml version="1.0" encoding="UTF-8"?>
<Relationships xmlns="http://schemas.openxmlformats.org/package/2006/relationships"><Relationship Id="rId1" Type="http://schemas.openxmlformats.org/officeDocument/2006/relationships/slide" Target="../slides/slide132.xml"/><Relationship Id="rId2" Type="http://schemas.openxmlformats.org/officeDocument/2006/relationships/notesMaster" Target="../notesMasters/notesMaster1.xml"/>
</Relationships>
</file>

<file path=ppt/notesSlides/_rels/notesSlide133.xml.rels><?xml version="1.0" encoding="UTF-8"?>
<Relationships xmlns="http://schemas.openxmlformats.org/package/2006/relationships"><Relationship Id="rId1" Type="http://schemas.openxmlformats.org/officeDocument/2006/relationships/slide" Target="../slides/slide133.xml"/><Relationship Id="rId2" Type="http://schemas.openxmlformats.org/officeDocument/2006/relationships/notesMaster" Target="../notesMasters/notesMaster1.xml"/>
</Relationships>
</file>

<file path=ppt/notesSlides/_rels/notesSlide134.xml.rels><?xml version="1.0" encoding="UTF-8"?>
<Relationships xmlns="http://schemas.openxmlformats.org/package/2006/relationships"><Relationship Id="rId1" Type="http://schemas.openxmlformats.org/officeDocument/2006/relationships/slide" Target="../slides/slide134.xml"/><Relationship Id="rId2" Type="http://schemas.openxmlformats.org/officeDocument/2006/relationships/notesMaster" Target="../notesMasters/notesMaster1.xml"/>
</Relationships>
</file>

<file path=ppt/notesSlides/_rels/notesSlide135.xml.rels><?xml version="1.0" encoding="UTF-8"?>
<Relationships xmlns="http://schemas.openxmlformats.org/package/2006/relationships"><Relationship Id="rId1" Type="http://schemas.openxmlformats.org/officeDocument/2006/relationships/slide" Target="../slides/slide135.xml"/><Relationship Id="rId2" Type="http://schemas.openxmlformats.org/officeDocument/2006/relationships/notesMaster" Target="../notesMasters/notesMaster1.xml"/>
</Relationships>
</file>

<file path=ppt/notesSlides/_rels/notesSlide136.xml.rels><?xml version="1.0" encoding="UTF-8"?>
<Relationships xmlns="http://schemas.openxmlformats.org/package/2006/relationships"><Relationship Id="rId1" Type="http://schemas.openxmlformats.org/officeDocument/2006/relationships/slide" Target="../slides/slide136.xml"/><Relationship Id="rId2" Type="http://schemas.openxmlformats.org/officeDocument/2006/relationships/notesMaster" Target="../notesMasters/notesMaster1.xml"/>
</Relationships>
</file>

<file path=ppt/notesSlides/_rels/notesSlide137.xml.rels><?xml version="1.0" encoding="UTF-8"?>
<Relationships xmlns="http://schemas.openxmlformats.org/package/2006/relationships"><Relationship Id="rId1" Type="http://schemas.openxmlformats.org/officeDocument/2006/relationships/slide" Target="../slides/slide137.xml"/><Relationship Id="rId2" Type="http://schemas.openxmlformats.org/officeDocument/2006/relationships/notesMaster" Target="../notesMasters/notesMaster1.xml"/>
</Relationships>
</file>

<file path=ppt/notesSlides/_rels/notesSlide138.xml.rels><?xml version="1.0" encoding="UTF-8"?>
<Relationships xmlns="http://schemas.openxmlformats.org/package/2006/relationships"><Relationship Id="rId1" Type="http://schemas.openxmlformats.org/officeDocument/2006/relationships/slide" Target="../slides/slide138.xml"/><Relationship Id="rId2" Type="http://schemas.openxmlformats.org/officeDocument/2006/relationships/notesMaster" Target="../notesMasters/notesMaster1.xml"/>
</Relationships>
</file>

<file path=ppt/notesSlides/_rels/notesSlide139.xml.rels><?xml version="1.0" encoding="UTF-8"?>
<Relationships xmlns="http://schemas.openxmlformats.org/package/2006/relationships"><Relationship Id="rId1" Type="http://schemas.openxmlformats.org/officeDocument/2006/relationships/slide" Target="../slides/slide139.xml"/><Relationship Id="rId2" Type="http://schemas.openxmlformats.org/officeDocument/2006/relationships/notesMaster" Target="../notesMasters/notesMaster1.xml"/>
</Relationships>
</file>

<file path=ppt/notesSlides/_rels/notesSlide140.xml.rels><?xml version="1.0" encoding="UTF-8"?>
<Relationships xmlns="http://schemas.openxmlformats.org/package/2006/relationships"><Relationship Id="rId1" Type="http://schemas.openxmlformats.org/officeDocument/2006/relationships/slide" Target="../slides/slide140.xml"/><Relationship Id="rId2" Type="http://schemas.openxmlformats.org/officeDocument/2006/relationships/notesMaster" Target="../notesMasters/notesMaster1.xml"/>
</Relationships>
</file>

<file path=ppt/notesSlides/_rels/notesSlide141.xml.rels><?xml version="1.0" encoding="UTF-8"?>
<Relationships xmlns="http://schemas.openxmlformats.org/package/2006/relationships"><Relationship Id="rId1" Type="http://schemas.openxmlformats.org/officeDocument/2006/relationships/slide" Target="../slides/slide141.xml"/><Relationship Id="rId2" Type="http://schemas.openxmlformats.org/officeDocument/2006/relationships/notesMaster" Target="../notesMasters/notesMaster1.xml"/>
</Relationships>
</file>

<file path=ppt/notesSlides/_rels/notesSlide142.xml.rels><?xml version="1.0" encoding="UTF-8"?>
<Relationships xmlns="http://schemas.openxmlformats.org/package/2006/relationships"><Relationship Id="rId1" Type="http://schemas.openxmlformats.org/officeDocument/2006/relationships/slide" Target="../slides/slide142.xml"/><Relationship Id="rId2" Type="http://schemas.openxmlformats.org/officeDocument/2006/relationships/notesMaster" Target="../notesMasters/notesMaster1.xml"/>
</Relationships>
</file>

<file path=ppt/notesSlides/_rels/notesSlide143.xml.rels><?xml version="1.0" encoding="UTF-8"?>
<Relationships xmlns="http://schemas.openxmlformats.org/package/2006/relationships"><Relationship Id="rId1" Type="http://schemas.openxmlformats.org/officeDocument/2006/relationships/slide" Target="../slides/slide143.xml"/><Relationship Id="rId2" Type="http://schemas.openxmlformats.org/officeDocument/2006/relationships/notesMaster" Target="../notesMasters/notesMaster1.xml"/>
</Relationships>
</file>

<file path=ppt/notesSlides/_rels/notesSlide144.xml.rels><?xml version="1.0" encoding="UTF-8"?>
<Relationships xmlns="http://schemas.openxmlformats.org/package/2006/relationships"><Relationship Id="rId1" Type="http://schemas.openxmlformats.org/officeDocument/2006/relationships/slide" Target="../slides/slide144.xml"/><Relationship Id="rId2" Type="http://schemas.openxmlformats.org/officeDocument/2006/relationships/notesMaster" Target="../notesMasters/notesMaster1.xml"/>
</Relationships>
</file>

<file path=ppt/notesSlides/_rels/notesSlide145.xml.rels><?xml version="1.0" encoding="UTF-8"?>
<Relationships xmlns="http://schemas.openxmlformats.org/package/2006/relationships"><Relationship Id="rId1" Type="http://schemas.openxmlformats.org/officeDocument/2006/relationships/slide" Target="../slides/slide145.xml"/><Relationship Id="rId2" Type="http://schemas.openxmlformats.org/officeDocument/2006/relationships/notesMaster" Target="../notesMasters/notesMaster1.xml"/>
</Relationships>
</file>

<file path=ppt/notesSlides/_rels/notesSlide146.xml.rels><?xml version="1.0" encoding="UTF-8"?>
<Relationships xmlns="http://schemas.openxmlformats.org/package/2006/relationships"><Relationship Id="rId1" Type="http://schemas.openxmlformats.org/officeDocument/2006/relationships/slide" Target="../slides/slide146.xml"/><Relationship Id="rId2" Type="http://schemas.openxmlformats.org/officeDocument/2006/relationships/notesMaster" Target="../notesMasters/notesMaster1.xml"/>
</Relationships>
</file>

<file path=ppt/notesSlides/_rels/notesSlide147.xml.rels><?xml version="1.0" encoding="UTF-8"?>
<Relationships xmlns="http://schemas.openxmlformats.org/package/2006/relationships"><Relationship Id="rId1" Type="http://schemas.openxmlformats.org/officeDocument/2006/relationships/slide" Target="../slides/slide147.xml"/><Relationship Id="rId2" Type="http://schemas.openxmlformats.org/officeDocument/2006/relationships/notesMaster" Target="../notesMasters/notesMaster1.xml"/>
</Relationships>
</file>

<file path=ppt/notesSlides/_rels/notesSlide148.xml.rels><?xml version="1.0" encoding="UTF-8"?>
<Relationships xmlns="http://schemas.openxmlformats.org/package/2006/relationships"><Relationship Id="rId1" Type="http://schemas.openxmlformats.org/officeDocument/2006/relationships/slide" Target="../slides/slide148.xml"/><Relationship Id="rId2" Type="http://schemas.openxmlformats.org/officeDocument/2006/relationships/notesMaster" Target="../notesMasters/notesMaster1.xml"/>
</Relationships>
</file>

<file path=ppt/notesSlides/_rels/notesSlide149.xml.rels><?xml version="1.0" encoding="UTF-8"?>
<Relationships xmlns="http://schemas.openxmlformats.org/package/2006/relationships"><Relationship Id="rId1" Type="http://schemas.openxmlformats.org/officeDocument/2006/relationships/slide" Target="../slides/slide149.xml"/><Relationship Id="rId2" Type="http://schemas.openxmlformats.org/officeDocument/2006/relationships/notesMaster" Target="../notesMasters/notesMaster1.xml"/>
</Relationships>
</file>

<file path=ppt/notesSlides/_rels/notesSlide150.xml.rels><?xml version="1.0" encoding="UTF-8"?>
<Relationships xmlns="http://schemas.openxmlformats.org/package/2006/relationships"><Relationship Id="rId1" Type="http://schemas.openxmlformats.org/officeDocument/2006/relationships/slide" Target="../slides/slide150.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86" name="PlaceHolder 1"/>
          <p:cNvSpPr>
            <a:spLocks noGrp="1"/>
          </p:cNvSpPr>
          <p:nvPr>
            <p:ph type="sldImg"/>
          </p:nvPr>
        </p:nvSpPr>
        <p:spPr>
          <a:xfrm>
            <a:off x="685800" y="1143000"/>
            <a:ext cx="5486040" cy="3085920"/>
          </a:xfrm>
          <a:prstGeom prst="rect">
            <a:avLst/>
          </a:prstGeom>
          <a:ln w="0">
            <a:noFill/>
          </a:ln>
        </p:spPr>
      </p:sp>
      <p:sp>
        <p:nvSpPr>
          <p:cNvPr id="588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888" name="PlaceHolder 3"/>
          <p:cNvSpPr>
            <a:spLocks noGrp="1"/>
          </p:cNvSpPr>
          <p:nvPr>
            <p:ph type="sldNum" idx="13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F7288387-FDB0-4590-9EFA-A4D5AF9E844A}"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89" name="PlaceHolder 1"/>
          <p:cNvSpPr>
            <a:spLocks noGrp="1"/>
          </p:cNvSpPr>
          <p:nvPr>
            <p:ph type="sldImg"/>
          </p:nvPr>
        </p:nvSpPr>
        <p:spPr>
          <a:xfrm>
            <a:off x="685800" y="1143000"/>
            <a:ext cx="5486040" cy="3085920"/>
          </a:xfrm>
          <a:prstGeom prst="rect">
            <a:avLst/>
          </a:prstGeom>
          <a:ln w="0">
            <a:noFill/>
          </a:ln>
        </p:spPr>
      </p:sp>
      <p:sp>
        <p:nvSpPr>
          <p:cNvPr id="589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891" name="PlaceHolder 3"/>
          <p:cNvSpPr>
            <a:spLocks noGrp="1"/>
          </p:cNvSpPr>
          <p:nvPr>
            <p:ph type="sldNum" idx="13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506ABA6F-4C6A-474D-8197-0094F0CEAED6}"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92" name="PlaceHolder 1"/>
          <p:cNvSpPr>
            <a:spLocks noGrp="1"/>
          </p:cNvSpPr>
          <p:nvPr>
            <p:ph type="sldImg"/>
          </p:nvPr>
        </p:nvSpPr>
        <p:spPr>
          <a:xfrm>
            <a:off x="685800" y="1143000"/>
            <a:ext cx="5486040" cy="3085920"/>
          </a:xfrm>
          <a:prstGeom prst="rect">
            <a:avLst/>
          </a:prstGeom>
          <a:ln w="0">
            <a:noFill/>
          </a:ln>
        </p:spPr>
      </p:sp>
      <p:sp>
        <p:nvSpPr>
          <p:cNvPr id="589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894" name="PlaceHolder 3"/>
          <p:cNvSpPr>
            <a:spLocks noGrp="1"/>
          </p:cNvSpPr>
          <p:nvPr>
            <p:ph type="sldNum" idx="13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3175A35D-A2C0-4228-B73F-7763611F106C}"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95" name="PlaceHolder 1"/>
          <p:cNvSpPr>
            <a:spLocks noGrp="1"/>
          </p:cNvSpPr>
          <p:nvPr>
            <p:ph type="sldImg"/>
          </p:nvPr>
        </p:nvSpPr>
        <p:spPr>
          <a:xfrm>
            <a:off x="685800" y="1143000"/>
            <a:ext cx="5486040" cy="3085920"/>
          </a:xfrm>
          <a:prstGeom prst="rect">
            <a:avLst/>
          </a:prstGeom>
          <a:ln w="0">
            <a:noFill/>
          </a:ln>
        </p:spPr>
      </p:sp>
      <p:sp>
        <p:nvSpPr>
          <p:cNvPr id="589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897" name="PlaceHolder 3"/>
          <p:cNvSpPr>
            <a:spLocks noGrp="1"/>
          </p:cNvSpPr>
          <p:nvPr>
            <p:ph type="sldNum" idx="13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622A45B3-BDC3-45ED-BAE6-7858B0266723}"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98" name="PlaceHolder 1"/>
          <p:cNvSpPr>
            <a:spLocks noGrp="1"/>
          </p:cNvSpPr>
          <p:nvPr>
            <p:ph type="sldImg"/>
          </p:nvPr>
        </p:nvSpPr>
        <p:spPr>
          <a:xfrm>
            <a:off x="685800" y="1143000"/>
            <a:ext cx="5486040" cy="3085920"/>
          </a:xfrm>
          <a:prstGeom prst="rect">
            <a:avLst/>
          </a:prstGeom>
          <a:ln w="0">
            <a:noFill/>
          </a:ln>
        </p:spPr>
      </p:sp>
      <p:sp>
        <p:nvSpPr>
          <p:cNvPr id="589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00" name="PlaceHolder 3"/>
          <p:cNvSpPr>
            <a:spLocks noGrp="1"/>
          </p:cNvSpPr>
          <p:nvPr>
            <p:ph type="sldNum" idx="13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313AD077-F275-47B6-A777-801A5E9407AB}"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01" name="PlaceHolder 1"/>
          <p:cNvSpPr>
            <a:spLocks noGrp="1"/>
          </p:cNvSpPr>
          <p:nvPr>
            <p:ph type="sldImg"/>
          </p:nvPr>
        </p:nvSpPr>
        <p:spPr>
          <a:xfrm>
            <a:off x="685800" y="1143000"/>
            <a:ext cx="5486040" cy="3085920"/>
          </a:xfrm>
          <a:prstGeom prst="rect">
            <a:avLst/>
          </a:prstGeom>
          <a:ln w="0">
            <a:noFill/>
          </a:ln>
        </p:spPr>
      </p:sp>
      <p:sp>
        <p:nvSpPr>
          <p:cNvPr id="590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03" name="PlaceHolder 3"/>
          <p:cNvSpPr>
            <a:spLocks noGrp="1"/>
          </p:cNvSpPr>
          <p:nvPr>
            <p:ph type="sldNum" idx="14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E2FD4F72-CA02-4FEB-86E3-B4DDC7932F7E}"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04" name="PlaceHolder 1"/>
          <p:cNvSpPr>
            <a:spLocks noGrp="1"/>
          </p:cNvSpPr>
          <p:nvPr>
            <p:ph type="sldImg"/>
          </p:nvPr>
        </p:nvSpPr>
        <p:spPr>
          <a:xfrm>
            <a:off x="685800" y="1143000"/>
            <a:ext cx="5486040" cy="3085920"/>
          </a:xfrm>
          <a:prstGeom prst="rect">
            <a:avLst/>
          </a:prstGeom>
          <a:ln w="0">
            <a:noFill/>
          </a:ln>
        </p:spPr>
      </p:sp>
      <p:sp>
        <p:nvSpPr>
          <p:cNvPr id="590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06" name="PlaceHolder 3"/>
          <p:cNvSpPr>
            <a:spLocks noGrp="1"/>
          </p:cNvSpPr>
          <p:nvPr>
            <p:ph type="sldNum" idx="14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2BE8EB69-B31D-46EC-AF73-EE032B10AAA8}"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07" name="PlaceHolder 1"/>
          <p:cNvSpPr>
            <a:spLocks noGrp="1"/>
          </p:cNvSpPr>
          <p:nvPr>
            <p:ph type="sldImg"/>
          </p:nvPr>
        </p:nvSpPr>
        <p:spPr>
          <a:xfrm>
            <a:off x="685800" y="1143000"/>
            <a:ext cx="5486040" cy="3085920"/>
          </a:xfrm>
          <a:prstGeom prst="rect">
            <a:avLst/>
          </a:prstGeom>
          <a:ln w="0">
            <a:noFill/>
          </a:ln>
        </p:spPr>
      </p:sp>
      <p:sp>
        <p:nvSpPr>
          <p:cNvPr id="590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09" name="PlaceHolder 3"/>
          <p:cNvSpPr>
            <a:spLocks noGrp="1"/>
          </p:cNvSpPr>
          <p:nvPr>
            <p:ph type="sldNum" idx="14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4FA85BE5-97F7-45B3-A830-331DAD18DC65}"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10" name="PlaceHolder 1"/>
          <p:cNvSpPr>
            <a:spLocks noGrp="1"/>
          </p:cNvSpPr>
          <p:nvPr>
            <p:ph type="sldImg"/>
          </p:nvPr>
        </p:nvSpPr>
        <p:spPr>
          <a:xfrm>
            <a:off x="685800" y="1143000"/>
            <a:ext cx="5486040" cy="3085920"/>
          </a:xfrm>
          <a:prstGeom prst="rect">
            <a:avLst/>
          </a:prstGeom>
          <a:ln w="0">
            <a:noFill/>
          </a:ln>
        </p:spPr>
      </p:sp>
      <p:sp>
        <p:nvSpPr>
          <p:cNvPr id="591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12" name="PlaceHolder 3"/>
          <p:cNvSpPr>
            <a:spLocks noGrp="1"/>
          </p:cNvSpPr>
          <p:nvPr>
            <p:ph type="sldNum" idx="14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D49BA980-33E5-43BB-B17E-EE95B44FA134}"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13" name="PlaceHolder 1"/>
          <p:cNvSpPr>
            <a:spLocks noGrp="1"/>
          </p:cNvSpPr>
          <p:nvPr>
            <p:ph type="sldImg"/>
          </p:nvPr>
        </p:nvSpPr>
        <p:spPr>
          <a:xfrm>
            <a:off x="685800" y="1143000"/>
            <a:ext cx="5486040" cy="3085920"/>
          </a:xfrm>
          <a:prstGeom prst="rect">
            <a:avLst/>
          </a:prstGeom>
          <a:ln w="0">
            <a:noFill/>
          </a:ln>
        </p:spPr>
      </p:sp>
      <p:sp>
        <p:nvSpPr>
          <p:cNvPr id="591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15" name="PlaceHolder 3"/>
          <p:cNvSpPr>
            <a:spLocks noGrp="1"/>
          </p:cNvSpPr>
          <p:nvPr>
            <p:ph type="sldNum" idx="14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893E807F-E186-4AB4-A58D-6E54ADE38BD5}"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16" name="PlaceHolder 1"/>
          <p:cNvSpPr>
            <a:spLocks noGrp="1"/>
          </p:cNvSpPr>
          <p:nvPr>
            <p:ph type="sldImg"/>
          </p:nvPr>
        </p:nvSpPr>
        <p:spPr>
          <a:xfrm>
            <a:off x="685800" y="1143000"/>
            <a:ext cx="5486040" cy="3085920"/>
          </a:xfrm>
          <a:prstGeom prst="rect">
            <a:avLst/>
          </a:prstGeom>
          <a:ln w="0">
            <a:noFill/>
          </a:ln>
        </p:spPr>
      </p:sp>
      <p:sp>
        <p:nvSpPr>
          <p:cNvPr id="591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18" name="PlaceHolder 3"/>
          <p:cNvSpPr>
            <a:spLocks noGrp="1"/>
          </p:cNvSpPr>
          <p:nvPr>
            <p:ph type="sldNum" idx="14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5A0EAC5D-5CBD-4024-8EC1-ED9D76E95EAB}"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19" name="PlaceHolder 1"/>
          <p:cNvSpPr>
            <a:spLocks noGrp="1"/>
          </p:cNvSpPr>
          <p:nvPr>
            <p:ph type="sldImg"/>
          </p:nvPr>
        </p:nvSpPr>
        <p:spPr>
          <a:xfrm>
            <a:off x="685800" y="1143000"/>
            <a:ext cx="5486040" cy="3085920"/>
          </a:xfrm>
          <a:prstGeom prst="rect">
            <a:avLst/>
          </a:prstGeom>
          <a:ln w="0">
            <a:noFill/>
          </a:ln>
        </p:spPr>
      </p:sp>
      <p:sp>
        <p:nvSpPr>
          <p:cNvPr id="592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21" name="PlaceHolder 3"/>
          <p:cNvSpPr>
            <a:spLocks noGrp="1"/>
          </p:cNvSpPr>
          <p:nvPr>
            <p:ph type="sldNum" idx="14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B273CAF1-F8C9-4728-B488-57A576457671}"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22" name="PlaceHolder 1"/>
          <p:cNvSpPr>
            <a:spLocks noGrp="1"/>
          </p:cNvSpPr>
          <p:nvPr>
            <p:ph type="sldImg"/>
          </p:nvPr>
        </p:nvSpPr>
        <p:spPr>
          <a:xfrm>
            <a:off x="685800" y="1143000"/>
            <a:ext cx="5486040" cy="3085920"/>
          </a:xfrm>
          <a:prstGeom prst="rect">
            <a:avLst/>
          </a:prstGeom>
          <a:ln w="0">
            <a:noFill/>
          </a:ln>
        </p:spPr>
      </p:sp>
      <p:sp>
        <p:nvSpPr>
          <p:cNvPr id="592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24" name="PlaceHolder 3"/>
          <p:cNvSpPr>
            <a:spLocks noGrp="1"/>
          </p:cNvSpPr>
          <p:nvPr>
            <p:ph type="sldNum" idx="14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0270E12E-5665-4C5C-BE7F-D2EB26AB3E40}"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25" name="PlaceHolder 1"/>
          <p:cNvSpPr>
            <a:spLocks noGrp="1"/>
          </p:cNvSpPr>
          <p:nvPr>
            <p:ph type="sldImg"/>
          </p:nvPr>
        </p:nvSpPr>
        <p:spPr>
          <a:xfrm>
            <a:off x="685800" y="1143000"/>
            <a:ext cx="5486040" cy="3085920"/>
          </a:xfrm>
          <a:prstGeom prst="rect">
            <a:avLst/>
          </a:prstGeom>
          <a:ln w="0">
            <a:noFill/>
          </a:ln>
        </p:spPr>
      </p:sp>
      <p:sp>
        <p:nvSpPr>
          <p:cNvPr id="592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27" name="PlaceHolder 3"/>
          <p:cNvSpPr>
            <a:spLocks noGrp="1"/>
          </p:cNvSpPr>
          <p:nvPr>
            <p:ph type="sldNum" idx="14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031DE112-6FC9-4723-AC3F-A0D81ED4DCB3}"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28" name="PlaceHolder 1"/>
          <p:cNvSpPr>
            <a:spLocks noGrp="1"/>
          </p:cNvSpPr>
          <p:nvPr>
            <p:ph type="sldImg"/>
          </p:nvPr>
        </p:nvSpPr>
        <p:spPr>
          <a:xfrm>
            <a:off x="685800" y="1143000"/>
            <a:ext cx="5486040" cy="3085920"/>
          </a:xfrm>
          <a:prstGeom prst="rect">
            <a:avLst/>
          </a:prstGeom>
          <a:ln w="0">
            <a:noFill/>
          </a:ln>
        </p:spPr>
      </p:sp>
      <p:sp>
        <p:nvSpPr>
          <p:cNvPr id="592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30" name="PlaceHolder 3"/>
          <p:cNvSpPr>
            <a:spLocks noGrp="1"/>
          </p:cNvSpPr>
          <p:nvPr>
            <p:ph type="sldNum" idx="14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09671A7B-F838-4200-81E1-40D31EBCF361}"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31" name="PlaceHolder 1"/>
          <p:cNvSpPr>
            <a:spLocks noGrp="1"/>
          </p:cNvSpPr>
          <p:nvPr>
            <p:ph type="sldImg"/>
          </p:nvPr>
        </p:nvSpPr>
        <p:spPr>
          <a:xfrm>
            <a:off x="685800" y="1143000"/>
            <a:ext cx="5486040" cy="3085920"/>
          </a:xfrm>
          <a:prstGeom prst="rect">
            <a:avLst/>
          </a:prstGeom>
          <a:ln w="0">
            <a:noFill/>
          </a:ln>
        </p:spPr>
      </p:sp>
      <p:sp>
        <p:nvSpPr>
          <p:cNvPr id="593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33" name="PlaceHolder 3"/>
          <p:cNvSpPr>
            <a:spLocks noGrp="1"/>
          </p:cNvSpPr>
          <p:nvPr>
            <p:ph type="sldNum" idx="15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A3F3A59A-F08F-4B2D-B14A-A8FE83CE40DC}"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34" name="PlaceHolder 1"/>
          <p:cNvSpPr>
            <a:spLocks noGrp="1"/>
          </p:cNvSpPr>
          <p:nvPr>
            <p:ph type="sldImg"/>
          </p:nvPr>
        </p:nvSpPr>
        <p:spPr>
          <a:xfrm>
            <a:off x="685800" y="1143000"/>
            <a:ext cx="5486040" cy="3085920"/>
          </a:xfrm>
          <a:prstGeom prst="rect">
            <a:avLst/>
          </a:prstGeom>
          <a:ln w="0">
            <a:noFill/>
          </a:ln>
        </p:spPr>
      </p:sp>
      <p:sp>
        <p:nvSpPr>
          <p:cNvPr id="593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36" name="PlaceHolder 3"/>
          <p:cNvSpPr>
            <a:spLocks noGrp="1"/>
          </p:cNvSpPr>
          <p:nvPr>
            <p:ph type="sldNum" idx="15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1CBAE421-9885-4D86-A47F-417AB482BEBB}"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37" name="PlaceHolder 1"/>
          <p:cNvSpPr>
            <a:spLocks noGrp="1"/>
          </p:cNvSpPr>
          <p:nvPr>
            <p:ph type="sldImg"/>
          </p:nvPr>
        </p:nvSpPr>
        <p:spPr>
          <a:xfrm>
            <a:off x="685800" y="1143000"/>
            <a:ext cx="5486040" cy="3085920"/>
          </a:xfrm>
          <a:prstGeom prst="rect">
            <a:avLst/>
          </a:prstGeom>
          <a:ln w="0">
            <a:noFill/>
          </a:ln>
        </p:spPr>
      </p:sp>
      <p:sp>
        <p:nvSpPr>
          <p:cNvPr id="593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39" name="PlaceHolder 3"/>
          <p:cNvSpPr>
            <a:spLocks noGrp="1"/>
          </p:cNvSpPr>
          <p:nvPr>
            <p:ph type="sldNum" idx="15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6D4FF81A-4312-4201-92F2-3B694547E85F}"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40" name="PlaceHolder 1"/>
          <p:cNvSpPr>
            <a:spLocks noGrp="1"/>
          </p:cNvSpPr>
          <p:nvPr>
            <p:ph type="sldImg"/>
          </p:nvPr>
        </p:nvSpPr>
        <p:spPr>
          <a:xfrm>
            <a:off x="685800" y="1143000"/>
            <a:ext cx="5486040" cy="3085920"/>
          </a:xfrm>
          <a:prstGeom prst="rect">
            <a:avLst/>
          </a:prstGeom>
          <a:ln w="0">
            <a:noFill/>
          </a:ln>
        </p:spPr>
      </p:sp>
      <p:sp>
        <p:nvSpPr>
          <p:cNvPr id="594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42" name="PlaceHolder 3"/>
          <p:cNvSpPr>
            <a:spLocks noGrp="1"/>
          </p:cNvSpPr>
          <p:nvPr>
            <p:ph type="sldNum" idx="15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9D1EDA4A-C4DC-42F8-9595-CF0BD15B7175}"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43" name="PlaceHolder 1"/>
          <p:cNvSpPr>
            <a:spLocks noGrp="1"/>
          </p:cNvSpPr>
          <p:nvPr>
            <p:ph type="sldImg"/>
          </p:nvPr>
        </p:nvSpPr>
        <p:spPr>
          <a:xfrm>
            <a:off x="685800" y="1143000"/>
            <a:ext cx="5486040" cy="3085920"/>
          </a:xfrm>
          <a:prstGeom prst="rect">
            <a:avLst/>
          </a:prstGeom>
          <a:ln w="0">
            <a:noFill/>
          </a:ln>
        </p:spPr>
      </p:sp>
      <p:sp>
        <p:nvSpPr>
          <p:cNvPr id="594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45" name="PlaceHolder 3"/>
          <p:cNvSpPr>
            <a:spLocks noGrp="1"/>
          </p:cNvSpPr>
          <p:nvPr>
            <p:ph type="sldNum" idx="15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02CA8FE4-818D-41AF-9341-354D7B89C112}"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46" name="PlaceHolder 1"/>
          <p:cNvSpPr>
            <a:spLocks noGrp="1"/>
          </p:cNvSpPr>
          <p:nvPr>
            <p:ph type="sldImg"/>
          </p:nvPr>
        </p:nvSpPr>
        <p:spPr>
          <a:xfrm>
            <a:off x="685800" y="1143000"/>
            <a:ext cx="5486040" cy="3085920"/>
          </a:xfrm>
          <a:prstGeom prst="rect">
            <a:avLst/>
          </a:prstGeom>
          <a:ln w="0">
            <a:noFill/>
          </a:ln>
        </p:spPr>
      </p:sp>
      <p:sp>
        <p:nvSpPr>
          <p:cNvPr id="594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48" name="PlaceHolder 3"/>
          <p:cNvSpPr>
            <a:spLocks noGrp="1"/>
          </p:cNvSpPr>
          <p:nvPr>
            <p:ph type="sldNum" idx="15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F9D3D05B-9A45-474A-9375-C7FAEF252910}"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49" name="PlaceHolder 1"/>
          <p:cNvSpPr>
            <a:spLocks noGrp="1"/>
          </p:cNvSpPr>
          <p:nvPr>
            <p:ph type="sldImg"/>
          </p:nvPr>
        </p:nvSpPr>
        <p:spPr>
          <a:xfrm>
            <a:off x="685800" y="1143000"/>
            <a:ext cx="5486040" cy="3085920"/>
          </a:xfrm>
          <a:prstGeom prst="rect">
            <a:avLst/>
          </a:prstGeom>
          <a:ln w="0">
            <a:noFill/>
          </a:ln>
        </p:spPr>
      </p:sp>
      <p:sp>
        <p:nvSpPr>
          <p:cNvPr id="595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51" name="PlaceHolder 3"/>
          <p:cNvSpPr>
            <a:spLocks noGrp="1"/>
          </p:cNvSpPr>
          <p:nvPr>
            <p:ph type="sldNum" idx="15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173ABDFC-67B6-4676-9389-21BC1FA177FC}"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52" name="PlaceHolder 1"/>
          <p:cNvSpPr>
            <a:spLocks noGrp="1"/>
          </p:cNvSpPr>
          <p:nvPr>
            <p:ph type="sldImg"/>
          </p:nvPr>
        </p:nvSpPr>
        <p:spPr>
          <a:xfrm>
            <a:off x="685800" y="1143000"/>
            <a:ext cx="5486040" cy="3085920"/>
          </a:xfrm>
          <a:prstGeom prst="rect">
            <a:avLst/>
          </a:prstGeom>
          <a:ln w="0">
            <a:noFill/>
          </a:ln>
        </p:spPr>
      </p:sp>
      <p:sp>
        <p:nvSpPr>
          <p:cNvPr id="595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54" name="PlaceHolder 3"/>
          <p:cNvSpPr>
            <a:spLocks noGrp="1"/>
          </p:cNvSpPr>
          <p:nvPr>
            <p:ph type="sldNum" idx="15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D8050495-7C0C-4A88-A60D-731B89B714EE}"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55" name="PlaceHolder 1"/>
          <p:cNvSpPr>
            <a:spLocks noGrp="1"/>
          </p:cNvSpPr>
          <p:nvPr>
            <p:ph type="sldImg"/>
          </p:nvPr>
        </p:nvSpPr>
        <p:spPr>
          <a:xfrm>
            <a:off x="685800" y="1143000"/>
            <a:ext cx="5486040" cy="3085920"/>
          </a:xfrm>
          <a:prstGeom prst="rect">
            <a:avLst/>
          </a:prstGeom>
          <a:ln w="0">
            <a:noFill/>
          </a:ln>
        </p:spPr>
      </p:sp>
      <p:sp>
        <p:nvSpPr>
          <p:cNvPr id="595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57" name="PlaceHolder 3"/>
          <p:cNvSpPr>
            <a:spLocks noGrp="1"/>
          </p:cNvSpPr>
          <p:nvPr>
            <p:ph type="sldNum" idx="15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F8469B7B-29AA-42C8-A8BA-373F8B75F700}"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58" name="PlaceHolder 1"/>
          <p:cNvSpPr>
            <a:spLocks noGrp="1"/>
          </p:cNvSpPr>
          <p:nvPr>
            <p:ph type="sldImg"/>
          </p:nvPr>
        </p:nvSpPr>
        <p:spPr>
          <a:xfrm>
            <a:off x="685800" y="1143000"/>
            <a:ext cx="5486040" cy="3085920"/>
          </a:xfrm>
          <a:prstGeom prst="rect">
            <a:avLst/>
          </a:prstGeom>
          <a:ln w="0">
            <a:noFill/>
          </a:ln>
        </p:spPr>
      </p:sp>
      <p:sp>
        <p:nvSpPr>
          <p:cNvPr id="595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60" name="PlaceHolder 3"/>
          <p:cNvSpPr>
            <a:spLocks noGrp="1"/>
          </p:cNvSpPr>
          <p:nvPr>
            <p:ph type="sldNum" idx="15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1DEEE43D-5AFA-42AF-9568-76C36E35C9B2}"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61" name="PlaceHolder 1"/>
          <p:cNvSpPr>
            <a:spLocks noGrp="1"/>
          </p:cNvSpPr>
          <p:nvPr>
            <p:ph type="sldImg"/>
          </p:nvPr>
        </p:nvSpPr>
        <p:spPr>
          <a:xfrm>
            <a:off x="685800" y="1143000"/>
            <a:ext cx="5486040" cy="3085920"/>
          </a:xfrm>
          <a:prstGeom prst="rect">
            <a:avLst/>
          </a:prstGeom>
          <a:ln w="0">
            <a:noFill/>
          </a:ln>
        </p:spPr>
      </p:sp>
      <p:sp>
        <p:nvSpPr>
          <p:cNvPr id="596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63" name="PlaceHolder 3"/>
          <p:cNvSpPr>
            <a:spLocks noGrp="1"/>
          </p:cNvSpPr>
          <p:nvPr>
            <p:ph type="sldNum" idx="16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79C99E66-A007-491D-AAA7-BB519401EA26}"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64" name="PlaceHolder 1"/>
          <p:cNvSpPr>
            <a:spLocks noGrp="1"/>
          </p:cNvSpPr>
          <p:nvPr>
            <p:ph type="sldImg"/>
          </p:nvPr>
        </p:nvSpPr>
        <p:spPr>
          <a:xfrm>
            <a:off x="685800" y="1143000"/>
            <a:ext cx="5486040" cy="3085920"/>
          </a:xfrm>
          <a:prstGeom prst="rect">
            <a:avLst/>
          </a:prstGeom>
          <a:ln w="0">
            <a:noFill/>
          </a:ln>
        </p:spPr>
      </p:sp>
      <p:sp>
        <p:nvSpPr>
          <p:cNvPr id="596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66" name="PlaceHolder 3"/>
          <p:cNvSpPr>
            <a:spLocks noGrp="1"/>
          </p:cNvSpPr>
          <p:nvPr>
            <p:ph type="sldNum" idx="16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CB970AAD-989A-4BD4-B68C-51E758C742F5}"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67" name="PlaceHolder 1"/>
          <p:cNvSpPr>
            <a:spLocks noGrp="1"/>
          </p:cNvSpPr>
          <p:nvPr>
            <p:ph type="sldImg"/>
          </p:nvPr>
        </p:nvSpPr>
        <p:spPr>
          <a:xfrm>
            <a:off x="685800" y="1143000"/>
            <a:ext cx="5486040" cy="3085920"/>
          </a:xfrm>
          <a:prstGeom prst="rect">
            <a:avLst/>
          </a:prstGeom>
          <a:ln w="0">
            <a:noFill/>
          </a:ln>
        </p:spPr>
      </p:sp>
      <p:sp>
        <p:nvSpPr>
          <p:cNvPr id="596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69" name="PlaceHolder 3"/>
          <p:cNvSpPr>
            <a:spLocks noGrp="1"/>
          </p:cNvSpPr>
          <p:nvPr>
            <p:ph type="sldNum" idx="16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E87F6A36-F48C-4254-B642-92D9706C9C8B}"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70" name="PlaceHolder 1"/>
          <p:cNvSpPr>
            <a:spLocks noGrp="1"/>
          </p:cNvSpPr>
          <p:nvPr>
            <p:ph type="sldImg"/>
          </p:nvPr>
        </p:nvSpPr>
        <p:spPr>
          <a:xfrm>
            <a:off x="685800" y="1143000"/>
            <a:ext cx="5486040" cy="3085920"/>
          </a:xfrm>
          <a:prstGeom prst="rect">
            <a:avLst/>
          </a:prstGeom>
          <a:ln w="0">
            <a:noFill/>
          </a:ln>
        </p:spPr>
      </p:sp>
      <p:sp>
        <p:nvSpPr>
          <p:cNvPr id="597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72" name="PlaceHolder 3"/>
          <p:cNvSpPr>
            <a:spLocks noGrp="1"/>
          </p:cNvSpPr>
          <p:nvPr>
            <p:ph type="sldNum" idx="16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99435B53-D9F4-4821-BEA3-AD9BC52C5753}"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73" name="PlaceHolder 1"/>
          <p:cNvSpPr>
            <a:spLocks noGrp="1"/>
          </p:cNvSpPr>
          <p:nvPr>
            <p:ph type="sldImg"/>
          </p:nvPr>
        </p:nvSpPr>
        <p:spPr>
          <a:xfrm>
            <a:off x="685800" y="1143000"/>
            <a:ext cx="5486040" cy="3085920"/>
          </a:xfrm>
          <a:prstGeom prst="rect">
            <a:avLst/>
          </a:prstGeom>
          <a:ln w="0">
            <a:noFill/>
          </a:ln>
        </p:spPr>
      </p:sp>
      <p:sp>
        <p:nvSpPr>
          <p:cNvPr id="597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75" name="PlaceHolder 3"/>
          <p:cNvSpPr>
            <a:spLocks noGrp="1"/>
          </p:cNvSpPr>
          <p:nvPr>
            <p:ph type="sldNum" idx="16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846A172C-C2E0-4CEE-95FF-A5A04B813B70}"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76" name="PlaceHolder 1"/>
          <p:cNvSpPr>
            <a:spLocks noGrp="1"/>
          </p:cNvSpPr>
          <p:nvPr>
            <p:ph type="sldImg"/>
          </p:nvPr>
        </p:nvSpPr>
        <p:spPr>
          <a:xfrm>
            <a:off x="685800" y="1143000"/>
            <a:ext cx="5486040" cy="3085920"/>
          </a:xfrm>
          <a:prstGeom prst="rect">
            <a:avLst/>
          </a:prstGeom>
          <a:ln w="0">
            <a:noFill/>
          </a:ln>
        </p:spPr>
      </p:sp>
      <p:sp>
        <p:nvSpPr>
          <p:cNvPr id="597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78" name="PlaceHolder 3"/>
          <p:cNvSpPr>
            <a:spLocks noGrp="1"/>
          </p:cNvSpPr>
          <p:nvPr>
            <p:ph type="sldNum" idx="16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9A0C5896-E693-4654-8194-10EF668AE57C}"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79" name="PlaceHolder 1"/>
          <p:cNvSpPr>
            <a:spLocks noGrp="1"/>
          </p:cNvSpPr>
          <p:nvPr>
            <p:ph type="sldImg"/>
          </p:nvPr>
        </p:nvSpPr>
        <p:spPr>
          <a:xfrm>
            <a:off x="685800" y="1143000"/>
            <a:ext cx="5486040" cy="3085920"/>
          </a:xfrm>
          <a:prstGeom prst="rect">
            <a:avLst/>
          </a:prstGeom>
          <a:ln w="0">
            <a:noFill/>
          </a:ln>
        </p:spPr>
      </p:sp>
      <p:sp>
        <p:nvSpPr>
          <p:cNvPr id="598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81" name="PlaceHolder 3"/>
          <p:cNvSpPr>
            <a:spLocks noGrp="1"/>
          </p:cNvSpPr>
          <p:nvPr>
            <p:ph type="sldNum" idx="16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CFAB4C15-8762-4F06-9F42-DCDA05662743}"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82" name="PlaceHolder 1"/>
          <p:cNvSpPr>
            <a:spLocks noGrp="1"/>
          </p:cNvSpPr>
          <p:nvPr>
            <p:ph type="sldImg"/>
          </p:nvPr>
        </p:nvSpPr>
        <p:spPr>
          <a:xfrm>
            <a:off x="685800" y="1143000"/>
            <a:ext cx="5486040" cy="3085920"/>
          </a:xfrm>
          <a:prstGeom prst="rect">
            <a:avLst/>
          </a:prstGeom>
          <a:ln w="0">
            <a:noFill/>
          </a:ln>
        </p:spPr>
      </p:sp>
      <p:sp>
        <p:nvSpPr>
          <p:cNvPr id="598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84" name="PlaceHolder 3"/>
          <p:cNvSpPr>
            <a:spLocks noGrp="1"/>
          </p:cNvSpPr>
          <p:nvPr>
            <p:ph type="sldNum" idx="16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DFB54819-4848-48EF-8C59-AF3499A5F2B4}"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85" name="PlaceHolder 1"/>
          <p:cNvSpPr>
            <a:spLocks noGrp="1"/>
          </p:cNvSpPr>
          <p:nvPr>
            <p:ph type="sldImg"/>
          </p:nvPr>
        </p:nvSpPr>
        <p:spPr>
          <a:xfrm>
            <a:off x="685800" y="1143000"/>
            <a:ext cx="5486040" cy="3085920"/>
          </a:xfrm>
          <a:prstGeom prst="rect">
            <a:avLst/>
          </a:prstGeom>
          <a:ln w="0">
            <a:noFill/>
          </a:ln>
        </p:spPr>
      </p:sp>
      <p:sp>
        <p:nvSpPr>
          <p:cNvPr id="598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87" name="PlaceHolder 3"/>
          <p:cNvSpPr>
            <a:spLocks noGrp="1"/>
          </p:cNvSpPr>
          <p:nvPr>
            <p:ph type="sldNum" idx="16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BC9D196F-9B3E-479F-AC4C-773CA9A37473}"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88" name="PlaceHolder 1"/>
          <p:cNvSpPr>
            <a:spLocks noGrp="1"/>
          </p:cNvSpPr>
          <p:nvPr>
            <p:ph type="sldImg"/>
          </p:nvPr>
        </p:nvSpPr>
        <p:spPr>
          <a:xfrm>
            <a:off x="685800" y="1143000"/>
            <a:ext cx="5486040" cy="3085920"/>
          </a:xfrm>
          <a:prstGeom prst="rect">
            <a:avLst/>
          </a:prstGeom>
          <a:ln w="0">
            <a:noFill/>
          </a:ln>
        </p:spPr>
      </p:sp>
      <p:sp>
        <p:nvSpPr>
          <p:cNvPr id="598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90" name="PlaceHolder 3"/>
          <p:cNvSpPr>
            <a:spLocks noGrp="1"/>
          </p:cNvSpPr>
          <p:nvPr>
            <p:ph type="sldNum" idx="16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915BCF39-39D3-4C60-875E-72A5214AB37A}"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91" name="PlaceHolder 1"/>
          <p:cNvSpPr>
            <a:spLocks noGrp="1"/>
          </p:cNvSpPr>
          <p:nvPr>
            <p:ph type="sldImg"/>
          </p:nvPr>
        </p:nvSpPr>
        <p:spPr>
          <a:xfrm>
            <a:off x="685800" y="1143000"/>
            <a:ext cx="5486040" cy="3085920"/>
          </a:xfrm>
          <a:prstGeom prst="rect">
            <a:avLst/>
          </a:prstGeom>
          <a:ln w="0">
            <a:noFill/>
          </a:ln>
        </p:spPr>
      </p:sp>
      <p:sp>
        <p:nvSpPr>
          <p:cNvPr id="599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93" name="PlaceHolder 3"/>
          <p:cNvSpPr>
            <a:spLocks noGrp="1"/>
          </p:cNvSpPr>
          <p:nvPr>
            <p:ph type="sldNum" idx="17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A7CDD30A-1FE9-46D9-8E9D-B720012C7E19}"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94" name="PlaceHolder 1"/>
          <p:cNvSpPr>
            <a:spLocks noGrp="1"/>
          </p:cNvSpPr>
          <p:nvPr>
            <p:ph type="sldImg"/>
          </p:nvPr>
        </p:nvSpPr>
        <p:spPr>
          <a:xfrm>
            <a:off x="685800" y="1143000"/>
            <a:ext cx="5486040" cy="3085920"/>
          </a:xfrm>
          <a:prstGeom prst="rect">
            <a:avLst/>
          </a:prstGeom>
          <a:ln w="0">
            <a:noFill/>
          </a:ln>
        </p:spPr>
      </p:sp>
      <p:sp>
        <p:nvSpPr>
          <p:cNvPr id="599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96" name="PlaceHolder 3"/>
          <p:cNvSpPr>
            <a:spLocks noGrp="1"/>
          </p:cNvSpPr>
          <p:nvPr>
            <p:ph type="sldNum" idx="17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31E35D19-AD94-47E3-A052-F4FB9485CE34}"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97" name="PlaceHolder 1"/>
          <p:cNvSpPr>
            <a:spLocks noGrp="1"/>
          </p:cNvSpPr>
          <p:nvPr>
            <p:ph type="sldImg"/>
          </p:nvPr>
        </p:nvSpPr>
        <p:spPr>
          <a:xfrm>
            <a:off x="685800" y="1143000"/>
            <a:ext cx="5486040" cy="3085920"/>
          </a:xfrm>
          <a:prstGeom prst="rect">
            <a:avLst/>
          </a:prstGeom>
          <a:ln w="0">
            <a:noFill/>
          </a:ln>
        </p:spPr>
      </p:sp>
      <p:sp>
        <p:nvSpPr>
          <p:cNvPr id="599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5999" name="PlaceHolder 3"/>
          <p:cNvSpPr>
            <a:spLocks noGrp="1"/>
          </p:cNvSpPr>
          <p:nvPr>
            <p:ph type="sldNum" idx="17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DF65C342-DEBD-411E-A348-8E319F6CB053}"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00" name="PlaceHolder 1"/>
          <p:cNvSpPr>
            <a:spLocks noGrp="1"/>
          </p:cNvSpPr>
          <p:nvPr>
            <p:ph type="sldImg"/>
          </p:nvPr>
        </p:nvSpPr>
        <p:spPr>
          <a:xfrm>
            <a:off x="685800" y="1143000"/>
            <a:ext cx="5486040" cy="3085920"/>
          </a:xfrm>
          <a:prstGeom prst="rect">
            <a:avLst/>
          </a:prstGeom>
          <a:ln w="0">
            <a:noFill/>
          </a:ln>
        </p:spPr>
      </p:sp>
      <p:sp>
        <p:nvSpPr>
          <p:cNvPr id="600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002" name="PlaceHolder 3"/>
          <p:cNvSpPr>
            <a:spLocks noGrp="1"/>
          </p:cNvSpPr>
          <p:nvPr>
            <p:ph type="sldNum" idx="17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595A781F-0753-44CC-B00E-4C6797EFD06B}"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03" name="PlaceHolder 1"/>
          <p:cNvSpPr>
            <a:spLocks noGrp="1"/>
          </p:cNvSpPr>
          <p:nvPr>
            <p:ph type="sldImg"/>
          </p:nvPr>
        </p:nvSpPr>
        <p:spPr>
          <a:xfrm>
            <a:off x="685800" y="1143000"/>
            <a:ext cx="5486040" cy="3085920"/>
          </a:xfrm>
          <a:prstGeom prst="rect">
            <a:avLst/>
          </a:prstGeom>
          <a:ln w="0">
            <a:noFill/>
          </a:ln>
        </p:spPr>
      </p:sp>
      <p:sp>
        <p:nvSpPr>
          <p:cNvPr id="600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005" name="PlaceHolder 3"/>
          <p:cNvSpPr>
            <a:spLocks noGrp="1"/>
          </p:cNvSpPr>
          <p:nvPr>
            <p:ph type="sldNum" idx="17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C72FD7E2-6382-4EDB-AA15-8F6A6ED75FA7}"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06" name="PlaceHolder 1"/>
          <p:cNvSpPr>
            <a:spLocks noGrp="1"/>
          </p:cNvSpPr>
          <p:nvPr>
            <p:ph type="sldImg"/>
          </p:nvPr>
        </p:nvSpPr>
        <p:spPr>
          <a:xfrm>
            <a:off x="685800" y="1143000"/>
            <a:ext cx="5486040" cy="3085920"/>
          </a:xfrm>
          <a:prstGeom prst="rect">
            <a:avLst/>
          </a:prstGeom>
          <a:ln w="0">
            <a:noFill/>
          </a:ln>
        </p:spPr>
      </p:sp>
      <p:sp>
        <p:nvSpPr>
          <p:cNvPr id="600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008" name="PlaceHolder 3"/>
          <p:cNvSpPr>
            <a:spLocks noGrp="1"/>
          </p:cNvSpPr>
          <p:nvPr>
            <p:ph type="sldNum" idx="17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55C95A0F-0531-4F3D-8107-894D2D6D2175}"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09" name="PlaceHolder 1"/>
          <p:cNvSpPr>
            <a:spLocks noGrp="1"/>
          </p:cNvSpPr>
          <p:nvPr>
            <p:ph type="sldImg"/>
          </p:nvPr>
        </p:nvSpPr>
        <p:spPr>
          <a:xfrm>
            <a:off x="685800" y="1143000"/>
            <a:ext cx="5486040" cy="3085920"/>
          </a:xfrm>
          <a:prstGeom prst="rect">
            <a:avLst/>
          </a:prstGeom>
          <a:ln w="0">
            <a:noFill/>
          </a:ln>
        </p:spPr>
      </p:sp>
      <p:sp>
        <p:nvSpPr>
          <p:cNvPr id="601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011" name="PlaceHolder 3"/>
          <p:cNvSpPr>
            <a:spLocks noGrp="1"/>
          </p:cNvSpPr>
          <p:nvPr>
            <p:ph type="sldNum" idx="17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B479CB37-8E86-44DE-831B-F4463005FFDF}"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12" name="PlaceHolder 1"/>
          <p:cNvSpPr>
            <a:spLocks noGrp="1"/>
          </p:cNvSpPr>
          <p:nvPr>
            <p:ph type="sldImg"/>
          </p:nvPr>
        </p:nvSpPr>
        <p:spPr>
          <a:xfrm>
            <a:off x="685800" y="1143000"/>
            <a:ext cx="5486040" cy="3085920"/>
          </a:xfrm>
          <a:prstGeom prst="rect">
            <a:avLst/>
          </a:prstGeom>
          <a:ln w="0">
            <a:noFill/>
          </a:ln>
        </p:spPr>
      </p:sp>
      <p:sp>
        <p:nvSpPr>
          <p:cNvPr id="601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014" name="PlaceHolder 3"/>
          <p:cNvSpPr>
            <a:spLocks noGrp="1"/>
          </p:cNvSpPr>
          <p:nvPr>
            <p:ph type="sldNum" idx="17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40878624-4136-4BA7-A57D-C7C99CC5BE04}"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15" name="PlaceHolder 1"/>
          <p:cNvSpPr>
            <a:spLocks noGrp="1"/>
          </p:cNvSpPr>
          <p:nvPr>
            <p:ph type="sldImg"/>
          </p:nvPr>
        </p:nvSpPr>
        <p:spPr>
          <a:xfrm>
            <a:off x="685800" y="1143000"/>
            <a:ext cx="5486040" cy="3085920"/>
          </a:xfrm>
          <a:prstGeom prst="rect">
            <a:avLst/>
          </a:prstGeom>
          <a:ln w="0">
            <a:noFill/>
          </a:ln>
        </p:spPr>
      </p:sp>
      <p:sp>
        <p:nvSpPr>
          <p:cNvPr id="601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017" name="PlaceHolder 3"/>
          <p:cNvSpPr>
            <a:spLocks noGrp="1"/>
          </p:cNvSpPr>
          <p:nvPr>
            <p:ph type="sldNum" idx="17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F6F1CD01-C11E-46B2-8896-4359CDA211F2}"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18" name="PlaceHolder 1"/>
          <p:cNvSpPr>
            <a:spLocks noGrp="1"/>
          </p:cNvSpPr>
          <p:nvPr>
            <p:ph type="sldImg"/>
          </p:nvPr>
        </p:nvSpPr>
        <p:spPr>
          <a:xfrm>
            <a:off x="685800" y="1143000"/>
            <a:ext cx="5486040" cy="3085920"/>
          </a:xfrm>
          <a:prstGeom prst="rect">
            <a:avLst/>
          </a:prstGeom>
          <a:ln w="0">
            <a:noFill/>
          </a:ln>
        </p:spPr>
      </p:sp>
      <p:sp>
        <p:nvSpPr>
          <p:cNvPr id="601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020" name="PlaceHolder 3"/>
          <p:cNvSpPr>
            <a:spLocks noGrp="1"/>
          </p:cNvSpPr>
          <p:nvPr>
            <p:ph type="sldNum" idx="17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F0CAC4CC-8C85-4FAA-AE18-6E8957C352A6}"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21" name="PlaceHolder 1"/>
          <p:cNvSpPr>
            <a:spLocks noGrp="1"/>
          </p:cNvSpPr>
          <p:nvPr>
            <p:ph type="sldImg"/>
          </p:nvPr>
        </p:nvSpPr>
        <p:spPr>
          <a:xfrm>
            <a:off x="685800" y="1143000"/>
            <a:ext cx="5486040" cy="3085920"/>
          </a:xfrm>
          <a:prstGeom prst="rect">
            <a:avLst/>
          </a:prstGeom>
          <a:ln w="0">
            <a:noFill/>
          </a:ln>
        </p:spPr>
      </p:sp>
      <p:sp>
        <p:nvSpPr>
          <p:cNvPr id="602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023" name="PlaceHolder 3"/>
          <p:cNvSpPr>
            <a:spLocks noGrp="1"/>
          </p:cNvSpPr>
          <p:nvPr>
            <p:ph type="sldNum" idx="18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F512E35F-E28B-4DD5-BA95-27BD46CA3275}"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24" name="PlaceHolder 1"/>
          <p:cNvSpPr>
            <a:spLocks noGrp="1"/>
          </p:cNvSpPr>
          <p:nvPr>
            <p:ph type="sldImg"/>
          </p:nvPr>
        </p:nvSpPr>
        <p:spPr>
          <a:xfrm>
            <a:off x="685800" y="1143000"/>
            <a:ext cx="5486040" cy="3085920"/>
          </a:xfrm>
          <a:prstGeom prst="rect">
            <a:avLst/>
          </a:prstGeom>
          <a:ln w="0">
            <a:noFill/>
          </a:ln>
        </p:spPr>
      </p:sp>
      <p:sp>
        <p:nvSpPr>
          <p:cNvPr id="602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026" name="PlaceHolder 3"/>
          <p:cNvSpPr>
            <a:spLocks noGrp="1"/>
          </p:cNvSpPr>
          <p:nvPr>
            <p:ph type="sldNum" idx="18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3734CAF4-F1E7-4411-AA20-444448AA2B36}"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27" name="PlaceHolder 1"/>
          <p:cNvSpPr>
            <a:spLocks noGrp="1"/>
          </p:cNvSpPr>
          <p:nvPr>
            <p:ph type="sldImg"/>
          </p:nvPr>
        </p:nvSpPr>
        <p:spPr>
          <a:xfrm>
            <a:off x="685800" y="1143000"/>
            <a:ext cx="5486040" cy="3085920"/>
          </a:xfrm>
          <a:prstGeom prst="rect">
            <a:avLst/>
          </a:prstGeom>
          <a:ln w="0">
            <a:noFill/>
          </a:ln>
        </p:spPr>
      </p:sp>
      <p:sp>
        <p:nvSpPr>
          <p:cNvPr id="602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029" name="PlaceHolder 3"/>
          <p:cNvSpPr>
            <a:spLocks noGrp="1"/>
          </p:cNvSpPr>
          <p:nvPr>
            <p:ph type="sldNum" idx="18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A290121C-1D80-4A83-A1D7-F9B387EFFEBF}"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30" name="PlaceHolder 1"/>
          <p:cNvSpPr>
            <a:spLocks noGrp="1"/>
          </p:cNvSpPr>
          <p:nvPr>
            <p:ph type="sldImg"/>
          </p:nvPr>
        </p:nvSpPr>
        <p:spPr>
          <a:xfrm>
            <a:off x="685800" y="1143000"/>
            <a:ext cx="5486040" cy="3085920"/>
          </a:xfrm>
          <a:prstGeom prst="rect">
            <a:avLst/>
          </a:prstGeom>
          <a:ln w="0">
            <a:noFill/>
          </a:ln>
        </p:spPr>
      </p:sp>
      <p:sp>
        <p:nvSpPr>
          <p:cNvPr id="603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032" name="PlaceHolder 3"/>
          <p:cNvSpPr>
            <a:spLocks noGrp="1"/>
          </p:cNvSpPr>
          <p:nvPr>
            <p:ph type="sldNum" idx="18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F9DB920B-4C49-49DD-B812-9CE478006D02}"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5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33" name="PlaceHolder 1"/>
          <p:cNvSpPr>
            <a:spLocks noGrp="1"/>
          </p:cNvSpPr>
          <p:nvPr>
            <p:ph type="sldImg"/>
          </p:nvPr>
        </p:nvSpPr>
        <p:spPr>
          <a:xfrm>
            <a:off x="685800" y="1143000"/>
            <a:ext cx="5486040" cy="3085920"/>
          </a:xfrm>
          <a:prstGeom prst="rect">
            <a:avLst/>
          </a:prstGeom>
          <a:ln w="0">
            <a:noFill/>
          </a:ln>
        </p:spPr>
      </p:sp>
      <p:sp>
        <p:nvSpPr>
          <p:cNvPr id="603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035" name="PlaceHolder 3"/>
          <p:cNvSpPr>
            <a:spLocks noGrp="1"/>
          </p:cNvSpPr>
          <p:nvPr>
            <p:ph type="sldNum" idx="18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6323F737-5EED-4791-B4D3-FDBE04C5F520}"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5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36" name="PlaceHolder 1"/>
          <p:cNvSpPr>
            <a:spLocks noGrp="1"/>
          </p:cNvSpPr>
          <p:nvPr>
            <p:ph type="sldImg"/>
          </p:nvPr>
        </p:nvSpPr>
        <p:spPr>
          <a:xfrm>
            <a:off x="685800" y="1143000"/>
            <a:ext cx="5486040" cy="3085920"/>
          </a:xfrm>
          <a:prstGeom prst="rect">
            <a:avLst/>
          </a:prstGeom>
          <a:ln w="0">
            <a:noFill/>
          </a:ln>
        </p:spPr>
      </p:sp>
      <p:sp>
        <p:nvSpPr>
          <p:cNvPr id="603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038" name="PlaceHolder 3"/>
          <p:cNvSpPr>
            <a:spLocks noGrp="1"/>
          </p:cNvSpPr>
          <p:nvPr>
            <p:ph type="sldNum" idx="18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A85C7467-4DD4-4BE9-9306-E2945CE0BA66}"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5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39" name="PlaceHolder 1"/>
          <p:cNvSpPr>
            <a:spLocks noGrp="1"/>
          </p:cNvSpPr>
          <p:nvPr>
            <p:ph type="sldImg"/>
          </p:nvPr>
        </p:nvSpPr>
        <p:spPr>
          <a:xfrm>
            <a:off x="685800" y="1143000"/>
            <a:ext cx="5486040" cy="3085920"/>
          </a:xfrm>
          <a:prstGeom prst="rect">
            <a:avLst/>
          </a:prstGeom>
          <a:ln w="0">
            <a:noFill/>
          </a:ln>
        </p:spPr>
      </p:sp>
      <p:sp>
        <p:nvSpPr>
          <p:cNvPr id="604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041" name="PlaceHolder 3"/>
          <p:cNvSpPr>
            <a:spLocks noGrp="1"/>
          </p:cNvSpPr>
          <p:nvPr>
            <p:ph type="sldNum" idx="18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A8D27BBB-BF23-4805-A53C-B8D316154B41}"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5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42" name="PlaceHolder 1"/>
          <p:cNvSpPr>
            <a:spLocks noGrp="1"/>
          </p:cNvSpPr>
          <p:nvPr>
            <p:ph type="sldImg"/>
          </p:nvPr>
        </p:nvSpPr>
        <p:spPr>
          <a:xfrm>
            <a:off x="685800" y="1143000"/>
            <a:ext cx="5486040" cy="3085920"/>
          </a:xfrm>
          <a:prstGeom prst="rect">
            <a:avLst/>
          </a:prstGeom>
          <a:ln w="0">
            <a:noFill/>
          </a:ln>
        </p:spPr>
      </p:sp>
      <p:sp>
        <p:nvSpPr>
          <p:cNvPr id="604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044" name="PlaceHolder 3"/>
          <p:cNvSpPr>
            <a:spLocks noGrp="1"/>
          </p:cNvSpPr>
          <p:nvPr>
            <p:ph type="sldNum" idx="18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9AD1AF4C-482F-4266-A8D9-5084677B58CB}"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5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45" name="PlaceHolder 1"/>
          <p:cNvSpPr>
            <a:spLocks noGrp="1"/>
          </p:cNvSpPr>
          <p:nvPr>
            <p:ph type="sldImg"/>
          </p:nvPr>
        </p:nvSpPr>
        <p:spPr>
          <a:xfrm>
            <a:off x="685800" y="1143000"/>
            <a:ext cx="5486040" cy="3085920"/>
          </a:xfrm>
          <a:prstGeom prst="rect">
            <a:avLst/>
          </a:prstGeom>
          <a:ln w="0">
            <a:noFill/>
          </a:ln>
        </p:spPr>
      </p:sp>
      <p:sp>
        <p:nvSpPr>
          <p:cNvPr id="604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047" name="PlaceHolder 3"/>
          <p:cNvSpPr>
            <a:spLocks noGrp="1"/>
          </p:cNvSpPr>
          <p:nvPr>
            <p:ph type="sldNum" idx="18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75E64708-7ED6-49C8-A786-750655C30EF4}"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5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48" name="PlaceHolder 1"/>
          <p:cNvSpPr>
            <a:spLocks noGrp="1"/>
          </p:cNvSpPr>
          <p:nvPr>
            <p:ph type="sldImg"/>
          </p:nvPr>
        </p:nvSpPr>
        <p:spPr>
          <a:xfrm>
            <a:off x="685800" y="1143000"/>
            <a:ext cx="5486040" cy="3085920"/>
          </a:xfrm>
          <a:prstGeom prst="rect">
            <a:avLst/>
          </a:prstGeom>
          <a:ln w="0">
            <a:noFill/>
          </a:ln>
        </p:spPr>
      </p:sp>
      <p:sp>
        <p:nvSpPr>
          <p:cNvPr id="604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050" name="PlaceHolder 3"/>
          <p:cNvSpPr>
            <a:spLocks noGrp="1"/>
          </p:cNvSpPr>
          <p:nvPr>
            <p:ph type="sldNum" idx="18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717F787B-E0D8-4E9C-8F0D-0059B36C4159}"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5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51" name="PlaceHolder 1"/>
          <p:cNvSpPr>
            <a:spLocks noGrp="1"/>
          </p:cNvSpPr>
          <p:nvPr>
            <p:ph type="sldImg"/>
          </p:nvPr>
        </p:nvSpPr>
        <p:spPr>
          <a:xfrm>
            <a:off x="685800" y="1143000"/>
            <a:ext cx="5486040" cy="3085920"/>
          </a:xfrm>
          <a:prstGeom prst="rect">
            <a:avLst/>
          </a:prstGeom>
          <a:ln w="0">
            <a:noFill/>
          </a:ln>
        </p:spPr>
      </p:sp>
      <p:sp>
        <p:nvSpPr>
          <p:cNvPr id="605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053" name="PlaceHolder 3"/>
          <p:cNvSpPr>
            <a:spLocks noGrp="1"/>
          </p:cNvSpPr>
          <p:nvPr>
            <p:ph type="sldNum" idx="19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62A2C805-9F5F-4AFF-B9F6-953E080B30E8}"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5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54" name="PlaceHolder 1"/>
          <p:cNvSpPr>
            <a:spLocks noGrp="1"/>
          </p:cNvSpPr>
          <p:nvPr>
            <p:ph type="sldImg"/>
          </p:nvPr>
        </p:nvSpPr>
        <p:spPr>
          <a:xfrm>
            <a:off x="685800" y="1143000"/>
            <a:ext cx="5486040" cy="3085920"/>
          </a:xfrm>
          <a:prstGeom prst="rect">
            <a:avLst/>
          </a:prstGeom>
          <a:ln w="0">
            <a:noFill/>
          </a:ln>
        </p:spPr>
      </p:sp>
      <p:sp>
        <p:nvSpPr>
          <p:cNvPr id="605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056" name="PlaceHolder 3"/>
          <p:cNvSpPr>
            <a:spLocks noGrp="1"/>
          </p:cNvSpPr>
          <p:nvPr>
            <p:ph type="sldNum" idx="19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EA81742E-CFB2-4F36-8EC0-D0A439071859}"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5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57" name="PlaceHolder 1"/>
          <p:cNvSpPr>
            <a:spLocks noGrp="1"/>
          </p:cNvSpPr>
          <p:nvPr>
            <p:ph type="sldImg"/>
          </p:nvPr>
        </p:nvSpPr>
        <p:spPr>
          <a:xfrm>
            <a:off x="685800" y="1143000"/>
            <a:ext cx="5486040" cy="3085920"/>
          </a:xfrm>
          <a:prstGeom prst="rect">
            <a:avLst/>
          </a:prstGeom>
          <a:ln w="0">
            <a:noFill/>
          </a:ln>
        </p:spPr>
      </p:sp>
      <p:sp>
        <p:nvSpPr>
          <p:cNvPr id="605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059" name="PlaceHolder 3"/>
          <p:cNvSpPr>
            <a:spLocks noGrp="1"/>
          </p:cNvSpPr>
          <p:nvPr>
            <p:ph type="sldNum" idx="19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EE126AF4-3141-4923-B18A-6B9E30F18AC8}"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5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60" name="PlaceHolder 1"/>
          <p:cNvSpPr>
            <a:spLocks noGrp="1"/>
          </p:cNvSpPr>
          <p:nvPr>
            <p:ph type="sldImg"/>
          </p:nvPr>
        </p:nvSpPr>
        <p:spPr>
          <a:xfrm>
            <a:off x="685800" y="1143000"/>
            <a:ext cx="5486040" cy="3085920"/>
          </a:xfrm>
          <a:prstGeom prst="rect">
            <a:avLst/>
          </a:prstGeom>
          <a:ln w="0">
            <a:noFill/>
          </a:ln>
        </p:spPr>
      </p:sp>
      <p:sp>
        <p:nvSpPr>
          <p:cNvPr id="606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062" name="PlaceHolder 3"/>
          <p:cNvSpPr>
            <a:spLocks noGrp="1"/>
          </p:cNvSpPr>
          <p:nvPr>
            <p:ph type="sldNum" idx="19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DF27D132-D465-40EC-90CF-A8D7522B4C2F}"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6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63" name="PlaceHolder 1"/>
          <p:cNvSpPr>
            <a:spLocks noGrp="1"/>
          </p:cNvSpPr>
          <p:nvPr>
            <p:ph type="sldImg"/>
          </p:nvPr>
        </p:nvSpPr>
        <p:spPr>
          <a:xfrm>
            <a:off x="685800" y="1143000"/>
            <a:ext cx="5486040" cy="3085920"/>
          </a:xfrm>
          <a:prstGeom prst="rect">
            <a:avLst/>
          </a:prstGeom>
          <a:ln w="0">
            <a:noFill/>
          </a:ln>
        </p:spPr>
      </p:sp>
      <p:sp>
        <p:nvSpPr>
          <p:cNvPr id="606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065" name="PlaceHolder 3"/>
          <p:cNvSpPr>
            <a:spLocks noGrp="1"/>
          </p:cNvSpPr>
          <p:nvPr>
            <p:ph type="sldNum" idx="19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41AB8FCE-4703-40FC-9078-6BD7D2157EC5}"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6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66" name="PlaceHolder 1"/>
          <p:cNvSpPr>
            <a:spLocks noGrp="1"/>
          </p:cNvSpPr>
          <p:nvPr>
            <p:ph type="sldImg"/>
          </p:nvPr>
        </p:nvSpPr>
        <p:spPr>
          <a:xfrm>
            <a:off x="685800" y="1143000"/>
            <a:ext cx="5486040" cy="3085920"/>
          </a:xfrm>
          <a:prstGeom prst="rect">
            <a:avLst/>
          </a:prstGeom>
          <a:ln w="0">
            <a:noFill/>
          </a:ln>
        </p:spPr>
      </p:sp>
      <p:sp>
        <p:nvSpPr>
          <p:cNvPr id="606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068" name="PlaceHolder 3"/>
          <p:cNvSpPr>
            <a:spLocks noGrp="1"/>
          </p:cNvSpPr>
          <p:nvPr>
            <p:ph type="sldNum" idx="19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817BB6DB-86D3-4A29-A414-21F03A8D7979}"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6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69" name="PlaceHolder 1"/>
          <p:cNvSpPr>
            <a:spLocks noGrp="1"/>
          </p:cNvSpPr>
          <p:nvPr>
            <p:ph type="sldImg"/>
          </p:nvPr>
        </p:nvSpPr>
        <p:spPr>
          <a:xfrm>
            <a:off x="685800" y="1143000"/>
            <a:ext cx="5486040" cy="3085920"/>
          </a:xfrm>
          <a:prstGeom prst="rect">
            <a:avLst/>
          </a:prstGeom>
          <a:ln w="0">
            <a:noFill/>
          </a:ln>
        </p:spPr>
      </p:sp>
      <p:sp>
        <p:nvSpPr>
          <p:cNvPr id="607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071" name="PlaceHolder 3"/>
          <p:cNvSpPr>
            <a:spLocks noGrp="1"/>
          </p:cNvSpPr>
          <p:nvPr>
            <p:ph type="sldNum" idx="19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DA8065DC-3D51-43D3-913F-F990513CC1A6}"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6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72" name="PlaceHolder 1"/>
          <p:cNvSpPr>
            <a:spLocks noGrp="1"/>
          </p:cNvSpPr>
          <p:nvPr>
            <p:ph type="sldImg"/>
          </p:nvPr>
        </p:nvSpPr>
        <p:spPr>
          <a:xfrm>
            <a:off x="685800" y="1143000"/>
            <a:ext cx="5486040" cy="3085920"/>
          </a:xfrm>
          <a:prstGeom prst="rect">
            <a:avLst/>
          </a:prstGeom>
          <a:ln w="0">
            <a:noFill/>
          </a:ln>
        </p:spPr>
      </p:sp>
      <p:sp>
        <p:nvSpPr>
          <p:cNvPr id="607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074" name="PlaceHolder 3"/>
          <p:cNvSpPr>
            <a:spLocks noGrp="1"/>
          </p:cNvSpPr>
          <p:nvPr>
            <p:ph type="sldNum" idx="19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8F17FD9A-8BD3-46D1-AEFB-2BCF5C272A43}"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6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75" name="PlaceHolder 1"/>
          <p:cNvSpPr>
            <a:spLocks noGrp="1"/>
          </p:cNvSpPr>
          <p:nvPr>
            <p:ph type="sldImg"/>
          </p:nvPr>
        </p:nvSpPr>
        <p:spPr>
          <a:xfrm>
            <a:off x="685800" y="1143000"/>
            <a:ext cx="5486040" cy="3085920"/>
          </a:xfrm>
          <a:prstGeom prst="rect">
            <a:avLst/>
          </a:prstGeom>
          <a:ln w="0">
            <a:noFill/>
          </a:ln>
        </p:spPr>
      </p:sp>
      <p:sp>
        <p:nvSpPr>
          <p:cNvPr id="607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077" name="PlaceHolder 3"/>
          <p:cNvSpPr>
            <a:spLocks noGrp="1"/>
          </p:cNvSpPr>
          <p:nvPr>
            <p:ph type="sldNum" idx="19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6A091D62-1CEE-476B-97DE-7B277416746C}"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6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78" name="PlaceHolder 1"/>
          <p:cNvSpPr>
            <a:spLocks noGrp="1"/>
          </p:cNvSpPr>
          <p:nvPr>
            <p:ph type="sldImg"/>
          </p:nvPr>
        </p:nvSpPr>
        <p:spPr>
          <a:xfrm>
            <a:off x="685800" y="1143000"/>
            <a:ext cx="5486040" cy="3085920"/>
          </a:xfrm>
          <a:prstGeom prst="rect">
            <a:avLst/>
          </a:prstGeom>
          <a:ln w="0">
            <a:noFill/>
          </a:ln>
        </p:spPr>
      </p:sp>
      <p:sp>
        <p:nvSpPr>
          <p:cNvPr id="607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080" name="PlaceHolder 3"/>
          <p:cNvSpPr>
            <a:spLocks noGrp="1"/>
          </p:cNvSpPr>
          <p:nvPr>
            <p:ph type="sldNum" idx="19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A346DA47-81A6-40A0-B46D-71ED603A3BBD}"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6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81" name="PlaceHolder 1"/>
          <p:cNvSpPr>
            <a:spLocks noGrp="1"/>
          </p:cNvSpPr>
          <p:nvPr>
            <p:ph type="sldImg"/>
          </p:nvPr>
        </p:nvSpPr>
        <p:spPr>
          <a:xfrm>
            <a:off x="685800" y="1143000"/>
            <a:ext cx="5486040" cy="3085920"/>
          </a:xfrm>
          <a:prstGeom prst="rect">
            <a:avLst/>
          </a:prstGeom>
          <a:ln w="0">
            <a:noFill/>
          </a:ln>
        </p:spPr>
      </p:sp>
      <p:sp>
        <p:nvSpPr>
          <p:cNvPr id="608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083" name="PlaceHolder 3"/>
          <p:cNvSpPr>
            <a:spLocks noGrp="1"/>
          </p:cNvSpPr>
          <p:nvPr>
            <p:ph type="sldNum" idx="20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D7CE5D7C-C323-4E71-9BCC-0A8EE8F63407}"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6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84" name="PlaceHolder 1"/>
          <p:cNvSpPr>
            <a:spLocks noGrp="1"/>
          </p:cNvSpPr>
          <p:nvPr>
            <p:ph type="sldImg"/>
          </p:nvPr>
        </p:nvSpPr>
        <p:spPr>
          <a:xfrm>
            <a:off x="685800" y="1143000"/>
            <a:ext cx="5486040" cy="3085920"/>
          </a:xfrm>
          <a:prstGeom prst="rect">
            <a:avLst/>
          </a:prstGeom>
          <a:ln w="0">
            <a:noFill/>
          </a:ln>
        </p:spPr>
      </p:sp>
      <p:sp>
        <p:nvSpPr>
          <p:cNvPr id="608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086" name="PlaceHolder 3"/>
          <p:cNvSpPr>
            <a:spLocks noGrp="1"/>
          </p:cNvSpPr>
          <p:nvPr>
            <p:ph type="sldNum" idx="20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6355BCF8-906F-481A-A465-F9C885095B26}"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6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87" name="PlaceHolder 1"/>
          <p:cNvSpPr>
            <a:spLocks noGrp="1"/>
          </p:cNvSpPr>
          <p:nvPr>
            <p:ph type="sldImg"/>
          </p:nvPr>
        </p:nvSpPr>
        <p:spPr>
          <a:xfrm>
            <a:off x="685800" y="1143000"/>
            <a:ext cx="5486040" cy="3085920"/>
          </a:xfrm>
          <a:prstGeom prst="rect">
            <a:avLst/>
          </a:prstGeom>
          <a:ln w="0">
            <a:noFill/>
          </a:ln>
        </p:spPr>
      </p:sp>
      <p:sp>
        <p:nvSpPr>
          <p:cNvPr id="608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089" name="PlaceHolder 3"/>
          <p:cNvSpPr>
            <a:spLocks noGrp="1"/>
          </p:cNvSpPr>
          <p:nvPr>
            <p:ph type="sldNum" idx="20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BE4CF40C-8967-44E3-94DE-F937CC8BDF86}"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6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90" name="PlaceHolder 1"/>
          <p:cNvSpPr>
            <a:spLocks noGrp="1"/>
          </p:cNvSpPr>
          <p:nvPr>
            <p:ph type="sldImg"/>
          </p:nvPr>
        </p:nvSpPr>
        <p:spPr>
          <a:xfrm>
            <a:off x="685800" y="1143000"/>
            <a:ext cx="5486040" cy="3085920"/>
          </a:xfrm>
          <a:prstGeom prst="rect">
            <a:avLst/>
          </a:prstGeom>
          <a:ln w="0">
            <a:noFill/>
          </a:ln>
        </p:spPr>
      </p:sp>
      <p:sp>
        <p:nvSpPr>
          <p:cNvPr id="609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092" name="PlaceHolder 3"/>
          <p:cNvSpPr>
            <a:spLocks noGrp="1"/>
          </p:cNvSpPr>
          <p:nvPr>
            <p:ph type="sldNum" idx="20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2E1AB3E1-D9AF-479B-803D-5EECB6FEEAF2}"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7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93" name="PlaceHolder 1"/>
          <p:cNvSpPr>
            <a:spLocks noGrp="1"/>
          </p:cNvSpPr>
          <p:nvPr>
            <p:ph type="sldImg"/>
          </p:nvPr>
        </p:nvSpPr>
        <p:spPr>
          <a:xfrm>
            <a:off x="685800" y="1143000"/>
            <a:ext cx="5486040" cy="3085920"/>
          </a:xfrm>
          <a:prstGeom prst="rect">
            <a:avLst/>
          </a:prstGeom>
          <a:ln w="0">
            <a:noFill/>
          </a:ln>
        </p:spPr>
      </p:sp>
      <p:sp>
        <p:nvSpPr>
          <p:cNvPr id="609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095" name="PlaceHolder 3"/>
          <p:cNvSpPr>
            <a:spLocks noGrp="1"/>
          </p:cNvSpPr>
          <p:nvPr>
            <p:ph type="sldNum" idx="20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5836D3BE-423B-41B2-B02C-B994638CA2C4}"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7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96" name="PlaceHolder 1"/>
          <p:cNvSpPr>
            <a:spLocks noGrp="1"/>
          </p:cNvSpPr>
          <p:nvPr>
            <p:ph type="sldImg"/>
          </p:nvPr>
        </p:nvSpPr>
        <p:spPr>
          <a:xfrm>
            <a:off x="685800" y="1143000"/>
            <a:ext cx="5486040" cy="3085920"/>
          </a:xfrm>
          <a:prstGeom prst="rect">
            <a:avLst/>
          </a:prstGeom>
          <a:ln w="0">
            <a:noFill/>
          </a:ln>
        </p:spPr>
      </p:sp>
      <p:sp>
        <p:nvSpPr>
          <p:cNvPr id="609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098" name="PlaceHolder 3"/>
          <p:cNvSpPr>
            <a:spLocks noGrp="1"/>
          </p:cNvSpPr>
          <p:nvPr>
            <p:ph type="sldNum" idx="20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3EC58CEC-707D-46C4-8A86-1CCC80EA5AC1}"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7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99" name="PlaceHolder 1"/>
          <p:cNvSpPr>
            <a:spLocks noGrp="1"/>
          </p:cNvSpPr>
          <p:nvPr>
            <p:ph type="sldImg"/>
          </p:nvPr>
        </p:nvSpPr>
        <p:spPr>
          <a:xfrm>
            <a:off x="685800" y="1143000"/>
            <a:ext cx="5486040" cy="3085920"/>
          </a:xfrm>
          <a:prstGeom prst="rect">
            <a:avLst/>
          </a:prstGeom>
          <a:ln w="0">
            <a:noFill/>
          </a:ln>
        </p:spPr>
      </p:sp>
      <p:sp>
        <p:nvSpPr>
          <p:cNvPr id="610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101" name="PlaceHolder 3"/>
          <p:cNvSpPr>
            <a:spLocks noGrp="1"/>
          </p:cNvSpPr>
          <p:nvPr>
            <p:ph type="sldNum" idx="20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703C42D8-638A-4B42-BE26-D353096ABACA}"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7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02" name="PlaceHolder 1"/>
          <p:cNvSpPr>
            <a:spLocks noGrp="1"/>
          </p:cNvSpPr>
          <p:nvPr>
            <p:ph type="sldImg"/>
          </p:nvPr>
        </p:nvSpPr>
        <p:spPr>
          <a:xfrm>
            <a:off x="685800" y="1143000"/>
            <a:ext cx="5486040" cy="3085920"/>
          </a:xfrm>
          <a:prstGeom prst="rect">
            <a:avLst/>
          </a:prstGeom>
          <a:ln w="0">
            <a:noFill/>
          </a:ln>
        </p:spPr>
      </p:sp>
      <p:sp>
        <p:nvSpPr>
          <p:cNvPr id="610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104" name="PlaceHolder 3"/>
          <p:cNvSpPr>
            <a:spLocks noGrp="1"/>
          </p:cNvSpPr>
          <p:nvPr>
            <p:ph type="sldNum" idx="20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61E787DA-1F28-44E6-815C-3FD80E5113D3}"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7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05" name="PlaceHolder 1"/>
          <p:cNvSpPr>
            <a:spLocks noGrp="1"/>
          </p:cNvSpPr>
          <p:nvPr>
            <p:ph type="sldImg"/>
          </p:nvPr>
        </p:nvSpPr>
        <p:spPr>
          <a:xfrm>
            <a:off x="685800" y="1143000"/>
            <a:ext cx="5486040" cy="3085920"/>
          </a:xfrm>
          <a:prstGeom prst="rect">
            <a:avLst/>
          </a:prstGeom>
          <a:ln w="0">
            <a:noFill/>
          </a:ln>
        </p:spPr>
      </p:sp>
      <p:sp>
        <p:nvSpPr>
          <p:cNvPr id="610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107" name="PlaceHolder 3"/>
          <p:cNvSpPr>
            <a:spLocks noGrp="1"/>
          </p:cNvSpPr>
          <p:nvPr>
            <p:ph type="sldNum" idx="20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A9392384-9421-4472-89F2-C8A72995473B}"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7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08" name="PlaceHolder 1"/>
          <p:cNvSpPr>
            <a:spLocks noGrp="1"/>
          </p:cNvSpPr>
          <p:nvPr>
            <p:ph type="sldImg"/>
          </p:nvPr>
        </p:nvSpPr>
        <p:spPr>
          <a:xfrm>
            <a:off x="685800" y="1143000"/>
            <a:ext cx="5486040" cy="3085920"/>
          </a:xfrm>
          <a:prstGeom prst="rect">
            <a:avLst/>
          </a:prstGeom>
          <a:ln w="0">
            <a:noFill/>
          </a:ln>
        </p:spPr>
      </p:sp>
      <p:sp>
        <p:nvSpPr>
          <p:cNvPr id="610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110" name="PlaceHolder 3"/>
          <p:cNvSpPr>
            <a:spLocks noGrp="1"/>
          </p:cNvSpPr>
          <p:nvPr>
            <p:ph type="sldNum" idx="20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7879CC6D-44AA-4C82-B077-CD1D7E6FE9AA}"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7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11" name="PlaceHolder 1"/>
          <p:cNvSpPr>
            <a:spLocks noGrp="1"/>
          </p:cNvSpPr>
          <p:nvPr>
            <p:ph type="sldImg"/>
          </p:nvPr>
        </p:nvSpPr>
        <p:spPr>
          <a:xfrm>
            <a:off x="685800" y="1143000"/>
            <a:ext cx="5486040" cy="3085920"/>
          </a:xfrm>
          <a:prstGeom prst="rect">
            <a:avLst/>
          </a:prstGeom>
          <a:ln w="0">
            <a:noFill/>
          </a:ln>
        </p:spPr>
      </p:sp>
      <p:sp>
        <p:nvSpPr>
          <p:cNvPr id="611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113" name="PlaceHolder 3"/>
          <p:cNvSpPr>
            <a:spLocks noGrp="1"/>
          </p:cNvSpPr>
          <p:nvPr>
            <p:ph type="sldNum" idx="21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594F8329-FF7F-417E-8FC7-2E6E8672411F}"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7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14" name="PlaceHolder 1"/>
          <p:cNvSpPr>
            <a:spLocks noGrp="1"/>
          </p:cNvSpPr>
          <p:nvPr>
            <p:ph type="sldImg"/>
          </p:nvPr>
        </p:nvSpPr>
        <p:spPr>
          <a:xfrm>
            <a:off x="685800" y="1143000"/>
            <a:ext cx="5486040" cy="3085920"/>
          </a:xfrm>
          <a:prstGeom prst="rect">
            <a:avLst/>
          </a:prstGeom>
          <a:ln w="0">
            <a:noFill/>
          </a:ln>
        </p:spPr>
      </p:sp>
      <p:sp>
        <p:nvSpPr>
          <p:cNvPr id="611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116" name="PlaceHolder 3"/>
          <p:cNvSpPr>
            <a:spLocks noGrp="1"/>
          </p:cNvSpPr>
          <p:nvPr>
            <p:ph type="sldNum" idx="21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DF799A48-5370-48B5-985E-9E9DB467EDD6}"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7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17" name="PlaceHolder 1"/>
          <p:cNvSpPr>
            <a:spLocks noGrp="1"/>
          </p:cNvSpPr>
          <p:nvPr>
            <p:ph type="sldImg"/>
          </p:nvPr>
        </p:nvSpPr>
        <p:spPr>
          <a:xfrm>
            <a:off x="685800" y="1143000"/>
            <a:ext cx="5486040" cy="3085920"/>
          </a:xfrm>
          <a:prstGeom prst="rect">
            <a:avLst/>
          </a:prstGeom>
          <a:ln w="0">
            <a:noFill/>
          </a:ln>
        </p:spPr>
      </p:sp>
      <p:sp>
        <p:nvSpPr>
          <p:cNvPr id="611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119" name="PlaceHolder 3"/>
          <p:cNvSpPr>
            <a:spLocks noGrp="1"/>
          </p:cNvSpPr>
          <p:nvPr>
            <p:ph type="sldNum" idx="21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218450F9-CB46-4F10-BCF4-6FDB811809B9}"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7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20" name="PlaceHolder 1"/>
          <p:cNvSpPr>
            <a:spLocks noGrp="1"/>
          </p:cNvSpPr>
          <p:nvPr>
            <p:ph type="sldImg"/>
          </p:nvPr>
        </p:nvSpPr>
        <p:spPr>
          <a:xfrm>
            <a:off x="685800" y="1143000"/>
            <a:ext cx="5486040" cy="3085920"/>
          </a:xfrm>
          <a:prstGeom prst="rect">
            <a:avLst/>
          </a:prstGeom>
          <a:ln w="0">
            <a:noFill/>
          </a:ln>
        </p:spPr>
      </p:sp>
      <p:sp>
        <p:nvSpPr>
          <p:cNvPr id="612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122" name="PlaceHolder 3"/>
          <p:cNvSpPr>
            <a:spLocks noGrp="1"/>
          </p:cNvSpPr>
          <p:nvPr>
            <p:ph type="sldNum" idx="21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E02B8FDC-411E-49BD-AC12-A7CDD435E969}"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8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23" name="PlaceHolder 1"/>
          <p:cNvSpPr>
            <a:spLocks noGrp="1"/>
          </p:cNvSpPr>
          <p:nvPr>
            <p:ph type="sldImg"/>
          </p:nvPr>
        </p:nvSpPr>
        <p:spPr>
          <a:xfrm>
            <a:off x="685800" y="1143000"/>
            <a:ext cx="5486040" cy="3085920"/>
          </a:xfrm>
          <a:prstGeom prst="rect">
            <a:avLst/>
          </a:prstGeom>
          <a:ln w="0">
            <a:noFill/>
          </a:ln>
        </p:spPr>
      </p:sp>
      <p:sp>
        <p:nvSpPr>
          <p:cNvPr id="612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125" name="PlaceHolder 3"/>
          <p:cNvSpPr>
            <a:spLocks noGrp="1"/>
          </p:cNvSpPr>
          <p:nvPr>
            <p:ph type="sldNum" idx="21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2D1A1AD8-D7E8-443D-A1B4-1B3FC5F2606E}"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8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26" name="PlaceHolder 1"/>
          <p:cNvSpPr>
            <a:spLocks noGrp="1"/>
          </p:cNvSpPr>
          <p:nvPr>
            <p:ph type="sldImg"/>
          </p:nvPr>
        </p:nvSpPr>
        <p:spPr>
          <a:xfrm>
            <a:off x="685800" y="1143000"/>
            <a:ext cx="5486040" cy="3085920"/>
          </a:xfrm>
          <a:prstGeom prst="rect">
            <a:avLst/>
          </a:prstGeom>
          <a:ln w="0">
            <a:noFill/>
          </a:ln>
        </p:spPr>
      </p:sp>
      <p:sp>
        <p:nvSpPr>
          <p:cNvPr id="612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128" name="PlaceHolder 3"/>
          <p:cNvSpPr>
            <a:spLocks noGrp="1"/>
          </p:cNvSpPr>
          <p:nvPr>
            <p:ph type="sldNum" idx="21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ACEFB086-D465-472D-B245-63FC58F91889}"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8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29" name="PlaceHolder 1"/>
          <p:cNvSpPr>
            <a:spLocks noGrp="1"/>
          </p:cNvSpPr>
          <p:nvPr>
            <p:ph type="sldImg"/>
          </p:nvPr>
        </p:nvSpPr>
        <p:spPr>
          <a:xfrm>
            <a:off x="685800" y="1143000"/>
            <a:ext cx="5486040" cy="3085920"/>
          </a:xfrm>
          <a:prstGeom prst="rect">
            <a:avLst/>
          </a:prstGeom>
          <a:ln w="0">
            <a:noFill/>
          </a:ln>
        </p:spPr>
      </p:sp>
      <p:sp>
        <p:nvSpPr>
          <p:cNvPr id="613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131" name="PlaceHolder 3"/>
          <p:cNvSpPr>
            <a:spLocks noGrp="1"/>
          </p:cNvSpPr>
          <p:nvPr>
            <p:ph type="sldNum" idx="21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58856391-C722-4D63-BE98-B47ECC1658A7}"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8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32" name="PlaceHolder 1"/>
          <p:cNvSpPr>
            <a:spLocks noGrp="1"/>
          </p:cNvSpPr>
          <p:nvPr>
            <p:ph type="sldImg"/>
          </p:nvPr>
        </p:nvSpPr>
        <p:spPr>
          <a:xfrm>
            <a:off x="685800" y="1143000"/>
            <a:ext cx="5486040" cy="3085920"/>
          </a:xfrm>
          <a:prstGeom prst="rect">
            <a:avLst/>
          </a:prstGeom>
          <a:ln w="0">
            <a:noFill/>
          </a:ln>
        </p:spPr>
      </p:sp>
      <p:sp>
        <p:nvSpPr>
          <p:cNvPr id="613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134" name="PlaceHolder 3"/>
          <p:cNvSpPr>
            <a:spLocks noGrp="1"/>
          </p:cNvSpPr>
          <p:nvPr>
            <p:ph type="sldNum" idx="21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3774E32C-E800-4E16-A8E9-2CC3775B8162}"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8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35" name="PlaceHolder 1"/>
          <p:cNvSpPr>
            <a:spLocks noGrp="1"/>
          </p:cNvSpPr>
          <p:nvPr>
            <p:ph type="sldImg"/>
          </p:nvPr>
        </p:nvSpPr>
        <p:spPr>
          <a:xfrm>
            <a:off x="685800" y="1143000"/>
            <a:ext cx="5486040" cy="3085920"/>
          </a:xfrm>
          <a:prstGeom prst="rect">
            <a:avLst/>
          </a:prstGeom>
          <a:ln w="0">
            <a:noFill/>
          </a:ln>
        </p:spPr>
      </p:sp>
      <p:sp>
        <p:nvSpPr>
          <p:cNvPr id="613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137" name="PlaceHolder 3"/>
          <p:cNvSpPr>
            <a:spLocks noGrp="1"/>
          </p:cNvSpPr>
          <p:nvPr>
            <p:ph type="sldNum" idx="21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9BA9B5BB-A8EC-472D-8BC3-F3ECB4A559FF}"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8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38" name="PlaceHolder 1"/>
          <p:cNvSpPr>
            <a:spLocks noGrp="1"/>
          </p:cNvSpPr>
          <p:nvPr>
            <p:ph type="sldImg"/>
          </p:nvPr>
        </p:nvSpPr>
        <p:spPr>
          <a:xfrm>
            <a:off x="685800" y="1143000"/>
            <a:ext cx="5486040" cy="3085920"/>
          </a:xfrm>
          <a:prstGeom prst="rect">
            <a:avLst/>
          </a:prstGeom>
          <a:ln w="0">
            <a:noFill/>
          </a:ln>
        </p:spPr>
      </p:sp>
      <p:sp>
        <p:nvSpPr>
          <p:cNvPr id="613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140" name="PlaceHolder 3"/>
          <p:cNvSpPr>
            <a:spLocks noGrp="1"/>
          </p:cNvSpPr>
          <p:nvPr>
            <p:ph type="sldNum" idx="21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E0261A7B-B438-4800-AFA5-3D4A698F59C4}"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8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41" name="PlaceHolder 1"/>
          <p:cNvSpPr>
            <a:spLocks noGrp="1"/>
          </p:cNvSpPr>
          <p:nvPr>
            <p:ph type="sldImg"/>
          </p:nvPr>
        </p:nvSpPr>
        <p:spPr>
          <a:xfrm>
            <a:off x="685800" y="1143000"/>
            <a:ext cx="5486040" cy="3085920"/>
          </a:xfrm>
          <a:prstGeom prst="rect">
            <a:avLst/>
          </a:prstGeom>
          <a:ln w="0">
            <a:noFill/>
          </a:ln>
        </p:spPr>
      </p:sp>
      <p:sp>
        <p:nvSpPr>
          <p:cNvPr id="614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143" name="PlaceHolder 3"/>
          <p:cNvSpPr>
            <a:spLocks noGrp="1"/>
          </p:cNvSpPr>
          <p:nvPr>
            <p:ph type="sldNum" idx="22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5410FAF0-2480-4430-9A73-11D952A3B2D3}"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8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44" name="PlaceHolder 1"/>
          <p:cNvSpPr>
            <a:spLocks noGrp="1"/>
          </p:cNvSpPr>
          <p:nvPr>
            <p:ph type="sldImg"/>
          </p:nvPr>
        </p:nvSpPr>
        <p:spPr>
          <a:xfrm>
            <a:off x="685800" y="1143000"/>
            <a:ext cx="5486040" cy="3085920"/>
          </a:xfrm>
          <a:prstGeom prst="rect">
            <a:avLst/>
          </a:prstGeom>
          <a:ln w="0">
            <a:noFill/>
          </a:ln>
        </p:spPr>
      </p:sp>
      <p:sp>
        <p:nvSpPr>
          <p:cNvPr id="614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146" name="PlaceHolder 3"/>
          <p:cNvSpPr>
            <a:spLocks noGrp="1"/>
          </p:cNvSpPr>
          <p:nvPr>
            <p:ph type="sldNum" idx="22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D6EFDA78-C1A1-4F9F-9A16-BF6FB5857AA5}"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8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47" name="PlaceHolder 1"/>
          <p:cNvSpPr>
            <a:spLocks noGrp="1"/>
          </p:cNvSpPr>
          <p:nvPr>
            <p:ph type="sldImg"/>
          </p:nvPr>
        </p:nvSpPr>
        <p:spPr>
          <a:xfrm>
            <a:off x="685800" y="1143000"/>
            <a:ext cx="5486040" cy="3085920"/>
          </a:xfrm>
          <a:prstGeom prst="rect">
            <a:avLst/>
          </a:prstGeom>
          <a:ln w="0">
            <a:noFill/>
          </a:ln>
        </p:spPr>
      </p:sp>
      <p:sp>
        <p:nvSpPr>
          <p:cNvPr id="614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149" name="PlaceHolder 3"/>
          <p:cNvSpPr>
            <a:spLocks noGrp="1"/>
          </p:cNvSpPr>
          <p:nvPr>
            <p:ph type="sldNum" idx="22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358F839C-01AD-421F-B187-D7DB62115F18}"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8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50" name="PlaceHolder 1"/>
          <p:cNvSpPr>
            <a:spLocks noGrp="1"/>
          </p:cNvSpPr>
          <p:nvPr>
            <p:ph type="sldImg"/>
          </p:nvPr>
        </p:nvSpPr>
        <p:spPr>
          <a:xfrm>
            <a:off x="685800" y="1143000"/>
            <a:ext cx="5486040" cy="3085920"/>
          </a:xfrm>
          <a:prstGeom prst="rect">
            <a:avLst/>
          </a:prstGeom>
          <a:ln w="0">
            <a:noFill/>
          </a:ln>
        </p:spPr>
      </p:sp>
      <p:sp>
        <p:nvSpPr>
          <p:cNvPr id="615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152" name="PlaceHolder 3"/>
          <p:cNvSpPr>
            <a:spLocks noGrp="1"/>
          </p:cNvSpPr>
          <p:nvPr>
            <p:ph type="sldNum" idx="22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EF0AA650-128E-4BC1-81DE-1872026B170E}"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9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53" name="PlaceHolder 1"/>
          <p:cNvSpPr>
            <a:spLocks noGrp="1"/>
          </p:cNvSpPr>
          <p:nvPr>
            <p:ph type="sldImg"/>
          </p:nvPr>
        </p:nvSpPr>
        <p:spPr>
          <a:xfrm>
            <a:off x="685800" y="1143000"/>
            <a:ext cx="5486040" cy="3085920"/>
          </a:xfrm>
          <a:prstGeom prst="rect">
            <a:avLst/>
          </a:prstGeom>
          <a:ln w="0">
            <a:noFill/>
          </a:ln>
        </p:spPr>
      </p:sp>
      <p:sp>
        <p:nvSpPr>
          <p:cNvPr id="615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155" name="PlaceHolder 3"/>
          <p:cNvSpPr>
            <a:spLocks noGrp="1"/>
          </p:cNvSpPr>
          <p:nvPr>
            <p:ph type="sldNum" idx="22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D407BD7E-3FB9-416A-ADBC-1B2481121F29}"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9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56" name="PlaceHolder 1"/>
          <p:cNvSpPr>
            <a:spLocks noGrp="1"/>
          </p:cNvSpPr>
          <p:nvPr>
            <p:ph type="sldImg"/>
          </p:nvPr>
        </p:nvSpPr>
        <p:spPr>
          <a:xfrm>
            <a:off x="685800" y="1143000"/>
            <a:ext cx="5486040" cy="3085920"/>
          </a:xfrm>
          <a:prstGeom prst="rect">
            <a:avLst/>
          </a:prstGeom>
          <a:ln w="0">
            <a:noFill/>
          </a:ln>
        </p:spPr>
      </p:sp>
      <p:sp>
        <p:nvSpPr>
          <p:cNvPr id="615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158" name="PlaceHolder 3"/>
          <p:cNvSpPr>
            <a:spLocks noGrp="1"/>
          </p:cNvSpPr>
          <p:nvPr>
            <p:ph type="sldNum" idx="22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4A646840-18E8-4F25-A520-7ED19C74E530}"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9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59" name="PlaceHolder 1"/>
          <p:cNvSpPr>
            <a:spLocks noGrp="1"/>
          </p:cNvSpPr>
          <p:nvPr>
            <p:ph type="sldImg"/>
          </p:nvPr>
        </p:nvSpPr>
        <p:spPr>
          <a:xfrm>
            <a:off x="685800" y="1143000"/>
            <a:ext cx="5486040" cy="3085920"/>
          </a:xfrm>
          <a:prstGeom prst="rect">
            <a:avLst/>
          </a:prstGeom>
          <a:ln w="0">
            <a:noFill/>
          </a:ln>
        </p:spPr>
      </p:sp>
      <p:sp>
        <p:nvSpPr>
          <p:cNvPr id="616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161" name="PlaceHolder 3"/>
          <p:cNvSpPr>
            <a:spLocks noGrp="1"/>
          </p:cNvSpPr>
          <p:nvPr>
            <p:ph type="sldNum" idx="22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BC588ED3-5023-496F-AD61-6A7EDB0BEA74}"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9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62" name="PlaceHolder 1"/>
          <p:cNvSpPr>
            <a:spLocks noGrp="1"/>
          </p:cNvSpPr>
          <p:nvPr>
            <p:ph type="sldImg"/>
          </p:nvPr>
        </p:nvSpPr>
        <p:spPr>
          <a:xfrm>
            <a:off x="685800" y="1143000"/>
            <a:ext cx="5486040" cy="3085920"/>
          </a:xfrm>
          <a:prstGeom prst="rect">
            <a:avLst/>
          </a:prstGeom>
          <a:ln w="0">
            <a:noFill/>
          </a:ln>
        </p:spPr>
      </p:sp>
      <p:sp>
        <p:nvSpPr>
          <p:cNvPr id="616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164" name="PlaceHolder 3"/>
          <p:cNvSpPr>
            <a:spLocks noGrp="1"/>
          </p:cNvSpPr>
          <p:nvPr>
            <p:ph type="sldNum" idx="22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DDE91A87-9B82-47A6-9FCB-D7B609F9919C}"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9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65" name="PlaceHolder 1"/>
          <p:cNvSpPr>
            <a:spLocks noGrp="1"/>
          </p:cNvSpPr>
          <p:nvPr>
            <p:ph type="sldImg"/>
          </p:nvPr>
        </p:nvSpPr>
        <p:spPr>
          <a:xfrm>
            <a:off x="685800" y="1143000"/>
            <a:ext cx="5486040" cy="3085920"/>
          </a:xfrm>
          <a:prstGeom prst="rect">
            <a:avLst/>
          </a:prstGeom>
          <a:ln w="0">
            <a:noFill/>
          </a:ln>
        </p:spPr>
      </p:sp>
      <p:sp>
        <p:nvSpPr>
          <p:cNvPr id="616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167" name="PlaceHolder 3"/>
          <p:cNvSpPr>
            <a:spLocks noGrp="1"/>
          </p:cNvSpPr>
          <p:nvPr>
            <p:ph type="sldNum" idx="22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776A332A-16CD-48CD-90A5-21CC15504D3E}"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9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68" name="PlaceHolder 1"/>
          <p:cNvSpPr>
            <a:spLocks noGrp="1"/>
          </p:cNvSpPr>
          <p:nvPr>
            <p:ph type="sldImg"/>
          </p:nvPr>
        </p:nvSpPr>
        <p:spPr>
          <a:xfrm>
            <a:off x="685800" y="1143000"/>
            <a:ext cx="5486040" cy="3085920"/>
          </a:xfrm>
          <a:prstGeom prst="rect">
            <a:avLst/>
          </a:prstGeom>
          <a:ln w="0">
            <a:noFill/>
          </a:ln>
        </p:spPr>
      </p:sp>
      <p:sp>
        <p:nvSpPr>
          <p:cNvPr id="616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170" name="PlaceHolder 3"/>
          <p:cNvSpPr>
            <a:spLocks noGrp="1"/>
          </p:cNvSpPr>
          <p:nvPr>
            <p:ph type="sldNum" idx="22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2A7775EC-143F-4088-A95A-FF3D3E228144}"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9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71" name="PlaceHolder 1"/>
          <p:cNvSpPr>
            <a:spLocks noGrp="1"/>
          </p:cNvSpPr>
          <p:nvPr>
            <p:ph type="sldImg"/>
          </p:nvPr>
        </p:nvSpPr>
        <p:spPr>
          <a:xfrm>
            <a:off x="685800" y="1143000"/>
            <a:ext cx="5486040" cy="3085920"/>
          </a:xfrm>
          <a:prstGeom prst="rect">
            <a:avLst/>
          </a:prstGeom>
          <a:ln w="0">
            <a:noFill/>
          </a:ln>
        </p:spPr>
      </p:sp>
      <p:sp>
        <p:nvSpPr>
          <p:cNvPr id="617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173" name="PlaceHolder 3"/>
          <p:cNvSpPr>
            <a:spLocks noGrp="1"/>
          </p:cNvSpPr>
          <p:nvPr>
            <p:ph type="sldNum" idx="23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8AAE3F96-8924-41AD-B720-5C4F54F316A1}"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9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74" name="PlaceHolder 1"/>
          <p:cNvSpPr>
            <a:spLocks noGrp="1"/>
          </p:cNvSpPr>
          <p:nvPr>
            <p:ph type="sldImg"/>
          </p:nvPr>
        </p:nvSpPr>
        <p:spPr>
          <a:xfrm>
            <a:off x="685800" y="1143000"/>
            <a:ext cx="5486040" cy="3085920"/>
          </a:xfrm>
          <a:prstGeom prst="rect">
            <a:avLst/>
          </a:prstGeom>
          <a:ln w="0">
            <a:noFill/>
          </a:ln>
        </p:spPr>
      </p:sp>
      <p:sp>
        <p:nvSpPr>
          <p:cNvPr id="617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176" name="PlaceHolder 3"/>
          <p:cNvSpPr>
            <a:spLocks noGrp="1"/>
          </p:cNvSpPr>
          <p:nvPr>
            <p:ph type="sldNum" idx="23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5C1A61ED-5E6F-477D-9513-795B33F73083}"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9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77" name="PlaceHolder 1"/>
          <p:cNvSpPr>
            <a:spLocks noGrp="1"/>
          </p:cNvSpPr>
          <p:nvPr>
            <p:ph type="sldImg"/>
          </p:nvPr>
        </p:nvSpPr>
        <p:spPr>
          <a:xfrm>
            <a:off x="685800" y="1143000"/>
            <a:ext cx="5486040" cy="3085920"/>
          </a:xfrm>
          <a:prstGeom prst="rect">
            <a:avLst/>
          </a:prstGeom>
          <a:ln w="0">
            <a:noFill/>
          </a:ln>
        </p:spPr>
      </p:sp>
      <p:sp>
        <p:nvSpPr>
          <p:cNvPr id="617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179" name="PlaceHolder 3"/>
          <p:cNvSpPr>
            <a:spLocks noGrp="1"/>
          </p:cNvSpPr>
          <p:nvPr>
            <p:ph type="sldNum" idx="23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82F27612-959C-45AC-95A1-6BA2CFDFBA11}"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9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80" name="PlaceHolder 1"/>
          <p:cNvSpPr>
            <a:spLocks noGrp="1"/>
          </p:cNvSpPr>
          <p:nvPr>
            <p:ph type="sldImg"/>
          </p:nvPr>
        </p:nvSpPr>
        <p:spPr>
          <a:xfrm>
            <a:off x="685800" y="1143000"/>
            <a:ext cx="5486040" cy="3085920"/>
          </a:xfrm>
          <a:prstGeom prst="rect">
            <a:avLst/>
          </a:prstGeom>
          <a:ln w="0">
            <a:noFill/>
          </a:ln>
        </p:spPr>
      </p:sp>
      <p:sp>
        <p:nvSpPr>
          <p:cNvPr id="618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182" name="PlaceHolder 3"/>
          <p:cNvSpPr>
            <a:spLocks noGrp="1"/>
          </p:cNvSpPr>
          <p:nvPr>
            <p:ph type="sldNum" idx="23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C391A87C-7063-49EE-A7C9-D5573E8FADD6}"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0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83" name="PlaceHolder 1"/>
          <p:cNvSpPr>
            <a:spLocks noGrp="1"/>
          </p:cNvSpPr>
          <p:nvPr>
            <p:ph type="sldImg"/>
          </p:nvPr>
        </p:nvSpPr>
        <p:spPr>
          <a:xfrm>
            <a:off x="685800" y="1143000"/>
            <a:ext cx="5486040" cy="3085920"/>
          </a:xfrm>
          <a:prstGeom prst="rect">
            <a:avLst/>
          </a:prstGeom>
          <a:ln w="0">
            <a:noFill/>
          </a:ln>
        </p:spPr>
      </p:sp>
      <p:sp>
        <p:nvSpPr>
          <p:cNvPr id="618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185" name="PlaceHolder 3"/>
          <p:cNvSpPr>
            <a:spLocks noGrp="1"/>
          </p:cNvSpPr>
          <p:nvPr>
            <p:ph type="sldNum" idx="23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AE2B3922-4F5A-4191-8100-2DCFC9DFE2AD}"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0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86" name="PlaceHolder 1"/>
          <p:cNvSpPr>
            <a:spLocks noGrp="1"/>
          </p:cNvSpPr>
          <p:nvPr>
            <p:ph type="sldImg"/>
          </p:nvPr>
        </p:nvSpPr>
        <p:spPr>
          <a:xfrm>
            <a:off x="685800" y="1143000"/>
            <a:ext cx="5486040" cy="3085920"/>
          </a:xfrm>
          <a:prstGeom prst="rect">
            <a:avLst/>
          </a:prstGeom>
          <a:ln w="0">
            <a:noFill/>
          </a:ln>
        </p:spPr>
      </p:sp>
      <p:sp>
        <p:nvSpPr>
          <p:cNvPr id="618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188" name="PlaceHolder 3"/>
          <p:cNvSpPr>
            <a:spLocks noGrp="1"/>
          </p:cNvSpPr>
          <p:nvPr>
            <p:ph type="sldNum" idx="23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452F1856-C88D-4C5D-8BF3-86F5347A6288}"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0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89" name="PlaceHolder 1"/>
          <p:cNvSpPr>
            <a:spLocks noGrp="1"/>
          </p:cNvSpPr>
          <p:nvPr>
            <p:ph type="sldImg"/>
          </p:nvPr>
        </p:nvSpPr>
        <p:spPr>
          <a:xfrm>
            <a:off x="685800" y="1143000"/>
            <a:ext cx="5486040" cy="3085920"/>
          </a:xfrm>
          <a:prstGeom prst="rect">
            <a:avLst/>
          </a:prstGeom>
          <a:ln w="0">
            <a:noFill/>
          </a:ln>
        </p:spPr>
      </p:sp>
      <p:sp>
        <p:nvSpPr>
          <p:cNvPr id="619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191" name="PlaceHolder 3"/>
          <p:cNvSpPr>
            <a:spLocks noGrp="1"/>
          </p:cNvSpPr>
          <p:nvPr>
            <p:ph type="sldNum" idx="23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836D7575-6D7F-4CD5-81B2-CC566736A4E5}"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0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92" name="PlaceHolder 1"/>
          <p:cNvSpPr>
            <a:spLocks noGrp="1"/>
          </p:cNvSpPr>
          <p:nvPr>
            <p:ph type="sldImg"/>
          </p:nvPr>
        </p:nvSpPr>
        <p:spPr>
          <a:xfrm>
            <a:off x="685800" y="1143000"/>
            <a:ext cx="5486040" cy="3085920"/>
          </a:xfrm>
          <a:prstGeom prst="rect">
            <a:avLst/>
          </a:prstGeom>
          <a:ln w="0">
            <a:noFill/>
          </a:ln>
        </p:spPr>
      </p:sp>
      <p:sp>
        <p:nvSpPr>
          <p:cNvPr id="619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194" name="PlaceHolder 3"/>
          <p:cNvSpPr>
            <a:spLocks noGrp="1"/>
          </p:cNvSpPr>
          <p:nvPr>
            <p:ph type="sldNum" idx="23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D53244AC-AF6E-437E-9A21-05DE1F49B4A9}"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0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95" name="PlaceHolder 1"/>
          <p:cNvSpPr>
            <a:spLocks noGrp="1"/>
          </p:cNvSpPr>
          <p:nvPr>
            <p:ph type="sldImg"/>
          </p:nvPr>
        </p:nvSpPr>
        <p:spPr>
          <a:xfrm>
            <a:off x="685800" y="1143000"/>
            <a:ext cx="5486040" cy="3085920"/>
          </a:xfrm>
          <a:prstGeom prst="rect">
            <a:avLst/>
          </a:prstGeom>
          <a:ln w="0">
            <a:noFill/>
          </a:ln>
        </p:spPr>
      </p:sp>
      <p:sp>
        <p:nvSpPr>
          <p:cNvPr id="619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197" name="PlaceHolder 3"/>
          <p:cNvSpPr>
            <a:spLocks noGrp="1"/>
          </p:cNvSpPr>
          <p:nvPr>
            <p:ph type="sldNum" idx="23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35EEF784-D25A-4CD1-86E9-B6DCDBF6641E}"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0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98" name="PlaceHolder 1"/>
          <p:cNvSpPr>
            <a:spLocks noGrp="1"/>
          </p:cNvSpPr>
          <p:nvPr>
            <p:ph type="sldImg"/>
          </p:nvPr>
        </p:nvSpPr>
        <p:spPr>
          <a:xfrm>
            <a:off x="685800" y="1143000"/>
            <a:ext cx="5486040" cy="3085920"/>
          </a:xfrm>
          <a:prstGeom prst="rect">
            <a:avLst/>
          </a:prstGeom>
          <a:ln w="0">
            <a:noFill/>
          </a:ln>
        </p:spPr>
      </p:sp>
      <p:sp>
        <p:nvSpPr>
          <p:cNvPr id="619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00" name="PlaceHolder 3"/>
          <p:cNvSpPr>
            <a:spLocks noGrp="1"/>
          </p:cNvSpPr>
          <p:nvPr>
            <p:ph type="sldNum" idx="23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94EDB287-1B90-429A-A4F7-EB912CCD454E}"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0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01" name="PlaceHolder 1"/>
          <p:cNvSpPr>
            <a:spLocks noGrp="1"/>
          </p:cNvSpPr>
          <p:nvPr>
            <p:ph type="sldImg"/>
          </p:nvPr>
        </p:nvSpPr>
        <p:spPr>
          <a:xfrm>
            <a:off x="685800" y="1143000"/>
            <a:ext cx="5486040" cy="3085920"/>
          </a:xfrm>
          <a:prstGeom prst="rect">
            <a:avLst/>
          </a:prstGeom>
          <a:ln w="0">
            <a:noFill/>
          </a:ln>
        </p:spPr>
      </p:sp>
      <p:sp>
        <p:nvSpPr>
          <p:cNvPr id="620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03" name="PlaceHolder 3"/>
          <p:cNvSpPr>
            <a:spLocks noGrp="1"/>
          </p:cNvSpPr>
          <p:nvPr>
            <p:ph type="sldNum" idx="24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117F10C4-D781-4AFA-A92E-DF0169F22E37}"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0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04" name="PlaceHolder 1"/>
          <p:cNvSpPr>
            <a:spLocks noGrp="1"/>
          </p:cNvSpPr>
          <p:nvPr>
            <p:ph type="sldImg"/>
          </p:nvPr>
        </p:nvSpPr>
        <p:spPr>
          <a:xfrm>
            <a:off x="685800" y="1143000"/>
            <a:ext cx="5486040" cy="3085920"/>
          </a:xfrm>
          <a:prstGeom prst="rect">
            <a:avLst/>
          </a:prstGeom>
          <a:ln w="0">
            <a:noFill/>
          </a:ln>
        </p:spPr>
      </p:sp>
      <p:sp>
        <p:nvSpPr>
          <p:cNvPr id="620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06" name="PlaceHolder 3"/>
          <p:cNvSpPr>
            <a:spLocks noGrp="1"/>
          </p:cNvSpPr>
          <p:nvPr>
            <p:ph type="sldNum" idx="24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2BA87381-C497-4D5C-B24C-4DCFF16486FF}"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0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07" name="PlaceHolder 1"/>
          <p:cNvSpPr>
            <a:spLocks noGrp="1"/>
          </p:cNvSpPr>
          <p:nvPr>
            <p:ph type="sldImg"/>
          </p:nvPr>
        </p:nvSpPr>
        <p:spPr>
          <a:xfrm>
            <a:off x="685800" y="1143000"/>
            <a:ext cx="5486040" cy="3085920"/>
          </a:xfrm>
          <a:prstGeom prst="rect">
            <a:avLst/>
          </a:prstGeom>
          <a:ln w="0">
            <a:noFill/>
          </a:ln>
        </p:spPr>
      </p:sp>
      <p:sp>
        <p:nvSpPr>
          <p:cNvPr id="620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09" name="PlaceHolder 3"/>
          <p:cNvSpPr>
            <a:spLocks noGrp="1"/>
          </p:cNvSpPr>
          <p:nvPr>
            <p:ph type="sldNum" idx="24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762D5E49-7F3E-4791-AAF9-571A27A0476A}"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0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10" name="PlaceHolder 1"/>
          <p:cNvSpPr>
            <a:spLocks noGrp="1"/>
          </p:cNvSpPr>
          <p:nvPr>
            <p:ph type="sldImg"/>
          </p:nvPr>
        </p:nvSpPr>
        <p:spPr>
          <a:xfrm>
            <a:off x="685800" y="1143000"/>
            <a:ext cx="5486040" cy="3085920"/>
          </a:xfrm>
          <a:prstGeom prst="rect">
            <a:avLst/>
          </a:prstGeom>
          <a:ln w="0">
            <a:noFill/>
          </a:ln>
        </p:spPr>
      </p:sp>
      <p:sp>
        <p:nvSpPr>
          <p:cNvPr id="621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12" name="PlaceHolder 3"/>
          <p:cNvSpPr>
            <a:spLocks noGrp="1"/>
          </p:cNvSpPr>
          <p:nvPr>
            <p:ph type="sldNum" idx="24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417E9672-30DD-4E5D-8D4F-35EFBB5286E1}"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13" name="PlaceHolder 1"/>
          <p:cNvSpPr>
            <a:spLocks noGrp="1"/>
          </p:cNvSpPr>
          <p:nvPr>
            <p:ph type="sldImg"/>
          </p:nvPr>
        </p:nvSpPr>
        <p:spPr>
          <a:xfrm>
            <a:off x="685800" y="1143000"/>
            <a:ext cx="5486040" cy="3085920"/>
          </a:xfrm>
          <a:prstGeom prst="rect">
            <a:avLst/>
          </a:prstGeom>
          <a:ln w="0">
            <a:noFill/>
          </a:ln>
        </p:spPr>
      </p:sp>
      <p:sp>
        <p:nvSpPr>
          <p:cNvPr id="621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15" name="PlaceHolder 3"/>
          <p:cNvSpPr>
            <a:spLocks noGrp="1"/>
          </p:cNvSpPr>
          <p:nvPr>
            <p:ph type="sldNum" idx="24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D5F9C78E-FC83-4F1D-BEB0-6E07029F6E37}"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16" name="PlaceHolder 1"/>
          <p:cNvSpPr>
            <a:spLocks noGrp="1"/>
          </p:cNvSpPr>
          <p:nvPr>
            <p:ph type="sldImg"/>
          </p:nvPr>
        </p:nvSpPr>
        <p:spPr>
          <a:xfrm>
            <a:off x="685800" y="1143000"/>
            <a:ext cx="5486040" cy="3085920"/>
          </a:xfrm>
          <a:prstGeom prst="rect">
            <a:avLst/>
          </a:prstGeom>
          <a:ln w="0">
            <a:noFill/>
          </a:ln>
        </p:spPr>
      </p:sp>
      <p:sp>
        <p:nvSpPr>
          <p:cNvPr id="621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18" name="PlaceHolder 3"/>
          <p:cNvSpPr>
            <a:spLocks noGrp="1"/>
          </p:cNvSpPr>
          <p:nvPr>
            <p:ph type="sldNum" idx="24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03A88715-88A3-4CDE-8D5A-EECDA3112688}"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19" name="PlaceHolder 1"/>
          <p:cNvSpPr>
            <a:spLocks noGrp="1"/>
          </p:cNvSpPr>
          <p:nvPr>
            <p:ph type="sldImg"/>
          </p:nvPr>
        </p:nvSpPr>
        <p:spPr>
          <a:xfrm>
            <a:off x="685800" y="1143000"/>
            <a:ext cx="5486040" cy="3085920"/>
          </a:xfrm>
          <a:prstGeom prst="rect">
            <a:avLst/>
          </a:prstGeom>
          <a:ln w="0">
            <a:noFill/>
          </a:ln>
        </p:spPr>
      </p:sp>
      <p:sp>
        <p:nvSpPr>
          <p:cNvPr id="622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21" name="PlaceHolder 3"/>
          <p:cNvSpPr>
            <a:spLocks noGrp="1"/>
          </p:cNvSpPr>
          <p:nvPr>
            <p:ph type="sldNum" idx="24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7B4CB57F-8446-4B25-A2A7-1085D2F90B28}"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22" name="PlaceHolder 1"/>
          <p:cNvSpPr>
            <a:spLocks noGrp="1"/>
          </p:cNvSpPr>
          <p:nvPr>
            <p:ph type="sldImg"/>
          </p:nvPr>
        </p:nvSpPr>
        <p:spPr>
          <a:xfrm>
            <a:off x="685800" y="1143000"/>
            <a:ext cx="5486040" cy="3085920"/>
          </a:xfrm>
          <a:prstGeom prst="rect">
            <a:avLst/>
          </a:prstGeom>
          <a:ln w="0">
            <a:noFill/>
          </a:ln>
        </p:spPr>
      </p:sp>
      <p:sp>
        <p:nvSpPr>
          <p:cNvPr id="622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24" name="PlaceHolder 3"/>
          <p:cNvSpPr>
            <a:spLocks noGrp="1"/>
          </p:cNvSpPr>
          <p:nvPr>
            <p:ph type="sldNum" idx="24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BDED747F-9002-4FBF-B938-921B3DEFBD98}"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25" name="PlaceHolder 1"/>
          <p:cNvSpPr>
            <a:spLocks noGrp="1"/>
          </p:cNvSpPr>
          <p:nvPr>
            <p:ph type="sldImg"/>
          </p:nvPr>
        </p:nvSpPr>
        <p:spPr>
          <a:xfrm>
            <a:off x="685800" y="1143000"/>
            <a:ext cx="5486040" cy="3085920"/>
          </a:xfrm>
          <a:prstGeom prst="rect">
            <a:avLst/>
          </a:prstGeom>
          <a:ln w="0">
            <a:noFill/>
          </a:ln>
        </p:spPr>
      </p:sp>
      <p:sp>
        <p:nvSpPr>
          <p:cNvPr id="622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27" name="PlaceHolder 3"/>
          <p:cNvSpPr>
            <a:spLocks noGrp="1"/>
          </p:cNvSpPr>
          <p:nvPr>
            <p:ph type="sldNum" idx="24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A832F373-0555-4E67-A30D-0A601C228036}"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28" name="PlaceHolder 1"/>
          <p:cNvSpPr>
            <a:spLocks noGrp="1"/>
          </p:cNvSpPr>
          <p:nvPr>
            <p:ph type="sldImg"/>
          </p:nvPr>
        </p:nvSpPr>
        <p:spPr>
          <a:xfrm>
            <a:off x="685800" y="1143000"/>
            <a:ext cx="5486040" cy="3085920"/>
          </a:xfrm>
          <a:prstGeom prst="rect">
            <a:avLst/>
          </a:prstGeom>
          <a:ln w="0">
            <a:noFill/>
          </a:ln>
        </p:spPr>
      </p:sp>
      <p:sp>
        <p:nvSpPr>
          <p:cNvPr id="622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30" name="PlaceHolder 3"/>
          <p:cNvSpPr>
            <a:spLocks noGrp="1"/>
          </p:cNvSpPr>
          <p:nvPr>
            <p:ph type="sldNum" idx="24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97EC3570-485A-4ADE-8D48-D3BF9F1CDDF5}"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31" name="PlaceHolder 1"/>
          <p:cNvSpPr>
            <a:spLocks noGrp="1"/>
          </p:cNvSpPr>
          <p:nvPr>
            <p:ph type="sldImg"/>
          </p:nvPr>
        </p:nvSpPr>
        <p:spPr>
          <a:xfrm>
            <a:off x="685800" y="1143000"/>
            <a:ext cx="5486040" cy="3085920"/>
          </a:xfrm>
          <a:prstGeom prst="rect">
            <a:avLst/>
          </a:prstGeom>
          <a:ln w="0">
            <a:noFill/>
          </a:ln>
        </p:spPr>
      </p:sp>
      <p:sp>
        <p:nvSpPr>
          <p:cNvPr id="623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33" name="PlaceHolder 3"/>
          <p:cNvSpPr>
            <a:spLocks noGrp="1"/>
          </p:cNvSpPr>
          <p:nvPr>
            <p:ph type="sldNum" idx="25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E5AC3C8B-AE4E-4309-BA8F-0FF2F5E657C1}"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34" name="PlaceHolder 1"/>
          <p:cNvSpPr>
            <a:spLocks noGrp="1"/>
          </p:cNvSpPr>
          <p:nvPr>
            <p:ph type="sldImg"/>
          </p:nvPr>
        </p:nvSpPr>
        <p:spPr>
          <a:xfrm>
            <a:off x="685800" y="1143000"/>
            <a:ext cx="5486040" cy="3085920"/>
          </a:xfrm>
          <a:prstGeom prst="rect">
            <a:avLst/>
          </a:prstGeom>
          <a:ln w="0">
            <a:noFill/>
          </a:ln>
        </p:spPr>
      </p:sp>
      <p:sp>
        <p:nvSpPr>
          <p:cNvPr id="623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36" name="PlaceHolder 3"/>
          <p:cNvSpPr>
            <a:spLocks noGrp="1"/>
          </p:cNvSpPr>
          <p:nvPr>
            <p:ph type="sldNum" idx="25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54731BF0-9154-484E-8A44-C597F0FCAE88}"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37" name="PlaceHolder 1"/>
          <p:cNvSpPr>
            <a:spLocks noGrp="1"/>
          </p:cNvSpPr>
          <p:nvPr>
            <p:ph type="sldImg"/>
          </p:nvPr>
        </p:nvSpPr>
        <p:spPr>
          <a:xfrm>
            <a:off x="685800" y="1143000"/>
            <a:ext cx="5486040" cy="3085920"/>
          </a:xfrm>
          <a:prstGeom prst="rect">
            <a:avLst/>
          </a:prstGeom>
          <a:ln w="0">
            <a:noFill/>
          </a:ln>
        </p:spPr>
      </p:sp>
      <p:sp>
        <p:nvSpPr>
          <p:cNvPr id="623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39" name="PlaceHolder 3"/>
          <p:cNvSpPr>
            <a:spLocks noGrp="1"/>
          </p:cNvSpPr>
          <p:nvPr>
            <p:ph type="sldNum" idx="25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88CAC82E-A5B8-4E74-B532-C3298877C2E9}"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40" name="PlaceHolder 1"/>
          <p:cNvSpPr>
            <a:spLocks noGrp="1"/>
          </p:cNvSpPr>
          <p:nvPr>
            <p:ph type="sldImg"/>
          </p:nvPr>
        </p:nvSpPr>
        <p:spPr>
          <a:xfrm>
            <a:off x="685800" y="1143000"/>
            <a:ext cx="5486040" cy="3085920"/>
          </a:xfrm>
          <a:prstGeom prst="rect">
            <a:avLst/>
          </a:prstGeom>
          <a:ln w="0">
            <a:noFill/>
          </a:ln>
        </p:spPr>
      </p:sp>
      <p:sp>
        <p:nvSpPr>
          <p:cNvPr id="624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42" name="PlaceHolder 3"/>
          <p:cNvSpPr>
            <a:spLocks noGrp="1"/>
          </p:cNvSpPr>
          <p:nvPr>
            <p:ph type="sldNum" idx="25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4639B391-C853-4C6C-B3F0-D02B47427DAC}"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43" name="PlaceHolder 1"/>
          <p:cNvSpPr>
            <a:spLocks noGrp="1"/>
          </p:cNvSpPr>
          <p:nvPr>
            <p:ph type="sldImg"/>
          </p:nvPr>
        </p:nvSpPr>
        <p:spPr>
          <a:xfrm>
            <a:off x="685800" y="1143000"/>
            <a:ext cx="5486040" cy="3085920"/>
          </a:xfrm>
          <a:prstGeom prst="rect">
            <a:avLst/>
          </a:prstGeom>
          <a:ln w="0">
            <a:noFill/>
          </a:ln>
        </p:spPr>
      </p:sp>
      <p:sp>
        <p:nvSpPr>
          <p:cNvPr id="624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45" name="PlaceHolder 3"/>
          <p:cNvSpPr>
            <a:spLocks noGrp="1"/>
          </p:cNvSpPr>
          <p:nvPr>
            <p:ph type="sldNum" idx="25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6A63C5F9-6ABA-4BDE-95B1-E83694F26FF9}"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46" name="PlaceHolder 1"/>
          <p:cNvSpPr>
            <a:spLocks noGrp="1"/>
          </p:cNvSpPr>
          <p:nvPr>
            <p:ph type="sldImg"/>
          </p:nvPr>
        </p:nvSpPr>
        <p:spPr>
          <a:xfrm>
            <a:off x="685800" y="1143000"/>
            <a:ext cx="5486040" cy="3085920"/>
          </a:xfrm>
          <a:prstGeom prst="rect">
            <a:avLst/>
          </a:prstGeom>
          <a:ln w="0">
            <a:noFill/>
          </a:ln>
        </p:spPr>
      </p:sp>
      <p:sp>
        <p:nvSpPr>
          <p:cNvPr id="624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48" name="PlaceHolder 3"/>
          <p:cNvSpPr>
            <a:spLocks noGrp="1"/>
          </p:cNvSpPr>
          <p:nvPr>
            <p:ph type="sldNum" idx="25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BD68E983-72D7-4DCA-B2BB-AEDFAFBB2F54}"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49" name="PlaceHolder 1"/>
          <p:cNvSpPr>
            <a:spLocks noGrp="1"/>
          </p:cNvSpPr>
          <p:nvPr>
            <p:ph type="sldImg"/>
          </p:nvPr>
        </p:nvSpPr>
        <p:spPr>
          <a:xfrm>
            <a:off x="685800" y="1143000"/>
            <a:ext cx="5486040" cy="3085920"/>
          </a:xfrm>
          <a:prstGeom prst="rect">
            <a:avLst/>
          </a:prstGeom>
          <a:ln w="0">
            <a:noFill/>
          </a:ln>
        </p:spPr>
      </p:sp>
      <p:sp>
        <p:nvSpPr>
          <p:cNvPr id="625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51" name="PlaceHolder 3"/>
          <p:cNvSpPr>
            <a:spLocks noGrp="1"/>
          </p:cNvSpPr>
          <p:nvPr>
            <p:ph type="sldNum" idx="25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7247A4DA-0EA7-49B4-8D17-657F3AA2BFC3}"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52" name="PlaceHolder 1"/>
          <p:cNvSpPr>
            <a:spLocks noGrp="1"/>
          </p:cNvSpPr>
          <p:nvPr>
            <p:ph type="sldImg"/>
          </p:nvPr>
        </p:nvSpPr>
        <p:spPr>
          <a:xfrm>
            <a:off x="685800" y="1143000"/>
            <a:ext cx="5486040" cy="3085920"/>
          </a:xfrm>
          <a:prstGeom prst="rect">
            <a:avLst/>
          </a:prstGeom>
          <a:ln w="0">
            <a:noFill/>
          </a:ln>
        </p:spPr>
      </p:sp>
      <p:sp>
        <p:nvSpPr>
          <p:cNvPr id="625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54" name="PlaceHolder 3"/>
          <p:cNvSpPr>
            <a:spLocks noGrp="1"/>
          </p:cNvSpPr>
          <p:nvPr>
            <p:ph type="sldNum" idx="25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8DC2655B-DB4A-4365-A3EC-1F88E0574D41}"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55" name="PlaceHolder 1"/>
          <p:cNvSpPr>
            <a:spLocks noGrp="1"/>
          </p:cNvSpPr>
          <p:nvPr>
            <p:ph type="sldImg"/>
          </p:nvPr>
        </p:nvSpPr>
        <p:spPr>
          <a:xfrm>
            <a:off x="685800" y="1143000"/>
            <a:ext cx="5486040" cy="3085920"/>
          </a:xfrm>
          <a:prstGeom prst="rect">
            <a:avLst/>
          </a:prstGeom>
          <a:ln w="0">
            <a:noFill/>
          </a:ln>
        </p:spPr>
      </p:sp>
      <p:sp>
        <p:nvSpPr>
          <p:cNvPr id="625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57" name="PlaceHolder 3"/>
          <p:cNvSpPr>
            <a:spLocks noGrp="1"/>
          </p:cNvSpPr>
          <p:nvPr>
            <p:ph type="sldNum" idx="25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26485C74-E64A-41EE-9C54-2C6C67EDF106}"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58" name="PlaceHolder 1"/>
          <p:cNvSpPr>
            <a:spLocks noGrp="1"/>
          </p:cNvSpPr>
          <p:nvPr>
            <p:ph type="sldImg"/>
          </p:nvPr>
        </p:nvSpPr>
        <p:spPr>
          <a:xfrm>
            <a:off x="685800" y="1143000"/>
            <a:ext cx="5486040" cy="3085920"/>
          </a:xfrm>
          <a:prstGeom prst="rect">
            <a:avLst/>
          </a:prstGeom>
          <a:ln w="0">
            <a:noFill/>
          </a:ln>
        </p:spPr>
      </p:sp>
      <p:sp>
        <p:nvSpPr>
          <p:cNvPr id="625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60" name="PlaceHolder 3"/>
          <p:cNvSpPr>
            <a:spLocks noGrp="1"/>
          </p:cNvSpPr>
          <p:nvPr>
            <p:ph type="sldNum" idx="25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0278C6FA-07DC-47EE-8402-39619A692770}"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61" name="PlaceHolder 1"/>
          <p:cNvSpPr>
            <a:spLocks noGrp="1"/>
          </p:cNvSpPr>
          <p:nvPr>
            <p:ph type="sldImg"/>
          </p:nvPr>
        </p:nvSpPr>
        <p:spPr>
          <a:xfrm>
            <a:off x="685800" y="1143000"/>
            <a:ext cx="5486040" cy="3085920"/>
          </a:xfrm>
          <a:prstGeom prst="rect">
            <a:avLst/>
          </a:prstGeom>
          <a:ln w="0">
            <a:noFill/>
          </a:ln>
        </p:spPr>
      </p:sp>
      <p:sp>
        <p:nvSpPr>
          <p:cNvPr id="626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63" name="PlaceHolder 3"/>
          <p:cNvSpPr>
            <a:spLocks noGrp="1"/>
          </p:cNvSpPr>
          <p:nvPr>
            <p:ph type="sldNum" idx="26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089E5C75-5B1B-4627-8A47-76A67C4901EA}"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64" name="PlaceHolder 1"/>
          <p:cNvSpPr>
            <a:spLocks noGrp="1"/>
          </p:cNvSpPr>
          <p:nvPr>
            <p:ph type="sldImg"/>
          </p:nvPr>
        </p:nvSpPr>
        <p:spPr>
          <a:xfrm>
            <a:off x="685800" y="1143000"/>
            <a:ext cx="5486040" cy="3085920"/>
          </a:xfrm>
          <a:prstGeom prst="rect">
            <a:avLst/>
          </a:prstGeom>
          <a:ln w="0">
            <a:noFill/>
          </a:ln>
        </p:spPr>
      </p:sp>
      <p:sp>
        <p:nvSpPr>
          <p:cNvPr id="626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66" name="PlaceHolder 3"/>
          <p:cNvSpPr>
            <a:spLocks noGrp="1"/>
          </p:cNvSpPr>
          <p:nvPr>
            <p:ph type="sldNum" idx="26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16BB2CA3-F80C-469B-A1CF-641E27AB3931}"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67" name="PlaceHolder 1"/>
          <p:cNvSpPr>
            <a:spLocks noGrp="1"/>
          </p:cNvSpPr>
          <p:nvPr>
            <p:ph type="sldImg"/>
          </p:nvPr>
        </p:nvSpPr>
        <p:spPr>
          <a:xfrm>
            <a:off x="685800" y="1143000"/>
            <a:ext cx="5486040" cy="3085920"/>
          </a:xfrm>
          <a:prstGeom prst="rect">
            <a:avLst/>
          </a:prstGeom>
          <a:ln w="0">
            <a:noFill/>
          </a:ln>
        </p:spPr>
      </p:sp>
      <p:sp>
        <p:nvSpPr>
          <p:cNvPr id="626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69" name="PlaceHolder 3"/>
          <p:cNvSpPr>
            <a:spLocks noGrp="1"/>
          </p:cNvSpPr>
          <p:nvPr>
            <p:ph type="sldNum" idx="26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BC46B6F3-BF05-4B4B-8601-0130DCF90A4D}"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70" name="PlaceHolder 1"/>
          <p:cNvSpPr>
            <a:spLocks noGrp="1"/>
          </p:cNvSpPr>
          <p:nvPr>
            <p:ph type="sldImg"/>
          </p:nvPr>
        </p:nvSpPr>
        <p:spPr>
          <a:xfrm>
            <a:off x="685800" y="1143000"/>
            <a:ext cx="5486040" cy="3085920"/>
          </a:xfrm>
          <a:prstGeom prst="rect">
            <a:avLst/>
          </a:prstGeom>
          <a:ln w="0">
            <a:noFill/>
          </a:ln>
        </p:spPr>
      </p:sp>
      <p:sp>
        <p:nvSpPr>
          <p:cNvPr id="627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72" name="PlaceHolder 3"/>
          <p:cNvSpPr>
            <a:spLocks noGrp="1"/>
          </p:cNvSpPr>
          <p:nvPr>
            <p:ph type="sldNum" idx="26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F1769633-BF04-44BC-A72C-F7E2C37429F2}"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73" name="PlaceHolder 1"/>
          <p:cNvSpPr>
            <a:spLocks noGrp="1"/>
          </p:cNvSpPr>
          <p:nvPr>
            <p:ph type="sldImg"/>
          </p:nvPr>
        </p:nvSpPr>
        <p:spPr>
          <a:xfrm>
            <a:off x="685800" y="1143000"/>
            <a:ext cx="5486040" cy="3085920"/>
          </a:xfrm>
          <a:prstGeom prst="rect">
            <a:avLst/>
          </a:prstGeom>
          <a:ln w="0">
            <a:noFill/>
          </a:ln>
        </p:spPr>
      </p:sp>
      <p:sp>
        <p:nvSpPr>
          <p:cNvPr id="627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75" name="PlaceHolder 3"/>
          <p:cNvSpPr>
            <a:spLocks noGrp="1"/>
          </p:cNvSpPr>
          <p:nvPr>
            <p:ph type="sldNum" idx="26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4FD05518-E249-4CCE-9116-B2717CFEE251}"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76" name="PlaceHolder 1"/>
          <p:cNvSpPr>
            <a:spLocks noGrp="1"/>
          </p:cNvSpPr>
          <p:nvPr>
            <p:ph type="sldImg"/>
          </p:nvPr>
        </p:nvSpPr>
        <p:spPr>
          <a:xfrm>
            <a:off x="685800" y="1143000"/>
            <a:ext cx="5486040" cy="3085920"/>
          </a:xfrm>
          <a:prstGeom prst="rect">
            <a:avLst/>
          </a:prstGeom>
          <a:ln w="0">
            <a:noFill/>
          </a:ln>
        </p:spPr>
      </p:sp>
      <p:sp>
        <p:nvSpPr>
          <p:cNvPr id="627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78" name="PlaceHolder 3"/>
          <p:cNvSpPr>
            <a:spLocks noGrp="1"/>
          </p:cNvSpPr>
          <p:nvPr>
            <p:ph type="sldNum" idx="26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FBB29EC0-05A7-4FB7-B2C1-B359A451FD0A}"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79" name="PlaceHolder 1"/>
          <p:cNvSpPr>
            <a:spLocks noGrp="1"/>
          </p:cNvSpPr>
          <p:nvPr>
            <p:ph type="sldImg"/>
          </p:nvPr>
        </p:nvSpPr>
        <p:spPr>
          <a:xfrm>
            <a:off x="685800" y="1143000"/>
            <a:ext cx="5486040" cy="3085920"/>
          </a:xfrm>
          <a:prstGeom prst="rect">
            <a:avLst/>
          </a:prstGeom>
          <a:ln w="0">
            <a:noFill/>
          </a:ln>
        </p:spPr>
      </p:sp>
      <p:sp>
        <p:nvSpPr>
          <p:cNvPr id="628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81" name="PlaceHolder 3"/>
          <p:cNvSpPr>
            <a:spLocks noGrp="1"/>
          </p:cNvSpPr>
          <p:nvPr>
            <p:ph type="sldNum" idx="26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B4316835-D039-4FB9-900E-2F3A4C442BF8}"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82" name="PlaceHolder 1"/>
          <p:cNvSpPr>
            <a:spLocks noGrp="1"/>
          </p:cNvSpPr>
          <p:nvPr>
            <p:ph type="sldImg"/>
          </p:nvPr>
        </p:nvSpPr>
        <p:spPr>
          <a:xfrm>
            <a:off x="685800" y="1143000"/>
            <a:ext cx="5486040" cy="3085920"/>
          </a:xfrm>
          <a:prstGeom prst="rect">
            <a:avLst/>
          </a:prstGeom>
          <a:ln w="0">
            <a:noFill/>
          </a:ln>
        </p:spPr>
      </p:sp>
      <p:sp>
        <p:nvSpPr>
          <p:cNvPr id="628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84" name="PlaceHolder 3"/>
          <p:cNvSpPr>
            <a:spLocks noGrp="1"/>
          </p:cNvSpPr>
          <p:nvPr>
            <p:ph type="sldNum" idx="26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A5C9C20C-20DA-4BBF-87BA-9F8F588CA2DF}"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85" name="PlaceHolder 1"/>
          <p:cNvSpPr>
            <a:spLocks noGrp="1"/>
          </p:cNvSpPr>
          <p:nvPr>
            <p:ph type="sldImg"/>
          </p:nvPr>
        </p:nvSpPr>
        <p:spPr>
          <a:xfrm>
            <a:off x="685800" y="1143000"/>
            <a:ext cx="5486040" cy="3085920"/>
          </a:xfrm>
          <a:prstGeom prst="rect">
            <a:avLst/>
          </a:prstGeom>
          <a:ln w="0">
            <a:noFill/>
          </a:ln>
        </p:spPr>
      </p:sp>
      <p:sp>
        <p:nvSpPr>
          <p:cNvPr id="628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87" name="PlaceHolder 3"/>
          <p:cNvSpPr>
            <a:spLocks noGrp="1"/>
          </p:cNvSpPr>
          <p:nvPr>
            <p:ph type="sldNum" idx="26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5A5A0CBE-9432-4C86-A434-7DBD8B7C8E2B}"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88" name="PlaceHolder 1"/>
          <p:cNvSpPr>
            <a:spLocks noGrp="1"/>
          </p:cNvSpPr>
          <p:nvPr>
            <p:ph type="sldImg"/>
          </p:nvPr>
        </p:nvSpPr>
        <p:spPr>
          <a:xfrm>
            <a:off x="685800" y="1143000"/>
            <a:ext cx="5486040" cy="3085920"/>
          </a:xfrm>
          <a:prstGeom prst="rect">
            <a:avLst/>
          </a:prstGeom>
          <a:ln w="0">
            <a:noFill/>
          </a:ln>
        </p:spPr>
      </p:sp>
      <p:sp>
        <p:nvSpPr>
          <p:cNvPr id="628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90" name="PlaceHolder 3"/>
          <p:cNvSpPr>
            <a:spLocks noGrp="1"/>
          </p:cNvSpPr>
          <p:nvPr>
            <p:ph type="sldNum" idx="26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01C6546E-C817-4CC7-A7F5-575BD2011BE9}"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91" name="PlaceHolder 1"/>
          <p:cNvSpPr>
            <a:spLocks noGrp="1"/>
          </p:cNvSpPr>
          <p:nvPr>
            <p:ph type="sldImg"/>
          </p:nvPr>
        </p:nvSpPr>
        <p:spPr>
          <a:xfrm>
            <a:off x="685800" y="1143000"/>
            <a:ext cx="5486040" cy="3085920"/>
          </a:xfrm>
          <a:prstGeom prst="rect">
            <a:avLst/>
          </a:prstGeom>
          <a:ln w="0">
            <a:noFill/>
          </a:ln>
        </p:spPr>
      </p:sp>
      <p:sp>
        <p:nvSpPr>
          <p:cNvPr id="629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93" name="PlaceHolder 3"/>
          <p:cNvSpPr>
            <a:spLocks noGrp="1"/>
          </p:cNvSpPr>
          <p:nvPr>
            <p:ph type="sldNum" idx="27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23C6536C-23DD-44B5-A042-C77BEEC25879}"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94" name="PlaceHolder 1"/>
          <p:cNvSpPr>
            <a:spLocks noGrp="1"/>
          </p:cNvSpPr>
          <p:nvPr>
            <p:ph type="sldImg"/>
          </p:nvPr>
        </p:nvSpPr>
        <p:spPr>
          <a:xfrm>
            <a:off x="685800" y="1143000"/>
            <a:ext cx="5486040" cy="3085920"/>
          </a:xfrm>
          <a:prstGeom prst="rect">
            <a:avLst/>
          </a:prstGeom>
          <a:ln w="0">
            <a:noFill/>
          </a:ln>
        </p:spPr>
      </p:sp>
      <p:sp>
        <p:nvSpPr>
          <p:cNvPr id="629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96" name="PlaceHolder 3"/>
          <p:cNvSpPr>
            <a:spLocks noGrp="1"/>
          </p:cNvSpPr>
          <p:nvPr>
            <p:ph type="sldNum" idx="27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8B7E5836-47B0-4753-ABC7-C94976FE5AA4}"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97" name="PlaceHolder 1"/>
          <p:cNvSpPr>
            <a:spLocks noGrp="1"/>
          </p:cNvSpPr>
          <p:nvPr>
            <p:ph type="sldImg"/>
          </p:nvPr>
        </p:nvSpPr>
        <p:spPr>
          <a:xfrm>
            <a:off x="685800" y="1143000"/>
            <a:ext cx="5486040" cy="3085920"/>
          </a:xfrm>
          <a:prstGeom prst="rect">
            <a:avLst/>
          </a:prstGeom>
          <a:ln w="0">
            <a:noFill/>
          </a:ln>
        </p:spPr>
      </p:sp>
      <p:sp>
        <p:nvSpPr>
          <p:cNvPr id="629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299" name="PlaceHolder 3"/>
          <p:cNvSpPr>
            <a:spLocks noGrp="1"/>
          </p:cNvSpPr>
          <p:nvPr>
            <p:ph type="sldNum" idx="27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88672A1D-17B9-49BF-8D45-58198FA77762}"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00" name="PlaceHolder 1"/>
          <p:cNvSpPr>
            <a:spLocks noGrp="1"/>
          </p:cNvSpPr>
          <p:nvPr>
            <p:ph type="sldImg"/>
          </p:nvPr>
        </p:nvSpPr>
        <p:spPr>
          <a:xfrm>
            <a:off x="685800" y="1143000"/>
            <a:ext cx="5486040" cy="3085920"/>
          </a:xfrm>
          <a:prstGeom prst="rect">
            <a:avLst/>
          </a:prstGeom>
          <a:ln w="0">
            <a:noFill/>
          </a:ln>
        </p:spPr>
      </p:sp>
      <p:sp>
        <p:nvSpPr>
          <p:cNvPr id="630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302" name="PlaceHolder 3"/>
          <p:cNvSpPr>
            <a:spLocks noGrp="1"/>
          </p:cNvSpPr>
          <p:nvPr>
            <p:ph type="sldNum" idx="27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DDFB18B6-E2A2-4095-91C9-4FC5C1756D6D}"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03" name="PlaceHolder 1"/>
          <p:cNvSpPr>
            <a:spLocks noGrp="1"/>
          </p:cNvSpPr>
          <p:nvPr>
            <p:ph type="sldImg"/>
          </p:nvPr>
        </p:nvSpPr>
        <p:spPr>
          <a:xfrm>
            <a:off x="685800" y="1143000"/>
            <a:ext cx="5486040" cy="3085920"/>
          </a:xfrm>
          <a:prstGeom prst="rect">
            <a:avLst/>
          </a:prstGeom>
          <a:ln w="0">
            <a:noFill/>
          </a:ln>
        </p:spPr>
      </p:sp>
      <p:sp>
        <p:nvSpPr>
          <p:cNvPr id="630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305" name="PlaceHolder 3"/>
          <p:cNvSpPr>
            <a:spLocks noGrp="1"/>
          </p:cNvSpPr>
          <p:nvPr>
            <p:ph type="sldNum" idx="27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F0C59552-6204-4581-99B4-3F697A8CB096}"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06" name="PlaceHolder 1"/>
          <p:cNvSpPr>
            <a:spLocks noGrp="1"/>
          </p:cNvSpPr>
          <p:nvPr>
            <p:ph type="sldImg"/>
          </p:nvPr>
        </p:nvSpPr>
        <p:spPr>
          <a:xfrm>
            <a:off x="685800" y="1143000"/>
            <a:ext cx="5486040" cy="3085920"/>
          </a:xfrm>
          <a:prstGeom prst="rect">
            <a:avLst/>
          </a:prstGeom>
          <a:ln w="0">
            <a:noFill/>
          </a:ln>
        </p:spPr>
      </p:sp>
      <p:sp>
        <p:nvSpPr>
          <p:cNvPr id="630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308" name="PlaceHolder 3"/>
          <p:cNvSpPr>
            <a:spLocks noGrp="1"/>
          </p:cNvSpPr>
          <p:nvPr>
            <p:ph type="sldNum" idx="27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A466E5EA-6197-4CF6-AE6E-A448D3BD1E66}"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09" name="PlaceHolder 1"/>
          <p:cNvSpPr>
            <a:spLocks noGrp="1"/>
          </p:cNvSpPr>
          <p:nvPr>
            <p:ph type="sldImg"/>
          </p:nvPr>
        </p:nvSpPr>
        <p:spPr>
          <a:xfrm>
            <a:off x="685800" y="1143000"/>
            <a:ext cx="5486040" cy="3085920"/>
          </a:xfrm>
          <a:prstGeom prst="rect">
            <a:avLst/>
          </a:prstGeom>
          <a:ln w="0">
            <a:noFill/>
          </a:ln>
        </p:spPr>
      </p:sp>
      <p:sp>
        <p:nvSpPr>
          <p:cNvPr id="631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311" name="PlaceHolder 3"/>
          <p:cNvSpPr>
            <a:spLocks noGrp="1"/>
          </p:cNvSpPr>
          <p:nvPr>
            <p:ph type="sldNum" idx="27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B86A9572-3336-4825-BDEE-A36824220DBB}"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12" name="PlaceHolder 1"/>
          <p:cNvSpPr>
            <a:spLocks noGrp="1"/>
          </p:cNvSpPr>
          <p:nvPr>
            <p:ph type="sldImg"/>
          </p:nvPr>
        </p:nvSpPr>
        <p:spPr>
          <a:xfrm>
            <a:off x="685800" y="1143000"/>
            <a:ext cx="5486040" cy="3085920"/>
          </a:xfrm>
          <a:prstGeom prst="rect">
            <a:avLst/>
          </a:prstGeom>
          <a:ln w="0">
            <a:noFill/>
          </a:ln>
        </p:spPr>
      </p:sp>
      <p:sp>
        <p:nvSpPr>
          <p:cNvPr id="631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314" name="PlaceHolder 3"/>
          <p:cNvSpPr>
            <a:spLocks noGrp="1"/>
          </p:cNvSpPr>
          <p:nvPr>
            <p:ph type="sldNum" idx="27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39BC1951-5AE1-419E-AA44-81AA0176EC20}"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15" name="PlaceHolder 1"/>
          <p:cNvSpPr>
            <a:spLocks noGrp="1"/>
          </p:cNvSpPr>
          <p:nvPr>
            <p:ph type="sldImg"/>
          </p:nvPr>
        </p:nvSpPr>
        <p:spPr>
          <a:xfrm>
            <a:off x="685800" y="1143000"/>
            <a:ext cx="5486040" cy="3085920"/>
          </a:xfrm>
          <a:prstGeom prst="rect">
            <a:avLst/>
          </a:prstGeom>
          <a:ln w="0">
            <a:noFill/>
          </a:ln>
        </p:spPr>
      </p:sp>
      <p:sp>
        <p:nvSpPr>
          <p:cNvPr id="631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317" name="PlaceHolder 3"/>
          <p:cNvSpPr>
            <a:spLocks noGrp="1"/>
          </p:cNvSpPr>
          <p:nvPr>
            <p:ph type="sldNum" idx="27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0086F25A-76AD-4482-93F1-20FD97B254E8}"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18" name="PlaceHolder 1"/>
          <p:cNvSpPr>
            <a:spLocks noGrp="1"/>
          </p:cNvSpPr>
          <p:nvPr>
            <p:ph type="sldImg"/>
          </p:nvPr>
        </p:nvSpPr>
        <p:spPr>
          <a:xfrm>
            <a:off x="685800" y="1143000"/>
            <a:ext cx="5486040" cy="3085920"/>
          </a:xfrm>
          <a:prstGeom prst="rect">
            <a:avLst/>
          </a:prstGeom>
          <a:ln w="0">
            <a:noFill/>
          </a:ln>
        </p:spPr>
      </p:sp>
      <p:sp>
        <p:nvSpPr>
          <p:cNvPr id="631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320" name="PlaceHolder 3"/>
          <p:cNvSpPr>
            <a:spLocks noGrp="1"/>
          </p:cNvSpPr>
          <p:nvPr>
            <p:ph type="sldNum" idx="27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2C93D6FE-D8E8-4DC8-ABB5-3F757C52F502}"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4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21" name="PlaceHolder 1"/>
          <p:cNvSpPr>
            <a:spLocks noGrp="1"/>
          </p:cNvSpPr>
          <p:nvPr>
            <p:ph type="sldImg"/>
          </p:nvPr>
        </p:nvSpPr>
        <p:spPr>
          <a:xfrm>
            <a:off x="685800" y="1143000"/>
            <a:ext cx="5486040" cy="3085920"/>
          </a:xfrm>
          <a:prstGeom prst="rect">
            <a:avLst/>
          </a:prstGeom>
          <a:ln w="0">
            <a:noFill/>
          </a:ln>
        </p:spPr>
      </p:sp>
      <p:sp>
        <p:nvSpPr>
          <p:cNvPr id="632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323" name="PlaceHolder 3"/>
          <p:cNvSpPr>
            <a:spLocks noGrp="1"/>
          </p:cNvSpPr>
          <p:nvPr>
            <p:ph type="sldNum" idx="28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1A73906E-C52B-4567-A691-7289158C69E1}"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4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24" name="PlaceHolder 1"/>
          <p:cNvSpPr>
            <a:spLocks noGrp="1"/>
          </p:cNvSpPr>
          <p:nvPr>
            <p:ph type="sldImg"/>
          </p:nvPr>
        </p:nvSpPr>
        <p:spPr>
          <a:xfrm>
            <a:off x="685800" y="1143000"/>
            <a:ext cx="5486040" cy="3085920"/>
          </a:xfrm>
          <a:prstGeom prst="rect">
            <a:avLst/>
          </a:prstGeom>
          <a:ln w="0">
            <a:noFill/>
          </a:ln>
        </p:spPr>
      </p:sp>
      <p:sp>
        <p:nvSpPr>
          <p:cNvPr id="632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326" name="PlaceHolder 3"/>
          <p:cNvSpPr>
            <a:spLocks noGrp="1"/>
          </p:cNvSpPr>
          <p:nvPr>
            <p:ph type="sldNum" idx="28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72CDF717-DA99-4E87-9F4B-8B3376F086B5}"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4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27" name="PlaceHolder 1"/>
          <p:cNvSpPr>
            <a:spLocks noGrp="1"/>
          </p:cNvSpPr>
          <p:nvPr>
            <p:ph type="sldImg"/>
          </p:nvPr>
        </p:nvSpPr>
        <p:spPr>
          <a:xfrm>
            <a:off x="685800" y="1143000"/>
            <a:ext cx="5486040" cy="3085920"/>
          </a:xfrm>
          <a:prstGeom prst="rect">
            <a:avLst/>
          </a:prstGeom>
          <a:ln w="0">
            <a:noFill/>
          </a:ln>
        </p:spPr>
      </p:sp>
      <p:sp>
        <p:nvSpPr>
          <p:cNvPr id="632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329" name="PlaceHolder 3"/>
          <p:cNvSpPr>
            <a:spLocks noGrp="1"/>
          </p:cNvSpPr>
          <p:nvPr>
            <p:ph type="sldNum" idx="28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356AE828-2296-443F-B7F4-E300D6282D29}"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4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30" name="PlaceHolder 1"/>
          <p:cNvSpPr>
            <a:spLocks noGrp="1"/>
          </p:cNvSpPr>
          <p:nvPr>
            <p:ph type="sldImg"/>
          </p:nvPr>
        </p:nvSpPr>
        <p:spPr>
          <a:xfrm>
            <a:off x="685800" y="1143000"/>
            <a:ext cx="5486040" cy="3085920"/>
          </a:xfrm>
          <a:prstGeom prst="rect">
            <a:avLst/>
          </a:prstGeom>
          <a:ln w="0">
            <a:noFill/>
          </a:ln>
        </p:spPr>
      </p:sp>
      <p:sp>
        <p:nvSpPr>
          <p:cNvPr id="633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332" name="PlaceHolder 3"/>
          <p:cNvSpPr>
            <a:spLocks noGrp="1"/>
          </p:cNvSpPr>
          <p:nvPr>
            <p:ph type="sldNum" idx="28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B157028C-7B45-4D37-A2D7-B322E8C5B834}"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5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33" name="PlaceHolder 1"/>
          <p:cNvSpPr>
            <a:spLocks noGrp="1"/>
          </p:cNvSpPr>
          <p:nvPr>
            <p:ph type="sldImg"/>
          </p:nvPr>
        </p:nvSpPr>
        <p:spPr>
          <a:xfrm>
            <a:off x="685800" y="1143000"/>
            <a:ext cx="5486040" cy="3085920"/>
          </a:xfrm>
          <a:prstGeom prst="rect">
            <a:avLst/>
          </a:prstGeom>
          <a:ln w="0">
            <a:noFill/>
          </a:ln>
        </p:spPr>
      </p:sp>
      <p:sp>
        <p:nvSpPr>
          <p:cNvPr id="633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buNone/>
            </a:pPr>
            <a:endParaRPr b="0" lang="en-US" sz="1800" strike="noStrike" u="none">
              <a:solidFill>
                <a:srgbClr val="000000"/>
              </a:solidFill>
              <a:effectLst/>
              <a:uFillTx/>
              <a:latin typeface="Arial"/>
            </a:endParaRPr>
          </a:p>
        </p:txBody>
      </p:sp>
      <p:sp>
        <p:nvSpPr>
          <p:cNvPr id="6335" name="PlaceHolder 3"/>
          <p:cNvSpPr>
            <a:spLocks noGrp="1"/>
          </p:cNvSpPr>
          <p:nvPr>
            <p:ph type="sldNum" idx="28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BF8D36B8-4066-4436-A1D6-0A554D7ABD35}"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
        <p:nvSpPr>
          <p:cNvPr id="2" name="PlaceHolder 1"/>
          <p:cNvSpPr>
            <a:spLocks noGrp="1"/>
          </p:cNvSpPr>
          <p:nvPr>
            <p:ph type="sldNum" idx="1"/>
          </p:nvPr>
        </p:nvSpPr>
        <p:spPr/>
        <p:txBody>
          <a:bodyPr/>
          <a:p>
            <a:fld id="{4DB190EA-9209-4BC8-A23D-E43D60486D85}" type="slidenum">
              <a:t>&lt;#&gt;</a:t>
            </a:fld>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sldNum" idx="1"/>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9F52EDDC-334A-4713-9B64-CF7E1588598E}"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
        <p:nvSpPr>
          <p:cNvPr id="1" name="PlaceHolder 2"/>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r>
              <a:rPr b="0" lang="en-US" sz="1800" strike="noStrike" u="none">
                <a:solidFill>
                  <a:schemeClr val="dk1"/>
                </a:solidFill>
                <a:effectLst/>
                <a:uFillTx/>
                <a:latin typeface="Calibri"/>
              </a:rPr>
              <a:t>Click to edit the title text format</a:t>
            </a:r>
            <a:endParaRPr b="0" lang="en-US" sz="1800" strike="noStrike" u="none">
              <a:solidFill>
                <a:schemeClr val="dk1"/>
              </a:solidFill>
              <a:effectLst/>
              <a:uFillTx/>
              <a:latin typeface="Calibri"/>
            </a:endParaRPr>
          </a:p>
        </p:txBody>
      </p:sp>
      <p:sp>
        <p:nvSpPr>
          <p:cNvPr id="2"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trike="noStrike" u="none">
                <a:solidFill>
                  <a:schemeClr val="dk1"/>
                </a:solidFill>
                <a:effectLst/>
                <a:uFillTx/>
                <a:latin typeface="Calibri"/>
              </a:rPr>
              <a:t>Click to edit the outline text format</a:t>
            </a:r>
            <a:endParaRPr b="0" lang="en-US" sz="3200" strike="noStrike" u="none">
              <a:solidFill>
                <a:schemeClr val="dk1"/>
              </a:solidFill>
              <a:effectLst/>
              <a:uFillTx/>
              <a:latin typeface="Calibri"/>
            </a:endParaRPr>
          </a:p>
          <a:p>
            <a:pPr lvl="1" marL="864000" indent="-324000">
              <a:spcBef>
                <a:spcPts val="1134"/>
              </a:spcBef>
              <a:buClr>
                <a:srgbClr val="000000"/>
              </a:buClr>
              <a:buSzPct val="75000"/>
              <a:buFont typeface="Symbol" charset="2"/>
              <a:buChar char=""/>
            </a:pPr>
            <a:r>
              <a:rPr b="0" lang="en-US" sz="2400" strike="noStrike" u="none">
                <a:solidFill>
                  <a:schemeClr val="dk1"/>
                </a:solidFill>
                <a:effectLst/>
                <a:uFillTx/>
                <a:latin typeface="Calibri"/>
              </a:rPr>
              <a:t>Second Outline Level</a:t>
            </a:r>
            <a:endParaRPr b="0" lang="en-US" sz="2400" strike="noStrike" u="none">
              <a:solidFill>
                <a:schemeClr val="dk1"/>
              </a:solidFill>
              <a:effectLst/>
              <a:uFillTx/>
              <a:latin typeface="Calibri"/>
            </a:endParaRPr>
          </a:p>
          <a:p>
            <a:pPr lvl="2" marL="1296000" indent="-288000">
              <a:spcBef>
                <a:spcPts val="850"/>
              </a:spcBef>
              <a:buClr>
                <a:srgbClr val="000000"/>
              </a:buClr>
              <a:buSzPct val="45000"/>
              <a:buFont typeface="Wingdings" charset="2"/>
              <a:buChar char=""/>
            </a:pPr>
            <a:r>
              <a:rPr b="0" lang="en-US" sz="2000" strike="noStrike" u="none">
                <a:solidFill>
                  <a:schemeClr val="dk1"/>
                </a:solidFill>
                <a:effectLst/>
                <a:uFillTx/>
                <a:latin typeface="Calibri"/>
              </a:rPr>
              <a:t>Third Outline Level</a:t>
            </a:r>
            <a:endParaRPr b="0" lang="en-US" sz="2000" strike="noStrike" u="none">
              <a:solidFill>
                <a:schemeClr val="dk1"/>
              </a:solidFill>
              <a:effectLst/>
              <a:uFillTx/>
              <a:latin typeface="Calibri"/>
            </a:endParaRPr>
          </a:p>
          <a:p>
            <a:pPr lvl="3" marL="1728000" indent="-216000">
              <a:spcBef>
                <a:spcPts val="567"/>
              </a:spcBef>
              <a:buClr>
                <a:srgbClr val="000000"/>
              </a:buClr>
              <a:buSzPct val="75000"/>
              <a:buFont typeface="Symbol" charset="2"/>
              <a:buChar char=""/>
            </a:pPr>
            <a:r>
              <a:rPr b="0" lang="en-US" sz="2000" strike="noStrike" u="none">
                <a:solidFill>
                  <a:schemeClr val="dk1"/>
                </a:solidFill>
                <a:effectLst/>
                <a:uFillTx/>
                <a:latin typeface="Calibri"/>
              </a:rPr>
              <a:t>Fourth Outline Level</a:t>
            </a:r>
            <a:endParaRPr b="0" lang="en-US" sz="2000" strike="noStrike" u="none">
              <a:solidFill>
                <a:schemeClr val="dk1"/>
              </a:solidFill>
              <a:effectLst/>
              <a:uFillTx/>
              <a:latin typeface="Calibri"/>
            </a:endParaRPr>
          </a:p>
          <a:p>
            <a:pPr lvl="4" marL="2160000" indent="-216000">
              <a:spcBef>
                <a:spcPts val="283"/>
              </a:spcBef>
              <a:buClr>
                <a:srgbClr val="000000"/>
              </a:buClr>
              <a:buSzPct val="45000"/>
              <a:buFont typeface="Wingdings" charset="2"/>
              <a:buChar char=""/>
            </a:pPr>
            <a:r>
              <a:rPr b="0" lang="en-US" sz="2000" strike="noStrike" u="none">
                <a:solidFill>
                  <a:schemeClr val="dk1"/>
                </a:solidFill>
                <a:effectLst/>
                <a:uFillTx/>
                <a:latin typeface="Calibri"/>
              </a:rPr>
              <a:t>Fifth Outline Level</a:t>
            </a:r>
            <a:endParaRPr b="0" lang="en-US" sz="2000" strike="noStrike" u="none">
              <a:solidFill>
                <a:schemeClr val="dk1"/>
              </a:solidFill>
              <a:effectLst/>
              <a:uFillTx/>
              <a:latin typeface="Calibri"/>
            </a:endParaRPr>
          </a:p>
          <a:p>
            <a:pPr lvl="5" marL="2592000" indent="-216000">
              <a:spcBef>
                <a:spcPts val="283"/>
              </a:spcBef>
              <a:buClr>
                <a:srgbClr val="000000"/>
              </a:buClr>
              <a:buSzPct val="45000"/>
              <a:buFont typeface="Wingdings" charset="2"/>
              <a:buChar char=""/>
            </a:pPr>
            <a:r>
              <a:rPr b="0" lang="en-US" sz="2000" strike="noStrike" u="none">
                <a:solidFill>
                  <a:schemeClr val="dk1"/>
                </a:solidFill>
                <a:effectLst/>
                <a:uFillTx/>
                <a:latin typeface="Calibri"/>
              </a:rPr>
              <a:t>Sixth Outline Level</a:t>
            </a:r>
            <a:endParaRPr b="0" lang="en-US" sz="2000" strike="noStrike" u="none">
              <a:solidFill>
                <a:schemeClr val="dk1"/>
              </a:solidFill>
              <a:effectLst/>
              <a:uFillTx/>
              <a:latin typeface="Calibri"/>
            </a:endParaRPr>
          </a:p>
          <a:p>
            <a:pPr lvl="6" marL="3024000" indent="-216000">
              <a:spcBef>
                <a:spcPts val="283"/>
              </a:spcBef>
              <a:buClr>
                <a:srgbClr val="000000"/>
              </a:buClr>
              <a:buSzPct val="45000"/>
              <a:buFont typeface="Wingdings" charset="2"/>
              <a:buChar char=""/>
            </a:pPr>
            <a:r>
              <a:rPr b="0" lang="en-US" sz="2000" strike="noStrike" u="none">
                <a:solidFill>
                  <a:schemeClr val="dk1"/>
                </a:solidFill>
                <a:effectLst/>
                <a:uFillTx/>
                <a:latin typeface="Calibri"/>
              </a:rPr>
              <a:t>Seventh Outline Level</a:t>
            </a:r>
            <a:endParaRPr b="0" lang="en-US" sz="2000" strike="noStrike" u="none">
              <a:solidFill>
                <a:schemeClr val="dk1"/>
              </a:solidFill>
              <a:effectLst/>
              <a:uFillTx/>
              <a:latin typeface="Calibri"/>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
</Relationships>
</file>

<file path=ppt/slides/_rels/slide4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
</Relationships>
</file>

<file path=ppt/slides/_rels/slide5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
</Relationships>
</file>

<file path=ppt/slides/_rels/slide5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
</Relationships>
</file>

<file path=ppt/slides/_rels/slide5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
</Relationships>
</file>

<file path=ppt/slides/_rels/slide5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
</Relationships>
</file>

<file path=ppt/slides/_rels/slide5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
</Relationships>
</file>

<file path=ppt/slides/_rels/slide5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
</Relationships>
</file>

<file path=ppt/slides/_rels/slide5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
</Relationships>
</file>

<file path=ppt/slides/_rels/slide5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
</Relationships>
</file>

<file path=ppt/slides/_rels/slide5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
</Relationships>
</file>

<file path=ppt/slides/_rels/slide5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
</Relationships>
</file>

<file path=ppt/slides/_rels/slide6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
</Relationships>
</file>

<file path=ppt/slides/_rels/slide6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
</Relationships>
</file>

<file path=ppt/slides/_rels/slide6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
</Relationships>
</file>

<file path=ppt/slides/_rels/slide6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
</Relationships>
</file>

<file path=ppt/slides/_rels/slide6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
</Relationships>
</file>

<file path=ppt/slides/_rels/slide6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
</Relationships>
</file>

<file path=ppt/slides/_rels/slide6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
</Relationships>
</file>

<file path=ppt/slides/_rels/slide6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
</Relationships>
</file>

<file path=ppt/slides/_rels/slide6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
</Relationships>
</file>

<file path=ppt/slides/_rels/slide6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
</Relationships>
</file>

<file path=ppt/slides/_rels/slide7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
</Relationships>
</file>

<file path=ppt/slides/_rels/slide7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
</Relationships>
</file>

<file path=ppt/slides/_rels/slide7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
</Relationships>
</file>

<file path=ppt/slides/_rels/slide7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
</Relationships>
</file>

<file path=ppt/slides/_rels/slide7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
</Relationships>
</file>

<file path=ppt/slides/_rels/slide7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
</Relationships>
</file>

<file path=ppt/slides/_rels/slide7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
</Relationships>
</file>

<file path=ppt/slides/_rels/slide7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
</Relationships>
</file>

<file path=ppt/slides/_rels/slide7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
</Relationships>
</file>

<file path=ppt/slides/_rels/slide7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
</Relationships>
</file>

<file path=ppt/slides/_rels/slide8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
</Relationships>
</file>

<file path=ppt/slides/_rels/slide8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
</Relationships>
</file>

<file path=ppt/slides/_rels/slide8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
</Relationships>
</file>

<file path=ppt/slides/_rels/slide8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
</Relationships>
</file>

<file path=ppt/slides/_rels/slide8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
</Relationships>
</file>

<file path=ppt/slides/_rels/slide8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
</Relationships>
</file>

<file path=ppt/slides/_rels/slide8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
</Relationships>
</file>

<file path=ppt/slides/_rels/slide8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
</Relationships>
</file>

<file path=ppt/slides/_rels/slide8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
</Relationships>
</file>

<file path=ppt/slides/_rels/slide8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
</Relationships>
</file>

<file path=ppt/slides/_rels/slide9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
</Relationships>
</file>

<file path=ppt/slides/_rels/slide9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
</Relationships>
</file>

<file path=ppt/slides/_rels/slide9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
</Relationships>
</file>

<file path=ppt/slides/_rels/slide9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
</Relationships>
</file>

<file path=ppt/slides/_rels/slide9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
</Relationships>
</file>

<file path=ppt/slides/_rels/slide9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
</Relationships>
</file>

<file path=ppt/slides/_rels/slide9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
</Relationships>
</file>

<file path=ppt/slides/_rels/slide9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
</Relationships>
</file>

<file path=ppt/slides/_rels/slide9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
</Relationships>
</file>

<file path=ppt/slides/_rels/slide9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
</Relationships>
</file>

<file path=ppt/slides/_rels/slide10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
</Relationships>
</file>

<file path=ppt/slides/_rels/slide10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
</Relationships>
</file>

<file path=ppt/slides/_rels/slide10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
</Relationships>
</file>

<file path=ppt/slides/_rels/slide10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
</Relationships>
</file>

<file path=ppt/slides/_rels/slide10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
</Relationships>
</file>

<file path=ppt/slides/_rels/slide10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
</Relationships>
</file>

<file path=ppt/slides/_rels/slide10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
</Relationships>
</file>

<file path=ppt/slides/_rels/slide10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
</Relationships>
</file>

<file path=ppt/slides/_rels/slide10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
</Relationships>
</file>

<file path=ppt/slides/_rels/slide10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
</Relationships>
</file>

<file path=ppt/slides/_rels/slide1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
</Relationships>
</file>

<file path=ppt/slides/_rels/slide1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
</Relationships>
</file>

<file path=ppt/slides/_rels/slide1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
</Relationships>
</file>

<file path=ppt/slides/_rels/slide1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
</Relationships>
</file>

<file path=ppt/slides/_rels/slide11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
</Relationships>
</file>

<file path=ppt/slides/_rels/slide1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
</Relationships>
</file>

<file path=ppt/slides/_rels/slide1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
</Relationships>
</file>

<file path=ppt/slides/_rels/slide1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
</Relationships>
</file>

<file path=ppt/slides/_rels/slide11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
</Relationships>
</file>

<file path=ppt/slides/_rels/slide1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
</Relationships>
</file>

<file path=ppt/slides/_rels/slide12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
</Relationships>
</file>

<file path=ppt/slides/_rels/slide12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
</Relationships>
</file>

<file path=ppt/slides/_rels/slide12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
</Relationships>
</file>

<file path=ppt/slides/_rels/slide12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
</Relationships>
</file>

<file path=ppt/slides/_rels/slide12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
</Relationships>
</file>

<file path=ppt/slides/_rels/slide12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
</Relationships>
</file>

<file path=ppt/slides/_rels/slide12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
</Relationships>
</file>

<file path=ppt/slides/_rels/slide12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
</Relationships>
</file>

<file path=ppt/slides/_rels/slide12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
</Relationships>
</file>

<file path=ppt/slides/_rels/slide12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
</Relationships>
</file>

<file path=ppt/slides/_rels/slide13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
</Relationships>
</file>

<file path=ppt/slides/_rels/slide13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
</Relationships>
</file>

<file path=ppt/slides/_rels/slide13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
</Relationships>
</file>

<file path=ppt/slides/_rels/slide13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
</Relationships>
</file>

<file path=ppt/slides/_rels/slide13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
</Relationships>
</file>

<file path=ppt/slides/_rels/slide13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
</Relationships>
</file>

<file path=ppt/slides/_rels/slide13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
</Relationships>
</file>

<file path=ppt/slides/_rels/slide13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
</Relationships>
</file>

<file path=ppt/slides/_rels/slide13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
</Relationships>
</file>

<file path=ppt/slides/_rels/slide13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
</Relationships>
</file>

<file path=ppt/slides/_rels/slide14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
</Relationships>
</file>

<file path=ppt/slides/_rels/slide14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
</Relationships>
</file>

<file path=ppt/slides/_rels/slide14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
</Relationships>
</file>

<file path=ppt/slides/_rels/slide14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
</Relationships>
</file>

<file path=ppt/slides/_rels/slide14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
</Relationships>
</file>

<file path=ppt/slides/_rels/slide14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
</Relationships>
</file>

<file path=ppt/slides/_rels/slide14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
</Relationships>
</file>

<file path=ppt/slides/_rels/slide14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
</Relationships>
</file>

<file path=ppt/slides/_rels/slide14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
</Relationships>
</file>

<file path=ppt/slides/_rels/slide14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
</Relationships>
</file>

<file path=ppt/slides/_rels/slide15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10"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11" name="Shape 2"/>
          <p:cNvSpPr/>
          <p:nvPr/>
        </p:nvSpPr>
        <p:spPr>
          <a:xfrm>
            <a:off x="8979480" y="64080"/>
            <a:ext cx="3211920" cy="6793560"/>
          </a:xfrm>
          <a:prstGeom prst="rect">
            <a:avLst/>
          </a:prstGeom>
          <a:solidFill>
            <a:srgbClr val="005730"/>
          </a:solidFill>
          <a:ln w="12700">
            <a:solidFill>
              <a:srgbClr val="005730"/>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 name="Shape 3"/>
          <p:cNvSpPr/>
          <p:nvPr/>
        </p:nvSpPr>
        <p:spPr>
          <a:xfrm>
            <a:off x="9281160" y="777240"/>
            <a:ext cx="72720" cy="44802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 name="Text 4"/>
          <p:cNvSpPr/>
          <p:nvPr/>
        </p:nvSpPr>
        <p:spPr>
          <a:xfrm>
            <a:off x="9646920" y="960120"/>
            <a:ext cx="1919880" cy="502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800" strike="noStrike" u="none">
                <a:solidFill>
                  <a:srgbClr val="ffffff"/>
                </a:solidFill>
                <a:effectLst/>
                <a:uFillTx/>
                <a:latin typeface="Calibri"/>
                <a:ea typeface="Calibri"/>
              </a:rPr>
              <a:t>2026</a:t>
            </a:r>
            <a:endParaRPr b="0" lang="en-US" sz="2800" strike="noStrike" u="none">
              <a:solidFill>
                <a:srgbClr val="000000"/>
              </a:solidFill>
              <a:effectLst/>
              <a:uFillTx/>
              <a:latin typeface="Arial"/>
            </a:endParaRPr>
          </a:p>
        </p:txBody>
      </p:sp>
      <p:sp>
        <p:nvSpPr>
          <p:cNvPr id="14" name="Text 5"/>
          <p:cNvSpPr/>
          <p:nvPr/>
        </p:nvSpPr>
        <p:spPr>
          <a:xfrm>
            <a:off x="9646920" y="1481400"/>
            <a:ext cx="191988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000" spc="119" strike="noStrike" u="none">
                <a:solidFill>
                  <a:srgbClr val="bfe6ce"/>
                </a:solidFill>
                <a:effectLst/>
                <a:uFillTx/>
                <a:latin typeface="Calibri"/>
                <a:ea typeface="Calibri"/>
              </a:rPr>
              <a:t>BUILD THE CORE</a:t>
            </a:r>
            <a:endParaRPr b="0" lang="en-US" sz="1000" strike="noStrike" u="none">
              <a:solidFill>
                <a:srgbClr val="000000"/>
              </a:solidFill>
              <a:effectLst/>
              <a:uFillTx/>
              <a:latin typeface="Arial"/>
            </a:endParaRPr>
          </a:p>
        </p:txBody>
      </p:sp>
      <p:sp>
        <p:nvSpPr>
          <p:cNvPr id="15" name="Text 6"/>
          <p:cNvSpPr/>
          <p:nvPr/>
        </p:nvSpPr>
        <p:spPr>
          <a:xfrm>
            <a:off x="9646920" y="2788920"/>
            <a:ext cx="1919880" cy="502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800" strike="noStrike" u="none">
                <a:solidFill>
                  <a:srgbClr val="ffffff"/>
                </a:solidFill>
                <a:effectLst/>
                <a:uFillTx/>
                <a:latin typeface="Calibri"/>
                <a:ea typeface="Calibri"/>
              </a:rPr>
              <a:t>2027</a:t>
            </a:r>
            <a:endParaRPr b="0" lang="en-US" sz="2800" strike="noStrike" u="none">
              <a:solidFill>
                <a:srgbClr val="000000"/>
              </a:solidFill>
              <a:effectLst/>
              <a:uFillTx/>
              <a:latin typeface="Arial"/>
            </a:endParaRPr>
          </a:p>
        </p:txBody>
      </p:sp>
      <p:sp>
        <p:nvSpPr>
          <p:cNvPr id="16" name="Text 7"/>
          <p:cNvSpPr/>
          <p:nvPr/>
        </p:nvSpPr>
        <p:spPr>
          <a:xfrm>
            <a:off x="9646920" y="3310200"/>
            <a:ext cx="191988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000" spc="119" strike="noStrike" u="none">
                <a:solidFill>
                  <a:srgbClr val="bfe6ce"/>
                </a:solidFill>
                <a:effectLst/>
                <a:uFillTx/>
                <a:latin typeface="Calibri"/>
                <a:ea typeface="Calibri"/>
              </a:rPr>
              <a:t>SCALE THE VALUE</a:t>
            </a:r>
            <a:endParaRPr b="0" lang="en-US" sz="1000" strike="noStrike" u="none">
              <a:solidFill>
                <a:srgbClr val="000000"/>
              </a:solidFill>
              <a:effectLst/>
              <a:uFillTx/>
              <a:latin typeface="Arial"/>
            </a:endParaRPr>
          </a:p>
        </p:txBody>
      </p:sp>
      <p:sp>
        <p:nvSpPr>
          <p:cNvPr id="17" name="Text 8"/>
          <p:cNvSpPr/>
          <p:nvPr/>
        </p:nvSpPr>
        <p:spPr>
          <a:xfrm>
            <a:off x="621720" y="804600"/>
            <a:ext cx="77720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221" strike="noStrike" u="none">
                <a:solidFill>
                  <a:srgbClr val="007a27"/>
                </a:solidFill>
                <a:effectLst/>
                <a:uFillTx/>
                <a:latin typeface="Calibri"/>
                <a:ea typeface="Calibri"/>
              </a:rPr>
              <a:t>RA+ ENTERPRISE SUSTAINABILITY</a:t>
            </a:r>
            <a:endParaRPr b="0" lang="en-US" sz="1100" strike="noStrike" u="none">
              <a:solidFill>
                <a:srgbClr val="000000"/>
              </a:solidFill>
              <a:effectLst/>
              <a:uFillTx/>
              <a:latin typeface="Arial"/>
            </a:endParaRPr>
          </a:p>
        </p:txBody>
      </p:sp>
      <p:sp>
        <p:nvSpPr>
          <p:cNvPr id="18" name="Text 9"/>
          <p:cNvSpPr/>
          <p:nvPr/>
        </p:nvSpPr>
        <p:spPr>
          <a:xfrm>
            <a:off x="621720" y="1298520"/>
            <a:ext cx="7726320" cy="12340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3800" strike="noStrike" u="none">
                <a:solidFill>
                  <a:srgbClr val="1e2420"/>
                </a:solidFill>
                <a:effectLst/>
                <a:uFillTx/>
                <a:latin typeface="Calibri"/>
                <a:ea typeface="Calibri"/>
              </a:rPr>
              <a:t>RA+ Platform Roadmap 2026 and 2027</a:t>
            </a:r>
            <a:endParaRPr b="0" lang="en-US" sz="3800" strike="noStrike" u="none">
              <a:solidFill>
                <a:srgbClr val="000000"/>
              </a:solidFill>
              <a:effectLst/>
              <a:uFillTx/>
              <a:latin typeface="Arial"/>
            </a:endParaRPr>
          </a:p>
        </p:txBody>
      </p:sp>
      <p:sp>
        <p:nvSpPr>
          <p:cNvPr id="19" name="Shape 10"/>
          <p:cNvSpPr/>
          <p:nvPr/>
        </p:nvSpPr>
        <p:spPr>
          <a:xfrm>
            <a:off x="621720" y="2578680"/>
            <a:ext cx="1005480" cy="45360"/>
          </a:xfrm>
          <a:prstGeom prst="rect">
            <a:avLst/>
          </a:prstGeom>
          <a:solidFill>
            <a:srgbClr val="3dcd58"/>
          </a:solidFill>
          <a:ln w="12700">
            <a:solidFill>
              <a:srgbClr val="3dcd58"/>
            </a:solidFill>
            <a:round/>
          </a:ln>
        </p:spPr>
        <p:style>
          <a:lnRef idx="0"/>
          <a:fillRef idx="0"/>
          <a:effectRef idx="0"/>
          <a:fontRef idx="minor"/>
        </p:style>
        <p:txBody>
          <a:bodyPr lIns="90000" rIns="90000" tIns="720" bIns="720" anchor="t">
            <a:noAutofit/>
          </a:bodyPr>
          <a:p>
            <a:endParaRPr b="0" lang="en-US" sz="1800" strike="noStrike" u="none">
              <a:solidFill>
                <a:srgbClr val="000000"/>
              </a:solidFill>
              <a:effectLst/>
              <a:uFillTx/>
              <a:latin typeface="Arial"/>
            </a:endParaRPr>
          </a:p>
        </p:txBody>
      </p:sp>
      <p:sp>
        <p:nvSpPr>
          <p:cNvPr id="20" name="Text 11"/>
          <p:cNvSpPr/>
          <p:nvPr/>
        </p:nvSpPr>
        <p:spPr>
          <a:xfrm>
            <a:off x="621720" y="2743200"/>
            <a:ext cx="7223400" cy="6764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500" strike="noStrike" u="none">
                <a:solidFill>
                  <a:srgbClr val="5a625c"/>
                </a:solidFill>
                <a:effectLst/>
                <a:uFillTx/>
                <a:latin typeface="Calibri"/>
                <a:ea typeface="Calibri"/>
              </a:rPr>
              <a:t>Leadership review of the RA+ platform plan across Carbon Performance, Supply Chain, Reporting and Compliance, Climate Risk, Strategy and the core platform they all stand on.</a:t>
            </a:r>
            <a:endParaRPr b="0" lang="en-US" sz="1500" strike="noStrike" u="none">
              <a:solidFill>
                <a:srgbClr val="000000"/>
              </a:solidFill>
              <a:effectLst/>
              <a:uFillTx/>
              <a:latin typeface="Arial"/>
            </a:endParaRPr>
          </a:p>
        </p:txBody>
      </p:sp>
      <p:sp>
        <p:nvSpPr>
          <p:cNvPr id="21" name="Text 12"/>
          <p:cNvSpPr/>
          <p:nvPr/>
        </p:nvSpPr>
        <p:spPr>
          <a:xfrm>
            <a:off x="621720" y="3520440"/>
            <a:ext cx="7680600" cy="255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000" spc="71" strike="noStrike" u="none">
                <a:solidFill>
                  <a:srgbClr val="303634"/>
                </a:solidFill>
                <a:effectLst/>
                <a:uFillTx/>
                <a:latin typeface="Calibri"/>
                <a:ea typeface="Calibri"/>
              </a:rPr>
              <a:t>Schneider Electric   •   Sustainability Business   •   September 2026</a:t>
            </a:r>
            <a:endParaRPr b="0" lang="en-US" sz="1000" strike="noStrike" u="none">
              <a:solidFill>
                <a:srgbClr val="000000"/>
              </a:solidFill>
              <a:effectLst/>
              <a:uFillTx/>
              <a:latin typeface="Arial"/>
            </a:endParaRPr>
          </a:p>
        </p:txBody>
      </p:sp>
      <p:sp>
        <p:nvSpPr>
          <p:cNvPr id="22" name="Shape 13"/>
          <p:cNvSpPr/>
          <p:nvPr/>
        </p:nvSpPr>
        <p:spPr>
          <a:xfrm>
            <a:off x="621720" y="4251960"/>
            <a:ext cx="2483640" cy="1279800"/>
          </a:xfrm>
          <a:prstGeom prst="roundRect">
            <a:avLst>
              <a:gd name="adj" fmla="val 4286"/>
            </a:avLst>
          </a:prstGeom>
          <a:solidFill>
            <a:srgbClr val="ffffff"/>
          </a:solidFill>
          <a:ln w="9525">
            <a:solidFill>
              <a:srgbClr val="e2e6e2"/>
            </a:solidFill>
            <a:round/>
          </a:ln>
          <a:effectLst>
            <a:outerShdw algn="bl" blurRad="76320" dir="5400000" dist="25560" kx="0" ky="0" rotWithShape="0" sx="100000" sy="100000">
              <a:srgbClr val="0a1f12">
                <a:alpha val="1200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3" name="Shape 14"/>
          <p:cNvSpPr/>
          <p:nvPr/>
        </p:nvSpPr>
        <p:spPr>
          <a:xfrm>
            <a:off x="621720" y="4251960"/>
            <a:ext cx="45360" cy="12798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4" name="Text 15"/>
          <p:cNvSpPr/>
          <p:nvPr/>
        </p:nvSpPr>
        <p:spPr>
          <a:xfrm>
            <a:off x="822960" y="4462200"/>
            <a:ext cx="2117880" cy="4752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700" strike="noStrike" u="none">
                <a:solidFill>
                  <a:srgbClr val="007a27"/>
                </a:solidFill>
                <a:effectLst/>
                <a:uFillTx/>
                <a:latin typeface="Calibri"/>
                <a:ea typeface="Calibri"/>
              </a:rPr>
              <a:t>6</a:t>
            </a:r>
            <a:endParaRPr b="0" lang="en-US" sz="2700" strike="noStrike" u="none">
              <a:solidFill>
                <a:srgbClr val="000000"/>
              </a:solidFill>
              <a:effectLst/>
              <a:uFillTx/>
              <a:latin typeface="Arial"/>
            </a:endParaRPr>
          </a:p>
        </p:txBody>
      </p:sp>
      <p:sp>
        <p:nvSpPr>
          <p:cNvPr id="25" name="Text 16"/>
          <p:cNvSpPr/>
          <p:nvPr/>
        </p:nvSpPr>
        <p:spPr>
          <a:xfrm>
            <a:off x="822960" y="5010840"/>
            <a:ext cx="2117880" cy="328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000" strike="noStrike" u="none">
                <a:solidFill>
                  <a:srgbClr val="5a625c"/>
                </a:solidFill>
                <a:effectLst/>
                <a:uFillTx/>
                <a:latin typeface="Calibri"/>
                <a:ea typeface="Calibri"/>
              </a:rPr>
              <a:t>Products on one shared platform</a:t>
            </a:r>
            <a:endParaRPr b="0" lang="en-US" sz="1000" strike="noStrike" u="none">
              <a:solidFill>
                <a:srgbClr val="000000"/>
              </a:solidFill>
              <a:effectLst/>
              <a:uFillTx/>
              <a:latin typeface="Arial"/>
            </a:endParaRPr>
          </a:p>
        </p:txBody>
      </p:sp>
      <p:sp>
        <p:nvSpPr>
          <p:cNvPr id="26" name="Shape 17"/>
          <p:cNvSpPr/>
          <p:nvPr/>
        </p:nvSpPr>
        <p:spPr>
          <a:xfrm>
            <a:off x="3380400" y="4251960"/>
            <a:ext cx="2483640" cy="1279800"/>
          </a:xfrm>
          <a:prstGeom prst="roundRect">
            <a:avLst>
              <a:gd name="adj" fmla="val 4286"/>
            </a:avLst>
          </a:prstGeom>
          <a:solidFill>
            <a:srgbClr val="ffffff"/>
          </a:solidFill>
          <a:ln w="9525">
            <a:solidFill>
              <a:srgbClr val="e2e6e2"/>
            </a:solidFill>
            <a:round/>
          </a:ln>
          <a:effectLst>
            <a:outerShdw algn="bl" blurRad="967740120" dir="0" dist="322580160" kx="0" ky="0" rotWithShape="0" sx="100000" sy="100000">
              <a:srgbClr val="0a1f12"/>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7" name="Shape 18"/>
          <p:cNvSpPr/>
          <p:nvPr/>
        </p:nvSpPr>
        <p:spPr>
          <a:xfrm>
            <a:off x="3380400" y="4251960"/>
            <a:ext cx="45360" cy="12798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8" name="Text 19"/>
          <p:cNvSpPr/>
          <p:nvPr/>
        </p:nvSpPr>
        <p:spPr>
          <a:xfrm>
            <a:off x="3581280" y="4462200"/>
            <a:ext cx="2117880" cy="4752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700" strike="noStrike" u="none">
                <a:solidFill>
                  <a:srgbClr val="007a27"/>
                </a:solidFill>
                <a:effectLst/>
                <a:uFillTx/>
                <a:latin typeface="Calibri"/>
                <a:ea typeface="Calibri"/>
              </a:rPr>
              <a:t>2027</a:t>
            </a:r>
            <a:endParaRPr b="0" lang="en-US" sz="2700" strike="noStrike" u="none">
              <a:solidFill>
                <a:srgbClr val="000000"/>
              </a:solidFill>
              <a:effectLst/>
              <a:uFillTx/>
              <a:latin typeface="Arial"/>
            </a:endParaRPr>
          </a:p>
        </p:txBody>
      </p:sp>
      <p:sp>
        <p:nvSpPr>
          <p:cNvPr id="29" name="Text 20"/>
          <p:cNvSpPr/>
          <p:nvPr/>
        </p:nvSpPr>
        <p:spPr>
          <a:xfrm>
            <a:off x="3581280" y="5010840"/>
            <a:ext cx="2117880" cy="328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000" strike="noStrike" u="none">
                <a:solidFill>
                  <a:srgbClr val="5a625c"/>
                </a:solidFill>
                <a:effectLst/>
                <a:uFillTx/>
                <a:latin typeface="Calibri"/>
                <a:ea typeface="Calibri"/>
              </a:rPr>
              <a:t>Direction mentioned in this plan</a:t>
            </a:r>
            <a:endParaRPr b="0" lang="en-US" sz="1000" strike="noStrike" u="none">
              <a:solidFill>
                <a:srgbClr val="000000"/>
              </a:solidFill>
              <a:effectLst/>
              <a:uFillTx/>
              <a:latin typeface="Arial"/>
            </a:endParaRPr>
          </a:p>
        </p:txBody>
      </p:sp>
      <p:sp>
        <p:nvSpPr>
          <p:cNvPr id="30" name="Shape 21"/>
          <p:cNvSpPr/>
          <p:nvPr/>
        </p:nvSpPr>
        <p:spPr>
          <a:xfrm>
            <a:off x="6138720" y="4251960"/>
            <a:ext cx="2483640" cy="1279800"/>
          </a:xfrm>
          <a:prstGeom prst="roundRect">
            <a:avLst>
              <a:gd name="adj" fmla="val 4286"/>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1" name="Shape 22"/>
          <p:cNvSpPr/>
          <p:nvPr/>
        </p:nvSpPr>
        <p:spPr>
          <a:xfrm>
            <a:off x="6138720" y="4251960"/>
            <a:ext cx="45360" cy="12798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2" name="Text 23"/>
          <p:cNvSpPr/>
          <p:nvPr/>
        </p:nvSpPr>
        <p:spPr>
          <a:xfrm>
            <a:off x="6339960" y="4462200"/>
            <a:ext cx="2117880" cy="4752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700" strike="noStrike" u="none">
                <a:solidFill>
                  <a:srgbClr val="007a27"/>
                </a:solidFill>
                <a:effectLst/>
                <a:uFillTx/>
                <a:latin typeface="Calibri"/>
                <a:ea typeface="Calibri"/>
              </a:rPr>
              <a:t>1</a:t>
            </a:r>
            <a:endParaRPr b="0" lang="en-US" sz="2700" strike="noStrike" u="none">
              <a:solidFill>
                <a:srgbClr val="000000"/>
              </a:solidFill>
              <a:effectLst/>
              <a:uFillTx/>
              <a:latin typeface="Arial"/>
            </a:endParaRPr>
          </a:p>
        </p:txBody>
      </p:sp>
      <p:sp>
        <p:nvSpPr>
          <p:cNvPr id="33" name="Text 24"/>
          <p:cNvSpPr/>
          <p:nvPr/>
        </p:nvSpPr>
        <p:spPr>
          <a:xfrm>
            <a:off x="6339960" y="5010840"/>
            <a:ext cx="2117880" cy="328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000" strike="noStrike" u="none">
                <a:solidFill>
                  <a:srgbClr val="5a625c"/>
                </a:solidFill>
                <a:effectLst/>
                <a:uFillTx/>
                <a:latin typeface="Calibri"/>
                <a:ea typeface="Calibri"/>
              </a:rPr>
              <a:t>Decision: fund the core first</a:t>
            </a:r>
            <a:endParaRPr b="0" lang="en-US" sz="1000" strike="noStrike" u="none">
              <a:solidFill>
                <a:srgbClr val="000000"/>
              </a:solidFill>
              <a:effectLst/>
              <a:uFillTx/>
              <a:latin typeface="Arial"/>
            </a:endParaRPr>
          </a:p>
        </p:txBody>
      </p:sp>
      <p:sp>
        <p:nvSpPr>
          <p:cNvPr id="34" name="Shape 25"/>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5" name="Text 26"/>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36" name="Text 27"/>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37" name="PlaceHolder 1"/>
          <p:cNvSpPr>
            <a:spLocks noGrp="1"/>
          </p:cNvSpPr>
          <p:nvPr>
            <p:ph type="sldNum" idx="5"/>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A638FC76-ED4B-4A77-AD0F-B32A276D6E37}" type="slidenum">
              <a:rPr b="1" lang="en-US" sz="800" strike="noStrike" u="none">
                <a:solidFill>
                  <a:srgbClr val="007a27"/>
                </a:solidFill>
                <a:effectLst/>
                <a:uFillTx/>
                <a:latin typeface="Calibri"/>
                <a:ea typeface="Calibri"/>
              </a:rPr>
              <a:t>1</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8"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39"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40" name="Shape 2"/>
          <p:cNvSpPr/>
          <p:nvPr/>
        </p:nvSpPr>
        <p:spPr>
          <a:xfrm>
            <a:off x="621720" y="311040"/>
            <a:ext cx="113364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1" name="Text 3"/>
          <p:cNvSpPr/>
          <p:nvPr/>
        </p:nvSpPr>
        <p:spPr>
          <a:xfrm>
            <a:off x="804600" y="329040"/>
            <a:ext cx="80424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AGENDA</a:t>
            </a:r>
            <a:endParaRPr b="0" lang="en-US" sz="950" strike="noStrike" u="none">
              <a:solidFill>
                <a:srgbClr val="000000"/>
              </a:solidFill>
              <a:effectLst/>
              <a:uFillTx/>
              <a:latin typeface="Arial"/>
            </a:endParaRPr>
          </a:p>
        </p:txBody>
      </p:sp>
      <p:sp>
        <p:nvSpPr>
          <p:cNvPr id="42"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fontScale="92500" lnSpcReduction="9999"/>
          </a:bodyPr>
          <a:p>
            <a:pPr defTabSz="914400">
              <a:lnSpc>
                <a:spcPct val="100000"/>
              </a:lnSpc>
              <a:tabLst>
                <a:tab algn="l" pos="0"/>
              </a:tabLst>
            </a:pPr>
            <a:r>
              <a:rPr b="1" lang="en-US" sz="3200" strike="noStrike" u="none">
                <a:solidFill>
                  <a:srgbClr val="1e2420"/>
                </a:solidFill>
                <a:effectLst/>
                <a:uFillTx/>
                <a:latin typeface="Calibri"/>
                <a:ea typeface="Calibri"/>
              </a:rPr>
              <a:t>What we will cover, and what we need from you (1 of 2)</a:t>
            </a:r>
            <a:endParaRPr b="0" lang="en-US" sz="3200" strike="noStrike" u="none">
              <a:solidFill>
                <a:srgbClr val="000000"/>
              </a:solidFill>
              <a:effectLst/>
              <a:uFillTx/>
              <a:latin typeface="Arial"/>
            </a:endParaRPr>
          </a:p>
        </p:txBody>
      </p:sp>
      <p:sp>
        <p:nvSpPr>
          <p:cNvPr id="43"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Ninety minutes, four decisions, one ask at the end.</a:t>
            </a:r>
            <a:endParaRPr b="0" lang="en-US" sz="1250" strike="noStrike" u="none">
              <a:solidFill>
                <a:srgbClr val="000000"/>
              </a:solidFill>
              <a:effectLst/>
              <a:uFillTx/>
              <a:latin typeface="Arial"/>
            </a:endParaRPr>
          </a:p>
        </p:txBody>
      </p:sp>
      <p:sp>
        <p:nvSpPr>
          <p:cNvPr id="44"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graphicFrame>
        <p:nvGraphicFramePr>
          <p:cNvPr id="45" name="Table 0"/>
          <p:cNvGraphicFramePr/>
          <p:nvPr/>
        </p:nvGraphicFramePr>
        <p:xfrm>
          <a:off x="621720" y="2084760"/>
          <a:ext cx="10947600" cy="2592000"/>
        </p:xfrm>
        <a:graphic>
          <a:graphicData uri="http://schemas.openxmlformats.org/drawingml/2006/table">
            <a:tbl>
              <a:tblPr/>
              <a:tblGrid>
                <a:gridCol w="1005840"/>
                <a:gridCol w="4970880"/>
                <a:gridCol w="4970880"/>
              </a:tblGrid>
              <a:tr h="511920">
                <a:tc>
                  <a:txBody>
                    <a:bodyPr lIns="73080" rIns="73080" tIns="73080" bIns="73080" anchor="ctr">
                      <a:noAutofit/>
                    </a:bodyPr>
                    <a:p>
                      <a:pPr defTabSz="914400">
                        <a:lnSpc>
                          <a:spcPct val="100000"/>
                        </a:lnSpc>
                        <a:tabLst>
                          <a:tab algn="l" pos="0"/>
                        </a:tabLst>
                      </a:pPr>
                      <a:r>
                        <a:rPr b="1" lang="en-US" sz="900" strike="noStrike" u="none">
                          <a:solidFill>
                            <a:srgbClr val="ffffff"/>
                          </a:solidFill>
                          <a:effectLst/>
                          <a:uFillTx/>
                          <a:latin typeface="Calibri"/>
                          <a:ea typeface="Calibri"/>
                        </a:rPr>
                        <a:t>SECTION</a:t>
                      </a:r>
                      <a:endParaRPr b="0" lang="en-US" sz="900" strike="noStrike" u="none">
                        <a:solidFill>
                          <a:srgbClr val="ffffff"/>
                        </a:solidFill>
                        <a:effectLst/>
                        <a:uFillTx/>
                        <a:latin typeface="Arial"/>
                      </a:endParaRPr>
                    </a:p>
                  </a:txBody>
                  <a:tcPr anchor="ctr" marL="73080" marR="7308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005730"/>
                    </a:solidFill>
                  </a:tcPr>
                </a:tc>
                <a:tc>
                  <a:txBody>
                    <a:bodyPr lIns="73080" rIns="73080" tIns="73080" bIns="73080" anchor="ctr">
                      <a:noAutofit/>
                    </a:bodyPr>
                    <a:p>
                      <a:pPr defTabSz="914400">
                        <a:lnSpc>
                          <a:spcPct val="100000"/>
                        </a:lnSpc>
                        <a:tabLst>
                          <a:tab algn="l" pos="0"/>
                        </a:tabLst>
                      </a:pPr>
                      <a:r>
                        <a:rPr b="1" lang="en-US" sz="900" strike="noStrike" u="none">
                          <a:solidFill>
                            <a:srgbClr val="ffffff"/>
                          </a:solidFill>
                          <a:effectLst/>
                          <a:uFillTx/>
                          <a:latin typeface="Calibri"/>
                          <a:ea typeface="Calibri"/>
                        </a:rPr>
                        <a:t>WHAT IT COVERS</a:t>
                      </a:r>
                      <a:endParaRPr b="0" lang="en-US" sz="900" strike="noStrike" u="none">
                        <a:solidFill>
                          <a:srgbClr val="ffffff"/>
                        </a:solidFill>
                        <a:effectLst/>
                        <a:uFillTx/>
                        <a:latin typeface="Arial"/>
                      </a:endParaRPr>
                    </a:p>
                  </a:txBody>
                  <a:tcPr anchor="ctr" marL="73080" marR="7308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005730"/>
                    </a:solidFill>
                  </a:tcPr>
                </a:tc>
                <a:tc>
                  <a:txBody>
                    <a:bodyPr lIns="73080" rIns="73080" tIns="73080" bIns="73080" anchor="ctr">
                      <a:noAutofit/>
                    </a:bodyPr>
                    <a:p>
                      <a:pPr defTabSz="914400">
                        <a:lnSpc>
                          <a:spcPct val="100000"/>
                        </a:lnSpc>
                        <a:tabLst>
                          <a:tab algn="l" pos="0"/>
                        </a:tabLst>
                      </a:pPr>
                      <a:r>
                        <a:rPr b="1" lang="en-US" sz="900" strike="noStrike" u="none">
                          <a:solidFill>
                            <a:srgbClr val="ffffff"/>
                          </a:solidFill>
                          <a:effectLst/>
                          <a:uFillTx/>
                          <a:latin typeface="Calibri"/>
                          <a:ea typeface="Calibri"/>
                        </a:rPr>
                        <a:t>WHAT WE NEED</a:t>
                      </a:r>
                      <a:endParaRPr b="0" lang="en-US" sz="900" strike="noStrike" u="none">
                        <a:solidFill>
                          <a:srgbClr val="ffffff"/>
                        </a:solidFill>
                        <a:effectLst/>
                        <a:uFillTx/>
                        <a:latin typeface="Arial"/>
                      </a:endParaRPr>
                    </a:p>
                  </a:txBody>
                  <a:tcPr anchor="ctr" marL="73080" marR="7308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005730"/>
                    </a:solidFill>
                  </a:tcPr>
                </a:tc>
              </a:tr>
              <a:tr h="511920">
                <a:tc>
                  <a:txBody>
                    <a:bodyPr tIns="91440" bIns="91440" anchor="ctr">
                      <a:noAutofit/>
                    </a:bodyPr>
                    <a:p>
                      <a:pPr defTabSz="914400">
                        <a:lnSpc>
                          <a:spcPct val="100000"/>
                        </a:lnSpc>
                        <a:tabLst>
                          <a:tab algn="l" pos="0"/>
                        </a:tabLst>
                      </a:pPr>
                      <a:r>
                        <a:rPr b="1" lang="en-US" sz="1000" strike="noStrike" u="none">
                          <a:solidFill>
                            <a:srgbClr val="007a27"/>
                          </a:solidFill>
                          <a:effectLst/>
                          <a:uFillTx/>
                          <a:latin typeface="Calibri"/>
                          <a:ea typeface="Calibri"/>
                        </a:rPr>
                        <a:t>Narrative</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Why sustainability data is now a board level asset</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Alignment</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r>
              <a:tr h="511920">
                <a:tc>
                  <a:txBody>
                    <a:bodyPr tIns="91440" bIns="91440" anchor="ctr">
                      <a:noAutofit/>
                    </a:bodyPr>
                    <a:p>
                      <a:pPr defTabSz="914400">
                        <a:lnSpc>
                          <a:spcPct val="100000"/>
                        </a:lnSpc>
                        <a:tabLst>
                          <a:tab algn="l" pos="0"/>
                        </a:tabLst>
                      </a:pPr>
                      <a:r>
                        <a:rPr b="1" lang="en-US" sz="1000" strike="noStrike" u="none">
                          <a:solidFill>
                            <a:srgbClr val="007a27"/>
                          </a:solidFill>
                          <a:effectLst/>
                          <a:uFillTx/>
                          <a:latin typeface="Calibri"/>
                          <a:ea typeface="Calibri"/>
                        </a:rPr>
                        <a:t>Platform</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One data spine, three domains, the convergence case</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Alignment</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r>
              <a:tr h="511920">
                <a:tc>
                  <a:txBody>
                    <a:bodyPr tIns="91440" bIns="91440" anchor="ctr">
                      <a:noAutofit/>
                    </a:bodyPr>
                    <a:p>
                      <a:pPr defTabSz="914400">
                        <a:lnSpc>
                          <a:spcPct val="100000"/>
                        </a:lnSpc>
                        <a:tabLst>
                          <a:tab algn="l" pos="0"/>
                        </a:tabLst>
                      </a:pPr>
                      <a:r>
                        <a:rPr b="1" lang="en-US" sz="1000" strike="noStrike" u="none">
                          <a:solidFill>
                            <a:srgbClr val="007a27"/>
                          </a:solidFill>
                          <a:effectLst/>
                          <a:uFillTx/>
                          <a:latin typeface="Calibri"/>
                          <a:ea typeface="Calibri"/>
                        </a:rPr>
                        <a:t>Product strategy</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Three moves and the 2026 to 2028 shape</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Direction</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r>
              <a:tr h="511920">
                <a:tc>
                  <a:txBody>
                    <a:bodyPr tIns="91440" bIns="91440" anchor="ctr">
                      <a:noAutofit/>
                    </a:bodyPr>
                    <a:p>
                      <a:pPr defTabSz="914400">
                        <a:lnSpc>
                          <a:spcPct val="100000"/>
                        </a:lnSpc>
                        <a:tabLst>
                          <a:tab algn="l" pos="0"/>
                        </a:tabLst>
                      </a:pPr>
                      <a:r>
                        <a:rPr b="1" lang="en-US" sz="1000" strike="noStrike" u="none">
                          <a:solidFill>
                            <a:srgbClr val="007a27"/>
                          </a:solidFill>
                          <a:effectLst/>
                          <a:uFillTx/>
                          <a:latin typeface="Calibri"/>
                          <a:ea typeface="Calibri"/>
                        </a:rPr>
                        <a:t>Market and competition</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Where we lead, where rivals catch up, pricing</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Challenge</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r>
            </a:tbl>
          </a:graphicData>
        </a:graphic>
      </p:graphicFrame>
      <p:sp>
        <p:nvSpPr>
          <p:cNvPr id="46" name="Shape 7"/>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7" name="Text 8"/>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48" name="Text 9"/>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49" name="PlaceHolder 1"/>
          <p:cNvSpPr>
            <a:spLocks noGrp="1"/>
          </p:cNvSpPr>
          <p:nvPr>
            <p:ph type="sldNum" idx="6"/>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BEB1E96B-9105-4271-AF4D-DFB23279930D}" type="slidenum">
              <a:rPr b="1" lang="en-US" sz="800" strike="noStrike" u="none">
                <a:solidFill>
                  <a:srgbClr val="007a27"/>
                </a:solidFill>
                <a:effectLst/>
                <a:uFillTx/>
                <a:latin typeface="Calibri"/>
                <a:ea typeface="Calibri"/>
              </a:rPr>
              <a:t>2</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0"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51"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52" name="Shape 2"/>
          <p:cNvSpPr/>
          <p:nvPr/>
        </p:nvSpPr>
        <p:spPr>
          <a:xfrm>
            <a:off x="621720" y="311040"/>
            <a:ext cx="113364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3" name="Text 3"/>
          <p:cNvSpPr/>
          <p:nvPr/>
        </p:nvSpPr>
        <p:spPr>
          <a:xfrm>
            <a:off x="804600" y="329040"/>
            <a:ext cx="80424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AGENDA</a:t>
            </a:r>
            <a:endParaRPr b="0" lang="en-US" sz="950" strike="noStrike" u="none">
              <a:solidFill>
                <a:srgbClr val="000000"/>
              </a:solidFill>
              <a:effectLst/>
              <a:uFillTx/>
              <a:latin typeface="Arial"/>
            </a:endParaRPr>
          </a:p>
        </p:txBody>
      </p:sp>
      <p:sp>
        <p:nvSpPr>
          <p:cNvPr id="54"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fontScale="92500" lnSpcReduction="9999"/>
          </a:bodyPr>
          <a:p>
            <a:pPr defTabSz="914400">
              <a:lnSpc>
                <a:spcPct val="100000"/>
              </a:lnSpc>
              <a:tabLst>
                <a:tab algn="l" pos="0"/>
              </a:tabLst>
            </a:pPr>
            <a:r>
              <a:rPr b="1" lang="en-US" sz="3200" strike="noStrike" u="none">
                <a:solidFill>
                  <a:srgbClr val="1e2420"/>
                </a:solidFill>
                <a:effectLst/>
                <a:uFillTx/>
                <a:latin typeface="Calibri"/>
                <a:ea typeface="Calibri"/>
              </a:rPr>
              <a:t>What we will cover, and what we need from you (2 of 2)</a:t>
            </a:r>
            <a:endParaRPr b="0" lang="en-US" sz="3200" strike="noStrike" u="none">
              <a:solidFill>
                <a:srgbClr val="000000"/>
              </a:solidFill>
              <a:effectLst/>
              <a:uFillTx/>
              <a:latin typeface="Arial"/>
            </a:endParaRPr>
          </a:p>
        </p:txBody>
      </p:sp>
      <p:sp>
        <p:nvSpPr>
          <p:cNvPr id="55" name="Shape 5"/>
          <p:cNvSpPr/>
          <p:nvPr/>
        </p:nvSpPr>
        <p:spPr>
          <a:xfrm>
            <a:off x="621720" y="14810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graphicFrame>
        <p:nvGraphicFramePr>
          <p:cNvPr id="56" name="Table 0"/>
          <p:cNvGraphicFramePr/>
          <p:nvPr/>
        </p:nvGraphicFramePr>
        <p:xfrm>
          <a:off x="621720" y="1554480"/>
          <a:ext cx="10947600" cy="2748240"/>
        </p:xfrm>
        <a:graphic>
          <a:graphicData uri="http://schemas.openxmlformats.org/drawingml/2006/table">
            <a:tbl>
              <a:tblPr/>
              <a:tblGrid>
                <a:gridCol w="1005840"/>
                <a:gridCol w="4970880"/>
                <a:gridCol w="4970880"/>
              </a:tblGrid>
              <a:tr h="511920">
                <a:tc>
                  <a:txBody>
                    <a:bodyPr lIns="73080" rIns="73080" tIns="73080" bIns="73080" anchor="ctr">
                      <a:noAutofit/>
                    </a:bodyPr>
                    <a:p>
                      <a:pPr defTabSz="914400">
                        <a:lnSpc>
                          <a:spcPct val="100000"/>
                        </a:lnSpc>
                        <a:tabLst>
                          <a:tab algn="l" pos="0"/>
                        </a:tabLst>
                      </a:pPr>
                      <a:r>
                        <a:rPr b="1" lang="en-US" sz="900" strike="noStrike" u="none">
                          <a:solidFill>
                            <a:srgbClr val="ffffff"/>
                          </a:solidFill>
                          <a:effectLst/>
                          <a:uFillTx/>
                          <a:latin typeface="Calibri"/>
                          <a:ea typeface="Calibri"/>
                        </a:rPr>
                        <a:t>SECTION</a:t>
                      </a:r>
                      <a:endParaRPr b="0" lang="en-US" sz="900" strike="noStrike" u="none">
                        <a:solidFill>
                          <a:srgbClr val="ffffff"/>
                        </a:solidFill>
                        <a:effectLst/>
                        <a:uFillTx/>
                        <a:latin typeface="Arial"/>
                      </a:endParaRPr>
                    </a:p>
                  </a:txBody>
                  <a:tcPr anchor="ctr" marL="73080" marR="7308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005730"/>
                    </a:solidFill>
                  </a:tcPr>
                </a:tc>
                <a:tc>
                  <a:txBody>
                    <a:bodyPr lIns="73080" rIns="73080" tIns="73080" bIns="73080" anchor="ctr">
                      <a:noAutofit/>
                    </a:bodyPr>
                    <a:p>
                      <a:pPr defTabSz="914400">
                        <a:lnSpc>
                          <a:spcPct val="100000"/>
                        </a:lnSpc>
                        <a:tabLst>
                          <a:tab algn="l" pos="0"/>
                        </a:tabLst>
                      </a:pPr>
                      <a:r>
                        <a:rPr b="1" lang="en-US" sz="900" strike="noStrike" u="none">
                          <a:solidFill>
                            <a:srgbClr val="ffffff"/>
                          </a:solidFill>
                          <a:effectLst/>
                          <a:uFillTx/>
                          <a:latin typeface="Calibri"/>
                          <a:ea typeface="Calibri"/>
                        </a:rPr>
                        <a:t>WHAT IT COVERS</a:t>
                      </a:r>
                      <a:endParaRPr b="0" lang="en-US" sz="900" strike="noStrike" u="none">
                        <a:solidFill>
                          <a:srgbClr val="ffffff"/>
                        </a:solidFill>
                        <a:effectLst/>
                        <a:uFillTx/>
                        <a:latin typeface="Arial"/>
                      </a:endParaRPr>
                    </a:p>
                  </a:txBody>
                  <a:tcPr anchor="ctr" marL="73080" marR="7308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005730"/>
                    </a:solidFill>
                  </a:tcPr>
                </a:tc>
                <a:tc>
                  <a:txBody>
                    <a:bodyPr lIns="73080" rIns="73080" tIns="73080" bIns="73080" anchor="ctr">
                      <a:noAutofit/>
                    </a:bodyPr>
                    <a:p>
                      <a:pPr defTabSz="914400">
                        <a:lnSpc>
                          <a:spcPct val="100000"/>
                        </a:lnSpc>
                        <a:tabLst>
                          <a:tab algn="l" pos="0"/>
                        </a:tabLst>
                      </a:pPr>
                      <a:r>
                        <a:rPr b="1" lang="en-US" sz="900" strike="noStrike" u="none">
                          <a:solidFill>
                            <a:srgbClr val="ffffff"/>
                          </a:solidFill>
                          <a:effectLst/>
                          <a:uFillTx/>
                          <a:latin typeface="Calibri"/>
                          <a:ea typeface="Calibri"/>
                        </a:rPr>
                        <a:t>WHAT WE NEED</a:t>
                      </a:r>
                      <a:endParaRPr b="0" lang="en-US" sz="900" strike="noStrike" u="none">
                        <a:solidFill>
                          <a:srgbClr val="ffffff"/>
                        </a:solidFill>
                        <a:effectLst/>
                        <a:uFillTx/>
                        <a:latin typeface="Arial"/>
                      </a:endParaRPr>
                    </a:p>
                  </a:txBody>
                  <a:tcPr anchor="ctr" marL="73080" marR="7308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005730"/>
                    </a:solidFill>
                  </a:tcPr>
                </a:tc>
              </a:tr>
              <a:tr h="511920">
                <a:tc>
                  <a:txBody>
                    <a:bodyPr tIns="91440" bIns="91440" anchor="ctr">
                      <a:noAutofit/>
                    </a:bodyPr>
                    <a:p>
                      <a:pPr defTabSz="914400">
                        <a:lnSpc>
                          <a:spcPct val="100000"/>
                        </a:lnSpc>
                        <a:tabLst>
                          <a:tab algn="l" pos="0"/>
                        </a:tabLst>
                      </a:pPr>
                      <a:r>
                        <a:rPr b="1" lang="en-US" sz="1000" strike="noStrike" u="none">
                          <a:solidFill>
                            <a:srgbClr val="007a27"/>
                          </a:solidFill>
                          <a:effectLst/>
                          <a:uFillTx/>
                          <a:latin typeface="Calibri"/>
                          <a:ea typeface="Calibri"/>
                        </a:rPr>
                        <a:t>Value case and investment</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Value pools, cost, assumptions, capacity</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Validation</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r>
              <a:tr h="511920">
                <a:tc>
                  <a:txBody>
                    <a:bodyPr tIns="91440" bIns="91440" anchor="ctr">
                      <a:noAutofit/>
                    </a:bodyPr>
                    <a:p>
                      <a:pPr defTabSz="914400">
                        <a:lnSpc>
                          <a:spcPct val="100000"/>
                        </a:lnSpc>
                        <a:tabLst>
                          <a:tab algn="l" pos="0"/>
                        </a:tabLst>
                      </a:pPr>
                      <a:r>
                        <a:rPr b="1" lang="en-US" sz="1000" strike="noStrike" u="none">
                          <a:solidFill>
                            <a:srgbClr val="007a27"/>
                          </a:solidFill>
                          <a:effectLst/>
                          <a:uFillTx/>
                          <a:latin typeface="Calibri"/>
                          <a:ea typeface="Calibri"/>
                        </a:rPr>
                        <a:t>Roadmap</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2026 committed, 2027 direction, gates</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Approval</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r>
              <a:tr h="511920">
                <a:tc>
                  <a:txBody>
                    <a:bodyPr tIns="91440" bIns="91440" anchor="ctr">
                      <a:noAutofit/>
                    </a:bodyPr>
                    <a:p>
                      <a:pPr defTabSz="914400">
                        <a:lnSpc>
                          <a:spcPct val="100000"/>
                        </a:lnSpc>
                        <a:tabLst>
                          <a:tab algn="l" pos="0"/>
                        </a:tabLst>
                      </a:pPr>
                      <a:r>
                        <a:rPr b="1" lang="en-US" sz="1000" strike="noStrike" u="none">
                          <a:solidFill>
                            <a:srgbClr val="007a27"/>
                          </a:solidFill>
                          <a:effectLst/>
                          <a:uFillTx/>
                          <a:latin typeface="Calibri"/>
                          <a:ea typeface="Calibri"/>
                        </a:rPr>
                        <a:t>The ask</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Funding, capacity protection, governance</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Decision</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r>
              <a:tr h="511920">
                <a:tc>
                  <a:txBody>
                    <a:bodyPr tIns="91440" bIns="91440" anchor="ctr">
                      <a:noAutofit/>
                    </a:bodyPr>
                    <a:p>
                      <a:pPr defTabSz="914400">
                        <a:lnSpc>
                          <a:spcPct val="100000"/>
                        </a:lnSpc>
                        <a:tabLst>
                          <a:tab algn="l" pos="0"/>
                        </a:tabLst>
                      </a:pPr>
                      <a:r>
                        <a:rPr b="1" lang="en-US" sz="1000" strike="noStrike" u="none">
                          <a:solidFill>
                            <a:srgbClr val="007a27"/>
                          </a:solidFill>
                          <a:effectLst/>
                          <a:uFillTx/>
                          <a:latin typeface="Calibri"/>
                          <a:ea typeface="Calibri"/>
                        </a:rPr>
                        <a:t>Appendix</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Product by product detail</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On request</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r>
            </a:tbl>
          </a:graphicData>
        </a:graphic>
      </p:graphicFrame>
      <p:sp>
        <p:nvSpPr>
          <p:cNvPr id="57" name="Shape 6"/>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8" name="Text 7"/>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59" name="Text 8"/>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60" name="PlaceHolder 1"/>
          <p:cNvSpPr>
            <a:spLocks noGrp="1"/>
          </p:cNvSpPr>
          <p:nvPr>
            <p:ph type="sldNum" idx="7"/>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A7897612-1827-4956-AC5F-5B629B4711C7}" type="slidenum">
              <a:rPr b="1" lang="en-US" sz="800" strike="noStrike" u="none">
                <a:solidFill>
                  <a:srgbClr val="007a27"/>
                </a:solidFill>
                <a:effectLst/>
                <a:uFillTx/>
                <a:latin typeface="Calibri"/>
                <a:ea typeface="Calibri"/>
              </a:rPr>
              <a:t>3</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1"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62"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63" name="Shape 2"/>
          <p:cNvSpPr/>
          <p:nvPr/>
        </p:nvSpPr>
        <p:spPr>
          <a:xfrm>
            <a:off x="621720" y="311040"/>
            <a:ext cx="229032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4" name="Text 3"/>
          <p:cNvSpPr/>
          <p:nvPr/>
        </p:nvSpPr>
        <p:spPr>
          <a:xfrm>
            <a:off x="804600" y="329040"/>
            <a:ext cx="196092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EXECUTIVE SUMMARY</a:t>
            </a:r>
            <a:endParaRPr b="0" lang="en-US" sz="950" strike="noStrike" u="none">
              <a:solidFill>
                <a:srgbClr val="000000"/>
              </a:solidFill>
              <a:effectLst/>
              <a:uFillTx/>
              <a:latin typeface="Arial"/>
            </a:endParaRPr>
          </a:p>
        </p:txBody>
      </p:sp>
      <p:sp>
        <p:nvSpPr>
          <p:cNvPr id="65"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The plan on one page</a:t>
            </a:r>
            <a:endParaRPr b="0" lang="en-US" sz="3200" strike="noStrike" u="none">
              <a:solidFill>
                <a:srgbClr val="000000"/>
              </a:solidFill>
              <a:effectLst/>
              <a:uFillTx/>
              <a:latin typeface="Arial"/>
            </a:endParaRPr>
          </a:p>
        </p:txBody>
      </p:sp>
      <p:sp>
        <p:nvSpPr>
          <p:cNvPr id="66"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If the board reads one slide, this is it.</a:t>
            </a:r>
            <a:endParaRPr b="0" lang="en-US" sz="1250" strike="noStrike" u="none">
              <a:solidFill>
                <a:srgbClr val="000000"/>
              </a:solidFill>
              <a:effectLst/>
              <a:uFillTx/>
              <a:latin typeface="Arial"/>
            </a:endParaRPr>
          </a:p>
        </p:txBody>
      </p:sp>
      <p:sp>
        <p:nvSpPr>
          <p:cNvPr id="67"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68" name="Shape 7"/>
          <p:cNvSpPr/>
          <p:nvPr/>
        </p:nvSpPr>
        <p:spPr>
          <a:xfrm>
            <a:off x="621720" y="2084760"/>
            <a:ext cx="3466080" cy="1874160"/>
          </a:xfrm>
          <a:prstGeom prst="roundRect">
            <a:avLst>
              <a:gd name="adj" fmla="val 292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9" name="Shape 8"/>
          <p:cNvSpPr/>
          <p:nvPr/>
        </p:nvSpPr>
        <p:spPr>
          <a:xfrm>
            <a:off x="621720" y="2084760"/>
            <a:ext cx="54360" cy="187416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0" name="Text 9"/>
          <p:cNvSpPr/>
          <p:nvPr/>
        </p:nvSpPr>
        <p:spPr>
          <a:xfrm>
            <a:off x="877680" y="2249280"/>
            <a:ext cx="3008880" cy="5666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400" strike="noStrike" u="none">
                <a:solidFill>
                  <a:srgbClr val="007a27"/>
                </a:solidFill>
                <a:effectLst/>
                <a:uFillTx/>
                <a:latin typeface="Calibri"/>
                <a:ea typeface="Calibri"/>
              </a:rPr>
              <a:t>1</a:t>
            </a:r>
            <a:endParaRPr b="0" lang="en-US" sz="3400" strike="noStrike" u="none">
              <a:solidFill>
                <a:srgbClr val="000000"/>
              </a:solidFill>
              <a:effectLst/>
              <a:uFillTx/>
              <a:latin typeface="Arial"/>
            </a:endParaRPr>
          </a:p>
        </p:txBody>
      </p:sp>
      <p:sp>
        <p:nvSpPr>
          <p:cNvPr id="71" name="Text 10"/>
          <p:cNvSpPr/>
          <p:nvPr/>
        </p:nvSpPr>
        <p:spPr>
          <a:xfrm>
            <a:off x="850320" y="2889360"/>
            <a:ext cx="3008880" cy="502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1200" strike="noStrike" u="none">
                <a:solidFill>
                  <a:srgbClr val="1e2420"/>
                </a:solidFill>
                <a:effectLst/>
                <a:uFillTx/>
                <a:latin typeface="Calibri"/>
                <a:ea typeface="Calibri"/>
              </a:rPr>
              <a:t>Platform</a:t>
            </a:r>
            <a:endParaRPr b="0" lang="en-US" sz="1200" strike="noStrike" u="none">
              <a:solidFill>
                <a:srgbClr val="000000"/>
              </a:solidFill>
              <a:effectLst/>
              <a:uFillTx/>
              <a:latin typeface="Arial"/>
            </a:endParaRPr>
          </a:p>
        </p:txBody>
      </p:sp>
      <p:sp>
        <p:nvSpPr>
          <p:cNvPr id="72" name="Text 11"/>
          <p:cNvSpPr/>
          <p:nvPr/>
        </p:nvSpPr>
        <p:spPr>
          <a:xfrm>
            <a:off x="850320" y="3420000"/>
            <a:ext cx="3008880" cy="4568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0" lang="en-US" sz="1000" strike="noStrike" u="none">
                <a:solidFill>
                  <a:srgbClr val="5a625c"/>
                </a:solidFill>
                <a:effectLst/>
                <a:uFillTx/>
                <a:latin typeface="Calibri"/>
                <a:ea typeface="Calibri"/>
              </a:rPr>
              <a:t>One spine under six products</a:t>
            </a:r>
            <a:endParaRPr b="0" lang="en-US" sz="1000" strike="noStrike" u="none">
              <a:solidFill>
                <a:srgbClr val="000000"/>
              </a:solidFill>
              <a:effectLst/>
              <a:uFillTx/>
              <a:latin typeface="Arial"/>
            </a:endParaRPr>
          </a:p>
        </p:txBody>
      </p:sp>
      <p:sp>
        <p:nvSpPr>
          <p:cNvPr id="73" name="Shape 12"/>
          <p:cNvSpPr/>
          <p:nvPr/>
        </p:nvSpPr>
        <p:spPr>
          <a:xfrm>
            <a:off x="4362480" y="2084760"/>
            <a:ext cx="3466080" cy="1874160"/>
          </a:xfrm>
          <a:prstGeom prst="roundRect">
            <a:avLst>
              <a:gd name="adj" fmla="val 292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4" name="Shape 13"/>
          <p:cNvSpPr/>
          <p:nvPr/>
        </p:nvSpPr>
        <p:spPr>
          <a:xfrm>
            <a:off x="4362480" y="2084760"/>
            <a:ext cx="54360" cy="187416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5" name="Text 14"/>
          <p:cNvSpPr/>
          <p:nvPr/>
        </p:nvSpPr>
        <p:spPr>
          <a:xfrm>
            <a:off x="4618800" y="2249280"/>
            <a:ext cx="3008880" cy="5666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400" strike="noStrike" u="none">
                <a:solidFill>
                  <a:srgbClr val="007a27"/>
                </a:solidFill>
                <a:effectLst/>
                <a:uFillTx/>
                <a:latin typeface="Calibri"/>
                <a:ea typeface="Calibri"/>
              </a:rPr>
              <a:t>3</a:t>
            </a:r>
            <a:endParaRPr b="0" lang="en-US" sz="3400" strike="noStrike" u="none">
              <a:solidFill>
                <a:srgbClr val="000000"/>
              </a:solidFill>
              <a:effectLst/>
              <a:uFillTx/>
              <a:latin typeface="Arial"/>
            </a:endParaRPr>
          </a:p>
        </p:txBody>
      </p:sp>
      <p:sp>
        <p:nvSpPr>
          <p:cNvPr id="76" name="Text 15"/>
          <p:cNvSpPr/>
          <p:nvPr/>
        </p:nvSpPr>
        <p:spPr>
          <a:xfrm>
            <a:off x="4591080" y="2889360"/>
            <a:ext cx="3008880" cy="502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1200" strike="noStrike" u="none">
                <a:solidFill>
                  <a:srgbClr val="1e2420"/>
                </a:solidFill>
                <a:effectLst/>
                <a:uFillTx/>
                <a:latin typeface="Calibri"/>
                <a:ea typeface="Calibri"/>
              </a:rPr>
              <a:t>Strategic moves</a:t>
            </a:r>
            <a:endParaRPr b="0" lang="en-US" sz="1200" strike="noStrike" u="none">
              <a:solidFill>
                <a:srgbClr val="000000"/>
              </a:solidFill>
              <a:effectLst/>
              <a:uFillTx/>
              <a:latin typeface="Arial"/>
            </a:endParaRPr>
          </a:p>
        </p:txBody>
      </p:sp>
      <p:sp>
        <p:nvSpPr>
          <p:cNvPr id="77" name="Text 16"/>
          <p:cNvSpPr/>
          <p:nvPr/>
        </p:nvSpPr>
        <p:spPr>
          <a:xfrm>
            <a:off x="4591080" y="3420000"/>
            <a:ext cx="3008880" cy="4568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0" lang="en-US" sz="1000" strike="noStrike" u="none">
                <a:solidFill>
                  <a:srgbClr val="5a625c"/>
                </a:solidFill>
                <a:effectLst/>
                <a:uFillTx/>
                <a:latin typeface="Calibri"/>
                <a:ea typeface="Calibri"/>
              </a:rPr>
              <a:t>Own the spine, cover the footprint, decide and act</a:t>
            </a:r>
            <a:endParaRPr b="0" lang="en-US" sz="1000" strike="noStrike" u="none">
              <a:solidFill>
                <a:srgbClr val="000000"/>
              </a:solidFill>
              <a:effectLst/>
              <a:uFillTx/>
              <a:latin typeface="Arial"/>
            </a:endParaRPr>
          </a:p>
        </p:txBody>
      </p:sp>
      <p:sp>
        <p:nvSpPr>
          <p:cNvPr id="78" name="Shape 17"/>
          <p:cNvSpPr/>
          <p:nvPr/>
        </p:nvSpPr>
        <p:spPr>
          <a:xfrm>
            <a:off x="8103240" y="2084760"/>
            <a:ext cx="3466080" cy="1874160"/>
          </a:xfrm>
          <a:prstGeom prst="roundRect">
            <a:avLst>
              <a:gd name="adj" fmla="val 292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9" name="Shape 18"/>
          <p:cNvSpPr/>
          <p:nvPr/>
        </p:nvSpPr>
        <p:spPr>
          <a:xfrm>
            <a:off x="8103240" y="2084760"/>
            <a:ext cx="54360" cy="187416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0" name="Text 19"/>
          <p:cNvSpPr/>
          <p:nvPr/>
        </p:nvSpPr>
        <p:spPr>
          <a:xfrm>
            <a:off x="8359560" y="2249280"/>
            <a:ext cx="3008880" cy="5666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400" strike="noStrike" u="none">
                <a:solidFill>
                  <a:srgbClr val="007a27"/>
                </a:solidFill>
                <a:effectLst/>
                <a:uFillTx/>
                <a:latin typeface="Calibri"/>
                <a:ea typeface="Calibri"/>
              </a:rPr>
              <a:t>[€]</a:t>
            </a:r>
            <a:endParaRPr b="0" lang="en-US" sz="3400" strike="noStrike" u="none">
              <a:solidFill>
                <a:srgbClr val="000000"/>
              </a:solidFill>
              <a:effectLst/>
              <a:uFillTx/>
              <a:latin typeface="Arial"/>
            </a:endParaRPr>
          </a:p>
        </p:txBody>
      </p:sp>
      <p:sp>
        <p:nvSpPr>
          <p:cNvPr id="81" name="Text 20"/>
          <p:cNvSpPr/>
          <p:nvPr/>
        </p:nvSpPr>
        <p:spPr>
          <a:xfrm>
            <a:off x="8331840" y="2889360"/>
            <a:ext cx="3008880" cy="502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1200" strike="noStrike" u="none">
                <a:solidFill>
                  <a:srgbClr val="1e2420"/>
                </a:solidFill>
                <a:effectLst/>
                <a:uFillTx/>
                <a:latin typeface="Calibri"/>
                <a:ea typeface="Calibri"/>
              </a:rPr>
              <a:t>Incremental investment</a:t>
            </a:r>
            <a:endParaRPr b="0" lang="en-US" sz="1200" strike="noStrike" u="none">
              <a:solidFill>
                <a:srgbClr val="000000"/>
              </a:solidFill>
              <a:effectLst/>
              <a:uFillTx/>
              <a:latin typeface="Arial"/>
            </a:endParaRPr>
          </a:p>
        </p:txBody>
      </p:sp>
      <p:sp>
        <p:nvSpPr>
          <p:cNvPr id="82" name="Text 21"/>
          <p:cNvSpPr/>
          <p:nvPr/>
        </p:nvSpPr>
        <p:spPr>
          <a:xfrm>
            <a:off x="8331840" y="3420000"/>
            <a:ext cx="3008880" cy="4568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0" lang="en-US" sz="1000" strike="noStrike" u="none">
                <a:solidFill>
                  <a:srgbClr val="5a625c"/>
                </a:solidFill>
                <a:effectLst/>
                <a:uFillTx/>
                <a:latin typeface="Calibri"/>
                <a:ea typeface="Calibri"/>
              </a:rPr>
              <a:t>Placeholder pending Finance validation</a:t>
            </a:r>
            <a:endParaRPr b="0" lang="en-US" sz="1000" strike="noStrike" u="none">
              <a:solidFill>
                <a:srgbClr val="000000"/>
              </a:solidFill>
              <a:effectLst/>
              <a:uFillTx/>
              <a:latin typeface="Arial"/>
            </a:endParaRPr>
          </a:p>
        </p:txBody>
      </p:sp>
      <p:sp>
        <p:nvSpPr>
          <p:cNvPr id="83" name="Shape 22"/>
          <p:cNvSpPr/>
          <p:nvPr/>
        </p:nvSpPr>
        <p:spPr>
          <a:xfrm>
            <a:off x="621720" y="4233600"/>
            <a:ext cx="3466080" cy="1298160"/>
          </a:xfrm>
          <a:prstGeom prst="roundRect">
            <a:avLst>
              <a:gd name="adj" fmla="val 4225"/>
            </a:avLst>
          </a:prstGeom>
          <a:solidFill>
            <a:srgbClr val="f7f8f7"/>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4" name="Text 23"/>
          <p:cNvSpPr/>
          <p:nvPr/>
        </p:nvSpPr>
        <p:spPr>
          <a:xfrm>
            <a:off x="850320" y="4398120"/>
            <a:ext cx="3008880" cy="3654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400" strike="noStrike" u="none">
                <a:solidFill>
                  <a:srgbClr val="1e2420"/>
                </a:solidFill>
                <a:effectLst/>
                <a:uFillTx/>
                <a:latin typeface="Calibri"/>
                <a:ea typeface="Calibri"/>
              </a:rPr>
              <a:t>Decision 1: fund the core first</a:t>
            </a:r>
            <a:endParaRPr b="0" lang="en-US" sz="1400" strike="noStrike" u="none">
              <a:solidFill>
                <a:srgbClr val="000000"/>
              </a:solidFill>
              <a:effectLst/>
              <a:uFillTx/>
              <a:latin typeface="Arial"/>
            </a:endParaRPr>
          </a:p>
        </p:txBody>
      </p:sp>
      <p:sp>
        <p:nvSpPr>
          <p:cNvPr id="85" name="Text 24"/>
          <p:cNvSpPr/>
          <p:nvPr/>
        </p:nvSpPr>
        <p:spPr>
          <a:xfrm>
            <a:off x="850320" y="4800600"/>
            <a:ext cx="300888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0" lang="en-US" sz="1200" strike="noStrike" u="none">
                <a:solidFill>
                  <a:srgbClr val="5a625c"/>
                </a:solidFill>
                <a:effectLst/>
                <a:uFillTx/>
                <a:latin typeface="Calibri"/>
                <a:ea typeface="Calibri"/>
              </a:rPr>
              <a:t>Protect a sufficient build capacity for the shared data ingestion and lineage, data quality, hierarchy, analytics and dashboards, and user workflows.</a:t>
            </a:r>
            <a:endParaRPr b="0" lang="en-US" sz="1200" strike="noStrike" u="none">
              <a:solidFill>
                <a:srgbClr val="000000"/>
              </a:solidFill>
              <a:effectLst/>
              <a:uFillTx/>
              <a:latin typeface="Arial"/>
            </a:endParaRPr>
          </a:p>
        </p:txBody>
      </p:sp>
      <p:sp>
        <p:nvSpPr>
          <p:cNvPr id="86" name="Shape 25"/>
          <p:cNvSpPr/>
          <p:nvPr/>
        </p:nvSpPr>
        <p:spPr>
          <a:xfrm>
            <a:off x="4362480" y="4233600"/>
            <a:ext cx="3466080" cy="1298160"/>
          </a:xfrm>
          <a:prstGeom prst="roundRect">
            <a:avLst>
              <a:gd name="adj" fmla="val 4225"/>
            </a:avLst>
          </a:prstGeom>
          <a:solidFill>
            <a:srgbClr val="f7f8f7"/>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7" name="Text 26"/>
          <p:cNvSpPr/>
          <p:nvPr/>
        </p:nvSpPr>
        <p:spPr>
          <a:xfrm>
            <a:off x="4591080" y="4398120"/>
            <a:ext cx="3008880" cy="3654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400" strike="noStrike" u="none">
                <a:solidFill>
                  <a:srgbClr val="1e2420"/>
                </a:solidFill>
                <a:effectLst/>
                <a:uFillTx/>
                <a:latin typeface="Calibri"/>
                <a:ea typeface="Calibri"/>
              </a:rPr>
              <a:t>Decision 2: commit 2026, gate 2027 for Energy and Efficiency</a:t>
            </a:r>
            <a:endParaRPr b="0" lang="en-US" sz="1400" strike="noStrike" u="none">
              <a:solidFill>
                <a:srgbClr val="000000"/>
              </a:solidFill>
              <a:effectLst/>
              <a:uFillTx/>
              <a:latin typeface="Arial"/>
            </a:endParaRPr>
          </a:p>
        </p:txBody>
      </p:sp>
      <p:sp>
        <p:nvSpPr>
          <p:cNvPr id="88" name="Text 27"/>
          <p:cNvSpPr/>
          <p:nvPr/>
        </p:nvSpPr>
        <p:spPr>
          <a:xfrm>
            <a:off x="4591080" y="4800600"/>
            <a:ext cx="300888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0" lang="en-US" sz="1200" strike="noStrike" u="none">
                <a:solidFill>
                  <a:srgbClr val="5a625c"/>
                </a:solidFill>
                <a:effectLst/>
                <a:uFillTx/>
                <a:latin typeface="Calibri"/>
                <a:ea typeface="Calibri"/>
              </a:rPr>
              <a:t>2026 dates are firm. Only Energy and Efficiency stays gated in 2027, released once its business plan is finalised and validated.</a:t>
            </a:r>
            <a:endParaRPr b="0" lang="en-US" sz="1200" strike="noStrike" u="none">
              <a:solidFill>
                <a:srgbClr val="000000"/>
              </a:solidFill>
              <a:effectLst/>
              <a:uFillTx/>
              <a:latin typeface="Arial"/>
            </a:endParaRPr>
          </a:p>
        </p:txBody>
      </p:sp>
      <p:sp>
        <p:nvSpPr>
          <p:cNvPr id="89" name="Shape 28"/>
          <p:cNvSpPr/>
          <p:nvPr/>
        </p:nvSpPr>
        <p:spPr>
          <a:xfrm>
            <a:off x="8103240" y="4233600"/>
            <a:ext cx="3466080" cy="1298160"/>
          </a:xfrm>
          <a:prstGeom prst="roundRect">
            <a:avLst>
              <a:gd name="adj" fmla="val 4225"/>
            </a:avLst>
          </a:prstGeom>
          <a:solidFill>
            <a:srgbClr val="f7f8f7"/>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0" name="Text 29"/>
          <p:cNvSpPr/>
          <p:nvPr/>
        </p:nvSpPr>
        <p:spPr>
          <a:xfrm>
            <a:off x="8331840" y="4398120"/>
            <a:ext cx="3008880" cy="3654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400" strike="noStrike" u="none">
                <a:solidFill>
                  <a:srgbClr val="1e2420"/>
                </a:solidFill>
                <a:effectLst/>
                <a:uFillTx/>
                <a:latin typeface="Calibri"/>
                <a:ea typeface="Calibri"/>
              </a:rPr>
              <a:t>Decision 3: back convergence over point features</a:t>
            </a:r>
            <a:endParaRPr b="0" lang="en-US" sz="1400" strike="noStrike" u="none">
              <a:solidFill>
                <a:srgbClr val="000000"/>
              </a:solidFill>
              <a:effectLst/>
              <a:uFillTx/>
              <a:latin typeface="Arial"/>
            </a:endParaRPr>
          </a:p>
        </p:txBody>
      </p:sp>
      <p:sp>
        <p:nvSpPr>
          <p:cNvPr id="91" name="Text 30"/>
          <p:cNvSpPr/>
          <p:nvPr/>
        </p:nvSpPr>
        <p:spPr>
          <a:xfrm>
            <a:off x="8331840" y="4800600"/>
            <a:ext cx="300888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0" lang="en-US" sz="1200" strike="noStrike" u="none">
                <a:solidFill>
                  <a:srgbClr val="5a625c"/>
                </a:solidFill>
                <a:effectLst/>
                <a:uFillTx/>
                <a:latin typeface="Calibri"/>
                <a:ea typeface="Calibri"/>
              </a:rPr>
              <a:t>We win by connecting Sustainability, Energy and Efficiency, not by matching every rival feature.</a:t>
            </a:r>
            <a:endParaRPr b="0" lang="en-US" sz="1200" strike="noStrike" u="none">
              <a:solidFill>
                <a:srgbClr val="000000"/>
              </a:solidFill>
              <a:effectLst/>
              <a:uFillTx/>
              <a:latin typeface="Arial"/>
            </a:endParaRPr>
          </a:p>
        </p:txBody>
      </p:sp>
      <p:sp>
        <p:nvSpPr>
          <p:cNvPr id="92" name="Shape 31"/>
          <p:cNvSpPr/>
          <p:nvPr/>
        </p:nvSpPr>
        <p:spPr>
          <a:xfrm>
            <a:off x="621720" y="5650920"/>
            <a:ext cx="10947600" cy="585000"/>
          </a:xfrm>
          <a:prstGeom prst="roundRect">
            <a:avLst>
              <a:gd name="adj" fmla="val 12500"/>
            </a:avLst>
          </a:prstGeom>
          <a:solidFill>
            <a:srgbClr val="effaf1"/>
          </a:solidFill>
          <a:ln w="12700">
            <a:solidFill>
              <a:srgbClr val="bce8c9"/>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3" name="Shape 32"/>
          <p:cNvSpPr/>
          <p:nvPr/>
        </p:nvSpPr>
        <p:spPr>
          <a:xfrm>
            <a:off x="676800" y="5760720"/>
            <a:ext cx="45360" cy="3654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4" name="Text 33"/>
          <p:cNvSpPr/>
          <p:nvPr/>
        </p:nvSpPr>
        <p:spPr>
          <a:xfrm>
            <a:off x="859680" y="5650920"/>
            <a:ext cx="10527120" cy="585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200" strike="noStrike" u="none">
                <a:solidFill>
                  <a:srgbClr val="3a423c"/>
                </a:solidFill>
                <a:effectLst/>
                <a:uFillTx/>
                <a:latin typeface="Calibri"/>
                <a:ea typeface="Calibri"/>
              </a:rPr>
              <a:t>All euro figures in this deck are placeholders pending Finance validation.</a:t>
            </a:r>
            <a:endParaRPr b="0" lang="en-US" sz="1200" strike="noStrike" u="none">
              <a:solidFill>
                <a:srgbClr val="000000"/>
              </a:solidFill>
              <a:effectLst/>
              <a:uFillTx/>
              <a:latin typeface="Arial"/>
            </a:endParaRPr>
          </a:p>
        </p:txBody>
      </p:sp>
      <p:sp>
        <p:nvSpPr>
          <p:cNvPr id="95" name="Shape 34"/>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96" name="Text 35"/>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97" name="Text 36"/>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98" name="PlaceHolder 1"/>
          <p:cNvSpPr>
            <a:spLocks noGrp="1"/>
          </p:cNvSpPr>
          <p:nvPr>
            <p:ph type="sldNum" idx="8"/>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7CC19E21-E98F-4F5E-ABBC-8F5929AD9480}" type="slidenum">
              <a:rPr b="1" lang="en-US" sz="800" strike="noStrike" u="none">
                <a:solidFill>
                  <a:srgbClr val="007a27"/>
                </a:solidFill>
                <a:effectLst/>
                <a:uFillTx/>
                <a:latin typeface="Calibri"/>
                <a:ea typeface="Calibri"/>
              </a:rPr>
              <a:t>4</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9"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100"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101" name="Shape 2"/>
          <p:cNvSpPr/>
          <p:nvPr/>
        </p:nvSpPr>
        <p:spPr>
          <a:xfrm>
            <a:off x="621720" y="311040"/>
            <a:ext cx="260568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2" name="Text 3"/>
          <p:cNvSpPr/>
          <p:nvPr/>
        </p:nvSpPr>
        <p:spPr>
          <a:xfrm>
            <a:off x="804600" y="329040"/>
            <a:ext cx="227664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SINCE THE LAST BOARD</a:t>
            </a:r>
            <a:endParaRPr b="0" lang="en-US" sz="950" strike="noStrike" u="none">
              <a:solidFill>
                <a:srgbClr val="000000"/>
              </a:solidFill>
              <a:effectLst/>
              <a:uFillTx/>
              <a:latin typeface="Arial"/>
            </a:endParaRPr>
          </a:p>
        </p:txBody>
      </p:sp>
      <p:sp>
        <p:nvSpPr>
          <p:cNvPr id="103"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What changed since we last met</a:t>
            </a:r>
            <a:endParaRPr b="0" lang="en-US" sz="3200" strike="noStrike" u="none">
              <a:solidFill>
                <a:srgbClr val="000000"/>
              </a:solidFill>
              <a:effectLst/>
              <a:uFillTx/>
              <a:latin typeface="Arial"/>
            </a:endParaRPr>
          </a:p>
        </p:txBody>
      </p:sp>
      <p:sp>
        <p:nvSpPr>
          <p:cNvPr id="104"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Three shifts that explain why this plan differs from the previous review.</a:t>
            </a:r>
            <a:endParaRPr b="0" lang="en-US" sz="1250" strike="noStrike" u="none">
              <a:solidFill>
                <a:srgbClr val="000000"/>
              </a:solidFill>
              <a:effectLst/>
              <a:uFillTx/>
              <a:latin typeface="Arial"/>
            </a:endParaRPr>
          </a:p>
        </p:txBody>
      </p:sp>
      <p:sp>
        <p:nvSpPr>
          <p:cNvPr id="105"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06" name="Shape 7"/>
          <p:cNvSpPr/>
          <p:nvPr/>
        </p:nvSpPr>
        <p:spPr>
          <a:xfrm>
            <a:off x="62172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7" name="Shape 8"/>
          <p:cNvSpPr/>
          <p:nvPr/>
        </p:nvSpPr>
        <p:spPr>
          <a:xfrm>
            <a:off x="621720" y="2084760"/>
            <a:ext cx="346608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108" name="Text 9"/>
          <p:cNvSpPr/>
          <p:nvPr/>
        </p:nvSpPr>
        <p:spPr>
          <a:xfrm>
            <a:off x="82296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DELIVERED</a:t>
            </a:r>
            <a:endParaRPr b="0" lang="en-US" sz="900" strike="noStrike" u="none">
              <a:solidFill>
                <a:srgbClr val="000000"/>
              </a:solidFill>
              <a:effectLst/>
              <a:uFillTx/>
              <a:latin typeface="Arial"/>
            </a:endParaRPr>
          </a:p>
        </p:txBody>
      </p:sp>
      <p:sp>
        <p:nvSpPr>
          <p:cNvPr id="109" name="Text 10"/>
          <p:cNvSpPr/>
          <p:nvPr/>
        </p:nvSpPr>
        <p:spPr>
          <a:xfrm>
            <a:off x="82296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What landed</a:t>
            </a:r>
            <a:endParaRPr b="0" lang="en-US" sz="1600" strike="noStrike" u="none">
              <a:solidFill>
                <a:srgbClr val="000000"/>
              </a:solidFill>
              <a:effectLst/>
              <a:uFillTx/>
              <a:latin typeface="Arial"/>
            </a:endParaRPr>
          </a:p>
        </p:txBody>
      </p:sp>
      <p:sp>
        <p:nvSpPr>
          <p:cNvPr id="110" name="Text 11"/>
          <p:cNvSpPr/>
          <p:nvPr/>
        </p:nvSpPr>
        <p:spPr>
          <a:xfrm>
            <a:off x="80460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Q3 2026 shipped against the committed scope.</a:t>
            </a:r>
            <a:endParaRPr b="0" lang="en-US" sz="1100" strike="noStrike" u="none">
              <a:solidFill>
                <a:srgbClr val="000000"/>
              </a:solidFill>
              <a:effectLst/>
              <a:uFillTx/>
              <a:latin typeface="Arial"/>
            </a:endParaRPr>
          </a:p>
        </p:txBody>
      </p:sp>
      <p:sp>
        <p:nvSpPr>
          <p:cNvPr id="111" name="Text 12"/>
          <p:cNvSpPr/>
          <p:nvPr/>
        </p:nvSpPr>
        <p:spPr>
          <a:xfrm>
            <a:off x="822960" y="3776400"/>
            <a:ext cx="310032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Shared hierarchy and factor foundations in build</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Inventory revamp with per gas breakdown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Config engine, calculation methods and templates</a:t>
            </a:r>
            <a:endParaRPr b="0" lang="en-US" sz="1100" strike="noStrike" u="none">
              <a:solidFill>
                <a:srgbClr val="000000"/>
              </a:solidFill>
              <a:effectLst/>
              <a:uFillTx/>
              <a:latin typeface="Arial"/>
            </a:endParaRPr>
          </a:p>
        </p:txBody>
      </p:sp>
      <p:sp>
        <p:nvSpPr>
          <p:cNvPr id="112" name="Shape 13"/>
          <p:cNvSpPr/>
          <p:nvPr/>
        </p:nvSpPr>
        <p:spPr>
          <a:xfrm>
            <a:off x="436248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3" name="Shape 14"/>
          <p:cNvSpPr/>
          <p:nvPr/>
        </p:nvSpPr>
        <p:spPr>
          <a:xfrm>
            <a:off x="4362480" y="2084760"/>
            <a:ext cx="346608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114" name="Text 15"/>
          <p:cNvSpPr/>
          <p:nvPr/>
        </p:nvSpPr>
        <p:spPr>
          <a:xfrm>
            <a:off x="456372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CHANGED</a:t>
            </a:r>
            <a:endParaRPr b="0" lang="en-US" sz="900" strike="noStrike" u="none">
              <a:solidFill>
                <a:srgbClr val="000000"/>
              </a:solidFill>
              <a:effectLst/>
              <a:uFillTx/>
              <a:latin typeface="Arial"/>
            </a:endParaRPr>
          </a:p>
        </p:txBody>
      </p:sp>
      <p:sp>
        <p:nvSpPr>
          <p:cNvPr id="115" name="Text 16"/>
          <p:cNvSpPr/>
          <p:nvPr/>
        </p:nvSpPr>
        <p:spPr>
          <a:xfrm>
            <a:off x="456372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What we adjusted</a:t>
            </a:r>
            <a:endParaRPr b="0" lang="en-US" sz="1600" strike="noStrike" u="none">
              <a:solidFill>
                <a:srgbClr val="000000"/>
              </a:solidFill>
              <a:effectLst/>
              <a:uFillTx/>
              <a:latin typeface="Arial"/>
            </a:endParaRPr>
          </a:p>
        </p:txBody>
      </p:sp>
      <p:sp>
        <p:nvSpPr>
          <p:cNvPr id="116" name="Text 17"/>
          <p:cNvSpPr/>
          <p:nvPr/>
        </p:nvSpPr>
        <p:spPr>
          <a:xfrm>
            <a:off x="454536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Scope moved where evidence or capacity demanded it.</a:t>
            </a:r>
            <a:endParaRPr b="0" lang="en-US" sz="1100" strike="noStrike" u="none">
              <a:solidFill>
                <a:srgbClr val="000000"/>
              </a:solidFill>
              <a:effectLst/>
              <a:uFillTx/>
              <a:latin typeface="Arial"/>
            </a:endParaRPr>
          </a:p>
        </p:txBody>
      </p:sp>
      <p:sp>
        <p:nvSpPr>
          <p:cNvPr id="117" name="Text 18"/>
          <p:cNvSpPr/>
          <p:nvPr/>
        </p:nvSpPr>
        <p:spPr>
          <a:xfrm>
            <a:off x="4563720" y="3776400"/>
            <a:ext cx="310032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Sera for carbon inventory pulled forward into Q4 2026</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2027 expressed as H1 and H2, not invented quarters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Zeigo Activate sunset, replaced by a light CP calculator</a:t>
            </a:r>
            <a:endParaRPr b="0" lang="en-US" sz="1100" strike="noStrike" u="none">
              <a:solidFill>
                <a:srgbClr val="000000"/>
              </a:solidFill>
              <a:effectLst/>
              <a:uFillTx/>
              <a:latin typeface="Arial"/>
            </a:endParaRPr>
          </a:p>
        </p:txBody>
      </p:sp>
      <p:sp>
        <p:nvSpPr>
          <p:cNvPr id="118" name="Shape 19"/>
          <p:cNvSpPr/>
          <p:nvPr/>
        </p:nvSpPr>
        <p:spPr>
          <a:xfrm>
            <a:off x="810324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9" name="Shape 20"/>
          <p:cNvSpPr/>
          <p:nvPr/>
        </p:nvSpPr>
        <p:spPr>
          <a:xfrm>
            <a:off x="8103240" y="2084760"/>
            <a:ext cx="346608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120" name="Text 21"/>
          <p:cNvSpPr/>
          <p:nvPr/>
        </p:nvSpPr>
        <p:spPr>
          <a:xfrm>
            <a:off x="830448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STILL OPEN</a:t>
            </a:r>
            <a:endParaRPr b="0" lang="en-US" sz="900" strike="noStrike" u="none">
              <a:solidFill>
                <a:srgbClr val="000000"/>
              </a:solidFill>
              <a:effectLst/>
              <a:uFillTx/>
              <a:latin typeface="Arial"/>
            </a:endParaRPr>
          </a:p>
        </p:txBody>
      </p:sp>
      <p:sp>
        <p:nvSpPr>
          <p:cNvPr id="121" name="Text 22"/>
          <p:cNvSpPr/>
          <p:nvPr/>
        </p:nvSpPr>
        <p:spPr>
          <a:xfrm>
            <a:off x="830448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What is not settled</a:t>
            </a:r>
            <a:endParaRPr b="0" lang="en-US" sz="1600" strike="noStrike" u="none">
              <a:solidFill>
                <a:srgbClr val="000000"/>
              </a:solidFill>
              <a:effectLst/>
              <a:uFillTx/>
              <a:latin typeface="Arial"/>
            </a:endParaRPr>
          </a:p>
        </p:txBody>
      </p:sp>
      <p:sp>
        <p:nvSpPr>
          <p:cNvPr id="122" name="Text 23"/>
          <p:cNvSpPr/>
          <p:nvPr/>
        </p:nvSpPr>
        <p:spPr>
          <a:xfrm>
            <a:off x="828612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Items the board should expect to see again.</a:t>
            </a:r>
            <a:endParaRPr b="0" lang="en-US" sz="1100" strike="noStrike" u="none">
              <a:solidFill>
                <a:srgbClr val="000000"/>
              </a:solidFill>
              <a:effectLst/>
              <a:uFillTx/>
              <a:latin typeface="Arial"/>
            </a:endParaRPr>
          </a:p>
        </p:txBody>
      </p:sp>
      <p:sp>
        <p:nvSpPr>
          <p:cNvPr id="123" name="Text 24"/>
          <p:cNvSpPr/>
          <p:nvPr/>
        </p:nvSpPr>
        <p:spPr>
          <a:xfrm>
            <a:off x="8304480" y="3776400"/>
            <a:ext cx="310032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Finance validation of every euro figure in this deck</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Capacity confirmation for unranked 2027 themes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Post 2027 horizons remain directional</a:t>
            </a:r>
            <a:endParaRPr b="0" lang="en-US" sz="1100" strike="noStrike" u="none">
              <a:solidFill>
                <a:srgbClr val="000000"/>
              </a:solidFill>
              <a:effectLst/>
              <a:uFillTx/>
              <a:latin typeface="Arial"/>
            </a:endParaRPr>
          </a:p>
        </p:txBody>
      </p:sp>
      <p:sp>
        <p:nvSpPr>
          <p:cNvPr id="124" name="Shape 25"/>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25" name="Text 26"/>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126" name="Text 27"/>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127" name="PlaceHolder 1"/>
          <p:cNvSpPr>
            <a:spLocks noGrp="1"/>
          </p:cNvSpPr>
          <p:nvPr>
            <p:ph type="sldNum" idx="9"/>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67057B11-30D5-4268-96D9-0339DA32224C}" type="slidenum">
              <a:rPr b="1" lang="en-US" sz="800" strike="noStrike" u="none">
                <a:solidFill>
                  <a:srgbClr val="007a27"/>
                </a:solidFill>
                <a:effectLst/>
                <a:uFillTx/>
                <a:latin typeface="Calibri"/>
                <a:ea typeface="Calibri"/>
              </a:rPr>
              <a:t>5</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5730"/>
        </a:solidFill>
      </p:bgPr>
    </p:bg>
    <p:spTree>
      <p:nvGrpSpPr>
        <p:cNvPr id="1" name=""/>
        <p:cNvGrpSpPr/>
        <p:nvPr/>
      </p:nvGrpSpPr>
      <p:grpSpPr>
        <a:xfrm>
          <a:off x="0" y="0"/>
          <a:ext cx="0" cy="0"/>
          <a:chOff x="0" y="0"/>
          <a:chExt cx="0" cy="0"/>
        </a:xfrm>
      </p:grpSpPr>
      <p:sp>
        <p:nvSpPr>
          <p:cNvPr id="128"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129"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130" name="Shape 2"/>
          <p:cNvSpPr/>
          <p:nvPr/>
        </p:nvSpPr>
        <p:spPr>
          <a:xfrm>
            <a:off x="8641080" y="822960"/>
            <a:ext cx="360" cy="5212080"/>
          </a:xfrm>
          <a:prstGeom prst="line">
            <a:avLst/>
          </a:prstGeom>
          <a:ln w="12700">
            <a:solidFill>
              <a:srgbClr val="2c8058"/>
            </a:solidFill>
            <a:round/>
          </a:ln>
        </p:spPr>
        <p:style>
          <a:lnRef idx="0"/>
          <a:fillRef idx="0"/>
          <a:effectRef idx="0"/>
          <a:fontRef idx="minor"/>
        </p:style>
        <p:txBody>
          <a:bodyPr lIns="90000" rIns="90000" tIns="45000" bIns="45000" anchor="t" anchorCtr="1">
            <a:noAutofit/>
          </a:bodyPr>
          <a:p>
            <a:endParaRPr b="0" lang="en-US" sz="1800" strike="noStrike" u="none">
              <a:solidFill>
                <a:srgbClr val="ffffff"/>
              </a:solidFill>
              <a:effectLst/>
              <a:uFillTx/>
              <a:latin typeface="Arial"/>
            </a:endParaRPr>
          </a:p>
        </p:txBody>
      </p:sp>
      <p:sp>
        <p:nvSpPr>
          <p:cNvPr id="131" name="Text 3"/>
          <p:cNvSpPr/>
          <p:nvPr/>
        </p:nvSpPr>
        <p:spPr>
          <a:xfrm>
            <a:off x="9144000" y="841320"/>
            <a:ext cx="2194200" cy="22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81" strike="noStrike" u="none">
                <a:solidFill>
                  <a:srgbClr val="bfe6ce"/>
                </a:solidFill>
                <a:effectLst/>
                <a:uFillTx/>
                <a:latin typeface="Calibri"/>
                <a:ea typeface="Calibri"/>
              </a:rPr>
              <a:t>RA+ ROADMAP</a:t>
            </a:r>
            <a:endParaRPr b="0" lang="en-US" sz="900" strike="noStrike" u="none">
              <a:solidFill>
                <a:srgbClr val="ffffff"/>
              </a:solidFill>
              <a:effectLst/>
              <a:uFillTx/>
              <a:latin typeface="Arial"/>
            </a:endParaRPr>
          </a:p>
        </p:txBody>
      </p:sp>
      <p:sp>
        <p:nvSpPr>
          <p:cNvPr id="132" name="Text 4"/>
          <p:cNvSpPr/>
          <p:nvPr/>
        </p:nvSpPr>
        <p:spPr>
          <a:xfrm>
            <a:off x="9144000" y="1325880"/>
            <a:ext cx="2194200" cy="1462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3600" strike="noStrike" u="none">
                <a:solidFill>
                  <a:srgbClr val="ffffff"/>
                </a:solidFill>
                <a:effectLst/>
                <a:uFillTx/>
                <a:latin typeface="Calibri"/>
                <a:ea typeface="Calibri"/>
              </a:rPr>
              <a:t>2026</a:t>
            </a:r>
            <a:endParaRPr b="0" lang="en-US" sz="3600" strike="noStrike" u="none">
              <a:solidFill>
                <a:srgbClr val="ffffff"/>
              </a:solidFill>
              <a:effectLst/>
              <a:uFillTx/>
              <a:latin typeface="Arial"/>
            </a:endParaRPr>
          </a:p>
          <a:p>
            <a:pPr defTabSz="914400">
              <a:lnSpc>
                <a:spcPct val="100000"/>
              </a:lnSpc>
              <a:tabLst>
                <a:tab algn="l" pos="0"/>
              </a:tabLst>
            </a:pPr>
            <a:r>
              <a:rPr b="1" lang="en-US" sz="3600" strike="noStrike" u="none">
                <a:solidFill>
                  <a:srgbClr val="ffffff"/>
                </a:solidFill>
                <a:effectLst/>
                <a:uFillTx/>
                <a:latin typeface="Calibri"/>
                <a:ea typeface="Calibri"/>
              </a:rPr>
              <a:t>2027</a:t>
            </a:r>
            <a:endParaRPr b="0" lang="en-US" sz="3600" strike="noStrike" u="none">
              <a:solidFill>
                <a:srgbClr val="ffffff"/>
              </a:solidFill>
              <a:effectLst/>
              <a:uFillTx/>
              <a:latin typeface="Arial"/>
            </a:endParaRPr>
          </a:p>
        </p:txBody>
      </p:sp>
      <p:sp>
        <p:nvSpPr>
          <p:cNvPr id="133" name="Text 5"/>
          <p:cNvSpPr/>
          <p:nvPr/>
        </p:nvSpPr>
        <p:spPr>
          <a:xfrm>
            <a:off x="621720" y="960120"/>
            <a:ext cx="71319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221" strike="noStrike" u="none">
                <a:solidFill>
                  <a:srgbClr val="bfe6ce"/>
                </a:solidFill>
                <a:effectLst/>
                <a:uFillTx/>
                <a:latin typeface="Calibri"/>
                <a:ea typeface="Calibri"/>
              </a:rPr>
              <a:t>LEADERSHIP NARRATIVE</a:t>
            </a:r>
            <a:endParaRPr b="0" lang="en-US" sz="1100" strike="noStrike" u="none">
              <a:solidFill>
                <a:srgbClr val="ffffff"/>
              </a:solidFill>
              <a:effectLst/>
              <a:uFillTx/>
              <a:latin typeface="Arial"/>
            </a:endParaRPr>
          </a:p>
        </p:txBody>
      </p:sp>
      <p:sp>
        <p:nvSpPr>
          <p:cNvPr id="134" name="Text 6"/>
          <p:cNvSpPr/>
          <p:nvPr/>
        </p:nvSpPr>
        <p:spPr>
          <a:xfrm>
            <a:off x="621720" y="1508760"/>
            <a:ext cx="191988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5800" strike="noStrike" u="none">
                <a:solidFill>
                  <a:srgbClr val="3dcd58"/>
                </a:solidFill>
                <a:effectLst/>
                <a:uFillTx/>
                <a:latin typeface="Calibri"/>
                <a:ea typeface="Calibri"/>
              </a:rPr>
              <a:t>00</a:t>
            </a:r>
            <a:endParaRPr b="0" lang="en-US" sz="5800" strike="noStrike" u="none">
              <a:solidFill>
                <a:srgbClr val="ffffff"/>
              </a:solidFill>
              <a:effectLst/>
              <a:uFillTx/>
              <a:latin typeface="Arial"/>
            </a:endParaRPr>
          </a:p>
        </p:txBody>
      </p:sp>
      <p:sp>
        <p:nvSpPr>
          <p:cNvPr id="135" name="Text 7"/>
          <p:cNvSpPr/>
          <p:nvPr/>
        </p:nvSpPr>
        <p:spPr>
          <a:xfrm>
            <a:off x="621720" y="2606040"/>
            <a:ext cx="7406280" cy="11426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ffffff"/>
                </a:solidFill>
                <a:effectLst/>
                <a:uFillTx/>
                <a:latin typeface="Calibri"/>
                <a:ea typeface="Calibri"/>
              </a:rPr>
              <a:t>The story the leadership team needs to believe</a:t>
            </a:r>
            <a:endParaRPr b="0" lang="en-US" sz="3200" strike="noStrike" u="none">
              <a:solidFill>
                <a:srgbClr val="ffffff"/>
              </a:solidFill>
              <a:effectLst/>
              <a:uFillTx/>
              <a:latin typeface="Arial"/>
            </a:endParaRPr>
          </a:p>
        </p:txBody>
      </p:sp>
      <p:sp>
        <p:nvSpPr>
          <p:cNvPr id="136" name="Text 8"/>
          <p:cNvSpPr/>
          <p:nvPr/>
        </p:nvSpPr>
        <p:spPr>
          <a:xfrm>
            <a:off x="621720" y="4005000"/>
            <a:ext cx="704052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400" strike="noStrike" u="none">
                <a:solidFill>
                  <a:srgbClr val="d6eadf"/>
                </a:solidFill>
                <a:effectLst/>
                <a:uFillTx/>
                <a:latin typeface="Calibri"/>
                <a:ea typeface="Calibri"/>
              </a:rPr>
              <a:t>Five slides on why RA+ is the bet, why it wins, and why half measures will not work.</a:t>
            </a:r>
            <a:endParaRPr b="0" lang="en-US" sz="14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7"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138"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139" name="Shape 2"/>
          <p:cNvSpPr/>
          <p:nvPr/>
        </p:nvSpPr>
        <p:spPr>
          <a:xfrm>
            <a:off x="621720" y="311040"/>
            <a:ext cx="260568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0" name="Text 3"/>
          <p:cNvSpPr/>
          <p:nvPr/>
        </p:nvSpPr>
        <p:spPr>
          <a:xfrm>
            <a:off x="804600" y="329040"/>
            <a:ext cx="227664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LEADERSHIP NARRATIVE</a:t>
            </a:r>
            <a:endParaRPr b="0" lang="en-US" sz="950" strike="noStrike" u="none">
              <a:solidFill>
                <a:srgbClr val="000000"/>
              </a:solidFill>
              <a:effectLst/>
              <a:uFillTx/>
              <a:latin typeface="Arial"/>
            </a:endParaRPr>
          </a:p>
        </p:txBody>
      </p:sp>
      <p:sp>
        <p:nvSpPr>
          <p:cNvPr id="141" name="Text 4"/>
          <p:cNvSpPr/>
          <p:nvPr/>
        </p:nvSpPr>
        <p:spPr>
          <a:xfrm>
            <a:off x="621720" y="768240"/>
            <a:ext cx="10947600" cy="8042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2800" strike="noStrike" u="none">
                <a:solidFill>
                  <a:srgbClr val="1e2420"/>
                </a:solidFill>
                <a:effectLst/>
                <a:uFillTx/>
                <a:latin typeface="Calibri"/>
                <a:ea typeface="Calibri"/>
              </a:rPr>
              <a:t>Sustainability is becoming a boardroom weapon, not a report</a:t>
            </a:r>
            <a:endParaRPr b="0" lang="en-US" sz="2800" strike="noStrike" u="none">
              <a:solidFill>
                <a:srgbClr val="000000"/>
              </a:solidFill>
              <a:effectLst/>
              <a:uFillTx/>
              <a:latin typeface="Arial"/>
            </a:endParaRPr>
          </a:p>
        </p:txBody>
      </p:sp>
      <p:sp>
        <p:nvSpPr>
          <p:cNvPr id="142" name="Text 5"/>
          <p:cNvSpPr/>
          <p:nvPr/>
        </p:nvSpPr>
        <p:spPr>
          <a:xfrm>
            <a:off x="621720" y="15728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Three forces are turning compliance data into competitive advantage. The question is who owns it.</a:t>
            </a:r>
            <a:endParaRPr b="0" lang="en-US" sz="1250" strike="noStrike" u="none">
              <a:solidFill>
                <a:srgbClr val="000000"/>
              </a:solidFill>
              <a:effectLst/>
              <a:uFillTx/>
              <a:latin typeface="Arial"/>
            </a:endParaRPr>
          </a:p>
        </p:txBody>
      </p:sp>
      <p:sp>
        <p:nvSpPr>
          <p:cNvPr id="143"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44" name="Shape 7"/>
          <p:cNvSpPr/>
          <p:nvPr/>
        </p:nvSpPr>
        <p:spPr>
          <a:xfrm>
            <a:off x="62172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5" name="Shape 8"/>
          <p:cNvSpPr/>
          <p:nvPr/>
        </p:nvSpPr>
        <p:spPr>
          <a:xfrm>
            <a:off x="621720" y="2084760"/>
            <a:ext cx="346608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146" name="Text 9"/>
          <p:cNvSpPr/>
          <p:nvPr/>
        </p:nvSpPr>
        <p:spPr>
          <a:xfrm>
            <a:off x="82296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FORCE 1</a:t>
            </a:r>
            <a:endParaRPr b="0" lang="en-US" sz="900" strike="noStrike" u="none">
              <a:solidFill>
                <a:srgbClr val="000000"/>
              </a:solidFill>
              <a:effectLst/>
              <a:uFillTx/>
              <a:latin typeface="Arial"/>
            </a:endParaRPr>
          </a:p>
        </p:txBody>
      </p:sp>
      <p:sp>
        <p:nvSpPr>
          <p:cNvPr id="147" name="Text 10"/>
          <p:cNvSpPr/>
          <p:nvPr/>
        </p:nvSpPr>
        <p:spPr>
          <a:xfrm>
            <a:off x="82296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Regulation is now a moat</a:t>
            </a:r>
            <a:endParaRPr b="0" lang="en-US" sz="1600" strike="noStrike" u="none">
              <a:solidFill>
                <a:srgbClr val="000000"/>
              </a:solidFill>
              <a:effectLst/>
              <a:uFillTx/>
              <a:latin typeface="Arial"/>
            </a:endParaRPr>
          </a:p>
        </p:txBody>
      </p:sp>
      <p:sp>
        <p:nvSpPr>
          <p:cNvPr id="148" name="Text 11"/>
          <p:cNvSpPr/>
          <p:nvPr/>
        </p:nvSpPr>
        <p:spPr>
          <a:xfrm>
            <a:off x="80460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CSRD and assurance punish weak data and reward the platform that can prove lineage.</a:t>
            </a:r>
            <a:endParaRPr b="0" lang="en-US" sz="1100" strike="noStrike" u="none">
              <a:solidFill>
                <a:srgbClr val="000000"/>
              </a:solidFill>
              <a:effectLst/>
              <a:uFillTx/>
              <a:latin typeface="Arial"/>
            </a:endParaRPr>
          </a:p>
        </p:txBody>
      </p:sp>
      <p:sp>
        <p:nvSpPr>
          <p:cNvPr id="149" name="Text 12"/>
          <p:cNvSpPr/>
          <p:nvPr/>
        </p:nvSpPr>
        <p:spPr>
          <a:xfrm>
            <a:off x="822960" y="3776400"/>
            <a:ext cx="310032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Disclosure is no longer a PDF exercise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Auditors ask for lineage, not spreadsheets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The cost of weak data is now board level</a:t>
            </a:r>
            <a:endParaRPr b="0" lang="en-US" sz="1100" strike="noStrike" u="none">
              <a:solidFill>
                <a:srgbClr val="000000"/>
              </a:solidFill>
              <a:effectLst/>
              <a:uFillTx/>
              <a:latin typeface="Arial"/>
            </a:endParaRPr>
          </a:p>
        </p:txBody>
      </p:sp>
      <p:sp>
        <p:nvSpPr>
          <p:cNvPr id="150" name="Shape 13"/>
          <p:cNvSpPr/>
          <p:nvPr/>
        </p:nvSpPr>
        <p:spPr>
          <a:xfrm>
            <a:off x="436248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1" name="Shape 14"/>
          <p:cNvSpPr/>
          <p:nvPr/>
        </p:nvSpPr>
        <p:spPr>
          <a:xfrm>
            <a:off x="4362480" y="2084760"/>
            <a:ext cx="346608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152" name="Text 15"/>
          <p:cNvSpPr/>
          <p:nvPr/>
        </p:nvSpPr>
        <p:spPr>
          <a:xfrm>
            <a:off x="456372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FORCE 2</a:t>
            </a:r>
            <a:endParaRPr b="0" lang="en-US" sz="900" strike="noStrike" u="none">
              <a:solidFill>
                <a:srgbClr val="000000"/>
              </a:solidFill>
              <a:effectLst/>
              <a:uFillTx/>
              <a:latin typeface="Arial"/>
            </a:endParaRPr>
          </a:p>
        </p:txBody>
      </p:sp>
      <p:sp>
        <p:nvSpPr>
          <p:cNvPr id="153" name="Text 16"/>
          <p:cNvSpPr/>
          <p:nvPr/>
        </p:nvSpPr>
        <p:spPr>
          <a:xfrm>
            <a:off x="456372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Carbon is a P&amp;L line</a:t>
            </a:r>
            <a:endParaRPr b="0" lang="en-US" sz="1600" strike="noStrike" u="none">
              <a:solidFill>
                <a:srgbClr val="000000"/>
              </a:solidFill>
              <a:effectLst/>
              <a:uFillTx/>
              <a:latin typeface="Arial"/>
            </a:endParaRPr>
          </a:p>
        </p:txBody>
      </p:sp>
      <p:sp>
        <p:nvSpPr>
          <p:cNvPr id="154" name="Text 17"/>
          <p:cNvSpPr/>
          <p:nvPr/>
        </p:nvSpPr>
        <p:spPr>
          <a:xfrm>
            <a:off x="454536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Procurement, logistics, and product teams now price carbon into every major decision.</a:t>
            </a:r>
            <a:endParaRPr b="0" lang="en-US" sz="1100" strike="noStrike" u="none">
              <a:solidFill>
                <a:srgbClr val="000000"/>
              </a:solidFill>
              <a:effectLst/>
              <a:uFillTx/>
              <a:latin typeface="Arial"/>
            </a:endParaRPr>
          </a:p>
        </p:txBody>
      </p:sp>
      <p:sp>
        <p:nvSpPr>
          <p:cNvPr id="155" name="Text 18"/>
          <p:cNvSpPr/>
          <p:nvPr/>
        </p:nvSpPr>
        <p:spPr>
          <a:xfrm>
            <a:off x="4563720" y="3776400"/>
            <a:ext cx="310032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Customers demand product level footprints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Suppliers are scored on emissions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Energy and carbon budgets are merged</a:t>
            </a:r>
            <a:endParaRPr b="0" lang="en-US" sz="1100" strike="noStrike" u="none">
              <a:solidFill>
                <a:srgbClr val="000000"/>
              </a:solidFill>
              <a:effectLst/>
              <a:uFillTx/>
              <a:latin typeface="Arial"/>
            </a:endParaRPr>
          </a:p>
        </p:txBody>
      </p:sp>
      <p:sp>
        <p:nvSpPr>
          <p:cNvPr id="156" name="Shape 19"/>
          <p:cNvSpPr/>
          <p:nvPr/>
        </p:nvSpPr>
        <p:spPr>
          <a:xfrm>
            <a:off x="810324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7" name="Shape 20"/>
          <p:cNvSpPr/>
          <p:nvPr/>
        </p:nvSpPr>
        <p:spPr>
          <a:xfrm>
            <a:off x="8103240" y="2084760"/>
            <a:ext cx="346608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158" name="Text 21"/>
          <p:cNvSpPr/>
          <p:nvPr/>
        </p:nvSpPr>
        <p:spPr>
          <a:xfrm>
            <a:off x="830448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FORCE 3</a:t>
            </a:r>
            <a:endParaRPr b="0" lang="en-US" sz="900" strike="noStrike" u="none">
              <a:solidFill>
                <a:srgbClr val="000000"/>
              </a:solidFill>
              <a:effectLst/>
              <a:uFillTx/>
              <a:latin typeface="Arial"/>
            </a:endParaRPr>
          </a:p>
        </p:txBody>
      </p:sp>
      <p:sp>
        <p:nvSpPr>
          <p:cNvPr id="159" name="Text 22"/>
          <p:cNvSpPr/>
          <p:nvPr/>
        </p:nvSpPr>
        <p:spPr>
          <a:xfrm>
            <a:off x="830448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AI has raised the bar</a:t>
            </a:r>
            <a:endParaRPr b="0" lang="en-US" sz="1600" strike="noStrike" u="none">
              <a:solidFill>
                <a:srgbClr val="000000"/>
              </a:solidFill>
              <a:effectLst/>
              <a:uFillTx/>
              <a:latin typeface="Arial"/>
            </a:endParaRPr>
          </a:p>
        </p:txBody>
      </p:sp>
      <p:sp>
        <p:nvSpPr>
          <p:cNvPr id="160" name="Text 23"/>
          <p:cNvSpPr/>
          <p:nvPr/>
        </p:nvSpPr>
        <p:spPr>
          <a:xfrm>
            <a:off x="828612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Executives expect answers in minutes. Manual inventories and point tools look obsolete.</a:t>
            </a:r>
            <a:endParaRPr b="0" lang="en-US" sz="1100" strike="noStrike" u="none">
              <a:solidFill>
                <a:srgbClr val="000000"/>
              </a:solidFill>
              <a:effectLst/>
              <a:uFillTx/>
              <a:latin typeface="Arial"/>
            </a:endParaRPr>
          </a:p>
        </p:txBody>
      </p:sp>
      <p:sp>
        <p:nvSpPr>
          <p:cNvPr id="161" name="Text 24"/>
          <p:cNvSpPr/>
          <p:nvPr/>
        </p:nvSpPr>
        <p:spPr>
          <a:xfrm>
            <a:off x="8304480" y="3776400"/>
            <a:ext cx="310032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Manual inventories cannot keep pace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Point tools create data silos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The winner owns the trusted data spine</a:t>
            </a:r>
            <a:endParaRPr b="0" lang="en-US" sz="1100" strike="noStrike" u="none">
              <a:solidFill>
                <a:srgbClr val="000000"/>
              </a:solidFill>
              <a:effectLst/>
              <a:uFillTx/>
              <a:latin typeface="Arial"/>
            </a:endParaRPr>
          </a:p>
        </p:txBody>
      </p:sp>
      <p:sp>
        <p:nvSpPr>
          <p:cNvPr id="162" name="Shape 25"/>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63" name="Text 26"/>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164" name="Text 27"/>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165" name="PlaceHolder 1"/>
          <p:cNvSpPr>
            <a:spLocks noGrp="1"/>
          </p:cNvSpPr>
          <p:nvPr>
            <p:ph type="sldNum" idx="10"/>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A91C8A56-C310-42FA-9392-F6A7F2CFBBF5}" type="slidenum">
              <a:rPr b="1" lang="en-US" sz="800" strike="noStrike" u="none">
                <a:solidFill>
                  <a:srgbClr val="007a27"/>
                </a:solidFill>
                <a:effectLst/>
                <a:uFillTx/>
                <a:latin typeface="Calibri"/>
                <a:ea typeface="Calibri"/>
              </a:rPr>
              <a:t>7</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6"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167"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168" name="Shape 2"/>
          <p:cNvSpPr/>
          <p:nvPr/>
        </p:nvSpPr>
        <p:spPr>
          <a:xfrm>
            <a:off x="621720" y="311040"/>
            <a:ext cx="260568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69" name="Text 3"/>
          <p:cNvSpPr/>
          <p:nvPr/>
        </p:nvSpPr>
        <p:spPr>
          <a:xfrm>
            <a:off x="804600" y="329040"/>
            <a:ext cx="227664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LEADERSHIP NARRATIVE</a:t>
            </a:r>
            <a:endParaRPr b="0" lang="en-US" sz="950" strike="noStrike" u="none">
              <a:solidFill>
                <a:srgbClr val="000000"/>
              </a:solidFill>
              <a:effectLst/>
              <a:uFillTx/>
              <a:latin typeface="Arial"/>
            </a:endParaRPr>
          </a:p>
        </p:txBody>
      </p:sp>
      <p:sp>
        <p:nvSpPr>
          <p:cNvPr id="170" name="Text 4"/>
          <p:cNvSpPr/>
          <p:nvPr/>
        </p:nvSpPr>
        <p:spPr>
          <a:xfrm>
            <a:off x="621720" y="768240"/>
            <a:ext cx="10947600" cy="9140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2500" strike="noStrike" u="none">
                <a:solidFill>
                  <a:srgbClr val="1e2420"/>
                </a:solidFill>
                <a:effectLst/>
                <a:uFillTx/>
                <a:latin typeface="Calibri"/>
                <a:ea typeface="Calibri"/>
              </a:rPr>
              <a:t>The real opportunity is Sustainability, Energy and Efficiency as one operating picture</a:t>
            </a:r>
            <a:endParaRPr b="0" lang="en-US" sz="2500" strike="noStrike" u="none">
              <a:solidFill>
                <a:srgbClr val="000000"/>
              </a:solidFill>
              <a:effectLst/>
              <a:uFillTx/>
              <a:latin typeface="Arial"/>
            </a:endParaRPr>
          </a:p>
        </p:txBody>
      </p:sp>
      <p:sp>
        <p:nvSpPr>
          <p:cNvPr id="171" name="Text 5"/>
          <p:cNvSpPr/>
          <p:nvPr/>
        </p:nvSpPr>
        <p:spPr>
          <a:xfrm>
            <a:off x="621720" y="1737360"/>
            <a:ext cx="10947600" cy="310680"/>
          </a:xfrm>
          <a:prstGeom prst="rect">
            <a:avLst/>
          </a:prstGeom>
          <a:noFill/>
          <a:ln w="0">
            <a:noFill/>
          </a:ln>
        </p:spPr>
        <p:style>
          <a:lnRef idx="0"/>
          <a:fillRef idx="0"/>
          <a:effectRef idx="0"/>
          <a:fontRef idx="minor"/>
        </p:style>
        <p:txBody>
          <a:bodyPr lIns="0" rIns="0" tIns="0" bIns="0" anchor="t">
            <a:normAutofit fontScale="92500" lnSpcReduction="9999"/>
          </a:bodyPr>
          <a:p>
            <a:pPr defTabSz="914400">
              <a:lnSpc>
                <a:spcPct val="100000"/>
              </a:lnSpc>
              <a:tabLst>
                <a:tab algn="l" pos="0"/>
              </a:tabLst>
            </a:pPr>
            <a:r>
              <a:rPr b="0" lang="en-US" sz="1250" strike="noStrike" u="none">
                <a:solidFill>
                  <a:srgbClr val="5a625c"/>
                </a:solidFill>
                <a:effectLst/>
                <a:uFillTx/>
                <a:latin typeface="Calibri"/>
                <a:ea typeface="Calibri"/>
              </a:rPr>
              <a:t>Customers do not buy carbon, energy, or efficiency as separate problems. They buy one view of how their operations perform, and what to do next.</a:t>
            </a:r>
            <a:endParaRPr b="0" lang="en-US" sz="1250" strike="noStrike" u="none">
              <a:solidFill>
                <a:srgbClr val="000000"/>
              </a:solidFill>
              <a:effectLst/>
              <a:uFillTx/>
              <a:latin typeface="Arial"/>
            </a:endParaRPr>
          </a:p>
        </p:txBody>
      </p:sp>
      <p:sp>
        <p:nvSpPr>
          <p:cNvPr id="172" name="Shape 6"/>
          <p:cNvSpPr/>
          <p:nvPr/>
        </p:nvSpPr>
        <p:spPr>
          <a:xfrm>
            <a:off x="621720" y="20847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73" name="Shape 7"/>
          <p:cNvSpPr/>
          <p:nvPr/>
        </p:nvSpPr>
        <p:spPr>
          <a:xfrm>
            <a:off x="621720" y="2249280"/>
            <a:ext cx="3466080" cy="401400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74" name="Shape 8"/>
          <p:cNvSpPr/>
          <p:nvPr/>
        </p:nvSpPr>
        <p:spPr>
          <a:xfrm>
            <a:off x="621720" y="2249280"/>
            <a:ext cx="346608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175" name="Text 9"/>
          <p:cNvSpPr/>
          <p:nvPr/>
        </p:nvSpPr>
        <p:spPr>
          <a:xfrm>
            <a:off x="822960" y="245052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SUSTAINABILITY</a:t>
            </a:r>
            <a:endParaRPr b="0" lang="en-US" sz="900" strike="noStrike" u="none">
              <a:solidFill>
                <a:srgbClr val="000000"/>
              </a:solidFill>
              <a:effectLst/>
              <a:uFillTx/>
              <a:latin typeface="Arial"/>
            </a:endParaRPr>
          </a:p>
        </p:txBody>
      </p:sp>
      <p:sp>
        <p:nvSpPr>
          <p:cNvPr id="176" name="Text 10"/>
          <p:cNvSpPr/>
          <p:nvPr/>
        </p:nvSpPr>
        <p:spPr>
          <a:xfrm>
            <a:off x="822960" y="273420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The scoreboard</a:t>
            </a:r>
            <a:endParaRPr b="0" lang="en-US" sz="1600" strike="noStrike" u="none">
              <a:solidFill>
                <a:srgbClr val="000000"/>
              </a:solidFill>
              <a:effectLst/>
              <a:uFillTx/>
              <a:latin typeface="Arial"/>
            </a:endParaRPr>
          </a:p>
        </p:txBody>
      </p:sp>
      <p:sp>
        <p:nvSpPr>
          <p:cNvPr id="177" name="Text 11"/>
          <p:cNvSpPr/>
          <p:nvPr/>
        </p:nvSpPr>
        <p:spPr>
          <a:xfrm>
            <a:off x="804600" y="320940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Carbon inventory, climate risk, disclosure, and targets set the enterprise ambition.</a:t>
            </a:r>
            <a:endParaRPr b="0" lang="en-US" sz="1100" strike="noStrike" u="none">
              <a:solidFill>
                <a:srgbClr val="000000"/>
              </a:solidFill>
              <a:effectLst/>
              <a:uFillTx/>
              <a:latin typeface="Arial"/>
            </a:endParaRPr>
          </a:p>
        </p:txBody>
      </p:sp>
      <p:sp>
        <p:nvSpPr>
          <p:cNvPr id="178" name="Text 12"/>
          <p:cNvSpPr/>
          <p:nvPr/>
        </p:nvSpPr>
        <p:spPr>
          <a:xfrm>
            <a:off x="822960" y="3940920"/>
            <a:ext cx="3100320" cy="210276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Board grade inventory and assurance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Scope 3, supply chain, and financed emissions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CSRD, SEC, and voluntary frameworks</a:t>
            </a:r>
            <a:endParaRPr b="0" lang="en-US" sz="1100" strike="noStrike" u="none">
              <a:solidFill>
                <a:srgbClr val="000000"/>
              </a:solidFill>
              <a:effectLst/>
              <a:uFillTx/>
              <a:latin typeface="Arial"/>
            </a:endParaRPr>
          </a:p>
        </p:txBody>
      </p:sp>
      <p:sp>
        <p:nvSpPr>
          <p:cNvPr id="179" name="Shape 13"/>
          <p:cNvSpPr/>
          <p:nvPr/>
        </p:nvSpPr>
        <p:spPr>
          <a:xfrm>
            <a:off x="4362480" y="2249280"/>
            <a:ext cx="3466080" cy="401400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80" name="Shape 14"/>
          <p:cNvSpPr/>
          <p:nvPr/>
        </p:nvSpPr>
        <p:spPr>
          <a:xfrm>
            <a:off x="4362480" y="2249280"/>
            <a:ext cx="346608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181" name="Text 15"/>
          <p:cNvSpPr/>
          <p:nvPr/>
        </p:nvSpPr>
        <p:spPr>
          <a:xfrm>
            <a:off x="4563720" y="245052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ENERGY AND EFFICIENCY</a:t>
            </a:r>
            <a:endParaRPr b="0" lang="en-US" sz="900" strike="noStrike" u="none">
              <a:solidFill>
                <a:srgbClr val="000000"/>
              </a:solidFill>
              <a:effectLst/>
              <a:uFillTx/>
              <a:latin typeface="Arial"/>
            </a:endParaRPr>
          </a:p>
        </p:txBody>
      </p:sp>
      <p:sp>
        <p:nvSpPr>
          <p:cNvPr id="182" name="Text 16"/>
          <p:cNvSpPr/>
          <p:nvPr/>
        </p:nvSpPr>
        <p:spPr>
          <a:xfrm>
            <a:off x="4563720" y="273420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The levers</a:t>
            </a:r>
            <a:endParaRPr b="0" lang="en-US" sz="1600" strike="noStrike" u="none">
              <a:solidFill>
                <a:srgbClr val="000000"/>
              </a:solidFill>
              <a:effectLst/>
              <a:uFillTx/>
              <a:latin typeface="Arial"/>
            </a:endParaRPr>
          </a:p>
        </p:txBody>
      </p:sp>
      <p:sp>
        <p:nvSpPr>
          <p:cNvPr id="183" name="Text 17"/>
          <p:cNvSpPr/>
          <p:nvPr/>
        </p:nvSpPr>
        <p:spPr>
          <a:xfrm>
            <a:off x="4545360" y="320940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Energy spend, contracts, efficiency projects, and verified savings are where targets become action.</a:t>
            </a:r>
            <a:endParaRPr b="0" lang="en-US" sz="1100" strike="noStrike" u="none">
              <a:solidFill>
                <a:srgbClr val="000000"/>
              </a:solidFill>
              <a:effectLst/>
              <a:uFillTx/>
              <a:latin typeface="Arial"/>
            </a:endParaRPr>
          </a:p>
        </p:txBody>
      </p:sp>
      <p:sp>
        <p:nvSpPr>
          <p:cNvPr id="184" name="Text 18"/>
          <p:cNvSpPr/>
          <p:nvPr/>
        </p:nvSpPr>
        <p:spPr>
          <a:xfrm>
            <a:off x="4563720" y="3940920"/>
            <a:ext cx="3100320" cy="210276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Utility data, metering, and interval grade signals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Energy sourcing, renewables, and EAC management</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ECM pipeline, M&amp;V, demand response, and electrification</a:t>
            </a:r>
            <a:endParaRPr b="0" lang="en-US" sz="1100" strike="noStrike" u="none">
              <a:solidFill>
                <a:srgbClr val="000000"/>
              </a:solidFill>
              <a:effectLst/>
              <a:uFillTx/>
              <a:latin typeface="Arial"/>
            </a:endParaRPr>
          </a:p>
        </p:txBody>
      </p:sp>
      <p:sp>
        <p:nvSpPr>
          <p:cNvPr id="185" name="Shape 19"/>
          <p:cNvSpPr/>
          <p:nvPr/>
        </p:nvSpPr>
        <p:spPr>
          <a:xfrm>
            <a:off x="8103240" y="2249280"/>
            <a:ext cx="3466080" cy="401400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86" name="Shape 20"/>
          <p:cNvSpPr/>
          <p:nvPr/>
        </p:nvSpPr>
        <p:spPr>
          <a:xfrm>
            <a:off x="8103240" y="2249280"/>
            <a:ext cx="346608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187" name="Text 21"/>
          <p:cNvSpPr/>
          <p:nvPr/>
        </p:nvSpPr>
        <p:spPr>
          <a:xfrm>
            <a:off x="8304480" y="245052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CONVERGENCE</a:t>
            </a:r>
            <a:endParaRPr b="0" lang="en-US" sz="900" strike="noStrike" u="none">
              <a:solidFill>
                <a:srgbClr val="000000"/>
              </a:solidFill>
              <a:effectLst/>
              <a:uFillTx/>
              <a:latin typeface="Arial"/>
            </a:endParaRPr>
          </a:p>
        </p:txBody>
      </p:sp>
      <p:sp>
        <p:nvSpPr>
          <p:cNvPr id="188" name="Text 22"/>
          <p:cNvSpPr/>
          <p:nvPr/>
        </p:nvSpPr>
        <p:spPr>
          <a:xfrm>
            <a:off x="8304480" y="273420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The operating system</a:t>
            </a:r>
            <a:endParaRPr b="0" lang="en-US" sz="1600" strike="noStrike" u="none">
              <a:solidFill>
                <a:srgbClr val="000000"/>
              </a:solidFill>
              <a:effectLst/>
              <a:uFillTx/>
              <a:latin typeface="Arial"/>
            </a:endParaRPr>
          </a:p>
        </p:txBody>
      </p:sp>
      <p:sp>
        <p:nvSpPr>
          <p:cNvPr id="189" name="Text 23"/>
          <p:cNvSpPr/>
          <p:nvPr/>
        </p:nvSpPr>
        <p:spPr>
          <a:xfrm>
            <a:off x="8286120" y="320940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Only RA+ connects all three on one spine. That is the defensible position.</a:t>
            </a:r>
            <a:endParaRPr b="0" lang="en-US" sz="1100" strike="noStrike" u="none">
              <a:solidFill>
                <a:srgbClr val="000000"/>
              </a:solidFill>
              <a:effectLst/>
              <a:uFillTx/>
              <a:latin typeface="Arial"/>
            </a:endParaRPr>
          </a:p>
        </p:txBody>
      </p:sp>
      <p:sp>
        <p:nvSpPr>
          <p:cNvPr id="190" name="Text 24"/>
          <p:cNvSpPr/>
          <p:nvPr/>
        </p:nvSpPr>
        <p:spPr>
          <a:xfrm>
            <a:off x="8304480" y="3940920"/>
            <a:ext cx="3100320" cy="210276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Carbon targets informed by live energy spend</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Efficiency projects ranked by carbon and financial return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Disclosure backed by operational data, not surveys</a:t>
            </a:r>
            <a:endParaRPr b="0" lang="en-US" sz="1100" strike="noStrike" u="none">
              <a:solidFill>
                <a:srgbClr val="000000"/>
              </a:solidFill>
              <a:effectLst/>
              <a:uFillTx/>
              <a:latin typeface="Arial"/>
            </a:endParaRPr>
          </a:p>
        </p:txBody>
      </p:sp>
      <p:sp>
        <p:nvSpPr>
          <p:cNvPr id="191" name="Shape 25"/>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92" name="Text 26"/>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193" name="Text 27"/>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194" name="PlaceHolder 1"/>
          <p:cNvSpPr>
            <a:spLocks noGrp="1"/>
          </p:cNvSpPr>
          <p:nvPr>
            <p:ph type="sldNum" idx="11"/>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D0D2CAFD-3393-442A-AE63-06C135F77EB0}" type="slidenum">
              <a:rPr b="1" lang="en-US" sz="800" strike="noStrike" u="none">
                <a:solidFill>
                  <a:srgbClr val="007a27"/>
                </a:solidFill>
                <a:effectLst/>
                <a:uFillTx/>
                <a:latin typeface="Calibri"/>
                <a:ea typeface="Calibri"/>
              </a:rPr>
              <a:t>8</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5"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196"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197" name="Shape 2"/>
          <p:cNvSpPr/>
          <p:nvPr/>
        </p:nvSpPr>
        <p:spPr>
          <a:xfrm>
            <a:off x="621720" y="311040"/>
            <a:ext cx="260568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98" name="Text 3"/>
          <p:cNvSpPr/>
          <p:nvPr/>
        </p:nvSpPr>
        <p:spPr>
          <a:xfrm>
            <a:off x="804600" y="329040"/>
            <a:ext cx="227664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LEADERSHIP NARRATIVE</a:t>
            </a:r>
            <a:endParaRPr b="0" lang="en-US" sz="950" strike="noStrike" u="none">
              <a:solidFill>
                <a:srgbClr val="000000"/>
              </a:solidFill>
              <a:effectLst/>
              <a:uFillTx/>
              <a:latin typeface="Arial"/>
            </a:endParaRPr>
          </a:p>
        </p:txBody>
      </p:sp>
      <p:sp>
        <p:nvSpPr>
          <p:cNvPr id="199"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The legacy enterprise sustainability stack is a mess</a:t>
            </a:r>
            <a:endParaRPr b="0" lang="en-US" sz="3200" strike="noStrike" u="none">
              <a:solidFill>
                <a:srgbClr val="000000"/>
              </a:solidFill>
              <a:effectLst/>
              <a:uFillTx/>
              <a:latin typeface="Arial"/>
            </a:endParaRPr>
          </a:p>
        </p:txBody>
      </p:sp>
      <p:sp>
        <p:nvSpPr>
          <p:cNvPr id="200"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Our buyers are paying three times for the same data. That is not a feature gap, it is a market opportunity.</a:t>
            </a:r>
            <a:endParaRPr b="0" lang="en-US" sz="1250" strike="noStrike" u="none">
              <a:solidFill>
                <a:srgbClr val="000000"/>
              </a:solidFill>
              <a:effectLst/>
              <a:uFillTx/>
              <a:latin typeface="Arial"/>
            </a:endParaRPr>
          </a:p>
        </p:txBody>
      </p:sp>
      <p:sp>
        <p:nvSpPr>
          <p:cNvPr id="201"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02" name="Shape 7"/>
          <p:cNvSpPr/>
          <p:nvPr/>
        </p:nvSpPr>
        <p:spPr>
          <a:xfrm>
            <a:off x="621720" y="2084760"/>
            <a:ext cx="3466080" cy="1874160"/>
          </a:xfrm>
          <a:prstGeom prst="roundRect">
            <a:avLst>
              <a:gd name="adj" fmla="val 292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03" name="Shape 8"/>
          <p:cNvSpPr/>
          <p:nvPr/>
        </p:nvSpPr>
        <p:spPr>
          <a:xfrm>
            <a:off x="621720" y="2084760"/>
            <a:ext cx="54360" cy="187416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04" name="Text 9"/>
          <p:cNvSpPr/>
          <p:nvPr/>
        </p:nvSpPr>
        <p:spPr>
          <a:xfrm>
            <a:off x="877680" y="2249280"/>
            <a:ext cx="3008880" cy="5666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400" strike="noStrike" u="none">
                <a:solidFill>
                  <a:srgbClr val="007a27"/>
                </a:solidFill>
                <a:effectLst/>
                <a:uFillTx/>
                <a:latin typeface="Calibri"/>
                <a:ea typeface="Calibri"/>
              </a:rPr>
              <a:t>3+</a:t>
            </a:r>
            <a:endParaRPr b="0" lang="en-US" sz="3400" strike="noStrike" u="none">
              <a:solidFill>
                <a:srgbClr val="000000"/>
              </a:solidFill>
              <a:effectLst/>
              <a:uFillTx/>
              <a:latin typeface="Arial"/>
            </a:endParaRPr>
          </a:p>
        </p:txBody>
      </p:sp>
      <p:sp>
        <p:nvSpPr>
          <p:cNvPr id="205" name="Text 10"/>
          <p:cNvSpPr/>
          <p:nvPr/>
        </p:nvSpPr>
        <p:spPr>
          <a:xfrm>
            <a:off x="850320" y="2889360"/>
            <a:ext cx="3008880" cy="502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1200" strike="noStrike" u="none">
                <a:solidFill>
                  <a:srgbClr val="1e2420"/>
                </a:solidFill>
                <a:effectLst/>
                <a:uFillTx/>
                <a:latin typeface="Calibri"/>
                <a:ea typeface="Calibri"/>
              </a:rPr>
              <a:t>Tools in a typical enterprise sustainability stack</a:t>
            </a:r>
            <a:endParaRPr b="0" lang="en-US" sz="1200" strike="noStrike" u="none">
              <a:solidFill>
                <a:srgbClr val="000000"/>
              </a:solidFill>
              <a:effectLst/>
              <a:uFillTx/>
              <a:latin typeface="Arial"/>
            </a:endParaRPr>
          </a:p>
        </p:txBody>
      </p:sp>
      <p:sp>
        <p:nvSpPr>
          <p:cNvPr id="206" name="Shape 11"/>
          <p:cNvSpPr/>
          <p:nvPr/>
        </p:nvSpPr>
        <p:spPr>
          <a:xfrm>
            <a:off x="4362480" y="2084760"/>
            <a:ext cx="3466080" cy="1874160"/>
          </a:xfrm>
          <a:prstGeom prst="roundRect">
            <a:avLst>
              <a:gd name="adj" fmla="val 292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07" name="Shape 12"/>
          <p:cNvSpPr/>
          <p:nvPr/>
        </p:nvSpPr>
        <p:spPr>
          <a:xfrm>
            <a:off x="4362480" y="2084760"/>
            <a:ext cx="54360" cy="187416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08" name="Text 13"/>
          <p:cNvSpPr/>
          <p:nvPr/>
        </p:nvSpPr>
        <p:spPr>
          <a:xfrm>
            <a:off x="4618800" y="2249280"/>
            <a:ext cx="3008880" cy="5666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400" strike="noStrike" u="none">
                <a:solidFill>
                  <a:srgbClr val="007a27"/>
                </a:solidFill>
                <a:effectLst/>
                <a:uFillTx/>
                <a:latin typeface="Calibri"/>
                <a:ea typeface="Calibri"/>
              </a:rPr>
              <a:t>6-12 mo</a:t>
            </a:r>
            <a:endParaRPr b="0" lang="en-US" sz="3400" strike="noStrike" u="none">
              <a:solidFill>
                <a:srgbClr val="000000"/>
              </a:solidFill>
              <a:effectLst/>
              <a:uFillTx/>
              <a:latin typeface="Arial"/>
            </a:endParaRPr>
          </a:p>
        </p:txBody>
      </p:sp>
      <p:sp>
        <p:nvSpPr>
          <p:cNvPr id="209" name="Text 14"/>
          <p:cNvSpPr/>
          <p:nvPr/>
        </p:nvSpPr>
        <p:spPr>
          <a:xfrm>
            <a:off x="4591080" y="2889360"/>
            <a:ext cx="3008880" cy="502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1200" strike="noStrike" u="none">
                <a:solidFill>
                  <a:srgbClr val="1e2420"/>
                </a:solidFill>
                <a:effectLst/>
                <a:uFillTx/>
                <a:latin typeface="Calibri"/>
                <a:ea typeface="Calibri"/>
              </a:rPr>
              <a:t>To assemble a consultant grade inventory manually</a:t>
            </a:r>
            <a:endParaRPr b="0" lang="en-US" sz="1200" strike="noStrike" u="none">
              <a:solidFill>
                <a:srgbClr val="000000"/>
              </a:solidFill>
              <a:effectLst/>
              <a:uFillTx/>
              <a:latin typeface="Arial"/>
            </a:endParaRPr>
          </a:p>
        </p:txBody>
      </p:sp>
      <p:sp>
        <p:nvSpPr>
          <p:cNvPr id="210" name="Shape 15"/>
          <p:cNvSpPr/>
          <p:nvPr/>
        </p:nvSpPr>
        <p:spPr>
          <a:xfrm>
            <a:off x="8103240" y="2084760"/>
            <a:ext cx="3466080" cy="1874160"/>
          </a:xfrm>
          <a:prstGeom prst="roundRect">
            <a:avLst>
              <a:gd name="adj" fmla="val 292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11" name="Shape 16"/>
          <p:cNvSpPr/>
          <p:nvPr/>
        </p:nvSpPr>
        <p:spPr>
          <a:xfrm>
            <a:off x="8103240" y="2084760"/>
            <a:ext cx="54360" cy="187416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12" name="Text 17"/>
          <p:cNvSpPr/>
          <p:nvPr/>
        </p:nvSpPr>
        <p:spPr>
          <a:xfrm>
            <a:off x="8359560" y="2249280"/>
            <a:ext cx="3008880" cy="5666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400" strike="noStrike" u="none">
                <a:solidFill>
                  <a:srgbClr val="007a27"/>
                </a:solidFill>
                <a:effectLst/>
                <a:uFillTx/>
                <a:latin typeface="Calibri"/>
                <a:ea typeface="Calibri"/>
              </a:rPr>
              <a:t>1</a:t>
            </a:r>
            <a:endParaRPr b="0" lang="en-US" sz="3400" strike="noStrike" u="none">
              <a:solidFill>
                <a:srgbClr val="000000"/>
              </a:solidFill>
              <a:effectLst/>
              <a:uFillTx/>
              <a:latin typeface="Arial"/>
            </a:endParaRPr>
          </a:p>
        </p:txBody>
      </p:sp>
      <p:sp>
        <p:nvSpPr>
          <p:cNvPr id="213" name="Text 18"/>
          <p:cNvSpPr/>
          <p:nvPr/>
        </p:nvSpPr>
        <p:spPr>
          <a:xfrm>
            <a:off x="8331840" y="2889360"/>
            <a:ext cx="3008880" cy="502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1200" strike="noStrike" u="none">
                <a:solidFill>
                  <a:srgbClr val="1e2420"/>
                </a:solidFill>
                <a:effectLst/>
                <a:uFillTx/>
                <a:latin typeface="Calibri"/>
                <a:ea typeface="Calibri"/>
              </a:rPr>
              <a:t>Platform that could replace all of it</a:t>
            </a:r>
            <a:endParaRPr b="0" lang="en-US" sz="1200" strike="noStrike" u="none">
              <a:solidFill>
                <a:srgbClr val="000000"/>
              </a:solidFill>
              <a:effectLst/>
              <a:uFillTx/>
              <a:latin typeface="Arial"/>
            </a:endParaRPr>
          </a:p>
        </p:txBody>
      </p:sp>
      <p:sp>
        <p:nvSpPr>
          <p:cNvPr id="214" name="Shape 19"/>
          <p:cNvSpPr/>
          <p:nvPr/>
        </p:nvSpPr>
        <p:spPr>
          <a:xfrm>
            <a:off x="621720" y="4233600"/>
            <a:ext cx="3466080" cy="2029680"/>
          </a:xfrm>
          <a:prstGeom prst="roundRect">
            <a:avLst>
              <a:gd name="adj" fmla="val 2703"/>
            </a:avLst>
          </a:prstGeom>
          <a:solidFill>
            <a:srgbClr val="f7f8f7"/>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15" name="Text 20"/>
          <p:cNvSpPr/>
          <p:nvPr/>
        </p:nvSpPr>
        <p:spPr>
          <a:xfrm>
            <a:off x="850320" y="4398120"/>
            <a:ext cx="3008880" cy="3654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400" strike="noStrike" u="none">
                <a:solidFill>
                  <a:srgbClr val="1e2420"/>
                </a:solidFill>
                <a:effectLst/>
                <a:uFillTx/>
                <a:latin typeface="Calibri"/>
                <a:ea typeface="Calibri"/>
              </a:rPr>
              <a:t>Fragmented data</a:t>
            </a:r>
            <a:endParaRPr b="0" lang="en-US" sz="1400" strike="noStrike" u="none">
              <a:solidFill>
                <a:srgbClr val="000000"/>
              </a:solidFill>
              <a:effectLst/>
              <a:uFillTx/>
              <a:latin typeface="Arial"/>
            </a:endParaRPr>
          </a:p>
        </p:txBody>
      </p:sp>
      <p:sp>
        <p:nvSpPr>
          <p:cNvPr id="216" name="Text 21"/>
          <p:cNvSpPr/>
          <p:nvPr/>
        </p:nvSpPr>
        <p:spPr>
          <a:xfrm>
            <a:off x="850320" y="4800600"/>
            <a:ext cx="3008880" cy="12981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0" lang="en-US" sz="1200" strike="noStrike" u="none">
                <a:solidFill>
                  <a:srgbClr val="5a625c"/>
                </a:solidFill>
                <a:effectLst/>
                <a:uFillTx/>
                <a:latin typeface="Calibri"/>
                <a:ea typeface="Calibri"/>
              </a:rPr>
              <a:t>Energy, carbon, supply chain, and climate risk data live in separate systems with separate owners.</a:t>
            </a:r>
            <a:endParaRPr b="0" lang="en-US" sz="1200" strike="noStrike" u="none">
              <a:solidFill>
                <a:srgbClr val="000000"/>
              </a:solidFill>
              <a:effectLst/>
              <a:uFillTx/>
              <a:latin typeface="Arial"/>
            </a:endParaRPr>
          </a:p>
        </p:txBody>
      </p:sp>
      <p:sp>
        <p:nvSpPr>
          <p:cNvPr id="217" name="Shape 22"/>
          <p:cNvSpPr/>
          <p:nvPr/>
        </p:nvSpPr>
        <p:spPr>
          <a:xfrm>
            <a:off x="4362480" y="4233600"/>
            <a:ext cx="3466080" cy="2029680"/>
          </a:xfrm>
          <a:prstGeom prst="roundRect">
            <a:avLst>
              <a:gd name="adj" fmla="val 2703"/>
            </a:avLst>
          </a:prstGeom>
          <a:solidFill>
            <a:srgbClr val="f7f8f7"/>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18" name="Text 23"/>
          <p:cNvSpPr/>
          <p:nvPr/>
        </p:nvSpPr>
        <p:spPr>
          <a:xfrm>
            <a:off x="4591080" y="4398120"/>
            <a:ext cx="3008880" cy="3654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400" strike="noStrike" u="none">
                <a:solidFill>
                  <a:srgbClr val="1e2420"/>
                </a:solidFill>
                <a:effectLst/>
                <a:uFillTx/>
                <a:latin typeface="Calibri"/>
                <a:ea typeface="Calibri"/>
              </a:rPr>
              <a:t>Repeated cost</a:t>
            </a:r>
            <a:endParaRPr b="0" lang="en-US" sz="1400" strike="noStrike" u="none">
              <a:solidFill>
                <a:srgbClr val="000000"/>
              </a:solidFill>
              <a:effectLst/>
              <a:uFillTx/>
              <a:latin typeface="Arial"/>
            </a:endParaRPr>
          </a:p>
        </p:txBody>
      </p:sp>
      <p:sp>
        <p:nvSpPr>
          <p:cNvPr id="219" name="Text 24"/>
          <p:cNvSpPr/>
          <p:nvPr/>
        </p:nvSpPr>
        <p:spPr>
          <a:xfrm>
            <a:off x="4591080" y="4800600"/>
            <a:ext cx="3008880" cy="12981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0" lang="en-US" sz="1200" strike="noStrike" u="none">
                <a:solidFill>
                  <a:srgbClr val="5a625c"/>
                </a:solidFill>
                <a:effectLst/>
                <a:uFillTx/>
                <a:latin typeface="Calibri"/>
                <a:ea typeface="Calibri"/>
              </a:rPr>
              <a:t>The same data is collected, cleaned, and reconciled once per tool, once per framework, once per audit.</a:t>
            </a:r>
            <a:endParaRPr b="0" lang="en-US" sz="1200" strike="noStrike" u="none">
              <a:solidFill>
                <a:srgbClr val="000000"/>
              </a:solidFill>
              <a:effectLst/>
              <a:uFillTx/>
              <a:latin typeface="Arial"/>
            </a:endParaRPr>
          </a:p>
        </p:txBody>
      </p:sp>
      <p:sp>
        <p:nvSpPr>
          <p:cNvPr id="220" name="Shape 25"/>
          <p:cNvSpPr/>
          <p:nvPr/>
        </p:nvSpPr>
        <p:spPr>
          <a:xfrm>
            <a:off x="8103240" y="4233600"/>
            <a:ext cx="3466080" cy="2029680"/>
          </a:xfrm>
          <a:prstGeom prst="roundRect">
            <a:avLst>
              <a:gd name="adj" fmla="val 2703"/>
            </a:avLst>
          </a:prstGeom>
          <a:solidFill>
            <a:srgbClr val="f7f8f7"/>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21" name="Text 26"/>
          <p:cNvSpPr/>
          <p:nvPr/>
        </p:nvSpPr>
        <p:spPr>
          <a:xfrm>
            <a:off x="8331840" y="4398120"/>
            <a:ext cx="3008880" cy="3654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400" strike="noStrike" u="none">
                <a:solidFill>
                  <a:srgbClr val="1e2420"/>
                </a:solidFill>
                <a:effectLst/>
                <a:uFillTx/>
                <a:latin typeface="Calibri"/>
                <a:ea typeface="Calibri"/>
              </a:rPr>
              <a:t>No compounding</a:t>
            </a:r>
            <a:endParaRPr b="0" lang="en-US" sz="1400" strike="noStrike" u="none">
              <a:solidFill>
                <a:srgbClr val="000000"/>
              </a:solidFill>
              <a:effectLst/>
              <a:uFillTx/>
              <a:latin typeface="Arial"/>
            </a:endParaRPr>
          </a:p>
        </p:txBody>
      </p:sp>
      <p:sp>
        <p:nvSpPr>
          <p:cNvPr id="222" name="Text 27"/>
          <p:cNvSpPr/>
          <p:nvPr/>
        </p:nvSpPr>
        <p:spPr>
          <a:xfrm>
            <a:off x="8331840" y="4800600"/>
            <a:ext cx="3008880" cy="12981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0" lang="en-US" sz="1200" strike="noStrike" u="none">
                <a:solidFill>
                  <a:srgbClr val="5a625c"/>
                </a:solidFill>
                <a:effectLst/>
                <a:uFillTx/>
                <a:latin typeface="Calibri"/>
                <a:ea typeface="Calibri"/>
              </a:rPr>
              <a:t>Nothing one product learns makes the next product smarter. Every tool starts from zero.</a:t>
            </a:r>
            <a:endParaRPr b="0" lang="en-US" sz="1200" strike="noStrike" u="none">
              <a:solidFill>
                <a:srgbClr val="000000"/>
              </a:solidFill>
              <a:effectLst/>
              <a:uFillTx/>
              <a:latin typeface="Arial"/>
            </a:endParaRPr>
          </a:p>
        </p:txBody>
      </p:sp>
      <p:sp>
        <p:nvSpPr>
          <p:cNvPr id="223" name="Shape 28"/>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24" name="Text 29"/>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225" name="Text 30"/>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226" name="PlaceHolder 1"/>
          <p:cNvSpPr>
            <a:spLocks noGrp="1"/>
          </p:cNvSpPr>
          <p:nvPr>
            <p:ph type="sldNum" idx="12"/>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BE32C983-6F51-4D6D-B119-42A7B44DAF5C}" type="slidenum">
              <a:rPr b="1" lang="en-US" sz="800" strike="noStrike" u="none">
                <a:solidFill>
                  <a:srgbClr val="007a27"/>
                </a:solidFill>
                <a:effectLst/>
                <a:uFillTx/>
                <a:latin typeface="Calibri"/>
                <a:ea typeface="Calibri"/>
              </a:rPr>
              <a:t>9</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27"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228"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229" name="Shape 2"/>
          <p:cNvSpPr/>
          <p:nvPr/>
        </p:nvSpPr>
        <p:spPr>
          <a:xfrm>
            <a:off x="621720" y="311040"/>
            <a:ext cx="260568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30" name="Text 3"/>
          <p:cNvSpPr/>
          <p:nvPr/>
        </p:nvSpPr>
        <p:spPr>
          <a:xfrm>
            <a:off x="804600" y="329040"/>
            <a:ext cx="227664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LEADERSHIP NARRATIVE</a:t>
            </a:r>
            <a:endParaRPr b="0" lang="en-US" sz="950" strike="noStrike" u="none">
              <a:solidFill>
                <a:srgbClr val="000000"/>
              </a:solidFill>
              <a:effectLst/>
              <a:uFillTx/>
              <a:latin typeface="Arial"/>
            </a:endParaRPr>
          </a:p>
        </p:txBody>
      </p:sp>
      <p:sp>
        <p:nvSpPr>
          <p:cNvPr id="231"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RA+ is built to own the system of record</a:t>
            </a:r>
            <a:endParaRPr b="0" lang="en-US" sz="3200" strike="noStrike" u="none">
              <a:solidFill>
                <a:srgbClr val="000000"/>
              </a:solidFill>
              <a:effectLst/>
              <a:uFillTx/>
              <a:latin typeface="Arial"/>
            </a:endParaRPr>
          </a:p>
        </p:txBody>
      </p:sp>
      <p:sp>
        <p:nvSpPr>
          <p:cNvPr id="232"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One AI-native platform across Sustainability, Energy, and Efficiency. Competitors sell tools. We sell the spine.</a:t>
            </a:r>
            <a:endParaRPr b="0" lang="en-US" sz="1250" strike="noStrike" u="none">
              <a:solidFill>
                <a:srgbClr val="000000"/>
              </a:solidFill>
              <a:effectLst/>
              <a:uFillTx/>
              <a:latin typeface="Arial"/>
            </a:endParaRPr>
          </a:p>
        </p:txBody>
      </p:sp>
      <p:sp>
        <p:nvSpPr>
          <p:cNvPr id="233"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34" name="Shape 7"/>
          <p:cNvSpPr/>
          <p:nvPr/>
        </p:nvSpPr>
        <p:spPr>
          <a:xfrm>
            <a:off x="62172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35" name="Shape 8"/>
          <p:cNvSpPr/>
          <p:nvPr/>
        </p:nvSpPr>
        <p:spPr>
          <a:xfrm>
            <a:off x="621720" y="2084760"/>
            <a:ext cx="346608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236" name="Text 9"/>
          <p:cNvSpPr/>
          <p:nvPr/>
        </p:nvSpPr>
        <p:spPr>
          <a:xfrm>
            <a:off x="82296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THE PLATFORM</a:t>
            </a:r>
            <a:endParaRPr b="0" lang="en-US" sz="900" strike="noStrike" u="none">
              <a:solidFill>
                <a:srgbClr val="000000"/>
              </a:solidFill>
              <a:effectLst/>
              <a:uFillTx/>
              <a:latin typeface="Arial"/>
            </a:endParaRPr>
          </a:p>
        </p:txBody>
      </p:sp>
      <p:sp>
        <p:nvSpPr>
          <p:cNvPr id="237" name="Text 10"/>
          <p:cNvSpPr/>
          <p:nvPr/>
        </p:nvSpPr>
        <p:spPr>
          <a:xfrm>
            <a:off x="82296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RA+ core</a:t>
            </a:r>
            <a:endParaRPr b="0" lang="en-US" sz="1600" strike="noStrike" u="none">
              <a:solidFill>
                <a:srgbClr val="000000"/>
              </a:solidFill>
              <a:effectLst/>
              <a:uFillTx/>
              <a:latin typeface="Arial"/>
            </a:endParaRPr>
          </a:p>
        </p:txBody>
      </p:sp>
      <p:sp>
        <p:nvSpPr>
          <p:cNvPr id="238" name="Text 11"/>
          <p:cNvSpPr/>
          <p:nvPr/>
        </p:nvSpPr>
        <p:spPr>
          <a:xfrm>
            <a:off x="80460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One AI layer, one hierarchy, one user workflows, one analytics, one audit trail.</a:t>
            </a:r>
            <a:endParaRPr b="0" lang="en-US" sz="1100" strike="noStrike" u="none">
              <a:solidFill>
                <a:srgbClr val="000000"/>
              </a:solidFill>
              <a:effectLst/>
              <a:uFillTx/>
              <a:latin typeface="Arial"/>
            </a:endParaRPr>
          </a:p>
        </p:txBody>
      </p:sp>
      <p:sp>
        <p:nvSpPr>
          <p:cNvPr id="239" name="Text 12"/>
          <p:cNvSpPr/>
          <p:nvPr/>
        </p:nvSpPr>
        <p:spPr>
          <a:xfrm>
            <a:off x="822960" y="3776400"/>
            <a:ext cx="310032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Built once, inherited by every product</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AI assisted from the first workflow</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Consultant grade and board grade by design</a:t>
            </a:r>
            <a:endParaRPr b="0" lang="en-US" sz="1100" strike="noStrike" u="none">
              <a:solidFill>
                <a:srgbClr val="000000"/>
              </a:solidFill>
              <a:effectLst/>
              <a:uFillTx/>
              <a:latin typeface="Arial"/>
            </a:endParaRPr>
          </a:p>
        </p:txBody>
      </p:sp>
      <p:sp>
        <p:nvSpPr>
          <p:cNvPr id="240" name="Shape 13"/>
          <p:cNvSpPr/>
          <p:nvPr/>
        </p:nvSpPr>
        <p:spPr>
          <a:xfrm>
            <a:off x="436248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41" name="Shape 14"/>
          <p:cNvSpPr/>
          <p:nvPr/>
        </p:nvSpPr>
        <p:spPr>
          <a:xfrm>
            <a:off x="4362480" y="2084760"/>
            <a:ext cx="346608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242" name="Text 15"/>
          <p:cNvSpPr/>
          <p:nvPr/>
        </p:nvSpPr>
        <p:spPr>
          <a:xfrm>
            <a:off x="456372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THE PRODUCTS</a:t>
            </a:r>
            <a:endParaRPr b="0" lang="en-US" sz="900" strike="noStrike" u="none">
              <a:solidFill>
                <a:srgbClr val="000000"/>
              </a:solidFill>
              <a:effectLst/>
              <a:uFillTx/>
              <a:latin typeface="Arial"/>
            </a:endParaRPr>
          </a:p>
        </p:txBody>
      </p:sp>
      <p:sp>
        <p:nvSpPr>
          <p:cNvPr id="243" name="Text 16"/>
          <p:cNvSpPr/>
          <p:nvPr/>
        </p:nvSpPr>
        <p:spPr>
          <a:xfrm>
            <a:off x="456372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Connected, not bundled</a:t>
            </a:r>
            <a:endParaRPr b="0" lang="en-US" sz="1600" strike="noStrike" u="none">
              <a:solidFill>
                <a:srgbClr val="000000"/>
              </a:solidFill>
              <a:effectLst/>
              <a:uFillTx/>
              <a:latin typeface="Arial"/>
            </a:endParaRPr>
          </a:p>
        </p:txBody>
      </p:sp>
      <p:sp>
        <p:nvSpPr>
          <p:cNvPr id="244" name="Text 17"/>
          <p:cNvSpPr/>
          <p:nvPr/>
        </p:nvSpPr>
        <p:spPr>
          <a:xfrm>
            <a:off x="454536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Carbon Performance, Supply Chain, Reporting and Compliance, Climate Risk, Strategy.</a:t>
            </a:r>
            <a:endParaRPr b="0" lang="en-US" sz="1100" strike="noStrike" u="none">
              <a:solidFill>
                <a:srgbClr val="000000"/>
              </a:solidFill>
              <a:effectLst/>
              <a:uFillTx/>
              <a:latin typeface="Arial"/>
            </a:endParaRPr>
          </a:p>
        </p:txBody>
      </p:sp>
      <p:sp>
        <p:nvSpPr>
          <p:cNvPr id="245" name="Text 18"/>
          <p:cNvSpPr/>
          <p:nvPr/>
        </p:nvSpPr>
        <p:spPr>
          <a:xfrm>
            <a:off x="4563720" y="3776400"/>
            <a:ext cx="310032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Each owns a customer outcome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Each writes back to the shared spine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Every new product makes the others stronger</a:t>
            </a:r>
            <a:endParaRPr b="0" lang="en-US" sz="1100" strike="noStrike" u="none">
              <a:solidFill>
                <a:srgbClr val="000000"/>
              </a:solidFill>
              <a:effectLst/>
              <a:uFillTx/>
              <a:latin typeface="Arial"/>
            </a:endParaRPr>
          </a:p>
        </p:txBody>
      </p:sp>
      <p:sp>
        <p:nvSpPr>
          <p:cNvPr id="246" name="Shape 19"/>
          <p:cNvSpPr/>
          <p:nvPr/>
        </p:nvSpPr>
        <p:spPr>
          <a:xfrm>
            <a:off x="810324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47" name="Shape 20"/>
          <p:cNvSpPr/>
          <p:nvPr/>
        </p:nvSpPr>
        <p:spPr>
          <a:xfrm>
            <a:off x="8103240" y="2084760"/>
            <a:ext cx="346608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248" name="Text 21"/>
          <p:cNvSpPr/>
          <p:nvPr/>
        </p:nvSpPr>
        <p:spPr>
          <a:xfrm>
            <a:off x="830448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THE ECONOMICS</a:t>
            </a:r>
            <a:endParaRPr b="0" lang="en-US" sz="900" strike="noStrike" u="none">
              <a:solidFill>
                <a:srgbClr val="000000"/>
              </a:solidFill>
              <a:effectLst/>
              <a:uFillTx/>
              <a:latin typeface="Arial"/>
            </a:endParaRPr>
          </a:p>
        </p:txBody>
      </p:sp>
      <p:sp>
        <p:nvSpPr>
          <p:cNvPr id="249" name="Text 22"/>
          <p:cNvSpPr/>
          <p:nvPr/>
        </p:nvSpPr>
        <p:spPr>
          <a:xfrm>
            <a:off x="830448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Compounding advantage</a:t>
            </a:r>
            <a:endParaRPr b="0" lang="en-US" sz="1600" strike="noStrike" u="none">
              <a:solidFill>
                <a:srgbClr val="000000"/>
              </a:solidFill>
              <a:effectLst/>
              <a:uFillTx/>
              <a:latin typeface="Arial"/>
            </a:endParaRPr>
          </a:p>
        </p:txBody>
      </p:sp>
      <p:sp>
        <p:nvSpPr>
          <p:cNvPr id="250" name="Text 23"/>
          <p:cNvSpPr/>
          <p:nvPr/>
        </p:nvSpPr>
        <p:spPr>
          <a:xfrm>
            <a:off x="828612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The fourth product costs a fraction of the first and lands with the data already in place.</a:t>
            </a:r>
            <a:endParaRPr b="0" lang="en-US" sz="1100" strike="noStrike" u="none">
              <a:solidFill>
                <a:srgbClr val="000000"/>
              </a:solidFill>
              <a:effectLst/>
              <a:uFillTx/>
              <a:latin typeface="Arial"/>
            </a:endParaRPr>
          </a:p>
        </p:txBody>
      </p:sp>
      <p:sp>
        <p:nvSpPr>
          <p:cNvPr id="251" name="Text 24"/>
          <p:cNvSpPr/>
          <p:nvPr/>
        </p:nvSpPr>
        <p:spPr>
          <a:xfrm>
            <a:off x="8304480" y="3776400"/>
            <a:ext cx="310032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Acquisition cost falls per product added</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Switching cost rises with every domain adopted</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Competitors must rebuild what we build</a:t>
            </a:r>
            <a:endParaRPr b="0" lang="en-US" sz="1100" strike="noStrike" u="none">
              <a:solidFill>
                <a:srgbClr val="000000"/>
              </a:solidFill>
              <a:effectLst/>
              <a:uFillTx/>
              <a:latin typeface="Arial"/>
            </a:endParaRPr>
          </a:p>
        </p:txBody>
      </p:sp>
      <p:sp>
        <p:nvSpPr>
          <p:cNvPr id="252" name="Shape 25"/>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53" name="Text 26"/>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254" name="Text 27"/>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255" name="PlaceHolder 1"/>
          <p:cNvSpPr>
            <a:spLocks noGrp="1"/>
          </p:cNvSpPr>
          <p:nvPr>
            <p:ph type="sldNum" idx="13"/>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A736772E-C743-44D1-B7CF-82176A98EC19}" type="slidenum">
              <a:rPr b="1" lang="en-US" sz="800" strike="noStrike" u="none">
                <a:solidFill>
                  <a:srgbClr val="007a27"/>
                </a:solidFill>
                <a:effectLst/>
                <a:uFillTx/>
                <a:latin typeface="Calibri"/>
                <a:ea typeface="Calibri"/>
              </a:rPr>
              <a:t>10</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6"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257"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258" name="Shape 2"/>
          <p:cNvSpPr/>
          <p:nvPr/>
        </p:nvSpPr>
        <p:spPr>
          <a:xfrm>
            <a:off x="621720" y="311040"/>
            <a:ext cx="260568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59" name="Text 3"/>
          <p:cNvSpPr/>
          <p:nvPr/>
        </p:nvSpPr>
        <p:spPr>
          <a:xfrm>
            <a:off x="804600" y="329040"/>
            <a:ext cx="227664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LEADERSHIP NARRATIVE</a:t>
            </a:r>
            <a:endParaRPr b="0" lang="en-US" sz="950" strike="noStrike" u="none">
              <a:solidFill>
                <a:srgbClr val="000000"/>
              </a:solidFill>
              <a:effectLst/>
              <a:uFillTx/>
              <a:latin typeface="Arial"/>
            </a:endParaRPr>
          </a:p>
        </p:txBody>
      </p:sp>
      <p:sp>
        <p:nvSpPr>
          <p:cNvPr id="260"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fontScale="92500" lnSpcReduction="9999"/>
          </a:bodyPr>
          <a:p>
            <a:pPr defTabSz="914400">
              <a:lnSpc>
                <a:spcPct val="100000"/>
              </a:lnSpc>
              <a:tabLst>
                <a:tab algn="l" pos="0"/>
              </a:tabLst>
            </a:pPr>
            <a:r>
              <a:rPr b="1" lang="en-US" sz="3200" strike="noStrike" u="none">
                <a:solidFill>
                  <a:srgbClr val="1e2420"/>
                </a:solidFill>
                <a:effectLst/>
                <a:uFillTx/>
                <a:latin typeface="Calibri"/>
                <a:ea typeface="Calibri"/>
              </a:rPr>
              <a:t>Fund the spine, or watch the products compete for scraps</a:t>
            </a:r>
            <a:endParaRPr b="0" lang="en-US" sz="3200" strike="noStrike" u="none">
              <a:solidFill>
                <a:srgbClr val="000000"/>
              </a:solidFill>
              <a:effectLst/>
              <a:uFillTx/>
              <a:latin typeface="Arial"/>
            </a:endParaRPr>
          </a:p>
        </p:txBody>
      </p:sp>
      <p:sp>
        <p:nvSpPr>
          <p:cNvPr id="261"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Everything in this deck hangs off one decision: build the platform first, then scale the products on top of it.</a:t>
            </a:r>
            <a:endParaRPr b="0" lang="en-US" sz="1250" strike="noStrike" u="none">
              <a:solidFill>
                <a:srgbClr val="000000"/>
              </a:solidFill>
              <a:effectLst/>
              <a:uFillTx/>
              <a:latin typeface="Arial"/>
            </a:endParaRPr>
          </a:p>
        </p:txBody>
      </p:sp>
      <p:sp>
        <p:nvSpPr>
          <p:cNvPr id="262"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63" name="Shape 7"/>
          <p:cNvSpPr/>
          <p:nvPr/>
        </p:nvSpPr>
        <p:spPr>
          <a:xfrm>
            <a:off x="62172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4" name="Shape 8"/>
          <p:cNvSpPr/>
          <p:nvPr/>
        </p:nvSpPr>
        <p:spPr>
          <a:xfrm>
            <a:off x="621720" y="2084760"/>
            <a:ext cx="346608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265" name="Text 9"/>
          <p:cNvSpPr/>
          <p:nvPr/>
        </p:nvSpPr>
        <p:spPr>
          <a:xfrm>
            <a:off x="82296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WHAT WE COMMIT</a:t>
            </a:r>
            <a:endParaRPr b="0" lang="en-US" sz="900" strike="noStrike" u="none">
              <a:solidFill>
                <a:srgbClr val="000000"/>
              </a:solidFill>
              <a:effectLst/>
              <a:uFillTx/>
              <a:latin typeface="Arial"/>
            </a:endParaRPr>
          </a:p>
        </p:txBody>
      </p:sp>
      <p:sp>
        <p:nvSpPr>
          <p:cNvPr id="266" name="Text 10"/>
          <p:cNvSpPr/>
          <p:nvPr/>
        </p:nvSpPr>
        <p:spPr>
          <a:xfrm>
            <a:off x="82296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A sequenced, gated roadmap</a:t>
            </a:r>
            <a:endParaRPr b="0" lang="en-US" sz="1600" strike="noStrike" u="none">
              <a:solidFill>
                <a:srgbClr val="000000"/>
              </a:solidFill>
              <a:effectLst/>
              <a:uFillTx/>
              <a:latin typeface="Arial"/>
            </a:endParaRPr>
          </a:p>
        </p:txBody>
      </p:sp>
      <p:sp>
        <p:nvSpPr>
          <p:cNvPr id="267" name="Text 11"/>
          <p:cNvSpPr/>
          <p:nvPr/>
        </p:nvSpPr>
        <p:spPr>
          <a:xfrm>
            <a:off x="80460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Now, Next, Later across product areas, with explicit capacity math.</a:t>
            </a:r>
            <a:endParaRPr b="0" lang="en-US" sz="1100" strike="noStrike" u="none">
              <a:solidFill>
                <a:srgbClr val="000000"/>
              </a:solidFill>
              <a:effectLst/>
              <a:uFillTx/>
              <a:latin typeface="Arial"/>
            </a:endParaRPr>
          </a:p>
        </p:txBody>
      </p:sp>
      <p:sp>
        <p:nvSpPr>
          <p:cNvPr id="268" name="Text 12"/>
          <p:cNvSpPr/>
          <p:nvPr/>
        </p:nvSpPr>
        <p:spPr>
          <a:xfrm>
            <a:off x="822960" y="3776400"/>
            <a:ext cx="310032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Quarterly 2026 commitments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H1 and H2 2027 bands until ranked</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Stop, adjust, scale gates every cycle</a:t>
            </a:r>
            <a:endParaRPr b="0" lang="en-US" sz="1100" strike="noStrike" u="none">
              <a:solidFill>
                <a:srgbClr val="000000"/>
              </a:solidFill>
              <a:effectLst/>
              <a:uFillTx/>
              <a:latin typeface="Arial"/>
            </a:endParaRPr>
          </a:p>
        </p:txBody>
      </p:sp>
      <p:sp>
        <p:nvSpPr>
          <p:cNvPr id="269" name="Shape 13"/>
          <p:cNvSpPr/>
          <p:nvPr/>
        </p:nvSpPr>
        <p:spPr>
          <a:xfrm>
            <a:off x="436248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70" name="Shape 14"/>
          <p:cNvSpPr/>
          <p:nvPr/>
        </p:nvSpPr>
        <p:spPr>
          <a:xfrm>
            <a:off x="4362480" y="2084760"/>
            <a:ext cx="346608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271" name="Text 15"/>
          <p:cNvSpPr/>
          <p:nvPr/>
        </p:nvSpPr>
        <p:spPr>
          <a:xfrm>
            <a:off x="456372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WHAT WE NEED</a:t>
            </a:r>
            <a:endParaRPr b="0" lang="en-US" sz="900" strike="noStrike" u="none">
              <a:solidFill>
                <a:srgbClr val="000000"/>
              </a:solidFill>
              <a:effectLst/>
              <a:uFillTx/>
              <a:latin typeface="Arial"/>
            </a:endParaRPr>
          </a:p>
        </p:txBody>
      </p:sp>
      <p:sp>
        <p:nvSpPr>
          <p:cNvPr id="272" name="Text 16"/>
          <p:cNvSpPr/>
          <p:nvPr/>
        </p:nvSpPr>
        <p:spPr>
          <a:xfrm>
            <a:off x="456372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Capacity held for the core</a:t>
            </a:r>
            <a:endParaRPr b="0" lang="en-US" sz="1600" strike="noStrike" u="none">
              <a:solidFill>
                <a:srgbClr val="000000"/>
              </a:solidFill>
              <a:effectLst/>
              <a:uFillTx/>
              <a:latin typeface="Arial"/>
            </a:endParaRPr>
          </a:p>
        </p:txBody>
      </p:sp>
      <p:sp>
        <p:nvSpPr>
          <p:cNvPr id="273" name="Text 17"/>
          <p:cNvSpPr/>
          <p:nvPr/>
        </p:nvSpPr>
        <p:spPr>
          <a:xfrm>
            <a:off x="454536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Product and R&amp;D capacity reserved for the shared platform.</a:t>
            </a:r>
            <a:endParaRPr b="0" lang="en-US" sz="1100" strike="noStrike" u="none">
              <a:solidFill>
                <a:srgbClr val="000000"/>
              </a:solidFill>
              <a:effectLst/>
              <a:uFillTx/>
              <a:latin typeface="Arial"/>
            </a:endParaRPr>
          </a:p>
        </p:txBody>
      </p:sp>
      <p:sp>
        <p:nvSpPr>
          <p:cNvPr id="274" name="Text 18"/>
          <p:cNvSpPr/>
          <p:nvPr/>
        </p:nvSpPr>
        <p:spPr>
          <a:xfrm>
            <a:off x="4563720" y="3776400"/>
            <a:ext cx="310032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Data spine before product breadth</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Data governance before AI scale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Migration paths that protect the base</a:t>
            </a:r>
            <a:endParaRPr b="0" lang="en-US" sz="1100" strike="noStrike" u="none">
              <a:solidFill>
                <a:srgbClr val="000000"/>
              </a:solidFill>
              <a:effectLst/>
              <a:uFillTx/>
              <a:latin typeface="Arial"/>
            </a:endParaRPr>
          </a:p>
        </p:txBody>
      </p:sp>
      <p:sp>
        <p:nvSpPr>
          <p:cNvPr id="275" name="Shape 19"/>
          <p:cNvSpPr/>
          <p:nvPr/>
        </p:nvSpPr>
        <p:spPr>
          <a:xfrm>
            <a:off x="810324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76" name="Shape 20"/>
          <p:cNvSpPr/>
          <p:nvPr/>
        </p:nvSpPr>
        <p:spPr>
          <a:xfrm>
            <a:off x="8103240" y="2084760"/>
            <a:ext cx="346608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277" name="Text 21"/>
          <p:cNvSpPr/>
          <p:nvPr/>
        </p:nvSpPr>
        <p:spPr>
          <a:xfrm>
            <a:off x="830448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WHAT YOU GET</a:t>
            </a:r>
            <a:endParaRPr b="0" lang="en-US" sz="900" strike="noStrike" u="none">
              <a:solidFill>
                <a:srgbClr val="000000"/>
              </a:solidFill>
              <a:effectLst/>
              <a:uFillTx/>
              <a:latin typeface="Arial"/>
            </a:endParaRPr>
          </a:p>
        </p:txBody>
      </p:sp>
      <p:sp>
        <p:nvSpPr>
          <p:cNvPr id="278" name="Text 22"/>
          <p:cNvSpPr/>
          <p:nvPr/>
        </p:nvSpPr>
        <p:spPr>
          <a:xfrm>
            <a:off x="830448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400" strike="noStrike" u="none">
                <a:solidFill>
                  <a:srgbClr val="1e2420"/>
                </a:solidFill>
                <a:effectLst/>
                <a:uFillTx/>
                <a:latin typeface="Calibri"/>
                <a:ea typeface="Calibri"/>
              </a:rPr>
              <a:t>A compounding platform position</a:t>
            </a:r>
            <a:endParaRPr b="0" lang="en-US" sz="1400" strike="noStrike" u="none">
              <a:solidFill>
                <a:srgbClr val="000000"/>
              </a:solidFill>
              <a:effectLst/>
              <a:uFillTx/>
              <a:latin typeface="Arial"/>
            </a:endParaRPr>
          </a:p>
        </p:txBody>
      </p:sp>
      <p:sp>
        <p:nvSpPr>
          <p:cNvPr id="279" name="Text 23"/>
          <p:cNvSpPr/>
          <p:nvPr/>
        </p:nvSpPr>
        <p:spPr>
          <a:xfrm>
            <a:off x="828612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From reporting vendor to the intelligence layer of the enterprise.</a:t>
            </a:r>
            <a:endParaRPr b="0" lang="en-US" sz="1100" strike="noStrike" u="none">
              <a:solidFill>
                <a:srgbClr val="000000"/>
              </a:solidFill>
              <a:effectLst/>
              <a:uFillTx/>
              <a:latin typeface="Arial"/>
            </a:endParaRPr>
          </a:p>
        </p:txBody>
      </p:sp>
      <p:sp>
        <p:nvSpPr>
          <p:cNvPr id="280" name="Text 24"/>
          <p:cNvSpPr/>
          <p:nvPr/>
        </p:nvSpPr>
        <p:spPr>
          <a:xfrm>
            <a:off x="8304480" y="3776400"/>
            <a:ext cx="310032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One platform story to the market</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Defensible data moat</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Optionality on every adjacent domain</a:t>
            </a:r>
            <a:endParaRPr b="0" lang="en-US" sz="1100" strike="noStrike" u="none">
              <a:solidFill>
                <a:srgbClr val="000000"/>
              </a:solidFill>
              <a:effectLst/>
              <a:uFillTx/>
              <a:latin typeface="Arial"/>
            </a:endParaRPr>
          </a:p>
        </p:txBody>
      </p:sp>
      <p:sp>
        <p:nvSpPr>
          <p:cNvPr id="281" name="Shape 25"/>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82" name="Text 26"/>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283" name="Text 27"/>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284" name="PlaceHolder 1"/>
          <p:cNvSpPr>
            <a:spLocks noGrp="1"/>
          </p:cNvSpPr>
          <p:nvPr>
            <p:ph type="sldNum" idx="14"/>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46E82504-8589-4C92-92A1-C1B36FF027B1}" type="slidenum">
              <a:rPr b="1" lang="en-US" sz="800" strike="noStrike" u="none">
                <a:solidFill>
                  <a:srgbClr val="007a27"/>
                </a:solidFill>
                <a:effectLst/>
                <a:uFillTx/>
                <a:latin typeface="Calibri"/>
                <a:ea typeface="Calibri"/>
              </a:rPr>
              <a:t>11</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5730"/>
        </a:solidFill>
      </p:bgPr>
    </p:bg>
    <p:spTree>
      <p:nvGrpSpPr>
        <p:cNvPr id="1" name=""/>
        <p:cNvGrpSpPr/>
        <p:nvPr/>
      </p:nvGrpSpPr>
      <p:grpSpPr>
        <a:xfrm>
          <a:off x="0" y="0"/>
          <a:ext cx="0" cy="0"/>
          <a:chOff x="0" y="0"/>
          <a:chExt cx="0" cy="0"/>
        </a:xfrm>
      </p:grpSpPr>
      <p:sp>
        <p:nvSpPr>
          <p:cNvPr id="285"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286"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287" name="Shape 2"/>
          <p:cNvSpPr/>
          <p:nvPr/>
        </p:nvSpPr>
        <p:spPr>
          <a:xfrm>
            <a:off x="8641080" y="822960"/>
            <a:ext cx="360" cy="5212080"/>
          </a:xfrm>
          <a:prstGeom prst="line">
            <a:avLst/>
          </a:prstGeom>
          <a:ln w="12700">
            <a:solidFill>
              <a:srgbClr val="2c8058"/>
            </a:solidFill>
            <a:round/>
          </a:ln>
        </p:spPr>
        <p:style>
          <a:lnRef idx="0"/>
          <a:fillRef idx="0"/>
          <a:effectRef idx="0"/>
          <a:fontRef idx="minor"/>
        </p:style>
        <p:txBody>
          <a:bodyPr lIns="90000" rIns="90000" tIns="45000" bIns="45000" anchor="t" anchorCtr="1">
            <a:noAutofit/>
          </a:bodyPr>
          <a:p>
            <a:endParaRPr b="0" lang="en-US" sz="1800" strike="noStrike" u="none">
              <a:solidFill>
                <a:srgbClr val="ffffff"/>
              </a:solidFill>
              <a:effectLst/>
              <a:uFillTx/>
              <a:latin typeface="Arial"/>
            </a:endParaRPr>
          </a:p>
        </p:txBody>
      </p:sp>
      <p:sp>
        <p:nvSpPr>
          <p:cNvPr id="288" name="Text 3"/>
          <p:cNvSpPr/>
          <p:nvPr/>
        </p:nvSpPr>
        <p:spPr>
          <a:xfrm>
            <a:off x="9144000" y="841320"/>
            <a:ext cx="2194200" cy="22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81" strike="noStrike" u="none">
                <a:solidFill>
                  <a:srgbClr val="bfe6ce"/>
                </a:solidFill>
                <a:effectLst/>
                <a:uFillTx/>
                <a:latin typeface="Calibri"/>
                <a:ea typeface="Calibri"/>
              </a:rPr>
              <a:t>RA+ ROADMAP</a:t>
            </a:r>
            <a:endParaRPr b="0" lang="en-US" sz="900" strike="noStrike" u="none">
              <a:solidFill>
                <a:srgbClr val="ffffff"/>
              </a:solidFill>
              <a:effectLst/>
              <a:uFillTx/>
              <a:latin typeface="Arial"/>
            </a:endParaRPr>
          </a:p>
        </p:txBody>
      </p:sp>
      <p:sp>
        <p:nvSpPr>
          <p:cNvPr id="289" name="Text 4"/>
          <p:cNvSpPr/>
          <p:nvPr/>
        </p:nvSpPr>
        <p:spPr>
          <a:xfrm>
            <a:off x="9144000" y="1325880"/>
            <a:ext cx="2194200" cy="1462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3600" strike="noStrike" u="none">
                <a:solidFill>
                  <a:srgbClr val="ffffff"/>
                </a:solidFill>
                <a:effectLst/>
                <a:uFillTx/>
                <a:latin typeface="Calibri"/>
                <a:ea typeface="Calibri"/>
              </a:rPr>
              <a:t>2026</a:t>
            </a:r>
            <a:endParaRPr b="0" lang="en-US" sz="3600" strike="noStrike" u="none">
              <a:solidFill>
                <a:srgbClr val="ffffff"/>
              </a:solidFill>
              <a:effectLst/>
              <a:uFillTx/>
              <a:latin typeface="Arial"/>
            </a:endParaRPr>
          </a:p>
          <a:p>
            <a:pPr defTabSz="914400">
              <a:lnSpc>
                <a:spcPct val="100000"/>
              </a:lnSpc>
              <a:tabLst>
                <a:tab algn="l" pos="0"/>
              </a:tabLst>
            </a:pPr>
            <a:r>
              <a:rPr b="1" lang="en-US" sz="3600" strike="noStrike" u="none">
                <a:solidFill>
                  <a:srgbClr val="ffffff"/>
                </a:solidFill>
                <a:effectLst/>
                <a:uFillTx/>
                <a:latin typeface="Calibri"/>
                <a:ea typeface="Calibri"/>
              </a:rPr>
              <a:t>2027</a:t>
            </a:r>
            <a:endParaRPr b="0" lang="en-US" sz="3600" strike="noStrike" u="none">
              <a:solidFill>
                <a:srgbClr val="ffffff"/>
              </a:solidFill>
              <a:effectLst/>
              <a:uFillTx/>
              <a:latin typeface="Arial"/>
            </a:endParaRPr>
          </a:p>
        </p:txBody>
      </p:sp>
      <p:sp>
        <p:nvSpPr>
          <p:cNvPr id="290" name="Text 5"/>
          <p:cNvSpPr/>
          <p:nvPr/>
        </p:nvSpPr>
        <p:spPr>
          <a:xfrm>
            <a:off x="621720" y="960120"/>
            <a:ext cx="71319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221" strike="noStrike" u="none">
                <a:solidFill>
                  <a:srgbClr val="bfe6ce"/>
                </a:solidFill>
                <a:effectLst/>
                <a:uFillTx/>
                <a:latin typeface="Calibri"/>
                <a:ea typeface="Calibri"/>
              </a:rPr>
              <a:t>AGENDA ITEM 1</a:t>
            </a:r>
            <a:endParaRPr b="0" lang="en-US" sz="1100" strike="noStrike" u="none">
              <a:solidFill>
                <a:srgbClr val="ffffff"/>
              </a:solidFill>
              <a:effectLst/>
              <a:uFillTx/>
              <a:latin typeface="Arial"/>
            </a:endParaRPr>
          </a:p>
        </p:txBody>
      </p:sp>
      <p:sp>
        <p:nvSpPr>
          <p:cNvPr id="291" name="Text 6"/>
          <p:cNvSpPr/>
          <p:nvPr/>
        </p:nvSpPr>
        <p:spPr>
          <a:xfrm>
            <a:off x="621720" y="1508760"/>
            <a:ext cx="191988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5800" strike="noStrike" u="none">
                <a:solidFill>
                  <a:srgbClr val="3dcd58"/>
                </a:solidFill>
                <a:effectLst/>
                <a:uFillTx/>
                <a:latin typeface="Calibri"/>
                <a:ea typeface="Calibri"/>
              </a:rPr>
              <a:t>01</a:t>
            </a:r>
            <a:endParaRPr b="0" lang="en-US" sz="5800" strike="noStrike" u="none">
              <a:solidFill>
                <a:srgbClr val="ffffff"/>
              </a:solidFill>
              <a:effectLst/>
              <a:uFillTx/>
              <a:latin typeface="Arial"/>
            </a:endParaRPr>
          </a:p>
        </p:txBody>
      </p:sp>
      <p:sp>
        <p:nvSpPr>
          <p:cNvPr id="292" name="Text 7"/>
          <p:cNvSpPr/>
          <p:nvPr/>
        </p:nvSpPr>
        <p:spPr>
          <a:xfrm>
            <a:off x="621720" y="2606040"/>
            <a:ext cx="7406280" cy="11426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ffffff"/>
                </a:solidFill>
                <a:effectLst/>
                <a:uFillTx/>
                <a:latin typeface="Calibri"/>
                <a:ea typeface="Calibri"/>
              </a:rPr>
              <a:t>The platform we are building</a:t>
            </a:r>
            <a:endParaRPr b="0" lang="en-US" sz="3200" strike="noStrike" u="none">
              <a:solidFill>
                <a:srgbClr val="ffffff"/>
              </a:solidFill>
              <a:effectLst/>
              <a:uFillTx/>
              <a:latin typeface="Arial"/>
            </a:endParaRPr>
          </a:p>
        </p:txBody>
      </p:sp>
      <p:sp>
        <p:nvSpPr>
          <p:cNvPr id="293" name="Text 8"/>
          <p:cNvSpPr/>
          <p:nvPr/>
        </p:nvSpPr>
        <p:spPr>
          <a:xfrm>
            <a:off x="621720" y="4005000"/>
            <a:ext cx="704052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400" strike="noStrike" u="none">
                <a:solidFill>
                  <a:srgbClr val="d6eadf"/>
                </a:solidFill>
                <a:effectLst/>
                <a:uFillTx/>
                <a:latin typeface="Calibri"/>
                <a:ea typeface="Calibri"/>
              </a:rPr>
              <a:t>One data spine, three domains, and the convergence that no point solution can copy.</a:t>
            </a:r>
            <a:endParaRPr b="0" lang="en-US" sz="14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94"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295"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296" name="Shape 2"/>
          <p:cNvSpPr/>
          <p:nvPr/>
        </p:nvSpPr>
        <p:spPr>
          <a:xfrm>
            <a:off x="621720" y="311040"/>
            <a:ext cx="134388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97" name="Text 3"/>
          <p:cNvSpPr/>
          <p:nvPr/>
        </p:nvSpPr>
        <p:spPr>
          <a:xfrm>
            <a:off x="804600" y="329040"/>
            <a:ext cx="101448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PLATFORM</a:t>
            </a:r>
            <a:endParaRPr b="0" lang="en-US" sz="950" strike="noStrike" u="none">
              <a:solidFill>
                <a:srgbClr val="000000"/>
              </a:solidFill>
              <a:effectLst/>
              <a:uFillTx/>
              <a:latin typeface="Arial"/>
            </a:endParaRPr>
          </a:p>
        </p:txBody>
      </p:sp>
      <p:sp>
        <p:nvSpPr>
          <p:cNvPr id="298"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Trust: data, AI and security</a:t>
            </a:r>
            <a:endParaRPr b="0" lang="en-US" sz="3200" strike="noStrike" u="none">
              <a:solidFill>
                <a:srgbClr val="000000"/>
              </a:solidFill>
              <a:effectLst/>
              <a:uFillTx/>
              <a:latin typeface="Arial"/>
            </a:endParaRPr>
          </a:p>
        </p:txBody>
      </p:sp>
      <p:sp>
        <p:nvSpPr>
          <p:cNvPr id="299"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A system of record only works if customers and auditors trust how it handles their data.</a:t>
            </a:r>
            <a:endParaRPr b="0" lang="en-US" sz="1250" strike="noStrike" u="none">
              <a:solidFill>
                <a:srgbClr val="000000"/>
              </a:solidFill>
              <a:effectLst/>
              <a:uFillTx/>
              <a:latin typeface="Arial"/>
            </a:endParaRPr>
          </a:p>
        </p:txBody>
      </p:sp>
      <p:sp>
        <p:nvSpPr>
          <p:cNvPr id="300"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01" name="Shape 7"/>
          <p:cNvSpPr/>
          <p:nvPr/>
        </p:nvSpPr>
        <p:spPr>
          <a:xfrm>
            <a:off x="621720" y="2084760"/>
            <a:ext cx="3466080" cy="3419640"/>
          </a:xfrm>
          <a:prstGeom prst="roundRect">
            <a:avLst>
              <a:gd name="adj" fmla="val 1604"/>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02" name="Shape 8"/>
          <p:cNvSpPr/>
          <p:nvPr/>
        </p:nvSpPr>
        <p:spPr>
          <a:xfrm>
            <a:off x="621720" y="2084760"/>
            <a:ext cx="346608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303" name="Text 9"/>
          <p:cNvSpPr/>
          <p:nvPr/>
        </p:nvSpPr>
        <p:spPr>
          <a:xfrm>
            <a:off x="82296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DATA</a:t>
            </a:r>
            <a:endParaRPr b="0" lang="en-US" sz="900" strike="noStrike" u="none">
              <a:solidFill>
                <a:srgbClr val="000000"/>
              </a:solidFill>
              <a:effectLst/>
              <a:uFillTx/>
              <a:latin typeface="Arial"/>
            </a:endParaRPr>
          </a:p>
        </p:txBody>
      </p:sp>
      <p:sp>
        <p:nvSpPr>
          <p:cNvPr id="304" name="Text 10"/>
          <p:cNvSpPr/>
          <p:nvPr/>
        </p:nvSpPr>
        <p:spPr>
          <a:xfrm>
            <a:off x="82296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Traceable by design</a:t>
            </a:r>
            <a:endParaRPr b="0" lang="en-US" sz="1600" strike="noStrike" u="none">
              <a:solidFill>
                <a:srgbClr val="000000"/>
              </a:solidFill>
              <a:effectLst/>
              <a:uFillTx/>
              <a:latin typeface="Arial"/>
            </a:endParaRPr>
          </a:p>
        </p:txBody>
      </p:sp>
      <p:sp>
        <p:nvSpPr>
          <p:cNvPr id="305" name="Text 11"/>
          <p:cNvSpPr/>
          <p:nvPr/>
        </p:nvSpPr>
        <p:spPr>
          <a:xfrm>
            <a:off x="80460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Every number can be explained back to its source.</a:t>
            </a:r>
            <a:endParaRPr b="0" lang="en-US" sz="1100" strike="noStrike" u="none">
              <a:solidFill>
                <a:srgbClr val="000000"/>
              </a:solidFill>
              <a:effectLst/>
              <a:uFillTx/>
              <a:latin typeface="Arial"/>
            </a:endParaRPr>
          </a:p>
        </p:txBody>
      </p:sp>
      <p:sp>
        <p:nvSpPr>
          <p:cNvPr id="306" name="Text 12"/>
          <p:cNvSpPr/>
          <p:nvPr/>
        </p:nvSpPr>
        <p:spPr>
          <a:xfrm>
            <a:off x="822960" y="3776400"/>
            <a:ext cx="3100320" cy="150840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Lineage from source record to disclosed figure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Evidence and audit trail held with the data</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Shared data definitions and controls applied consistently across products</a:t>
            </a:r>
            <a:endParaRPr b="0" lang="en-US" sz="1100" strike="noStrike" u="none">
              <a:solidFill>
                <a:srgbClr val="000000"/>
              </a:solidFill>
              <a:effectLst/>
              <a:uFillTx/>
              <a:latin typeface="Arial"/>
            </a:endParaRPr>
          </a:p>
        </p:txBody>
      </p:sp>
      <p:sp>
        <p:nvSpPr>
          <p:cNvPr id="307" name="Shape 13"/>
          <p:cNvSpPr/>
          <p:nvPr/>
        </p:nvSpPr>
        <p:spPr>
          <a:xfrm>
            <a:off x="4362480" y="2084760"/>
            <a:ext cx="3466080" cy="3419640"/>
          </a:xfrm>
          <a:prstGeom prst="roundRect">
            <a:avLst>
              <a:gd name="adj" fmla="val 1604"/>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08" name="Shape 14"/>
          <p:cNvSpPr/>
          <p:nvPr/>
        </p:nvSpPr>
        <p:spPr>
          <a:xfrm>
            <a:off x="4362480" y="2084760"/>
            <a:ext cx="346608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309" name="Text 15"/>
          <p:cNvSpPr/>
          <p:nvPr/>
        </p:nvSpPr>
        <p:spPr>
          <a:xfrm>
            <a:off x="456372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AI</a:t>
            </a:r>
            <a:endParaRPr b="0" lang="en-US" sz="900" strike="noStrike" u="none">
              <a:solidFill>
                <a:srgbClr val="000000"/>
              </a:solidFill>
              <a:effectLst/>
              <a:uFillTx/>
              <a:latin typeface="Arial"/>
            </a:endParaRPr>
          </a:p>
        </p:txBody>
      </p:sp>
      <p:sp>
        <p:nvSpPr>
          <p:cNvPr id="310" name="Text 16"/>
          <p:cNvSpPr/>
          <p:nvPr/>
        </p:nvSpPr>
        <p:spPr>
          <a:xfrm>
            <a:off x="456372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400" strike="noStrike" u="none">
                <a:solidFill>
                  <a:srgbClr val="1e2420"/>
                </a:solidFill>
                <a:effectLst/>
                <a:uFillTx/>
                <a:latin typeface="Calibri"/>
                <a:ea typeface="Calibri"/>
              </a:rPr>
              <a:t>Assisted, never unaccountable</a:t>
            </a:r>
            <a:endParaRPr b="0" lang="en-US" sz="1400" strike="noStrike" u="none">
              <a:solidFill>
                <a:srgbClr val="000000"/>
              </a:solidFill>
              <a:effectLst/>
              <a:uFillTx/>
              <a:latin typeface="Arial"/>
            </a:endParaRPr>
          </a:p>
        </p:txBody>
      </p:sp>
      <p:sp>
        <p:nvSpPr>
          <p:cNvPr id="311" name="Text 17"/>
          <p:cNvSpPr/>
          <p:nvPr/>
        </p:nvSpPr>
        <p:spPr>
          <a:xfrm>
            <a:off x="454536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AI accelerates the work, humans keep the sign off.</a:t>
            </a:r>
            <a:endParaRPr b="0" lang="en-US" sz="1100" strike="noStrike" u="none">
              <a:solidFill>
                <a:srgbClr val="000000"/>
              </a:solidFill>
              <a:effectLst/>
              <a:uFillTx/>
              <a:latin typeface="Arial"/>
            </a:endParaRPr>
          </a:p>
        </p:txBody>
      </p:sp>
      <p:sp>
        <p:nvSpPr>
          <p:cNvPr id="312" name="Text 18"/>
          <p:cNvSpPr/>
          <p:nvPr/>
        </p:nvSpPr>
        <p:spPr>
          <a:xfrm>
            <a:off x="4563720" y="3776400"/>
            <a:ext cx="3100320" cy="150840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AI suggestions are reviewable and reversible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Method and factor choices remain transparent</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No AI output enters a disclosure without human approval</a:t>
            </a:r>
            <a:endParaRPr b="0" lang="en-US" sz="1100" strike="noStrike" u="none">
              <a:solidFill>
                <a:srgbClr val="000000"/>
              </a:solidFill>
              <a:effectLst/>
              <a:uFillTx/>
              <a:latin typeface="Arial"/>
            </a:endParaRPr>
          </a:p>
        </p:txBody>
      </p:sp>
      <p:sp>
        <p:nvSpPr>
          <p:cNvPr id="313" name="Shape 19"/>
          <p:cNvSpPr/>
          <p:nvPr/>
        </p:nvSpPr>
        <p:spPr>
          <a:xfrm>
            <a:off x="8103240" y="2084760"/>
            <a:ext cx="3466080" cy="3419640"/>
          </a:xfrm>
          <a:prstGeom prst="roundRect">
            <a:avLst>
              <a:gd name="adj" fmla="val 1604"/>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14" name="Shape 20"/>
          <p:cNvSpPr/>
          <p:nvPr/>
        </p:nvSpPr>
        <p:spPr>
          <a:xfrm>
            <a:off x="8103240" y="2084760"/>
            <a:ext cx="346608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315" name="Text 21"/>
          <p:cNvSpPr/>
          <p:nvPr/>
        </p:nvSpPr>
        <p:spPr>
          <a:xfrm>
            <a:off x="830448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SECURITY</a:t>
            </a:r>
            <a:endParaRPr b="0" lang="en-US" sz="900" strike="noStrike" u="none">
              <a:solidFill>
                <a:srgbClr val="000000"/>
              </a:solidFill>
              <a:effectLst/>
              <a:uFillTx/>
              <a:latin typeface="Arial"/>
            </a:endParaRPr>
          </a:p>
        </p:txBody>
      </p:sp>
      <p:sp>
        <p:nvSpPr>
          <p:cNvPr id="316" name="Text 22"/>
          <p:cNvSpPr/>
          <p:nvPr/>
        </p:nvSpPr>
        <p:spPr>
          <a:xfrm>
            <a:off x="830448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Enterprise grade controls</a:t>
            </a:r>
            <a:endParaRPr b="0" lang="en-US" sz="1600" strike="noStrike" u="none">
              <a:solidFill>
                <a:srgbClr val="000000"/>
              </a:solidFill>
              <a:effectLst/>
              <a:uFillTx/>
              <a:latin typeface="Arial"/>
            </a:endParaRPr>
          </a:p>
        </p:txBody>
      </p:sp>
      <p:sp>
        <p:nvSpPr>
          <p:cNvPr id="317" name="Text 23"/>
          <p:cNvSpPr/>
          <p:nvPr/>
        </p:nvSpPr>
        <p:spPr>
          <a:xfrm>
            <a:off x="828612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Aligned to Schneider Electric enterprise standards.</a:t>
            </a:r>
            <a:endParaRPr b="0" lang="en-US" sz="1100" strike="noStrike" u="none">
              <a:solidFill>
                <a:srgbClr val="000000"/>
              </a:solidFill>
              <a:effectLst/>
              <a:uFillTx/>
              <a:latin typeface="Arial"/>
            </a:endParaRPr>
          </a:p>
        </p:txBody>
      </p:sp>
      <p:sp>
        <p:nvSpPr>
          <p:cNvPr id="318" name="Text 24"/>
          <p:cNvSpPr/>
          <p:nvPr/>
        </p:nvSpPr>
        <p:spPr>
          <a:xfrm>
            <a:off x="8304480" y="3776400"/>
            <a:ext cx="3100320" cy="150840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Role based access across products and hierarchy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Segregated customer data with controlled sharing</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Security and compliance posture confirmed with the internal teams</a:t>
            </a:r>
            <a:endParaRPr b="0" lang="en-US" sz="1100" strike="noStrike" u="none">
              <a:solidFill>
                <a:srgbClr val="000000"/>
              </a:solidFill>
              <a:effectLst/>
              <a:uFillTx/>
              <a:latin typeface="Arial"/>
            </a:endParaRPr>
          </a:p>
        </p:txBody>
      </p:sp>
      <p:sp>
        <p:nvSpPr>
          <p:cNvPr id="319" name="Shape 25"/>
          <p:cNvSpPr/>
          <p:nvPr/>
        </p:nvSpPr>
        <p:spPr>
          <a:xfrm>
            <a:off x="621720" y="5650920"/>
            <a:ext cx="10947600" cy="585000"/>
          </a:xfrm>
          <a:prstGeom prst="roundRect">
            <a:avLst>
              <a:gd name="adj" fmla="val 12500"/>
            </a:avLst>
          </a:prstGeom>
          <a:solidFill>
            <a:srgbClr val="effaf1"/>
          </a:solidFill>
          <a:ln w="12700">
            <a:solidFill>
              <a:srgbClr val="bce8c9"/>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20" name="Shape 26"/>
          <p:cNvSpPr/>
          <p:nvPr/>
        </p:nvSpPr>
        <p:spPr>
          <a:xfrm>
            <a:off x="676800" y="5760720"/>
            <a:ext cx="45360" cy="3654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21" name="Text 27"/>
          <p:cNvSpPr/>
          <p:nvPr/>
        </p:nvSpPr>
        <p:spPr>
          <a:xfrm>
            <a:off x="859680" y="5650920"/>
            <a:ext cx="10527120" cy="585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200" strike="noStrike" u="none">
                <a:solidFill>
                  <a:srgbClr val="3a423c"/>
                </a:solidFill>
                <a:effectLst/>
                <a:uFillTx/>
                <a:latin typeface="Calibri"/>
                <a:ea typeface="Calibri"/>
              </a:rPr>
              <a:t>Certification and audit statements to be confirmed with Security and Legal before external use.</a:t>
            </a:r>
            <a:endParaRPr b="0" lang="en-US" sz="1200" strike="noStrike" u="none">
              <a:solidFill>
                <a:srgbClr val="000000"/>
              </a:solidFill>
              <a:effectLst/>
              <a:uFillTx/>
              <a:latin typeface="Arial"/>
            </a:endParaRPr>
          </a:p>
        </p:txBody>
      </p:sp>
      <p:sp>
        <p:nvSpPr>
          <p:cNvPr id="322" name="Shape 28"/>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23" name="Text 29"/>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324" name="Text 30"/>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325" name="PlaceHolder 1"/>
          <p:cNvSpPr>
            <a:spLocks noGrp="1"/>
          </p:cNvSpPr>
          <p:nvPr>
            <p:ph type="sldNum" idx="15"/>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1803409E-A484-476F-9648-133C598182FD}" type="slidenum">
              <a:rPr b="1" lang="en-US" sz="800" strike="noStrike" u="none">
                <a:solidFill>
                  <a:srgbClr val="007a27"/>
                </a:solidFill>
                <a:effectLst/>
                <a:uFillTx/>
                <a:latin typeface="Calibri"/>
                <a:ea typeface="Calibri"/>
              </a:rPr>
              <a:t>13</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26" name="Shape 0"/>
          <p:cNvSpPr/>
          <p:nvPr/>
        </p:nvSpPr>
        <p:spPr>
          <a:xfrm>
            <a:off x="0" y="0"/>
            <a:ext cx="6095520" cy="72720"/>
          </a:xfrm>
          <a:prstGeom prst="rect">
            <a:avLst/>
          </a:prstGeom>
          <a:solidFill>
            <a:srgbClr val="3dcd58"/>
          </a:solidFill>
          <a:ln w="12700">
            <a:solidFill>
              <a:srgbClr val="3dcd58">
                <a:alpha val="0"/>
              </a:srgbClr>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327" name="Shape 1"/>
          <p:cNvSpPr/>
          <p:nvPr/>
        </p:nvSpPr>
        <p:spPr>
          <a:xfrm>
            <a:off x="4724280" y="685800"/>
            <a:ext cx="2742840" cy="38376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28" name="Text 2"/>
          <p:cNvSpPr/>
          <p:nvPr/>
        </p:nvSpPr>
        <p:spPr>
          <a:xfrm>
            <a:off x="4724280" y="685800"/>
            <a:ext cx="274284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pc="99" strike="noStrike" u="none">
                <a:solidFill>
                  <a:srgbClr val="3dcd58"/>
                </a:solidFill>
                <a:effectLst/>
                <a:uFillTx/>
                <a:latin typeface="Calibri"/>
                <a:ea typeface="Calibri"/>
              </a:rPr>
              <a:t>✦  RA+ STRATEGY 2026</a:t>
            </a:r>
            <a:endParaRPr b="0" lang="en-US" sz="1200" strike="noStrike" u="none">
              <a:solidFill>
                <a:srgbClr val="000000"/>
              </a:solidFill>
              <a:effectLst/>
              <a:uFillTx/>
              <a:latin typeface="Arial"/>
            </a:endParaRPr>
          </a:p>
        </p:txBody>
      </p:sp>
      <p:sp>
        <p:nvSpPr>
          <p:cNvPr id="329" name="Text 3"/>
          <p:cNvSpPr/>
          <p:nvPr/>
        </p:nvSpPr>
        <p:spPr>
          <a:xfrm>
            <a:off x="621720" y="1554480"/>
            <a:ext cx="10947600" cy="9140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4400" strike="noStrike" u="none">
                <a:solidFill>
                  <a:srgbClr val="1e2420"/>
                </a:solidFill>
                <a:effectLst/>
                <a:uFillTx/>
                <a:latin typeface="Calibri"/>
                <a:ea typeface="Calibri"/>
              </a:rPr>
              <a:t>One platform.</a:t>
            </a:r>
            <a:endParaRPr b="0" lang="en-US" sz="4400" strike="noStrike" u="none">
              <a:solidFill>
                <a:srgbClr val="000000"/>
              </a:solidFill>
              <a:effectLst/>
              <a:uFillTx/>
              <a:latin typeface="Arial"/>
            </a:endParaRPr>
          </a:p>
        </p:txBody>
      </p:sp>
      <p:sp>
        <p:nvSpPr>
          <p:cNvPr id="330" name="Text 4"/>
          <p:cNvSpPr/>
          <p:nvPr/>
        </p:nvSpPr>
        <p:spPr>
          <a:xfrm>
            <a:off x="621720" y="2514600"/>
            <a:ext cx="10947600" cy="95976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4400" strike="noStrike" u="none">
                <a:solidFill>
                  <a:srgbClr val="3dcd58"/>
                </a:solidFill>
                <a:effectLst/>
                <a:uFillTx/>
                <a:latin typeface="Calibri"/>
                <a:ea typeface="Calibri"/>
              </a:rPr>
              <a:t>Sustainability, Energy, Efficiency.</a:t>
            </a:r>
            <a:endParaRPr b="0" lang="en-US" sz="4400" strike="noStrike" u="none">
              <a:solidFill>
                <a:srgbClr val="000000"/>
              </a:solidFill>
              <a:effectLst/>
              <a:uFillTx/>
              <a:latin typeface="Arial"/>
            </a:endParaRPr>
          </a:p>
        </p:txBody>
      </p:sp>
      <p:sp>
        <p:nvSpPr>
          <p:cNvPr id="331" name="Text 5"/>
          <p:cNvSpPr/>
          <p:nvPr/>
        </p:nvSpPr>
        <p:spPr>
          <a:xfrm>
            <a:off x="621720" y="3703320"/>
            <a:ext cx="10947600" cy="411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000" strike="noStrike" u="none">
                <a:solidFill>
                  <a:srgbClr val="3dcd58"/>
                </a:solidFill>
                <a:effectLst/>
                <a:uFillTx/>
                <a:latin typeface="Calibri"/>
                <a:ea typeface="Calibri"/>
              </a:rPr>
              <a:t>End-to-end value, only we can deliver.</a:t>
            </a:r>
            <a:endParaRPr b="0" lang="en-US" sz="2000" strike="noStrike" u="none">
              <a:solidFill>
                <a:srgbClr val="000000"/>
              </a:solidFill>
              <a:effectLst/>
              <a:uFillTx/>
              <a:latin typeface="Arial"/>
            </a:endParaRPr>
          </a:p>
        </p:txBody>
      </p:sp>
      <p:sp>
        <p:nvSpPr>
          <p:cNvPr id="332" name="Text 6"/>
          <p:cNvSpPr/>
          <p:nvPr/>
        </p:nvSpPr>
        <p:spPr>
          <a:xfrm>
            <a:off x="2346840" y="4206240"/>
            <a:ext cx="7497720" cy="776880"/>
          </a:xfrm>
          <a:prstGeom prst="rect">
            <a:avLst/>
          </a:prstGeom>
          <a:noFill/>
          <a:ln w="0">
            <a:noFill/>
          </a:ln>
        </p:spPr>
        <p:style>
          <a:lnRef idx="0"/>
          <a:fillRef idx="0"/>
          <a:effectRef idx="0"/>
          <a:fontRef idx="minor"/>
        </p:style>
        <p:txBody>
          <a:bodyPr lIns="0" rIns="0" tIns="0" bIns="0" anchor="t">
            <a:normAutofit/>
          </a:bodyPr>
          <a:p>
            <a:pPr algn="ctr" defTabSz="914400">
              <a:lnSpc>
                <a:spcPct val="100000"/>
              </a:lnSpc>
              <a:tabLst>
                <a:tab algn="l" pos="0"/>
              </a:tabLst>
            </a:pPr>
            <a:r>
              <a:rPr b="0" lang="en-US" sz="1300" strike="noStrike" u="none">
                <a:solidFill>
                  <a:srgbClr val="5a625c"/>
                </a:solidFill>
                <a:effectLst/>
                <a:uFillTx/>
                <a:latin typeface="Calibri"/>
                <a:ea typeface="Calibri"/>
              </a:rPr>
              <a:t>Sustainability data, energy &amp; supply intelligence, and efficiency expertise, converged onto a single, AI-native platform. One source of truth, one trusted advisor, one path to measurable savings.</a:t>
            </a:r>
            <a:endParaRPr b="0" lang="en-US" sz="1300" strike="noStrike" u="none">
              <a:solidFill>
                <a:srgbClr val="000000"/>
              </a:solidFill>
              <a:effectLst/>
              <a:uFillTx/>
              <a:latin typeface="Arial"/>
            </a:endParaRPr>
          </a:p>
        </p:txBody>
      </p:sp>
      <p:sp>
        <p:nvSpPr>
          <p:cNvPr id="333" name="Shape 7"/>
          <p:cNvSpPr/>
          <p:nvPr/>
        </p:nvSpPr>
        <p:spPr>
          <a:xfrm>
            <a:off x="3535560" y="5257800"/>
            <a:ext cx="1554120" cy="383760"/>
          </a:xfrm>
          <a:prstGeom prst="roundRect">
            <a:avLst>
              <a:gd name="adj" fmla="val 50000"/>
            </a:avLst>
          </a:prstGeom>
          <a:solidFill>
            <a:srgbClr val="ffffff"/>
          </a:solidFill>
          <a:ln w="1270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34" name="Text 8"/>
          <p:cNvSpPr/>
          <p:nvPr/>
        </p:nvSpPr>
        <p:spPr>
          <a:xfrm>
            <a:off x="3535560" y="5257800"/>
            <a:ext cx="155412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rgbClr val="1e2420"/>
                </a:solidFill>
                <a:effectLst/>
                <a:uFillTx/>
                <a:latin typeface="Calibri"/>
                <a:ea typeface="Calibri"/>
              </a:rPr>
              <a:t>Unified</a:t>
            </a:r>
            <a:endParaRPr b="0" lang="en-US" sz="1300" strike="noStrike" u="none">
              <a:solidFill>
                <a:srgbClr val="000000"/>
              </a:solidFill>
              <a:effectLst/>
              <a:uFillTx/>
              <a:latin typeface="Arial"/>
            </a:endParaRPr>
          </a:p>
        </p:txBody>
      </p:sp>
      <p:sp>
        <p:nvSpPr>
          <p:cNvPr id="335" name="Shape 9"/>
          <p:cNvSpPr/>
          <p:nvPr/>
        </p:nvSpPr>
        <p:spPr>
          <a:xfrm>
            <a:off x="5318640" y="5257800"/>
            <a:ext cx="1554120" cy="383760"/>
          </a:xfrm>
          <a:prstGeom prst="roundRect">
            <a:avLst>
              <a:gd name="adj" fmla="val 50000"/>
            </a:avLst>
          </a:prstGeom>
          <a:solidFill>
            <a:srgbClr val="ffffff"/>
          </a:solidFill>
          <a:ln w="1270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36" name="Text 10"/>
          <p:cNvSpPr/>
          <p:nvPr/>
        </p:nvSpPr>
        <p:spPr>
          <a:xfrm>
            <a:off x="5318640" y="5257800"/>
            <a:ext cx="155412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rgbClr val="1e2420"/>
                </a:solidFill>
                <a:effectLst/>
                <a:uFillTx/>
                <a:latin typeface="Calibri"/>
                <a:ea typeface="Calibri"/>
              </a:rPr>
              <a:t>Proactive</a:t>
            </a:r>
            <a:endParaRPr b="0" lang="en-US" sz="1300" strike="noStrike" u="none">
              <a:solidFill>
                <a:srgbClr val="000000"/>
              </a:solidFill>
              <a:effectLst/>
              <a:uFillTx/>
              <a:latin typeface="Arial"/>
            </a:endParaRPr>
          </a:p>
        </p:txBody>
      </p:sp>
      <p:sp>
        <p:nvSpPr>
          <p:cNvPr id="337" name="Shape 11"/>
          <p:cNvSpPr/>
          <p:nvPr/>
        </p:nvSpPr>
        <p:spPr>
          <a:xfrm>
            <a:off x="7101720" y="5257800"/>
            <a:ext cx="1554120" cy="383760"/>
          </a:xfrm>
          <a:prstGeom prst="roundRect">
            <a:avLst>
              <a:gd name="adj" fmla="val 50000"/>
            </a:avLst>
          </a:prstGeom>
          <a:solidFill>
            <a:srgbClr val="ffffff"/>
          </a:solidFill>
          <a:ln w="1270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38" name="Text 12"/>
          <p:cNvSpPr/>
          <p:nvPr/>
        </p:nvSpPr>
        <p:spPr>
          <a:xfrm>
            <a:off x="7101720" y="5257800"/>
            <a:ext cx="155412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rgbClr val="1e2420"/>
                </a:solidFill>
                <a:effectLst/>
                <a:uFillTx/>
                <a:latin typeface="Calibri"/>
                <a:ea typeface="Calibri"/>
              </a:rPr>
              <a:t>Adaptive</a:t>
            </a:r>
            <a:endParaRPr b="0" lang="en-US" sz="1300" strike="noStrike" u="none">
              <a:solidFill>
                <a:srgbClr val="000000"/>
              </a:solidFill>
              <a:effectLst/>
              <a:uFillTx/>
              <a:latin typeface="Arial"/>
            </a:endParaRPr>
          </a:p>
        </p:txBody>
      </p:sp>
      <p:sp>
        <p:nvSpPr>
          <p:cNvPr id="339" name="Text 13"/>
          <p:cNvSpPr/>
          <p:nvPr/>
        </p:nvSpPr>
        <p:spPr>
          <a:xfrm>
            <a:off x="621720" y="6492240"/>
            <a:ext cx="320004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850" strike="noStrike" u="none">
                <a:solidFill>
                  <a:srgbClr val="5a625c"/>
                </a:solidFill>
                <a:effectLst/>
                <a:uFillTx/>
                <a:latin typeface="Calibri"/>
                <a:ea typeface="Calibri"/>
              </a:rPr>
              <a:t>Property of Schneider Electric</a:t>
            </a:r>
            <a:endParaRPr b="0" lang="en-US" sz="850" strike="noStrike" u="none">
              <a:solidFill>
                <a:srgbClr val="000000"/>
              </a:solidFill>
              <a:effectLst/>
              <a:uFillTx/>
              <a:latin typeface="Arial"/>
            </a:endParaRPr>
          </a:p>
        </p:txBody>
      </p:sp>
      <p:sp>
        <p:nvSpPr>
          <p:cNvPr id="340" name="Text 14"/>
          <p:cNvSpPr/>
          <p:nvPr/>
        </p:nvSpPr>
        <p:spPr>
          <a:xfrm>
            <a:off x="5181480" y="6492240"/>
            <a:ext cx="182844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50" strike="noStrike" u="none">
                <a:solidFill>
                  <a:srgbClr val="5a625c"/>
                </a:solidFill>
                <a:effectLst/>
                <a:uFillTx/>
                <a:latin typeface="Calibri"/>
                <a:ea typeface="Calibri"/>
              </a:rPr>
              <a:t>General</a:t>
            </a:r>
            <a:endParaRPr b="0" lang="en-US" sz="850" strike="noStrike" u="none">
              <a:solidFill>
                <a:srgbClr val="000000"/>
              </a:solidFill>
              <a:effectLst/>
              <a:uFillTx/>
              <a:latin typeface="Arial"/>
            </a:endParaRPr>
          </a:p>
        </p:txBody>
      </p:sp>
      <p:sp>
        <p:nvSpPr>
          <p:cNvPr id="341" name="Text 15"/>
          <p:cNvSpPr/>
          <p:nvPr/>
        </p:nvSpPr>
        <p:spPr>
          <a:xfrm>
            <a:off x="8461080" y="6446520"/>
            <a:ext cx="310860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1300" strike="noStrike" u="none">
                <a:solidFill>
                  <a:srgbClr val="3dcd58"/>
                </a:solidFill>
                <a:effectLst/>
                <a:uFillTx/>
                <a:latin typeface="Calibri"/>
                <a:ea typeface="Calibri"/>
              </a:rPr>
              <a:t>SE </a:t>
            </a:r>
            <a:r>
              <a:rPr b="1" lang="en-US" sz="1300" strike="noStrike" u="none">
                <a:solidFill>
                  <a:srgbClr val="5a625c"/>
                </a:solidFill>
                <a:effectLst/>
                <a:uFillTx/>
                <a:latin typeface="Calibri"/>
                <a:ea typeface="Calibri"/>
              </a:rPr>
              <a:t>ADVISORY SERVICES</a:t>
            </a:r>
            <a:endParaRPr b="0" lang="en-US" sz="1300" strike="noStrike" u="none">
              <a:solidFill>
                <a:srgbClr val="000000"/>
              </a:solidFill>
              <a:effectLst/>
              <a:uFillTx/>
              <a:latin typeface="Arial"/>
            </a:endParaRPr>
          </a:p>
        </p:txBody>
      </p:sp>
      <p:sp>
        <p:nvSpPr>
          <p:cNvPr id="342" name="PlaceHolder 1"/>
          <p:cNvSpPr>
            <a:spLocks noGrp="1"/>
          </p:cNvSpPr>
          <p:nvPr>
            <p:ph type="sldNum" idx="16"/>
          </p:nvPr>
        </p:nvSpPr>
        <p:spPr>
          <a:xfrm>
            <a:off x="10929960" y="617220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3dcd58"/>
                </a:solidFill>
                <a:effectLst/>
                <a:uFillTx/>
                <a:latin typeface="Calibri"/>
                <a:ea typeface="Calibri"/>
              </a:defRPr>
            </a:lvl1pPr>
          </a:lstStyle>
          <a:p>
            <a:pPr indent="0" algn="r" defTabSz="914400">
              <a:lnSpc>
                <a:spcPct val="100000"/>
              </a:lnSpc>
              <a:buNone/>
            </a:pPr>
            <a:fld id="{62CAE2C1-F2D6-4505-A260-B6A4D2F80A5E}" type="slidenum">
              <a:rPr b="1" lang="en-US" sz="800" strike="noStrike" u="none">
                <a:solidFill>
                  <a:srgbClr val="3dcd58"/>
                </a:solidFill>
                <a:effectLst/>
                <a:uFillTx/>
                <a:latin typeface="Calibri"/>
                <a:ea typeface="Calibri"/>
              </a:rPr>
              <a:t>14</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43" name="Shape 0"/>
          <p:cNvSpPr/>
          <p:nvPr/>
        </p:nvSpPr>
        <p:spPr>
          <a:xfrm>
            <a:off x="0" y="0"/>
            <a:ext cx="6095520" cy="72720"/>
          </a:xfrm>
          <a:prstGeom prst="rect">
            <a:avLst/>
          </a:prstGeom>
          <a:solidFill>
            <a:srgbClr val="3dcd58"/>
          </a:solidFill>
          <a:ln w="12700">
            <a:solidFill>
              <a:srgbClr val="3dcd58">
                <a:alpha val="0"/>
              </a:srgbClr>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344" name="Text 1"/>
          <p:cNvSpPr/>
          <p:nvPr/>
        </p:nvSpPr>
        <p:spPr>
          <a:xfrm>
            <a:off x="621720" y="640080"/>
            <a:ext cx="10947600" cy="105120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3400" strike="noStrike" u="none">
                <a:solidFill>
                  <a:srgbClr val="1e2420"/>
                </a:solidFill>
                <a:effectLst/>
                <a:uFillTx/>
                <a:latin typeface="Calibri"/>
                <a:ea typeface="Calibri"/>
              </a:rPr>
              <a:t>One Data Spine. Three Domains. Infinite Combinations.</a:t>
            </a:r>
            <a:endParaRPr b="0" lang="en-US" sz="3400" strike="noStrike" u="none">
              <a:solidFill>
                <a:srgbClr val="000000"/>
              </a:solidFill>
              <a:effectLst/>
              <a:uFillTx/>
              <a:latin typeface="Arial"/>
            </a:endParaRPr>
          </a:p>
        </p:txBody>
      </p:sp>
      <p:sp>
        <p:nvSpPr>
          <p:cNvPr id="345" name="Text 2"/>
          <p:cNvSpPr/>
          <p:nvPr/>
        </p:nvSpPr>
        <p:spPr>
          <a:xfrm>
            <a:off x="1889640" y="1783080"/>
            <a:ext cx="8412120" cy="822600"/>
          </a:xfrm>
          <a:prstGeom prst="rect">
            <a:avLst/>
          </a:prstGeom>
          <a:noFill/>
          <a:ln w="0">
            <a:noFill/>
          </a:ln>
        </p:spPr>
        <p:style>
          <a:lnRef idx="0"/>
          <a:fillRef idx="0"/>
          <a:effectRef idx="0"/>
          <a:fontRef idx="minor"/>
        </p:style>
        <p:txBody>
          <a:bodyPr lIns="0" rIns="0" tIns="0" bIns="0" anchor="t">
            <a:normAutofit/>
          </a:bodyPr>
          <a:p>
            <a:pPr algn="ctr" defTabSz="914400">
              <a:lnSpc>
                <a:spcPct val="100000"/>
              </a:lnSpc>
              <a:tabLst>
                <a:tab algn="l" pos="0"/>
              </a:tabLst>
            </a:pPr>
            <a:r>
              <a:rPr b="0" lang="en-US" sz="1250" strike="noStrike" u="none">
                <a:solidFill>
                  <a:srgbClr val="5a625c"/>
                </a:solidFill>
                <a:effectLst/>
                <a:uFillTx/>
                <a:latin typeface="Calibri"/>
                <a:ea typeface="Calibri"/>
              </a:rPr>
              <a:t>Every domain runs on a common architecture and data model with seamless data flows between products: improved ingestion, transformation and quality, advanced dashboards and analytics with smart AI insights, and a consistent user experience.</a:t>
            </a:r>
            <a:endParaRPr b="0" lang="en-US" sz="1250" strike="noStrike" u="none">
              <a:solidFill>
                <a:srgbClr val="000000"/>
              </a:solidFill>
              <a:effectLst/>
              <a:uFillTx/>
              <a:latin typeface="Arial"/>
            </a:endParaRPr>
          </a:p>
        </p:txBody>
      </p:sp>
      <p:sp>
        <p:nvSpPr>
          <p:cNvPr id="346" name="Shape 3"/>
          <p:cNvSpPr/>
          <p:nvPr/>
        </p:nvSpPr>
        <p:spPr>
          <a:xfrm>
            <a:off x="1889640" y="2880360"/>
            <a:ext cx="8412120" cy="959760"/>
          </a:xfrm>
          <a:prstGeom prst="roundRect">
            <a:avLst>
              <a:gd name="adj" fmla="val 5714"/>
            </a:avLst>
          </a:prstGeom>
          <a:solidFill>
            <a:srgbClr val="f7f8f7"/>
          </a:solidFill>
          <a:ln w="1016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47" name="Shape 4"/>
          <p:cNvSpPr/>
          <p:nvPr/>
        </p:nvSpPr>
        <p:spPr>
          <a:xfrm>
            <a:off x="2163960" y="3081600"/>
            <a:ext cx="566640" cy="566640"/>
          </a:xfrm>
          <a:prstGeom prst="roundRect">
            <a:avLst>
              <a:gd name="adj" fmla="val 9677"/>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48" name="Text 5"/>
          <p:cNvSpPr/>
          <p:nvPr/>
        </p:nvSpPr>
        <p:spPr>
          <a:xfrm>
            <a:off x="2163960" y="3081600"/>
            <a:ext cx="566640" cy="5666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800" strike="noStrike" u="none">
                <a:solidFill>
                  <a:srgbClr val="3dcd58"/>
                </a:solidFill>
                <a:effectLst/>
                <a:uFillTx/>
                <a:latin typeface="Calibri"/>
                <a:ea typeface="Calibri"/>
              </a:rPr>
              <a:t>≡</a:t>
            </a:r>
            <a:endParaRPr b="0" lang="en-US" sz="1800" strike="noStrike" u="none">
              <a:solidFill>
                <a:srgbClr val="000000"/>
              </a:solidFill>
              <a:effectLst/>
              <a:uFillTx/>
              <a:latin typeface="Arial"/>
            </a:endParaRPr>
          </a:p>
        </p:txBody>
      </p:sp>
      <p:sp>
        <p:nvSpPr>
          <p:cNvPr id="349" name="Text 6"/>
          <p:cNvSpPr/>
          <p:nvPr/>
        </p:nvSpPr>
        <p:spPr>
          <a:xfrm>
            <a:off x="2895480" y="3026520"/>
            <a:ext cx="7131960" cy="328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700" strike="noStrike" u="none">
                <a:solidFill>
                  <a:srgbClr val="1e2420"/>
                </a:solidFill>
                <a:effectLst/>
                <a:uFillTx/>
                <a:latin typeface="Calibri"/>
                <a:ea typeface="Calibri"/>
              </a:rPr>
              <a:t>Unified Data Foundation</a:t>
            </a:r>
            <a:endParaRPr b="0" lang="en-US" sz="1700" strike="noStrike" u="none">
              <a:solidFill>
                <a:srgbClr val="000000"/>
              </a:solidFill>
              <a:effectLst/>
              <a:uFillTx/>
              <a:latin typeface="Arial"/>
            </a:endParaRPr>
          </a:p>
        </p:txBody>
      </p:sp>
      <p:sp>
        <p:nvSpPr>
          <p:cNvPr id="350" name="Text 7"/>
          <p:cNvSpPr/>
          <p:nvPr/>
        </p:nvSpPr>
        <p:spPr>
          <a:xfrm>
            <a:off x="2895480" y="3383280"/>
            <a:ext cx="7131960" cy="310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200" strike="noStrike" u="none">
                <a:solidFill>
                  <a:srgbClr val="5a625c"/>
                </a:solidFill>
                <a:effectLst/>
                <a:uFillTx/>
                <a:latin typeface="Calibri"/>
                <a:ea typeface="Calibri"/>
              </a:rPr>
              <a:t>RA+ spine   ·   Sustainability graph   ·   Identity registry   ·   Common data model</a:t>
            </a:r>
            <a:endParaRPr b="0" lang="en-US" sz="1200" strike="noStrike" u="none">
              <a:solidFill>
                <a:srgbClr val="000000"/>
              </a:solidFill>
              <a:effectLst/>
              <a:uFillTx/>
              <a:latin typeface="Arial"/>
            </a:endParaRPr>
          </a:p>
        </p:txBody>
      </p:sp>
      <p:sp>
        <p:nvSpPr>
          <p:cNvPr id="351" name="Shape 8"/>
          <p:cNvSpPr/>
          <p:nvPr/>
        </p:nvSpPr>
        <p:spPr>
          <a:xfrm>
            <a:off x="1889640" y="4060080"/>
            <a:ext cx="8412120" cy="959760"/>
          </a:xfrm>
          <a:prstGeom prst="roundRect">
            <a:avLst>
              <a:gd name="adj" fmla="val 5714"/>
            </a:avLst>
          </a:prstGeom>
          <a:solidFill>
            <a:srgbClr val="f7f8f7"/>
          </a:solidFill>
          <a:ln w="1016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52" name="Shape 9"/>
          <p:cNvSpPr/>
          <p:nvPr/>
        </p:nvSpPr>
        <p:spPr>
          <a:xfrm>
            <a:off x="2163960" y="4260960"/>
            <a:ext cx="566640" cy="566640"/>
          </a:xfrm>
          <a:prstGeom prst="roundRect">
            <a:avLst>
              <a:gd name="adj" fmla="val 9677"/>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53" name="Text 10"/>
          <p:cNvSpPr/>
          <p:nvPr/>
        </p:nvSpPr>
        <p:spPr>
          <a:xfrm>
            <a:off x="2163960" y="4260960"/>
            <a:ext cx="566640" cy="5666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800" strike="noStrike" u="none">
                <a:solidFill>
                  <a:srgbClr val="3dcd58"/>
                </a:solidFill>
                <a:effectLst/>
                <a:uFillTx/>
                <a:latin typeface="Calibri"/>
                <a:ea typeface="Calibri"/>
              </a:rPr>
              <a:t>✦</a:t>
            </a:r>
            <a:endParaRPr b="0" lang="en-US" sz="1800" strike="noStrike" u="none">
              <a:solidFill>
                <a:srgbClr val="000000"/>
              </a:solidFill>
              <a:effectLst/>
              <a:uFillTx/>
              <a:latin typeface="Arial"/>
            </a:endParaRPr>
          </a:p>
        </p:txBody>
      </p:sp>
      <p:sp>
        <p:nvSpPr>
          <p:cNvPr id="354" name="Text 11"/>
          <p:cNvSpPr/>
          <p:nvPr/>
        </p:nvSpPr>
        <p:spPr>
          <a:xfrm>
            <a:off x="2895480" y="4206240"/>
            <a:ext cx="7131960" cy="328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700" strike="noStrike" u="none">
                <a:solidFill>
                  <a:srgbClr val="1e2420"/>
                </a:solidFill>
                <a:effectLst/>
                <a:uFillTx/>
                <a:latin typeface="Calibri"/>
                <a:ea typeface="Calibri"/>
              </a:rPr>
              <a:t>Shared Intelligence Layer</a:t>
            </a:r>
            <a:endParaRPr b="0" lang="en-US" sz="1700" strike="noStrike" u="none">
              <a:solidFill>
                <a:srgbClr val="000000"/>
              </a:solidFill>
              <a:effectLst/>
              <a:uFillTx/>
              <a:latin typeface="Arial"/>
            </a:endParaRPr>
          </a:p>
        </p:txBody>
      </p:sp>
      <p:sp>
        <p:nvSpPr>
          <p:cNvPr id="355" name="Text 12"/>
          <p:cNvSpPr/>
          <p:nvPr/>
        </p:nvSpPr>
        <p:spPr>
          <a:xfrm>
            <a:off x="2895480" y="4563000"/>
            <a:ext cx="7131960" cy="310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200" strike="noStrike" u="none">
                <a:solidFill>
                  <a:srgbClr val="5a625c"/>
                </a:solidFill>
                <a:effectLst/>
                <a:uFillTx/>
                <a:latin typeface="Calibri"/>
                <a:ea typeface="Calibri"/>
              </a:rPr>
              <a:t>AI agents   ·   Recommendation engine   ·   Anomaly detection   ·   Forecasting models</a:t>
            </a:r>
            <a:endParaRPr b="0" lang="en-US" sz="1200" strike="noStrike" u="none">
              <a:solidFill>
                <a:srgbClr val="000000"/>
              </a:solidFill>
              <a:effectLst/>
              <a:uFillTx/>
              <a:latin typeface="Arial"/>
            </a:endParaRPr>
          </a:p>
        </p:txBody>
      </p:sp>
      <p:sp>
        <p:nvSpPr>
          <p:cNvPr id="356" name="Shape 13"/>
          <p:cNvSpPr/>
          <p:nvPr/>
        </p:nvSpPr>
        <p:spPr>
          <a:xfrm>
            <a:off x="1889640" y="5239440"/>
            <a:ext cx="8412120" cy="959760"/>
          </a:xfrm>
          <a:prstGeom prst="roundRect">
            <a:avLst>
              <a:gd name="adj" fmla="val 5714"/>
            </a:avLst>
          </a:prstGeom>
          <a:solidFill>
            <a:srgbClr val="f7f8f7"/>
          </a:solidFill>
          <a:ln w="1016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57" name="Shape 14"/>
          <p:cNvSpPr/>
          <p:nvPr/>
        </p:nvSpPr>
        <p:spPr>
          <a:xfrm>
            <a:off x="2163960" y="5440680"/>
            <a:ext cx="566640" cy="566640"/>
          </a:xfrm>
          <a:prstGeom prst="roundRect">
            <a:avLst>
              <a:gd name="adj" fmla="val 9677"/>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58" name="Text 15"/>
          <p:cNvSpPr/>
          <p:nvPr/>
        </p:nvSpPr>
        <p:spPr>
          <a:xfrm>
            <a:off x="2163960" y="5440680"/>
            <a:ext cx="566640" cy="5666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800" strike="noStrike" u="none">
                <a:solidFill>
                  <a:srgbClr val="3dcd58"/>
                </a:solidFill>
                <a:effectLst/>
                <a:uFillTx/>
                <a:latin typeface="Calibri"/>
                <a:ea typeface="Calibri"/>
              </a:rPr>
              <a:t>▦</a:t>
            </a:r>
            <a:endParaRPr b="0" lang="en-US" sz="1800" strike="noStrike" u="none">
              <a:solidFill>
                <a:srgbClr val="000000"/>
              </a:solidFill>
              <a:effectLst/>
              <a:uFillTx/>
              <a:latin typeface="Arial"/>
            </a:endParaRPr>
          </a:p>
        </p:txBody>
      </p:sp>
      <p:sp>
        <p:nvSpPr>
          <p:cNvPr id="359" name="Text 16"/>
          <p:cNvSpPr/>
          <p:nvPr/>
        </p:nvSpPr>
        <p:spPr>
          <a:xfrm>
            <a:off x="2895480" y="5385960"/>
            <a:ext cx="7131960" cy="328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700" strike="noStrike" u="none">
                <a:solidFill>
                  <a:srgbClr val="1e2420"/>
                </a:solidFill>
                <a:effectLst/>
                <a:uFillTx/>
                <a:latin typeface="Calibri"/>
                <a:ea typeface="Calibri"/>
              </a:rPr>
              <a:t>Common Experience</a:t>
            </a:r>
            <a:endParaRPr b="0" lang="en-US" sz="1700" strike="noStrike" u="none">
              <a:solidFill>
                <a:srgbClr val="000000"/>
              </a:solidFill>
              <a:effectLst/>
              <a:uFillTx/>
              <a:latin typeface="Arial"/>
            </a:endParaRPr>
          </a:p>
        </p:txBody>
      </p:sp>
      <p:sp>
        <p:nvSpPr>
          <p:cNvPr id="360" name="Text 17"/>
          <p:cNvSpPr/>
          <p:nvPr/>
        </p:nvSpPr>
        <p:spPr>
          <a:xfrm>
            <a:off x="2895480" y="5742360"/>
            <a:ext cx="7131960" cy="310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200" strike="noStrike" u="none">
                <a:solidFill>
                  <a:srgbClr val="5a625c"/>
                </a:solidFill>
                <a:effectLst/>
                <a:uFillTx/>
                <a:latin typeface="Calibri"/>
                <a:ea typeface="Calibri"/>
              </a:rPr>
              <a:t>Product domains   ·   Dashboards   ·   Workflows   ·   Disclosures   ·   Client self-serve</a:t>
            </a:r>
            <a:endParaRPr b="0" lang="en-US" sz="1200" strike="noStrike" u="none">
              <a:solidFill>
                <a:srgbClr val="000000"/>
              </a:solidFill>
              <a:effectLst/>
              <a:uFillTx/>
              <a:latin typeface="Arial"/>
            </a:endParaRPr>
          </a:p>
        </p:txBody>
      </p:sp>
      <p:sp>
        <p:nvSpPr>
          <p:cNvPr id="361" name="PlaceHolder 1"/>
          <p:cNvSpPr>
            <a:spLocks noGrp="1"/>
          </p:cNvSpPr>
          <p:nvPr>
            <p:ph type="sldNum" idx="17"/>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0B6B8668-8AE3-49F9-A0D3-5CDE67D739E4}" type="slidenum">
              <a:rPr b="1" lang="en-US" sz="800" strike="noStrike" u="none">
                <a:solidFill>
                  <a:srgbClr val="007a27"/>
                </a:solidFill>
                <a:effectLst/>
                <a:uFillTx/>
                <a:latin typeface="Calibri"/>
                <a:ea typeface="Calibri"/>
              </a:rPr>
              <a:t>15</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c3b25"/>
        </a:solidFill>
      </p:bgPr>
    </p:bg>
    <p:spTree>
      <p:nvGrpSpPr>
        <p:cNvPr id="1" name=""/>
        <p:cNvGrpSpPr/>
        <p:nvPr/>
      </p:nvGrpSpPr>
      <p:grpSpPr>
        <a:xfrm>
          <a:off x="0" y="0"/>
          <a:ext cx="0" cy="0"/>
          <a:chOff x="0" y="0"/>
          <a:chExt cx="0" cy="0"/>
        </a:xfrm>
      </p:grpSpPr>
      <p:sp>
        <p:nvSpPr>
          <p:cNvPr id="362" name="Text 0"/>
          <p:cNvSpPr/>
          <p:nvPr/>
        </p:nvSpPr>
        <p:spPr>
          <a:xfrm>
            <a:off x="621720" y="457200"/>
            <a:ext cx="10947600" cy="86832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2600" strike="noStrike" u="none">
                <a:solidFill>
                  <a:srgbClr val="3dcd58"/>
                </a:solidFill>
                <a:effectLst/>
                <a:uFillTx/>
                <a:latin typeface="Calibri"/>
                <a:ea typeface="Calibri"/>
              </a:rPr>
              <a:t>We're Building </a:t>
            </a:r>
            <a:r>
              <a:rPr b="1" lang="en-US" sz="2600" strike="noStrike" u="none">
                <a:solidFill>
                  <a:srgbClr val="ffffff"/>
                </a:solidFill>
                <a:effectLst/>
                <a:uFillTx/>
                <a:latin typeface="Calibri"/>
                <a:ea typeface="Calibri"/>
              </a:rPr>
              <a:t>One</a:t>
            </a:r>
            <a:r>
              <a:rPr b="1" lang="en-US" sz="2600" strike="noStrike" u="none">
                <a:solidFill>
                  <a:srgbClr val="3dcd58"/>
                </a:solidFill>
                <a:effectLst/>
                <a:uFillTx/>
                <a:latin typeface="Calibri"/>
                <a:ea typeface="Calibri"/>
              </a:rPr>
              <a:t> AI-Native Platform with Multiple Connected Products</a:t>
            </a:r>
            <a:endParaRPr b="0" lang="en-US" sz="2600" strike="noStrike" u="none">
              <a:solidFill>
                <a:srgbClr val="ffffff"/>
              </a:solidFill>
              <a:effectLst/>
              <a:uFillTx/>
              <a:latin typeface="Arial"/>
            </a:endParaRPr>
          </a:p>
        </p:txBody>
      </p:sp>
      <p:sp>
        <p:nvSpPr>
          <p:cNvPr id="363" name="Text 1"/>
          <p:cNvSpPr/>
          <p:nvPr/>
        </p:nvSpPr>
        <p:spPr>
          <a:xfrm>
            <a:off x="621720" y="1463040"/>
            <a:ext cx="10947600" cy="5482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2700" spc="99" strike="noStrike" u="none">
                <a:solidFill>
                  <a:srgbClr val="ffffff"/>
                </a:solidFill>
                <a:effectLst/>
                <a:uFillTx/>
                <a:latin typeface="Calibri"/>
                <a:ea typeface="Calibri"/>
              </a:rPr>
              <a:t>RESOURCE </a:t>
            </a:r>
            <a:r>
              <a:rPr b="1" lang="en-US" sz="2700" spc="99" strike="noStrike" u="none">
                <a:solidFill>
                  <a:srgbClr val="ffffff"/>
                </a:solidFill>
                <a:effectLst/>
                <a:uFillTx/>
                <a:latin typeface="Calibri"/>
                <a:ea typeface="Calibri"/>
              </a:rPr>
              <a:t>ADVISOR</a:t>
            </a:r>
            <a:r>
              <a:rPr b="1" lang="en-US" sz="2700" spc="99" strike="noStrike" u="none" baseline="30000">
                <a:solidFill>
                  <a:srgbClr val="ffffff"/>
                </a:solidFill>
                <a:effectLst/>
                <a:uFillTx/>
                <a:latin typeface="Calibri"/>
                <a:ea typeface="Calibri"/>
              </a:rPr>
              <a:t>+</a:t>
            </a:r>
            <a:endParaRPr b="0" lang="en-US" sz="2700" strike="noStrike" u="none">
              <a:solidFill>
                <a:srgbClr val="ffffff"/>
              </a:solidFill>
              <a:effectLst/>
              <a:uFillTx/>
              <a:latin typeface="Arial"/>
            </a:endParaRPr>
          </a:p>
        </p:txBody>
      </p:sp>
      <p:sp>
        <p:nvSpPr>
          <p:cNvPr id="364" name="Text 2"/>
          <p:cNvSpPr/>
          <p:nvPr/>
        </p:nvSpPr>
        <p:spPr>
          <a:xfrm>
            <a:off x="621720" y="2240280"/>
            <a:ext cx="3313800" cy="2372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rgbClr val="cdfc57"/>
                </a:solidFill>
                <a:effectLst/>
                <a:uFillTx/>
                <a:latin typeface="Calibri"/>
                <a:ea typeface="Calibri"/>
              </a:rPr>
              <a:t>Sustainability</a:t>
            </a:r>
            <a:endParaRPr b="0" lang="en-US" sz="1300" strike="noStrike" u="none">
              <a:solidFill>
                <a:srgbClr val="ffffff"/>
              </a:solidFill>
              <a:effectLst/>
              <a:uFillTx/>
              <a:latin typeface="Arial"/>
            </a:endParaRPr>
          </a:p>
        </p:txBody>
      </p:sp>
      <p:sp>
        <p:nvSpPr>
          <p:cNvPr id="365" name="Text 3"/>
          <p:cNvSpPr/>
          <p:nvPr/>
        </p:nvSpPr>
        <p:spPr>
          <a:xfrm>
            <a:off x="621720" y="2477880"/>
            <a:ext cx="3313800" cy="1825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000" strike="noStrike" u="none">
                <a:solidFill>
                  <a:srgbClr val="bfd9c9"/>
                </a:solidFill>
                <a:effectLst/>
                <a:uFillTx/>
                <a:latin typeface="Calibri"/>
                <a:ea typeface="Calibri"/>
              </a:rPr>
              <a:t>product family</a:t>
            </a:r>
            <a:endParaRPr b="0" lang="en-US" sz="1000" strike="noStrike" u="none">
              <a:solidFill>
                <a:srgbClr val="ffffff"/>
              </a:solidFill>
              <a:effectLst/>
              <a:uFillTx/>
              <a:latin typeface="Arial"/>
            </a:endParaRPr>
          </a:p>
        </p:txBody>
      </p:sp>
      <p:sp>
        <p:nvSpPr>
          <p:cNvPr id="366" name="Shape 4"/>
          <p:cNvSpPr/>
          <p:nvPr/>
        </p:nvSpPr>
        <p:spPr>
          <a:xfrm>
            <a:off x="621720" y="2743200"/>
            <a:ext cx="1583640" cy="1234080"/>
          </a:xfrm>
          <a:prstGeom prst="roundRect">
            <a:avLst>
              <a:gd name="adj" fmla="val 2963"/>
            </a:avLst>
          </a:prstGeom>
          <a:solidFill>
            <a:srgbClr val="0f4a2e"/>
          </a:solidFill>
          <a:ln w="13970">
            <a:solidFill>
              <a:srgbClr val="cdfc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67" name="Text 5"/>
          <p:cNvSpPr/>
          <p:nvPr/>
        </p:nvSpPr>
        <p:spPr>
          <a:xfrm>
            <a:off x="694800" y="2743200"/>
            <a:ext cx="1437120" cy="123408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1100" spc="40" strike="noStrike" u="none">
                <a:solidFill>
                  <a:srgbClr val="ffffff"/>
                </a:solidFill>
                <a:effectLst/>
                <a:uFillTx/>
                <a:latin typeface="Calibri"/>
                <a:ea typeface="Calibri"/>
              </a:rPr>
              <a:t>REPORTING &amp; COMPLIANCE</a:t>
            </a:r>
            <a:endParaRPr b="0" lang="en-US" sz="1100" strike="noStrike" u="none">
              <a:solidFill>
                <a:srgbClr val="ffffff"/>
              </a:solidFill>
              <a:effectLst/>
              <a:uFillTx/>
              <a:latin typeface="Arial"/>
            </a:endParaRPr>
          </a:p>
        </p:txBody>
      </p:sp>
      <p:sp>
        <p:nvSpPr>
          <p:cNvPr id="368" name="Shape 6"/>
          <p:cNvSpPr/>
          <p:nvPr/>
        </p:nvSpPr>
        <p:spPr>
          <a:xfrm>
            <a:off x="2351880" y="2743200"/>
            <a:ext cx="1583640" cy="1234080"/>
          </a:xfrm>
          <a:prstGeom prst="roundRect">
            <a:avLst>
              <a:gd name="adj" fmla="val 2963"/>
            </a:avLst>
          </a:prstGeom>
          <a:solidFill>
            <a:srgbClr val="0f4a2e"/>
          </a:solidFill>
          <a:ln w="13970">
            <a:solidFill>
              <a:srgbClr val="cdfc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69" name="Text 7"/>
          <p:cNvSpPr/>
          <p:nvPr/>
        </p:nvSpPr>
        <p:spPr>
          <a:xfrm>
            <a:off x="2425320" y="2743200"/>
            <a:ext cx="1437120" cy="123408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1100" spc="40" strike="noStrike" u="none">
                <a:solidFill>
                  <a:srgbClr val="ffffff"/>
                </a:solidFill>
                <a:effectLst/>
                <a:uFillTx/>
                <a:latin typeface="Calibri"/>
                <a:ea typeface="Calibri"/>
              </a:rPr>
              <a:t>SUPPLY CHAIN</a:t>
            </a:r>
            <a:endParaRPr b="0" lang="en-US" sz="1100" strike="noStrike" u="none">
              <a:solidFill>
                <a:srgbClr val="ffffff"/>
              </a:solidFill>
              <a:effectLst/>
              <a:uFillTx/>
              <a:latin typeface="Arial"/>
            </a:endParaRPr>
          </a:p>
        </p:txBody>
      </p:sp>
      <p:sp>
        <p:nvSpPr>
          <p:cNvPr id="370" name="Shape 8"/>
          <p:cNvSpPr/>
          <p:nvPr/>
        </p:nvSpPr>
        <p:spPr>
          <a:xfrm>
            <a:off x="621720" y="4123800"/>
            <a:ext cx="1583640" cy="1234080"/>
          </a:xfrm>
          <a:prstGeom prst="roundRect">
            <a:avLst>
              <a:gd name="adj" fmla="val 2963"/>
            </a:avLst>
          </a:prstGeom>
          <a:solidFill>
            <a:srgbClr val="0f4a2e"/>
          </a:solidFill>
          <a:ln w="13970">
            <a:solidFill>
              <a:srgbClr val="cdfc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71" name="Text 9"/>
          <p:cNvSpPr/>
          <p:nvPr/>
        </p:nvSpPr>
        <p:spPr>
          <a:xfrm>
            <a:off x="694800" y="4123800"/>
            <a:ext cx="1437120" cy="123408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1100" spc="40" strike="noStrike" u="none">
                <a:solidFill>
                  <a:srgbClr val="ffffff"/>
                </a:solidFill>
                <a:effectLst/>
                <a:uFillTx/>
                <a:latin typeface="Calibri"/>
                <a:ea typeface="Calibri"/>
              </a:rPr>
              <a:t>CLIMATE RISK</a:t>
            </a:r>
            <a:endParaRPr b="0" lang="en-US" sz="1100" strike="noStrike" u="none">
              <a:solidFill>
                <a:srgbClr val="ffffff"/>
              </a:solidFill>
              <a:effectLst/>
              <a:uFillTx/>
              <a:latin typeface="Arial"/>
            </a:endParaRPr>
          </a:p>
        </p:txBody>
      </p:sp>
      <p:sp>
        <p:nvSpPr>
          <p:cNvPr id="372" name="Shape 10"/>
          <p:cNvSpPr/>
          <p:nvPr/>
        </p:nvSpPr>
        <p:spPr>
          <a:xfrm>
            <a:off x="2351880" y="4123800"/>
            <a:ext cx="1583640" cy="1234080"/>
          </a:xfrm>
          <a:prstGeom prst="roundRect">
            <a:avLst>
              <a:gd name="adj" fmla="val 2963"/>
            </a:avLst>
          </a:prstGeom>
          <a:solidFill>
            <a:srgbClr val="0f4a2e"/>
          </a:solidFill>
          <a:ln w="13970">
            <a:solidFill>
              <a:srgbClr val="cdfc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73" name="Text 11"/>
          <p:cNvSpPr/>
          <p:nvPr/>
        </p:nvSpPr>
        <p:spPr>
          <a:xfrm>
            <a:off x="2425320" y="4123800"/>
            <a:ext cx="1437120" cy="123408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1100" spc="40" strike="noStrike" u="none">
                <a:solidFill>
                  <a:srgbClr val="ffffff"/>
                </a:solidFill>
                <a:effectLst/>
                <a:uFillTx/>
                <a:latin typeface="Calibri"/>
                <a:ea typeface="Calibri"/>
              </a:rPr>
              <a:t>CARBON PERFORMANCE</a:t>
            </a:r>
            <a:endParaRPr b="0" lang="en-US" sz="1100" strike="noStrike" u="none">
              <a:solidFill>
                <a:srgbClr val="ffffff"/>
              </a:solidFill>
              <a:effectLst/>
              <a:uFillTx/>
              <a:latin typeface="Arial"/>
            </a:endParaRPr>
          </a:p>
        </p:txBody>
      </p:sp>
      <p:sp>
        <p:nvSpPr>
          <p:cNvPr id="374" name="Text 12"/>
          <p:cNvSpPr/>
          <p:nvPr/>
        </p:nvSpPr>
        <p:spPr>
          <a:xfrm>
            <a:off x="4438800" y="2240280"/>
            <a:ext cx="3313800" cy="2372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rgbClr val="3dcd58"/>
                </a:solidFill>
                <a:effectLst/>
                <a:uFillTx/>
                <a:latin typeface="Calibri"/>
                <a:ea typeface="Calibri"/>
              </a:rPr>
              <a:t>Energy</a:t>
            </a:r>
            <a:endParaRPr b="0" lang="en-US" sz="1300" strike="noStrike" u="none">
              <a:solidFill>
                <a:srgbClr val="ffffff"/>
              </a:solidFill>
              <a:effectLst/>
              <a:uFillTx/>
              <a:latin typeface="Arial"/>
            </a:endParaRPr>
          </a:p>
        </p:txBody>
      </p:sp>
      <p:sp>
        <p:nvSpPr>
          <p:cNvPr id="375" name="Text 13"/>
          <p:cNvSpPr/>
          <p:nvPr/>
        </p:nvSpPr>
        <p:spPr>
          <a:xfrm>
            <a:off x="4438800" y="2477880"/>
            <a:ext cx="3313800" cy="1825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000" strike="noStrike" u="none">
                <a:solidFill>
                  <a:srgbClr val="bfd9c9"/>
                </a:solidFill>
                <a:effectLst/>
                <a:uFillTx/>
                <a:latin typeface="Calibri"/>
                <a:ea typeface="Calibri"/>
              </a:rPr>
              <a:t>product family</a:t>
            </a:r>
            <a:endParaRPr b="0" lang="en-US" sz="1000" strike="noStrike" u="none">
              <a:solidFill>
                <a:srgbClr val="ffffff"/>
              </a:solidFill>
              <a:effectLst/>
              <a:uFillTx/>
              <a:latin typeface="Arial"/>
            </a:endParaRPr>
          </a:p>
        </p:txBody>
      </p:sp>
      <p:sp>
        <p:nvSpPr>
          <p:cNvPr id="376" name="Shape 14"/>
          <p:cNvSpPr/>
          <p:nvPr/>
        </p:nvSpPr>
        <p:spPr>
          <a:xfrm>
            <a:off x="4438800" y="2743200"/>
            <a:ext cx="1583640" cy="1234080"/>
          </a:xfrm>
          <a:prstGeom prst="roundRect">
            <a:avLst>
              <a:gd name="adj" fmla="val 2963"/>
            </a:avLst>
          </a:prstGeom>
          <a:solidFill>
            <a:srgbClr val="0f4a2e"/>
          </a:solidFill>
          <a:ln w="1397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77" name="Text 15"/>
          <p:cNvSpPr/>
          <p:nvPr/>
        </p:nvSpPr>
        <p:spPr>
          <a:xfrm>
            <a:off x="4511880" y="2743200"/>
            <a:ext cx="1437120" cy="123408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1100" spc="40" strike="noStrike" u="none">
                <a:solidFill>
                  <a:srgbClr val="ffffff"/>
                </a:solidFill>
                <a:effectLst/>
                <a:uFillTx/>
                <a:latin typeface="Calibri"/>
                <a:ea typeface="Calibri"/>
              </a:rPr>
              <a:t>UTILITY ACCOUNTING</a:t>
            </a:r>
            <a:endParaRPr b="0" lang="en-US" sz="1100" strike="noStrike" u="none">
              <a:solidFill>
                <a:srgbClr val="ffffff"/>
              </a:solidFill>
              <a:effectLst/>
              <a:uFillTx/>
              <a:latin typeface="Arial"/>
            </a:endParaRPr>
          </a:p>
        </p:txBody>
      </p:sp>
      <p:sp>
        <p:nvSpPr>
          <p:cNvPr id="378" name="Shape 16"/>
          <p:cNvSpPr/>
          <p:nvPr/>
        </p:nvSpPr>
        <p:spPr>
          <a:xfrm>
            <a:off x="6168960" y="2743200"/>
            <a:ext cx="1583640" cy="1234080"/>
          </a:xfrm>
          <a:prstGeom prst="roundRect">
            <a:avLst>
              <a:gd name="adj" fmla="val 2963"/>
            </a:avLst>
          </a:prstGeom>
          <a:solidFill>
            <a:srgbClr val="0f4a2e"/>
          </a:solidFill>
          <a:ln w="1397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79" name="Text 17"/>
          <p:cNvSpPr/>
          <p:nvPr/>
        </p:nvSpPr>
        <p:spPr>
          <a:xfrm>
            <a:off x="6242040" y="2743200"/>
            <a:ext cx="1437120" cy="123408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1100" spc="40" strike="noStrike" u="none">
                <a:solidFill>
                  <a:srgbClr val="ffffff"/>
                </a:solidFill>
                <a:effectLst/>
                <a:uFillTx/>
                <a:latin typeface="Calibri"/>
                <a:ea typeface="Calibri"/>
              </a:rPr>
              <a:t>ENERGY PROCUREMENT</a:t>
            </a:r>
            <a:endParaRPr b="0" lang="en-US" sz="1100" strike="noStrike" u="none">
              <a:solidFill>
                <a:srgbClr val="ffffff"/>
              </a:solidFill>
              <a:effectLst/>
              <a:uFillTx/>
              <a:latin typeface="Arial"/>
            </a:endParaRPr>
          </a:p>
        </p:txBody>
      </p:sp>
      <p:sp>
        <p:nvSpPr>
          <p:cNvPr id="380" name="Shape 18"/>
          <p:cNvSpPr/>
          <p:nvPr/>
        </p:nvSpPr>
        <p:spPr>
          <a:xfrm>
            <a:off x="4438800" y="4123800"/>
            <a:ext cx="1583640" cy="1234080"/>
          </a:xfrm>
          <a:prstGeom prst="roundRect">
            <a:avLst>
              <a:gd name="adj" fmla="val 2963"/>
            </a:avLst>
          </a:prstGeom>
          <a:solidFill>
            <a:srgbClr val="0f4a2e"/>
          </a:solidFill>
          <a:ln w="1397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81" name="Text 19"/>
          <p:cNvSpPr/>
          <p:nvPr/>
        </p:nvSpPr>
        <p:spPr>
          <a:xfrm>
            <a:off x="4511880" y="4123800"/>
            <a:ext cx="1437120" cy="123408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1100" spc="40" strike="noStrike" u="none">
                <a:solidFill>
                  <a:srgbClr val="ffffff"/>
                </a:solidFill>
                <a:effectLst/>
                <a:uFillTx/>
                <a:latin typeface="Calibri"/>
                <a:ea typeface="Calibri"/>
              </a:rPr>
              <a:t>RENEWABLE ENERGY</a:t>
            </a:r>
            <a:endParaRPr b="0" lang="en-US" sz="1100" strike="noStrike" u="none">
              <a:solidFill>
                <a:srgbClr val="ffffff"/>
              </a:solidFill>
              <a:effectLst/>
              <a:uFillTx/>
              <a:latin typeface="Arial"/>
            </a:endParaRPr>
          </a:p>
        </p:txBody>
      </p:sp>
      <p:sp>
        <p:nvSpPr>
          <p:cNvPr id="382" name="Shape 20"/>
          <p:cNvSpPr/>
          <p:nvPr/>
        </p:nvSpPr>
        <p:spPr>
          <a:xfrm>
            <a:off x="6168960" y="4123800"/>
            <a:ext cx="1583640" cy="1234080"/>
          </a:xfrm>
          <a:prstGeom prst="roundRect">
            <a:avLst>
              <a:gd name="adj" fmla="val 2963"/>
            </a:avLst>
          </a:prstGeom>
          <a:solidFill>
            <a:srgbClr val="0f4a2e"/>
          </a:solidFill>
          <a:ln w="1397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83" name="Text 21"/>
          <p:cNvSpPr/>
          <p:nvPr/>
        </p:nvSpPr>
        <p:spPr>
          <a:xfrm>
            <a:off x="6242040" y="4123800"/>
            <a:ext cx="1437120" cy="123408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1100" spc="40" strike="noStrike" u="none">
                <a:solidFill>
                  <a:srgbClr val="ffffff"/>
                </a:solidFill>
                <a:effectLst/>
                <a:uFillTx/>
                <a:latin typeface="Calibri"/>
                <a:ea typeface="Calibri"/>
              </a:rPr>
              <a:t>FUTURE PRODUCT</a:t>
            </a:r>
            <a:endParaRPr b="0" lang="en-US" sz="1100" strike="noStrike" u="none">
              <a:solidFill>
                <a:srgbClr val="ffffff"/>
              </a:solidFill>
              <a:effectLst/>
              <a:uFillTx/>
              <a:latin typeface="Arial"/>
            </a:endParaRPr>
          </a:p>
        </p:txBody>
      </p:sp>
      <p:sp>
        <p:nvSpPr>
          <p:cNvPr id="384" name="Text 22"/>
          <p:cNvSpPr/>
          <p:nvPr/>
        </p:nvSpPr>
        <p:spPr>
          <a:xfrm>
            <a:off x="8255880" y="2240280"/>
            <a:ext cx="3313800" cy="2372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rgbClr val="a0e7ee"/>
                </a:solidFill>
                <a:effectLst/>
                <a:uFillTx/>
                <a:latin typeface="Calibri"/>
                <a:ea typeface="Calibri"/>
              </a:rPr>
              <a:t>Efficiency</a:t>
            </a:r>
            <a:endParaRPr b="0" lang="en-US" sz="1300" strike="noStrike" u="none">
              <a:solidFill>
                <a:srgbClr val="ffffff"/>
              </a:solidFill>
              <a:effectLst/>
              <a:uFillTx/>
              <a:latin typeface="Arial"/>
            </a:endParaRPr>
          </a:p>
        </p:txBody>
      </p:sp>
      <p:sp>
        <p:nvSpPr>
          <p:cNvPr id="385" name="Text 23"/>
          <p:cNvSpPr/>
          <p:nvPr/>
        </p:nvSpPr>
        <p:spPr>
          <a:xfrm>
            <a:off x="8255880" y="2477880"/>
            <a:ext cx="3313800" cy="1825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000" strike="noStrike" u="none">
                <a:solidFill>
                  <a:srgbClr val="bfd9c9"/>
                </a:solidFill>
                <a:effectLst/>
                <a:uFillTx/>
                <a:latin typeface="Calibri"/>
                <a:ea typeface="Calibri"/>
              </a:rPr>
              <a:t>product family</a:t>
            </a:r>
            <a:endParaRPr b="0" lang="en-US" sz="1000" strike="noStrike" u="none">
              <a:solidFill>
                <a:srgbClr val="ffffff"/>
              </a:solidFill>
              <a:effectLst/>
              <a:uFillTx/>
              <a:latin typeface="Arial"/>
            </a:endParaRPr>
          </a:p>
        </p:txBody>
      </p:sp>
      <p:sp>
        <p:nvSpPr>
          <p:cNvPr id="386" name="Shape 24"/>
          <p:cNvSpPr/>
          <p:nvPr/>
        </p:nvSpPr>
        <p:spPr>
          <a:xfrm>
            <a:off x="9120960" y="2743200"/>
            <a:ext cx="1583640" cy="1234080"/>
          </a:xfrm>
          <a:prstGeom prst="roundRect">
            <a:avLst>
              <a:gd name="adj" fmla="val 2963"/>
            </a:avLst>
          </a:prstGeom>
          <a:solidFill>
            <a:srgbClr val="0f4a2e"/>
          </a:solidFill>
          <a:ln w="13970">
            <a:solidFill>
              <a:srgbClr val="a0e7ee"/>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87" name="Text 25"/>
          <p:cNvSpPr/>
          <p:nvPr/>
        </p:nvSpPr>
        <p:spPr>
          <a:xfrm>
            <a:off x="9194040" y="2743200"/>
            <a:ext cx="1437120" cy="123408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1100" spc="40" strike="noStrike" u="none">
                <a:solidFill>
                  <a:srgbClr val="ffffff"/>
                </a:solidFill>
                <a:effectLst/>
                <a:uFillTx/>
                <a:latin typeface="Calibri"/>
                <a:ea typeface="Calibri"/>
              </a:rPr>
              <a:t>ENERGY EFFICIENCY</a:t>
            </a:r>
            <a:endParaRPr b="0" lang="en-US" sz="1100" strike="noStrike" u="none">
              <a:solidFill>
                <a:srgbClr val="ffffff"/>
              </a:solidFill>
              <a:effectLst/>
              <a:uFillTx/>
              <a:latin typeface="Arial"/>
            </a:endParaRPr>
          </a:p>
        </p:txBody>
      </p:sp>
      <p:sp>
        <p:nvSpPr>
          <p:cNvPr id="388" name="Shape 26"/>
          <p:cNvSpPr/>
          <p:nvPr/>
        </p:nvSpPr>
        <p:spPr>
          <a:xfrm>
            <a:off x="9120960" y="4123800"/>
            <a:ext cx="1583640" cy="1234080"/>
          </a:xfrm>
          <a:prstGeom prst="roundRect">
            <a:avLst>
              <a:gd name="adj" fmla="val 2963"/>
            </a:avLst>
          </a:prstGeom>
          <a:solidFill>
            <a:srgbClr val="0f4a2e"/>
          </a:solidFill>
          <a:ln w="13970">
            <a:solidFill>
              <a:srgbClr val="a0e7ee"/>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89" name="Text 27"/>
          <p:cNvSpPr/>
          <p:nvPr/>
        </p:nvSpPr>
        <p:spPr>
          <a:xfrm>
            <a:off x="9194040" y="4123800"/>
            <a:ext cx="1437120" cy="123408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1100" spc="40" strike="noStrike" u="none">
                <a:solidFill>
                  <a:srgbClr val="ffffff"/>
                </a:solidFill>
                <a:effectLst/>
                <a:uFillTx/>
                <a:latin typeface="Calibri"/>
                <a:ea typeface="Calibri"/>
              </a:rPr>
              <a:t>FUTURE PRODUCT</a:t>
            </a:r>
            <a:endParaRPr b="0" lang="en-US" sz="1100" strike="noStrike" u="none">
              <a:solidFill>
                <a:srgbClr val="ffffff"/>
              </a:solidFill>
              <a:effectLst/>
              <a:uFillTx/>
              <a:latin typeface="Arial"/>
            </a:endParaRPr>
          </a:p>
        </p:txBody>
      </p:sp>
      <p:sp>
        <p:nvSpPr>
          <p:cNvPr id="390" name="Text 28"/>
          <p:cNvSpPr/>
          <p:nvPr/>
        </p:nvSpPr>
        <p:spPr>
          <a:xfrm>
            <a:off x="8461080" y="6080760"/>
            <a:ext cx="310860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1400" strike="noStrike" u="none">
                <a:solidFill>
                  <a:srgbClr val="3dcd58"/>
                </a:solidFill>
                <a:effectLst/>
                <a:uFillTx/>
                <a:latin typeface="Calibri"/>
                <a:ea typeface="Calibri"/>
              </a:rPr>
              <a:t>SE </a:t>
            </a:r>
            <a:r>
              <a:rPr b="0" lang="en-US" sz="1400" strike="noStrike" u="none">
                <a:solidFill>
                  <a:srgbClr val="ffffff"/>
                </a:solidFill>
                <a:effectLst/>
                <a:uFillTx/>
                <a:latin typeface="Calibri"/>
                <a:ea typeface="Calibri"/>
              </a:rPr>
              <a:t>ADVISORY SERVICES</a:t>
            </a:r>
            <a:endParaRPr b="0" lang="en-US" sz="1400" strike="noStrike" u="none">
              <a:solidFill>
                <a:srgbClr val="ffffff"/>
              </a:solidFill>
              <a:effectLst/>
              <a:uFillTx/>
              <a:latin typeface="Arial"/>
            </a:endParaRPr>
          </a:p>
        </p:txBody>
      </p:sp>
      <p:sp>
        <p:nvSpPr>
          <p:cNvPr id="391" name="PlaceHolder 1"/>
          <p:cNvSpPr>
            <a:spLocks noGrp="1"/>
          </p:cNvSpPr>
          <p:nvPr>
            <p:ph type="sldNum" idx="18"/>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3dcd58"/>
                </a:solidFill>
                <a:effectLst/>
                <a:uFillTx/>
                <a:latin typeface="Calibri"/>
                <a:ea typeface="Calibri"/>
              </a:defRPr>
            </a:lvl1pPr>
          </a:lstStyle>
          <a:p>
            <a:pPr indent="0" algn="r" defTabSz="914400">
              <a:lnSpc>
                <a:spcPct val="100000"/>
              </a:lnSpc>
              <a:buNone/>
            </a:pPr>
            <a:fld id="{974600ED-3D12-41F9-AC29-F07016B9E64A}" type="slidenum">
              <a:rPr b="1" lang="en-US" sz="800" strike="noStrike" u="none">
                <a:solidFill>
                  <a:srgbClr val="3dcd58"/>
                </a:solidFill>
                <a:effectLst/>
                <a:uFillTx/>
                <a:latin typeface="Calibri"/>
                <a:ea typeface="Calibri"/>
              </a:rPr>
              <a:t>16</a:t>
            </a:fld>
            <a:endParaRPr b="0" lang="en-US" sz="800" strike="noStrike" u="non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92" name="Shape 0"/>
          <p:cNvSpPr/>
          <p:nvPr/>
        </p:nvSpPr>
        <p:spPr>
          <a:xfrm>
            <a:off x="0" y="0"/>
            <a:ext cx="6095520" cy="72720"/>
          </a:xfrm>
          <a:prstGeom prst="rect">
            <a:avLst/>
          </a:prstGeom>
          <a:solidFill>
            <a:srgbClr val="3dcd58"/>
          </a:solidFill>
          <a:ln w="12700">
            <a:solidFill>
              <a:srgbClr val="3dcd58">
                <a:alpha val="0"/>
              </a:srgbClr>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393" name="Shape 1"/>
          <p:cNvSpPr/>
          <p:nvPr/>
        </p:nvSpPr>
        <p:spPr>
          <a:xfrm>
            <a:off x="4998600" y="502920"/>
            <a:ext cx="2194200" cy="32868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4" name="Text 2"/>
          <p:cNvSpPr/>
          <p:nvPr/>
        </p:nvSpPr>
        <p:spPr>
          <a:xfrm>
            <a:off x="4998600" y="502920"/>
            <a:ext cx="2194200" cy="328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000" spc="99" strike="noStrike" u="none">
                <a:solidFill>
                  <a:srgbClr val="3dcd58"/>
                </a:solidFill>
                <a:effectLst/>
                <a:uFillTx/>
                <a:latin typeface="Calibri"/>
                <a:ea typeface="Calibri"/>
              </a:rPr>
              <a:t>DATA SPINE</a:t>
            </a:r>
            <a:endParaRPr b="0" lang="en-US" sz="1000" strike="noStrike" u="none">
              <a:solidFill>
                <a:srgbClr val="000000"/>
              </a:solidFill>
              <a:effectLst/>
              <a:uFillTx/>
              <a:latin typeface="Arial"/>
            </a:endParaRPr>
          </a:p>
        </p:txBody>
      </p:sp>
      <p:sp>
        <p:nvSpPr>
          <p:cNvPr id="395" name="Text 3"/>
          <p:cNvSpPr/>
          <p:nvPr/>
        </p:nvSpPr>
        <p:spPr>
          <a:xfrm>
            <a:off x="621720" y="1005840"/>
            <a:ext cx="10947600" cy="86832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3200" strike="noStrike" u="none">
                <a:solidFill>
                  <a:srgbClr val="1e2420"/>
                </a:solidFill>
                <a:effectLst/>
                <a:uFillTx/>
                <a:latin typeface="Calibri"/>
                <a:ea typeface="Calibri"/>
              </a:rPr>
              <a:t>Metering &amp; Interval Data is the data spine</a:t>
            </a:r>
            <a:endParaRPr b="0" lang="en-US" sz="3200" strike="noStrike" u="none">
              <a:solidFill>
                <a:srgbClr val="000000"/>
              </a:solidFill>
              <a:effectLst/>
              <a:uFillTx/>
              <a:latin typeface="Arial"/>
            </a:endParaRPr>
          </a:p>
        </p:txBody>
      </p:sp>
      <p:sp>
        <p:nvSpPr>
          <p:cNvPr id="396" name="Text 4"/>
          <p:cNvSpPr/>
          <p:nvPr/>
        </p:nvSpPr>
        <p:spPr>
          <a:xfrm>
            <a:off x="1889640" y="1874520"/>
            <a:ext cx="8412120" cy="456840"/>
          </a:xfrm>
          <a:prstGeom prst="rect">
            <a:avLst/>
          </a:prstGeom>
          <a:noFill/>
          <a:ln w="0">
            <a:noFill/>
          </a:ln>
        </p:spPr>
        <p:style>
          <a:lnRef idx="0"/>
          <a:fillRef idx="0"/>
          <a:effectRef idx="0"/>
          <a:fontRef idx="minor"/>
        </p:style>
        <p:txBody>
          <a:bodyPr lIns="0" rIns="0" tIns="0" bIns="0" anchor="t">
            <a:normAutofit/>
          </a:bodyPr>
          <a:p>
            <a:pPr algn="ctr" defTabSz="914400">
              <a:lnSpc>
                <a:spcPct val="100000"/>
              </a:lnSpc>
              <a:tabLst>
                <a:tab algn="l" pos="0"/>
              </a:tabLst>
            </a:pPr>
            <a:r>
              <a:rPr b="0" lang="en-US" sz="1250" strike="noStrike" u="none">
                <a:solidFill>
                  <a:srgbClr val="5a625c"/>
                </a:solidFill>
                <a:effectLst/>
                <a:uFillTx/>
                <a:latin typeface="Calibri"/>
                <a:ea typeface="Calibri"/>
              </a:rPr>
              <a:t>Interval-grade data feeds every granular use case on the platform.</a:t>
            </a:r>
            <a:endParaRPr b="0" lang="en-US" sz="1250" strike="noStrike" u="none">
              <a:solidFill>
                <a:srgbClr val="000000"/>
              </a:solidFill>
              <a:effectLst/>
              <a:uFillTx/>
              <a:latin typeface="Arial"/>
            </a:endParaRPr>
          </a:p>
        </p:txBody>
      </p:sp>
      <p:sp>
        <p:nvSpPr>
          <p:cNvPr id="397" name="Shape 5"/>
          <p:cNvSpPr/>
          <p:nvPr/>
        </p:nvSpPr>
        <p:spPr>
          <a:xfrm>
            <a:off x="621720" y="2743200"/>
            <a:ext cx="2925720" cy="2377080"/>
          </a:xfrm>
          <a:prstGeom prst="roundRect">
            <a:avLst>
              <a:gd name="adj" fmla="val 4615"/>
            </a:avLst>
          </a:prstGeom>
          <a:solidFill>
            <a:srgbClr val="eaf8ed"/>
          </a:solidFill>
          <a:ln w="1905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8" name="Text 6"/>
          <p:cNvSpPr/>
          <p:nvPr/>
        </p:nvSpPr>
        <p:spPr>
          <a:xfrm>
            <a:off x="621720" y="2926080"/>
            <a:ext cx="292572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000" spc="99" strike="noStrike" u="none">
                <a:solidFill>
                  <a:srgbClr val="3dcd58"/>
                </a:solidFill>
                <a:effectLst/>
                <a:uFillTx/>
                <a:latin typeface="Calibri"/>
                <a:ea typeface="Calibri"/>
              </a:rPr>
              <a:t>DATA SPINE</a:t>
            </a:r>
            <a:endParaRPr b="0" lang="en-US" sz="1000" strike="noStrike" u="none">
              <a:solidFill>
                <a:srgbClr val="000000"/>
              </a:solidFill>
              <a:effectLst/>
              <a:uFillTx/>
              <a:latin typeface="Arial"/>
            </a:endParaRPr>
          </a:p>
        </p:txBody>
      </p:sp>
      <p:sp>
        <p:nvSpPr>
          <p:cNvPr id="399" name="Text 7"/>
          <p:cNvSpPr/>
          <p:nvPr/>
        </p:nvSpPr>
        <p:spPr>
          <a:xfrm>
            <a:off x="621720" y="3246120"/>
            <a:ext cx="2925720" cy="50256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1700" strike="noStrike" u="none">
                <a:solidFill>
                  <a:srgbClr val="1e2420"/>
                </a:solidFill>
                <a:effectLst/>
                <a:uFillTx/>
                <a:latin typeface="Calibri"/>
                <a:ea typeface="Calibri"/>
              </a:rPr>
              <a:t>Metering &amp; Interval Data</a:t>
            </a:r>
            <a:endParaRPr b="0" lang="en-US" sz="1700" strike="noStrike" u="none">
              <a:solidFill>
                <a:srgbClr val="000000"/>
              </a:solidFill>
              <a:effectLst/>
              <a:uFillTx/>
              <a:latin typeface="Arial"/>
            </a:endParaRPr>
          </a:p>
        </p:txBody>
      </p:sp>
      <p:sp>
        <p:nvSpPr>
          <p:cNvPr id="400" name="Text 8"/>
          <p:cNvSpPr/>
          <p:nvPr/>
        </p:nvSpPr>
        <p:spPr>
          <a:xfrm>
            <a:off x="804600" y="3794760"/>
            <a:ext cx="2559960" cy="1096920"/>
          </a:xfrm>
          <a:prstGeom prst="rect">
            <a:avLst/>
          </a:prstGeom>
          <a:noFill/>
          <a:ln w="0">
            <a:noFill/>
          </a:ln>
        </p:spPr>
        <p:style>
          <a:lnRef idx="0"/>
          <a:fillRef idx="0"/>
          <a:effectRef idx="0"/>
          <a:fontRef idx="minor"/>
        </p:style>
        <p:txBody>
          <a:bodyPr lIns="0" rIns="0" tIns="0" bIns="0" anchor="ctr">
            <a:noAutofit/>
          </a:bodyPr>
          <a:p>
            <a:pPr algn="ctr" defTabSz="914400">
              <a:lnSpc>
                <a:spcPct val="135000"/>
              </a:lnSpc>
              <a:tabLst>
                <a:tab algn="l" pos="0"/>
              </a:tabLst>
            </a:pPr>
            <a:r>
              <a:rPr b="0" lang="en-US" sz="1100" strike="noStrike" u="none">
                <a:solidFill>
                  <a:srgbClr val="5a625c"/>
                </a:solidFill>
                <a:effectLst/>
                <a:uFillTx/>
                <a:latin typeface="Calibri"/>
                <a:ea typeface="Calibri"/>
              </a:rPr>
              <a:t>Interval data capture</a:t>
            </a:r>
            <a:endParaRPr b="0" lang="en-US" sz="1100" strike="noStrike" u="none">
              <a:solidFill>
                <a:srgbClr val="000000"/>
              </a:solidFill>
              <a:effectLst/>
              <a:uFillTx/>
              <a:latin typeface="Arial"/>
            </a:endParaRPr>
          </a:p>
          <a:p>
            <a:pPr algn="ctr" defTabSz="914400">
              <a:lnSpc>
                <a:spcPct val="135000"/>
              </a:lnSpc>
              <a:tabLst>
                <a:tab algn="l" pos="0"/>
              </a:tabLst>
            </a:pPr>
            <a:r>
              <a:rPr b="0" lang="en-US" sz="1100" strike="noStrike" u="none">
                <a:solidFill>
                  <a:srgbClr val="5a625c"/>
                </a:solidFill>
                <a:effectLst/>
                <a:uFillTx/>
                <a:latin typeface="Calibri"/>
                <a:ea typeface="Calibri"/>
              </a:rPr>
              <a:t>M&amp;V baselines</a:t>
            </a:r>
            <a:endParaRPr b="0" lang="en-US" sz="1100" strike="noStrike" u="none">
              <a:solidFill>
                <a:srgbClr val="000000"/>
              </a:solidFill>
              <a:effectLst/>
              <a:uFillTx/>
              <a:latin typeface="Arial"/>
            </a:endParaRPr>
          </a:p>
          <a:p>
            <a:pPr algn="ctr" defTabSz="914400">
              <a:lnSpc>
                <a:spcPct val="135000"/>
              </a:lnSpc>
              <a:tabLst>
                <a:tab algn="l" pos="0"/>
              </a:tabLst>
            </a:pPr>
            <a:r>
              <a:rPr b="0" lang="en-US" sz="1100" strike="noStrike" u="none">
                <a:solidFill>
                  <a:srgbClr val="5a625c"/>
                </a:solidFill>
                <a:effectLst/>
                <a:uFillTx/>
                <a:latin typeface="Calibri"/>
                <a:ea typeface="Calibri"/>
              </a:rPr>
              <a:t>Utility connectivity</a:t>
            </a:r>
            <a:endParaRPr b="0" lang="en-US" sz="1100" strike="noStrike" u="none">
              <a:solidFill>
                <a:srgbClr val="000000"/>
              </a:solidFill>
              <a:effectLst/>
              <a:uFillTx/>
              <a:latin typeface="Arial"/>
            </a:endParaRPr>
          </a:p>
          <a:p>
            <a:pPr algn="ctr" defTabSz="914400">
              <a:lnSpc>
                <a:spcPct val="135000"/>
              </a:lnSpc>
              <a:tabLst>
                <a:tab algn="l" pos="0"/>
              </a:tabLst>
            </a:pPr>
            <a:r>
              <a:rPr b="0" lang="en-US" sz="1100" strike="noStrike" u="none">
                <a:solidFill>
                  <a:srgbClr val="5a625c"/>
                </a:solidFill>
                <a:effectLst/>
                <a:uFillTx/>
                <a:latin typeface="Calibri"/>
                <a:ea typeface="Calibri"/>
              </a:rPr>
              <a:t>Granular signals</a:t>
            </a:r>
            <a:endParaRPr b="0" lang="en-US" sz="1100" strike="noStrike" u="none">
              <a:solidFill>
                <a:srgbClr val="000000"/>
              </a:solidFill>
              <a:effectLst/>
              <a:uFillTx/>
              <a:latin typeface="Arial"/>
            </a:endParaRPr>
          </a:p>
        </p:txBody>
      </p:sp>
      <p:sp>
        <p:nvSpPr>
          <p:cNvPr id="401" name="Shape 9"/>
          <p:cNvSpPr/>
          <p:nvPr/>
        </p:nvSpPr>
        <p:spPr>
          <a:xfrm>
            <a:off x="3684960" y="3931920"/>
            <a:ext cx="640080" cy="360"/>
          </a:xfrm>
          <a:prstGeom prst="line">
            <a:avLst/>
          </a:prstGeom>
          <a:ln w="19050">
            <a:solidFill>
              <a:srgbClr val="3dcd58"/>
            </a:solidFill>
            <a:round/>
            <a:tailEnd len="med" type="arrow" w="me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02" name="Shape 10"/>
          <p:cNvSpPr/>
          <p:nvPr/>
        </p:nvSpPr>
        <p:spPr>
          <a:xfrm>
            <a:off x="4462200" y="2331720"/>
            <a:ext cx="4114440" cy="1051200"/>
          </a:xfrm>
          <a:prstGeom prst="roundRect">
            <a:avLst>
              <a:gd name="adj" fmla="val 6957"/>
            </a:avLst>
          </a:prstGeom>
          <a:solidFill>
            <a:srgbClr val="f7f8f7"/>
          </a:solidFill>
          <a:ln w="1016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03" name="Text 11"/>
          <p:cNvSpPr/>
          <p:nvPr/>
        </p:nvSpPr>
        <p:spPr>
          <a:xfrm>
            <a:off x="4645080" y="2441520"/>
            <a:ext cx="374868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300" strike="noStrike" u="none">
                <a:solidFill>
                  <a:srgbClr val="1e2420"/>
                </a:solidFill>
                <a:effectLst/>
                <a:uFillTx/>
                <a:latin typeface="Calibri"/>
                <a:ea typeface="Calibri"/>
              </a:rPr>
              <a:t>Granular Carbon Performance</a:t>
            </a:r>
            <a:endParaRPr b="0" lang="en-US" sz="1300" strike="noStrike" u="none">
              <a:solidFill>
                <a:srgbClr val="000000"/>
              </a:solidFill>
              <a:effectLst/>
              <a:uFillTx/>
              <a:latin typeface="Arial"/>
            </a:endParaRPr>
          </a:p>
        </p:txBody>
      </p:sp>
      <p:sp>
        <p:nvSpPr>
          <p:cNvPr id="404" name="Text 12"/>
          <p:cNvSpPr/>
          <p:nvPr/>
        </p:nvSpPr>
        <p:spPr>
          <a:xfrm>
            <a:off x="4645080" y="2788920"/>
            <a:ext cx="374868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050" strike="noStrike" u="none">
                <a:solidFill>
                  <a:srgbClr val="5a625c"/>
                </a:solidFill>
                <a:effectLst/>
                <a:uFillTx/>
                <a:latin typeface="Calibri"/>
                <a:ea typeface="Calibri"/>
              </a:rPr>
              <a:t>Hourly emissions   ·   Activity-based factors   ·   Scope 3 hotspot mapping</a:t>
            </a:r>
            <a:endParaRPr b="0" lang="en-US" sz="1050" strike="noStrike" u="none">
              <a:solidFill>
                <a:srgbClr val="000000"/>
              </a:solidFill>
              <a:effectLst/>
              <a:uFillTx/>
              <a:latin typeface="Arial"/>
            </a:endParaRPr>
          </a:p>
        </p:txBody>
      </p:sp>
      <p:sp>
        <p:nvSpPr>
          <p:cNvPr id="405" name="Shape 13"/>
          <p:cNvSpPr/>
          <p:nvPr/>
        </p:nvSpPr>
        <p:spPr>
          <a:xfrm flipV="1">
            <a:off x="4325040" y="2857320"/>
            <a:ext cx="91440" cy="1074600"/>
          </a:xfrm>
          <a:prstGeom prst="line">
            <a:avLst/>
          </a:prstGeom>
          <a:ln w="12700">
            <a:solidFill>
              <a:srgbClr val="3dcd58"/>
            </a:solidFill>
            <a:prstDash val="dash"/>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406" name="Shape 14"/>
          <p:cNvSpPr/>
          <p:nvPr/>
        </p:nvSpPr>
        <p:spPr>
          <a:xfrm>
            <a:off x="4462200" y="3584520"/>
            <a:ext cx="4114440" cy="1051200"/>
          </a:xfrm>
          <a:prstGeom prst="roundRect">
            <a:avLst>
              <a:gd name="adj" fmla="val 6957"/>
            </a:avLst>
          </a:prstGeom>
          <a:solidFill>
            <a:srgbClr val="f7f8f7"/>
          </a:solidFill>
          <a:ln w="1016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07" name="Text 15"/>
          <p:cNvSpPr/>
          <p:nvPr/>
        </p:nvSpPr>
        <p:spPr>
          <a:xfrm>
            <a:off x="4645080" y="3694320"/>
            <a:ext cx="374868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300" strike="noStrike" u="none">
                <a:solidFill>
                  <a:srgbClr val="1e2420"/>
                </a:solidFill>
                <a:effectLst/>
                <a:uFillTx/>
                <a:latin typeface="Calibri"/>
                <a:ea typeface="Calibri"/>
              </a:rPr>
              <a:t>Energy Efficiency</a:t>
            </a:r>
            <a:endParaRPr b="0" lang="en-US" sz="1300" strike="noStrike" u="none">
              <a:solidFill>
                <a:srgbClr val="000000"/>
              </a:solidFill>
              <a:effectLst/>
              <a:uFillTx/>
              <a:latin typeface="Arial"/>
            </a:endParaRPr>
          </a:p>
        </p:txBody>
      </p:sp>
      <p:sp>
        <p:nvSpPr>
          <p:cNvPr id="408" name="Text 16"/>
          <p:cNvSpPr/>
          <p:nvPr/>
        </p:nvSpPr>
        <p:spPr>
          <a:xfrm>
            <a:off x="4645080" y="4041720"/>
            <a:ext cx="374868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050" strike="noStrike" u="none">
                <a:solidFill>
                  <a:srgbClr val="5a625c"/>
                </a:solidFill>
                <a:effectLst/>
                <a:uFillTx/>
                <a:latin typeface="Calibri"/>
                <a:ea typeface="Calibri"/>
              </a:rPr>
              <a:t>Baseline calibration   ·   Verified savings   ·   ECM targeting</a:t>
            </a:r>
            <a:endParaRPr b="0" lang="en-US" sz="1050" strike="noStrike" u="none">
              <a:solidFill>
                <a:srgbClr val="000000"/>
              </a:solidFill>
              <a:effectLst/>
              <a:uFillTx/>
              <a:latin typeface="Arial"/>
            </a:endParaRPr>
          </a:p>
        </p:txBody>
      </p:sp>
      <p:sp>
        <p:nvSpPr>
          <p:cNvPr id="409" name="Shape 17"/>
          <p:cNvSpPr/>
          <p:nvPr/>
        </p:nvSpPr>
        <p:spPr>
          <a:xfrm>
            <a:off x="4325040" y="3931920"/>
            <a:ext cx="91440" cy="178200"/>
          </a:xfrm>
          <a:prstGeom prst="line">
            <a:avLst/>
          </a:prstGeom>
          <a:ln w="12700">
            <a:solidFill>
              <a:srgbClr val="3dcd58"/>
            </a:solidFill>
            <a:prstDash val="dash"/>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410" name="Shape 18"/>
          <p:cNvSpPr/>
          <p:nvPr/>
        </p:nvSpPr>
        <p:spPr>
          <a:xfrm>
            <a:off x="4462200" y="4837320"/>
            <a:ext cx="4114440" cy="1051200"/>
          </a:xfrm>
          <a:prstGeom prst="roundRect">
            <a:avLst>
              <a:gd name="adj" fmla="val 6957"/>
            </a:avLst>
          </a:prstGeom>
          <a:solidFill>
            <a:srgbClr val="f7f8f7"/>
          </a:solidFill>
          <a:ln w="1016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11" name="Text 19"/>
          <p:cNvSpPr/>
          <p:nvPr/>
        </p:nvSpPr>
        <p:spPr>
          <a:xfrm>
            <a:off x="4645080" y="4946760"/>
            <a:ext cx="374868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300" strike="noStrike" u="none">
                <a:solidFill>
                  <a:srgbClr val="1e2420"/>
                </a:solidFill>
                <a:effectLst/>
                <a:uFillTx/>
                <a:latin typeface="Calibri"/>
                <a:ea typeface="Calibri"/>
              </a:rPr>
              <a:t>Energy Portfolio Management</a:t>
            </a:r>
            <a:endParaRPr b="0" lang="en-US" sz="1300" strike="noStrike" u="none">
              <a:solidFill>
                <a:srgbClr val="000000"/>
              </a:solidFill>
              <a:effectLst/>
              <a:uFillTx/>
              <a:latin typeface="Arial"/>
            </a:endParaRPr>
          </a:p>
        </p:txBody>
      </p:sp>
      <p:sp>
        <p:nvSpPr>
          <p:cNvPr id="412" name="Text 20"/>
          <p:cNvSpPr/>
          <p:nvPr/>
        </p:nvSpPr>
        <p:spPr>
          <a:xfrm>
            <a:off x="4645080" y="5294520"/>
            <a:ext cx="374868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050" strike="noStrike" u="none">
                <a:solidFill>
                  <a:srgbClr val="5a625c"/>
                </a:solidFill>
                <a:effectLst/>
                <a:uFillTx/>
                <a:latin typeface="Calibri"/>
                <a:ea typeface="Calibri"/>
              </a:rPr>
              <a:t>Invoice validation   ·   Budgets and reforecasts   ·   Variance explained</a:t>
            </a:r>
            <a:endParaRPr b="0" lang="en-US" sz="1050" strike="noStrike" u="none">
              <a:solidFill>
                <a:srgbClr val="000000"/>
              </a:solidFill>
              <a:effectLst/>
              <a:uFillTx/>
              <a:latin typeface="Arial"/>
            </a:endParaRPr>
          </a:p>
        </p:txBody>
      </p:sp>
      <p:sp>
        <p:nvSpPr>
          <p:cNvPr id="413" name="Shape 21"/>
          <p:cNvSpPr/>
          <p:nvPr/>
        </p:nvSpPr>
        <p:spPr>
          <a:xfrm>
            <a:off x="4325040" y="3931920"/>
            <a:ext cx="91440" cy="1431000"/>
          </a:xfrm>
          <a:prstGeom prst="line">
            <a:avLst/>
          </a:prstGeom>
          <a:ln w="12700">
            <a:solidFill>
              <a:srgbClr val="3dcd58"/>
            </a:solidFill>
            <a:prstDash val="dash"/>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414" name="Shape 22"/>
          <p:cNvSpPr/>
          <p:nvPr/>
        </p:nvSpPr>
        <p:spPr>
          <a:xfrm>
            <a:off x="4462200" y="6089760"/>
            <a:ext cx="4114440" cy="1051200"/>
          </a:xfrm>
          <a:prstGeom prst="roundRect">
            <a:avLst>
              <a:gd name="adj" fmla="val 6957"/>
            </a:avLst>
          </a:prstGeom>
          <a:solidFill>
            <a:srgbClr val="f7f8f7"/>
          </a:solidFill>
          <a:ln w="1016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15" name="Text 23"/>
          <p:cNvSpPr/>
          <p:nvPr/>
        </p:nvSpPr>
        <p:spPr>
          <a:xfrm>
            <a:off x="4645080" y="6199560"/>
            <a:ext cx="374868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300" strike="noStrike" u="none">
                <a:solidFill>
                  <a:srgbClr val="1e2420"/>
                </a:solidFill>
                <a:effectLst/>
                <a:uFillTx/>
                <a:latin typeface="Calibri"/>
                <a:ea typeface="Calibri"/>
              </a:rPr>
              <a:t>Demand Response &amp; Flexibility</a:t>
            </a:r>
            <a:endParaRPr b="0" lang="en-US" sz="1300" strike="noStrike" u="none">
              <a:solidFill>
                <a:srgbClr val="000000"/>
              </a:solidFill>
              <a:effectLst/>
              <a:uFillTx/>
              <a:latin typeface="Arial"/>
            </a:endParaRPr>
          </a:p>
        </p:txBody>
      </p:sp>
      <p:sp>
        <p:nvSpPr>
          <p:cNvPr id="416" name="Text 24"/>
          <p:cNvSpPr/>
          <p:nvPr/>
        </p:nvSpPr>
        <p:spPr>
          <a:xfrm>
            <a:off x="4645080" y="6546960"/>
            <a:ext cx="374868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050" strike="noStrike" u="none">
                <a:solidFill>
                  <a:srgbClr val="5a625c"/>
                </a:solidFill>
                <a:effectLst/>
                <a:uFillTx/>
                <a:latin typeface="Calibri"/>
                <a:ea typeface="Calibri"/>
              </a:rPr>
              <a:t>Peak shaving   ·   Grid signals   ·   Flexibility monetization</a:t>
            </a:r>
            <a:endParaRPr b="0" lang="en-US" sz="1050" strike="noStrike" u="none">
              <a:solidFill>
                <a:srgbClr val="000000"/>
              </a:solidFill>
              <a:effectLst/>
              <a:uFillTx/>
              <a:latin typeface="Arial"/>
            </a:endParaRPr>
          </a:p>
        </p:txBody>
      </p:sp>
      <p:sp>
        <p:nvSpPr>
          <p:cNvPr id="417" name="Shape 25"/>
          <p:cNvSpPr/>
          <p:nvPr/>
        </p:nvSpPr>
        <p:spPr>
          <a:xfrm>
            <a:off x="4325040" y="3931920"/>
            <a:ext cx="91440" cy="2683440"/>
          </a:xfrm>
          <a:prstGeom prst="line">
            <a:avLst/>
          </a:prstGeom>
          <a:ln w="12700">
            <a:solidFill>
              <a:srgbClr val="3dcd58"/>
            </a:solidFill>
            <a:prstDash val="dash"/>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418" name="PlaceHolder 1"/>
          <p:cNvSpPr>
            <a:spLocks noGrp="1"/>
          </p:cNvSpPr>
          <p:nvPr>
            <p:ph type="sldNum" idx="19"/>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B03A8175-45D1-45FC-9BFF-04F29215E0E1}" type="slidenum">
              <a:rPr b="1" lang="en-US" sz="800" strike="noStrike" u="none">
                <a:solidFill>
                  <a:srgbClr val="007a27"/>
                </a:solidFill>
                <a:effectLst/>
                <a:uFillTx/>
                <a:latin typeface="Calibri"/>
                <a:ea typeface="Calibri"/>
              </a:rPr>
              <a:t>17</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9"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420"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421" name="Shape 2"/>
          <p:cNvSpPr/>
          <p:nvPr/>
        </p:nvSpPr>
        <p:spPr>
          <a:xfrm>
            <a:off x="621720" y="311040"/>
            <a:ext cx="229032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22" name="Text 3"/>
          <p:cNvSpPr/>
          <p:nvPr/>
        </p:nvSpPr>
        <p:spPr>
          <a:xfrm>
            <a:off x="804600" y="329040"/>
            <a:ext cx="196092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EXECUTIVE SUMMARY</a:t>
            </a:r>
            <a:endParaRPr b="0" lang="en-US" sz="950" strike="noStrike" u="none">
              <a:solidFill>
                <a:srgbClr val="000000"/>
              </a:solidFill>
              <a:effectLst/>
              <a:uFillTx/>
              <a:latin typeface="Arial"/>
            </a:endParaRPr>
          </a:p>
        </p:txBody>
      </p:sp>
      <p:sp>
        <p:nvSpPr>
          <p:cNvPr id="423"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The convergence math: 1 + 1 + 1 = 10</a:t>
            </a:r>
            <a:endParaRPr b="0" lang="en-US" sz="3200" strike="noStrike" u="none">
              <a:solidFill>
                <a:srgbClr val="000000"/>
              </a:solidFill>
              <a:effectLst/>
              <a:uFillTx/>
              <a:latin typeface="Arial"/>
            </a:endParaRPr>
          </a:p>
        </p:txBody>
      </p:sp>
      <p:sp>
        <p:nvSpPr>
          <p:cNvPr id="424"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Not 1+1=3. On one platform, three converged domains multiply, unlocking value none can deliver alone.</a:t>
            </a:r>
            <a:endParaRPr b="0" lang="en-US" sz="1250" strike="noStrike" u="none">
              <a:solidFill>
                <a:srgbClr val="000000"/>
              </a:solidFill>
              <a:effectLst/>
              <a:uFillTx/>
              <a:latin typeface="Arial"/>
            </a:endParaRPr>
          </a:p>
        </p:txBody>
      </p:sp>
      <p:sp>
        <p:nvSpPr>
          <p:cNvPr id="425"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26" name="Shape 7"/>
          <p:cNvSpPr/>
          <p:nvPr/>
        </p:nvSpPr>
        <p:spPr>
          <a:xfrm>
            <a:off x="621720" y="2084760"/>
            <a:ext cx="5336640" cy="4178520"/>
          </a:xfrm>
          <a:prstGeom prst="roundRect">
            <a:avLst>
              <a:gd name="adj" fmla="val 131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27" name="Shape 8"/>
          <p:cNvSpPr/>
          <p:nvPr/>
        </p:nvSpPr>
        <p:spPr>
          <a:xfrm>
            <a:off x="621720" y="2084760"/>
            <a:ext cx="533664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428" name="Text 9"/>
          <p:cNvSpPr/>
          <p:nvPr/>
        </p:nvSpPr>
        <p:spPr>
          <a:xfrm>
            <a:off x="822960" y="2286000"/>
            <a:ext cx="497088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THE THREE DOMAINS</a:t>
            </a:r>
            <a:endParaRPr b="0" lang="en-US" sz="900" strike="noStrike" u="none">
              <a:solidFill>
                <a:srgbClr val="000000"/>
              </a:solidFill>
              <a:effectLst/>
              <a:uFillTx/>
              <a:latin typeface="Arial"/>
            </a:endParaRPr>
          </a:p>
        </p:txBody>
      </p:sp>
      <p:sp>
        <p:nvSpPr>
          <p:cNvPr id="429" name="Text 10"/>
          <p:cNvSpPr/>
          <p:nvPr/>
        </p:nvSpPr>
        <p:spPr>
          <a:xfrm>
            <a:off x="822960" y="2569320"/>
            <a:ext cx="497088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400" strike="noStrike" u="none">
                <a:solidFill>
                  <a:srgbClr val="1e2420"/>
                </a:solidFill>
                <a:effectLst/>
                <a:uFillTx/>
                <a:latin typeface="Calibri"/>
                <a:ea typeface="Calibri"/>
              </a:rPr>
              <a:t>Sustainability + Energy &amp; Supply + Efficiency</a:t>
            </a:r>
            <a:endParaRPr b="0" lang="en-US" sz="1400" strike="noStrike" u="none">
              <a:solidFill>
                <a:srgbClr val="000000"/>
              </a:solidFill>
              <a:effectLst/>
              <a:uFillTx/>
              <a:latin typeface="Arial"/>
            </a:endParaRPr>
          </a:p>
        </p:txBody>
      </p:sp>
      <p:sp>
        <p:nvSpPr>
          <p:cNvPr id="430" name="Text 11"/>
          <p:cNvSpPr/>
          <p:nvPr/>
        </p:nvSpPr>
        <p:spPr>
          <a:xfrm>
            <a:off x="804600" y="3044880"/>
            <a:ext cx="497088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Each is strong alone. Together they are exponential.</a:t>
            </a:r>
            <a:endParaRPr b="0" lang="en-US" sz="1100" strike="noStrike" u="none">
              <a:solidFill>
                <a:srgbClr val="000000"/>
              </a:solidFill>
              <a:effectLst/>
              <a:uFillTx/>
              <a:latin typeface="Arial"/>
            </a:endParaRPr>
          </a:p>
        </p:txBody>
      </p:sp>
      <p:sp>
        <p:nvSpPr>
          <p:cNvPr id="431" name="Text 12"/>
          <p:cNvSpPr/>
          <p:nvPr/>
        </p:nvSpPr>
        <p:spPr>
          <a:xfrm>
            <a:off x="822960" y="3776400"/>
            <a:ext cx="497088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Sustainability: carbon inventory, disclosure and targets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Energy and Supply: procurement, contracts and invoices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Efficiency: ECM pipeline, budgets and verified savings</a:t>
            </a:r>
            <a:endParaRPr b="0" lang="en-US" sz="1100" strike="noStrike" u="none">
              <a:solidFill>
                <a:srgbClr val="000000"/>
              </a:solidFill>
              <a:effectLst/>
              <a:uFillTx/>
              <a:latin typeface="Arial"/>
            </a:endParaRPr>
          </a:p>
        </p:txBody>
      </p:sp>
      <p:sp>
        <p:nvSpPr>
          <p:cNvPr id="432" name="Shape 13"/>
          <p:cNvSpPr/>
          <p:nvPr/>
        </p:nvSpPr>
        <p:spPr>
          <a:xfrm>
            <a:off x="6233040" y="2084760"/>
            <a:ext cx="5336640" cy="4178520"/>
          </a:xfrm>
          <a:prstGeom prst="roundRect">
            <a:avLst>
              <a:gd name="adj" fmla="val 131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33" name="Shape 14"/>
          <p:cNvSpPr/>
          <p:nvPr/>
        </p:nvSpPr>
        <p:spPr>
          <a:xfrm>
            <a:off x="6233040" y="2084760"/>
            <a:ext cx="533664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434" name="Text 15"/>
          <p:cNvSpPr/>
          <p:nvPr/>
        </p:nvSpPr>
        <p:spPr>
          <a:xfrm>
            <a:off x="6434280" y="2286000"/>
            <a:ext cx="497088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WHAT ONLY CONVERGENCE UNLOCKS</a:t>
            </a:r>
            <a:endParaRPr b="0" lang="en-US" sz="900" strike="noStrike" u="none">
              <a:solidFill>
                <a:srgbClr val="000000"/>
              </a:solidFill>
              <a:effectLst/>
              <a:uFillTx/>
              <a:latin typeface="Arial"/>
            </a:endParaRPr>
          </a:p>
        </p:txBody>
      </p:sp>
      <p:sp>
        <p:nvSpPr>
          <p:cNvPr id="435" name="Text 16"/>
          <p:cNvSpPr/>
          <p:nvPr/>
        </p:nvSpPr>
        <p:spPr>
          <a:xfrm>
            <a:off x="6434280" y="2569320"/>
            <a:ext cx="497088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Exponential value</a:t>
            </a:r>
            <a:endParaRPr b="0" lang="en-US" sz="1600" strike="noStrike" u="none">
              <a:solidFill>
                <a:srgbClr val="000000"/>
              </a:solidFill>
              <a:effectLst/>
              <a:uFillTx/>
              <a:latin typeface="Arial"/>
            </a:endParaRPr>
          </a:p>
        </p:txBody>
      </p:sp>
      <p:sp>
        <p:nvSpPr>
          <p:cNvPr id="436" name="Text 17"/>
          <p:cNvSpPr/>
          <p:nvPr/>
        </p:nvSpPr>
        <p:spPr>
          <a:xfrm>
            <a:off x="6415920" y="3044880"/>
            <a:ext cx="497088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Combinations no standalone product can deliver.</a:t>
            </a:r>
            <a:endParaRPr b="0" lang="en-US" sz="1100" strike="noStrike" u="none">
              <a:solidFill>
                <a:srgbClr val="000000"/>
              </a:solidFill>
              <a:effectLst/>
              <a:uFillTx/>
              <a:latin typeface="Arial"/>
            </a:endParaRPr>
          </a:p>
        </p:txBody>
      </p:sp>
      <p:sp>
        <p:nvSpPr>
          <p:cNvPr id="437" name="Text 18"/>
          <p:cNvSpPr/>
          <p:nvPr/>
        </p:nvSpPr>
        <p:spPr>
          <a:xfrm>
            <a:off x="6434280" y="3776400"/>
            <a:ext cx="497088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Sustainability + Energy &amp; Supply: disclosures wired to live invoices and contracts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Energy &amp; Supply + Efficiency: budgets that already reflect every ECM in the pipeline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Efficiency + Sustainability: closed loop M&amp;V from carbon goal to verified savings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All three + AI agents: decision ready answers across the whole estate, in minutes</a:t>
            </a:r>
            <a:endParaRPr b="0" lang="en-US" sz="1100" strike="noStrike" u="none">
              <a:solidFill>
                <a:srgbClr val="000000"/>
              </a:solidFill>
              <a:effectLst/>
              <a:uFillTx/>
              <a:latin typeface="Arial"/>
            </a:endParaRPr>
          </a:p>
        </p:txBody>
      </p:sp>
      <p:sp>
        <p:nvSpPr>
          <p:cNvPr id="438" name="Shape 19"/>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39" name="Text 20"/>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440" name="Text 21"/>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441" name="PlaceHolder 1"/>
          <p:cNvSpPr>
            <a:spLocks noGrp="1"/>
          </p:cNvSpPr>
          <p:nvPr>
            <p:ph type="sldNum" idx="20"/>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244F8AFD-A00D-452A-B0C8-9A0BB088A8B9}" type="slidenum">
              <a:rPr b="1" lang="en-US" sz="800" strike="noStrike" u="none">
                <a:solidFill>
                  <a:srgbClr val="007a27"/>
                </a:solidFill>
                <a:effectLst/>
                <a:uFillTx/>
                <a:latin typeface="Calibri"/>
                <a:ea typeface="Calibri"/>
              </a:rPr>
              <a:t>18</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c3b25"/>
        </a:solidFill>
      </p:bgPr>
    </p:bg>
    <p:spTree>
      <p:nvGrpSpPr>
        <p:cNvPr id="1" name=""/>
        <p:cNvGrpSpPr/>
        <p:nvPr/>
      </p:nvGrpSpPr>
      <p:grpSpPr>
        <a:xfrm>
          <a:off x="0" y="0"/>
          <a:ext cx="0" cy="0"/>
          <a:chOff x="0" y="0"/>
          <a:chExt cx="0" cy="0"/>
        </a:xfrm>
      </p:grpSpPr>
      <p:sp>
        <p:nvSpPr>
          <p:cNvPr id="442" name="Text 0"/>
          <p:cNvSpPr/>
          <p:nvPr/>
        </p:nvSpPr>
        <p:spPr>
          <a:xfrm>
            <a:off x="621720" y="457200"/>
            <a:ext cx="10947600" cy="86832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2600" strike="noStrike" u="none">
                <a:solidFill>
                  <a:srgbClr val="3dcd58"/>
                </a:solidFill>
                <a:effectLst/>
                <a:uFillTx/>
                <a:latin typeface="Calibri"/>
                <a:ea typeface="Calibri"/>
              </a:rPr>
              <a:t>Two Families, </a:t>
            </a:r>
            <a:r>
              <a:rPr b="1" lang="en-US" sz="2600" strike="noStrike" u="none">
                <a:solidFill>
                  <a:srgbClr val="ffffff"/>
                </a:solidFill>
                <a:effectLst/>
                <a:uFillTx/>
                <a:latin typeface="Calibri"/>
                <a:ea typeface="Calibri"/>
              </a:rPr>
              <a:t>One</a:t>
            </a:r>
            <a:r>
              <a:rPr b="1" lang="en-US" sz="2600" strike="noStrike" u="none">
                <a:solidFill>
                  <a:srgbClr val="3dcd58"/>
                </a:solidFill>
                <a:effectLst/>
                <a:uFillTx/>
                <a:latin typeface="Calibri"/>
                <a:ea typeface="Calibri"/>
              </a:rPr>
              <a:t> Platform: The Convergence in Practice</a:t>
            </a:r>
            <a:endParaRPr b="0" lang="en-US" sz="2600" strike="noStrike" u="none">
              <a:solidFill>
                <a:srgbClr val="ffffff"/>
              </a:solidFill>
              <a:effectLst/>
              <a:uFillTx/>
              <a:latin typeface="Arial"/>
            </a:endParaRPr>
          </a:p>
        </p:txBody>
      </p:sp>
      <p:sp>
        <p:nvSpPr>
          <p:cNvPr id="443" name="Text 1"/>
          <p:cNvSpPr/>
          <p:nvPr/>
        </p:nvSpPr>
        <p:spPr>
          <a:xfrm>
            <a:off x="621720" y="1463040"/>
            <a:ext cx="10947600" cy="5482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2700" spc="99" strike="noStrike" u="none">
                <a:solidFill>
                  <a:srgbClr val="ffffff"/>
                </a:solidFill>
                <a:effectLst/>
                <a:uFillTx/>
                <a:latin typeface="Calibri"/>
                <a:ea typeface="Calibri"/>
              </a:rPr>
              <a:t>RESOURCE </a:t>
            </a:r>
            <a:r>
              <a:rPr b="1" lang="en-US" sz="2700" spc="99" strike="noStrike" u="none">
                <a:solidFill>
                  <a:srgbClr val="ffffff"/>
                </a:solidFill>
                <a:effectLst/>
                <a:uFillTx/>
                <a:latin typeface="Calibri"/>
                <a:ea typeface="Calibri"/>
              </a:rPr>
              <a:t>ADVISOR</a:t>
            </a:r>
            <a:r>
              <a:rPr b="1" lang="en-US" sz="2700" spc="99" strike="noStrike" u="none" baseline="30000">
                <a:solidFill>
                  <a:srgbClr val="ffffff"/>
                </a:solidFill>
                <a:effectLst/>
                <a:uFillTx/>
                <a:latin typeface="Calibri"/>
                <a:ea typeface="Calibri"/>
              </a:rPr>
              <a:t>+</a:t>
            </a:r>
            <a:endParaRPr b="0" lang="en-US" sz="2700" strike="noStrike" u="none">
              <a:solidFill>
                <a:srgbClr val="ffffff"/>
              </a:solidFill>
              <a:effectLst/>
              <a:uFillTx/>
              <a:latin typeface="Arial"/>
            </a:endParaRPr>
          </a:p>
        </p:txBody>
      </p:sp>
      <p:sp>
        <p:nvSpPr>
          <p:cNvPr id="444" name="Text 2"/>
          <p:cNvSpPr/>
          <p:nvPr/>
        </p:nvSpPr>
        <p:spPr>
          <a:xfrm>
            <a:off x="621720" y="2240280"/>
            <a:ext cx="5222160" cy="2372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rgbClr val="cdfc57"/>
                </a:solidFill>
                <a:effectLst/>
                <a:uFillTx/>
                <a:latin typeface="Calibri"/>
                <a:ea typeface="Calibri"/>
              </a:rPr>
              <a:t>Sustainability</a:t>
            </a:r>
            <a:endParaRPr b="0" lang="en-US" sz="1300" strike="noStrike" u="none">
              <a:solidFill>
                <a:srgbClr val="ffffff"/>
              </a:solidFill>
              <a:effectLst/>
              <a:uFillTx/>
              <a:latin typeface="Arial"/>
            </a:endParaRPr>
          </a:p>
        </p:txBody>
      </p:sp>
      <p:sp>
        <p:nvSpPr>
          <p:cNvPr id="445" name="Text 3"/>
          <p:cNvSpPr/>
          <p:nvPr/>
        </p:nvSpPr>
        <p:spPr>
          <a:xfrm>
            <a:off x="621720" y="2477880"/>
            <a:ext cx="5222160" cy="1825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000" strike="noStrike" u="none">
                <a:solidFill>
                  <a:srgbClr val="bfd9c9"/>
                </a:solidFill>
                <a:effectLst/>
                <a:uFillTx/>
                <a:latin typeface="Calibri"/>
                <a:ea typeface="Calibri"/>
              </a:rPr>
              <a:t>product family</a:t>
            </a:r>
            <a:endParaRPr b="0" lang="en-US" sz="1000" strike="noStrike" u="none">
              <a:solidFill>
                <a:srgbClr val="ffffff"/>
              </a:solidFill>
              <a:effectLst/>
              <a:uFillTx/>
              <a:latin typeface="Arial"/>
            </a:endParaRPr>
          </a:p>
        </p:txBody>
      </p:sp>
      <p:sp>
        <p:nvSpPr>
          <p:cNvPr id="446" name="Shape 4"/>
          <p:cNvSpPr/>
          <p:nvPr/>
        </p:nvSpPr>
        <p:spPr>
          <a:xfrm>
            <a:off x="621720" y="2743200"/>
            <a:ext cx="2537640" cy="1234080"/>
          </a:xfrm>
          <a:prstGeom prst="roundRect">
            <a:avLst>
              <a:gd name="adj" fmla="val 2963"/>
            </a:avLst>
          </a:prstGeom>
          <a:solidFill>
            <a:srgbClr val="0f4a2e"/>
          </a:solidFill>
          <a:ln w="13970">
            <a:solidFill>
              <a:srgbClr val="cdfc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47" name="Text 5"/>
          <p:cNvSpPr/>
          <p:nvPr/>
        </p:nvSpPr>
        <p:spPr>
          <a:xfrm>
            <a:off x="694800" y="2743200"/>
            <a:ext cx="2391480" cy="123408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1100" spc="40" strike="noStrike" u="none">
                <a:solidFill>
                  <a:srgbClr val="ffffff"/>
                </a:solidFill>
                <a:effectLst/>
                <a:uFillTx/>
                <a:latin typeface="Calibri"/>
                <a:ea typeface="Calibri"/>
              </a:rPr>
              <a:t>CARBON PERFORMANCE</a:t>
            </a:r>
            <a:endParaRPr b="0" lang="en-US" sz="1100" strike="noStrike" u="none">
              <a:solidFill>
                <a:srgbClr val="ffffff"/>
              </a:solidFill>
              <a:effectLst/>
              <a:uFillTx/>
              <a:latin typeface="Arial"/>
            </a:endParaRPr>
          </a:p>
        </p:txBody>
      </p:sp>
      <p:sp>
        <p:nvSpPr>
          <p:cNvPr id="448" name="Shape 6"/>
          <p:cNvSpPr/>
          <p:nvPr/>
        </p:nvSpPr>
        <p:spPr>
          <a:xfrm>
            <a:off x="3306240" y="2743200"/>
            <a:ext cx="2537640" cy="1234080"/>
          </a:xfrm>
          <a:prstGeom prst="roundRect">
            <a:avLst>
              <a:gd name="adj" fmla="val 2963"/>
            </a:avLst>
          </a:prstGeom>
          <a:solidFill>
            <a:srgbClr val="0f4a2e"/>
          </a:solidFill>
          <a:ln w="13970">
            <a:solidFill>
              <a:srgbClr val="cdfc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49" name="Text 7"/>
          <p:cNvSpPr/>
          <p:nvPr/>
        </p:nvSpPr>
        <p:spPr>
          <a:xfrm>
            <a:off x="3379320" y="2743200"/>
            <a:ext cx="2391480" cy="123408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1100" spc="40" strike="noStrike" u="none">
                <a:solidFill>
                  <a:srgbClr val="ffffff"/>
                </a:solidFill>
                <a:effectLst/>
                <a:uFillTx/>
                <a:latin typeface="Calibri"/>
                <a:ea typeface="Calibri"/>
              </a:rPr>
              <a:t>SUPPLY CHAIN</a:t>
            </a:r>
            <a:endParaRPr b="0" lang="en-US" sz="1100" strike="noStrike" u="none">
              <a:solidFill>
                <a:srgbClr val="ffffff"/>
              </a:solidFill>
              <a:effectLst/>
              <a:uFillTx/>
              <a:latin typeface="Arial"/>
            </a:endParaRPr>
          </a:p>
        </p:txBody>
      </p:sp>
      <p:sp>
        <p:nvSpPr>
          <p:cNvPr id="450" name="Shape 8"/>
          <p:cNvSpPr/>
          <p:nvPr/>
        </p:nvSpPr>
        <p:spPr>
          <a:xfrm>
            <a:off x="621720" y="4123800"/>
            <a:ext cx="2537640" cy="1234080"/>
          </a:xfrm>
          <a:prstGeom prst="roundRect">
            <a:avLst>
              <a:gd name="adj" fmla="val 2963"/>
            </a:avLst>
          </a:prstGeom>
          <a:solidFill>
            <a:srgbClr val="0f4a2e"/>
          </a:solidFill>
          <a:ln w="13970">
            <a:solidFill>
              <a:srgbClr val="cdfc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51" name="Text 9"/>
          <p:cNvSpPr/>
          <p:nvPr/>
        </p:nvSpPr>
        <p:spPr>
          <a:xfrm>
            <a:off x="694800" y="4123800"/>
            <a:ext cx="2391480" cy="123408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1100" spc="40" strike="noStrike" u="none">
                <a:solidFill>
                  <a:srgbClr val="ffffff"/>
                </a:solidFill>
                <a:effectLst/>
                <a:uFillTx/>
                <a:latin typeface="Calibri"/>
                <a:ea typeface="Calibri"/>
              </a:rPr>
              <a:t>REPORTING &amp; COMPLIANCE</a:t>
            </a:r>
            <a:endParaRPr b="0" lang="en-US" sz="1100" strike="noStrike" u="none">
              <a:solidFill>
                <a:srgbClr val="ffffff"/>
              </a:solidFill>
              <a:effectLst/>
              <a:uFillTx/>
              <a:latin typeface="Arial"/>
            </a:endParaRPr>
          </a:p>
        </p:txBody>
      </p:sp>
      <p:sp>
        <p:nvSpPr>
          <p:cNvPr id="452" name="Shape 10"/>
          <p:cNvSpPr/>
          <p:nvPr/>
        </p:nvSpPr>
        <p:spPr>
          <a:xfrm>
            <a:off x="3306240" y="4123800"/>
            <a:ext cx="2537640" cy="1234080"/>
          </a:xfrm>
          <a:prstGeom prst="roundRect">
            <a:avLst>
              <a:gd name="adj" fmla="val 2963"/>
            </a:avLst>
          </a:prstGeom>
          <a:solidFill>
            <a:srgbClr val="0f4a2e"/>
          </a:solidFill>
          <a:ln w="13970">
            <a:solidFill>
              <a:srgbClr val="cdfc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53" name="Text 11"/>
          <p:cNvSpPr/>
          <p:nvPr/>
        </p:nvSpPr>
        <p:spPr>
          <a:xfrm>
            <a:off x="3379320" y="4123800"/>
            <a:ext cx="2391480" cy="123408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1100" spc="40" strike="noStrike" u="none">
                <a:solidFill>
                  <a:srgbClr val="ffffff"/>
                </a:solidFill>
                <a:effectLst/>
                <a:uFillTx/>
                <a:latin typeface="Calibri"/>
                <a:ea typeface="Calibri"/>
              </a:rPr>
              <a:t>CLIMATE RISK</a:t>
            </a:r>
            <a:endParaRPr b="0" lang="en-US" sz="1100" strike="noStrike" u="none">
              <a:solidFill>
                <a:srgbClr val="ffffff"/>
              </a:solidFill>
              <a:effectLst/>
              <a:uFillTx/>
              <a:latin typeface="Arial"/>
            </a:endParaRPr>
          </a:p>
        </p:txBody>
      </p:sp>
      <p:sp>
        <p:nvSpPr>
          <p:cNvPr id="454" name="Text 12"/>
          <p:cNvSpPr/>
          <p:nvPr/>
        </p:nvSpPr>
        <p:spPr>
          <a:xfrm>
            <a:off x="6347160" y="2240280"/>
            <a:ext cx="5222160" cy="2372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rgbClr val="3dcd58"/>
                </a:solidFill>
                <a:effectLst/>
                <a:uFillTx/>
                <a:latin typeface="Calibri"/>
                <a:ea typeface="Calibri"/>
              </a:rPr>
              <a:t>Energy &amp; Efficiency</a:t>
            </a:r>
            <a:endParaRPr b="0" lang="en-US" sz="1300" strike="noStrike" u="none">
              <a:solidFill>
                <a:srgbClr val="ffffff"/>
              </a:solidFill>
              <a:effectLst/>
              <a:uFillTx/>
              <a:latin typeface="Arial"/>
            </a:endParaRPr>
          </a:p>
        </p:txBody>
      </p:sp>
      <p:sp>
        <p:nvSpPr>
          <p:cNvPr id="455" name="Text 13"/>
          <p:cNvSpPr/>
          <p:nvPr/>
        </p:nvSpPr>
        <p:spPr>
          <a:xfrm>
            <a:off x="6347160" y="2477880"/>
            <a:ext cx="5222160" cy="1825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000" strike="noStrike" u="none">
                <a:solidFill>
                  <a:srgbClr val="bfd9c9"/>
                </a:solidFill>
                <a:effectLst/>
                <a:uFillTx/>
                <a:latin typeface="Calibri"/>
                <a:ea typeface="Calibri"/>
              </a:rPr>
              <a:t>product family</a:t>
            </a:r>
            <a:endParaRPr b="0" lang="en-US" sz="1000" strike="noStrike" u="none">
              <a:solidFill>
                <a:srgbClr val="ffffff"/>
              </a:solidFill>
              <a:effectLst/>
              <a:uFillTx/>
              <a:latin typeface="Arial"/>
            </a:endParaRPr>
          </a:p>
        </p:txBody>
      </p:sp>
      <p:sp>
        <p:nvSpPr>
          <p:cNvPr id="456" name="Shape 14"/>
          <p:cNvSpPr/>
          <p:nvPr/>
        </p:nvSpPr>
        <p:spPr>
          <a:xfrm>
            <a:off x="6347160" y="2743200"/>
            <a:ext cx="1643040" cy="749520"/>
          </a:xfrm>
          <a:prstGeom prst="roundRect">
            <a:avLst>
              <a:gd name="adj" fmla="val 4878"/>
            </a:avLst>
          </a:prstGeom>
          <a:solidFill>
            <a:srgbClr val="0f4a2e"/>
          </a:solidFill>
          <a:ln w="1397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57" name="Text 15"/>
          <p:cNvSpPr/>
          <p:nvPr/>
        </p:nvSpPr>
        <p:spPr>
          <a:xfrm>
            <a:off x="6420600" y="2743200"/>
            <a:ext cx="1496520" cy="74952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900" spc="40" strike="noStrike" u="none">
                <a:solidFill>
                  <a:srgbClr val="ffffff"/>
                </a:solidFill>
                <a:effectLst/>
                <a:uFillTx/>
                <a:latin typeface="Calibri"/>
                <a:ea typeface="Calibri"/>
              </a:rPr>
              <a:t>ENERGY EFFICIENCY</a:t>
            </a:r>
            <a:endParaRPr b="0" lang="en-US" sz="900" strike="noStrike" u="none">
              <a:solidFill>
                <a:srgbClr val="ffffff"/>
              </a:solidFill>
              <a:effectLst/>
              <a:uFillTx/>
              <a:latin typeface="Arial"/>
            </a:endParaRPr>
          </a:p>
        </p:txBody>
      </p:sp>
      <p:sp>
        <p:nvSpPr>
          <p:cNvPr id="458" name="Shape 16"/>
          <p:cNvSpPr/>
          <p:nvPr/>
        </p:nvSpPr>
        <p:spPr>
          <a:xfrm>
            <a:off x="8137080" y="2743200"/>
            <a:ext cx="1643040" cy="749520"/>
          </a:xfrm>
          <a:prstGeom prst="roundRect">
            <a:avLst>
              <a:gd name="adj" fmla="val 4878"/>
            </a:avLst>
          </a:prstGeom>
          <a:solidFill>
            <a:srgbClr val="0f4a2e"/>
          </a:solidFill>
          <a:ln w="1397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59" name="Text 17"/>
          <p:cNvSpPr/>
          <p:nvPr/>
        </p:nvSpPr>
        <p:spPr>
          <a:xfrm>
            <a:off x="8210160" y="2743200"/>
            <a:ext cx="1496520" cy="74952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900" spc="40" strike="noStrike" u="none">
                <a:solidFill>
                  <a:srgbClr val="ffffff"/>
                </a:solidFill>
                <a:effectLst/>
                <a:uFillTx/>
                <a:latin typeface="Calibri"/>
                <a:ea typeface="Calibri"/>
              </a:rPr>
              <a:t>CAPITAL ASSET PLANNING</a:t>
            </a:r>
            <a:endParaRPr b="0" lang="en-US" sz="900" strike="noStrike" u="none">
              <a:solidFill>
                <a:srgbClr val="ffffff"/>
              </a:solidFill>
              <a:effectLst/>
              <a:uFillTx/>
              <a:latin typeface="Arial"/>
            </a:endParaRPr>
          </a:p>
        </p:txBody>
      </p:sp>
      <p:sp>
        <p:nvSpPr>
          <p:cNvPr id="460" name="Shape 18"/>
          <p:cNvSpPr/>
          <p:nvPr/>
        </p:nvSpPr>
        <p:spPr>
          <a:xfrm>
            <a:off x="9926640" y="2743200"/>
            <a:ext cx="1643040" cy="749520"/>
          </a:xfrm>
          <a:prstGeom prst="roundRect">
            <a:avLst>
              <a:gd name="adj" fmla="val 4878"/>
            </a:avLst>
          </a:prstGeom>
          <a:solidFill>
            <a:srgbClr val="0f4a2e"/>
          </a:solidFill>
          <a:ln w="1397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61" name="Text 19"/>
          <p:cNvSpPr/>
          <p:nvPr/>
        </p:nvSpPr>
        <p:spPr>
          <a:xfrm>
            <a:off x="9999720" y="2743200"/>
            <a:ext cx="1496520" cy="74952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900" spc="40" strike="noStrike" u="none">
                <a:solidFill>
                  <a:srgbClr val="ffffff"/>
                </a:solidFill>
                <a:effectLst/>
                <a:uFillTx/>
                <a:latin typeface="Calibri"/>
                <a:ea typeface="Calibri"/>
              </a:rPr>
              <a:t>METERING &amp; INTERVAL DATA</a:t>
            </a:r>
            <a:endParaRPr b="0" lang="en-US" sz="900" strike="noStrike" u="none">
              <a:solidFill>
                <a:srgbClr val="ffffff"/>
              </a:solidFill>
              <a:effectLst/>
              <a:uFillTx/>
              <a:latin typeface="Arial"/>
            </a:endParaRPr>
          </a:p>
        </p:txBody>
      </p:sp>
      <p:sp>
        <p:nvSpPr>
          <p:cNvPr id="462" name="Shape 20"/>
          <p:cNvSpPr/>
          <p:nvPr/>
        </p:nvSpPr>
        <p:spPr>
          <a:xfrm>
            <a:off x="6347160" y="3639240"/>
            <a:ext cx="1643040" cy="749520"/>
          </a:xfrm>
          <a:prstGeom prst="roundRect">
            <a:avLst>
              <a:gd name="adj" fmla="val 4878"/>
            </a:avLst>
          </a:prstGeom>
          <a:solidFill>
            <a:srgbClr val="0f4a2e"/>
          </a:solidFill>
          <a:ln w="1397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63" name="Text 21"/>
          <p:cNvSpPr/>
          <p:nvPr/>
        </p:nvSpPr>
        <p:spPr>
          <a:xfrm>
            <a:off x="6420600" y="3639240"/>
            <a:ext cx="1496520" cy="74952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900" spc="40" strike="noStrike" u="none">
                <a:solidFill>
                  <a:srgbClr val="ffffff"/>
                </a:solidFill>
                <a:effectLst/>
                <a:uFillTx/>
                <a:latin typeface="Calibri"/>
                <a:ea typeface="Calibri"/>
              </a:rPr>
              <a:t>ENERGY PORTFOLIO MANAGEMENT</a:t>
            </a:r>
            <a:endParaRPr b="0" lang="en-US" sz="900" strike="noStrike" u="none">
              <a:solidFill>
                <a:srgbClr val="ffffff"/>
              </a:solidFill>
              <a:effectLst/>
              <a:uFillTx/>
              <a:latin typeface="Arial"/>
            </a:endParaRPr>
          </a:p>
        </p:txBody>
      </p:sp>
      <p:sp>
        <p:nvSpPr>
          <p:cNvPr id="464" name="Shape 22"/>
          <p:cNvSpPr/>
          <p:nvPr/>
        </p:nvSpPr>
        <p:spPr>
          <a:xfrm>
            <a:off x="8137080" y="3639240"/>
            <a:ext cx="1643040" cy="749520"/>
          </a:xfrm>
          <a:prstGeom prst="roundRect">
            <a:avLst>
              <a:gd name="adj" fmla="val 4878"/>
            </a:avLst>
          </a:prstGeom>
          <a:solidFill>
            <a:srgbClr val="0f4a2e"/>
          </a:solidFill>
          <a:ln w="1397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65" name="Text 23"/>
          <p:cNvSpPr/>
          <p:nvPr/>
        </p:nvSpPr>
        <p:spPr>
          <a:xfrm>
            <a:off x="8210160" y="3639240"/>
            <a:ext cx="1496520" cy="74952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900" spc="40" strike="noStrike" u="none">
                <a:solidFill>
                  <a:srgbClr val="ffffff"/>
                </a:solidFill>
                <a:effectLst/>
                <a:uFillTx/>
                <a:latin typeface="Calibri"/>
                <a:ea typeface="Calibri"/>
              </a:rPr>
              <a:t>UTILITY DATA MANAGEMENT</a:t>
            </a:r>
            <a:endParaRPr b="0" lang="en-US" sz="900" strike="noStrike" u="none">
              <a:solidFill>
                <a:srgbClr val="ffffff"/>
              </a:solidFill>
              <a:effectLst/>
              <a:uFillTx/>
              <a:latin typeface="Arial"/>
            </a:endParaRPr>
          </a:p>
        </p:txBody>
      </p:sp>
      <p:sp>
        <p:nvSpPr>
          <p:cNvPr id="466" name="Shape 24"/>
          <p:cNvSpPr/>
          <p:nvPr/>
        </p:nvSpPr>
        <p:spPr>
          <a:xfrm>
            <a:off x="9926640" y="3639240"/>
            <a:ext cx="1643040" cy="749520"/>
          </a:xfrm>
          <a:prstGeom prst="roundRect">
            <a:avLst>
              <a:gd name="adj" fmla="val 4878"/>
            </a:avLst>
          </a:prstGeom>
          <a:solidFill>
            <a:srgbClr val="0f4a2e"/>
          </a:solidFill>
          <a:ln w="1397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67" name="Text 25"/>
          <p:cNvSpPr/>
          <p:nvPr/>
        </p:nvSpPr>
        <p:spPr>
          <a:xfrm>
            <a:off x="9999720" y="3639240"/>
            <a:ext cx="1496520" cy="74952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900" spc="40" strike="noStrike" u="none">
                <a:solidFill>
                  <a:srgbClr val="ffffff"/>
                </a:solidFill>
                <a:effectLst/>
                <a:uFillTx/>
                <a:latin typeface="Calibri"/>
                <a:ea typeface="Calibri"/>
              </a:rPr>
              <a:t>BUDGET &amp; TARIFF INTELLIGENCE</a:t>
            </a:r>
            <a:endParaRPr b="0" lang="en-US" sz="900" strike="noStrike" u="none">
              <a:solidFill>
                <a:srgbClr val="ffffff"/>
              </a:solidFill>
              <a:effectLst/>
              <a:uFillTx/>
              <a:latin typeface="Arial"/>
            </a:endParaRPr>
          </a:p>
        </p:txBody>
      </p:sp>
      <p:sp>
        <p:nvSpPr>
          <p:cNvPr id="468" name="Shape 26"/>
          <p:cNvSpPr/>
          <p:nvPr/>
        </p:nvSpPr>
        <p:spPr>
          <a:xfrm>
            <a:off x="6347160" y="4535280"/>
            <a:ext cx="1643040" cy="749520"/>
          </a:xfrm>
          <a:prstGeom prst="roundRect">
            <a:avLst>
              <a:gd name="adj" fmla="val 4878"/>
            </a:avLst>
          </a:prstGeom>
          <a:solidFill>
            <a:srgbClr val="0f4a2e"/>
          </a:solidFill>
          <a:ln w="1397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69" name="Text 27"/>
          <p:cNvSpPr/>
          <p:nvPr/>
        </p:nvSpPr>
        <p:spPr>
          <a:xfrm>
            <a:off x="6420600" y="4535280"/>
            <a:ext cx="1496520" cy="74952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900" spc="40" strike="noStrike" u="none">
                <a:solidFill>
                  <a:srgbClr val="ffffff"/>
                </a:solidFill>
                <a:effectLst/>
                <a:uFillTx/>
                <a:latin typeface="Calibri"/>
                <a:ea typeface="Calibri"/>
              </a:rPr>
              <a:t>SOURCING &amp; PROCUREMENT</a:t>
            </a:r>
            <a:endParaRPr b="0" lang="en-US" sz="900" strike="noStrike" u="none">
              <a:solidFill>
                <a:srgbClr val="ffffff"/>
              </a:solidFill>
              <a:effectLst/>
              <a:uFillTx/>
              <a:latin typeface="Arial"/>
            </a:endParaRPr>
          </a:p>
        </p:txBody>
      </p:sp>
      <p:sp>
        <p:nvSpPr>
          <p:cNvPr id="470" name="Shape 28"/>
          <p:cNvSpPr/>
          <p:nvPr/>
        </p:nvSpPr>
        <p:spPr>
          <a:xfrm>
            <a:off x="8137080" y="4535280"/>
            <a:ext cx="1643040" cy="749520"/>
          </a:xfrm>
          <a:prstGeom prst="roundRect">
            <a:avLst>
              <a:gd name="adj" fmla="val 4878"/>
            </a:avLst>
          </a:prstGeom>
          <a:solidFill>
            <a:srgbClr val="0f4a2e"/>
          </a:solidFill>
          <a:ln w="1397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71" name="Text 29"/>
          <p:cNvSpPr/>
          <p:nvPr/>
        </p:nvSpPr>
        <p:spPr>
          <a:xfrm>
            <a:off x="8210160" y="4535280"/>
            <a:ext cx="1496520" cy="74952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900" spc="40" strike="noStrike" u="none">
                <a:solidFill>
                  <a:srgbClr val="ffffff"/>
                </a:solidFill>
                <a:effectLst/>
                <a:uFillTx/>
                <a:latin typeface="Calibri"/>
                <a:ea typeface="Calibri"/>
              </a:rPr>
              <a:t>PPAS &amp; EACS</a:t>
            </a:r>
            <a:endParaRPr b="0" lang="en-US" sz="900" strike="noStrike" u="none">
              <a:solidFill>
                <a:srgbClr val="ffffff"/>
              </a:solidFill>
              <a:effectLst/>
              <a:uFillTx/>
              <a:latin typeface="Arial"/>
            </a:endParaRPr>
          </a:p>
        </p:txBody>
      </p:sp>
      <p:sp>
        <p:nvSpPr>
          <p:cNvPr id="472" name="Shape 30"/>
          <p:cNvSpPr/>
          <p:nvPr/>
        </p:nvSpPr>
        <p:spPr>
          <a:xfrm>
            <a:off x="621720" y="5532120"/>
            <a:ext cx="10947600" cy="383760"/>
          </a:xfrm>
          <a:prstGeom prst="roundRect">
            <a:avLst>
              <a:gd name="adj" fmla="val 19048"/>
            </a:avLst>
          </a:prstGeom>
          <a:solidFill>
            <a:srgbClr val="1a4a2e"/>
          </a:solidFill>
          <a:ln w="12700">
            <a:solidFill>
              <a:srgbClr val="cdfc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73" name="Text 31"/>
          <p:cNvSpPr/>
          <p:nvPr/>
        </p:nvSpPr>
        <p:spPr>
          <a:xfrm>
            <a:off x="621720" y="5532120"/>
            <a:ext cx="1094760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rgbClr val="cdfc57"/>
                </a:solidFill>
                <a:effectLst/>
                <a:uFillTx/>
                <a:latin typeface="Calibri"/>
                <a:ea typeface="Calibri"/>
              </a:rPr>
              <a:t>All products run on the same AI-native RA+ platform layer</a:t>
            </a:r>
            <a:endParaRPr b="0" lang="en-US" sz="1300" strike="noStrike" u="none">
              <a:solidFill>
                <a:srgbClr val="ffffff"/>
              </a:solidFill>
              <a:effectLst/>
              <a:uFillTx/>
              <a:latin typeface="Arial"/>
            </a:endParaRPr>
          </a:p>
        </p:txBody>
      </p:sp>
      <p:sp>
        <p:nvSpPr>
          <p:cNvPr id="474" name="Text 32"/>
          <p:cNvSpPr/>
          <p:nvPr/>
        </p:nvSpPr>
        <p:spPr>
          <a:xfrm>
            <a:off x="8461080" y="6080760"/>
            <a:ext cx="310860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1400" strike="noStrike" u="none">
                <a:solidFill>
                  <a:srgbClr val="3dcd58"/>
                </a:solidFill>
                <a:effectLst/>
                <a:uFillTx/>
                <a:latin typeface="Calibri"/>
                <a:ea typeface="Calibri"/>
              </a:rPr>
              <a:t>SE </a:t>
            </a:r>
            <a:r>
              <a:rPr b="0" lang="en-US" sz="1400" strike="noStrike" u="none">
                <a:solidFill>
                  <a:srgbClr val="ffffff"/>
                </a:solidFill>
                <a:effectLst/>
                <a:uFillTx/>
                <a:latin typeface="Calibri"/>
                <a:ea typeface="Calibri"/>
              </a:rPr>
              <a:t>ADVISORY SERVICES</a:t>
            </a:r>
            <a:endParaRPr b="0" lang="en-US" sz="1400" strike="noStrike" u="none">
              <a:solidFill>
                <a:srgbClr val="ffffff"/>
              </a:solidFill>
              <a:effectLst/>
              <a:uFillTx/>
              <a:latin typeface="Arial"/>
            </a:endParaRPr>
          </a:p>
        </p:txBody>
      </p:sp>
      <p:sp>
        <p:nvSpPr>
          <p:cNvPr id="475" name="PlaceHolder 1"/>
          <p:cNvSpPr>
            <a:spLocks noGrp="1"/>
          </p:cNvSpPr>
          <p:nvPr>
            <p:ph type="sldNum" idx="21"/>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3dcd58"/>
                </a:solidFill>
                <a:effectLst/>
                <a:uFillTx/>
                <a:latin typeface="Calibri"/>
                <a:ea typeface="Calibri"/>
              </a:defRPr>
            </a:lvl1pPr>
          </a:lstStyle>
          <a:p>
            <a:pPr indent="0" algn="r" defTabSz="914400">
              <a:lnSpc>
                <a:spcPct val="100000"/>
              </a:lnSpc>
              <a:buNone/>
            </a:pPr>
            <a:fld id="{0BCEAFD4-A9DA-4B3C-8F21-F86EE08893DB}" type="slidenum">
              <a:rPr b="1" lang="en-US" sz="800" strike="noStrike" u="none">
                <a:solidFill>
                  <a:srgbClr val="3dcd58"/>
                </a:solidFill>
                <a:effectLst/>
                <a:uFillTx/>
                <a:latin typeface="Calibri"/>
                <a:ea typeface="Calibri"/>
              </a:rPr>
              <a:t>19</a:t>
            </a:fld>
            <a:endParaRPr b="0" lang="en-US" sz="800" strike="noStrike" u="non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5730"/>
        </a:solidFill>
      </p:bgPr>
    </p:bg>
    <p:spTree>
      <p:nvGrpSpPr>
        <p:cNvPr id="1" name=""/>
        <p:cNvGrpSpPr/>
        <p:nvPr/>
      </p:nvGrpSpPr>
      <p:grpSpPr>
        <a:xfrm>
          <a:off x="0" y="0"/>
          <a:ext cx="0" cy="0"/>
          <a:chOff x="0" y="0"/>
          <a:chExt cx="0" cy="0"/>
        </a:xfrm>
      </p:grpSpPr>
      <p:sp>
        <p:nvSpPr>
          <p:cNvPr id="476"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477"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478" name="Shape 2"/>
          <p:cNvSpPr/>
          <p:nvPr/>
        </p:nvSpPr>
        <p:spPr>
          <a:xfrm>
            <a:off x="8641080" y="822960"/>
            <a:ext cx="360" cy="5212080"/>
          </a:xfrm>
          <a:prstGeom prst="line">
            <a:avLst/>
          </a:prstGeom>
          <a:ln w="12700">
            <a:solidFill>
              <a:srgbClr val="2c8058"/>
            </a:solidFill>
            <a:round/>
          </a:ln>
        </p:spPr>
        <p:style>
          <a:lnRef idx="0"/>
          <a:fillRef idx="0"/>
          <a:effectRef idx="0"/>
          <a:fontRef idx="minor"/>
        </p:style>
        <p:txBody>
          <a:bodyPr lIns="90000" rIns="90000" tIns="45000" bIns="45000" anchor="t" anchorCtr="1">
            <a:noAutofit/>
          </a:bodyPr>
          <a:p>
            <a:endParaRPr b="0" lang="en-US" sz="1800" strike="noStrike" u="none">
              <a:solidFill>
                <a:srgbClr val="ffffff"/>
              </a:solidFill>
              <a:effectLst/>
              <a:uFillTx/>
              <a:latin typeface="Arial"/>
            </a:endParaRPr>
          </a:p>
        </p:txBody>
      </p:sp>
      <p:sp>
        <p:nvSpPr>
          <p:cNvPr id="479" name="Text 3"/>
          <p:cNvSpPr/>
          <p:nvPr/>
        </p:nvSpPr>
        <p:spPr>
          <a:xfrm>
            <a:off x="9144000" y="841320"/>
            <a:ext cx="2194200" cy="22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81" strike="noStrike" u="none">
                <a:solidFill>
                  <a:srgbClr val="bfe6ce"/>
                </a:solidFill>
                <a:effectLst/>
                <a:uFillTx/>
                <a:latin typeface="Calibri"/>
                <a:ea typeface="Calibri"/>
              </a:rPr>
              <a:t>RA+ ROADMAP</a:t>
            </a:r>
            <a:endParaRPr b="0" lang="en-US" sz="900" strike="noStrike" u="none">
              <a:solidFill>
                <a:srgbClr val="ffffff"/>
              </a:solidFill>
              <a:effectLst/>
              <a:uFillTx/>
              <a:latin typeface="Arial"/>
            </a:endParaRPr>
          </a:p>
        </p:txBody>
      </p:sp>
      <p:sp>
        <p:nvSpPr>
          <p:cNvPr id="480" name="Text 4"/>
          <p:cNvSpPr/>
          <p:nvPr/>
        </p:nvSpPr>
        <p:spPr>
          <a:xfrm>
            <a:off x="9144000" y="1325880"/>
            <a:ext cx="2194200" cy="1462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3600" strike="noStrike" u="none">
                <a:solidFill>
                  <a:srgbClr val="ffffff"/>
                </a:solidFill>
                <a:effectLst/>
                <a:uFillTx/>
                <a:latin typeface="Calibri"/>
                <a:ea typeface="Calibri"/>
              </a:rPr>
              <a:t>2026</a:t>
            </a:r>
            <a:endParaRPr b="0" lang="en-US" sz="3600" strike="noStrike" u="none">
              <a:solidFill>
                <a:srgbClr val="ffffff"/>
              </a:solidFill>
              <a:effectLst/>
              <a:uFillTx/>
              <a:latin typeface="Arial"/>
            </a:endParaRPr>
          </a:p>
          <a:p>
            <a:pPr defTabSz="914400">
              <a:lnSpc>
                <a:spcPct val="100000"/>
              </a:lnSpc>
              <a:tabLst>
                <a:tab algn="l" pos="0"/>
              </a:tabLst>
            </a:pPr>
            <a:r>
              <a:rPr b="1" lang="en-US" sz="3600" strike="noStrike" u="none">
                <a:solidFill>
                  <a:srgbClr val="ffffff"/>
                </a:solidFill>
                <a:effectLst/>
                <a:uFillTx/>
                <a:latin typeface="Calibri"/>
                <a:ea typeface="Calibri"/>
              </a:rPr>
              <a:t>2027</a:t>
            </a:r>
            <a:endParaRPr b="0" lang="en-US" sz="3600" strike="noStrike" u="none">
              <a:solidFill>
                <a:srgbClr val="ffffff"/>
              </a:solidFill>
              <a:effectLst/>
              <a:uFillTx/>
              <a:latin typeface="Arial"/>
            </a:endParaRPr>
          </a:p>
        </p:txBody>
      </p:sp>
      <p:sp>
        <p:nvSpPr>
          <p:cNvPr id="481" name="Text 5"/>
          <p:cNvSpPr/>
          <p:nvPr/>
        </p:nvSpPr>
        <p:spPr>
          <a:xfrm>
            <a:off x="621720" y="960120"/>
            <a:ext cx="71319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221" strike="noStrike" u="none">
                <a:solidFill>
                  <a:srgbClr val="bfe6ce"/>
                </a:solidFill>
                <a:effectLst/>
                <a:uFillTx/>
                <a:latin typeface="Calibri"/>
                <a:ea typeface="Calibri"/>
              </a:rPr>
              <a:t>PRODUCT STRATEGY</a:t>
            </a:r>
            <a:endParaRPr b="0" lang="en-US" sz="1100" strike="noStrike" u="none">
              <a:solidFill>
                <a:srgbClr val="ffffff"/>
              </a:solidFill>
              <a:effectLst/>
              <a:uFillTx/>
              <a:latin typeface="Arial"/>
            </a:endParaRPr>
          </a:p>
        </p:txBody>
      </p:sp>
      <p:sp>
        <p:nvSpPr>
          <p:cNvPr id="482" name="Text 6"/>
          <p:cNvSpPr/>
          <p:nvPr/>
        </p:nvSpPr>
        <p:spPr>
          <a:xfrm>
            <a:off x="621720" y="1508760"/>
            <a:ext cx="191988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5800" strike="noStrike" u="none">
                <a:solidFill>
                  <a:srgbClr val="3dcd58"/>
                </a:solidFill>
                <a:effectLst/>
                <a:uFillTx/>
                <a:latin typeface="Calibri"/>
                <a:ea typeface="Calibri"/>
              </a:rPr>
              <a:t>00</a:t>
            </a:r>
            <a:endParaRPr b="0" lang="en-US" sz="5800" strike="noStrike" u="none">
              <a:solidFill>
                <a:srgbClr val="ffffff"/>
              </a:solidFill>
              <a:effectLst/>
              <a:uFillTx/>
              <a:latin typeface="Arial"/>
            </a:endParaRPr>
          </a:p>
        </p:txBody>
      </p:sp>
      <p:sp>
        <p:nvSpPr>
          <p:cNvPr id="483" name="Text 7"/>
          <p:cNvSpPr/>
          <p:nvPr/>
        </p:nvSpPr>
        <p:spPr>
          <a:xfrm>
            <a:off x="621720" y="2606040"/>
            <a:ext cx="7406280" cy="11426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ffffff"/>
                </a:solidFill>
                <a:effectLst/>
                <a:uFillTx/>
                <a:latin typeface="Calibri"/>
                <a:ea typeface="Calibri"/>
              </a:rPr>
              <a:t>The product strategy on one board</a:t>
            </a:r>
            <a:endParaRPr b="0" lang="en-US" sz="3200" strike="noStrike" u="none">
              <a:solidFill>
                <a:srgbClr val="ffffff"/>
              </a:solidFill>
              <a:effectLst/>
              <a:uFillTx/>
              <a:latin typeface="Arial"/>
            </a:endParaRPr>
          </a:p>
        </p:txBody>
      </p:sp>
      <p:sp>
        <p:nvSpPr>
          <p:cNvPr id="484" name="Text 8"/>
          <p:cNvSpPr/>
          <p:nvPr/>
        </p:nvSpPr>
        <p:spPr>
          <a:xfrm>
            <a:off x="621720" y="4005000"/>
            <a:ext cx="704052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400" strike="noStrike" u="none">
                <a:solidFill>
                  <a:srgbClr val="d6eadf"/>
                </a:solidFill>
                <a:effectLst/>
                <a:uFillTx/>
                <a:latin typeface="Calibri"/>
                <a:ea typeface="Calibri"/>
              </a:rPr>
              <a:t>What we are building, in what order, and the visual roadmap that holds it together.</a:t>
            </a:r>
            <a:endParaRPr b="0" lang="en-US" sz="14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85"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486"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487" name="Shape 2"/>
          <p:cNvSpPr/>
          <p:nvPr/>
        </p:nvSpPr>
        <p:spPr>
          <a:xfrm>
            <a:off x="621720" y="311040"/>
            <a:ext cx="134388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88" name="Text 3"/>
          <p:cNvSpPr/>
          <p:nvPr/>
        </p:nvSpPr>
        <p:spPr>
          <a:xfrm>
            <a:off x="804600" y="329040"/>
            <a:ext cx="101448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STRATEGY</a:t>
            </a:r>
            <a:endParaRPr b="0" lang="en-US" sz="950" strike="noStrike" u="none">
              <a:solidFill>
                <a:srgbClr val="000000"/>
              </a:solidFill>
              <a:effectLst/>
              <a:uFillTx/>
              <a:latin typeface="Arial"/>
            </a:endParaRPr>
          </a:p>
        </p:txBody>
      </p:sp>
      <p:sp>
        <p:nvSpPr>
          <p:cNvPr id="489"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Three moves, one platform</a:t>
            </a:r>
            <a:endParaRPr b="0" lang="en-US" sz="3200" strike="noStrike" u="none">
              <a:solidFill>
                <a:srgbClr val="000000"/>
              </a:solidFill>
              <a:effectLst/>
              <a:uFillTx/>
              <a:latin typeface="Arial"/>
            </a:endParaRPr>
          </a:p>
        </p:txBody>
      </p:sp>
      <p:sp>
        <p:nvSpPr>
          <p:cNvPr id="490"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Every roadmap item in this deck serves one of three strategic moves. Nothing else gets funded.</a:t>
            </a:r>
            <a:endParaRPr b="0" lang="en-US" sz="1250" strike="noStrike" u="none">
              <a:solidFill>
                <a:srgbClr val="000000"/>
              </a:solidFill>
              <a:effectLst/>
              <a:uFillTx/>
              <a:latin typeface="Arial"/>
            </a:endParaRPr>
          </a:p>
        </p:txBody>
      </p:sp>
      <p:sp>
        <p:nvSpPr>
          <p:cNvPr id="491"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92" name="Shape 7"/>
          <p:cNvSpPr/>
          <p:nvPr/>
        </p:nvSpPr>
        <p:spPr>
          <a:xfrm>
            <a:off x="62172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93" name="Shape 8"/>
          <p:cNvSpPr/>
          <p:nvPr/>
        </p:nvSpPr>
        <p:spPr>
          <a:xfrm>
            <a:off x="621720" y="2084760"/>
            <a:ext cx="346608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494" name="Text 9"/>
          <p:cNvSpPr/>
          <p:nvPr/>
        </p:nvSpPr>
        <p:spPr>
          <a:xfrm>
            <a:off x="822960" y="235908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Own the data spine</a:t>
            </a:r>
            <a:endParaRPr b="0" lang="en-US" sz="1600" strike="noStrike" u="none">
              <a:solidFill>
                <a:srgbClr val="000000"/>
              </a:solidFill>
              <a:effectLst/>
              <a:uFillTx/>
              <a:latin typeface="Arial"/>
            </a:endParaRPr>
          </a:p>
        </p:txBody>
      </p:sp>
      <p:sp>
        <p:nvSpPr>
          <p:cNvPr id="495" name="Text 10"/>
          <p:cNvSpPr/>
          <p:nvPr/>
        </p:nvSpPr>
        <p:spPr>
          <a:xfrm>
            <a:off x="804600" y="286200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Built once, inherited by every product</a:t>
            </a:r>
            <a:endParaRPr b="0" lang="en-US" sz="1100" strike="noStrike" u="none">
              <a:solidFill>
                <a:srgbClr val="000000"/>
              </a:solidFill>
              <a:effectLst/>
              <a:uFillTx/>
              <a:latin typeface="Arial"/>
            </a:endParaRPr>
          </a:p>
        </p:txBody>
      </p:sp>
      <p:sp>
        <p:nvSpPr>
          <p:cNvPr id="496" name="Text 11"/>
          <p:cNvSpPr/>
          <p:nvPr/>
        </p:nvSpPr>
        <p:spPr>
          <a:xfrm>
            <a:off x="822960" y="3593520"/>
            <a:ext cx="3100320" cy="245016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One hierarchy, one user workflow, one analytics engine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Ingestion, transformation and data quality as a shared service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Lineage, evidence and audit trail on every number</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Roughly a third of delivery capacity reserved for the core</a:t>
            </a:r>
            <a:endParaRPr b="0" lang="en-US" sz="1100" strike="noStrike" u="none">
              <a:solidFill>
                <a:srgbClr val="000000"/>
              </a:solidFill>
              <a:effectLst/>
              <a:uFillTx/>
              <a:latin typeface="Arial"/>
            </a:endParaRPr>
          </a:p>
        </p:txBody>
      </p:sp>
      <p:sp>
        <p:nvSpPr>
          <p:cNvPr id="497" name="Shape 12"/>
          <p:cNvSpPr/>
          <p:nvPr/>
        </p:nvSpPr>
        <p:spPr>
          <a:xfrm>
            <a:off x="436248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98" name="Shape 13"/>
          <p:cNvSpPr/>
          <p:nvPr/>
        </p:nvSpPr>
        <p:spPr>
          <a:xfrm>
            <a:off x="4362480" y="2084760"/>
            <a:ext cx="346608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499" name="Text 14"/>
          <p:cNvSpPr/>
          <p:nvPr/>
        </p:nvSpPr>
        <p:spPr>
          <a:xfrm>
            <a:off x="4563720" y="235908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400" strike="noStrike" u="none">
                <a:solidFill>
                  <a:srgbClr val="1e2420"/>
                </a:solidFill>
                <a:effectLst/>
                <a:uFillTx/>
                <a:latin typeface="Calibri"/>
                <a:ea typeface="Calibri"/>
              </a:rPr>
              <a:t>Cover the full sustainability and energy agenda</a:t>
            </a:r>
            <a:endParaRPr b="0" lang="en-US" sz="1400" strike="noStrike" u="none">
              <a:solidFill>
                <a:srgbClr val="000000"/>
              </a:solidFill>
              <a:effectLst/>
              <a:uFillTx/>
              <a:latin typeface="Arial"/>
            </a:endParaRPr>
          </a:p>
        </p:txBody>
      </p:sp>
      <p:sp>
        <p:nvSpPr>
          <p:cNvPr id="500" name="Text 15"/>
          <p:cNvSpPr/>
          <p:nvPr/>
        </p:nvSpPr>
        <p:spPr>
          <a:xfrm>
            <a:off x="4545360" y="286200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From fragmented data to decision grade energy, efficiency and sustainability coverage</a:t>
            </a:r>
            <a:endParaRPr b="0" lang="en-US" sz="1100" strike="noStrike" u="none">
              <a:solidFill>
                <a:srgbClr val="000000"/>
              </a:solidFill>
              <a:effectLst/>
              <a:uFillTx/>
              <a:latin typeface="Arial"/>
            </a:endParaRPr>
          </a:p>
        </p:txBody>
      </p:sp>
      <p:sp>
        <p:nvSpPr>
          <p:cNvPr id="501" name="Text 16"/>
          <p:cNvSpPr/>
          <p:nvPr/>
        </p:nvSpPr>
        <p:spPr>
          <a:xfrm>
            <a:off x="4563720" y="3593520"/>
            <a:ext cx="3100320" cy="245016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Scope 1, 2 and 3 closed out to a consultant grade inventory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Supply chain emissions and product level carbon footprint</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Climate risk priced in financial terms, not risk scores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Disclosure automated from the same governed inventory</a:t>
            </a:r>
            <a:endParaRPr b="0" lang="en-US" sz="1100" strike="noStrike" u="none">
              <a:solidFill>
                <a:srgbClr val="000000"/>
              </a:solidFill>
              <a:effectLst/>
              <a:uFillTx/>
              <a:latin typeface="Arial"/>
            </a:endParaRPr>
          </a:p>
        </p:txBody>
      </p:sp>
      <p:sp>
        <p:nvSpPr>
          <p:cNvPr id="502" name="Shape 17"/>
          <p:cNvSpPr/>
          <p:nvPr/>
        </p:nvSpPr>
        <p:spPr>
          <a:xfrm>
            <a:off x="810324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03" name="Shape 18"/>
          <p:cNvSpPr/>
          <p:nvPr/>
        </p:nvSpPr>
        <p:spPr>
          <a:xfrm>
            <a:off x="8103240" y="2084760"/>
            <a:ext cx="346608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04" name="Text 19"/>
          <p:cNvSpPr/>
          <p:nvPr/>
        </p:nvSpPr>
        <p:spPr>
          <a:xfrm>
            <a:off x="8304480" y="235908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Turn data into decisions</a:t>
            </a:r>
            <a:endParaRPr b="0" lang="en-US" sz="1600" strike="noStrike" u="none">
              <a:solidFill>
                <a:srgbClr val="000000"/>
              </a:solidFill>
              <a:effectLst/>
              <a:uFillTx/>
              <a:latin typeface="Arial"/>
            </a:endParaRPr>
          </a:p>
        </p:txBody>
      </p:sp>
      <p:sp>
        <p:nvSpPr>
          <p:cNvPr id="505" name="Text 20"/>
          <p:cNvSpPr/>
          <p:nvPr/>
        </p:nvSpPr>
        <p:spPr>
          <a:xfrm>
            <a:off x="8286120" y="286200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AI native, from sustainability reporting to energy and efficiency action</a:t>
            </a:r>
            <a:endParaRPr b="0" lang="en-US" sz="1100" strike="noStrike" u="none">
              <a:solidFill>
                <a:srgbClr val="000000"/>
              </a:solidFill>
              <a:effectLst/>
              <a:uFillTx/>
              <a:latin typeface="Arial"/>
            </a:endParaRPr>
          </a:p>
        </p:txBody>
      </p:sp>
      <p:sp>
        <p:nvSpPr>
          <p:cNvPr id="506" name="Text 21"/>
          <p:cNvSpPr/>
          <p:nvPr/>
        </p:nvSpPr>
        <p:spPr>
          <a:xfrm>
            <a:off x="8304480" y="3593520"/>
            <a:ext cx="3100320" cy="245016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Sera guidance across sustainability, energy and efficiency workflows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Scenario analysis, initiatives and actions management</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Energy, efficiency and carbon planned in one place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Leadership grade outputs, assured and repeatable</a:t>
            </a:r>
            <a:endParaRPr b="0" lang="en-US" sz="1100" strike="noStrike" u="none">
              <a:solidFill>
                <a:srgbClr val="000000"/>
              </a:solidFill>
              <a:effectLst/>
              <a:uFillTx/>
              <a:latin typeface="Arial"/>
            </a:endParaRPr>
          </a:p>
        </p:txBody>
      </p:sp>
      <p:sp>
        <p:nvSpPr>
          <p:cNvPr id="507" name="Shape 22"/>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08" name="Text 23"/>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509" name="Text 24"/>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510" name="PlaceHolder 1"/>
          <p:cNvSpPr>
            <a:spLocks noGrp="1"/>
          </p:cNvSpPr>
          <p:nvPr>
            <p:ph type="sldNum" idx="22"/>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3A501897-DA7A-4498-BD35-1241C88057CA}" type="slidenum">
              <a:rPr b="1" lang="en-US" sz="800" strike="noStrike" u="none">
                <a:solidFill>
                  <a:srgbClr val="007a27"/>
                </a:solidFill>
                <a:effectLst/>
                <a:uFillTx/>
                <a:latin typeface="Calibri"/>
                <a:ea typeface="Calibri"/>
              </a:rPr>
              <a:t>21</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11"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512"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513" name="Shape 2"/>
          <p:cNvSpPr/>
          <p:nvPr/>
        </p:nvSpPr>
        <p:spPr>
          <a:xfrm>
            <a:off x="621720" y="311040"/>
            <a:ext cx="197460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14" name="Text 3"/>
          <p:cNvSpPr/>
          <p:nvPr/>
        </p:nvSpPr>
        <p:spPr>
          <a:xfrm>
            <a:off x="804600" y="329040"/>
            <a:ext cx="164556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VISUAL ROADMAP</a:t>
            </a:r>
            <a:endParaRPr b="0" lang="en-US" sz="950" strike="noStrike" u="none">
              <a:solidFill>
                <a:srgbClr val="000000"/>
              </a:solidFill>
              <a:effectLst/>
              <a:uFillTx/>
              <a:latin typeface="Arial"/>
            </a:endParaRPr>
          </a:p>
        </p:txBody>
      </p:sp>
      <p:sp>
        <p:nvSpPr>
          <p:cNvPr id="515"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One platform, three years of compounding value</a:t>
            </a:r>
            <a:endParaRPr b="0" lang="en-US" sz="3200" strike="noStrike" u="none">
              <a:solidFill>
                <a:srgbClr val="000000"/>
              </a:solidFill>
              <a:effectLst/>
              <a:uFillTx/>
              <a:latin typeface="Arial"/>
            </a:endParaRPr>
          </a:p>
        </p:txBody>
      </p:sp>
      <p:sp>
        <p:nvSpPr>
          <p:cNvPr id="516"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High level shape of the strategy. Dates are firm through 2026, directional beyond.</a:t>
            </a:r>
            <a:endParaRPr b="0" lang="en-US" sz="1250" strike="noStrike" u="none">
              <a:solidFill>
                <a:srgbClr val="000000"/>
              </a:solidFill>
              <a:effectLst/>
              <a:uFillTx/>
              <a:latin typeface="Arial"/>
            </a:endParaRPr>
          </a:p>
        </p:txBody>
      </p:sp>
      <p:sp>
        <p:nvSpPr>
          <p:cNvPr id="517"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18" name="Shape 7"/>
          <p:cNvSpPr/>
          <p:nvPr/>
        </p:nvSpPr>
        <p:spPr>
          <a:xfrm>
            <a:off x="621720" y="1874520"/>
            <a:ext cx="10947600" cy="456840"/>
          </a:xfrm>
          <a:prstGeom prst="rect">
            <a:avLst/>
          </a:prstGeom>
          <a:solidFill>
            <a:srgbClr val="f1f3f2"/>
          </a:solidFill>
          <a:ln w="635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19" name="Text 8"/>
          <p:cNvSpPr/>
          <p:nvPr/>
        </p:nvSpPr>
        <p:spPr>
          <a:xfrm>
            <a:off x="749880" y="2020680"/>
            <a:ext cx="260568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99" strike="noStrike" u="none">
                <a:solidFill>
                  <a:srgbClr val="5a625c"/>
                </a:solidFill>
                <a:effectLst/>
                <a:uFillTx/>
                <a:latin typeface="Calibri"/>
                <a:ea typeface="Calibri"/>
              </a:rPr>
              <a:t>CAPABILITY</a:t>
            </a:r>
            <a:endParaRPr b="0" lang="en-US" sz="850" strike="noStrike" u="none">
              <a:solidFill>
                <a:srgbClr val="000000"/>
              </a:solidFill>
              <a:effectLst/>
              <a:uFillTx/>
              <a:latin typeface="Arial"/>
            </a:endParaRPr>
          </a:p>
        </p:txBody>
      </p:sp>
      <p:sp>
        <p:nvSpPr>
          <p:cNvPr id="520" name="Text 9"/>
          <p:cNvSpPr/>
          <p:nvPr/>
        </p:nvSpPr>
        <p:spPr>
          <a:xfrm>
            <a:off x="3456360" y="1901880"/>
            <a:ext cx="270396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2026</a:t>
            </a:r>
            <a:endParaRPr b="0" lang="en-US" sz="1200" strike="noStrike" u="none">
              <a:solidFill>
                <a:srgbClr val="000000"/>
              </a:solidFill>
              <a:effectLst/>
              <a:uFillTx/>
              <a:latin typeface="Arial"/>
            </a:endParaRPr>
          </a:p>
        </p:txBody>
      </p:sp>
      <p:sp>
        <p:nvSpPr>
          <p:cNvPr id="521" name="Text 10"/>
          <p:cNvSpPr/>
          <p:nvPr/>
        </p:nvSpPr>
        <p:spPr>
          <a:xfrm>
            <a:off x="345636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522" name="Text 11"/>
          <p:cNvSpPr/>
          <p:nvPr/>
        </p:nvSpPr>
        <p:spPr>
          <a:xfrm>
            <a:off x="413244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523" name="Text 12"/>
          <p:cNvSpPr/>
          <p:nvPr/>
        </p:nvSpPr>
        <p:spPr>
          <a:xfrm>
            <a:off x="480852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524" name="Text 13"/>
          <p:cNvSpPr/>
          <p:nvPr/>
        </p:nvSpPr>
        <p:spPr>
          <a:xfrm>
            <a:off x="548496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525" name="Text 14"/>
          <p:cNvSpPr/>
          <p:nvPr/>
        </p:nvSpPr>
        <p:spPr>
          <a:xfrm>
            <a:off x="6161040" y="1901880"/>
            <a:ext cx="270396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2027</a:t>
            </a:r>
            <a:endParaRPr b="0" lang="en-US" sz="1200" strike="noStrike" u="none">
              <a:solidFill>
                <a:srgbClr val="000000"/>
              </a:solidFill>
              <a:effectLst/>
              <a:uFillTx/>
              <a:latin typeface="Arial"/>
            </a:endParaRPr>
          </a:p>
        </p:txBody>
      </p:sp>
      <p:sp>
        <p:nvSpPr>
          <p:cNvPr id="526" name="Text 15"/>
          <p:cNvSpPr/>
          <p:nvPr/>
        </p:nvSpPr>
        <p:spPr>
          <a:xfrm>
            <a:off x="616104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527" name="Text 16"/>
          <p:cNvSpPr/>
          <p:nvPr/>
        </p:nvSpPr>
        <p:spPr>
          <a:xfrm>
            <a:off x="683712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528" name="Text 17"/>
          <p:cNvSpPr/>
          <p:nvPr/>
        </p:nvSpPr>
        <p:spPr>
          <a:xfrm>
            <a:off x="751320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529" name="Text 18"/>
          <p:cNvSpPr/>
          <p:nvPr/>
        </p:nvSpPr>
        <p:spPr>
          <a:xfrm>
            <a:off x="818928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530" name="Text 19"/>
          <p:cNvSpPr/>
          <p:nvPr/>
        </p:nvSpPr>
        <p:spPr>
          <a:xfrm>
            <a:off x="8865360" y="1901880"/>
            <a:ext cx="270396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2028</a:t>
            </a:r>
            <a:endParaRPr b="0" lang="en-US" sz="1200" strike="noStrike" u="none">
              <a:solidFill>
                <a:srgbClr val="000000"/>
              </a:solidFill>
              <a:effectLst/>
              <a:uFillTx/>
              <a:latin typeface="Arial"/>
            </a:endParaRPr>
          </a:p>
        </p:txBody>
      </p:sp>
      <p:sp>
        <p:nvSpPr>
          <p:cNvPr id="531" name="Text 20"/>
          <p:cNvSpPr/>
          <p:nvPr/>
        </p:nvSpPr>
        <p:spPr>
          <a:xfrm>
            <a:off x="886536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532" name="Text 21"/>
          <p:cNvSpPr/>
          <p:nvPr/>
        </p:nvSpPr>
        <p:spPr>
          <a:xfrm>
            <a:off x="954144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533" name="Text 22"/>
          <p:cNvSpPr/>
          <p:nvPr/>
        </p:nvSpPr>
        <p:spPr>
          <a:xfrm>
            <a:off x="1021752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534" name="Text 23"/>
          <p:cNvSpPr/>
          <p:nvPr/>
        </p:nvSpPr>
        <p:spPr>
          <a:xfrm>
            <a:off x="1089396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535" name="Shape 24"/>
          <p:cNvSpPr/>
          <p:nvPr/>
        </p:nvSpPr>
        <p:spPr>
          <a:xfrm>
            <a:off x="345636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536" name="Shape 25"/>
          <p:cNvSpPr/>
          <p:nvPr/>
        </p:nvSpPr>
        <p:spPr>
          <a:xfrm>
            <a:off x="413244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537" name="Shape 26"/>
          <p:cNvSpPr/>
          <p:nvPr/>
        </p:nvSpPr>
        <p:spPr>
          <a:xfrm>
            <a:off x="480852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538" name="Shape 27"/>
          <p:cNvSpPr/>
          <p:nvPr/>
        </p:nvSpPr>
        <p:spPr>
          <a:xfrm>
            <a:off x="548460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539" name="Shape 28"/>
          <p:cNvSpPr/>
          <p:nvPr/>
        </p:nvSpPr>
        <p:spPr>
          <a:xfrm>
            <a:off x="616068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540" name="Shape 29"/>
          <p:cNvSpPr/>
          <p:nvPr/>
        </p:nvSpPr>
        <p:spPr>
          <a:xfrm>
            <a:off x="683676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541" name="Shape 30"/>
          <p:cNvSpPr/>
          <p:nvPr/>
        </p:nvSpPr>
        <p:spPr>
          <a:xfrm>
            <a:off x="751284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542" name="Shape 31"/>
          <p:cNvSpPr/>
          <p:nvPr/>
        </p:nvSpPr>
        <p:spPr>
          <a:xfrm>
            <a:off x="818928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543" name="Shape 32"/>
          <p:cNvSpPr/>
          <p:nvPr/>
        </p:nvSpPr>
        <p:spPr>
          <a:xfrm>
            <a:off x="886536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544" name="Shape 33"/>
          <p:cNvSpPr/>
          <p:nvPr/>
        </p:nvSpPr>
        <p:spPr>
          <a:xfrm>
            <a:off x="954144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545" name="Shape 34"/>
          <p:cNvSpPr/>
          <p:nvPr/>
        </p:nvSpPr>
        <p:spPr>
          <a:xfrm>
            <a:off x="1021752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546" name="Shape 35"/>
          <p:cNvSpPr/>
          <p:nvPr/>
        </p:nvSpPr>
        <p:spPr>
          <a:xfrm>
            <a:off x="1089360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547" name="Shape 36"/>
          <p:cNvSpPr/>
          <p:nvPr/>
        </p:nvSpPr>
        <p:spPr>
          <a:xfrm>
            <a:off x="1156968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548" name="Shape 37"/>
          <p:cNvSpPr/>
          <p:nvPr/>
        </p:nvSpPr>
        <p:spPr>
          <a:xfrm>
            <a:off x="621720" y="2331720"/>
            <a:ext cx="411120" cy="1296360"/>
          </a:xfrm>
          <a:prstGeom prst="rect">
            <a:avLst/>
          </a:prstGeom>
          <a:solidFill>
            <a:srgbClr val="3dcd58"/>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49" name="Text 38"/>
          <p:cNvSpPr/>
          <p:nvPr/>
        </p:nvSpPr>
        <p:spPr>
          <a:xfrm>
            <a:off x="685800" y="2377440"/>
            <a:ext cx="282960" cy="120492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CORE PLATFORM</a:t>
            </a:r>
            <a:endParaRPr b="0" lang="en-US" sz="750" strike="noStrike" u="none">
              <a:solidFill>
                <a:srgbClr val="000000"/>
              </a:solidFill>
              <a:effectLst/>
              <a:uFillTx/>
              <a:latin typeface="Arial"/>
            </a:endParaRPr>
          </a:p>
        </p:txBody>
      </p:sp>
      <p:sp>
        <p:nvSpPr>
          <p:cNvPr id="550" name="Shape 39"/>
          <p:cNvSpPr/>
          <p:nvPr/>
        </p:nvSpPr>
        <p:spPr>
          <a:xfrm>
            <a:off x="1033200" y="26557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51" name="Shape 40"/>
          <p:cNvSpPr/>
          <p:nvPr/>
        </p:nvSpPr>
        <p:spPr>
          <a:xfrm>
            <a:off x="1143000" y="238392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52" name="Text 41"/>
          <p:cNvSpPr/>
          <p:nvPr/>
        </p:nvSpPr>
        <p:spPr>
          <a:xfrm>
            <a:off x="1243440" y="23475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Shared hierarchy and factors</a:t>
            </a:r>
            <a:endParaRPr b="0" lang="en-US" sz="950" strike="noStrike" u="none">
              <a:solidFill>
                <a:srgbClr val="000000"/>
              </a:solidFill>
              <a:effectLst/>
              <a:uFillTx/>
              <a:latin typeface="Arial"/>
            </a:endParaRPr>
          </a:p>
        </p:txBody>
      </p:sp>
      <p:sp>
        <p:nvSpPr>
          <p:cNvPr id="553" name="Shape 42"/>
          <p:cNvSpPr/>
          <p:nvPr/>
        </p:nvSpPr>
        <p:spPr>
          <a:xfrm>
            <a:off x="4808520" y="2438640"/>
            <a:ext cx="2027880" cy="109800"/>
          </a:xfrm>
          <a:prstGeom prst="roundRect">
            <a:avLst>
              <a:gd name="adj" fmla="val 33182"/>
            </a:avLst>
          </a:prstGeom>
          <a:solidFill>
            <a:srgbClr val="3dcd58"/>
          </a:solidFill>
          <a:ln w="12700">
            <a:solidFill>
              <a:srgbClr val="3dcd58"/>
            </a:solidFill>
            <a:round/>
          </a:ln>
        </p:spPr>
        <p:style>
          <a:lnRef idx="0"/>
          <a:fillRef idx="0"/>
          <a:effectRef idx="0"/>
          <a:fontRef idx="minor"/>
        </p:style>
        <p:txBody>
          <a:bodyPr lIns="90000" rIns="90000" tIns="43920" bIns="43920" anchor="t">
            <a:noAutofit/>
          </a:bodyPr>
          <a:p>
            <a:endParaRPr b="0" lang="en-US" sz="1800" strike="noStrike" u="none">
              <a:solidFill>
                <a:srgbClr val="000000"/>
              </a:solidFill>
              <a:effectLst/>
              <a:uFillTx/>
              <a:latin typeface="Arial"/>
            </a:endParaRPr>
          </a:p>
        </p:txBody>
      </p:sp>
      <p:sp>
        <p:nvSpPr>
          <p:cNvPr id="554" name="Shape 43"/>
          <p:cNvSpPr/>
          <p:nvPr/>
        </p:nvSpPr>
        <p:spPr>
          <a:xfrm>
            <a:off x="6837120" y="2438640"/>
            <a:ext cx="4732560" cy="109800"/>
          </a:xfrm>
          <a:prstGeom prst="roundRect">
            <a:avLst>
              <a:gd name="adj" fmla="val 33182"/>
            </a:avLst>
          </a:prstGeom>
          <a:solidFill>
            <a:srgbClr val="3dcd58">
              <a:alpha val="22000"/>
            </a:srgbClr>
          </a:solidFill>
          <a:ln w="12700">
            <a:solidFill>
              <a:srgbClr val="3dcd58">
                <a:alpha val="22000"/>
              </a:srgbClr>
            </a:solidFill>
            <a:round/>
          </a:ln>
        </p:spPr>
        <p:style>
          <a:lnRef idx="0"/>
          <a:fillRef idx="0"/>
          <a:effectRef idx="0"/>
          <a:fontRef idx="minor"/>
        </p:style>
        <p:txBody>
          <a:bodyPr lIns="90000" rIns="90000" tIns="43920" bIns="43920" anchor="t">
            <a:noAutofit/>
          </a:bodyPr>
          <a:p>
            <a:endParaRPr b="0" lang="en-US" sz="1800" strike="noStrike" u="none">
              <a:solidFill>
                <a:srgbClr val="000000"/>
              </a:solidFill>
              <a:effectLst/>
              <a:uFillTx/>
              <a:latin typeface="Arial"/>
            </a:endParaRPr>
          </a:p>
        </p:txBody>
      </p:sp>
      <p:sp>
        <p:nvSpPr>
          <p:cNvPr id="555" name="Shape 44"/>
          <p:cNvSpPr/>
          <p:nvPr/>
        </p:nvSpPr>
        <p:spPr>
          <a:xfrm>
            <a:off x="6764040" y="2420640"/>
            <a:ext cx="145800" cy="145800"/>
          </a:xfrm>
          <a:prstGeom prst="ellipse">
            <a:avLst/>
          </a:prstGeom>
          <a:solidFill>
            <a:srgbClr val="007a27"/>
          </a:solidFill>
          <a:ln w="1524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56" name="Shape 45"/>
          <p:cNvSpPr/>
          <p:nvPr/>
        </p:nvSpPr>
        <p:spPr>
          <a:xfrm>
            <a:off x="1033200" y="29800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57" name="Shape 46"/>
          <p:cNvSpPr/>
          <p:nvPr/>
        </p:nvSpPr>
        <p:spPr>
          <a:xfrm>
            <a:off x="1143000" y="270828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58" name="Text 47"/>
          <p:cNvSpPr/>
          <p:nvPr/>
        </p:nvSpPr>
        <p:spPr>
          <a:xfrm>
            <a:off x="1243440" y="26715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Ingestion and data quality</a:t>
            </a:r>
            <a:endParaRPr b="0" lang="en-US" sz="950" strike="noStrike" u="none">
              <a:solidFill>
                <a:srgbClr val="000000"/>
              </a:solidFill>
              <a:effectLst/>
              <a:uFillTx/>
              <a:latin typeface="Arial"/>
            </a:endParaRPr>
          </a:p>
        </p:txBody>
      </p:sp>
      <p:sp>
        <p:nvSpPr>
          <p:cNvPr id="559" name="Shape 48"/>
          <p:cNvSpPr/>
          <p:nvPr/>
        </p:nvSpPr>
        <p:spPr>
          <a:xfrm>
            <a:off x="5484960" y="2763000"/>
            <a:ext cx="2703960" cy="109800"/>
          </a:xfrm>
          <a:prstGeom prst="roundRect">
            <a:avLst>
              <a:gd name="adj" fmla="val 33182"/>
            </a:avLst>
          </a:prstGeom>
          <a:solidFill>
            <a:srgbClr val="3dcd58"/>
          </a:solidFill>
          <a:ln w="12700">
            <a:solidFill>
              <a:srgbClr val="3dcd58"/>
            </a:solidFill>
            <a:round/>
          </a:ln>
        </p:spPr>
        <p:style>
          <a:lnRef idx="0"/>
          <a:fillRef idx="0"/>
          <a:effectRef idx="0"/>
          <a:fontRef idx="minor"/>
        </p:style>
        <p:txBody>
          <a:bodyPr lIns="90000" rIns="90000" tIns="43920" bIns="43920" anchor="t">
            <a:noAutofit/>
          </a:bodyPr>
          <a:p>
            <a:endParaRPr b="0" lang="en-US" sz="1800" strike="noStrike" u="none">
              <a:solidFill>
                <a:srgbClr val="000000"/>
              </a:solidFill>
              <a:effectLst/>
              <a:uFillTx/>
              <a:latin typeface="Arial"/>
            </a:endParaRPr>
          </a:p>
        </p:txBody>
      </p:sp>
      <p:sp>
        <p:nvSpPr>
          <p:cNvPr id="560" name="Shape 49"/>
          <p:cNvSpPr/>
          <p:nvPr/>
        </p:nvSpPr>
        <p:spPr>
          <a:xfrm>
            <a:off x="8189280" y="2763000"/>
            <a:ext cx="3380400" cy="109800"/>
          </a:xfrm>
          <a:prstGeom prst="roundRect">
            <a:avLst>
              <a:gd name="adj" fmla="val 33182"/>
            </a:avLst>
          </a:prstGeom>
          <a:solidFill>
            <a:srgbClr val="3dcd58">
              <a:alpha val="22000"/>
            </a:srgbClr>
          </a:solidFill>
          <a:ln w="12700">
            <a:solidFill>
              <a:srgbClr val="3dcd58">
                <a:alpha val="22000"/>
              </a:srgbClr>
            </a:solidFill>
            <a:round/>
          </a:ln>
        </p:spPr>
        <p:style>
          <a:lnRef idx="0"/>
          <a:fillRef idx="0"/>
          <a:effectRef idx="0"/>
          <a:fontRef idx="minor"/>
        </p:style>
        <p:txBody>
          <a:bodyPr lIns="90000" rIns="90000" tIns="43920" bIns="43920" anchor="t">
            <a:noAutofit/>
          </a:bodyPr>
          <a:p>
            <a:endParaRPr b="0" lang="en-US" sz="1800" strike="noStrike" u="none">
              <a:solidFill>
                <a:srgbClr val="000000"/>
              </a:solidFill>
              <a:effectLst/>
              <a:uFillTx/>
              <a:latin typeface="Arial"/>
            </a:endParaRPr>
          </a:p>
        </p:txBody>
      </p:sp>
      <p:sp>
        <p:nvSpPr>
          <p:cNvPr id="561" name="Shape 50"/>
          <p:cNvSpPr/>
          <p:nvPr/>
        </p:nvSpPr>
        <p:spPr>
          <a:xfrm>
            <a:off x="6087600" y="2745000"/>
            <a:ext cx="145800" cy="145800"/>
          </a:xfrm>
          <a:prstGeom prst="ellipse">
            <a:avLst/>
          </a:prstGeom>
          <a:solidFill>
            <a:srgbClr val="ffb04c"/>
          </a:solidFill>
          <a:ln w="1524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62" name="Shape 51"/>
          <p:cNvSpPr/>
          <p:nvPr/>
        </p:nvSpPr>
        <p:spPr>
          <a:xfrm>
            <a:off x="1033200" y="33040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63" name="Shape 52"/>
          <p:cNvSpPr/>
          <p:nvPr/>
        </p:nvSpPr>
        <p:spPr>
          <a:xfrm>
            <a:off x="1143000" y="303264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64" name="Text 53"/>
          <p:cNvSpPr/>
          <p:nvPr/>
        </p:nvSpPr>
        <p:spPr>
          <a:xfrm>
            <a:off x="1243440" y="29959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Lineage, evidence and audit trail</a:t>
            </a:r>
            <a:endParaRPr b="0" lang="en-US" sz="950" strike="noStrike" u="none">
              <a:solidFill>
                <a:srgbClr val="000000"/>
              </a:solidFill>
              <a:effectLst/>
              <a:uFillTx/>
              <a:latin typeface="Arial"/>
            </a:endParaRPr>
          </a:p>
        </p:txBody>
      </p:sp>
      <p:sp>
        <p:nvSpPr>
          <p:cNvPr id="565" name="Shape 54"/>
          <p:cNvSpPr/>
          <p:nvPr/>
        </p:nvSpPr>
        <p:spPr>
          <a:xfrm>
            <a:off x="6837120" y="3087000"/>
            <a:ext cx="2703960" cy="109800"/>
          </a:xfrm>
          <a:prstGeom prst="roundRect">
            <a:avLst>
              <a:gd name="adj" fmla="val 33182"/>
            </a:avLst>
          </a:prstGeom>
          <a:solidFill>
            <a:srgbClr val="3dcd58"/>
          </a:solidFill>
          <a:ln w="12700">
            <a:solidFill>
              <a:srgbClr val="3dcd58"/>
            </a:solidFill>
            <a:round/>
          </a:ln>
        </p:spPr>
        <p:style>
          <a:lnRef idx="0"/>
          <a:fillRef idx="0"/>
          <a:effectRef idx="0"/>
          <a:fontRef idx="minor"/>
        </p:style>
        <p:txBody>
          <a:bodyPr lIns="90000" rIns="90000" tIns="43920" bIns="43920" anchor="t">
            <a:noAutofit/>
          </a:bodyPr>
          <a:p>
            <a:endParaRPr b="0" lang="en-US" sz="1800" strike="noStrike" u="none">
              <a:solidFill>
                <a:srgbClr val="000000"/>
              </a:solidFill>
              <a:effectLst/>
              <a:uFillTx/>
              <a:latin typeface="Arial"/>
            </a:endParaRPr>
          </a:p>
        </p:txBody>
      </p:sp>
      <p:sp>
        <p:nvSpPr>
          <p:cNvPr id="566" name="Shape 55"/>
          <p:cNvSpPr/>
          <p:nvPr/>
        </p:nvSpPr>
        <p:spPr>
          <a:xfrm>
            <a:off x="9541440" y="3087000"/>
            <a:ext cx="2027880" cy="109800"/>
          </a:xfrm>
          <a:prstGeom prst="roundRect">
            <a:avLst>
              <a:gd name="adj" fmla="val 33182"/>
            </a:avLst>
          </a:prstGeom>
          <a:solidFill>
            <a:srgbClr val="3dcd58">
              <a:alpha val="22000"/>
            </a:srgbClr>
          </a:solidFill>
          <a:ln w="12700">
            <a:solidFill>
              <a:srgbClr val="3dcd58">
                <a:alpha val="22000"/>
              </a:srgbClr>
            </a:solidFill>
            <a:round/>
          </a:ln>
        </p:spPr>
        <p:style>
          <a:lnRef idx="0"/>
          <a:fillRef idx="0"/>
          <a:effectRef idx="0"/>
          <a:fontRef idx="minor"/>
        </p:style>
        <p:txBody>
          <a:bodyPr lIns="90000" rIns="90000" tIns="43920" bIns="43920" anchor="t">
            <a:noAutofit/>
          </a:bodyPr>
          <a:p>
            <a:endParaRPr b="0" lang="en-US" sz="1800" strike="noStrike" u="none">
              <a:solidFill>
                <a:srgbClr val="000000"/>
              </a:solidFill>
              <a:effectLst/>
              <a:uFillTx/>
              <a:latin typeface="Arial"/>
            </a:endParaRPr>
          </a:p>
        </p:txBody>
      </p:sp>
      <p:sp>
        <p:nvSpPr>
          <p:cNvPr id="567" name="Shape 56"/>
          <p:cNvSpPr/>
          <p:nvPr/>
        </p:nvSpPr>
        <p:spPr>
          <a:xfrm>
            <a:off x="1033200" y="362844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68" name="Shape 57"/>
          <p:cNvSpPr/>
          <p:nvPr/>
        </p:nvSpPr>
        <p:spPr>
          <a:xfrm>
            <a:off x="1143000" y="335664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69" name="Text 58"/>
          <p:cNvSpPr/>
          <p:nvPr/>
        </p:nvSpPr>
        <p:spPr>
          <a:xfrm>
            <a:off x="1243440" y="332028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Enterprise scale and AI services</a:t>
            </a:r>
            <a:endParaRPr b="0" lang="en-US" sz="950" strike="noStrike" u="none">
              <a:solidFill>
                <a:srgbClr val="000000"/>
              </a:solidFill>
              <a:effectLst/>
              <a:uFillTx/>
              <a:latin typeface="Arial"/>
            </a:endParaRPr>
          </a:p>
        </p:txBody>
      </p:sp>
      <p:sp>
        <p:nvSpPr>
          <p:cNvPr id="570" name="Shape 59"/>
          <p:cNvSpPr/>
          <p:nvPr/>
        </p:nvSpPr>
        <p:spPr>
          <a:xfrm>
            <a:off x="8865360" y="3411360"/>
            <a:ext cx="2703960" cy="109800"/>
          </a:xfrm>
          <a:prstGeom prst="roundRect">
            <a:avLst>
              <a:gd name="adj" fmla="val 33182"/>
            </a:avLst>
          </a:prstGeom>
          <a:solidFill>
            <a:srgbClr val="3dcd58"/>
          </a:solidFill>
          <a:ln w="12700">
            <a:solidFill>
              <a:srgbClr val="3dcd58"/>
            </a:solidFill>
            <a:round/>
          </a:ln>
        </p:spPr>
        <p:style>
          <a:lnRef idx="0"/>
          <a:fillRef idx="0"/>
          <a:effectRef idx="0"/>
          <a:fontRef idx="minor"/>
        </p:style>
        <p:txBody>
          <a:bodyPr lIns="90000" rIns="90000" tIns="43920" bIns="43920" anchor="t">
            <a:noAutofit/>
          </a:bodyPr>
          <a:p>
            <a:endParaRPr b="0" lang="en-US" sz="1800" strike="noStrike" u="none">
              <a:solidFill>
                <a:srgbClr val="000000"/>
              </a:solidFill>
              <a:effectLst/>
              <a:uFillTx/>
              <a:latin typeface="Arial"/>
            </a:endParaRPr>
          </a:p>
        </p:txBody>
      </p:sp>
      <p:sp>
        <p:nvSpPr>
          <p:cNvPr id="571" name="Shape 60"/>
          <p:cNvSpPr/>
          <p:nvPr/>
        </p:nvSpPr>
        <p:spPr>
          <a:xfrm>
            <a:off x="621720" y="3628440"/>
            <a:ext cx="411120" cy="1296360"/>
          </a:xfrm>
          <a:prstGeom prst="rect">
            <a:avLst/>
          </a:prstGeom>
          <a:solidFill>
            <a:srgbClr val="007a27"/>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72" name="Text 61"/>
          <p:cNvSpPr/>
          <p:nvPr/>
        </p:nvSpPr>
        <p:spPr>
          <a:xfrm>
            <a:off x="685800" y="3674160"/>
            <a:ext cx="282960" cy="120492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SUSTAINABILITY PRODUCTS</a:t>
            </a:r>
            <a:endParaRPr b="0" lang="en-US" sz="750" strike="noStrike" u="none">
              <a:solidFill>
                <a:srgbClr val="000000"/>
              </a:solidFill>
              <a:effectLst/>
              <a:uFillTx/>
              <a:latin typeface="Arial"/>
            </a:endParaRPr>
          </a:p>
        </p:txBody>
      </p:sp>
      <p:sp>
        <p:nvSpPr>
          <p:cNvPr id="573" name="Shape 62"/>
          <p:cNvSpPr/>
          <p:nvPr/>
        </p:nvSpPr>
        <p:spPr>
          <a:xfrm>
            <a:off x="1033200" y="395244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74" name="Shape 63"/>
          <p:cNvSpPr/>
          <p:nvPr/>
        </p:nvSpPr>
        <p:spPr>
          <a:xfrm>
            <a:off x="1143000" y="368100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75" name="Text 64"/>
          <p:cNvSpPr/>
          <p:nvPr/>
        </p:nvSpPr>
        <p:spPr>
          <a:xfrm>
            <a:off x="1243440" y="364428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Carbon Performance inventory</a:t>
            </a:r>
            <a:endParaRPr b="0" lang="en-US" sz="950" strike="noStrike" u="none">
              <a:solidFill>
                <a:srgbClr val="000000"/>
              </a:solidFill>
              <a:effectLst/>
              <a:uFillTx/>
              <a:latin typeface="Arial"/>
            </a:endParaRPr>
          </a:p>
        </p:txBody>
      </p:sp>
      <p:sp>
        <p:nvSpPr>
          <p:cNvPr id="576" name="Shape 65"/>
          <p:cNvSpPr/>
          <p:nvPr/>
        </p:nvSpPr>
        <p:spPr>
          <a:xfrm>
            <a:off x="4808520" y="3735360"/>
            <a:ext cx="2703960" cy="109800"/>
          </a:xfrm>
          <a:prstGeom prst="roundRect">
            <a:avLst>
              <a:gd name="adj" fmla="val 33182"/>
            </a:avLst>
          </a:prstGeom>
          <a:solidFill>
            <a:srgbClr val="007a27"/>
          </a:solidFill>
          <a:ln w="12700">
            <a:solidFill>
              <a:srgbClr val="007a27"/>
            </a:solidFill>
            <a:round/>
          </a:ln>
        </p:spPr>
        <p:style>
          <a:lnRef idx="0"/>
          <a:fillRef idx="0"/>
          <a:effectRef idx="0"/>
          <a:fontRef idx="minor"/>
        </p:style>
        <p:txBody>
          <a:bodyPr lIns="90000" rIns="90000" tIns="43920" bIns="43920" anchor="t">
            <a:noAutofit/>
          </a:bodyPr>
          <a:p>
            <a:endParaRPr b="0" lang="en-US" sz="1800" strike="noStrike" u="none">
              <a:solidFill>
                <a:srgbClr val="ffffff"/>
              </a:solidFill>
              <a:effectLst/>
              <a:uFillTx/>
              <a:latin typeface="Arial"/>
            </a:endParaRPr>
          </a:p>
        </p:txBody>
      </p:sp>
      <p:sp>
        <p:nvSpPr>
          <p:cNvPr id="577" name="Shape 66"/>
          <p:cNvSpPr/>
          <p:nvPr/>
        </p:nvSpPr>
        <p:spPr>
          <a:xfrm>
            <a:off x="7513200" y="3735360"/>
            <a:ext cx="4056480" cy="109800"/>
          </a:xfrm>
          <a:prstGeom prst="roundRect">
            <a:avLst>
              <a:gd name="adj" fmla="val 33182"/>
            </a:avLst>
          </a:prstGeom>
          <a:solidFill>
            <a:srgbClr val="007a27">
              <a:alpha val="22000"/>
            </a:srgbClr>
          </a:solidFill>
          <a:ln w="12700">
            <a:solidFill>
              <a:srgbClr val="007a27">
                <a:alpha val="22000"/>
              </a:srgbClr>
            </a:solidFill>
            <a:round/>
          </a:ln>
        </p:spPr>
        <p:style>
          <a:lnRef idx="0"/>
          <a:fillRef idx="0"/>
          <a:effectRef idx="0"/>
          <a:fontRef idx="minor"/>
        </p:style>
        <p:txBody>
          <a:bodyPr lIns="90000" rIns="90000" tIns="43920" bIns="43920" anchor="t">
            <a:noAutofit/>
          </a:bodyPr>
          <a:p>
            <a:endParaRPr b="0" lang="en-US" sz="1800" strike="noStrike" u="none">
              <a:solidFill>
                <a:srgbClr val="ffffff"/>
              </a:solidFill>
              <a:effectLst/>
              <a:uFillTx/>
              <a:latin typeface="Arial"/>
            </a:endParaRPr>
          </a:p>
        </p:txBody>
      </p:sp>
      <p:sp>
        <p:nvSpPr>
          <p:cNvPr id="578" name="Shape 67"/>
          <p:cNvSpPr/>
          <p:nvPr/>
        </p:nvSpPr>
        <p:spPr>
          <a:xfrm>
            <a:off x="5411520" y="3717360"/>
            <a:ext cx="145800" cy="145800"/>
          </a:xfrm>
          <a:prstGeom prst="ellipse">
            <a:avLst/>
          </a:prstGeom>
          <a:solidFill>
            <a:srgbClr val="ffb04c"/>
          </a:solidFill>
          <a:ln w="1524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79" name="Shape 68"/>
          <p:cNvSpPr/>
          <p:nvPr/>
        </p:nvSpPr>
        <p:spPr>
          <a:xfrm>
            <a:off x="7440120" y="3717360"/>
            <a:ext cx="145800" cy="145800"/>
          </a:xfrm>
          <a:prstGeom prst="ellipse">
            <a:avLst/>
          </a:prstGeom>
          <a:solidFill>
            <a:srgbClr val="007a27"/>
          </a:solidFill>
          <a:ln w="1524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80" name="Shape 69"/>
          <p:cNvSpPr/>
          <p:nvPr/>
        </p:nvSpPr>
        <p:spPr>
          <a:xfrm>
            <a:off x="1033200" y="427680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81" name="Shape 70"/>
          <p:cNvSpPr/>
          <p:nvPr/>
        </p:nvSpPr>
        <p:spPr>
          <a:xfrm>
            <a:off x="1143000" y="400500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82" name="Text 71"/>
          <p:cNvSpPr/>
          <p:nvPr/>
        </p:nvSpPr>
        <p:spPr>
          <a:xfrm>
            <a:off x="1243440" y="396864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Supply chain and PCF</a:t>
            </a:r>
            <a:endParaRPr b="0" lang="en-US" sz="950" strike="noStrike" u="none">
              <a:solidFill>
                <a:srgbClr val="000000"/>
              </a:solidFill>
              <a:effectLst/>
              <a:uFillTx/>
              <a:latin typeface="Arial"/>
            </a:endParaRPr>
          </a:p>
        </p:txBody>
      </p:sp>
      <p:sp>
        <p:nvSpPr>
          <p:cNvPr id="583" name="Shape 72"/>
          <p:cNvSpPr/>
          <p:nvPr/>
        </p:nvSpPr>
        <p:spPr>
          <a:xfrm>
            <a:off x="5484960" y="4059720"/>
            <a:ext cx="3380400" cy="109800"/>
          </a:xfrm>
          <a:prstGeom prst="roundRect">
            <a:avLst>
              <a:gd name="adj" fmla="val 33182"/>
            </a:avLst>
          </a:prstGeom>
          <a:solidFill>
            <a:srgbClr val="007a27"/>
          </a:solidFill>
          <a:ln w="12700">
            <a:solidFill>
              <a:srgbClr val="007a27"/>
            </a:solidFill>
            <a:round/>
          </a:ln>
        </p:spPr>
        <p:style>
          <a:lnRef idx="0"/>
          <a:fillRef idx="0"/>
          <a:effectRef idx="0"/>
          <a:fontRef idx="minor"/>
        </p:style>
        <p:txBody>
          <a:bodyPr lIns="90000" rIns="90000" tIns="43920" bIns="43920" anchor="t">
            <a:noAutofit/>
          </a:bodyPr>
          <a:p>
            <a:endParaRPr b="0" lang="en-US" sz="1800" strike="noStrike" u="none">
              <a:solidFill>
                <a:srgbClr val="ffffff"/>
              </a:solidFill>
              <a:effectLst/>
              <a:uFillTx/>
              <a:latin typeface="Arial"/>
            </a:endParaRPr>
          </a:p>
        </p:txBody>
      </p:sp>
      <p:sp>
        <p:nvSpPr>
          <p:cNvPr id="584" name="Shape 73"/>
          <p:cNvSpPr/>
          <p:nvPr/>
        </p:nvSpPr>
        <p:spPr>
          <a:xfrm>
            <a:off x="8865360" y="4059720"/>
            <a:ext cx="2703960" cy="109800"/>
          </a:xfrm>
          <a:prstGeom prst="roundRect">
            <a:avLst>
              <a:gd name="adj" fmla="val 33182"/>
            </a:avLst>
          </a:prstGeom>
          <a:solidFill>
            <a:srgbClr val="007a27">
              <a:alpha val="22000"/>
            </a:srgbClr>
          </a:solidFill>
          <a:ln w="12700">
            <a:solidFill>
              <a:srgbClr val="007a27">
                <a:alpha val="22000"/>
              </a:srgbClr>
            </a:solidFill>
            <a:round/>
          </a:ln>
        </p:spPr>
        <p:style>
          <a:lnRef idx="0"/>
          <a:fillRef idx="0"/>
          <a:effectRef idx="0"/>
          <a:fontRef idx="minor"/>
        </p:style>
        <p:txBody>
          <a:bodyPr lIns="90000" rIns="90000" tIns="43920" bIns="43920" anchor="t">
            <a:noAutofit/>
          </a:bodyPr>
          <a:p>
            <a:endParaRPr b="0" lang="en-US" sz="1800" strike="noStrike" u="none">
              <a:solidFill>
                <a:srgbClr val="ffffff"/>
              </a:solidFill>
              <a:effectLst/>
              <a:uFillTx/>
              <a:latin typeface="Arial"/>
            </a:endParaRPr>
          </a:p>
        </p:txBody>
      </p:sp>
      <p:sp>
        <p:nvSpPr>
          <p:cNvPr id="585" name="Shape 74"/>
          <p:cNvSpPr/>
          <p:nvPr/>
        </p:nvSpPr>
        <p:spPr>
          <a:xfrm>
            <a:off x="8792280" y="4041720"/>
            <a:ext cx="145800" cy="145800"/>
          </a:xfrm>
          <a:prstGeom prst="ellipse">
            <a:avLst/>
          </a:prstGeom>
          <a:solidFill>
            <a:srgbClr val="007a27"/>
          </a:solidFill>
          <a:ln w="1524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86" name="Shape 75"/>
          <p:cNvSpPr/>
          <p:nvPr/>
        </p:nvSpPr>
        <p:spPr>
          <a:xfrm>
            <a:off x="1033200" y="460080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87" name="Shape 76"/>
          <p:cNvSpPr/>
          <p:nvPr/>
        </p:nvSpPr>
        <p:spPr>
          <a:xfrm>
            <a:off x="1143000" y="432936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88" name="Text 77"/>
          <p:cNvSpPr/>
          <p:nvPr/>
        </p:nvSpPr>
        <p:spPr>
          <a:xfrm>
            <a:off x="1243440" y="429264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Configure, collect, disclose</a:t>
            </a:r>
            <a:endParaRPr b="0" lang="en-US" sz="950" strike="noStrike" u="none">
              <a:solidFill>
                <a:srgbClr val="000000"/>
              </a:solidFill>
              <a:effectLst/>
              <a:uFillTx/>
              <a:latin typeface="Arial"/>
            </a:endParaRPr>
          </a:p>
        </p:txBody>
      </p:sp>
      <p:sp>
        <p:nvSpPr>
          <p:cNvPr id="589" name="Shape 78"/>
          <p:cNvSpPr/>
          <p:nvPr/>
        </p:nvSpPr>
        <p:spPr>
          <a:xfrm>
            <a:off x="5484960" y="4383720"/>
            <a:ext cx="2703960" cy="109800"/>
          </a:xfrm>
          <a:prstGeom prst="roundRect">
            <a:avLst>
              <a:gd name="adj" fmla="val 33182"/>
            </a:avLst>
          </a:prstGeom>
          <a:solidFill>
            <a:srgbClr val="007a27"/>
          </a:solidFill>
          <a:ln w="12700">
            <a:solidFill>
              <a:srgbClr val="007a27"/>
            </a:solidFill>
            <a:round/>
          </a:ln>
        </p:spPr>
        <p:style>
          <a:lnRef idx="0"/>
          <a:fillRef idx="0"/>
          <a:effectRef idx="0"/>
          <a:fontRef idx="minor"/>
        </p:style>
        <p:txBody>
          <a:bodyPr lIns="90000" rIns="90000" tIns="43920" bIns="43920" anchor="t">
            <a:noAutofit/>
          </a:bodyPr>
          <a:p>
            <a:endParaRPr b="0" lang="en-US" sz="1800" strike="noStrike" u="none">
              <a:solidFill>
                <a:srgbClr val="ffffff"/>
              </a:solidFill>
              <a:effectLst/>
              <a:uFillTx/>
              <a:latin typeface="Arial"/>
            </a:endParaRPr>
          </a:p>
        </p:txBody>
      </p:sp>
      <p:sp>
        <p:nvSpPr>
          <p:cNvPr id="590" name="Shape 79"/>
          <p:cNvSpPr/>
          <p:nvPr/>
        </p:nvSpPr>
        <p:spPr>
          <a:xfrm>
            <a:off x="8189280" y="4383720"/>
            <a:ext cx="3380400" cy="109800"/>
          </a:xfrm>
          <a:prstGeom prst="roundRect">
            <a:avLst>
              <a:gd name="adj" fmla="val 33182"/>
            </a:avLst>
          </a:prstGeom>
          <a:solidFill>
            <a:srgbClr val="007a27">
              <a:alpha val="22000"/>
            </a:srgbClr>
          </a:solidFill>
          <a:ln w="12700">
            <a:solidFill>
              <a:srgbClr val="007a27">
                <a:alpha val="22000"/>
              </a:srgbClr>
            </a:solidFill>
            <a:round/>
          </a:ln>
        </p:spPr>
        <p:style>
          <a:lnRef idx="0"/>
          <a:fillRef idx="0"/>
          <a:effectRef idx="0"/>
          <a:fontRef idx="minor"/>
        </p:style>
        <p:txBody>
          <a:bodyPr lIns="90000" rIns="90000" tIns="43920" bIns="43920" anchor="t">
            <a:noAutofit/>
          </a:bodyPr>
          <a:p>
            <a:endParaRPr b="0" lang="en-US" sz="1800" strike="noStrike" u="none">
              <a:solidFill>
                <a:srgbClr val="ffffff"/>
              </a:solidFill>
              <a:effectLst/>
              <a:uFillTx/>
              <a:latin typeface="Arial"/>
            </a:endParaRPr>
          </a:p>
        </p:txBody>
      </p:sp>
      <p:sp>
        <p:nvSpPr>
          <p:cNvPr id="591" name="Shape 80"/>
          <p:cNvSpPr/>
          <p:nvPr/>
        </p:nvSpPr>
        <p:spPr>
          <a:xfrm>
            <a:off x="6764040" y="4365720"/>
            <a:ext cx="145800" cy="145800"/>
          </a:xfrm>
          <a:prstGeom prst="ellipse">
            <a:avLst/>
          </a:prstGeom>
          <a:solidFill>
            <a:srgbClr val="ffb04c"/>
          </a:solidFill>
          <a:ln w="1524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92" name="Shape 81"/>
          <p:cNvSpPr/>
          <p:nvPr/>
        </p:nvSpPr>
        <p:spPr>
          <a:xfrm>
            <a:off x="1033200" y="492516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93" name="Shape 82"/>
          <p:cNvSpPr/>
          <p:nvPr/>
        </p:nvSpPr>
        <p:spPr>
          <a:xfrm>
            <a:off x="1143000" y="465336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94" name="Text 83"/>
          <p:cNvSpPr/>
          <p:nvPr/>
        </p:nvSpPr>
        <p:spPr>
          <a:xfrm>
            <a:off x="1243440" y="461700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Climate risk to value at risk</a:t>
            </a:r>
            <a:endParaRPr b="0" lang="en-US" sz="950" strike="noStrike" u="none">
              <a:solidFill>
                <a:srgbClr val="000000"/>
              </a:solidFill>
              <a:effectLst/>
              <a:uFillTx/>
              <a:latin typeface="Arial"/>
            </a:endParaRPr>
          </a:p>
        </p:txBody>
      </p:sp>
      <p:sp>
        <p:nvSpPr>
          <p:cNvPr id="595" name="Shape 84"/>
          <p:cNvSpPr/>
          <p:nvPr/>
        </p:nvSpPr>
        <p:spPr>
          <a:xfrm>
            <a:off x="6161040" y="4708080"/>
            <a:ext cx="3380400" cy="109800"/>
          </a:xfrm>
          <a:prstGeom prst="roundRect">
            <a:avLst>
              <a:gd name="adj" fmla="val 33182"/>
            </a:avLst>
          </a:prstGeom>
          <a:solidFill>
            <a:srgbClr val="007a27"/>
          </a:solidFill>
          <a:ln w="12700">
            <a:solidFill>
              <a:srgbClr val="007a27"/>
            </a:solidFill>
            <a:round/>
          </a:ln>
        </p:spPr>
        <p:style>
          <a:lnRef idx="0"/>
          <a:fillRef idx="0"/>
          <a:effectRef idx="0"/>
          <a:fontRef idx="minor"/>
        </p:style>
        <p:txBody>
          <a:bodyPr lIns="90000" rIns="90000" tIns="43920" bIns="43920" anchor="t">
            <a:noAutofit/>
          </a:bodyPr>
          <a:p>
            <a:endParaRPr b="0" lang="en-US" sz="1800" strike="noStrike" u="none">
              <a:solidFill>
                <a:srgbClr val="ffffff"/>
              </a:solidFill>
              <a:effectLst/>
              <a:uFillTx/>
              <a:latin typeface="Arial"/>
            </a:endParaRPr>
          </a:p>
        </p:txBody>
      </p:sp>
      <p:sp>
        <p:nvSpPr>
          <p:cNvPr id="596" name="Shape 85"/>
          <p:cNvSpPr/>
          <p:nvPr/>
        </p:nvSpPr>
        <p:spPr>
          <a:xfrm>
            <a:off x="9541440" y="4708080"/>
            <a:ext cx="2027880" cy="109800"/>
          </a:xfrm>
          <a:prstGeom prst="roundRect">
            <a:avLst>
              <a:gd name="adj" fmla="val 33182"/>
            </a:avLst>
          </a:prstGeom>
          <a:solidFill>
            <a:srgbClr val="007a27">
              <a:alpha val="22000"/>
            </a:srgbClr>
          </a:solidFill>
          <a:ln w="12700">
            <a:solidFill>
              <a:srgbClr val="007a27">
                <a:alpha val="22000"/>
              </a:srgbClr>
            </a:solidFill>
            <a:round/>
          </a:ln>
        </p:spPr>
        <p:style>
          <a:lnRef idx="0"/>
          <a:fillRef idx="0"/>
          <a:effectRef idx="0"/>
          <a:fontRef idx="minor"/>
        </p:style>
        <p:txBody>
          <a:bodyPr lIns="90000" rIns="90000" tIns="43920" bIns="43920" anchor="t">
            <a:noAutofit/>
          </a:bodyPr>
          <a:p>
            <a:endParaRPr b="0" lang="en-US" sz="1800" strike="noStrike" u="none">
              <a:solidFill>
                <a:srgbClr val="ffffff"/>
              </a:solidFill>
              <a:effectLst/>
              <a:uFillTx/>
              <a:latin typeface="Arial"/>
            </a:endParaRPr>
          </a:p>
        </p:txBody>
      </p:sp>
      <p:sp>
        <p:nvSpPr>
          <p:cNvPr id="597" name="Shape 86"/>
          <p:cNvSpPr/>
          <p:nvPr/>
        </p:nvSpPr>
        <p:spPr>
          <a:xfrm>
            <a:off x="7440120" y="4690080"/>
            <a:ext cx="145800" cy="145800"/>
          </a:xfrm>
          <a:prstGeom prst="ellipse">
            <a:avLst/>
          </a:prstGeom>
          <a:solidFill>
            <a:srgbClr val="ffb04c"/>
          </a:solidFill>
          <a:ln w="1524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98" name="Shape 87"/>
          <p:cNvSpPr/>
          <p:nvPr/>
        </p:nvSpPr>
        <p:spPr>
          <a:xfrm>
            <a:off x="621720" y="4925160"/>
            <a:ext cx="411120" cy="972360"/>
          </a:xfrm>
          <a:prstGeom prst="rect">
            <a:avLst/>
          </a:prstGeom>
          <a:solidFill>
            <a:srgbClr val="ffb04c"/>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99" name="Text 88"/>
          <p:cNvSpPr/>
          <p:nvPr/>
        </p:nvSpPr>
        <p:spPr>
          <a:xfrm>
            <a:off x="685800" y="4970880"/>
            <a:ext cx="282960" cy="88092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CONVERGENCE</a:t>
            </a:r>
            <a:endParaRPr b="0" lang="en-US" sz="750" strike="noStrike" u="none">
              <a:solidFill>
                <a:srgbClr val="000000"/>
              </a:solidFill>
              <a:effectLst/>
              <a:uFillTx/>
              <a:latin typeface="Arial"/>
            </a:endParaRPr>
          </a:p>
        </p:txBody>
      </p:sp>
      <p:sp>
        <p:nvSpPr>
          <p:cNvPr id="600" name="Shape 89"/>
          <p:cNvSpPr/>
          <p:nvPr/>
        </p:nvSpPr>
        <p:spPr>
          <a:xfrm>
            <a:off x="1033200" y="524916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601" name="Shape 90"/>
          <p:cNvSpPr/>
          <p:nvPr/>
        </p:nvSpPr>
        <p:spPr>
          <a:xfrm>
            <a:off x="1143000" y="497772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02" name="Text 91"/>
          <p:cNvSpPr/>
          <p:nvPr/>
        </p:nvSpPr>
        <p:spPr>
          <a:xfrm>
            <a:off x="1243440" y="494100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Plan to execution</a:t>
            </a:r>
            <a:endParaRPr b="0" lang="en-US" sz="950" strike="noStrike" u="none">
              <a:solidFill>
                <a:srgbClr val="000000"/>
              </a:solidFill>
              <a:effectLst/>
              <a:uFillTx/>
              <a:latin typeface="Arial"/>
            </a:endParaRPr>
          </a:p>
        </p:txBody>
      </p:sp>
      <p:sp>
        <p:nvSpPr>
          <p:cNvPr id="603" name="Shape 92"/>
          <p:cNvSpPr/>
          <p:nvPr/>
        </p:nvSpPr>
        <p:spPr>
          <a:xfrm>
            <a:off x="6837120" y="5032440"/>
            <a:ext cx="2703960" cy="109800"/>
          </a:xfrm>
          <a:prstGeom prst="roundRect">
            <a:avLst>
              <a:gd name="adj" fmla="val 33182"/>
            </a:avLst>
          </a:prstGeom>
          <a:solidFill>
            <a:srgbClr val="ffb04c"/>
          </a:solidFill>
          <a:ln w="12700">
            <a:solidFill>
              <a:srgbClr val="ffb04c"/>
            </a:solidFill>
            <a:round/>
          </a:ln>
        </p:spPr>
        <p:style>
          <a:lnRef idx="0"/>
          <a:fillRef idx="0"/>
          <a:effectRef idx="0"/>
          <a:fontRef idx="minor"/>
        </p:style>
        <p:txBody>
          <a:bodyPr lIns="90000" rIns="90000" tIns="43920" bIns="43920" anchor="t">
            <a:noAutofit/>
          </a:bodyPr>
          <a:p>
            <a:endParaRPr b="0" lang="en-US" sz="1800" strike="noStrike" u="none">
              <a:solidFill>
                <a:srgbClr val="000000"/>
              </a:solidFill>
              <a:effectLst/>
              <a:uFillTx/>
              <a:latin typeface="Arial"/>
            </a:endParaRPr>
          </a:p>
        </p:txBody>
      </p:sp>
      <p:sp>
        <p:nvSpPr>
          <p:cNvPr id="604" name="Shape 93"/>
          <p:cNvSpPr/>
          <p:nvPr/>
        </p:nvSpPr>
        <p:spPr>
          <a:xfrm>
            <a:off x="9541440" y="5032440"/>
            <a:ext cx="2027880" cy="109800"/>
          </a:xfrm>
          <a:prstGeom prst="roundRect">
            <a:avLst>
              <a:gd name="adj" fmla="val 33182"/>
            </a:avLst>
          </a:prstGeom>
          <a:solidFill>
            <a:srgbClr val="ffb04c">
              <a:alpha val="22000"/>
            </a:srgbClr>
          </a:solidFill>
          <a:ln w="12700">
            <a:solidFill>
              <a:srgbClr val="ffb04c">
                <a:alpha val="22000"/>
              </a:srgbClr>
            </a:solidFill>
            <a:round/>
          </a:ln>
        </p:spPr>
        <p:style>
          <a:lnRef idx="0"/>
          <a:fillRef idx="0"/>
          <a:effectRef idx="0"/>
          <a:fontRef idx="minor"/>
        </p:style>
        <p:txBody>
          <a:bodyPr lIns="90000" rIns="90000" tIns="43920" bIns="43920" anchor="t">
            <a:noAutofit/>
          </a:bodyPr>
          <a:p>
            <a:endParaRPr b="0" lang="en-US" sz="1800" strike="noStrike" u="none">
              <a:solidFill>
                <a:srgbClr val="000000"/>
              </a:solidFill>
              <a:effectLst/>
              <a:uFillTx/>
              <a:latin typeface="Arial"/>
            </a:endParaRPr>
          </a:p>
        </p:txBody>
      </p:sp>
      <p:sp>
        <p:nvSpPr>
          <p:cNvPr id="605" name="Shape 94"/>
          <p:cNvSpPr/>
          <p:nvPr/>
        </p:nvSpPr>
        <p:spPr>
          <a:xfrm>
            <a:off x="1033200" y="55735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606" name="Shape 95"/>
          <p:cNvSpPr/>
          <p:nvPr/>
        </p:nvSpPr>
        <p:spPr>
          <a:xfrm>
            <a:off x="1143000" y="530172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07" name="Text 96"/>
          <p:cNvSpPr/>
          <p:nvPr/>
        </p:nvSpPr>
        <p:spPr>
          <a:xfrm>
            <a:off x="1243440" y="52653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Energy and carbon converged</a:t>
            </a:r>
            <a:endParaRPr b="0" lang="en-US" sz="950" strike="noStrike" u="none">
              <a:solidFill>
                <a:srgbClr val="000000"/>
              </a:solidFill>
              <a:effectLst/>
              <a:uFillTx/>
              <a:latin typeface="Arial"/>
            </a:endParaRPr>
          </a:p>
        </p:txBody>
      </p:sp>
      <p:sp>
        <p:nvSpPr>
          <p:cNvPr id="608" name="Shape 97"/>
          <p:cNvSpPr/>
          <p:nvPr/>
        </p:nvSpPr>
        <p:spPr>
          <a:xfrm>
            <a:off x="8189280" y="5356440"/>
            <a:ext cx="2703960" cy="109800"/>
          </a:xfrm>
          <a:prstGeom prst="roundRect">
            <a:avLst>
              <a:gd name="adj" fmla="val 33182"/>
            </a:avLst>
          </a:prstGeom>
          <a:solidFill>
            <a:srgbClr val="ffb04c"/>
          </a:solidFill>
          <a:ln w="12700">
            <a:solidFill>
              <a:srgbClr val="ffb04c"/>
            </a:solidFill>
            <a:round/>
          </a:ln>
        </p:spPr>
        <p:style>
          <a:lnRef idx="0"/>
          <a:fillRef idx="0"/>
          <a:effectRef idx="0"/>
          <a:fontRef idx="minor"/>
        </p:style>
        <p:txBody>
          <a:bodyPr lIns="90000" rIns="90000" tIns="43920" bIns="43920" anchor="t">
            <a:noAutofit/>
          </a:bodyPr>
          <a:p>
            <a:endParaRPr b="0" lang="en-US" sz="1800" strike="noStrike" u="none">
              <a:solidFill>
                <a:srgbClr val="000000"/>
              </a:solidFill>
              <a:effectLst/>
              <a:uFillTx/>
              <a:latin typeface="Arial"/>
            </a:endParaRPr>
          </a:p>
        </p:txBody>
      </p:sp>
      <p:sp>
        <p:nvSpPr>
          <p:cNvPr id="609" name="Shape 98"/>
          <p:cNvSpPr/>
          <p:nvPr/>
        </p:nvSpPr>
        <p:spPr>
          <a:xfrm>
            <a:off x="10893960" y="5356440"/>
            <a:ext cx="675720" cy="109800"/>
          </a:xfrm>
          <a:prstGeom prst="roundRect">
            <a:avLst>
              <a:gd name="adj" fmla="val 33182"/>
            </a:avLst>
          </a:prstGeom>
          <a:solidFill>
            <a:srgbClr val="ffb04c">
              <a:alpha val="22000"/>
            </a:srgbClr>
          </a:solidFill>
          <a:ln w="12700">
            <a:solidFill>
              <a:srgbClr val="ffb04c">
                <a:alpha val="22000"/>
              </a:srgbClr>
            </a:solidFill>
            <a:round/>
          </a:ln>
        </p:spPr>
        <p:style>
          <a:lnRef idx="0"/>
          <a:fillRef idx="0"/>
          <a:effectRef idx="0"/>
          <a:fontRef idx="minor"/>
        </p:style>
        <p:txBody>
          <a:bodyPr lIns="90000" rIns="90000" tIns="43920" bIns="43920" anchor="t">
            <a:noAutofit/>
          </a:bodyPr>
          <a:p>
            <a:endParaRPr b="0" lang="en-US" sz="1800" strike="noStrike" u="none">
              <a:solidFill>
                <a:srgbClr val="000000"/>
              </a:solidFill>
              <a:effectLst/>
              <a:uFillTx/>
              <a:latin typeface="Arial"/>
            </a:endParaRPr>
          </a:p>
        </p:txBody>
      </p:sp>
      <p:sp>
        <p:nvSpPr>
          <p:cNvPr id="610" name="Shape 99"/>
          <p:cNvSpPr/>
          <p:nvPr/>
        </p:nvSpPr>
        <p:spPr>
          <a:xfrm>
            <a:off x="1033200" y="58978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611" name="Shape 100"/>
          <p:cNvSpPr/>
          <p:nvPr/>
        </p:nvSpPr>
        <p:spPr>
          <a:xfrm>
            <a:off x="1143000" y="562608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12" name="Text 101"/>
          <p:cNvSpPr/>
          <p:nvPr/>
        </p:nvSpPr>
        <p:spPr>
          <a:xfrm>
            <a:off x="1243440" y="55893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Autonomous decision support</a:t>
            </a:r>
            <a:endParaRPr b="0" lang="en-US" sz="950" strike="noStrike" u="none">
              <a:solidFill>
                <a:srgbClr val="000000"/>
              </a:solidFill>
              <a:effectLst/>
              <a:uFillTx/>
              <a:latin typeface="Arial"/>
            </a:endParaRPr>
          </a:p>
        </p:txBody>
      </p:sp>
      <p:sp>
        <p:nvSpPr>
          <p:cNvPr id="613" name="Shape 102"/>
          <p:cNvSpPr/>
          <p:nvPr/>
        </p:nvSpPr>
        <p:spPr>
          <a:xfrm>
            <a:off x="9541440" y="5680800"/>
            <a:ext cx="2027880" cy="109800"/>
          </a:xfrm>
          <a:prstGeom prst="roundRect">
            <a:avLst>
              <a:gd name="adj" fmla="val 33182"/>
            </a:avLst>
          </a:prstGeom>
          <a:solidFill>
            <a:srgbClr val="ffb04c"/>
          </a:solidFill>
          <a:ln w="12700">
            <a:solidFill>
              <a:srgbClr val="ffb04c"/>
            </a:solidFill>
            <a:round/>
          </a:ln>
        </p:spPr>
        <p:style>
          <a:lnRef idx="0"/>
          <a:fillRef idx="0"/>
          <a:effectRef idx="0"/>
          <a:fontRef idx="minor"/>
        </p:style>
        <p:txBody>
          <a:bodyPr lIns="90000" rIns="90000" tIns="43920" bIns="43920" anchor="t">
            <a:noAutofit/>
          </a:bodyPr>
          <a:p>
            <a:endParaRPr b="0" lang="en-US" sz="1800" strike="noStrike" u="none">
              <a:solidFill>
                <a:srgbClr val="000000"/>
              </a:solidFill>
              <a:effectLst/>
              <a:uFillTx/>
              <a:latin typeface="Arial"/>
            </a:endParaRPr>
          </a:p>
        </p:txBody>
      </p:sp>
      <p:sp>
        <p:nvSpPr>
          <p:cNvPr id="614" name="Shape 103"/>
          <p:cNvSpPr/>
          <p:nvPr/>
        </p:nvSpPr>
        <p:spPr>
          <a:xfrm>
            <a:off x="7315200" y="6080760"/>
            <a:ext cx="145800" cy="145800"/>
          </a:xfrm>
          <a:prstGeom prst="ellipse">
            <a:avLst/>
          </a:prstGeom>
          <a:solidFill>
            <a:srgbClr val="ffb04c"/>
          </a:solidFill>
          <a:ln w="1016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15" name="Text 104"/>
          <p:cNvSpPr/>
          <p:nvPr/>
        </p:nvSpPr>
        <p:spPr>
          <a:xfrm>
            <a:off x="7534800" y="6071760"/>
            <a:ext cx="50256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850" strike="noStrike" u="none">
                <a:solidFill>
                  <a:srgbClr val="5a625c"/>
                </a:solidFill>
                <a:effectLst/>
                <a:uFillTx/>
                <a:latin typeface="Calibri"/>
                <a:ea typeface="Calibri"/>
              </a:rPr>
              <a:t>MVP</a:t>
            </a:r>
            <a:endParaRPr b="0" lang="en-US" sz="850" strike="noStrike" u="none">
              <a:solidFill>
                <a:srgbClr val="000000"/>
              </a:solidFill>
              <a:effectLst/>
              <a:uFillTx/>
              <a:latin typeface="Arial"/>
            </a:endParaRPr>
          </a:p>
        </p:txBody>
      </p:sp>
      <p:sp>
        <p:nvSpPr>
          <p:cNvPr id="616" name="Shape 105"/>
          <p:cNvSpPr/>
          <p:nvPr/>
        </p:nvSpPr>
        <p:spPr>
          <a:xfrm>
            <a:off x="8183880" y="6080760"/>
            <a:ext cx="145800" cy="145800"/>
          </a:xfrm>
          <a:prstGeom prst="ellipse">
            <a:avLst/>
          </a:prstGeom>
          <a:solidFill>
            <a:srgbClr val="007a27"/>
          </a:solidFill>
          <a:ln w="1016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617" name="Text 106"/>
          <p:cNvSpPr/>
          <p:nvPr/>
        </p:nvSpPr>
        <p:spPr>
          <a:xfrm>
            <a:off x="8403480" y="6071760"/>
            <a:ext cx="73116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850" strike="noStrike" u="none">
                <a:solidFill>
                  <a:srgbClr val="5a625c"/>
                </a:solidFill>
                <a:effectLst/>
                <a:uFillTx/>
                <a:latin typeface="Calibri"/>
                <a:ea typeface="Calibri"/>
              </a:rPr>
              <a:t>Full GA</a:t>
            </a:r>
            <a:endParaRPr b="0" lang="en-US" sz="850" strike="noStrike" u="none">
              <a:solidFill>
                <a:srgbClr val="000000"/>
              </a:solidFill>
              <a:effectLst/>
              <a:uFillTx/>
              <a:latin typeface="Arial"/>
            </a:endParaRPr>
          </a:p>
        </p:txBody>
      </p:sp>
      <p:sp>
        <p:nvSpPr>
          <p:cNvPr id="618" name="Shape 107"/>
          <p:cNvSpPr/>
          <p:nvPr/>
        </p:nvSpPr>
        <p:spPr>
          <a:xfrm>
            <a:off x="9326880" y="6099120"/>
            <a:ext cx="456840" cy="109440"/>
          </a:xfrm>
          <a:prstGeom prst="roundRect">
            <a:avLst>
              <a:gd name="adj" fmla="val 25000"/>
            </a:avLst>
          </a:prstGeom>
          <a:solidFill>
            <a:srgbClr val="3dcd58">
              <a:alpha val="22000"/>
            </a:srgbClr>
          </a:solidFill>
          <a:ln w="12700">
            <a:solidFill>
              <a:srgbClr val="3dcd58">
                <a:alpha val="22000"/>
              </a:srgbClr>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19" name="Text 108"/>
          <p:cNvSpPr/>
          <p:nvPr/>
        </p:nvSpPr>
        <p:spPr>
          <a:xfrm>
            <a:off x="9857160" y="6071760"/>
            <a:ext cx="173700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850" strike="noStrike" u="none">
                <a:solidFill>
                  <a:srgbClr val="5a625c"/>
                </a:solidFill>
                <a:effectLst/>
                <a:uFillTx/>
                <a:latin typeface="Calibri"/>
                <a:ea typeface="Calibri"/>
              </a:rPr>
              <a:t>Continuous investment after GA</a:t>
            </a:r>
            <a:endParaRPr b="0" lang="en-US" sz="850" strike="noStrike" u="none">
              <a:solidFill>
                <a:srgbClr val="000000"/>
              </a:solidFill>
              <a:effectLst/>
              <a:uFillTx/>
              <a:latin typeface="Arial"/>
            </a:endParaRPr>
          </a:p>
        </p:txBody>
      </p:sp>
      <p:sp>
        <p:nvSpPr>
          <p:cNvPr id="620" name="Shape 109"/>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621" name="Text 110"/>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622" name="Text 111"/>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623" name="PlaceHolder 1"/>
          <p:cNvSpPr>
            <a:spLocks noGrp="1"/>
          </p:cNvSpPr>
          <p:nvPr>
            <p:ph type="sldNum" idx="23"/>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3BCBFB60-B16A-48D3-8BA5-CDFB35C2E0EB}"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24"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625"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626" name="Shape 2"/>
          <p:cNvSpPr/>
          <p:nvPr/>
        </p:nvSpPr>
        <p:spPr>
          <a:xfrm>
            <a:off x="621720" y="311040"/>
            <a:ext cx="292104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27" name="Text 3"/>
          <p:cNvSpPr/>
          <p:nvPr/>
        </p:nvSpPr>
        <p:spPr>
          <a:xfrm>
            <a:off x="804600" y="329040"/>
            <a:ext cx="259200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WHERE WE PLACE THE BETS</a:t>
            </a:r>
            <a:endParaRPr b="0" lang="en-US" sz="950" strike="noStrike" u="none">
              <a:solidFill>
                <a:srgbClr val="000000"/>
              </a:solidFill>
              <a:effectLst/>
              <a:uFillTx/>
              <a:latin typeface="Arial"/>
            </a:endParaRPr>
          </a:p>
        </p:txBody>
      </p:sp>
      <p:sp>
        <p:nvSpPr>
          <p:cNvPr id="628"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What we fund, what we defer</a:t>
            </a:r>
            <a:endParaRPr b="0" lang="en-US" sz="3200" strike="noStrike" u="none">
              <a:solidFill>
                <a:srgbClr val="000000"/>
              </a:solidFill>
              <a:effectLst/>
              <a:uFillTx/>
              <a:latin typeface="Arial"/>
            </a:endParaRPr>
          </a:p>
        </p:txBody>
      </p:sp>
      <p:sp>
        <p:nvSpPr>
          <p:cNvPr id="629"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Sequencing is the strategy. The core is funded first because everything else depends on it.</a:t>
            </a:r>
            <a:endParaRPr b="0" lang="en-US" sz="1250" strike="noStrike" u="none">
              <a:solidFill>
                <a:srgbClr val="000000"/>
              </a:solidFill>
              <a:effectLst/>
              <a:uFillTx/>
              <a:latin typeface="Arial"/>
            </a:endParaRPr>
          </a:p>
        </p:txBody>
      </p:sp>
      <p:sp>
        <p:nvSpPr>
          <p:cNvPr id="630"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631" name="Shape 7"/>
          <p:cNvSpPr/>
          <p:nvPr/>
        </p:nvSpPr>
        <p:spPr>
          <a:xfrm>
            <a:off x="62172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32" name="Shape 8"/>
          <p:cNvSpPr/>
          <p:nvPr/>
        </p:nvSpPr>
        <p:spPr>
          <a:xfrm>
            <a:off x="621720" y="2084760"/>
            <a:ext cx="63720" cy="41785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33" name="Shape 9"/>
          <p:cNvSpPr/>
          <p:nvPr/>
        </p:nvSpPr>
        <p:spPr>
          <a:xfrm>
            <a:off x="868680" y="2286000"/>
            <a:ext cx="438480" cy="438480"/>
          </a:xfrm>
          <a:prstGeom prst="ellipse">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34" name="Text 10"/>
          <p:cNvSpPr/>
          <p:nvPr/>
        </p:nvSpPr>
        <p:spPr>
          <a:xfrm>
            <a:off x="868680" y="2286000"/>
            <a:ext cx="43848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007a27"/>
                </a:solidFill>
                <a:effectLst/>
                <a:uFillTx/>
                <a:latin typeface="Calibri"/>
                <a:ea typeface="Calibri"/>
              </a:rPr>
              <a:t>01</a:t>
            </a:r>
            <a:endParaRPr b="0" lang="en-US" sz="1200" strike="noStrike" u="none">
              <a:solidFill>
                <a:srgbClr val="000000"/>
              </a:solidFill>
              <a:effectLst/>
              <a:uFillTx/>
              <a:latin typeface="Arial"/>
            </a:endParaRPr>
          </a:p>
        </p:txBody>
      </p:sp>
      <p:sp>
        <p:nvSpPr>
          <p:cNvPr id="635" name="Text 11"/>
          <p:cNvSpPr/>
          <p:nvPr/>
        </p:nvSpPr>
        <p:spPr>
          <a:xfrm>
            <a:off x="1398960" y="2267640"/>
            <a:ext cx="2460240" cy="5025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500" strike="noStrike" u="none">
                <a:solidFill>
                  <a:srgbClr val="1e2420"/>
                </a:solidFill>
                <a:effectLst/>
                <a:uFillTx/>
                <a:latin typeface="Calibri"/>
                <a:ea typeface="Calibri"/>
              </a:rPr>
              <a:t>Fund now</a:t>
            </a:r>
            <a:endParaRPr b="0" lang="en-US" sz="1500" strike="noStrike" u="none">
              <a:solidFill>
                <a:srgbClr val="000000"/>
              </a:solidFill>
              <a:effectLst/>
              <a:uFillTx/>
              <a:latin typeface="Arial"/>
            </a:endParaRPr>
          </a:p>
        </p:txBody>
      </p:sp>
      <p:sp>
        <p:nvSpPr>
          <p:cNvPr id="636" name="Text 12"/>
          <p:cNvSpPr/>
          <p:nvPr/>
        </p:nvSpPr>
        <p:spPr>
          <a:xfrm>
            <a:off x="850320" y="2862000"/>
            <a:ext cx="3008880" cy="7768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2026 commitments already ranked and capacity confirmed</a:t>
            </a:r>
            <a:endParaRPr b="0" lang="en-US" sz="1100" strike="noStrike" u="none">
              <a:solidFill>
                <a:srgbClr val="000000"/>
              </a:solidFill>
              <a:effectLst/>
              <a:uFillTx/>
              <a:latin typeface="Arial"/>
            </a:endParaRPr>
          </a:p>
        </p:txBody>
      </p:sp>
      <p:sp>
        <p:nvSpPr>
          <p:cNvPr id="637" name="Text 13"/>
          <p:cNvSpPr/>
          <p:nvPr/>
        </p:nvSpPr>
        <p:spPr>
          <a:xfrm>
            <a:off x="850320" y="3684960"/>
            <a:ext cx="3008880" cy="2395440"/>
          </a:xfrm>
          <a:prstGeom prst="rect">
            <a:avLst/>
          </a:prstGeom>
          <a:noFill/>
          <a:ln w="0">
            <a:noFill/>
          </a:ln>
        </p:spPr>
        <p:style>
          <a:lnRef idx="0"/>
          <a:fillRef idx="0"/>
          <a:effectRef idx="0"/>
          <a:fontRef idx="minor"/>
        </p:style>
        <p:txBody>
          <a:bodyPr lIns="0" rIns="0" tIns="0" bIns="0" anchor="t">
            <a:normAutofit/>
          </a:bodyPr>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Core platform foundations</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Carbon inventory depth and defensibility</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Supply chain migration off legacy</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Reporting foundations for the CSRD cycle</a:t>
            </a:r>
            <a:endParaRPr b="0" lang="en-US" sz="1100" strike="noStrike" u="none">
              <a:solidFill>
                <a:srgbClr val="000000"/>
              </a:solidFill>
              <a:effectLst/>
              <a:uFillTx/>
              <a:latin typeface="Arial"/>
            </a:endParaRPr>
          </a:p>
        </p:txBody>
      </p:sp>
      <p:sp>
        <p:nvSpPr>
          <p:cNvPr id="638" name="Shape 14"/>
          <p:cNvSpPr/>
          <p:nvPr/>
        </p:nvSpPr>
        <p:spPr>
          <a:xfrm>
            <a:off x="436248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39" name="Shape 15"/>
          <p:cNvSpPr/>
          <p:nvPr/>
        </p:nvSpPr>
        <p:spPr>
          <a:xfrm>
            <a:off x="4362480" y="2084760"/>
            <a:ext cx="63720" cy="41785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40" name="Shape 16"/>
          <p:cNvSpPr/>
          <p:nvPr/>
        </p:nvSpPr>
        <p:spPr>
          <a:xfrm>
            <a:off x="4609440" y="2286000"/>
            <a:ext cx="438480" cy="438480"/>
          </a:xfrm>
          <a:prstGeom prst="ellipse">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41" name="Text 17"/>
          <p:cNvSpPr/>
          <p:nvPr/>
        </p:nvSpPr>
        <p:spPr>
          <a:xfrm>
            <a:off x="4609440" y="2286000"/>
            <a:ext cx="43848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007a27"/>
                </a:solidFill>
                <a:effectLst/>
                <a:uFillTx/>
                <a:latin typeface="Calibri"/>
                <a:ea typeface="Calibri"/>
              </a:rPr>
              <a:t>02</a:t>
            </a:r>
            <a:endParaRPr b="0" lang="en-US" sz="1200" strike="noStrike" u="none">
              <a:solidFill>
                <a:srgbClr val="000000"/>
              </a:solidFill>
              <a:effectLst/>
              <a:uFillTx/>
              <a:latin typeface="Arial"/>
            </a:endParaRPr>
          </a:p>
        </p:txBody>
      </p:sp>
      <p:sp>
        <p:nvSpPr>
          <p:cNvPr id="642" name="Text 18"/>
          <p:cNvSpPr/>
          <p:nvPr/>
        </p:nvSpPr>
        <p:spPr>
          <a:xfrm>
            <a:off x="5139720" y="2267640"/>
            <a:ext cx="2460240" cy="5025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500" strike="noStrike" u="none">
                <a:solidFill>
                  <a:srgbClr val="1e2420"/>
                </a:solidFill>
                <a:effectLst/>
                <a:uFillTx/>
                <a:latin typeface="Calibri"/>
                <a:ea typeface="Calibri"/>
              </a:rPr>
              <a:t>Fund next</a:t>
            </a:r>
            <a:endParaRPr b="0" lang="en-US" sz="1500" strike="noStrike" u="none">
              <a:solidFill>
                <a:srgbClr val="000000"/>
              </a:solidFill>
              <a:effectLst/>
              <a:uFillTx/>
              <a:latin typeface="Arial"/>
            </a:endParaRPr>
          </a:p>
        </p:txBody>
      </p:sp>
      <p:sp>
        <p:nvSpPr>
          <p:cNvPr id="643" name="Text 19"/>
          <p:cNvSpPr/>
          <p:nvPr/>
        </p:nvSpPr>
        <p:spPr>
          <a:xfrm>
            <a:off x="4591080" y="2862000"/>
            <a:ext cx="3008880" cy="7768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2027, gated on the core landing</a:t>
            </a:r>
            <a:endParaRPr b="0" lang="en-US" sz="1100" strike="noStrike" u="none">
              <a:solidFill>
                <a:srgbClr val="000000"/>
              </a:solidFill>
              <a:effectLst/>
              <a:uFillTx/>
              <a:latin typeface="Arial"/>
            </a:endParaRPr>
          </a:p>
        </p:txBody>
      </p:sp>
      <p:sp>
        <p:nvSpPr>
          <p:cNvPr id="644" name="Text 20"/>
          <p:cNvSpPr/>
          <p:nvPr/>
        </p:nvSpPr>
        <p:spPr>
          <a:xfrm>
            <a:off x="4591080" y="3684960"/>
            <a:ext cx="3008880" cy="2395440"/>
          </a:xfrm>
          <a:prstGeom prst="rect">
            <a:avLst/>
          </a:prstGeom>
          <a:noFill/>
          <a:ln w="0">
            <a:noFill/>
          </a:ln>
        </p:spPr>
        <p:style>
          <a:lnRef idx="0"/>
          <a:fillRef idx="0"/>
          <a:effectRef idx="0"/>
          <a:fontRef idx="minor"/>
        </p:style>
        <p:txBody>
          <a:bodyPr lIns="0" rIns="0" tIns="0" bIns="0" anchor="t">
            <a:normAutofit/>
          </a:bodyPr>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Product level carbon footprint and supplier action</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Value at risk and adaptation planning</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AI assisted disclosure and assurance</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Rebaselining and method transparency</a:t>
            </a:r>
            <a:endParaRPr b="0" lang="en-US" sz="1100" strike="noStrike" u="none">
              <a:solidFill>
                <a:srgbClr val="000000"/>
              </a:solidFill>
              <a:effectLst/>
              <a:uFillTx/>
              <a:latin typeface="Arial"/>
            </a:endParaRPr>
          </a:p>
        </p:txBody>
      </p:sp>
      <p:sp>
        <p:nvSpPr>
          <p:cNvPr id="645" name="Shape 21"/>
          <p:cNvSpPr/>
          <p:nvPr/>
        </p:nvSpPr>
        <p:spPr>
          <a:xfrm>
            <a:off x="810324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46" name="Shape 22"/>
          <p:cNvSpPr/>
          <p:nvPr/>
        </p:nvSpPr>
        <p:spPr>
          <a:xfrm>
            <a:off x="8103240" y="2084760"/>
            <a:ext cx="63720" cy="41785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47" name="Shape 23"/>
          <p:cNvSpPr/>
          <p:nvPr/>
        </p:nvSpPr>
        <p:spPr>
          <a:xfrm>
            <a:off x="8350200" y="2286000"/>
            <a:ext cx="438480" cy="438480"/>
          </a:xfrm>
          <a:prstGeom prst="ellipse">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48" name="Text 24"/>
          <p:cNvSpPr/>
          <p:nvPr/>
        </p:nvSpPr>
        <p:spPr>
          <a:xfrm>
            <a:off x="8350200" y="2286000"/>
            <a:ext cx="43848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007a27"/>
                </a:solidFill>
                <a:effectLst/>
                <a:uFillTx/>
                <a:latin typeface="Calibri"/>
                <a:ea typeface="Calibri"/>
              </a:rPr>
              <a:t>03</a:t>
            </a:r>
            <a:endParaRPr b="0" lang="en-US" sz="1200" strike="noStrike" u="none">
              <a:solidFill>
                <a:srgbClr val="000000"/>
              </a:solidFill>
              <a:effectLst/>
              <a:uFillTx/>
              <a:latin typeface="Arial"/>
            </a:endParaRPr>
          </a:p>
        </p:txBody>
      </p:sp>
      <p:sp>
        <p:nvSpPr>
          <p:cNvPr id="649" name="Text 25"/>
          <p:cNvSpPr/>
          <p:nvPr/>
        </p:nvSpPr>
        <p:spPr>
          <a:xfrm>
            <a:off x="8880480" y="2267640"/>
            <a:ext cx="2460240" cy="5025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500" strike="noStrike" u="none">
                <a:solidFill>
                  <a:srgbClr val="1e2420"/>
                </a:solidFill>
                <a:effectLst/>
                <a:uFillTx/>
                <a:latin typeface="Calibri"/>
                <a:ea typeface="Calibri"/>
              </a:rPr>
              <a:t>Deliberately defer</a:t>
            </a:r>
            <a:endParaRPr b="0" lang="en-US" sz="1500" strike="noStrike" u="none">
              <a:solidFill>
                <a:srgbClr val="000000"/>
              </a:solidFill>
              <a:effectLst/>
              <a:uFillTx/>
              <a:latin typeface="Arial"/>
            </a:endParaRPr>
          </a:p>
        </p:txBody>
      </p:sp>
      <p:sp>
        <p:nvSpPr>
          <p:cNvPr id="650" name="Text 26"/>
          <p:cNvSpPr/>
          <p:nvPr/>
        </p:nvSpPr>
        <p:spPr>
          <a:xfrm>
            <a:off x="8331840" y="2862000"/>
            <a:ext cx="3008880" cy="7768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Directional until ranked and capacity confirmed</a:t>
            </a:r>
            <a:endParaRPr b="0" lang="en-US" sz="1100" strike="noStrike" u="none">
              <a:solidFill>
                <a:srgbClr val="000000"/>
              </a:solidFill>
              <a:effectLst/>
              <a:uFillTx/>
              <a:latin typeface="Arial"/>
            </a:endParaRPr>
          </a:p>
        </p:txBody>
      </p:sp>
      <p:sp>
        <p:nvSpPr>
          <p:cNvPr id="651" name="Text 27"/>
          <p:cNvSpPr/>
          <p:nvPr/>
        </p:nvSpPr>
        <p:spPr>
          <a:xfrm>
            <a:off x="8331840" y="3684960"/>
            <a:ext cx="3008880" cy="2395440"/>
          </a:xfrm>
          <a:prstGeom prst="rect">
            <a:avLst/>
          </a:prstGeom>
          <a:noFill/>
          <a:ln w="0">
            <a:noFill/>
          </a:ln>
        </p:spPr>
        <p:style>
          <a:lnRef idx="0"/>
          <a:fillRef idx="0"/>
          <a:effectRef idx="0"/>
          <a:fontRef idx="minor"/>
        </p:style>
        <p:txBody>
          <a:bodyPr lIns="0" rIns="0" tIns="0" bIns="0" anchor="t">
            <a:normAutofit/>
          </a:bodyPr>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Specialised standards beyond core demand</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Domain specific point solutions</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Anything that forks the shared data model</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Scale work ahead of proven demand</a:t>
            </a:r>
            <a:endParaRPr b="0" lang="en-US" sz="1100" strike="noStrike" u="none">
              <a:solidFill>
                <a:srgbClr val="000000"/>
              </a:solidFill>
              <a:effectLst/>
              <a:uFillTx/>
              <a:latin typeface="Arial"/>
            </a:endParaRPr>
          </a:p>
        </p:txBody>
      </p:sp>
      <p:sp>
        <p:nvSpPr>
          <p:cNvPr id="652" name="Shape 28"/>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653" name="Text 29"/>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654" name="Text 30"/>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655" name="PlaceHolder 1"/>
          <p:cNvSpPr>
            <a:spLocks noGrp="1"/>
          </p:cNvSpPr>
          <p:nvPr>
            <p:ph type="sldNum" idx="24"/>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690D9195-72CA-49A1-942B-AE7105E353AD}"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5730"/>
        </a:solidFill>
      </p:bgPr>
    </p:bg>
    <p:spTree>
      <p:nvGrpSpPr>
        <p:cNvPr id="1" name=""/>
        <p:cNvGrpSpPr/>
        <p:nvPr/>
      </p:nvGrpSpPr>
      <p:grpSpPr>
        <a:xfrm>
          <a:off x="0" y="0"/>
          <a:ext cx="0" cy="0"/>
          <a:chOff x="0" y="0"/>
          <a:chExt cx="0" cy="0"/>
        </a:xfrm>
      </p:grpSpPr>
      <p:sp>
        <p:nvSpPr>
          <p:cNvPr id="656"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657"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658" name="Shape 2"/>
          <p:cNvSpPr/>
          <p:nvPr/>
        </p:nvSpPr>
        <p:spPr>
          <a:xfrm>
            <a:off x="8641080" y="822960"/>
            <a:ext cx="360" cy="5212080"/>
          </a:xfrm>
          <a:prstGeom prst="line">
            <a:avLst/>
          </a:prstGeom>
          <a:ln w="12700">
            <a:solidFill>
              <a:srgbClr val="2c8058"/>
            </a:solidFill>
            <a:round/>
          </a:ln>
        </p:spPr>
        <p:style>
          <a:lnRef idx="0"/>
          <a:fillRef idx="0"/>
          <a:effectRef idx="0"/>
          <a:fontRef idx="minor"/>
        </p:style>
        <p:txBody>
          <a:bodyPr lIns="90000" rIns="90000" tIns="45000" bIns="45000" anchor="t" anchorCtr="1">
            <a:noAutofit/>
          </a:bodyPr>
          <a:p>
            <a:endParaRPr b="0" lang="en-US" sz="1800" strike="noStrike" u="none">
              <a:solidFill>
                <a:srgbClr val="ffffff"/>
              </a:solidFill>
              <a:effectLst/>
              <a:uFillTx/>
              <a:latin typeface="Arial"/>
            </a:endParaRPr>
          </a:p>
        </p:txBody>
      </p:sp>
      <p:sp>
        <p:nvSpPr>
          <p:cNvPr id="659" name="Text 3"/>
          <p:cNvSpPr/>
          <p:nvPr/>
        </p:nvSpPr>
        <p:spPr>
          <a:xfrm>
            <a:off x="9144000" y="841320"/>
            <a:ext cx="2194200" cy="22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81" strike="noStrike" u="none">
                <a:solidFill>
                  <a:srgbClr val="bfe6ce"/>
                </a:solidFill>
                <a:effectLst/>
                <a:uFillTx/>
                <a:latin typeface="Calibri"/>
                <a:ea typeface="Calibri"/>
              </a:rPr>
              <a:t>RA+ ROADMAP</a:t>
            </a:r>
            <a:endParaRPr b="0" lang="en-US" sz="900" strike="noStrike" u="none">
              <a:solidFill>
                <a:srgbClr val="ffffff"/>
              </a:solidFill>
              <a:effectLst/>
              <a:uFillTx/>
              <a:latin typeface="Arial"/>
            </a:endParaRPr>
          </a:p>
        </p:txBody>
      </p:sp>
      <p:sp>
        <p:nvSpPr>
          <p:cNvPr id="660" name="Text 4"/>
          <p:cNvSpPr/>
          <p:nvPr/>
        </p:nvSpPr>
        <p:spPr>
          <a:xfrm>
            <a:off x="9144000" y="1325880"/>
            <a:ext cx="2194200" cy="1462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3600" strike="noStrike" u="none">
                <a:solidFill>
                  <a:srgbClr val="ffffff"/>
                </a:solidFill>
                <a:effectLst/>
                <a:uFillTx/>
                <a:latin typeface="Calibri"/>
                <a:ea typeface="Calibri"/>
              </a:rPr>
              <a:t>2026</a:t>
            </a:r>
            <a:endParaRPr b="0" lang="en-US" sz="3600" strike="noStrike" u="none">
              <a:solidFill>
                <a:srgbClr val="ffffff"/>
              </a:solidFill>
              <a:effectLst/>
              <a:uFillTx/>
              <a:latin typeface="Arial"/>
            </a:endParaRPr>
          </a:p>
          <a:p>
            <a:pPr defTabSz="914400">
              <a:lnSpc>
                <a:spcPct val="100000"/>
              </a:lnSpc>
              <a:tabLst>
                <a:tab algn="l" pos="0"/>
              </a:tabLst>
            </a:pPr>
            <a:r>
              <a:rPr b="1" lang="en-US" sz="3600" strike="noStrike" u="none">
                <a:solidFill>
                  <a:srgbClr val="ffffff"/>
                </a:solidFill>
                <a:effectLst/>
                <a:uFillTx/>
                <a:latin typeface="Calibri"/>
                <a:ea typeface="Calibri"/>
              </a:rPr>
              <a:t>2027</a:t>
            </a:r>
            <a:endParaRPr b="0" lang="en-US" sz="3600" strike="noStrike" u="none">
              <a:solidFill>
                <a:srgbClr val="ffffff"/>
              </a:solidFill>
              <a:effectLst/>
              <a:uFillTx/>
              <a:latin typeface="Arial"/>
            </a:endParaRPr>
          </a:p>
        </p:txBody>
      </p:sp>
      <p:sp>
        <p:nvSpPr>
          <p:cNvPr id="661" name="Text 5"/>
          <p:cNvSpPr/>
          <p:nvPr/>
        </p:nvSpPr>
        <p:spPr>
          <a:xfrm>
            <a:off x="621720" y="960120"/>
            <a:ext cx="71319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221" strike="noStrike" u="none">
                <a:solidFill>
                  <a:srgbClr val="bfe6ce"/>
                </a:solidFill>
                <a:effectLst/>
                <a:uFillTx/>
                <a:latin typeface="Calibri"/>
                <a:ea typeface="Calibri"/>
              </a:rPr>
              <a:t>AGENDA ITEM 2</a:t>
            </a:r>
            <a:endParaRPr b="0" lang="en-US" sz="1100" strike="noStrike" u="none">
              <a:solidFill>
                <a:srgbClr val="ffffff"/>
              </a:solidFill>
              <a:effectLst/>
              <a:uFillTx/>
              <a:latin typeface="Arial"/>
            </a:endParaRPr>
          </a:p>
        </p:txBody>
      </p:sp>
      <p:sp>
        <p:nvSpPr>
          <p:cNvPr id="662" name="Text 6"/>
          <p:cNvSpPr/>
          <p:nvPr/>
        </p:nvSpPr>
        <p:spPr>
          <a:xfrm>
            <a:off x="621720" y="1508760"/>
            <a:ext cx="191988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5800" strike="noStrike" u="none">
                <a:solidFill>
                  <a:srgbClr val="3dcd58"/>
                </a:solidFill>
                <a:effectLst/>
                <a:uFillTx/>
                <a:latin typeface="Calibri"/>
                <a:ea typeface="Calibri"/>
              </a:rPr>
              <a:t>02</a:t>
            </a:r>
            <a:endParaRPr b="0" lang="en-US" sz="5800" strike="noStrike" u="none">
              <a:solidFill>
                <a:srgbClr val="ffffff"/>
              </a:solidFill>
              <a:effectLst/>
              <a:uFillTx/>
              <a:latin typeface="Arial"/>
            </a:endParaRPr>
          </a:p>
        </p:txBody>
      </p:sp>
      <p:sp>
        <p:nvSpPr>
          <p:cNvPr id="663" name="Text 7"/>
          <p:cNvSpPr/>
          <p:nvPr/>
        </p:nvSpPr>
        <p:spPr>
          <a:xfrm>
            <a:off x="621720" y="2606040"/>
            <a:ext cx="7406280" cy="11426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ffffff"/>
                </a:solidFill>
                <a:effectLst/>
                <a:uFillTx/>
                <a:latin typeface="Calibri"/>
                <a:ea typeface="Calibri"/>
              </a:rPr>
              <a:t>The market and the competition</a:t>
            </a:r>
            <a:endParaRPr b="0" lang="en-US" sz="3200" strike="noStrike" u="none">
              <a:solidFill>
                <a:srgbClr val="ffffff"/>
              </a:solidFill>
              <a:effectLst/>
              <a:uFillTx/>
              <a:latin typeface="Arial"/>
            </a:endParaRPr>
          </a:p>
        </p:txBody>
      </p:sp>
      <p:sp>
        <p:nvSpPr>
          <p:cNvPr id="664" name="Text 8"/>
          <p:cNvSpPr/>
          <p:nvPr/>
        </p:nvSpPr>
        <p:spPr>
          <a:xfrm>
            <a:off x="621720" y="4005000"/>
            <a:ext cx="704052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400" strike="noStrike" u="none">
                <a:solidFill>
                  <a:srgbClr val="d6eadf"/>
                </a:solidFill>
                <a:effectLst/>
                <a:uFillTx/>
                <a:latin typeface="Calibri"/>
                <a:ea typeface="Calibri"/>
              </a:rPr>
              <a:t>Who we are up against, where we win, and how we make RA+ easier to buy.</a:t>
            </a:r>
            <a:endParaRPr b="0" lang="en-US" sz="14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65"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666"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667" name="Shape 2"/>
          <p:cNvSpPr/>
          <p:nvPr/>
        </p:nvSpPr>
        <p:spPr>
          <a:xfrm>
            <a:off x="621720" y="311040"/>
            <a:ext cx="397260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68" name="Text 3"/>
          <p:cNvSpPr/>
          <p:nvPr/>
        </p:nvSpPr>
        <p:spPr>
          <a:xfrm>
            <a:off x="804600" y="329040"/>
            <a:ext cx="364356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MARKET CONTEXT | ANALYST EVIDENCE</a:t>
            </a:r>
            <a:endParaRPr b="0" lang="en-US" sz="950" strike="noStrike" u="none">
              <a:solidFill>
                <a:srgbClr val="000000"/>
              </a:solidFill>
              <a:effectLst/>
              <a:uFillTx/>
              <a:latin typeface="Arial"/>
            </a:endParaRPr>
          </a:p>
        </p:txBody>
      </p:sp>
      <p:sp>
        <p:nvSpPr>
          <p:cNvPr id="669" name="Text 4"/>
          <p:cNvSpPr/>
          <p:nvPr/>
        </p:nvSpPr>
        <p:spPr>
          <a:xfrm>
            <a:off x="621720" y="768240"/>
            <a:ext cx="10947600" cy="804240"/>
          </a:xfrm>
          <a:prstGeom prst="rect">
            <a:avLst/>
          </a:prstGeom>
          <a:noFill/>
          <a:ln w="0">
            <a:noFill/>
          </a:ln>
        </p:spPr>
        <p:style>
          <a:lnRef idx="0"/>
          <a:fillRef idx="0"/>
          <a:effectRef idx="0"/>
          <a:fontRef idx="minor"/>
        </p:style>
        <p:txBody>
          <a:bodyPr lIns="0" rIns="0" tIns="0" bIns="0" anchor="t">
            <a:normAutofit lnSpcReduction="9999"/>
          </a:bodyPr>
          <a:p>
            <a:pPr defTabSz="914400">
              <a:lnSpc>
                <a:spcPct val="100000"/>
              </a:lnSpc>
              <a:tabLst>
                <a:tab algn="l" pos="0"/>
              </a:tabLst>
            </a:pPr>
            <a:r>
              <a:rPr b="1" lang="en-US" sz="2800" strike="noStrike" u="none">
                <a:solidFill>
                  <a:srgbClr val="1e2420"/>
                </a:solidFill>
                <a:effectLst/>
                <a:uFillTx/>
                <a:latin typeface="Calibri"/>
                <a:ea typeface="Calibri"/>
              </a:rPr>
              <a:t>The market moved from net zero at all costs to business value at all times</a:t>
            </a:r>
            <a:endParaRPr b="0" lang="en-US" sz="2800" strike="noStrike" u="none">
              <a:solidFill>
                <a:srgbClr val="000000"/>
              </a:solidFill>
              <a:effectLst/>
              <a:uFillTx/>
              <a:latin typeface="Arial"/>
            </a:endParaRPr>
          </a:p>
        </p:txBody>
      </p:sp>
      <p:sp>
        <p:nvSpPr>
          <p:cNvPr id="670" name="Text 5"/>
          <p:cNvSpPr/>
          <p:nvPr/>
        </p:nvSpPr>
        <p:spPr>
          <a:xfrm>
            <a:off x="621720" y="15728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What independent analysts published for 2026 and beyond, and why it validates a converged energy, efficiency and sustainability platform.</a:t>
            </a:r>
            <a:endParaRPr b="0" lang="en-US" sz="1250" strike="noStrike" u="none">
              <a:solidFill>
                <a:srgbClr val="000000"/>
              </a:solidFill>
              <a:effectLst/>
              <a:uFillTx/>
              <a:latin typeface="Arial"/>
            </a:endParaRPr>
          </a:p>
        </p:txBody>
      </p:sp>
      <p:sp>
        <p:nvSpPr>
          <p:cNvPr id="671"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672" name="Shape 7"/>
          <p:cNvSpPr/>
          <p:nvPr/>
        </p:nvSpPr>
        <p:spPr>
          <a:xfrm>
            <a:off x="621720" y="2084760"/>
            <a:ext cx="3466080" cy="3419640"/>
          </a:xfrm>
          <a:prstGeom prst="roundRect">
            <a:avLst>
              <a:gd name="adj" fmla="val 1604"/>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73" name="Shape 8"/>
          <p:cNvSpPr/>
          <p:nvPr/>
        </p:nvSpPr>
        <p:spPr>
          <a:xfrm>
            <a:off x="621720" y="2084760"/>
            <a:ext cx="63720" cy="341964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74" name="Shape 9"/>
          <p:cNvSpPr/>
          <p:nvPr/>
        </p:nvSpPr>
        <p:spPr>
          <a:xfrm>
            <a:off x="868680" y="2286000"/>
            <a:ext cx="438480" cy="438480"/>
          </a:xfrm>
          <a:prstGeom prst="ellipse">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75" name="Text 10"/>
          <p:cNvSpPr/>
          <p:nvPr/>
        </p:nvSpPr>
        <p:spPr>
          <a:xfrm>
            <a:off x="868680" y="2286000"/>
            <a:ext cx="43848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007a27"/>
                </a:solidFill>
                <a:effectLst/>
                <a:uFillTx/>
                <a:latin typeface="Calibri"/>
                <a:ea typeface="Calibri"/>
              </a:rPr>
              <a:t>01</a:t>
            </a:r>
            <a:endParaRPr b="0" lang="en-US" sz="1200" strike="noStrike" u="none">
              <a:solidFill>
                <a:srgbClr val="000000"/>
              </a:solidFill>
              <a:effectLst/>
              <a:uFillTx/>
              <a:latin typeface="Arial"/>
            </a:endParaRPr>
          </a:p>
        </p:txBody>
      </p:sp>
      <p:sp>
        <p:nvSpPr>
          <p:cNvPr id="676" name="Text 11"/>
          <p:cNvSpPr/>
          <p:nvPr/>
        </p:nvSpPr>
        <p:spPr>
          <a:xfrm>
            <a:off x="1398960" y="2267640"/>
            <a:ext cx="2460240" cy="5025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500" strike="noStrike" u="none">
                <a:solidFill>
                  <a:srgbClr val="1e2420"/>
                </a:solidFill>
                <a:effectLst/>
                <a:uFillTx/>
                <a:latin typeface="Calibri"/>
                <a:ea typeface="Calibri"/>
              </a:rPr>
              <a:t>Energy</a:t>
            </a:r>
            <a:endParaRPr b="0" lang="en-US" sz="1500" strike="noStrike" u="none">
              <a:solidFill>
                <a:srgbClr val="000000"/>
              </a:solidFill>
              <a:effectLst/>
              <a:uFillTx/>
              <a:latin typeface="Arial"/>
            </a:endParaRPr>
          </a:p>
        </p:txBody>
      </p:sp>
      <p:sp>
        <p:nvSpPr>
          <p:cNvPr id="677" name="Text 12"/>
          <p:cNvSpPr/>
          <p:nvPr/>
        </p:nvSpPr>
        <p:spPr>
          <a:xfrm>
            <a:off x="850320" y="2862000"/>
            <a:ext cx="3008880" cy="7768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Resilience is now the buying trigger</a:t>
            </a:r>
            <a:endParaRPr b="0" lang="en-US" sz="1100" strike="noStrike" u="none">
              <a:solidFill>
                <a:srgbClr val="000000"/>
              </a:solidFill>
              <a:effectLst/>
              <a:uFillTx/>
              <a:latin typeface="Arial"/>
            </a:endParaRPr>
          </a:p>
        </p:txBody>
      </p:sp>
      <p:sp>
        <p:nvSpPr>
          <p:cNvPr id="678" name="Text 13"/>
          <p:cNvSpPr/>
          <p:nvPr/>
        </p:nvSpPr>
        <p:spPr>
          <a:xfrm>
            <a:off x="850320" y="3684960"/>
            <a:ext cx="3008880" cy="1636560"/>
          </a:xfrm>
          <a:prstGeom prst="rect">
            <a:avLst/>
          </a:prstGeom>
          <a:noFill/>
          <a:ln w="0">
            <a:noFill/>
          </a:ln>
        </p:spPr>
        <p:style>
          <a:lnRef idx="0"/>
          <a:fillRef idx="0"/>
          <a:effectRef idx="0"/>
          <a:fontRef idx="minor"/>
        </p:style>
        <p:txBody>
          <a:bodyPr lIns="0" rIns="0" tIns="0" bIns="0" anchor="t">
            <a:normAutofit fontScale="92500" lnSpcReduction="9999"/>
          </a:bodyPr>
          <a:p>
            <a:pPr defTabSz="914400">
              <a:lnSpc>
                <a:spcPct val="110000"/>
              </a:lnSpc>
              <a:spcAft>
                <a:spcPts val="201"/>
              </a:spcAft>
              <a:tabLst>
                <a:tab algn="l" pos="0"/>
              </a:tabLst>
            </a:pPr>
            <a:r>
              <a:rPr b="1" lang="en-US" sz="900" strike="noStrike" u="none">
                <a:solidFill>
                  <a:srgbClr val="3dcd58"/>
                </a:solidFill>
                <a:effectLst/>
                <a:uFillTx/>
                <a:latin typeface="Calibri"/>
                <a:ea typeface="Calibri"/>
              </a:rPr>
              <a:t>▪ </a:t>
            </a:r>
            <a:r>
              <a:rPr b="0" lang="en-US" sz="900" strike="noStrike" u="none">
                <a:solidFill>
                  <a:srgbClr val="3a423c"/>
                </a:solidFill>
                <a:effectLst/>
                <a:uFillTx/>
                <a:latin typeface="Calibri"/>
                <a:ea typeface="Calibri"/>
              </a:rPr>
              <a:t>Verdantix 2026 predictions: focus shifts from net zero at all costs to business value at all times, with outage avoidance and efficiency first</a:t>
            </a:r>
            <a:endParaRPr b="0" lang="en-US" sz="900" strike="noStrike" u="none">
              <a:solidFill>
                <a:srgbClr val="000000"/>
              </a:solidFill>
              <a:effectLst/>
              <a:uFillTx/>
              <a:latin typeface="Arial"/>
            </a:endParaRPr>
          </a:p>
          <a:p>
            <a:pPr defTabSz="914400">
              <a:lnSpc>
                <a:spcPct val="110000"/>
              </a:lnSpc>
              <a:spcAft>
                <a:spcPts val="201"/>
              </a:spcAft>
              <a:tabLst>
                <a:tab algn="l" pos="0"/>
              </a:tabLst>
            </a:pPr>
            <a:r>
              <a:rPr b="1" lang="en-US" sz="900" strike="noStrike" u="none">
                <a:solidFill>
                  <a:srgbClr val="3dcd58"/>
                </a:solidFill>
                <a:effectLst/>
                <a:uFillTx/>
                <a:latin typeface="Calibri"/>
                <a:ea typeface="Calibri"/>
              </a:rPr>
              <a:t>▪ </a:t>
            </a:r>
            <a:r>
              <a:rPr b="0" lang="en-US" sz="900" strike="noStrike" u="none">
                <a:solidFill>
                  <a:srgbClr val="3a423c"/>
                </a:solidFill>
                <a:effectLst/>
                <a:uFillTx/>
                <a:latin typeface="Calibri"/>
                <a:ea typeface="Calibri"/>
              </a:rPr>
              <a:t>64 percent of corporate real estate respondents rate enhanced energy monitoring and control a priority in the 2026 Verdantix survey</a:t>
            </a:r>
            <a:endParaRPr b="0" lang="en-US" sz="900" strike="noStrike" u="none">
              <a:solidFill>
                <a:srgbClr val="000000"/>
              </a:solidFill>
              <a:effectLst/>
              <a:uFillTx/>
              <a:latin typeface="Arial"/>
            </a:endParaRPr>
          </a:p>
          <a:p>
            <a:pPr defTabSz="914400">
              <a:lnSpc>
                <a:spcPct val="110000"/>
              </a:lnSpc>
              <a:spcAft>
                <a:spcPts val="201"/>
              </a:spcAft>
              <a:tabLst>
                <a:tab algn="l" pos="0"/>
              </a:tabLst>
            </a:pPr>
            <a:r>
              <a:rPr b="1" lang="en-US" sz="900" strike="noStrike" u="none">
                <a:solidFill>
                  <a:srgbClr val="3dcd58"/>
                </a:solidFill>
                <a:effectLst/>
                <a:uFillTx/>
                <a:latin typeface="Calibri"/>
                <a:ea typeface="Calibri"/>
              </a:rPr>
              <a:t>▪ </a:t>
            </a:r>
            <a:r>
              <a:rPr b="0" lang="en-US" sz="900" strike="noStrike" u="none">
                <a:solidFill>
                  <a:srgbClr val="3a423c"/>
                </a:solidFill>
                <a:effectLst/>
                <a:uFillTx/>
                <a:latin typeface="Calibri"/>
                <a:ea typeface="Calibri"/>
              </a:rPr>
              <a:t>Insurance and uptime pressure: premiums up 88 percent over five years, insurers now asking for resilience measures</a:t>
            </a:r>
            <a:endParaRPr b="0" lang="en-US" sz="900" strike="noStrike" u="none">
              <a:solidFill>
                <a:srgbClr val="000000"/>
              </a:solidFill>
              <a:effectLst/>
              <a:uFillTx/>
              <a:latin typeface="Arial"/>
            </a:endParaRPr>
          </a:p>
          <a:p>
            <a:pPr defTabSz="914400">
              <a:lnSpc>
                <a:spcPct val="110000"/>
              </a:lnSpc>
              <a:spcAft>
                <a:spcPts val="201"/>
              </a:spcAft>
              <a:tabLst>
                <a:tab algn="l" pos="0"/>
              </a:tabLst>
            </a:pPr>
            <a:r>
              <a:rPr b="1" lang="en-US" sz="900" strike="noStrike" u="none">
                <a:solidFill>
                  <a:srgbClr val="3dcd58"/>
                </a:solidFill>
                <a:effectLst/>
                <a:uFillTx/>
                <a:latin typeface="Calibri"/>
                <a:ea typeface="Calibri"/>
              </a:rPr>
              <a:t>▪ </a:t>
            </a:r>
            <a:r>
              <a:rPr b="0" lang="en-US" sz="900" strike="noStrike" u="none">
                <a:solidFill>
                  <a:srgbClr val="3a423c"/>
                </a:solidFill>
                <a:effectLst/>
                <a:uFillTx/>
                <a:latin typeface="Calibri"/>
                <a:ea typeface="Calibri"/>
              </a:rPr>
              <a:t>Energy transition programme management is called out as a market heading towards 1 billion dollars by 2030</a:t>
            </a:r>
            <a:endParaRPr b="0" lang="en-US" sz="900" strike="noStrike" u="none">
              <a:solidFill>
                <a:srgbClr val="000000"/>
              </a:solidFill>
              <a:effectLst/>
              <a:uFillTx/>
              <a:latin typeface="Arial"/>
            </a:endParaRPr>
          </a:p>
        </p:txBody>
      </p:sp>
      <p:sp>
        <p:nvSpPr>
          <p:cNvPr id="679" name="Shape 14"/>
          <p:cNvSpPr/>
          <p:nvPr/>
        </p:nvSpPr>
        <p:spPr>
          <a:xfrm>
            <a:off x="4362480" y="2084760"/>
            <a:ext cx="3466080" cy="3419640"/>
          </a:xfrm>
          <a:prstGeom prst="roundRect">
            <a:avLst>
              <a:gd name="adj" fmla="val 1604"/>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80" name="Shape 15"/>
          <p:cNvSpPr/>
          <p:nvPr/>
        </p:nvSpPr>
        <p:spPr>
          <a:xfrm>
            <a:off x="4362480" y="2084760"/>
            <a:ext cx="63720" cy="341964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81" name="Shape 16"/>
          <p:cNvSpPr/>
          <p:nvPr/>
        </p:nvSpPr>
        <p:spPr>
          <a:xfrm>
            <a:off x="4609440" y="2286000"/>
            <a:ext cx="438480" cy="438480"/>
          </a:xfrm>
          <a:prstGeom prst="ellipse">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82" name="Text 17"/>
          <p:cNvSpPr/>
          <p:nvPr/>
        </p:nvSpPr>
        <p:spPr>
          <a:xfrm>
            <a:off x="4609440" y="2286000"/>
            <a:ext cx="43848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007a27"/>
                </a:solidFill>
                <a:effectLst/>
                <a:uFillTx/>
                <a:latin typeface="Calibri"/>
                <a:ea typeface="Calibri"/>
              </a:rPr>
              <a:t>02</a:t>
            </a:r>
            <a:endParaRPr b="0" lang="en-US" sz="1200" strike="noStrike" u="none">
              <a:solidFill>
                <a:srgbClr val="000000"/>
              </a:solidFill>
              <a:effectLst/>
              <a:uFillTx/>
              <a:latin typeface="Arial"/>
            </a:endParaRPr>
          </a:p>
        </p:txBody>
      </p:sp>
      <p:sp>
        <p:nvSpPr>
          <p:cNvPr id="683" name="Text 18"/>
          <p:cNvSpPr/>
          <p:nvPr/>
        </p:nvSpPr>
        <p:spPr>
          <a:xfrm>
            <a:off x="5139720" y="2267640"/>
            <a:ext cx="2460240" cy="5025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500" strike="noStrike" u="none">
                <a:solidFill>
                  <a:srgbClr val="1e2420"/>
                </a:solidFill>
                <a:effectLst/>
                <a:uFillTx/>
                <a:latin typeface="Calibri"/>
                <a:ea typeface="Calibri"/>
              </a:rPr>
              <a:t>Decarbonization</a:t>
            </a:r>
            <a:endParaRPr b="0" lang="en-US" sz="1500" strike="noStrike" u="none">
              <a:solidFill>
                <a:srgbClr val="000000"/>
              </a:solidFill>
              <a:effectLst/>
              <a:uFillTx/>
              <a:latin typeface="Arial"/>
            </a:endParaRPr>
          </a:p>
        </p:txBody>
      </p:sp>
      <p:sp>
        <p:nvSpPr>
          <p:cNvPr id="684" name="Text 19"/>
          <p:cNvSpPr/>
          <p:nvPr/>
        </p:nvSpPr>
        <p:spPr>
          <a:xfrm>
            <a:off x="4591080" y="2862000"/>
            <a:ext cx="3008880" cy="7768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Resilient decarbonization is the new frame</a:t>
            </a:r>
            <a:endParaRPr b="0" lang="en-US" sz="1100" strike="noStrike" u="none">
              <a:solidFill>
                <a:srgbClr val="000000"/>
              </a:solidFill>
              <a:effectLst/>
              <a:uFillTx/>
              <a:latin typeface="Arial"/>
            </a:endParaRPr>
          </a:p>
        </p:txBody>
      </p:sp>
      <p:sp>
        <p:nvSpPr>
          <p:cNvPr id="685" name="Text 20"/>
          <p:cNvSpPr/>
          <p:nvPr/>
        </p:nvSpPr>
        <p:spPr>
          <a:xfrm>
            <a:off x="4591080" y="3684960"/>
            <a:ext cx="3008880" cy="1636560"/>
          </a:xfrm>
          <a:prstGeom prst="rect">
            <a:avLst/>
          </a:prstGeom>
          <a:noFill/>
          <a:ln w="0">
            <a:noFill/>
          </a:ln>
        </p:spPr>
        <p:style>
          <a:lnRef idx="0"/>
          <a:fillRef idx="0"/>
          <a:effectRef idx="0"/>
          <a:fontRef idx="minor"/>
        </p:style>
        <p:txBody>
          <a:bodyPr lIns="0" rIns="0" tIns="0" bIns="0" anchor="t">
            <a:normAutofit/>
          </a:bodyPr>
          <a:p>
            <a:pPr defTabSz="914400">
              <a:lnSpc>
                <a:spcPct val="110000"/>
              </a:lnSpc>
              <a:spcAft>
                <a:spcPts val="201"/>
              </a:spcAft>
              <a:tabLst>
                <a:tab algn="l" pos="0"/>
              </a:tabLst>
            </a:pPr>
            <a:r>
              <a:rPr b="1" lang="en-US" sz="900" strike="noStrike" u="none">
                <a:solidFill>
                  <a:srgbClr val="3dcd58"/>
                </a:solidFill>
                <a:effectLst/>
                <a:uFillTx/>
                <a:latin typeface="Calibri"/>
                <a:ea typeface="Calibri"/>
              </a:rPr>
              <a:t>▪ </a:t>
            </a:r>
            <a:r>
              <a:rPr b="0" lang="en-US" sz="900" strike="noStrike" u="none">
                <a:solidFill>
                  <a:srgbClr val="3a423c"/>
                </a:solidFill>
                <a:effectLst/>
                <a:uFillTx/>
                <a:latin typeface="Calibri"/>
                <a:ea typeface="Calibri"/>
              </a:rPr>
              <a:t>Verdantix positions resilient decarbonization as linking carbon reduction with energy reliability and cost stability</a:t>
            </a:r>
            <a:endParaRPr b="0" lang="en-US" sz="900" strike="noStrike" u="none">
              <a:solidFill>
                <a:srgbClr val="000000"/>
              </a:solidFill>
              <a:effectLst/>
              <a:uFillTx/>
              <a:latin typeface="Arial"/>
            </a:endParaRPr>
          </a:p>
          <a:p>
            <a:pPr defTabSz="914400">
              <a:lnSpc>
                <a:spcPct val="110000"/>
              </a:lnSpc>
              <a:spcAft>
                <a:spcPts val="201"/>
              </a:spcAft>
              <a:tabLst>
                <a:tab algn="l" pos="0"/>
              </a:tabLst>
            </a:pPr>
            <a:r>
              <a:rPr b="1" lang="en-US" sz="900" strike="noStrike" u="none">
                <a:solidFill>
                  <a:srgbClr val="3dcd58"/>
                </a:solidFill>
                <a:effectLst/>
                <a:uFillTx/>
                <a:latin typeface="Calibri"/>
                <a:ea typeface="Calibri"/>
              </a:rPr>
              <a:t>▪ </a:t>
            </a:r>
            <a:r>
              <a:rPr b="0" lang="en-US" sz="900" strike="noStrike" u="none">
                <a:solidFill>
                  <a:srgbClr val="3a423c"/>
                </a:solidFill>
                <a:effectLst/>
                <a:uFillTx/>
                <a:latin typeface="Calibri"/>
                <a:ea typeface="Calibri"/>
              </a:rPr>
              <a:t>Emissions only strategies are judged inadequate against operational, financial and regulatory risk</a:t>
            </a:r>
            <a:endParaRPr b="0" lang="en-US" sz="900" strike="noStrike" u="none">
              <a:solidFill>
                <a:srgbClr val="000000"/>
              </a:solidFill>
              <a:effectLst/>
              <a:uFillTx/>
              <a:latin typeface="Arial"/>
            </a:endParaRPr>
          </a:p>
          <a:p>
            <a:pPr defTabSz="914400">
              <a:lnSpc>
                <a:spcPct val="110000"/>
              </a:lnSpc>
              <a:spcAft>
                <a:spcPts val="201"/>
              </a:spcAft>
              <a:tabLst>
                <a:tab algn="l" pos="0"/>
              </a:tabLst>
            </a:pPr>
            <a:r>
              <a:rPr b="1" lang="en-US" sz="900" strike="noStrike" u="none">
                <a:solidFill>
                  <a:srgbClr val="3dcd58"/>
                </a:solidFill>
                <a:effectLst/>
                <a:uFillTx/>
                <a:latin typeface="Calibri"/>
                <a:ea typeface="Calibri"/>
              </a:rPr>
              <a:t>▪ </a:t>
            </a:r>
            <a:r>
              <a:rPr b="0" lang="en-US" sz="900" strike="noStrike" u="none">
                <a:solidFill>
                  <a:srgbClr val="3a423c"/>
                </a:solidFill>
                <a:effectLst/>
                <a:uFillTx/>
                <a:latin typeface="Calibri"/>
                <a:ea typeface="Calibri"/>
              </a:rPr>
              <a:t>Schneider Electric is profiled by Verdantix as reframing decarbonization through a resilience lens across hardware, software and services</a:t>
            </a:r>
            <a:endParaRPr b="0" lang="en-US" sz="900" strike="noStrike" u="none">
              <a:solidFill>
                <a:srgbClr val="000000"/>
              </a:solidFill>
              <a:effectLst/>
              <a:uFillTx/>
              <a:latin typeface="Arial"/>
            </a:endParaRPr>
          </a:p>
          <a:p>
            <a:pPr defTabSz="914400">
              <a:lnSpc>
                <a:spcPct val="110000"/>
              </a:lnSpc>
              <a:spcAft>
                <a:spcPts val="201"/>
              </a:spcAft>
              <a:tabLst>
                <a:tab algn="l" pos="0"/>
              </a:tabLst>
            </a:pPr>
            <a:r>
              <a:rPr b="1" lang="en-US" sz="900" strike="noStrike" u="none">
                <a:solidFill>
                  <a:srgbClr val="3dcd58"/>
                </a:solidFill>
                <a:effectLst/>
                <a:uFillTx/>
                <a:latin typeface="Calibri"/>
                <a:ea typeface="Calibri"/>
              </a:rPr>
              <a:t>▪ </a:t>
            </a:r>
            <a:r>
              <a:rPr b="0" lang="en-US" sz="900" strike="noStrike" u="none">
                <a:solidFill>
                  <a:srgbClr val="3a423c"/>
                </a:solidFill>
                <a:effectLst/>
                <a:uFillTx/>
                <a:latin typeface="Calibri"/>
                <a:ea typeface="Calibri"/>
              </a:rPr>
              <a:t>This is exactly the cobenefit logic behind our ECM library and recommendations</a:t>
            </a:r>
            <a:endParaRPr b="0" lang="en-US" sz="900" strike="noStrike" u="none">
              <a:solidFill>
                <a:srgbClr val="000000"/>
              </a:solidFill>
              <a:effectLst/>
              <a:uFillTx/>
              <a:latin typeface="Arial"/>
            </a:endParaRPr>
          </a:p>
        </p:txBody>
      </p:sp>
      <p:sp>
        <p:nvSpPr>
          <p:cNvPr id="686" name="Shape 21"/>
          <p:cNvSpPr/>
          <p:nvPr/>
        </p:nvSpPr>
        <p:spPr>
          <a:xfrm>
            <a:off x="8103240" y="2084760"/>
            <a:ext cx="3466080" cy="3419640"/>
          </a:xfrm>
          <a:prstGeom prst="roundRect">
            <a:avLst>
              <a:gd name="adj" fmla="val 1604"/>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87" name="Shape 22"/>
          <p:cNvSpPr/>
          <p:nvPr/>
        </p:nvSpPr>
        <p:spPr>
          <a:xfrm>
            <a:off x="8103240" y="2084760"/>
            <a:ext cx="63720" cy="341964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88" name="Shape 23"/>
          <p:cNvSpPr/>
          <p:nvPr/>
        </p:nvSpPr>
        <p:spPr>
          <a:xfrm>
            <a:off x="8350200" y="2286000"/>
            <a:ext cx="438480" cy="438480"/>
          </a:xfrm>
          <a:prstGeom prst="ellipse">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89" name="Text 24"/>
          <p:cNvSpPr/>
          <p:nvPr/>
        </p:nvSpPr>
        <p:spPr>
          <a:xfrm>
            <a:off x="8350200" y="2286000"/>
            <a:ext cx="43848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007a27"/>
                </a:solidFill>
                <a:effectLst/>
                <a:uFillTx/>
                <a:latin typeface="Calibri"/>
                <a:ea typeface="Calibri"/>
              </a:rPr>
              <a:t>03</a:t>
            </a:r>
            <a:endParaRPr b="0" lang="en-US" sz="1200" strike="noStrike" u="none">
              <a:solidFill>
                <a:srgbClr val="000000"/>
              </a:solidFill>
              <a:effectLst/>
              <a:uFillTx/>
              <a:latin typeface="Arial"/>
            </a:endParaRPr>
          </a:p>
        </p:txBody>
      </p:sp>
      <p:sp>
        <p:nvSpPr>
          <p:cNvPr id="690" name="Text 25"/>
          <p:cNvSpPr/>
          <p:nvPr/>
        </p:nvSpPr>
        <p:spPr>
          <a:xfrm>
            <a:off x="8880480" y="2267640"/>
            <a:ext cx="2460240" cy="5025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500" strike="noStrike" u="none">
                <a:solidFill>
                  <a:srgbClr val="1e2420"/>
                </a:solidFill>
                <a:effectLst/>
                <a:uFillTx/>
                <a:latin typeface="Calibri"/>
                <a:ea typeface="Calibri"/>
              </a:rPr>
              <a:t>Supply chain</a:t>
            </a:r>
            <a:endParaRPr b="0" lang="en-US" sz="1500" strike="noStrike" u="none">
              <a:solidFill>
                <a:srgbClr val="000000"/>
              </a:solidFill>
              <a:effectLst/>
              <a:uFillTx/>
              <a:latin typeface="Arial"/>
            </a:endParaRPr>
          </a:p>
        </p:txBody>
      </p:sp>
      <p:sp>
        <p:nvSpPr>
          <p:cNvPr id="691" name="Text 26"/>
          <p:cNvSpPr/>
          <p:nvPr/>
        </p:nvSpPr>
        <p:spPr>
          <a:xfrm>
            <a:off x="8331840" y="2862000"/>
            <a:ext cx="3008880" cy="7768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Transparency and orchestration win the budget</a:t>
            </a:r>
            <a:endParaRPr b="0" lang="en-US" sz="1100" strike="noStrike" u="none">
              <a:solidFill>
                <a:srgbClr val="000000"/>
              </a:solidFill>
              <a:effectLst/>
              <a:uFillTx/>
              <a:latin typeface="Arial"/>
            </a:endParaRPr>
          </a:p>
        </p:txBody>
      </p:sp>
      <p:sp>
        <p:nvSpPr>
          <p:cNvPr id="692" name="Text 27"/>
          <p:cNvSpPr/>
          <p:nvPr/>
        </p:nvSpPr>
        <p:spPr>
          <a:xfrm>
            <a:off x="8331840" y="3684960"/>
            <a:ext cx="3008880" cy="1636560"/>
          </a:xfrm>
          <a:prstGeom prst="rect">
            <a:avLst/>
          </a:prstGeom>
          <a:noFill/>
          <a:ln w="0">
            <a:noFill/>
          </a:ln>
        </p:spPr>
        <p:style>
          <a:lnRef idx="0"/>
          <a:fillRef idx="0"/>
          <a:effectRef idx="0"/>
          <a:fontRef idx="minor"/>
        </p:style>
        <p:txBody>
          <a:bodyPr lIns="0" rIns="0" tIns="0" bIns="0" anchor="t">
            <a:normAutofit/>
          </a:bodyPr>
          <a:p>
            <a:pPr defTabSz="914400">
              <a:lnSpc>
                <a:spcPct val="110000"/>
              </a:lnSpc>
              <a:spcAft>
                <a:spcPts val="201"/>
              </a:spcAft>
              <a:tabLst>
                <a:tab algn="l" pos="0"/>
              </a:tabLst>
            </a:pPr>
            <a:r>
              <a:rPr b="1" lang="en-US" sz="900" strike="noStrike" u="none">
                <a:solidFill>
                  <a:srgbClr val="3dcd58"/>
                </a:solidFill>
                <a:effectLst/>
                <a:uFillTx/>
                <a:latin typeface="Calibri"/>
                <a:ea typeface="Calibri"/>
              </a:rPr>
              <a:t>▪ </a:t>
            </a:r>
            <a:r>
              <a:rPr b="0" lang="en-US" sz="900" strike="noStrike" u="none">
                <a:solidFill>
                  <a:srgbClr val="3a423c"/>
                </a:solidFill>
                <a:effectLst/>
                <a:uFillTx/>
                <a:latin typeface="Calibri"/>
                <a:ea typeface="Calibri"/>
              </a:rPr>
              <a:t>Verdantix future of supply chain sustainability: investment concentrates on data transparency and orchestration</a:t>
            </a:r>
            <a:endParaRPr b="0" lang="en-US" sz="900" strike="noStrike" u="none">
              <a:solidFill>
                <a:srgbClr val="000000"/>
              </a:solidFill>
              <a:effectLst/>
              <a:uFillTx/>
              <a:latin typeface="Arial"/>
            </a:endParaRPr>
          </a:p>
          <a:p>
            <a:pPr defTabSz="914400">
              <a:lnSpc>
                <a:spcPct val="110000"/>
              </a:lnSpc>
              <a:spcAft>
                <a:spcPts val="201"/>
              </a:spcAft>
              <a:tabLst>
                <a:tab algn="l" pos="0"/>
              </a:tabLst>
            </a:pPr>
            <a:r>
              <a:rPr b="1" lang="en-US" sz="900" strike="noStrike" u="none">
                <a:solidFill>
                  <a:srgbClr val="3dcd58"/>
                </a:solidFill>
                <a:effectLst/>
                <a:uFillTx/>
                <a:latin typeface="Calibri"/>
                <a:ea typeface="Calibri"/>
              </a:rPr>
              <a:t>▪ </a:t>
            </a:r>
            <a:r>
              <a:rPr b="0" lang="en-US" sz="900" strike="noStrike" u="none">
                <a:solidFill>
                  <a:srgbClr val="3a423c"/>
                </a:solidFill>
                <a:effectLst/>
                <a:uFillTx/>
                <a:latin typeface="Calibri"/>
                <a:ea typeface="Calibri"/>
              </a:rPr>
              <a:t>Supply chain teams become strategic partners, raising these decisions to C level</a:t>
            </a:r>
            <a:endParaRPr b="0" lang="en-US" sz="900" strike="noStrike" u="none">
              <a:solidFill>
                <a:srgbClr val="000000"/>
              </a:solidFill>
              <a:effectLst/>
              <a:uFillTx/>
              <a:latin typeface="Arial"/>
            </a:endParaRPr>
          </a:p>
          <a:p>
            <a:pPr defTabSz="914400">
              <a:lnSpc>
                <a:spcPct val="110000"/>
              </a:lnSpc>
              <a:spcAft>
                <a:spcPts val="201"/>
              </a:spcAft>
              <a:tabLst>
                <a:tab algn="l" pos="0"/>
              </a:tabLst>
            </a:pPr>
            <a:r>
              <a:rPr b="1" lang="en-US" sz="900" strike="noStrike" u="none">
                <a:solidFill>
                  <a:srgbClr val="3dcd58"/>
                </a:solidFill>
                <a:effectLst/>
                <a:uFillTx/>
                <a:latin typeface="Calibri"/>
                <a:ea typeface="Calibri"/>
              </a:rPr>
              <a:t>▪ </a:t>
            </a:r>
            <a:r>
              <a:rPr b="0" lang="en-US" sz="900" strike="noStrike" u="none">
                <a:solidFill>
                  <a:srgbClr val="3a423c"/>
                </a:solidFill>
                <a:effectLst/>
                <a:uFillTx/>
                <a:latin typeface="Calibri"/>
                <a:ea typeface="Calibri"/>
              </a:rPr>
              <a:t>Multi tier supplier data accuracy and timeliness is the enabling capability, not scorecards alone</a:t>
            </a:r>
            <a:endParaRPr b="0" lang="en-US" sz="900" strike="noStrike" u="none">
              <a:solidFill>
                <a:srgbClr val="000000"/>
              </a:solidFill>
              <a:effectLst/>
              <a:uFillTx/>
              <a:latin typeface="Arial"/>
            </a:endParaRPr>
          </a:p>
          <a:p>
            <a:pPr defTabSz="914400">
              <a:lnSpc>
                <a:spcPct val="110000"/>
              </a:lnSpc>
              <a:spcAft>
                <a:spcPts val="201"/>
              </a:spcAft>
              <a:tabLst>
                <a:tab algn="l" pos="0"/>
              </a:tabLst>
            </a:pPr>
            <a:r>
              <a:rPr b="1" lang="en-US" sz="900" strike="noStrike" u="none">
                <a:solidFill>
                  <a:srgbClr val="3dcd58"/>
                </a:solidFill>
                <a:effectLst/>
                <a:uFillTx/>
                <a:latin typeface="Calibri"/>
                <a:ea typeface="Calibri"/>
              </a:rPr>
              <a:t>▪ </a:t>
            </a:r>
            <a:r>
              <a:rPr b="0" lang="en-US" sz="900" strike="noStrike" u="none">
                <a:solidFill>
                  <a:srgbClr val="3a423c"/>
                </a:solidFill>
                <a:effectLst/>
                <a:uFillTx/>
                <a:latin typeface="Calibri"/>
                <a:ea typeface="Calibri"/>
              </a:rPr>
              <a:t>Long term direction is transparency plus AI enabled decision support, which matches our 2027 supplier bets</a:t>
            </a:r>
            <a:endParaRPr b="0" lang="en-US" sz="900" strike="noStrike" u="none">
              <a:solidFill>
                <a:srgbClr val="000000"/>
              </a:solidFill>
              <a:effectLst/>
              <a:uFillTx/>
              <a:latin typeface="Arial"/>
            </a:endParaRPr>
          </a:p>
        </p:txBody>
      </p:sp>
      <p:sp>
        <p:nvSpPr>
          <p:cNvPr id="693" name="Shape 28"/>
          <p:cNvSpPr/>
          <p:nvPr/>
        </p:nvSpPr>
        <p:spPr>
          <a:xfrm>
            <a:off x="621720" y="5650920"/>
            <a:ext cx="10947600" cy="585000"/>
          </a:xfrm>
          <a:prstGeom prst="roundRect">
            <a:avLst>
              <a:gd name="adj" fmla="val 12500"/>
            </a:avLst>
          </a:prstGeom>
          <a:solidFill>
            <a:srgbClr val="effaf1"/>
          </a:solidFill>
          <a:ln w="12700">
            <a:solidFill>
              <a:srgbClr val="bce8c9"/>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94" name="Shape 29"/>
          <p:cNvSpPr/>
          <p:nvPr/>
        </p:nvSpPr>
        <p:spPr>
          <a:xfrm>
            <a:off x="676800" y="5760720"/>
            <a:ext cx="45360" cy="3654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695" name="Text 30"/>
          <p:cNvSpPr/>
          <p:nvPr/>
        </p:nvSpPr>
        <p:spPr>
          <a:xfrm>
            <a:off x="859680" y="5650920"/>
            <a:ext cx="10527120" cy="585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050" strike="noStrike" u="none">
                <a:solidFill>
                  <a:srgbClr val="3a423c"/>
                </a:solidFill>
                <a:effectLst/>
                <a:uFillTx/>
                <a:latin typeface="Calibri"/>
                <a:ea typeface="Calibri"/>
              </a:rPr>
              <a:t>Sources: Verdantix Market Insight 10 Predictions For Energy Leaders In 2026 And Beyond (January 2026), Strategic Focus The Rise Of Resilient Decarbonization (November 2025), Strategic Focus Building The Business Case For Energy Resilience, Future Of Supply Chain Sustainability (January 2026), Powering Resilient Decarbonization With Schneider Electric. Licensed analyst content, summarized for internal board use.</a:t>
            </a:r>
            <a:endParaRPr b="0" lang="en-US" sz="1050" strike="noStrike" u="none">
              <a:solidFill>
                <a:srgbClr val="000000"/>
              </a:solidFill>
              <a:effectLst/>
              <a:uFillTx/>
              <a:latin typeface="Arial"/>
            </a:endParaRPr>
          </a:p>
        </p:txBody>
      </p:sp>
      <p:sp>
        <p:nvSpPr>
          <p:cNvPr id="696" name="Shape 31"/>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697" name="Text 32"/>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698" name="Text 33"/>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699" name="PlaceHolder 1"/>
          <p:cNvSpPr>
            <a:spLocks noGrp="1"/>
          </p:cNvSpPr>
          <p:nvPr>
            <p:ph type="sldNum" idx="25"/>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C51CC9DA-7DF2-45FE-9436-992E02C6B914}"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00"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701"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702" name="Shape 2"/>
          <p:cNvSpPr/>
          <p:nvPr/>
        </p:nvSpPr>
        <p:spPr>
          <a:xfrm>
            <a:off x="621720" y="311040"/>
            <a:ext cx="271080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03" name="Text 3"/>
          <p:cNvSpPr/>
          <p:nvPr/>
        </p:nvSpPr>
        <p:spPr>
          <a:xfrm>
            <a:off x="804600" y="329040"/>
            <a:ext cx="238176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COMPETITIVE LANDSCAPE</a:t>
            </a:r>
            <a:endParaRPr b="0" lang="en-US" sz="950" strike="noStrike" u="none">
              <a:solidFill>
                <a:srgbClr val="000000"/>
              </a:solidFill>
              <a:effectLst/>
              <a:uFillTx/>
              <a:latin typeface="Arial"/>
            </a:endParaRPr>
          </a:p>
        </p:txBody>
      </p:sp>
      <p:sp>
        <p:nvSpPr>
          <p:cNvPr id="704"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One platform. $1B+ of venture backed rivals.</a:t>
            </a:r>
            <a:endParaRPr b="0" lang="en-US" sz="3200" strike="noStrike" u="none">
              <a:solidFill>
                <a:srgbClr val="000000"/>
              </a:solidFill>
              <a:effectLst/>
              <a:uFillTx/>
              <a:latin typeface="Arial"/>
            </a:endParaRPr>
          </a:p>
        </p:txBody>
      </p:sp>
      <p:sp>
        <p:nvSpPr>
          <p:cNvPr id="705"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They each raised hundreds of millions for single point tools. We unify carbon, energy and efficiency, at Schneider scale.</a:t>
            </a:r>
            <a:endParaRPr b="0" lang="en-US" sz="1250" strike="noStrike" u="none">
              <a:solidFill>
                <a:srgbClr val="000000"/>
              </a:solidFill>
              <a:effectLst/>
              <a:uFillTx/>
              <a:latin typeface="Arial"/>
            </a:endParaRPr>
          </a:p>
        </p:txBody>
      </p:sp>
      <p:sp>
        <p:nvSpPr>
          <p:cNvPr id="706"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graphicFrame>
        <p:nvGraphicFramePr>
          <p:cNvPr id="707" name="Table 0"/>
          <p:cNvGraphicFramePr/>
          <p:nvPr/>
        </p:nvGraphicFramePr>
        <p:xfrm>
          <a:off x="621720" y="2084760"/>
          <a:ext cx="10947600" cy="3599640"/>
        </p:xfrm>
        <a:graphic>
          <a:graphicData uri="http://schemas.openxmlformats.org/drawingml/2006/table">
            <a:tbl>
              <a:tblPr/>
              <a:tblGrid>
                <a:gridCol w="1005840"/>
                <a:gridCol w="4970880"/>
                <a:gridCol w="4970880"/>
              </a:tblGrid>
              <a:tr h="511920">
                <a:tc>
                  <a:txBody>
                    <a:bodyPr lIns="73080" rIns="73080" tIns="73080" bIns="73080" anchor="ctr">
                      <a:noAutofit/>
                    </a:bodyPr>
                    <a:p>
                      <a:pPr defTabSz="914400">
                        <a:lnSpc>
                          <a:spcPct val="100000"/>
                        </a:lnSpc>
                        <a:tabLst>
                          <a:tab algn="l" pos="0"/>
                        </a:tabLst>
                      </a:pPr>
                      <a:r>
                        <a:rPr b="1" lang="en-US" sz="900" strike="noStrike" u="none">
                          <a:solidFill>
                            <a:srgbClr val="ffffff"/>
                          </a:solidFill>
                          <a:effectLst/>
                          <a:uFillTx/>
                          <a:latin typeface="Calibri"/>
                          <a:ea typeface="Calibri"/>
                        </a:rPr>
                        <a:t>COMPANY</a:t>
                      </a:r>
                      <a:endParaRPr b="0" lang="en-US" sz="900" strike="noStrike" u="none">
                        <a:solidFill>
                          <a:srgbClr val="ffffff"/>
                        </a:solidFill>
                        <a:effectLst/>
                        <a:uFillTx/>
                        <a:latin typeface="Arial"/>
                      </a:endParaRPr>
                    </a:p>
                  </a:txBody>
                  <a:tcPr anchor="ctr" marL="73080" marR="7308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005730"/>
                    </a:solidFill>
                  </a:tcPr>
                </a:tc>
                <a:tc>
                  <a:txBody>
                    <a:bodyPr lIns="73080" rIns="73080" tIns="73080" bIns="73080" anchor="ctr">
                      <a:noAutofit/>
                    </a:bodyPr>
                    <a:p>
                      <a:pPr defTabSz="914400">
                        <a:lnSpc>
                          <a:spcPct val="100000"/>
                        </a:lnSpc>
                        <a:tabLst>
                          <a:tab algn="l" pos="0"/>
                        </a:tabLst>
                      </a:pPr>
                      <a:r>
                        <a:rPr b="1" lang="en-US" sz="900" strike="noStrike" u="none">
                          <a:solidFill>
                            <a:srgbClr val="ffffff"/>
                          </a:solidFill>
                          <a:effectLst/>
                          <a:uFillTx/>
                          <a:latin typeface="Calibri"/>
                          <a:ea typeface="Calibri"/>
                        </a:rPr>
                        <a:t>TOTAL FUNDING RAISED</a:t>
                      </a:r>
                      <a:endParaRPr b="0" lang="en-US" sz="900" strike="noStrike" u="none">
                        <a:solidFill>
                          <a:srgbClr val="ffffff"/>
                        </a:solidFill>
                        <a:effectLst/>
                        <a:uFillTx/>
                        <a:latin typeface="Arial"/>
                      </a:endParaRPr>
                    </a:p>
                  </a:txBody>
                  <a:tcPr anchor="ctr" marL="73080" marR="7308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005730"/>
                    </a:solidFill>
                  </a:tcPr>
                </a:tc>
                <a:tc>
                  <a:txBody>
                    <a:bodyPr lIns="73080" rIns="73080" tIns="73080" bIns="73080" anchor="ctr">
                      <a:noAutofit/>
                    </a:bodyPr>
                    <a:p>
                      <a:pPr defTabSz="914400">
                        <a:lnSpc>
                          <a:spcPct val="100000"/>
                        </a:lnSpc>
                        <a:tabLst>
                          <a:tab algn="l" pos="0"/>
                        </a:tabLst>
                      </a:pPr>
                      <a:r>
                        <a:rPr b="1" lang="en-US" sz="900" strike="noStrike" u="none">
                          <a:solidFill>
                            <a:srgbClr val="ffffff"/>
                          </a:solidFill>
                          <a:effectLst/>
                          <a:uFillTx/>
                          <a:latin typeface="Calibri"/>
                          <a:ea typeface="Calibri"/>
                        </a:rPr>
                        <a:t>SOURCE</a:t>
                      </a:r>
                      <a:endParaRPr b="0" lang="en-US" sz="900" strike="noStrike" u="none">
                        <a:solidFill>
                          <a:srgbClr val="ffffff"/>
                        </a:solidFill>
                        <a:effectLst/>
                        <a:uFillTx/>
                        <a:latin typeface="Arial"/>
                      </a:endParaRPr>
                    </a:p>
                  </a:txBody>
                  <a:tcPr anchor="ctr" marL="73080" marR="7308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005730"/>
                    </a:solidFill>
                  </a:tcPr>
                </a:tc>
              </a:tr>
              <a:tr h="511920">
                <a:tc>
                  <a:txBody>
                    <a:bodyPr tIns="91440" bIns="91440" anchor="ctr">
                      <a:noAutofit/>
                    </a:bodyPr>
                    <a:p>
                      <a:pPr defTabSz="914400">
                        <a:lnSpc>
                          <a:spcPct val="100000"/>
                        </a:lnSpc>
                        <a:tabLst>
                          <a:tab algn="l" pos="0"/>
                        </a:tabLst>
                      </a:pPr>
                      <a:r>
                        <a:rPr b="1" lang="en-US" sz="1000" strike="noStrike" u="none">
                          <a:solidFill>
                            <a:srgbClr val="007a27"/>
                          </a:solidFill>
                          <a:effectLst/>
                          <a:uFillTx/>
                          <a:latin typeface="Calibri"/>
                          <a:ea typeface="Calibri"/>
                        </a:rPr>
                        <a:t>Arcadia</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~$566M</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arcadia.com</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r>
              <a:tr h="511920">
                <a:tc>
                  <a:txBody>
                    <a:bodyPr tIns="91440" bIns="91440" anchor="ctr">
                      <a:noAutofit/>
                    </a:bodyPr>
                    <a:p>
                      <a:pPr defTabSz="914400">
                        <a:lnSpc>
                          <a:spcPct val="100000"/>
                        </a:lnSpc>
                        <a:tabLst>
                          <a:tab algn="l" pos="0"/>
                        </a:tabLst>
                      </a:pPr>
                      <a:r>
                        <a:rPr b="1" lang="en-US" sz="1000" strike="noStrike" u="none">
                          <a:solidFill>
                            <a:srgbClr val="007a27"/>
                          </a:solidFill>
                          <a:effectLst/>
                          <a:uFillTx/>
                          <a:latin typeface="Calibri"/>
                          <a:ea typeface="Calibri"/>
                        </a:rPr>
                        <a:t>osapiens</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~$247M</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osapiens.com</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r>
              <a:tr h="511920">
                <a:tc>
                  <a:txBody>
                    <a:bodyPr tIns="91440" bIns="91440" anchor="ctr">
                      <a:noAutofit/>
                    </a:bodyPr>
                    <a:p>
                      <a:pPr defTabSz="914400">
                        <a:lnSpc>
                          <a:spcPct val="100000"/>
                        </a:lnSpc>
                        <a:tabLst>
                          <a:tab algn="l" pos="0"/>
                        </a:tabLst>
                      </a:pPr>
                      <a:r>
                        <a:rPr b="1" lang="en-US" sz="1000" strike="noStrike" u="none">
                          <a:solidFill>
                            <a:srgbClr val="007a27"/>
                          </a:solidFill>
                          <a:effectLst/>
                          <a:uFillTx/>
                          <a:latin typeface="Calibri"/>
                          <a:ea typeface="Calibri"/>
                        </a:rPr>
                        <a:t>Watershed</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~$185M</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watershed.com</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r>
              <a:tr h="511920">
                <a:tc>
                  <a:txBody>
                    <a:bodyPr tIns="91440" bIns="91440" anchor="ctr">
                      <a:noAutofit/>
                    </a:bodyPr>
                    <a:p>
                      <a:pPr defTabSz="914400">
                        <a:lnSpc>
                          <a:spcPct val="100000"/>
                        </a:lnSpc>
                        <a:tabLst>
                          <a:tab algn="l" pos="0"/>
                        </a:tabLst>
                      </a:pPr>
                      <a:r>
                        <a:rPr b="1" lang="en-US" sz="1000" strike="noStrike" u="none">
                          <a:solidFill>
                            <a:srgbClr val="007a27"/>
                          </a:solidFill>
                          <a:effectLst/>
                          <a:uFillTx/>
                          <a:latin typeface="Calibri"/>
                          <a:ea typeface="Calibri"/>
                        </a:rPr>
                        <a:t>Deepki</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~$177M</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deepki.com</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r>
              <a:tr h="511920">
                <a:tc>
                  <a:txBody>
                    <a:bodyPr tIns="91440" bIns="91440" anchor="ctr">
                      <a:noAutofit/>
                    </a:bodyPr>
                    <a:p>
                      <a:pPr defTabSz="914400">
                        <a:lnSpc>
                          <a:spcPct val="100000"/>
                        </a:lnSpc>
                        <a:tabLst>
                          <a:tab algn="l" pos="0"/>
                        </a:tabLst>
                      </a:pPr>
                      <a:r>
                        <a:rPr b="1" lang="en-US" sz="1000" strike="noStrike" u="none">
                          <a:solidFill>
                            <a:srgbClr val="007a27"/>
                          </a:solidFill>
                          <a:effectLst/>
                          <a:uFillTx/>
                          <a:latin typeface="Calibri"/>
                          <a:ea typeface="Calibri"/>
                        </a:rPr>
                        <a:t>EnergyCAP</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Undisclosed</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energycap.com, one PE round</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r>
              <a:tr h="511920">
                <a:tc>
                  <a:txBody>
                    <a:bodyPr tIns="91440" bIns="91440" anchor="ctr">
                      <a:noAutofit/>
                    </a:bodyPr>
                    <a:p>
                      <a:pPr defTabSz="914400">
                        <a:lnSpc>
                          <a:spcPct val="100000"/>
                        </a:lnSpc>
                        <a:tabLst>
                          <a:tab algn="l" pos="0"/>
                        </a:tabLst>
                      </a:pPr>
                      <a:r>
                        <a:rPr b="1" lang="en-US" sz="1000" strike="noStrike" u="none">
                          <a:solidFill>
                            <a:srgbClr val="007a27"/>
                          </a:solidFill>
                          <a:effectLst/>
                          <a:uFillTx/>
                          <a:latin typeface="Calibri"/>
                          <a:ea typeface="Calibri"/>
                        </a:rPr>
                        <a:t>Top rivals combined</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~$1.2B+ raised</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Our advantage: one platform, one data spine, at Schneider scale</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r>
            </a:tbl>
          </a:graphicData>
        </a:graphic>
      </p:graphicFrame>
      <p:sp>
        <p:nvSpPr>
          <p:cNvPr id="708" name="Shape 7"/>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709" name="Text 8"/>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710" name="Text 9"/>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711" name="PlaceHolder 1"/>
          <p:cNvSpPr>
            <a:spLocks noGrp="1"/>
          </p:cNvSpPr>
          <p:nvPr>
            <p:ph type="sldNum" idx="26"/>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9E836E82-FEA9-4C5F-9971-F8CE7899DCEF}"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12"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713"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714" name="Text 2"/>
          <p:cNvSpPr/>
          <p:nvPr/>
        </p:nvSpPr>
        <p:spPr>
          <a:xfrm>
            <a:off x="621720" y="320040"/>
            <a:ext cx="7131960" cy="22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50" strike="noStrike" u="none">
                <a:solidFill>
                  <a:srgbClr val="007a27"/>
                </a:solidFill>
                <a:effectLst/>
                <a:uFillTx/>
                <a:latin typeface="Calibri"/>
                <a:ea typeface="Calibri"/>
              </a:rPr>
              <a:t>COMPETITIVE POSITION | SEPTEMBER 2026</a:t>
            </a:r>
            <a:endParaRPr b="0" lang="en-US" sz="900" strike="noStrike" u="none">
              <a:solidFill>
                <a:srgbClr val="000000"/>
              </a:solidFill>
              <a:effectLst/>
              <a:uFillTx/>
              <a:latin typeface="Arial"/>
            </a:endParaRPr>
          </a:p>
        </p:txBody>
      </p:sp>
      <p:sp>
        <p:nvSpPr>
          <p:cNvPr id="715" name="Text 3"/>
          <p:cNvSpPr/>
          <p:nvPr/>
        </p:nvSpPr>
        <p:spPr>
          <a:xfrm>
            <a:off x="621720" y="676800"/>
            <a:ext cx="10947600" cy="658080"/>
          </a:xfrm>
          <a:prstGeom prst="rect">
            <a:avLst/>
          </a:prstGeom>
          <a:noFill/>
          <a:ln w="0">
            <a:noFill/>
          </a:ln>
        </p:spPr>
        <p:style>
          <a:lnRef idx="0"/>
          <a:fillRef idx="0"/>
          <a:effectRef idx="0"/>
          <a:fontRef idx="minor"/>
        </p:style>
        <p:txBody>
          <a:bodyPr lIns="0" rIns="0" tIns="0" bIns="0" anchor="ctr">
            <a:normAutofit fontScale="92500" lnSpcReduction="19999"/>
          </a:bodyPr>
          <a:p>
            <a:pPr defTabSz="914400">
              <a:lnSpc>
                <a:spcPct val="100000"/>
              </a:lnSpc>
              <a:tabLst>
                <a:tab algn="l" pos="0"/>
              </a:tabLst>
            </a:pPr>
            <a:r>
              <a:rPr b="1" lang="en-US" sz="2700" strike="noStrike" u="none">
                <a:solidFill>
                  <a:srgbClr val="1e2420"/>
                </a:solidFill>
                <a:effectLst/>
                <a:uFillTx/>
                <a:latin typeface="Calibri"/>
                <a:ea typeface="Calibri"/>
              </a:rPr>
              <a:t>RA+ competes on breadth and convergence, not a point solution feature race</a:t>
            </a:r>
            <a:endParaRPr b="0" lang="en-US" sz="2700" strike="noStrike" u="none">
              <a:solidFill>
                <a:srgbClr val="000000"/>
              </a:solidFill>
              <a:effectLst/>
              <a:uFillTx/>
              <a:latin typeface="Arial"/>
            </a:endParaRPr>
          </a:p>
        </p:txBody>
      </p:sp>
      <p:sp>
        <p:nvSpPr>
          <p:cNvPr id="716" name="Text 4"/>
          <p:cNvSpPr/>
          <p:nvPr/>
        </p:nvSpPr>
        <p:spPr>
          <a:xfrm>
            <a:off x="621720" y="1353240"/>
            <a:ext cx="10947600" cy="45684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100" strike="noStrike" u="none">
                <a:solidFill>
                  <a:srgbClr val="5a625c"/>
                </a:solidFill>
                <a:effectLst/>
                <a:uFillTx/>
                <a:latin typeface="Calibri"/>
                <a:ea typeface="Calibri"/>
              </a:rPr>
              <a:t>Public pricing is not disclosed across the peer set. The decision therefore turns on scope, AI embedded in workflows, and the cost of integrating multiple platforms.</a:t>
            </a:r>
            <a:endParaRPr b="0" lang="en-US" sz="1100" strike="noStrike" u="none">
              <a:solidFill>
                <a:srgbClr val="000000"/>
              </a:solidFill>
              <a:effectLst/>
              <a:uFillTx/>
              <a:latin typeface="Arial"/>
            </a:endParaRPr>
          </a:p>
        </p:txBody>
      </p:sp>
      <p:sp>
        <p:nvSpPr>
          <p:cNvPr id="717" name="Shape 5"/>
          <p:cNvSpPr/>
          <p:nvPr/>
        </p:nvSpPr>
        <p:spPr>
          <a:xfrm>
            <a:off x="621720" y="1965960"/>
            <a:ext cx="1051200" cy="39276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718" name="Text 6"/>
          <p:cNvSpPr/>
          <p:nvPr/>
        </p:nvSpPr>
        <p:spPr>
          <a:xfrm>
            <a:off x="713160" y="1965960"/>
            <a:ext cx="868320" cy="3927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PLATFORM</a:t>
            </a:r>
            <a:endParaRPr b="0" lang="en-US" sz="760" strike="noStrike" u="none">
              <a:solidFill>
                <a:srgbClr val="000000"/>
              </a:solidFill>
              <a:effectLst/>
              <a:uFillTx/>
              <a:latin typeface="Arial"/>
            </a:endParaRPr>
          </a:p>
        </p:txBody>
      </p:sp>
      <p:sp>
        <p:nvSpPr>
          <p:cNvPr id="719" name="Shape 7"/>
          <p:cNvSpPr/>
          <p:nvPr/>
        </p:nvSpPr>
        <p:spPr>
          <a:xfrm>
            <a:off x="1673280" y="1965960"/>
            <a:ext cx="1416960" cy="39276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720" name="Text 8"/>
          <p:cNvSpPr/>
          <p:nvPr/>
        </p:nvSpPr>
        <p:spPr>
          <a:xfrm>
            <a:off x="1764720" y="1965960"/>
            <a:ext cx="1234080" cy="3927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PRICE</a:t>
            </a:r>
            <a:endParaRPr b="0" lang="en-US" sz="760" strike="noStrike" u="none">
              <a:solidFill>
                <a:srgbClr val="000000"/>
              </a:solidFill>
              <a:effectLst/>
              <a:uFillTx/>
              <a:latin typeface="Arial"/>
            </a:endParaRPr>
          </a:p>
        </p:txBody>
      </p:sp>
      <p:sp>
        <p:nvSpPr>
          <p:cNvPr id="721" name="Shape 9"/>
          <p:cNvSpPr/>
          <p:nvPr/>
        </p:nvSpPr>
        <p:spPr>
          <a:xfrm>
            <a:off x="3090600" y="1965960"/>
            <a:ext cx="3748680" cy="39276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722" name="Text 10"/>
          <p:cNvSpPr/>
          <p:nvPr/>
        </p:nvSpPr>
        <p:spPr>
          <a:xfrm>
            <a:off x="3182040" y="1965960"/>
            <a:ext cx="3565800" cy="3927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SUSTAINABILITY SCOPE</a:t>
            </a:r>
            <a:endParaRPr b="0" lang="en-US" sz="760" strike="noStrike" u="none">
              <a:solidFill>
                <a:srgbClr val="000000"/>
              </a:solidFill>
              <a:effectLst/>
              <a:uFillTx/>
              <a:latin typeface="Arial"/>
            </a:endParaRPr>
          </a:p>
        </p:txBody>
      </p:sp>
      <p:sp>
        <p:nvSpPr>
          <p:cNvPr id="723" name="Shape 11"/>
          <p:cNvSpPr/>
          <p:nvPr/>
        </p:nvSpPr>
        <p:spPr>
          <a:xfrm>
            <a:off x="6839640" y="1965960"/>
            <a:ext cx="1325520" cy="39276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724" name="Text 12"/>
          <p:cNvSpPr/>
          <p:nvPr/>
        </p:nvSpPr>
        <p:spPr>
          <a:xfrm>
            <a:off x="6931080" y="1965960"/>
            <a:ext cx="1142640" cy="3927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AI MATURITY</a:t>
            </a:r>
            <a:endParaRPr b="0" lang="en-US" sz="760" strike="noStrike" u="none">
              <a:solidFill>
                <a:srgbClr val="000000"/>
              </a:solidFill>
              <a:effectLst/>
              <a:uFillTx/>
              <a:latin typeface="Arial"/>
            </a:endParaRPr>
          </a:p>
        </p:txBody>
      </p:sp>
      <p:sp>
        <p:nvSpPr>
          <p:cNvPr id="725" name="Shape 13"/>
          <p:cNvSpPr/>
          <p:nvPr/>
        </p:nvSpPr>
        <p:spPr>
          <a:xfrm>
            <a:off x="8165520" y="1965960"/>
            <a:ext cx="3657240" cy="39276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726" name="Text 14"/>
          <p:cNvSpPr/>
          <p:nvPr/>
        </p:nvSpPr>
        <p:spPr>
          <a:xfrm>
            <a:off x="8256960" y="1965960"/>
            <a:ext cx="3474360" cy="3927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STRATEGIC POSITION</a:t>
            </a:r>
            <a:endParaRPr b="0" lang="en-US" sz="760" strike="noStrike" u="none">
              <a:solidFill>
                <a:srgbClr val="000000"/>
              </a:solidFill>
              <a:effectLst/>
              <a:uFillTx/>
              <a:latin typeface="Arial"/>
            </a:endParaRPr>
          </a:p>
        </p:txBody>
      </p:sp>
      <p:sp>
        <p:nvSpPr>
          <p:cNvPr id="727" name="Shape 15"/>
          <p:cNvSpPr/>
          <p:nvPr/>
        </p:nvSpPr>
        <p:spPr>
          <a:xfrm>
            <a:off x="621720" y="2359080"/>
            <a:ext cx="1051200" cy="566640"/>
          </a:xfrm>
          <a:prstGeom prst="rect">
            <a:avLst/>
          </a:prstGeom>
          <a:solidFill>
            <a:srgbClr val="eaf8ed"/>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28" name="Text 16"/>
          <p:cNvSpPr/>
          <p:nvPr/>
        </p:nvSpPr>
        <p:spPr>
          <a:xfrm>
            <a:off x="713160" y="2432160"/>
            <a:ext cx="868320" cy="4201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20" strike="noStrike" u="none">
                <a:solidFill>
                  <a:srgbClr val="007a27"/>
                </a:solidFill>
                <a:effectLst/>
                <a:uFillTx/>
                <a:latin typeface="Calibri"/>
                <a:ea typeface="Calibri"/>
              </a:rPr>
              <a:t>RA+</a:t>
            </a:r>
            <a:endParaRPr b="0" lang="en-US" sz="920" strike="noStrike" u="none">
              <a:solidFill>
                <a:srgbClr val="000000"/>
              </a:solidFill>
              <a:effectLst/>
              <a:uFillTx/>
              <a:latin typeface="Arial"/>
            </a:endParaRPr>
          </a:p>
        </p:txBody>
      </p:sp>
      <p:sp>
        <p:nvSpPr>
          <p:cNvPr id="729" name="Shape 17"/>
          <p:cNvSpPr/>
          <p:nvPr/>
        </p:nvSpPr>
        <p:spPr>
          <a:xfrm>
            <a:off x="1673280" y="2359080"/>
            <a:ext cx="1416960" cy="566640"/>
          </a:xfrm>
          <a:prstGeom prst="rect">
            <a:avLst/>
          </a:prstGeom>
          <a:solidFill>
            <a:srgbClr val="eaf8ed"/>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30" name="Text 18"/>
          <p:cNvSpPr/>
          <p:nvPr/>
        </p:nvSpPr>
        <p:spPr>
          <a:xfrm>
            <a:off x="1764720" y="2432160"/>
            <a:ext cx="1234080" cy="4201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10" strike="noStrike" u="none">
                <a:solidFill>
                  <a:srgbClr val="1e2420"/>
                </a:solidFill>
                <a:effectLst/>
                <a:uFillTx/>
                <a:latin typeface="Calibri"/>
                <a:ea typeface="Calibri"/>
              </a:rPr>
              <a:t>Enterprise quote</a:t>
            </a:r>
            <a:endParaRPr b="0" lang="en-US" sz="810" strike="noStrike" u="none">
              <a:solidFill>
                <a:srgbClr val="000000"/>
              </a:solidFill>
              <a:effectLst/>
              <a:uFillTx/>
              <a:latin typeface="Arial"/>
            </a:endParaRPr>
          </a:p>
        </p:txBody>
      </p:sp>
      <p:sp>
        <p:nvSpPr>
          <p:cNvPr id="731" name="Shape 19"/>
          <p:cNvSpPr/>
          <p:nvPr/>
        </p:nvSpPr>
        <p:spPr>
          <a:xfrm>
            <a:off x="3090600" y="2359080"/>
            <a:ext cx="3748680" cy="566640"/>
          </a:xfrm>
          <a:prstGeom prst="rect">
            <a:avLst/>
          </a:prstGeom>
          <a:solidFill>
            <a:srgbClr val="eaf8ed"/>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32" name="Text 20"/>
          <p:cNvSpPr/>
          <p:nvPr/>
        </p:nvSpPr>
        <p:spPr>
          <a:xfrm>
            <a:off x="3182040" y="2432160"/>
            <a:ext cx="3565800" cy="4201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10" strike="noStrike" u="none">
                <a:solidFill>
                  <a:srgbClr val="1e2420"/>
                </a:solidFill>
                <a:effectLst/>
                <a:uFillTx/>
                <a:latin typeface="Calibri"/>
                <a:ea typeface="Calibri"/>
              </a:rPr>
              <a:t>Broadest: carbon, supply chain, reporting, climate risk, energy and efficiency</a:t>
            </a:r>
            <a:endParaRPr b="0" lang="en-US" sz="810" strike="noStrike" u="none">
              <a:solidFill>
                <a:srgbClr val="000000"/>
              </a:solidFill>
              <a:effectLst/>
              <a:uFillTx/>
              <a:latin typeface="Arial"/>
            </a:endParaRPr>
          </a:p>
        </p:txBody>
      </p:sp>
      <p:sp>
        <p:nvSpPr>
          <p:cNvPr id="733" name="Shape 21"/>
          <p:cNvSpPr/>
          <p:nvPr/>
        </p:nvSpPr>
        <p:spPr>
          <a:xfrm>
            <a:off x="6839640" y="2359080"/>
            <a:ext cx="1325520" cy="566640"/>
          </a:xfrm>
          <a:prstGeom prst="rect">
            <a:avLst/>
          </a:prstGeom>
          <a:solidFill>
            <a:srgbClr val="eaf8ed"/>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34" name="Shape 22"/>
          <p:cNvSpPr/>
          <p:nvPr/>
        </p:nvSpPr>
        <p:spPr>
          <a:xfrm>
            <a:off x="6949440" y="2523600"/>
            <a:ext cx="1105920" cy="246600"/>
          </a:xfrm>
          <a:prstGeom prst="roundRect">
            <a:avLst>
              <a:gd name="adj" fmla="val 44444"/>
            </a:avLst>
          </a:prstGeom>
          <a:solidFill>
            <a:srgbClr val="eaf8ed"/>
          </a:solidFill>
          <a:ln w="6350">
            <a:solidFill>
              <a:srgbClr val="3dcd58">
                <a:alpha val="45000"/>
              </a:srgbClr>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35" name="Text 23"/>
          <p:cNvSpPr/>
          <p:nvPr/>
        </p:nvSpPr>
        <p:spPr>
          <a:xfrm>
            <a:off x="6949440" y="2523600"/>
            <a:ext cx="1105920" cy="24660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70" strike="noStrike" u="none">
                <a:solidFill>
                  <a:srgbClr val="007a27"/>
                </a:solidFill>
                <a:effectLst/>
                <a:uFillTx/>
                <a:latin typeface="Calibri"/>
                <a:ea typeface="Calibri"/>
              </a:rPr>
              <a:t>Embedded, scaling</a:t>
            </a:r>
            <a:endParaRPr b="0" lang="en-US" sz="770" strike="noStrike" u="none">
              <a:solidFill>
                <a:srgbClr val="000000"/>
              </a:solidFill>
              <a:effectLst/>
              <a:uFillTx/>
              <a:latin typeface="Arial"/>
            </a:endParaRPr>
          </a:p>
        </p:txBody>
      </p:sp>
      <p:sp>
        <p:nvSpPr>
          <p:cNvPr id="736" name="Shape 24"/>
          <p:cNvSpPr/>
          <p:nvPr/>
        </p:nvSpPr>
        <p:spPr>
          <a:xfrm>
            <a:off x="8165520" y="2359080"/>
            <a:ext cx="3657240" cy="566640"/>
          </a:xfrm>
          <a:prstGeom prst="rect">
            <a:avLst/>
          </a:prstGeom>
          <a:solidFill>
            <a:srgbClr val="eaf8ed"/>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37" name="Text 25"/>
          <p:cNvSpPr/>
          <p:nvPr/>
        </p:nvSpPr>
        <p:spPr>
          <a:xfrm>
            <a:off x="8256960" y="2432160"/>
            <a:ext cx="3474360" cy="4201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810" strike="noStrike" u="none">
                <a:solidFill>
                  <a:srgbClr val="1e2420"/>
                </a:solidFill>
                <a:effectLst/>
                <a:uFillTx/>
                <a:latin typeface="Calibri"/>
                <a:ea typeface="Calibri"/>
              </a:rPr>
              <a:t>One data spine plus advisory depth</a:t>
            </a:r>
            <a:endParaRPr b="0" lang="en-US" sz="810" strike="noStrike" u="none">
              <a:solidFill>
                <a:srgbClr val="000000"/>
              </a:solidFill>
              <a:effectLst/>
              <a:uFillTx/>
              <a:latin typeface="Arial"/>
            </a:endParaRPr>
          </a:p>
        </p:txBody>
      </p:sp>
      <p:sp>
        <p:nvSpPr>
          <p:cNvPr id="738" name="Shape 26"/>
          <p:cNvSpPr/>
          <p:nvPr/>
        </p:nvSpPr>
        <p:spPr>
          <a:xfrm>
            <a:off x="621720" y="2926080"/>
            <a:ext cx="1051200" cy="566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39" name="Text 27"/>
          <p:cNvSpPr/>
          <p:nvPr/>
        </p:nvSpPr>
        <p:spPr>
          <a:xfrm>
            <a:off x="713160" y="2999160"/>
            <a:ext cx="868320" cy="4201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20" strike="noStrike" u="none">
                <a:solidFill>
                  <a:srgbClr val="1e2420"/>
                </a:solidFill>
                <a:effectLst/>
                <a:uFillTx/>
                <a:latin typeface="Calibri"/>
                <a:ea typeface="Calibri"/>
              </a:rPr>
              <a:t>Watershed</a:t>
            </a:r>
            <a:endParaRPr b="0" lang="en-US" sz="920" strike="noStrike" u="none">
              <a:solidFill>
                <a:srgbClr val="000000"/>
              </a:solidFill>
              <a:effectLst/>
              <a:uFillTx/>
              <a:latin typeface="Arial"/>
            </a:endParaRPr>
          </a:p>
        </p:txBody>
      </p:sp>
      <p:sp>
        <p:nvSpPr>
          <p:cNvPr id="740" name="Shape 28"/>
          <p:cNvSpPr/>
          <p:nvPr/>
        </p:nvSpPr>
        <p:spPr>
          <a:xfrm>
            <a:off x="1673280" y="2926080"/>
            <a:ext cx="1416960" cy="566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41" name="Text 29"/>
          <p:cNvSpPr/>
          <p:nvPr/>
        </p:nvSpPr>
        <p:spPr>
          <a:xfrm>
            <a:off x="1764720" y="2999160"/>
            <a:ext cx="1234080" cy="4201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10" strike="noStrike" u="none">
                <a:solidFill>
                  <a:srgbClr val="1e2420"/>
                </a:solidFill>
                <a:effectLst/>
                <a:uFillTx/>
                <a:latin typeface="Calibri"/>
                <a:ea typeface="Calibri"/>
              </a:rPr>
              <a:t>Not publicly disclosed</a:t>
            </a:r>
            <a:endParaRPr b="0" lang="en-US" sz="810" strike="noStrike" u="none">
              <a:solidFill>
                <a:srgbClr val="000000"/>
              </a:solidFill>
              <a:effectLst/>
              <a:uFillTx/>
              <a:latin typeface="Arial"/>
            </a:endParaRPr>
          </a:p>
        </p:txBody>
      </p:sp>
      <p:sp>
        <p:nvSpPr>
          <p:cNvPr id="742" name="Shape 30"/>
          <p:cNvSpPr/>
          <p:nvPr/>
        </p:nvSpPr>
        <p:spPr>
          <a:xfrm>
            <a:off x="3090600" y="2926080"/>
            <a:ext cx="3748680" cy="566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43" name="Text 31"/>
          <p:cNvSpPr/>
          <p:nvPr/>
        </p:nvSpPr>
        <p:spPr>
          <a:xfrm>
            <a:off x="3182040" y="2999160"/>
            <a:ext cx="3565800" cy="4201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10" strike="noStrike" u="none">
                <a:solidFill>
                  <a:srgbClr val="1e2420"/>
                </a:solidFill>
                <a:effectLst/>
                <a:uFillTx/>
                <a:latin typeface="Calibri"/>
                <a:ea typeface="Calibri"/>
              </a:rPr>
              <a:t>Broad sustainability: carbon, disclosure, decarbonization and supply chain</a:t>
            </a:r>
            <a:endParaRPr b="0" lang="en-US" sz="810" strike="noStrike" u="none">
              <a:solidFill>
                <a:srgbClr val="000000"/>
              </a:solidFill>
              <a:effectLst/>
              <a:uFillTx/>
              <a:latin typeface="Arial"/>
            </a:endParaRPr>
          </a:p>
        </p:txBody>
      </p:sp>
      <p:sp>
        <p:nvSpPr>
          <p:cNvPr id="744" name="Shape 32"/>
          <p:cNvSpPr/>
          <p:nvPr/>
        </p:nvSpPr>
        <p:spPr>
          <a:xfrm>
            <a:off x="6839640" y="2926080"/>
            <a:ext cx="1325520" cy="566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45" name="Shape 33"/>
          <p:cNvSpPr/>
          <p:nvPr/>
        </p:nvSpPr>
        <p:spPr>
          <a:xfrm>
            <a:off x="6949440" y="3090600"/>
            <a:ext cx="1105920" cy="246600"/>
          </a:xfrm>
          <a:prstGeom prst="roundRect">
            <a:avLst>
              <a:gd name="adj" fmla="val 44444"/>
            </a:avLst>
          </a:prstGeom>
          <a:solidFill>
            <a:srgbClr val="fff4e3"/>
          </a:solidFill>
          <a:ln w="6350">
            <a:solidFill>
              <a:srgbClr val="ffb04c">
                <a:alpha val="45000"/>
              </a:srgbClr>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46" name="Text 34"/>
          <p:cNvSpPr/>
          <p:nvPr/>
        </p:nvSpPr>
        <p:spPr>
          <a:xfrm>
            <a:off x="6949440" y="3090600"/>
            <a:ext cx="1105920" cy="24660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70" strike="noStrike" u="none">
                <a:solidFill>
                  <a:srgbClr val="a65b00"/>
                </a:solidFill>
                <a:effectLst/>
                <a:uFillTx/>
                <a:latin typeface="Calibri"/>
                <a:ea typeface="Calibri"/>
              </a:rPr>
              <a:t>Advanced</a:t>
            </a:r>
            <a:endParaRPr b="0" lang="en-US" sz="770" strike="noStrike" u="none">
              <a:solidFill>
                <a:srgbClr val="000000"/>
              </a:solidFill>
              <a:effectLst/>
              <a:uFillTx/>
              <a:latin typeface="Arial"/>
            </a:endParaRPr>
          </a:p>
        </p:txBody>
      </p:sp>
      <p:sp>
        <p:nvSpPr>
          <p:cNvPr id="747" name="Shape 35"/>
          <p:cNvSpPr/>
          <p:nvPr/>
        </p:nvSpPr>
        <p:spPr>
          <a:xfrm>
            <a:off x="8165520" y="2926080"/>
            <a:ext cx="3657240" cy="566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48" name="Text 36"/>
          <p:cNvSpPr/>
          <p:nvPr/>
        </p:nvSpPr>
        <p:spPr>
          <a:xfrm>
            <a:off x="8256960" y="2999160"/>
            <a:ext cx="3474360" cy="4201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810" strike="noStrike" u="none">
                <a:solidFill>
                  <a:srgbClr val="1e2420"/>
                </a:solidFill>
                <a:effectLst/>
                <a:uFillTx/>
                <a:latin typeface="Calibri"/>
                <a:ea typeface="Calibri"/>
              </a:rPr>
              <a:t>Strongest AI-native sustainability challenger</a:t>
            </a:r>
            <a:endParaRPr b="0" lang="en-US" sz="810" strike="noStrike" u="none">
              <a:solidFill>
                <a:srgbClr val="000000"/>
              </a:solidFill>
              <a:effectLst/>
              <a:uFillTx/>
              <a:latin typeface="Arial"/>
            </a:endParaRPr>
          </a:p>
        </p:txBody>
      </p:sp>
      <p:sp>
        <p:nvSpPr>
          <p:cNvPr id="749" name="Shape 37"/>
          <p:cNvSpPr/>
          <p:nvPr/>
        </p:nvSpPr>
        <p:spPr>
          <a:xfrm>
            <a:off x="621720" y="3493080"/>
            <a:ext cx="1051200" cy="566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50" name="Text 38"/>
          <p:cNvSpPr/>
          <p:nvPr/>
        </p:nvSpPr>
        <p:spPr>
          <a:xfrm>
            <a:off x="713160" y="3566160"/>
            <a:ext cx="868320" cy="4201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20" strike="noStrike" u="none">
                <a:solidFill>
                  <a:srgbClr val="1e2420"/>
                </a:solidFill>
                <a:effectLst/>
                <a:uFillTx/>
                <a:latin typeface="Calibri"/>
                <a:ea typeface="Calibri"/>
              </a:rPr>
              <a:t>osapiens</a:t>
            </a:r>
            <a:endParaRPr b="0" lang="en-US" sz="920" strike="noStrike" u="none">
              <a:solidFill>
                <a:srgbClr val="000000"/>
              </a:solidFill>
              <a:effectLst/>
              <a:uFillTx/>
              <a:latin typeface="Arial"/>
            </a:endParaRPr>
          </a:p>
        </p:txBody>
      </p:sp>
      <p:sp>
        <p:nvSpPr>
          <p:cNvPr id="751" name="Shape 39"/>
          <p:cNvSpPr/>
          <p:nvPr/>
        </p:nvSpPr>
        <p:spPr>
          <a:xfrm>
            <a:off x="1673280" y="3493080"/>
            <a:ext cx="1416960" cy="566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52" name="Text 40"/>
          <p:cNvSpPr/>
          <p:nvPr/>
        </p:nvSpPr>
        <p:spPr>
          <a:xfrm>
            <a:off x="1764720" y="3566160"/>
            <a:ext cx="1234080" cy="4201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10" strike="noStrike" u="none">
                <a:solidFill>
                  <a:srgbClr val="1e2420"/>
                </a:solidFill>
                <a:effectLst/>
                <a:uFillTx/>
                <a:latin typeface="Calibri"/>
                <a:ea typeface="Calibri"/>
              </a:rPr>
              <a:t>Custom quote</a:t>
            </a:r>
            <a:endParaRPr b="0" lang="en-US" sz="810" strike="noStrike" u="none">
              <a:solidFill>
                <a:srgbClr val="000000"/>
              </a:solidFill>
              <a:effectLst/>
              <a:uFillTx/>
              <a:latin typeface="Arial"/>
            </a:endParaRPr>
          </a:p>
        </p:txBody>
      </p:sp>
      <p:sp>
        <p:nvSpPr>
          <p:cNvPr id="753" name="Shape 41"/>
          <p:cNvSpPr/>
          <p:nvPr/>
        </p:nvSpPr>
        <p:spPr>
          <a:xfrm>
            <a:off x="3090600" y="3493080"/>
            <a:ext cx="3748680" cy="566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54" name="Text 42"/>
          <p:cNvSpPr/>
          <p:nvPr/>
        </p:nvSpPr>
        <p:spPr>
          <a:xfrm>
            <a:off x="3182040" y="3566160"/>
            <a:ext cx="3565800" cy="4201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10" strike="noStrike" u="none">
                <a:solidFill>
                  <a:srgbClr val="1e2420"/>
                </a:solidFill>
                <a:effectLst/>
                <a:uFillTx/>
                <a:latin typeface="Calibri"/>
                <a:ea typeface="Calibri"/>
              </a:rPr>
              <a:t>Broad ESG compliance with deep supplier and product regulation coverage</a:t>
            </a:r>
            <a:endParaRPr b="0" lang="en-US" sz="810" strike="noStrike" u="none">
              <a:solidFill>
                <a:srgbClr val="000000"/>
              </a:solidFill>
              <a:effectLst/>
              <a:uFillTx/>
              <a:latin typeface="Arial"/>
            </a:endParaRPr>
          </a:p>
        </p:txBody>
      </p:sp>
      <p:sp>
        <p:nvSpPr>
          <p:cNvPr id="755" name="Shape 43"/>
          <p:cNvSpPr/>
          <p:nvPr/>
        </p:nvSpPr>
        <p:spPr>
          <a:xfrm>
            <a:off x="6839640" y="3493080"/>
            <a:ext cx="1325520" cy="566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56" name="Shape 44"/>
          <p:cNvSpPr/>
          <p:nvPr/>
        </p:nvSpPr>
        <p:spPr>
          <a:xfrm>
            <a:off x="6949440" y="3657600"/>
            <a:ext cx="1105920" cy="246600"/>
          </a:xfrm>
          <a:prstGeom prst="roundRect">
            <a:avLst>
              <a:gd name="adj" fmla="val 44444"/>
            </a:avLst>
          </a:prstGeom>
          <a:solidFill>
            <a:srgbClr val="eaf8ed"/>
          </a:solidFill>
          <a:ln w="6350">
            <a:solidFill>
              <a:srgbClr val="3dcd58">
                <a:alpha val="45000"/>
              </a:srgbClr>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57" name="Text 45"/>
          <p:cNvSpPr/>
          <p:nvPr/>
        </p:nvSpPr>
        <p:spPr>
          <a:xfrm>
            <a:off x="6949440" y="3657600"/>
            <a:ext cx="1105920" cy="24660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70" strike="noStrike" u="none">
                <a:solidFill>
                  <a:srgbClr val="007a27"/>
                </a:solidFill>
                <a:effectLst/>
                <a:uFillTx/>
                <a:latin typeface="Calibri"/>
                <a:ea typeface="Calibri"/>
              </a:rPr>
              <a:t>Embedded</a:t>
            </a:r>
            <a:endParaRPr b="0" lang="en-US" sz="770" strike="noStrike" u="none">
              <a:solidFill>
                <a:srgbClr val="000000"/>
              </a:solidFill>
              <a:effectLst/>
              <a:uFillTx/>
              <a:latin typeface="Arial"/>
            </a:endParaRPr>
          </a:p>
        </p:txBody>
      </p:sp>
      <p:sp>
        <p:nvSpPr>
          <p:cNvPr id="758" name="Shape 46"/>
          <p:cNvSpPr/>
          <p:nvPr/>
        </p:nvSpPr>
        <p:spPr>
          <a:xfrm>
            <a:off x="8165520" y="3493080"/>
            <a:ext cx="3657240" cy="566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59" name="Text 47"/>
          <p:cNvSpPr/>
          <p:nvPr/>
        </p:nvSpPr>
        <p:spPr>
          <a:xfrm>
            <a:off x="8256960" y="3566160"/>
            <a:ext cx="3474360" cy="4201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810" strike="noStrike" u="none">
                <a:solidFill>
                  <a:srgbClr val="1e2420"/>
                </a:solidFill>
                <a:effectLst/>
                <a:uFillTx/>
                <a:latin typeface="Calibri"/>
                <a:ea typeface="Calibri"/>
              </a:rPr>
              <a:t>EU compliance and supplier intelligence specialist</a:t>
            </a:r>
            <a:endParaRPr b="0" lang="en-US" sz="810" strike="noStrike" u="none">
              <a:solidFill>
                <a:srgbClr val="000000"/>
              </a:solidFill>
              <a:effectLst/>
              <a:uFillTx/>
              <a:latin typeface="Arial"/>
            </a:endParaRPr>
          </a:p>
        </p:txBody>
      </p:sp>
      <p:sp>
        <p:nvSpPr>
          <p:cNvPr id="760" name="Shape 48"/>
          <p:cNvSpPr/>
          <p:nvPr/>
        </p:nvSpPr>
        <p:spPr>
          <a:xfrm>
            <a:off x="621720" y="4060080"/>
            <a:ext cx="1051200" cy="566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61" name="Text 49"/>
          <p:cNvSpPr/>
          <p:nvPr/>
        </p:nvSpPr>
        <p:spPr>
          <a:xfrm>
            <a:off x="713160" y="4133160"/>
            <a:ext cx="868320" cy="4201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20" strike="noStrike" u="none">
                <a:solidFill>
                  <a:srgbClr val="1e2420"/>
                </a:solidFill>
                <a:effectLst/>
                <a:uFillTx/>
                <a:latin typeface="Calibri"/>
                <a:ea typeface="Calibri"/>
              </a:rPr>
              <a:t>Arcadia</a:t>
            </a:r>
            <a:endParaRPr b="0" lang="en-US" sz="920" strike="noStrike" u="none">
              <a:solidFill>
                <a:srgbClr val="000000"/>
              </a:solidFill>
              <a:effectLst/>
              <a:uFillTx/>
              <a:latin typeface="Arial"/>
            </a:endParaRPr>
          </a:p>
        </p:txBody>
      </p:sp>
      <p:sp>
        <p:nvSpPr>
          <p:cNvPr id="762" name="Shape 50"/>
          <p:cNvSpPr/>
          <p:nvPr/>
        </p:nvSpPr>
        <p:spPr>
          <a:xfrm>
            <a:off x="1673280" y="4060080"/>
            <a:ext cx="1416960" cy="566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63" name="Text 51"/>
          <p:cNvSpPr/>
          <p:nvPr/>
        </p:nvSpPr>
        <p:spPr>
          <a:xfrm>
            <a:off x="1764720" y="4133160"/>
            <a:ext cx="1234080" cy="4201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10" strike="noStrike" u="none">
                <a:solidFill>
                  <a:srgbClr val="1e2420"/>
                </a:solidFill>
                <a:effectLst/>
                <a:uFillTx/>
                <a:latin typeface="Calibri"/>
                <a:ea typeface="Calibri"/>
              </a:rPr>
              <a:t>Custom quote</a:t>
            </a:r>
            <a:endParaRPr b="0" lang="en-US" sz="810" strike="noStrike" u="none">
              <a:solidFill>
                <a:srgbClr val="000000"/>
              </a:solidFill>
              <a:effectLst/>
              <a:uFillTx/>
              <a:latin typeface="Arial"/>
            </a:endParaRPr>
          </a:p>
        </p:txBody>
      </p:sp>
      <p:sp>
        <p:nvSpPr>
          <p:cNvPr id="764" name="Shape 52"/>
          <p:cNvSpPr/>
          <p:nvPr/>
        </p:nvSpPr>
        <p:spPr>
          <a:xfrm>
            <a:off x="3090600" y="4060080"/>
            <a:ext cx="3748680" cy="566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65" name="Text 53"/>
          <p:cNvSpPr/>
          <p:nvPr/>
        </p:nvSpPr>
        <p:spPr>
          <a:xfrm>
            <a:off x="3182040" y="4133160"/>
            <a:ext cx="3565800" cy="4201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10" strike="noStrike" u="none">
                <a:solidFill>
                  <a:srgbClr val="1e2420"/>
                </a:solidFill>
                <a:effectLst/>
                <a:uFillTx/>
                <a:latin typeface="Calibri"/>
                <a:ea typeface="Calibri"/>
              </a:rPr>
              <a:t>Focused: utility data, energy intelligence and Scope 1 and 2 enablement</a:t>
            </a:r>
            <a:endParaRPr b="0" lang="en-US" sz="810" strike="noStrike" u="none">
              <a:solidFill>
                <a:srgbClr val="000000"/>
              </a:solidFill>
              <a:effectLst/>
              <a:uFillTx/>
              <a:latin typeface="Arial"/>
            </a:endParaRPr>
          </a:p>
        </p:txBody>
      </p:sp>
      <p:sp>
        <p:nvSpPr>
          <p:cNvPr id="766" name="Shape 54"/>
          <p:cNvSpPr/>
          <p:nvPr/>
        </p:nvSpPr>
        <p:spPr>
          <a:xfrm>
            <a:off x="6839640" y="4060080"/>
            <a:ext cx="1325520" cy="566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67" name="Shape 55"/>
          <p:cNvSpPr/>
          <p:nvPr/>
        </p:nvSpPr>
        <p:spPr>
          <a:xfrm>
            <a:off x="6949440" y="4224600"/>
            <a:ext cx="1105920" cy="246600"/>
          </a:xfrm>
          <a:prstGeom prst="roundRect">
            <a:avLst>
              <a:gd name="adj" fmla="val 44444"/>
            </a:avLst>
          </a:prstGeom>
          <a:solidFill>
            <a:srgbClr val="eaf8ed"/>
          </a:solidFill>
          <a:ln w="6350">
            <a:solidFill>
              <a:srgbClr val="3dcd58">
                <a:alpha val="45000"/>
              </a:srgbClr>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68" name="Text 56"/>
          <p:cNvSpPr/>
          <p:nvPr/>
        </p:nvSpPr>
        <p:spPr>
          <a:xfrm>
            <a:off x="6949440" y="4224600"/>
            <a:ext cx="1105920" cy="24660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70" strike="noStrike" u="none">
                <a:solidFill>
                  <a:srgbClr val="007a27"/>
                </a:solidFill>
                <a:effectLst/>
                <a:uFillTx/>
                <a:latin typeface="Calibri"/>
                <a:ea typeface="Calibri"/>
              </a:rPr>
              <a:t>Expanding</a:t>
            </a:r>
            <a:endParaRPr b="0" lang="en-US" sz="770" strike="noStrike" u="none">
              <a:solidFill>
                <a:srgbClr val="000000"/>
              </a:solidFill>
              <a:effectLst/>
              <a:uFillTx/>
              <a:latin typeface="Arial"/>
            </a:endParaRPr>
          </a:p>
        </p:txBody>
      </p:sp>
      <p:sp>
        <p:nvSpPr>
          <p:cNvPr id="769" name="Shape 57"/>
          <p:cNvSpPr/>
          <p:nvPr/>
        </p:nvSpPr>
        <p:spPr>
          <a:xfrm>
            <a:off x="8165520" y="4060080"/>
            <a:ext cx="3657240" cy="566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70" name="Text 58"/>
          <p:cNvSpPr/>
          <p:nvPr/>
        </p:nvSpPr>
        <p:spPr>
          <a:xfrm>
            <a:off x="8256960" y="4133160"/>
            <a:ext cx="3474360" cy="4201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810" strike="noStrike" u="none">
                <a:solidFill>
                  <a:srgbClr val="1e2420"/>
                </a:solidFill>
                <a:effectLst/>
                <a:uFillTx/>
                <a:latin typeface="Calibri"/>
                <a:ea typeface="Calibri"/>
              </a:rPr>
              <a:t>Deep energy data infrastructure</a:t>
            </a:r>
            <a:endParaRPr b="0" lang="en-US" sz="810" strike="noStrike" u="none">
              <a:solidFill>
                <a:srgbClr val="000000"/>
              </a:solidFill>
              <a:effectLst/>
              <a:uFillTx/>
              <a:latin typeface="Arial"/>
            </a:endParaRPr>
          </a:p>
        </p:txBody>
      </p:sp>
      <p:sp>
        <p:nvSpPr>
          <p:cNvPr id="771" name="Shape 59"/>
          <p:cNvSpPr/>
          <p:nvPr/>
        </p:nvSpPr>
        <p:spPr>
          <a:xfrm>
            <a:off x="621720" y="4626720"/>
            <a:ext cx="1051200" cy="566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72" name="Text 60"/>
          <p:cNvSpPr/>
          <p:nvPr/>
        </p:nvSpPr>
        <p:spPr>
          <a:xfrm>
            <a:off x="713160" y="4700160"/>
            <a:ext cx="868320" cy="4201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20" strike="noStrike" u="none">
                <a:solidFill>
                  <a:srgbClr val="1e2420"/>
                </a:solidFill>
                <a:effectLst/>
                <a:uFillTx/>
                <a:latin typeface="Calibri"/>
                <a:ea typeface="Calibri"/>
              </a:rPr>
              <a:t>Deepki</a:t>
            </a:r>
            <a:endParaRPr b="0" lang="en-US" sz="920" strike="noStrike" u="none">
              <a:solidFill>
                <a:srgbClr val="000000"/>
              </a:solidFill>
              <a:effectLst/>
              <a:uFillTx/>
              <a:latin typeface="Arial"/>
            </a:endParaRPr>
          </a:p>
        </p:txBody>
      </p:sp>
      <p:sp>
        <p:nvSpPr>
          <p:cNvPr id="773" name="Shape 61"/>
          <p:cNvSpPr/>
          <p:nvPr/>
        </p:nvSpPr>
        <p:spPr>
          <a:xfrm>
            <a:off x="1673280" y="4626720"/>
            <a:ext cx="1416960" cy="566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74" name="Text 62"/>
          <p:cNvSpPr/>
          <p:nvPr/>
        </p:nvSpPr>
        <p:spPr>
          <a:xfrm>
            <a:off x="1764720" y="4700160"/>
            <a:ext cx="1234080" cy="4201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10" strike="noStrike" u="none">
                <a:solidFill>
                  <a:srgbClr val="1e2420"/>
                </a:solidFill>
                <a:effectLst/>
                <a:uFillTx/>
                <a:latin typeface="Calibri"/>
                <a:ea typeface="Calibri"/>
              </a:rPr>
              <a:t>Not publicly disclosed</a:t>
            </a:r>
            <a:endParaRPr b="0" lang="en-US" sz="810" strike="noStrike" u="none">
              <a:solidFill>
                <a:srgbClr val="000000"/>
              </a:solidFill>
              <a:effectLst/>
              <a:uFillTx/>
              <a:latin typeface="Arial"/>
            </a:endParaRPr>
          </a:p>
        </p:txBody>
      </p:sp>
      <p:sp>
        <p:nvSpPr>
          <p:cNvPr id="775" name="Shape 63"/>
          <p:cNvSpPr/>
          <p:nvPr/>
        </p:nvSpPr>
        <p:spPr>
          <a:xfrm>
            <a:off x="3090600" y="4626720"/>
            <a:ext cx="3748680" cy="566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76" name="Text 64"/>
          <p:cNvSpPr/>
          <p:nvPr/>
        </p:nvSpPr>
        <p:spPr>
          <a:xfrm>
            <a:off x="3182040" y="4700160"/>
            <a:ext cx="3565800" cy="4201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10" strike="noStrike" u="none">
                <a:solidFill>
                  <a:srgbClr val="1e2420"/>
                </a:solidFill>
                <a:effectLst/>
                <a:uFillTx/>
                <a:latin typeface="Calibri"/>
                <a:ea typeface="Calibri"/>
              </a:rPr>
              <a:t>Focused: real estate ESG, energy performance and climate risk</a:t>
            </a:r>
            <a:endParaRPr b="0" lang="en-US" sz="810" strike="noStrike" u="none">
              <a:solidFill>
                <a:srgbClr val="000000"/>
              </a:solidFill>
              <a:effectLst/>
              <a:uFillTx/>
              <a:latin typeface="Arial"/>
            </a:endParaRPr>
          </a:p>
        </p:txBody>
      </p:sp>
      <p:sp>
        <p:nvSpPr>
          <p:cNvPr id="777" name="Shape 65"/>
          <p:cNvSpPr/>
          <p:nvPr/>
        </p:nvSpPr>
        <p:spPr>
          <a:xfrm>
            <a:off x="6839640" y="4626720"/>
            <a:ext cx="1325520" cy="566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78" name="Shape 66"/>
          <p:cNvSpPr/>
          <p:nvPr/>
        </p:nvSpPr>
        <p:spPr>
          <a:xfrm>
            <a:off x="6949440" y="4791600"/>
            <a:ext cx="1105920" cy="246600"/>
          </a:xfrm>
          <a:prstGeom prst="roundRect">
            <a:avLst>
              <a:gd name="adj" fmla="val 44444"/>
            </a:avLst>
          </a:prstGeom>
          <a:solidFill>
            <a:srgbClr val="eaf8ed"/>
          </a:solidFill>
          <a:ln w="6350">
            <a:solidFill>
              <a:srgbClr val="3dcd58">
                <a:alpha val="45000"/>
              </a:srgbClr>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79" name="Text 67"/>
          <p:cNvSpPr/>
          <p:nvPr/>
        </p:nvSpPr>
        <p:spPr>
          <a:xfrm>
            <a:off x="6949440" y="4791600"/>
            <a:ext cx="1105920" cy="24660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70" strike="noStrike" u="none">
                <a:solidFill>
                  <a:srgbClr val="007a27"/>
                </a:solidFill>
                <a:effectLst/>
                <a:uFillTx/>
                <a:latin typeface="Calibri"/>
                <a:ea typeface="Calibri"/>
              </a:rPr>
              <a:t>Expanding</a:t>
            </a:r>
            <a:endParaRPr b="0" lang="en-US" sz="770" strike="noStrike" u="none">
              <a:solidFill>
                <a:srgbClr val="000000"/>
              </a:solidFill>
              <a:effectLst/>
              <a:uFillTx/>
              <a:latin typeface="Arial"/>
            </a:endParaRPr>
          </a:p>
        </p:txBody>
      </p:sp>
      <p:sp>
        <p:nvSpPr>
          <p:cNvPr id="780" name="Shape 68"/>
          <p:cNvSpPr/>
          <p:nvPr/>
        </p:nvSpPr>
        <p:spPr>
          <a:xfrm>
            <a:off x="8165520" y="4626720"/>
            <a:ext cx="3657240" cy="566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81" name="Text 69"/>
          <p:cNvSpPr/>
          <p:nvPr/>
        </p:nvSpPr>
        <p:spPr>
          <a:xfrm>
            <a:off x="8256960" y="4700160"/>
            <a:ext cx="3474360" cy="4201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810" strike="noStrike" u="none">
                <a:solidFill>
                  <a:srgbClr val="1e2420"/>
                </a:solidFill>
                <a:effectLst/>
                <a:uFillTx/>
                <a:latin typeface="Calibri"/>
                <a:ea typeface="Calibri"/>
              </a:rPr>
              <a:t>Deep built-environment specialization</a:t>
            </a:r>
            <a:endParaRPr b="0" lang="en-US" sz="810" strike="noStrike" u="none">
              <a:solidFill>
                <a:srgbClr val="000000"/>
              </a:solidFill>
              <a:effectLst/>
              <a:uFillTx/>
              <a:latin typeface="Arial"/>
            </a:endParaRPr>
          </a:p>
        </p:txBody>
      </p:sp>
      <p:sp>
        <p:nvSpPr>
          <p:cNvPr id="782" name="Shape 70"/>
          <p:cNvSpPr/>
          <p:nvPr/>
        </p:nvSpPr>
        <p:spPr>
          <a:xfrm>
            <a:off x="621720" y="5376600"/>
            <a:ext cx="10947600" cy="612360"/>
          </a:xfrm>
          <a:prstGeom prst="roundRect">
            <a:avLst>
              <a:gd name="adj" fmla="val 5970"/>
            </a:avLst>
          </a:prstGeom>
          <a:solidFill>
            <a:srgbClr val="005730"/>
          </a:solidFill>
          <a:ln w="12700">
            <a:solidFill>
              <a:srgbClr val="005730"/>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783" name="Shape 71"/>
          <p:cNvSpPr/>
          <p:nvPr/>
        </p:nvSpPr>
        <p:spPr>
          <a:xfrm>
            <a:off x="621720" y="5376600"/>
            <a:ext cx="1508400" cy="61236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84" name="Text 72"/>
          <p:cNvSpPr/>
          <p:nvPr/>
        </p:nvSpPr>
        <p:spPr>
          <a:xfrm>
            <a:off x="740520" y="5376600"/>
            <a:ext cx="1270800" cy="61236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800" spc="71" strike="noStrike" u="none">
                <a:solidFill>
                  <a:srgbClr val="005730"/>
                </a:solidFill>
                <a:effectLst/>
                <a:uFillTx/>
                <a:latin typeface="Calibri"/>
                <a:ea typeface="Calibri"/>
              </a:rPr>
              <a:t>BOARD IMPLICATION</a:t>
            </a:r>
            <a:endParaRPr b="0" lang="en-US" sz="800" strike="noStrike" u="none">
              <a:solidFill>
                <a:srgbClr val="000000"/>
              </a:solidFill>
              <a:effectLst/>
              <a:uFillTx/>
              <a:latin typeface="Arial"/>
            </a:endParaRPr>
          </a:p>
        </p:txBody>
      </p:sp>
      <p:sp>
        <p:nvSpPr>
          <p:cNvPr id="785" name="Text 73"/>
          <p:cNvSpPr/>
          <p:nvPr/>
        </p:nvSpPr>
        <p:spPr>
          <a:xfrm>
            <a:off x="2322720" y="5449680"/>
            <a:ext cx="9045720" cy="46584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50" strike="noStrike" u="none">
                <a:solidFill>
                  <a:srgbClr val="ffffff"/>
                </a:solidFill>
                <a:effectLst/>
                <a:uFillTx/>
                <a:latin typeface="Calibri"/>
                <a:ea typeface="Calibri"/>
              </a:rPr>
              <a:t>Win where clients value one accountable platform across sustainability, energy and efficiency. Close the gap on visible AI workflow maturity and prove lower total cost through shared data, calculations and assurance.</a:t>
            </a:r>
            <a:endParaRPr b="0" lang="en-US" sz="950" strike="noStrike" u="none">
              <a:solidFill>
                <a:srgbClr val="000000"/>
              </a:solidFill>
              <a:effectLst/>
              <a:uFillTx/>
              <a:latin typeface="Arial"/>
            </a:endParaRPr>
          </a:p>
        </p:txBody>
      </p:sp>
      <p:sp>
        <p:nvSpPr>
          <p:cNvPr id="786" name="Text 74"/>
          <p:cNvSpPr/>
          <p:nvPr/>
        </p:nvSpPr>
        <p:spPr>
          <a:xfrm>
            <a:off x="621720" y="6080760"/>
            <a:ext cx="10947600" cy="22824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720" strike="noStrike" u="none">
                <a:solidFill>
                  <a:srgbClr val="5a625c"/>
                </a:solidFill>
                <a:effectLst/>
                <a:uFillTx/>
                <a:latin typeface="Calibri"/>
                <a:ea typeface="Calibri"/>
              </a:rPr>
              <a:t>Public vendor materials reviewed September 2026. Price indicates public transparency and buying model, not relative contract value. AI maturity reflects evidenced product capabilities, not vendor claims alone.</a:t>
            </a:r>
            <a:endParaRPr b="0" lang="en-US" sz="720" strike="noStrike" u="none">
              <a:solidFill>
                <a:srgbClr val="000000"/>
              </a:solidFill>
              <a:effectLst/>
              <a:uFillTx/>
              <a:latin typeface="Arial"/>
            </a:endParaRPr>
          </a:p>
        </p:txBody>
      </p:sp>
      <p:sp>
        <p:nvSpPr>
          <p:cNvPr id="787" name="Shape 75"/>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788" name="Text 76"/>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789" name="Text 77"/>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790" name="PlaceHolder 1"/>
          <p:cNvSpPr>
            <a:spLocks noGrp="1"/>
          </p:cNvSpPr>
          <p:nvPr>
            <p:ph type="sldNum" idx="27"/>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4A73CAA1-AAB9-4D18-943F-1BA2E93CC1FA}"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c3b25"/>
        </a:solidFill>
      </p:bgPr>
    </p:bg>
    <p:spTree>
      <p:nvGrpSpPr>
        <p:cNvPr id="1" name=""/>
        <p:cNvGrpSpPr/>
        <p:nvPr/>
      </p:nvGrpSpPr>
      <p:grpSpPr>
        <a:xfrm>
          <a:off x="0" y="0"/>
          <a:ext cx="0" cy="0"/>
          <a:chOff x="0" y="0"/>
          <a:chExt cx="0" cy="0"/>
        </a:xfrm>
      </p:grpSpPr>
      <p:sp>
        <p:nvSpPr>
          <p:cNvPr id="791" name="Shape 0"/>
          <p:cNvSpPr/>
          <p:nvPr/>
        </p:nvSpPr>
        <p:spPr>
          <a:xfrm>
            <a:off x="621720" y="320040"/>
            <a:ext cx="2651400" cy="292320"/>
          </a:xfrm>
          <a:prstGeom prst="roundRect">
            <a:avLst>
              <a:gd name="adj" fmla="val 50000"/>
            </a:avLst>
          </a:prstGeom>
          <a:solidFill>
            <a:srgbClr val="0c3b25"/>
          </a:solidFill>
          <a:ln w="12700">
            <a:solidFill>
              <a:srgbClr val="cdfc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792" name="Text 1"/>
          <p:cNvSpPr/>
          <p:nvPr/>
        </p:nvSpPr>
        <p:spPr>
          <a:xfrm>
            <a:off x="621720" y="320040"/>
            <a:ext cx="265140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900" spc="181" strike="noStrike" u="none">
                <a:solidFill>
                  <a:srgbClr val="cdfc57"/>
                </a:solidFill>
                <a:effectLst/>
                <a:uFillTx/>
                <a:latin typeface="Calibri"/>
                <a:ea typeface="Calibri"/>
              </a:rPr>
              <a:t>Competitive roadmap | 2026 to 2028</a:t>
            </a:r>
            <a:endParaRPr b="0" lang="en-US" sz="900" strike="noStrike" u="none">
              <a:solidFill>
                <a:srgbClr val="ffffff"/>
              </a:solidFill>
              <a:effectLst/>
              <a:uFillTx/>
              <a:latin typeface="Arial"/>
            </a:endParaRPr>
          </a:p>
        </p:txBody>
      </p:sp>
      <p:sp>
        <p:nvSpPr>
          <p:cNvPr id="793" name="Text 2"/>
          <p:cNvSpPr/>
          <p:nvPr/>
        </p:nvSpPr>
        <p:spPr>
          <a:xfrm>
            <a:off x="621720" y="731520"/>
            <a:ext cx="10947600" cy="5025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2300" strike="noStrike" u="none">
                <a:solidFill>
                  <a:srgbClr val="ffffff"/>
                </a:solidFill>
                <a:effectLst/>
                <a:uFillTx/>
                <a:latin typeface="Calibri"/>
                <a:ea typeface="Calibri"/>
              </a:rPr>
              <a:t>Where we lead, and where rivals catch up</a:t>
            </a:r>
            <a:endParaRPr b="0" lang="en-US" sz="2300" strike="noStrike" u="none">
              <a:solidFill>
                <a:srgbClr val="ffffff"/>
              </a:solidFill>
              <a:effectLst/>
              <a:uFillTx/>
              <a:latin typeface="Arial"/>
            </a:endParaRPr>
          </a:p>
        </p:txBody>
      </p:sp>
      <p:sp>
        <p:nvSpPr>
          <p:cNvPr id="794" name="Text 3"/>
          <p:cNvSpPr/>
          <p:nvPr/>
        </p:nvSpPr>
        <p:spPr>
          <a:xfrm>
            <a:off x="621720" y="1280160"/>
            <a:ext cx="10423800" cy="36540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050" strike="noStrike" u="none">
                <a:solidFill>
                  <a:srgbClr val="bfd9c9"/>
                </a:solidFill>
                <a:effectLst/>
                <a:uFillTx/>
                <a:latin typeface="Calibri"/>
                <a:ea typeface="Calibri"/>
              </a:rPr>
              <a:t>This comparison focuses on sustainability rivals; energy management competitors are covered separately. Our three year plan against the direction of travel visible in competitor public product roadmaps and market commentary. Competitor columns are directional, not committed dates.</a:t>
            </a:r>
            <a:endParaRPr b="0" lang="en-US" sz="1050" strike="noStrike" u="none">
              <a:solidFill>
                <a:srgbClr val="ffffff"/>
              </a:solidFill>
              <a:effectLst/>
              <a:uFillTx/>
              <a:latin typeface="Arial"/>
            </a:endParaRPr>
          </a:p>
        </p:txBody>
      </p:sp>
      <p:sp>
        <p:nvSpPr>
          <p:cNvPr id="795" name="Shape 4"/>
          <p:cNvSpPr/>
          <p:nvPr/>
        </p:nvSpPr>
        <p:spPr>
          <a:xfrm>
            <a:off x="2569320" y="2166840"/>
            <a:ext cx="2743920" cy="360"/>
          </a:xfrm>
          <a:prstGeom prst="line">
            <a:avLst/>
          </a:prstGeom>
          <a:ln w="10160">
            <a:solidFill>
              <a:srgbClr val="5e806e"/>
            </a:solidFill>
            <a:round/>
          </a:ln>
        </p:spPr>
        <p:style>
          <a:lnRef idx="0"/>
          <a:fillRef idx="0"/>
          <a:effectRef idx="0"/>
          <a:fontRef idx="minor"/>
        </p:style>
        <p:txBody>
          <a:bodyPr lIns="90000" rIns="90000" tIns="-44640" bIns="-44640" anchor="t" anchorCtr="1">
            <a:noAutofit/>
          </a:bodyPr>
          <a:p>
            <a:endParaRPr b="0" lang="en-US" sz="1800" strike="noStrike" u="none">
              <a:solidFill>
                <a:srgbClr val="ffffff"/>
              </a:solidFill>
              <a:effectLst/>
              <a:uFillTx/>
              <a:latin typeface="Arial"/>
            </a:endParaRPr>
          </a:p>
        </p:txBody>
      </p:sp>
      <p:sp>
        <p:nvSpPr>
          <p:cNvPr id="796" name="Shape 5"/>
          <p:cNvSpPr/>
          <p:nvPr/>
        </p:nvSpPr>
        <p:spPr>
          <a:xfrm>
            <a:off x="2569320" y="1783080"/>
            <a:ext cx="712800" cy="273960"/>
          </a:xfrm>
          <a:prstGeom prst="roundRect">
            <a:avLst>
              <a:gd name="adj" fmla="val 13333"/>
            </a:avLst>
          </a:prstGeom>
          <a:solidFill>
            <a:srgbClr val="0c3b25"/>
          </a:solidFill>
          <a:ln w="12700">
            <a:solidFill>
              <a:srgbClr val="cdfc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797" name="Text 6"/>
          <p:cNvSpPr/>
          <p:nvPr/>
        </p:nvSpPr>
        <p:spPr>
          <a:xfrm>
            <a:off x="2569320" y="1783080"/>
            <a:ext cx="71280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950" strike="noStrike" u="none">
                <a:solidFill>
                  <a:srgbClr val="cdfc57"/>
                </a:solidFill>
                <a:effectLst/>
                <a:uFillTx/>
                <a:latin typeface="Calibri"/>
                <a:ea typeface="Calibri"/>
              </a:rPr>
              <a:t>2026</a:t>
            </a:r>
            <a:endParaRPr b="0" lang="en-US" sz="950" strike="noStrike" u="none">
              <a:solidFill>
                <a:srgbClr val="ffffff"/>
              </a:solidFill>
              <a:effectLst/>
              <a:uFillTx/>
              <a:latin typeface="Arial"/>
            </a:endParaRPr>
          </a:p>
        </p:txBody>
      </p:sp>
      <p:sp>
        <p:nvSpPr>
          <p:cNvPr id="798" name="Text 7"/>
          <p:cNvSpPr/>
          <p:nvPr/>
        </p:nvSpPr>
        <p:spPr>
          <a:xfrm>
            <a:off x="3392280" y="1783080"/>
            <a:ext cx="192096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150" strike="noStrike" u="none">
                <a:solidFill>
                  <a:srgbClr val="ffffff"/>
                </a:solidFill>
                <a:effectLst/>
                <a:uFillTx/>
                <a:latin typeface="Calibri"/>
                <a:ea typeface="Calibri"/>
              </a:rPr>
              <a:t>Foundations</a:t>
            </a:r>
            <a:endParaRPr b="0" lang="en-US" sz="1150" strike="noStrike" u="none">
              <a:solidFill>
                <a:srgbClr val="ffffff"/>
              </a:solidFill>
              <a:effectLst/>
              <a:uFillTx/>
              <a:latin typeface="Arial"/>
            </a:endParaRPr>
          </a:p>
        </p:txBody>
      </p:sp>
      <p:sp>
        <p:nvSpPr>
          <p:cNvPr id="799" name="Shape 8"/>
          <p:cNvSpPr/>
          <p:nvPr/>
        </p:nvSpPr>
        <p:spPr>
          <a:xfrm>
            <a:off x="5569560" y="2166840"/>
            <a:ext cx="2743920" cy="360"/>
          </a:xfrm>
          <a:prstGeom prst="line">
            <a:avLst/>
          </a:prstGeom>
          <a:ln w="10160">
            <a:solidFill>
              <a:srgbClr val="5e806e"/>
            </a:solidFill>
            <a:round/>
          </a:ln>
        </p:spPr>
        <p:style>
          <a:lnRef idx="0"/>
          <a:fillRef idx="0"/>
          <a:effectRef idx="0"/>
          <a:fontRef idx="minor"/>
        </p:style>
        <p:txBody>
          <a:bodyPr lIns="90000" rIns="90000" tIns="-44640" bIns="-44640" anchor="t" anchorCtr="1">
            <a:noAutofit/>
          </a:bodyPr>
          <a:p>
            <a:endParaRPr b="0" lang="en-US" sz="1800" strike="noStrike" u="none">
              <a:solidFill>
                <a:srgbClr val="ffffff"/>
              </a:solidFill>
              <a:effectLst/>
              <a:uFillTx/>
              <a:latin typeface="Arial"/>
            </a:endParaRPr>
          </a:p>
        </p:txBody>
      </p:sp>
      <p:sp>
        <p:nvSpPr>
          <p:cNvPr id="800" name="Shape 9"/>
          <p:cNvSpPr/>
          <p:nvPr/>
        </p:nvSpPr>
        <p:spPr>
          <a:xfrm>
            <a:off x="5569560" y="1783080"/>
            <a:ext cx="712800" cy="273960"/>
          </a:xfrm>
          <a:prstGeom prst="roundRect">
            <a:avLst>
              <a:gd name="adj" fmla="val 13333"/>
            </a:avLst>
          </a:prstGeom>
          <a:solidFill>
            <a:srgbClr val="0c3b25"/>
          </a:solidFill>
          <a:ln w="12700">
            <a:solidFill>
              <a:srgbClr val="cdfc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01" name="Text 10"/>
          <p:cNvSpPr/>
          <p:nvPr/>
        </p:nvSpPr>
        <p:spPr>
          <a:xfrm>
            <a:off x="5569560" y="1783080"/>
            <a:ext cx="71280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950" strike="noStrike" u="none">
                <a:solidFill>
                  <a:srgbClr val="cdfc57"/>
                </a:solidFill>
                <a:effectLst/>
                <a:uFillTx/>
                <a:latin typeface="Calibri"/>
                <a:ea typeface="Calibri"/>
              </a:rPr>
              <a:t>2027</a:t>
            </a:r>
            <a:endParaRPr b="0" lang="en-US" sz="950" strike="noStrike" u="none">
              <a:solidFill>
                <a:srgbClr val="ffffff"/>
              </a:solidFill>
              <a:effectLst/>
              <a:uFillTx/>
              <a:latin typeface="Arial"/>
            </a:endParaRPr>
          </a:p>
        </p:txBody>
      </p:sp>
      <p:sp>
        <p:nvSpPr>
          <p:cNvPr id="802" name="Text 11"/>
          <p:cNvSpPr/>
          <p:nvPr/>
        </p:nvSpPr>
        <p:spPr>
          <a:xfrm>
            <a:off x="6392520" y="1783080"/>
            <a:ext cx="192096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150" strike="noStrike" u="none">
                <a:solidFill>
                  <a:srgbClr val="ffffff"/>
                </a:solidFill>
                <a:effectLst/>
                <a:uFillTx/>
                <a:latin typeface="Calibri"/>
                <a:ea typeface="Calibri"/>
              </a:rPr>
              <a:t>Depth and trust</a:t>
            </a:r>
            <a:endParaRPr b="0" lang="en-US" sz="1150" strike="noStrike" u="none">
              <a:solidFill>
                <a:srgbClr val="ffffff"/>
              </a:solidFill>
              <a:effectLst/>
              <a:uFillTx/>
              <a:latin typeface="Arial"/>
            </a:endParaRPr>
          </a:p>
        </p:txBody>
      </p:sp>
      <p:sp>
        <p:nvSpPr>
          <p:cNvPr id="803" name="Shape 12"/>
          <p:cNvSpPr/>
          <p:nvPr/>
        </p:nvSpPr>
        <p:spPr>
          <a:xfrm>
            <a:off x="8569440" y="2166840"/>
            <a:ext cx="2744280" cy="360"/>
          </a:xfrm>
          <a:prstGeom prst="line">
            <a:avLst/>
          </a:prstGeom>
          <a:ln w="10160">
            <a:solidFill>
              <a:srgbClr val="5e806e"/>
            </a:solidFill>
            <a:round/>
          </a:ln>
        </p:spPr>
        <p:style>
          <a:lnRef idx="0"/>
          <a:fillRef idx="0"/>
          <a:effectRef idx="0"/>
          <a:fontRef idx="minor"/>
        </p:style>
        <p:txBody>
          <a:bodyPr lIns="90000" rIns="90000" tIns="-44640" bIns="-44640" anchor="t" anchorCtr="1">
            <a:noAutofit/>
          </a:bodyPr>
          <a:p>
            <a:endParaRPr b="0" lang="en-US" sz="1800" strike="noStrike" u="none">
              <a:solidFill>
                <a:srgbClr val="ffffff"/>
              </a:solidFill>
              <a:effectLst/>
              <a:uFillTx/>
              <a:latin typeface="Arial"/>
            </a:endParaRPr>
          </a:p>
        </p:txBody>
      </p:sp>
      <p:sp>
        <p:nvSpPr>
          <p:cNvPr id="804" name="Shape 13"/>
          <p:cNvSpPr/>
          <p:nvPr/>
        </p:nvSpPr>
        <p:spPr>
          <a:xfrm>
            <a:off x="8569800" y="1783080"/>
            <a:ext cx="712800" cy="273960"/>
          </a:xfrm>
          <a:prstGeom prst="roundRect">
            <a:avLst>
              <a:gd name="adj" fmla="val 13333"/>
            </a:avLst>
          </a:prstGeom>
          <a:solidFill>
            <a:srgbClr val="0c3b25"/>
          </a:solidFill>
          <a:ln w="12700">
            <a:solidFill>
              <a:srgbClr val="cdfc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05" name="Text 14"/>
          <p:cNvSpPr/>
          <p:nvPr/>
        </p:nvSpPr>
        <p:spPr>
          <a:xfrm>
            <a:off x="8569800" y="1783080"/>
            <a:ext cx="71280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950" strike="noStrike" u="none">
                <a:solidFill>
                  <a:srgbClr val="cdfc57"/>
                </a:solidFill>
                <a:effectLst/>
                <a:uFillTx/>
                <a:latin typeface="Calibri"/>
                <a:ea typeface="Calibri"/>
              </a:rPr>
              <a:t>2028 and beyond</a:t>
            </a:r>
            <a:endParaRPr b="0" lang="en-US" sz="950" strike="noStrike" u="none">
              <a:solidFill>
                <a:srgbClr val="ffffff"/>
              </a:solidFill>
              <a:effectLst/>
              <a:uFillTx/>
              <a:latin typeface="Arial"/>
            </a:endParaRPr>
          </a:p>
        </p:txBody>
      </p:sp>
      <p:sp>
        <p:nvSpPr>
          <p:cNvPr id="806" name="Text 15"/>
          <p:cNvSpPr/>
          <p:nvPr/>
        </p:nvSpPr>
        <p:spPr>
          <a:xfrm>
            <a:off x="9392760" y="1783080"/>
            <a:ext cx="192096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150" strike="noStrike" u="none">
                <a:solidFill>
                  <a:srgbClr val="ffffff"/>
                </a:solidFill>
                <a:effectLst/>
                <a:uFillTx/>
                <a:latin typeface="Calibri"/>
                <a:ea typeface="Calibri"/>
              </a:rPr>
              <a:t>Scale and intelligence</a:t>
            </a:r>
            <a:endParaRPr b="0" lang="en-US" sz="1150" strike="noStrike" u="none">
              <a:solidFill>
                <a:srgbClr val="ffffff"/>
              </a:solidFill>
              <a:effectLst/>
              <a:uFillTx/>
              <a:latin typeface="Arial"/>
            </a:endParaRPr>
          </a:p>
        </p:txBody>
      </p:sp>
      <p:sp>
        <p:nvSpPr>
          <p:cNvPr id="807" name="Shape 16"/>
          <p:cNvSpPr/>
          <p:nvPr/>
        </p:nvSpPr>
        <p:spPr>
          <a:xfrm>
            <a:off x="640080" y="2450520"/>
            <a:ext cx="91080" cy="91080"/>
          </a:xfrm>
          <a:prstGeom prst="ellipse">
            <a:avLst/>
          </a:prstGeom>
          <a:solidFill>
            <a:srgbClr val="3dcd58"/>
          </a:solidFill>
          <a:ln w="12700">
            <a:solidFill>
              <a:srgbClr val="3dcd58"/>
            </a:solidFill>
            <a:round/>
          </a:ln>
        </p:spPr>
        <p:style>
          <a:lnRef idx="0"/>
          <a:fillRef idx="0"/>
          <a:effectRef idx="0"/>
          <a:fontRef idx="minor"/>
        </p:style>
        <p:txBody>
          <a:bodyPr lIns="90000" rIns="90000" tIns="19440" bIns="19440" anchor="t">
            <a:noAutofit/>
          </a:bodyPr>
          <a:p>
            <a:endParaRPr b="0" lang="en-US" sz="1800" strike="noStrike" u="none">
              <a:solidFill>
                <a:srgbClr val="000000"/>
              </a:solidFill>
              <a:effectLst/>
              <a:uFillTx/>
              <a:latin typeface="Arial"/>
            </a:endParaRPr>
          </a:p>
        </p:txBody>
      </p:sp>
      <p:sp>
        <p:nvSpPr>
          <p:cNvPr id="808" name="Text 17"/>
          <p:cNvSpPr/>
          <p:nvPr/>
        </p:nvSpPr>
        <p:spPr>
          <a:xfrm>
            <a:off x="804600" y="2267640"/>
            <a:ext cx="1508400" cy="45684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000" strike="noStrike" u="none">
                <a:solidFill>
                  <a:srgbClr val="ffffff"/>
                </a:solidFill>
                <a:effectLst/>
                <a:uFillTx/>
                <a:latin typeface="Calibri"/>
                <a:ea typeface="Calibri"/>
              </a:rPr>
              <a:t>RA+</a:t>
            </a:r>
            <a:endParaRPr b="0" lang="en-US" sz="1000" strike="noStrike" u="none">
              <a:solidFill>
                <a:srgbClr val="ffffff"/>
              </a:solidFill>
              <a:effectLst/>
              <a:uFillTx/>
              <a:latin typeface="Arial"/>
            </a:endParaRPr>
          </a:p>
        </p:txBody>
      </p:sp>
      <p:sp>
        <p:nvSpPr>
          <p:cNvPr id="809" name="Shape 18"/>
          <p:cNvSpPr/>
          <p:nvPr/>
        </p:nvSpPr>
        <p:spPr>
          <a:xfrm>
            <a:off x="2569320" y="2267640"/>
            <a:ext cx="2743920" cy="456840"/>
          </a:xfrm>
          <a:prstGeom prst="roundRect">
            <a:avLst>
              <a:gd name="adj" fmla="val 10000"/>
            </a:avLst>
          </a:prstGeom>
          <a:solidFill>
            <a:srgbClr val="124a30"/>
          </a:solidFill>
          <a:ln w="9525">
            <a:solidFill>
              <a:srgbClr val="315d4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10" name="Text 19"/>
          <p:cNvSpPr/>
          <p:nvPr/>
        </p:nvSpPr>
        <p:spPr>
          <a:xfrm>
            <a:off x="2697480" y="2267640"/>
            <a:ext cx="2487600" cy="456840"/>
          </a:xfrm>
          <a:prstGeom prst="rect">
            <a:avLst/>
          </a:prstGeom>
          <a:noFill/>
          <a:ln w="0">
            <a:noFill/>
          </a:ln>
        </p:spPr>
        <p:style>
          <a:lnRef idx="0"/>
          <a:fillRef idx="0"/>
          <a:effectRef idx="0"/>
          <a:fontRef idx="minor"/>
        </p:style>
        <p:txBody>
          <a:bodyPr lIns="0" rIns="0" tIns="0" bIns="0" anchor="ctr">
            <a:normAutofit/>
          </a:bodyPr>
          <a:p>
            <a:pPr defTabSz="914400">
              <a:lnSpc>
                <a:spcPct val="110000"/>
              </a:lnSpc>
              <a:tabLst>
                <a:tab algn="l" pos="0"/>
              </a:tabLst>
            </a:pPr>
            <a:r>
              <a:rPr b="0" lang="en-US" sz="850" strike="noStrike" u="none">
                <a:solidFill>
                  <a:srgbClr val="ffffff"/>
                </a:solidFill>
                <a:effectLst/>
                <a:uFillTx/>
                <a:latin typeface="Calibri"/>
                <a:ea typeface="Calibri"/>
              </a:rPr>
              <a:t>One data spine: shared hierarchy, factors and calculation engine, plus consultant grade inventory</a:t>
            </a:r>
            <a:endParaRPr b="0" lang="en-US" sz="850" strike="noStrike" u="none">
              <a:solidFill>
                <a:srgbClr val="ffffff"/>
              </a:solidFill>
              <a:effectLst/>
              <a:uFillTx/>
              <a:latin typeface="Arial"/>
            </a:endParaRPr>
          </a:p>
        </p:txBody>
      </p:sp>
      <p:sp>
        <p:nvSpPr>
          <p:cNvPr id="811" name="Shape 20"/>
          <p:cNvSpPr/>
          <p:nvPr/>
        </p:nvSpPr>
        <p:spPr>
          <a:xfrm>
            <a:off x="5569560" y="2267640"/>
            <a:ext cx="2743920" cy="456840"/>
          </a:xfrm>
          <a:prstGeom prst="roundRect">
            <a:avLst>
              <a:gd name="adj" fmla="val 10000"/>
            </a:avLst>
          </a:prstGeom>
          <a:solidFill>
            <a:srgbClr val="124a30"/>
          </a:solidFill>
          <a:ln w="9525">
            <a:solidFill>
              <a:srgbClr val="315d4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12" name="Text 21"/>
          <p:cNvSpPr/>
          <p:nvPr/>
        </p:nvSpPr>
        <p:spPr>
          <a:xfrm>
            <a:off x="5697720" y="2267640"/>
            <a:ext cx="2487600" cy="456840"/>
          </a:xfrm>
          <a:prstGeom prst="rect">
            <a:avLst/>
          </a:prstGeom>
          <a:noFill/>
          <a:ln w="0">
            <a:noFill/>
          </a:ln>
        </p:spPr>
        <p:style>
          <a:lnRef idx="0"/>
          <a:fillRef idx="0"/>
          <a:effectRef idx="0"/>
          <a:fontRef idx="minor"/>
        </p:style>
        <p:txBody>
          <a:bodyPr lIns="0" rIns="0" tIns="0" bIns="0" anchor="ctr">
            <a:normAutofit/>
          </a:bodyPr>
          <a:p>
            <a:pPr defTabSz="914400">
              <a:lnSpc>
                <a:spcPct val="110000"/>
              </a:lnSpc>
              <a:tabLst>
                <a:tab algn="l" pos="0"/>
              </a:tabLst>
            </a:pPr>
            <a:r>
              <a:rPr b="0" lang="en-US" sz="850" strike="noStrike" u="none">
                <a:solidFill>
                  <a:srgbClr val="ffffff"/>
                </a:solidFill>
                <a:effectLst/>
                <a:uFillTx/>
                <a:latin typeface="Calibri"/>
                <a:ea typeface="Calibri"/>
              </a:rPr>
              <a:t>Priced climate risk, product linked transport, cross product disclosure and AI assisted inventory</a:t>
            </a:r>
            <a:endParaRPr b="0" lang="en-US" sz="850" strike="noStrike" u="none">
              <a:solidFill>
                <a:srgbClr val="ffffff"/>
              </a:solidFill>
              <a:effectLst/>
              <a:uFillTx/>
              <a:latin typeface="Arial"/>
            </a:endParaRPr>
          </a:p>
        </p:txBody>
      </p:sp>
      <p:sp>
        <p:nvSpPr>
          <p:cNvPr id="813" name="Shape 22"/>
          <p:cNvSpPr/>
          <p:nvPr/>
        </p:nvSpPr>
        <p:spPr>
          <a:xfrm>
            <a:off x="8569800" y="2267640"/>
            <a:ext cx="2743920" cy="456840"/>
          </a:xfrm>
          <a:prstGeom prst="roundRect">
            <a:avLst>
              <a:gd name="adj" fmla="val 10000"/>
            </a:avLst>
          </a:prstGeom>
          <a:solidFill>
            <a:srgbClr val="124a30"/>
          </a:solidFill>
          <a:ln w="9525">
            <a:solidFill>
              <a:srgbClr val="315d4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14" name="Text 23"/>
          <p:cNvSpPr/>
          <p:nvPr/>
        </p:nvSpPr>
        <p:spPr>
          <a:xfrm>
            <a:off x="8697600" y="2267640"/>
            <a:ext cx="2487600" cy="456840"/>
          </a:xfrm>
          <a:prstGeom prst="rect">
            <a:avLst/>
          </a:prstGeom>
          <a:noFill/>
          <a:ln w="0">
            <a:noFill/>
          </a:ln>
        </p:spPr>
        <p:style>
          <a:lnRef idx="0"/>
          <a:fillRef idx="0"/>
          <a:effectRef idx="0"/>
          <a:fontRef idx="minor"/>
        </p:style>
        <p:txBody>
          <a:bodyPr lIns="0" rIns="0" tIns="0" bIns="0" anchor="ctr">
            <a:normAutofit/>
          </a:bodyPr>
          <a:p>
            <a:pPr defTabSz="914400">
              <a:lnSpc>
                <a:spcPct val="110000"/>
              </a:lnSpc>
              <a:tabLst>
                <a:tab algn="l" pos="0"/>
              </a:tabLst>
            </a:pPr>
            <a:r>
              <a:rPr b="0" lang="en-US" sz="850" strike="noStrike" u="none">
                <a:solidFill>
                  <a:srgbClr val="ffffff"/>
                </a:solidFill>
                <a:effectLst/>
                <a:uFillTx/>
                <a:latin typeface="Calibri"/>
                <a:ea typeface="Calibri"/>
              </a:rPr>
              <a:t>Converged sustainability, energy and efficiency decisioning on one governed platform</a:t>
            </a:r>
            <a:endParaRPr b="0" lang="en-US" sz="850" strike="noStrike" u="none">
              <a:solidFill>
                <a:srgbClr val="ffffff"/>
              </a:solidFill>
              <a:effectLst/>
              <a:uFillTx/>
              <a:latin typeface="Arial"/>
            </a:endParaRPr>
          </a:p>
        </p:txBody>
      </p:sp>
      <p:sp>
        <p:nvSpPr>
          <p:cNvPr id="815" name="Shape 24"/>
          <p:cNvSpPr/>
          <p:nvPr/>
        </p:nvSpPr>
        <p:spPr>
          <a:xfrm>
            <a:off x="640080" y="2999160"/>
            <a:ext cx="91080" cy="91080"/>
          </a:xfrm>
          <a:prstGeom prst="ellipse">
            <a:avLst/>
          </a:prstGeom>
          <a:solidFill>
            <a:srgbClr val="cdfc57"/>
          </a:solidFill>
          <a:ln w="12700">
            <a:solidFill>
              <a:srgbClr val="cdfc57"/>
            </a:solidFill>
            <a:round/>
          </a:ln>
        </p:spPr>
        <p:style>
          <a:lnRef idx="0"/>
          <a:fillRef idx="0"/>
          <a:effectRef idx="0"/>
          <a:fontRef idx="minor"/>
        </p:style>
        <p:txBody>
          <a:bodyPr lIns="90000" rIns="90000" tIns="19440" bIns="19440" anchor="t">
            <a:noAutofit/>
          </a:bodyPr>
          <a:p>
            <a:endParaRPr b="0" lang="en-US" sz="1800" strike="noStrike" u="none">
              <a:solidFill>
                <a:srgbClr val="000000"/>
              </a:solidFill>
              <a:effectLst/>
              <a:uFillTx/>
              <a:latin typeface="Arial"/>
            </a:endParaRPr>
          </a:p>
        </p:txBody>
      </p:sp>
      <p:sp>
        <p:nvSpPr>
          <p:cNvPr id="816" name="Text 25"/>
          <p:cNvSpPr/>
          <p:nvPr/>
        </p:nvSpPr>
        <p:spPr>
          <a:xfrm>
            <a:off x="804600" y="2816280"/>
            <a:ext cx="1508400" cy="45684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000" strike="noStrike" u="none">
                <a:solidFill>
                  <a:srgbClr val="ffffff"/>
                </a:solidFill>
                <a:effectLst/>
                <a:uFillTx/>
                <a:latin typeface="Calibri"/>
                <a:ea typeface="Calibri"/>
              </a:rPr>
              <a:t>Watershed</a:t>
            </a:r>
            <a:endParaRPr b="0" lang="en-US" sz="1000" strike="noStrike" u="none">
              <a:solidFill>
                <a:srgbClr val="ffffff"/>
              </a:solidFill>
              <a:effectLst/>
              <a:uFillTx/>
              <a:latin typeface="Arial"/>
            </a:endParaRPr>
          </a:p>
        </p:txBody>
      </p:sp>
      <p:sp>
        <p:nvSpPr>
          <p:cNvPr id="817" name="Shape 26"/>
          <p:cNvSpPr/>
          <p:nvPr/>
        </p:nvSpPr>
        <p:spPr>
          <a:xfrm>
            <a:off x="2569320" y="2816280"/>
            <a:ext cx="2743920" cy="456840"/>
          </a:xfrm>
          <a:prstGeom prst="roundRect">
            <a:avLst>
              <a:gd name="adj" fmla="val 10000"/>
            </a:avLst>
          </a:prstGeom>
          <a:solidFill>
            <a:srgbClr val="124a30"/>
          </a:solidFill>
          <a:ln w="9525">
            <a:solidFill>
              <a:srgbClr val="315d4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18" name="Text 27"/>
          <p:cNvSpPr/>
          <p:nvPr/>
        </p:nvSpPr>
        <p:spPr>
          <a:xfrm>
            <a:off x="2697480" y="2816280"/>
            <a:ext cx="2487600" cy="456840"/>
          </a:xfrm>
          <a:prstGeom prst="rect">
            <a:avLst/>
          </a:prstGeom>
          <a:noFill/>
          <a:ln w="0">
            <a:noFill/>
          </a:ln>
        </p:spPr>
        <p:style>
          <a:lnRef idx="0"/>
          <a:fillRef idx="0"/>
          <a:effectRef idx="0"/>
          <a:fontRef idx="minor"/>
        </p:style>
        <p:txBody>
          <a:bodyPr lIns="0" rIns="0" tIns="0" bIns="0" anchor="ctr">
            <a:normAutofit/>
          </a:bodyPr>
          <a:p>
            <a:pPr defTabSz="914400">
              <a:lnSpc>
                <a:spcPct val="110000"/>
              </a:lnSpc>
              <a:tabLst>
                <a:tab algn="l" pos="0"/>
              </a:tabLst>
            </a:pPr>
            <a:r>
              <a:rPr b="0" lang="en-US" sz="850" strike="noStrike" u="none">
                <a:solidFill>
                  <a:srgbClr val="ffffff"/>
                </a:solidFill>
                <a:effectLst/>
                <a:uFillTx/>
                <a:latin typeface="Calibri"/>
                <a:ea typeface="Calibri"/>
              </a:rPr>
              <a:t>AI native carbon and disclosure workflows already strong</a:t>
            </a:r>
            <a:endParaRPr b="0" lang="en-US" sz="850" strike="noStrike" u="none">
              <a:solidFill>
                <a:srgbClr val="ffffff"/>
              </a:solidFill>
              <a:effectLst/>
              <a:uFillTx/>
              <a:latin typeface="Arial"/>
            </a:endParaRPr>
          </a:p>
        </p:txBody>
      </p:sp>
      <p:sp>
        <p:nvSpPr>
          <p:cNvPr id="819" name="Shape 28"/>
          <p:cNvSpPr/>
          <p:nvPr/>
        </p:nvSpPr>
        <p:spPr>
          <a:xfrm>
            <a:off x="5569560" y="2816280"/>
            <a:ext cx="2743920" cy="456840"/>
          </a:xfrm>
          <a:prstGeom prst="roundRect">
            <a:avLst>
              <a:gd name="adj" fmla="val 10000"/>
            </a:avLst>
          </a:prstGeom>
          <a:solidFill>
            <a:srgbClr val="124a30"/>
          </a:solidFill>
          <a:ln w="9525">
            <a:solidFill>
              <a:srgbClr val="315d4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20" name="Text 29"/>
          <p:cNvSpPr/>
          <p:nvPr/>
        </p:nvSpPr>
        <p:spPr>
          <a:xfrm>
            <a:off x="5697720" y="2816280"/>
            <a:ext cx="2487600" cy="456840"/>
          </a:xfrm>
          <a:prstGeom prst="rect">
            <a:avLst/>
          </a:prstGeom>
          <a:noFill/>
          <a:ln w="0">
            <a:noFill/>
          </a:ln>
        </p:spPr>
        <p:style>
          <a:lnRef idx="0"/>
          <a:fillRef idx="0"/>
          <a:effectRef idx="0"/>
          <a:fontRef idx="minor"/>
        </p:style>
        <p:txBody>
          <a:bodyPr lIns="0" rIns="0" tIns="0" bIns="0" anchor="ctr">
            <a:normAutofit/>
          </a:bodyPr>
          <a:p>
            <a:pPr defTabSz="914400">
              <a:lnSpc>
                <a:spcPct val="110000"/>
              </a:lnSpc>
              <a:tabLst>
                <a:tab algn="l" pos="0"/>
              </a:tabLst>
            </a:pPr>
            <a:r>
              <a:rPr b="0" lang="en-US" sz="850" strike="noStrike" u="none">
                <a:solidFill>
                  <a:srgbClr val="ffffff"/>
                </a:solidFill>
                <a:effectLst/>
                <a:uFillTx/>
                <a:latin typeface="Calibri"/>
                <a:ea typeface="Calibri"/>
              </a:rPr>
              <a:t>Likely to extend supply chain depth and assurance grade evidence</a:t>
            </a:r>
            <a:endParaRPr b="0" lang="en-US" sz="850" strike="noStrike" u="none">
              <a:solidFill>
                <a:srgbClr val="ffffff"/>
              </a:solidFill>
              <a:effectLst/>
              <a:uFillTx/>
              <a:latin typeface="Arial"/>
            </a:endParaRPr>
          </a:p>
        </p:txBody>
      </p:sp>
      <p:sp>
        <p:nvSpPr>
          <p:cNvPr id="821" name="Shape 30"/>
          <p:cNvSpPr/>
          <p:nvPr/>
        </p:nvSpPr>
        <p:spPr>
          <a:xfrm>
            <a:off x="8569800" y="2816280"/>
            <a:ext cx="2743920" cy="456840"/>
          </a:xfrm>
          <a:prstGeom prst="roundRect">
            <a:avLst>
              <a:gd name="adj" fmla="val 10000"/>
            </a:avLst>
          </a:prstGeom>
          <a:solidFill>
            <a:srgbClr val="124a30"/>
          </a:solidFill>
          <a:ln w="9525">
            <a:solidFill>
              <a:srgbClr val="315d4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22" name="Text 31"/>
          <p:cNvSpPr/>
          <p:nvPr/>
        </p:nvSpPr>
        <p:spPr>
          <a:xfrm>
            <a:off x="8697600" y="2816280"/>
            <a:ext cx="2487600" cy="456840"/>
          </a:xfrm>
          <a:prstGeom prst="rect">
            <a:avLst/>
          </a:prstGeom>
          <a:noFill/>
          <a:ln w="0">
            <a:noFill/>
          </a:ln>
        </p:spPr>
        <p:style>
          <a:lnRef idx="0"/>
          <a:fillRef idx="0"/>
          <a:effectRef idx="0"/>
          <a:fontRef idx="minor"/>
        </p:style>
        <p:txBody>
          <a:bodyPr lIns="0" rIns="0" tIns="0" bIns="0" anchor="ctr">
            <a:normAutofit/>
          </a:bodyPr>
          <a:p>
            <a:pPr defTabSz="914400">
              <a:lnSpc>
                <a:spcPct val="110000"/>
              </a:lnSpc>
              <a:tabLst>
                <a:tab algn="l" pos="0"/>
              </a:tabLst>
            </a:pPr>
            <a:r>
              <a:rPr b="0" lang="en-US" sz="850" strike="noStrike" u="none">
                <a:solidFill>
                  <a:srgbClr val="ffffff"/>
                </a:solidFill>
                <a:effectLst/>
                <a:uFillTx/>
                <a:latin typeface="Calibri"/>
                <a:ea typeface="Calibri"/>
              </a:rPr>
              <a:t>Pressure point: they close the AI experience gap before we close the breadth gap</a:t>
            </a:r>
            <a:endParaRPr b="0" lang="en-US" sz="850" strike="noStrike" u="none">
              <a:solidFill>
                <a:srgbClr val="ffffff"/>
              </a:solidFill>
              <a:effectLst/>
              <a:uFillTx/>
              <a:latin typeface="Arial"/>
            </a:endParaRPr>
          </a:p>
        </p:txBody>
      </p:sp>
      <p:sp>
        <p:nvSpPr>
          <p:cNvPr id="823" name="Shape 32"/>
          <p:cNvSpPr/>
          <p:nvPr/>
        </p:nvSpPr>
        <p:spPr>
          <a:xfrm>
            <a:off x="640080" y="3547800"/>
            <a:ext cx="91080" cy="91080"/>
          </a:xfrm>
          <a:prstGeom prst="ellipse">
            <a:avLst/>
          </a:prstGeom>
          <a:solidFill>
            <a:srgbClr val="cdfc57"/>
          </a:solidFill>
          <a:ln w="12700">
            <a:solidFill>
              <a:srgbClr val="cdfc57"/>
            </a:solidFill>
            <a:round/>
          </a:ln>
        </p:spPr>
        <p:style>
          <a:lnRef idx="0"/>
          <a:fillRef idx="0"/>
          <a:effectRef idx="0"/>
          <a:fontRef idx="minor"/>
        </p:style>
        <p:txBody>
          <a:bodyPr lIns="90000" rIns="90000" tIns="19440" bIns="19440" anchor="t">
            <a:noAutofit/>
          </a:bodyPr>
          <a:p>
            <a:endParaRPr b="0" lang="en-US" sz="1800" strike="noStrike" u="none">
              <a:solidFill>
                <a:srgbClr val="000000"/>
              </a:solidFill>
              <a:effectLst/>
              <a:uFillTx/>
              <a:latin typeface="Arial"/>
            </a:endParaRPr>
          </a:p>
        </p:txBody>
      </p:sp>
      <p:sp>
        <p:nvSpPr>
          <p:cNvPr id="824" name="Text 33"/>
          <p:cNvSpPr/>
          <p:nvPr/>
        </p:nvSpPr>
        <p:spPr>
          <a:xfrm>
            <a:off x="804600" y="3364920"/>
            <a:ext cx="1508400" cy="45684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000" strike="noStrike" u="none">
                <a:solidFill>
                  <a:srgbClr val="ffffff"/>
                </a:solidFill>
                <a:effectLst/>
                <a:uFillTx/>
                <a:latin typeface="Calibri"/>
                <a:ea typeface="Calibri"/>
              </a:rPr>
              <a:t>osapiens</a:t>
            </a:r>
            <a:endParaRPr b="0" lang="en-US" sz="1000" strike="noStrike" u="none">
              <a:solidFill>
                <a:srgbClr val="ffffff"/>
              </a:solidFill>
              <a:effectLst/>
              <a:uFillTx/>
              <a:latin typeface="Arial"/>
            </a:endParaRPr>
          </a:p>
        </p:txBody>
      </p:sp>
      <p:sp>
        <p:nvSpPr>
          <p:cNvPr id="825" name="Shape 34"/>
          <p:cNvSpPr/>
          <p:nvPr/>
        </p:nvSpPr>
        <p:spPr>
          <a:xfrm>
            <a:off x="2569320" y="3364920"/>
            <a:ext cx="2743920" cy="456840"/>
          </a:xfrm>
          <a:prstGeom prst="roundRect">
            <a:avLst>
              <a:gd name="adj" fmla="val 10000"/>
            </a:avLst>
          </a:prstGeom>
          <a:solidFill>
            <a:srgbClr val="124a30"/>
          </a:solidFill>
          <a:ln w="9525">
            <a:solidFill>
              <a:srgbClr val="315d4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26" name="Text 35"/>
          <p:cNvSpPr/>
          <p:nvPr/>
        </p:nvSpPr>
        <p:spPr>
          <a:xfrm>
            <a:off x="2697480" y="3364920"/>
            <a:ext cx="2487600" cy="456840"/>
          </a:xfrm>
          <a:prstGeom prst="rect">
            <a:avLst/>
          </a:prstGeom>
          <a:noFill/>
          <a:ln w="0">
            <a:noFill/>
          </a:ln>
        </p:spPr>
        <p:style>
          <a:lnRef idx="0"/>
          <a:fillRef idx="0"/>
          <a:effectRef idx="0"/>
          <a:fontRef idx="minor"/>
        </p:style>
        <p:txBody>
          <a:bodyPr lIns="0" rIns="0" tIns="0" bIns="0" anchor="ctr">
            <a:normAutofit/>
          </a:bodyPr>
          <a:p>
            <a:pPr defTabSz="914400">
              <a:lnSpc>
                <a:spcPct val="110000"/>
              </a:lnSpc>
              <a:tabLst>
                <a:tab algn="l" pos="0"/>
              </a:tabLst>
            </a:pPr>
            <a:r>
              <a:rPr b="0" lang="en-US" sz="850" strike="noStrike" u="none">
                <a:solidFill>
                  <a:srgbClr val="ffffff"/>
                </a:solidFill>
                <a:effectLst/>
                <a:uFillTx/>
                <a:latin typeface="Calibri"/>
                <a:ea typeface="Calibri"/>
              </a:rPr>
              <a:t>Deep EU regulatory and supplier compliance coverage</a:t>
            </a:r>
            <a:endParaRPr b="0" lang="en-US" sz="850" strike="noStrike" u="none">
              <a:solidFill>
                <a:srgbClr val="ffffff"/>
              </a:solidFill>
              <a:effectLst/>
              <a:uFillTx/>
              <a:latin typeface="Arial"/>
            </a:endParaRPr>
          </a:p>
        </p:txBody>
      </p:sp>
      <p:sp>
        <p:nvSpPr>
          <p:cNvPr id="827" name="Shape 36"/>
          <p:cNvSpPr/>
          <p:nvPr/>
        </p:nvSpPr>
        <p:spPr>
          <a:xfrm>
            <a:off x="5569560" y="3364920"/>
            <a:ext cx="2743920" cy="456840"/>
          </a:xfrm>
          <a:prstGeom prst="roundRect">
            <a:avLst>
              <a:gd name="adj" fmla="val 10000"/>
            </a:avLst>
          </a:prstGeom>
          <a:solidFill>
            <a:srgbClr val="124a30"/>
          </a:solidFill>
          <a:ln w="9525">
            <a:solidFill>
              <a:srgbClr val="315d4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28" name="Text 37"/>
          <p:cNvSpPr/>
          <p:nvPr/>
        </p:nvSpPr>
        <p:spPr>
          <a:xfrm>
            <a:off x="5697720" y="3364920"/>
            <a:ext cx="2487600" cy="456840"/>
          </a:xfrm>
          <a:prstGeom prst="rect">
            <a:avLst/>
          </a:prstGeom>
          <a:noFill/>
          <a:ln w="0">
            <a:noFill/>
          </a:ln>
        </p:spPr>
        <p:style>
          <a:lnRef idx="0"/>
          <a:fillRef idx="0"/>
          <a:effectRef idx="0"/>
          <a:fontRef idx="minor"/>
        </p:style>
        <p:txBody>
          <a:bodyPr lIns="0" rIns="0" tIns="0" bIns="0" anchor="ctr">
            <a:normAutofit/>
          </a:bodyPr>
          <a:p>
            <a:pPr defTabSz="914400">
              <a:lnSpc>
                <a:spcPct val="110000"/>
              </a:lnSpc>
              <a:tabLst>
                <a:tab algn="l" pos="0"/>
              </a:tabLst>
            </a:pPr>
            <a:r>
              <a:rPr b="0" lang="en-US" sz="850" strike="noStrike" u="none">
                <a:solidFill>
                  <a:srgbClr val="ffffff"/>
                </a:solidFill>
                <a:effectLst/>
                <a:uFillTx/>
                <a:latin typeface="Calibri"/>
                <a:ea typeface="Calibri"/>
              </a:rPr>
              <a:t>Expected expansion into product level and broader carbon reporting</a:t>
            </a:r>
            <a:endParaRPr b="0" lang="en-US" sz="850" strike="noStrike" u="none">
              <a:solidFill>
                <a:srgbClr val="ffffff"/>
              </a:solidFill>
              <a:effectLst/>
              <a:uFillTx/>
              <a:latin typeface="Arial"/>
            </a:endParaRPr>
          </a:p>
        </p:txBody>
      </p:sp>
      <p:sp>
        <p:nvSpPr>
          <p:cNvPr id="829" name="Shape 38"/>
          <p:cNvSpPr/>
          <p:nvPr/>
        </p:nvSpPr>
        <p:spPr>
          <a:xfrm>
            <a:off x="8569800" y="3364920"/>
            <a:ext cx="2743920" cy="456840"/>
          </a:xfrm>
          <a:prstGeom prst="roundRect">
            <a:avLst>
              <a:gd name="adj" fmla="val 10000"/>
            </a:avLst>
          </a:prstGeom>
          <a:solidFill>
            <a:srgbClr val="124a30"/>
          </a:solidFill>
          <a:ln w="9525">
            <a:solidFill>
              <a:srgbClr val="315d4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30" name="Text 39"/>
          <p:cNvSpPr/>
          <p:nvPr/>
        </p:nvSpPr>
        <p:spPr>
          <a:xfrm>
            <a:off x="8697600" y="3364920"/>
            <a:ext cx="2487600" cy="456840"/>
          </a:xfrm>
          <a:prstGeom prst="rect">
            <a:avLst/>
          </a:prstGeom>
          <a:noFill/>
          <a:ln w="0">
            <a:noFill/>
          </a:ln>
        </p:spPr>
        <p:style>
          <a:lnRef idx="0"/>
          <a:fillRef idx="0"/>
          <a:effectRef idx="0"/>
          <a:fontRef idx="minor"/>
        </p:style>
        <p:txBody>
          <a:bodyPr lIns="0" rIns="0" tIns="0" bIns="0" anchor="ctr">
            <a:normAutofit/>
          </a:bodyPr>
          <a:p>
            <a:pPr defTabSz="914400">
              <a:lnSpc>
                <a:spcPct val="110000"/>
              </a:lnSpc>
              <a:tabLst>
                <a:tab algn="l" pos="0"/>
              </a:tabLst>
            </a:pPr>
            <a:r>
              <a:rPr b="0" lang="en-US" sz="850" strike="noStrike" u="none">
                <a:solidFill>
                  <a:srgbClr val="ffffff"/>
                </a:solidFill>
                <a:effectLst/>
                <a:uFillTx/>
                <a:latin typeface="Calibri"/>
                <a:ea typeface="Calibri"/>
              </a:rPr>
              <a:t>Pressure point: compliance breadth becomes table stakes across the market</a:t>
            </a:r>
            <a:endParaRPr b="0" lang="en-US" sz="850" strike="noStrike" u="none">
              <a:solidFill>
                <a:srgbClr val="ffffff"/>
              </a:solidFill>
              <a:effectLst/>
              <a:uFillTx/>
              <a:latin typeface="Arial"/>
            </a:endParaRPr>
          </a:p>
        </p:txBody>
      </p:sp>
      <p:sp>
        <p:nvSpPr>
          <p:cNvPr id="831" name="Shape 40"/>
          <p:cNvSpPr/>
          <p:nvPr/>
        </p:nvSpPr>
        <p:spPr>
          <a:xfrm>
            <a:off x="640080" y="4096440"/>
            <a:ext cx="91080" cy="91080"/>
          </a:xfrm>
          <a:prstGeom prst="ellipse">
            <a:avLst/>
          </a:prstGeom>
          <a:solidFill>
            <a:srgbClr val="5a625c"/>
          </a:solidFill>
          <a:ln w="12700">
            <a:solidFill>
              <a:srgbClr val="5a625c"/>
            </a:solidFill>
            <a:round/>
          </a:ln>
        </p:spPr>
        <p:style>
          <a:lnRef idx="0"/>
          <a:fillRef idx="0"/>
          <a:effectRef idx="0"/>
          <a:fontRef idx="minor"/>
        </p:style>
        <p:txBody>
          <a:bodyPr lIns="90000" rIns="90000" tIns="19440" bIns="19440" anchor="t">
            <a:noAutofit/>
          </a:bodyPr>
          <a:p>
            <a:endParaRPr b="0" lang="en-US" sz="1800" strike="noStrike" u="none">
              <a:solidFill>
                <a:srgbClr val="ffffff"/>
              </a:solidFill>
              <a:effectLst/>
              <a:uFillTx/>
              <a:latin typeface="Arial"/>
            </a:endParaRPr>
          </a:p>
        </p:txBody>
      </p:sp>
      <p:sp>
        <p:nvSpPr>
          <p:cNvPr id="832" name="Text 41"/>
          <p:cNvSpPr/>
          <p:nvPr/>
        </p:nvSpPr>
        <p:spPr>
          <a:xfrm>
            <a:off x="804600" y="3913560"/>
            <a:ext cx="1508400" cy="45684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000" strike="noStrike" u="none">
                <a:solidFill>
                  <a:srgbClr val="ffffff"/>
                </a:solidFill>
                <a:effectLst/>
                <a:uFillTx/>
                <a:latin typeface="Calibri"/>
                <a:ea typeface="Calibri"/>
              </a:rPr>
              <a:t>Arcadia and Deepki</a:t>
            </a:r>
            <a:endParaRPr b="0" lang="en-US" sz="1000" strike="noStrike" u="none">
              <a:solidFill>
                <a:srgbClr val="ffffff"/>
              </a:solidFill>
              <a:effectLst/>
              <a:uFillTx/>
              <a:latin typeface="Arial"/>
            </a:endParaRPr>
          </a:p>
        </p:txBody>
      </p:sp>
      <p:sp>
        <p:nvSpPr>
          <p:cNvPr id="833" name="Shape 42"/>
          <p:cNvSpPr/>
          <p:nvPr/>
        </p:nvSpPr>
        <p:spPr>
          <a:xfrm>
            <a:off x="2569320" y="3913560"/>
            <a:ext cx="2743920" cy="456840"/>
          </a:xfrm>
          <a:prstGeom prst="roundRect">
            <a:avLst>
              <a:gd name="adj" fmla="val 10000"/>
            </a:avLst>
          </a:prstGeom>
          <a:solidFill>
            <a:srgbClr val="124a30"/>
          </a:solidFill>
          <a:ln w="9525">
            <a:solidFill>
              <a:srgbClr val="315d4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34" name="Text 43"/>
          <p:cNvSpPr/>
          <p:nvPr/>
        </p:nvSpPr>
        <p:spPr>
          <a:xfrm>
            <a:off x="2697480" y="3913560"/>
            <a:ext cx="2487600" cy="456840"/>
          </a:xfrm>
          <a:prstGeom prst="rect">
            <a:avLst/>
          </a:prstGeom>
          <a:noFill/>
          <a:ln w="0">
            <a:noFill/>
          </a:ln>
        </p:spPr>
        <p:style>
          <a:lnRef idx="0"/>
          <a:fillRef idx="0"/>
          <a:effectRef idx="0"/>
          <a:fontRef idx="minor"/>
        </p:style>
        <p:txBody>
          <a:bodyPr lIns="0" rIns="0" tIns="0" bIns="0" anchor="ctr">
            <a:normAutofit/>
          </a:bodyPr>
          <a:p>
            <a:pPr defTabSz="914400">
              <a:lnSpc>
                <a:spcPct val="110000"/>
              </a:lnSpc>
              <a:tabLst>
                <a:tab algn="l" pos="0"/>
              </a:tabLst>
            </a:pPr>
            <a:r>
              <a:rPr b="0" lang="en-US" sz="850" strike="noStrike" u="none">
                <a:solidFill>
                  <a:srgbClr val="ffffff"/>
                </a:solidFill>
                <a:effectLst/>
                <a:uFillTx/>
                <a:latin typeface="Calibri"/>
                <a:ea typeface="Calibri"/>
              </a:rPr>
              <a:t>Strong energy data and real estate ESG positions</a:t>
            </a:r>
            <a:endParaRPr b="0" lang="en-US" sz="850" strike="noStrike" u="none">
              <a:solidFill>
                <a:srgbClr val="ffffff"/>
              </a:solidFill>
              <a:effectLst/>
              <a:uFillTx/>
              <a:latin typeface="Arial"/>
            </a:endParaRPr>
          </a:p>
        </p:txBody>
      </p:sp>
      <p:sp>
        <p:nvSpPr>
          <p:cNvPr id="835" name="Shape 44"/>
          <p:cNvSpPr/>
          <p:nvPr/>
        </p:nvSpPr>
        <p:spPr>
          <a:xfrm>
            <a:off x="5569560" y="3913560"/>
            <a:ext cx="2743920" cy="456840"/>
          </a:xfrm>
          <a:prstGeom prst="roundRect">
            <a:avLst>
              <a:gd name="adj" fmla="val 10000"/>
            </a:avLst>
          </a:prstGeom>
          <a:solidFill>
            <a:srgbClr val="124a30"/>
          </a:solidFill>
          <a:ln w="9525">
            <a:solidFill>
              <a:srgbClr val="315d4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36" name="Text 45"/>
          <p:cNvSpPr/>
          <p:nvPr/>
        </p:nvSpPr>
        <p:spPr>
          <a:xfrm>
            <a:off x="5697720" y="3913560"/>
            <a:ext cx="2487600" cy="456840"/>
          </a:xfrm>
          <a:prstGeom prst="rect">
            <a:avLst/>
          </a:prstGeom>
          <a:noFill/>
          <a:ln w="0">
            <a:noFill/>
          </a:ln>
        </p:spPr>
        <p:style>
          <a:lnRef idx="0"/>
          <a:fillRef idx="0"/>
          <a:effectRef idx="0"/>
          <a:fontRef idx="minor"/>
        </p:style>
        <p:txBody>
          <a:bodyPr lIns="0" rIns="0" tIns="0" bIns="0" anchor="ctr">
            <a:normAutofit/>
          </a:bodyPr>
          <a:p>
            <a:pPr defTabSz="914400">
              <a:lnSpc>
                <a:spcPct val="110000"/>
              </a:lnSpc>
              <a:tabLst>
                <a:tab algn="l" pos="0"/>
              </a:tabLst>
            </a:pPr>
            <a:r>
              <a:rPr b="0" lang="en-US" sz="850" strike="noStrike" u="none">
                <a:solidFill>
                  <a:srgbClr val="ffffff"/>
                </a:solidFill>
                <a:effectLst/>
                <a:uFillTx/>
                <a:latin typeface="Calibri"/>
                <a:ea typeface="Calibri"/>
              </a:rPr>
              <a:t>Expected move upward into carbon and risk reporting adjacent to their data</a:t>
            </a:r>
            <a:endParaRPr b="0" lang="en-US" sz="850" strike="noStrike" u="none">
              <a:solidFill>
                <a:srgbClr val="ffffff"/>
              </a:solidFill>
              <a:effectLst/>
              <a:uFillTx/>
              <a:latin typeface="Arial"/>
            </a:endParaRPr>
          </a:p>
        </p:txBody>
      </p:sp>
      <p:sp>
        <p:nvSpPr>
          <p:cNvPr id="837" name="Shape 46"/>
          <p:cNvSpPr/>
          <p:nvPr/>
        </p:nvSpPr>
        <p:spPr>
          <a:xfrm>
            <a:off x="8569800" y="3913560"/>
            <a:ext cx="2743920" cy="456840"/>
          </a:xfrm>
          <a:prstGeom prst="roundRect">
            <a:avLst>
              <a:gd name="adj" fmla="val 10000"/>
            </a:avLst>
          </a:prstGeom>
          <a:solidFill>
            <a:srgbClr val="124a30"/>
          </a:solidFill>
          <a:ln w="9525">
            <a:solidFill>
              <a:srgbClr val="315d4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38" name="Text 47"/>
          <p:cNvSpPr/>
          <p:nvPr/>
        </p:nvSpPr>
        <p:spPr>
          <a:xfrm>
            <a:off x="8697600" y="3913560"/>
            <a:ext cx="2487600" cy="456840"/>
          </a:xfrm>
          <a:prstGeom prst="rect">
            <a:avLst/>
          </a:prstGeom>
          <a:noFill/>
          <a:ln w="0">
            <a:noFill/>
          </a:ln>
        </p:spPr>
        <p:style>
          <a:lnRef idx="0"/>
          <a:fillRef idx="0"/>
          <a:effectRef idx="0"/>
          <a:fontRef idx="minor"/>
        </p:style>
        <p:txBody>
          <a:bodyPr lIns="0" rIns="0" tIns="0" bIns="0" anchor="ctr">
            <a:normAutofit/>
          </a:bodyPr>
          <a:p>
            <a:pPr defTabSz="914400">
              <a:lnSpc>
                <a:spcPct val="110000"/>
              </a:lnSpc>
              <a:tabLst>
                <a:tab algn="l" pos="0"/>
              </a:tabLst>
            </a:pPr>
            <a:r>
              <a:rPr b="0" lang="en-US" sz="850" strike="noStrike" u="none">
                <a:solidFill>
                  <a:srgbClr val="ffffff"/>
                </a:solidFill>
                <a:effectLst/>
                <a:uFillTx/>
                <a:latin typeface="Calibri"/>
                <a:ea typeface="Calibri"/>
              </a:rPr>
              <a:t>Pressure point: energy data advantage narrows if we do not exploit ours first</a:t>
            </a:r>
            <a:endParaRPr b="0" lang="en-US" sz="850" strike="noStrike" u="none">
              <a:solidFill>
                <a:srgbClr val="ffffff"/>
              </a:solidFill>
              <a:effectLst/>
              <a:uFillTx/>
              <a:latin typeface="Arial"/>
            </a:endParaRPr>
          </a:p>
        </p:txBody>
      </p:sp>
      <p:sp>
        <p:nvSpPr>
          <p:cNvPr id="839" name="Shape 48"/>
          <p:cNvSpPr/>
          <p:nvPr/>
        </p:nvSpPr>
        <p:spPr>
          <a:xfrm>
            <a:off x="621720" y="4590000"/>
            <a:ext cx="10947960" cy="360"/>
          </a:xfrm>
          <a:prstGeom prst="line">
            <a:avLst/>
          </a:prstGeom>
          <a:ln w="10160">
            <a:solidFill>
              <a:srgbClr val="5e806e"/>
            </a:solidFill>
            <a:round/>
          </a:ln>
        </p:spPr>
        <p:style>
          <a:lnRef idx="0"/>
          <a:fillRef idx="0"/>
          <a:effectRef idx="0"/>
          <a:fontRef idx="minor"/>
        </p:style>
        <p:txBody>
          <a:bodyPr lIns="90000" rIns="90000" tIns="-44640" bIns="-44640" anchor="t" anchorCtr="1">
            <a:noAutofit/>
          </a:bodyPr>
          <a:p>
            <a:endParaRPr b="0" lang="en-US" sz="1800" strike="noStrike" u="none">
              <a:solidFill>
                <a:srgbClr val="ffffff"/>
              </a:solidFill>
              <a:effectLst/>
              <a:uFillTx/>
              <a:latin typeface="Arial"/>
            </a:endParaRPr>
          </a:p>
        </p:txBody>
      </p:sp>
      <p:sp>
        <p:nvSpPr>
          <p:cNvPr id="840" name="Text 49"/>
          <p:cNvSpPr/>
          <p:nvPr/>
        </p:nvSpPr>
        <p:spPr>
          <a:xfrm>
            <a:off x="621720" y="4681800"/>
            <a:ext cx="2194200" cy="182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81" strike="noStrike" u="none">
                <a:solidFill>
                  <a:srgbClr val="cdfc57"/>
                </a:solidFill>
                <a:effectLst/>
                <a:uFillTx/>
                <a:latin typeface="Calibri"/>
                <a:ea typeface="Calibri"/>
              </a:rPr>
              <a:t>STRATEGIC DRIVERS</a:t>
            </a:r>
            <a:endParaRPr b="0" lang="en-US" sz="900" strike="noStrike" u="none">
              <a:solidFill>
                <a:srgbClr val="ffffff"/>
              </a:solidFill>
              <a:effectLst/>
              <a:uFillTx/>
              <a:latin typeface="Arial"/>
            </a:endParaRPr>
          </a:p>
        </p:txBody>
      </p:sp>
      <p:sp>
        <p:nvSpPr>
          <p:cNvPr id="841" name="Text 50"/>
          <p:cNvSpPr/>
          <p:nvPr/>
        </p:nvSpPr>
        <p:spPr>
          <a:xfrm>
            <a:off x="621720" y="4901040"/>
            <a:ext cx="2530800" cy="2008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000" strike="noStrike" u="none">
                <a:solidFill>
                  <a:srgbClr val="ffffff"/>
                </a:solidFill>
                <a:effectLst/>
                <a:uFillTx/>
                <a:latin typeface="Calibri"/>
                <a:ea typeface="Calibri"/>
              </a:rPr>
              <a:t>We lead on convergence</a:t>
            </a:r>
            <a:endParaRPr b="0" lang="en-US" sz="1000" strike="noStrike" u="none">
              <a:solidFill>
                <a:srgbClr val="ffffff"/>
              </a:solidFill>
              <a:effectLst/>
              <a:uFillTx/>
              <a:latin typeface="Arial"/>
            </a:endParaRPr>
          </a:p>
        </p:txBody>
      </p:sp>
      <p:sp>
        <p:nvSpPr>
          <p:cNvPr id="842" name="Text 51"/>
          <p:cNvSpPr/>
          <p:nvPr/>
        </p:nvSpPr>
        <p:spPr>
          <a:xfrm>
            <a:off x="621720" y="5120640"/>
            <a:ext cx="2530800" cy="273960"/>
          </a:xfrm>
          <a:prstGeom prst="rect">
            <a:avLst/>
          </a:prstGeom>
          <a:noFill/>
          <a:ln w="0">
            <a:noFill/>
          </a:ln>
        </p:spPr>
        <p:style>
          <a:lnRef idx="0"/>
          <a:fillRef idx="0"/>
          <a:effectRef idx="0"/>
          <a:fontRef idx="minor"/>
        </p:style>
        <p:txBody>
          <a:bodyPr lIns="0" rIns="0" tIns="0" bIns="0" anchor="t">
            <a:normAutofit fontScale="92500" lnSpcReduction="9999"/>
          </a:bodyPr>
          <a:p>
            <a:pPr defTabSz="914400">
              <a:lnSpc>
                <a:spcPct val="100000"/>
              </a:lnSpc>
              <a:tabLst>
                <a:tab algn="l" pos="0"/>
              </a:tabLst>
            </a:pPr>
            <a:r>
              <a:rPr b="0" lang="en-US" sz="800" strike="noStrike" u="none">
                <a:solidFill>
                  <a:srgbClr val="bfd9c9"/>
                </a:solidFill>
                <a:effectLst/>
                <a:uFillTx/>
                <a:latin typeface="Calibri"/>
                <a:ea typeface="Calibri"/>
              </a:rPr>
              <a:t>No rival combines sustainability, energy and efficiency on one governed data spine with advisory depth.</a:t>
            </a:r>
            <a:endParaRPr b="0" lang="en-US" sz="800" strike="noStrike" u="none">
              <a:solidFill>
                <a:srgbClr val="ffffff"/>
              </a:solidFill>
              <a:effectLst/>
              <a:uFillTx/>
              <a:latin typeface="Arial"/>
            </a:endParaRPr>
          </a:p>
        </p:txBody>
      </p:sp>
      <p:sp>
        <p:nvSpPr>
          <p:cNvPr id="843" name="Text 52"/>
          <p:cNvSpPr/>
          <p:nvPr/>
        </p:nvSpPr>
        <p:spPr>
          <a:xfrm>
            <a:off x="3427560" y="4901040"/>
            <a:ext cx="2530800" cy="2008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000" strike="noStrike" u="none">
                <a:solidFill>
                  <a:srgbClr val="ffffff"/>
                </a:solidFill>
                <a:effectLst/>
                <a:uFillTx/>
                <a:latin typeface="Calibri"/>
                <a:ea typeface="Calibri"/>
              </a:rPr>
              <a:t>We lead on priced risk</a:t>
            </a:r>
            <a:endParaRPr b="0" lang="en-US" sz="1000" strike="noStrike" u="none">
              <a:solidFill>
                <a:srgbClr val="ffffff"/>
              </a:solidFill>
              <a:effectLst/>
              <a:uFillTx/>
              <a:latin typeface="Arial"/>
            </a:endParaRPr>
          </a:p>
        </p:txBody>
      </p:sp>
      <p:sp>
        <p:nvSpPr>
          <p:cNvPr id="844" name="Text 53"/>
          <p:cNvSpPr/>
          <p:nvPr/>
        </p:nvSpPr>
        <p:spPr>
          <a:xfrm>
            <a:off x="3427560" y="5120640"/>
            <a:ext cx="2530800" cy="2739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800" strike="noStrike" u="none">
                <a:solidFill>
                  <a:srgbClr val="bfd9c9"/>
                </a:solidFill>
                <a:effectLst/>
                <a:uFillTx/>
                <a:latin typeface="Calibri"/>
                <a:ea typeface="Calibri"/>
              </a:rPr>
              <a:t>Value at risk expressed in financial terms and flowing into disclosure is a genuine wedge.</a:t>
            </a:r>
            <a:endParaRPr b="0" lang="en-US" sz="800" strike="noStrike" u="none">
              <a:solidFill>
                <a:srgbClr val="ffffff"/>
              </a:solidFill>
              <a:effectLst/>
              <a:uFillTx/>
              <a:latin typeface="Arial"/>
            </a:endParaRPr>
          </a:p>
        </p:txBody>
      </p:sp>
      <p:sp>
        <p:nvSpPr>
          <p:cNvPr id="845" name="Text 54"/>
          <p:cNvSpPr/>
          <p:nvPr/>
        </p:nvSpPr>
        <p:spPr>
          <a:xfrm>
            <a:off x="6233040" y="4901040"/>
            <a:ext cx="2530800" cy="2008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000" strike="noStrike" u="none">
                <a:solidFill>
                  <a:srgbClr val="ffffff"/>
                </a:solidFill>
                <a:effectLst/>
                <a:uFillTx/>
                <a:latin typeface="Calibri"/>
                <a:ea typeface="Calibri"/>
              </a:rPr>
              <a:t>They catch up on AI experience</a:t>
            </a:r>
            <a:endParaRPr b="0" lang="en-US" sz="1000" strike="noStrike" u="none">
              <a:solidFill>
                <a:srgbClr val="ffffff"/>
              </a:solidFill>
              <a:effectLst/>
              <a:uFillTx/>
              <a:latin typeface="Arial"/>
            </a:endParaRPr>
          </a:p>
        </p:txBody>
      </p:sp>
      <p:sp>
        <p:nvSpPr>
          <p:cNvPr id="846" name="Text 55"/>
          <p:cNvSpPr/>
          <p:nvPr/>
        </p:nvSpPr>
        <p:spPr>
          <a:xfrm>
            <a:off x="6233040" y="5120640"/>
            <a:ext cx="2530800" cy="273960"/>
          </a:xfrm>
          <a:prstGeom prst="rect">
            <a:avLst/>
          </a:prstGeom>
          <a:noFill/>
          <a:ln w="0">
            <a:noFill/>
          </a:ln>
        </p:spPr>
        <p:style>
          <a:lnRef idx="0"/>
          <a:fillRef idx="0"/>
          <a:effectRef idx="0"/>
          <a:fontRef idx="minor"/>
        </p:style>
        <p:txBody>
          <a:bodyPr lIns="0" rIns="0" tIns="0" bIns="0" anchor="t">
            <a:normAutofit fontScale="92500" lnSpcReduction="9999"/>
          </a:bodyPr>
          <a:p>
            <a:pPr defTabSz="914400">
              <a:lnSpc>
                <a:spcPct val="100000"/>
              </a:lnSpc>
              <a:tabLst>
                <a:tab algn="l" pos="0"/>
              </a:tabLst>
            </a:pPr>
            <a:r>
              <a:rPr b="0" lang="en-US" sz="800" strike="noStrike" u="none">
                <a:solidFill>
                  <a:srgbClr val="bfd9c9"/>
                </a:solidFill>
                <a:effectLst/>
                <a:uFillTx/>
                <a:latin typeface="Calibri"/>
                <a:ea typeface="Calibri"/>
              </a:rPr>
              <a:t>AI assisted workflows are the fastest moving area. Our 2027 window is where the gap either closes or widens.</a:t>
            </a:r>
            <a:endParaRPr b="0" lang="en-US" sz="800" strike="noStrike" u="none">
              <a:solidFill>
                <a:srgbClr val="ffffff"/>
              </a:solidFill>
              <a:effectLst/>
              <a:uFillTx/>
              <a:latin typeface="Arial"/>
            </a:endParaRPr>
          </a:p>
        </p:txBody>
      </p:sp>
      <p:sp>
        <p:nvSpPr>
          <p:cNvPr id="847" name="Text 56"/>
          <p:cNvSpPr/>
          <p:nvPr/>
        </p:nvSpPr>
        <p:spPr>
          <a:xfrm>
            <a:off x="9038520" y="4901040"/>
            <a:ext cx="2530800" cy="2008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000" strike="noStrike" u="none">
                <a:solidFill>
                  <a:srgbClr val="ffffff"/>
                </a:solidFill>
                <a:effectLst/>
                <a:uFillTx/>
                <a:latin typeface="Calibri"/>
                <a:ea typeface="Calibri"/>
              </a:rPr>
              <a:t>They catch up on breadth</a:t>
            </a:r>
            <a:endParaRPr b="0" lang="en-US" sz="1000" strike="noStrike" u="none">
              <a:solidFill>
                <a:srgbClr val="ffffff"/>
              </a:solidFill>
              <a:effectLst/>
              <a:uFillTx/>
              <a:latin typeface="Arial"/>
            </a:endParaRPr>
          </a:p>
        </p:txBody>
      </p:sp>
      <p:sp>
        <p:nvSpPr>
          <p:cNvPr id="848" name="Text 57"/>
          <p:cNvSpPr/>
          <p:nvPr/>
        </p:nvSpPr>
        <p:spPr>
          <a:xfrm>
            <a:off x="9038520" y="5120640"/>
            <a:ext cx="2530800" cy="2739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800" strike="noStrike" u="none">
                <a:solidFill>
                  <a:srgbClr val="bfd9c9"/>
                </a:solidFill>
                <a:effectLst/>
                <a:uFillTx/>
                <a:latin typeface="Calibri"/>
                <a:ea typeface="Calibri"/>
              </a:rPr>
              <a:t>Compliance and supplier coverage commoditise. Breadth alone will not defend us after 2027.</a:t>
            </a:r>
            <a:endParaRPr b="0" lang="en-US" sz="800" strike="noStrike" u="none">
              <a:solidFill>
                <a:srgbClr val="ffffff"/>
              </a:solidFill>
              <a:effectLst/>
              <a:uFillTx/>
              <a:latin typeface="Arial"/>
            </a:endParaRPr>
          </a:p>
        </p:txBody>
      </p:sp>
      <p:sp>
        <p:nvSpPr>
          <p:cNvPr id="849" name="Text 58"/>
          <p:cNvSpPr/>
          <p:nvPr/>
        </p:nvSpPr>
        <p:spPr>
          <a:xfrm>
            <a:off x="621720" y="6602040"/>
            <a:ext cx="10058040" cy="1641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i="1" lang="en-US" sz="700" strike="noStrike" u="none">
                <a:solidFill>
                  <a:srgbClr val="769585"/>
                </a:solidFill>
                <a:effectLst/>
                <a:uFillTx/>
                <a:latin typeface="Calibri"/>
                <a:ea typeface="Calibri"/>
              </a:rPr>
              <a:t>Board implication: fund the spine and the AI assisted layer in 2026 and 2027, while the convergence and priced risk advantages are still unique. Competitor timing is directional, based on public materials reviewed September 2026.</a:t>
            </a:r>
            <a:endParaRPr b="0" lang="en-US" sz="700" strike="noStrike" u="none">
              <a:solidFill>
                <a:srgbClr val="ffffff"/>
              </a:solidFill>
              <a:effectLst/>
              <a:uFillTx/>
              <a:latin typeface="Arial"/>
            </a:endParaRPr>
          </a:p>
        </p:txBody>
      </p:sp>
      <p:sp>
        <p:nvSpPr>
          <p:cNvPr id="850" name="PlaceHolder 1"/>
          <p:cNvSpPr>
            <a:spLocks noGrp="1"/>
          </p:cNvSpPr>
          <p:nvPr>
            <p:ph type="sldNum" idx="28"/>
          </p:nvPr>
        </p:nvSpPr>
        <p:spPr>
          <a:xfrm>
            <a:off x="10929960" y="658368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3dcd58"/>
                </a:solidFill>
                <a:effectLst/>
                <a:uFillTx/>
                <a:latin typeface="Calibri"/>
                <a:ea typeface="Calibri"/>
              </a:defRPr>
            </a:lvl1pPr>
          </a:lstStyle>
          <a:p>
            <a:pPr indent="0" algn="r" defTabSz="914400">
              <a:lnSpc>
                <a:spcPct val="100000"/>
              </a:lnSpc>
              <a:buNone/>
            </a:pPr>
            <a:fld id="{2E2BA23D-00D0-43B2-8C6A-38A5FB97BA61}" type="slidenum">
              <a:rPr b="1" lang="en-US" sz="800" strike="noStrike" u="none">
                <a:solidFill>
                  <a:srgbClr val="3dcd58"/>
                </a:solidFill>
                <a:effectLst/>
                <a:uFillTx/>
                <a:latin typeface="Calibri"/>
                <a:ea typeface="Calibri"/>
              </a:rPr>
              <a:t>&lt;number&gt;</a:t>
            </a:fld>
            <a:endParaRPr b="0" lang="en-US" sz="800" strike="noStrike" u="non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51"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852"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853" name="Shape 2"/>
          <p:cNvSpPr/>
          <p:nvPr/>
        </p:nvSpPr>
        <p:spPr>
          <a:xfrm>
            <a:off x="621720" y="311040"/>
            <a:ext cx="313164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54" name="Text 3"/>
          <p:cNvSpPr/>
          <p:nvPr/>
        </p:nvSpPr>
        <p:spPr>
          <a:xfrm>
            <a:off x="804600" y="329040"/>
            <a:ext cx="280224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HONEST READ | COMPETITIVE</a:t>
            </a:r>
            <a:endParaRPr b="0" lang="en-US" sz="950" strike="noStrike" u="none">
              <a:solidFill>
                <a:srgbClr val="000000"/>
              </a:solidFill>
              <a:effectLst/>
              <a:uFillTx/>
              <a:latin typeface="Arial"/>
            </a:endParaRPr>
          </a:p>
        </p:txBody>
      </p:sp>
      <p:sp>
        <p:nvSpPr>
          <p:cNvPr id="855"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Why we win, and why we might lose</a:t>
            </a:r>
            <a:endParaRPr b="0" lang="en-US" sz="3200" strike="noStrike" u="none">
              <a:solidFill>
                <a:srgbClr val="000000"/>
              </a:solidFill>
              <a:effectLst/>
              <a:uFillTx/>
              <a:latin typeface="Arial"/>
            </a:endParaRPr>
          </a:p>
        </p:txBody>
      </p:sp>
      <p:sp>
        <p:nvSpPr>
          <p:cNvPr id="856"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The board should hold both sides of this argument at the same time.</a:t>
            </a:r>
            <a:endParaRPr b="0" lang="en-US" sz="1250" strike="noStrike" u="none">
              <a:solidFill>
                <a:srgbClr val="000000"/>
              </a:solidFill>
              <a:effectLst/>
              <a:uFillTx/>
              <a:latin typeface="Arial"/>
            </a:endParaRPr>
          </a:p>
        </p:txBody>
      </p:sp>
      <p:sp>
        <p:nvSpPr>
          <p:cNvPr id="857"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858" name="Shape 7"/>
          <p:cNvSpPr/>
          <p:nvPr/>
        </p:nvSpPr>
        <p:spPr>
          <a:xfrm>
            <a:off x="6217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59"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860"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WHY WE WIN</a:t>
            </a:r>
            <a:endParaRPr b="0" lang="en-US" sz="900" strike="noStrike" u="none">
              <a:solidFill>
                <a:srgbClr val="000000"/>
              </a:solidFill>
              <a:effectLst/>
              <a:uFillTx/>
              <a:latin typeface="Arial"/>
            </a:endParaRPr>
          </a:p>
        </p:txBody>
      </p:sp>
      <p:sp>
        <p:nvSpPr>
          <p:cNvPr id="861"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Structural advantages</a:t>
            </a:r>
            <a:endParaRPr b="0" lang="en-US" sz="1600" strike="noStrike" u="none">
              <a:solidFill>
                <a:srgbClr val="000000"/>
              </a:solidFill>
              <a:effectLst/>
              <a:uFillTx/>
              <a:latin typeface="Arial"/>
            </a:endParaRPr>
          </a:p>
        </p:txBody>
      </p:sp>
      <p:sp>
        <p:nvSpPr>
          <p:cNvPr id="862" name="Text 11"/>
          <p:cNvSpPr/>
          <p:nvPr/>
        </p:nvSpPr>
        <p:spPr>
          <a:xfrm>
            <a:off x="822960" y="3044880"/>
            <a:ext cx="2165040" cy="2239920"/>
          </a:xfrm>
          <a:prstGeom prst="rect">
            <a:avLst/>
          </a:prstGeom>
          <a:noFill/>
          <a:ln w="0">
            <a:noFill/>
          </a:ln>
        </p:spPr>
        <p:style>
          <a:lnRef idx="0"/>
          <a:fillRef idx="0"/>
          <a:effectRef idx="0"/>
          <a:fontRef idx="minor"/>
        </p:style>
        <p:txBody>
          <a:bodyPr lIns="0" rIns="0" tIns="0" bIns="0" anchor="t">
            <a:normAutofit lnSpcReduction="9999"/>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One accountable platform across sustainability, energy and efficiency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One data spine, so evidence and calculations are reused, not rebuilt</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Schneider scale, advisory depth and existing enterprise relationships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Total cost argument that goes beyond a single license price</a:t>
            </a:r>
            <a:endParaRPr b="0" lang="en-US" sz="1100" strike="noStrike" u="none">
              <a:solidFill>
                <a:srgbClr val="000000"/>
              </a:solidFill>
              <a:effectLst/>
              <a:uFillTx/>
              <a:latin typeface="Arial"/>
            </a:endParaRPr>
          </a:p>
        </p:txBody>
      </p:sp>
      <p:sp>
        <p:nvSpPr>
          <p:cNvPr id="863" name="Shape 12"/>
          <p:cNvSpPr/>
          <p:nvPr/>
        </p:nvSpPr>
        <p:spPr>
          <a:xfrm>
            <a:off x="342756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64" name="Shape 13"/>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865" name="Text 14"/>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WHY WE WIN</a:t>
            </a:r>
            <a:endParaRPr b="0" lang="en-US" sz="900" strike="noStrike" u="none">
              <a:solidFill>
                <a:srgbClr val="000000"/>
              </a:solidFill>
              <a:effectLst/>
              <a:uFillTx/>
              <a:latin typeface="Arial"/>
            </a:endParaRPr>
          </a:p>
        </p:txBody>
      </p:sp>
      <p:sp>
        <p:nvSpPr>
          <p:cNvPr id="866" name="Text 15"/>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400" strike="noStrike" u="none">
                <a:solidFill>
                  <a:srgbClr val="1e2420"/>
                </a:solidFill>
                <a:effectLst/>
                <a:uFillTx/>
                <a:latin typeface="Calibri"/>
                <a:ea typeface="Calibri"/>
              </a:rPr>
              <a:t>Client proof points to build</a:t>
            </a:r>
            <a:endParaRPr b="0" lang="en-US" sz="1400" strike="noStrike" u="none">
              <a:solidFill>
                <a:srgbClr val="000000"/>
              </a:solidFill>
              <a:effectLst/>
              <a:uFillTx/>
              <a:latin typeface="Arial"/>
            </a:endParaRPr>
          </a:p>
        </p:txBody>
      </p:sp>
      <p:sp>
        <p:nvSpPr>
          <p:cNvPr id="867" name="Text 16"/>
          <p:cNvSpPr/>
          <p:nvPr/>
        </p:nvSpPr>
        <p:spPr>
          <a:xfrm>
            <a:off x="362844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Cross-product adoption inside strategic accounts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Shorter reporting cycles versus fragmented tooling</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Traceable, reproducible AI-assisted decisions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Displacement of point solutions at renewal</a:t>
            </a:r>
            <a:endParaRPr b="0" lang="en-US" sz="1100" strike="noStrike" u="none">
              <a:solidFill>
                <a:srgbClr val="000000"/>
              </a:solidFill>
              <a:effectLst/>
              <a:uFillTx/>
              <a:latin typeface="Arial"/>
            </a:endParaRPr>
          </a:p>
        </p:txBody>
      </p:sp>
      <p:sp>
        <p:nvSpPr>
          <p:cNvPr id="868" name="Shape 17"/>
          <p:cNvSpPr/>
          <p:nvPr/>
        </p:nvSpPr>
        <p:spPr>
          <a:xfrm>
            <a:off x="623304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69" name="Shape 18"/>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870" name="Text 19"/>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WHY WE MIGHT LOSE</a:t>
            </a:r>
            <a:endParaRPr b="0" lang="en-US" sz="900" strike="noStrike" u="none">
              <a:solidFill>
                <a:srgbClr val="000000"/>
              </a:solidFill>
              <a:effectLst/>
              <a:uFillTx/>
              <a:latin typeface="Arial"/>
            </a:endParaRPr>
          </a:p>
        </p:txBody>
      </p:sp>
      <p:sp>
        <p:nvSpPr>
          <p:cNvPr id="871" name="Text 20"/>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Where we are exposed</a:t>
            </a:r>
            <a:endParaRPr b="0" lang="en-US" sz="1600" strike="noStrike" u="none">
              <a:solidFill>
                <a:srgbClr val="000000"/>
              </a:solidFill>
              <a:effectLst/>
              <a:uFillTx/>
              <a:latin typeface="Arial"/>
            </a:endParaRPr>
          </a:p>
        </p:txBody>
      </p:sp>
      <p:sp>
        <p:nvSpPr>
          <p:cNvPr id="872" name="Text 21"/>
          <p:cNvSpPr/>
          <p:nvPr/>
        </p:nvSpPr>
        <p:spPr>
          <a:xfrm>
            <a:off x="643428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Specialists look sharper in a single visible domain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AI-native challengers move faster on workflow polish</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Breadth can read as complexity during evaluation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Migration and data quality slow the first proof point</a:t>
            </a:r>
            <a:endParaRPr b="0" lang="en-US" sz="1100" strike="noStrike" u="none">
              <a:solidFill>
                <a:srgbClr val="000000"/>
              </a:solidFill>
              <a:effectLst/>
              <a:uFillTx/>
              <a:latin typeface="Arial"/>
            </a:endParaRPr>
          </a:p>
        </p:txBody>
      </p:sp>
      <p:sp>
        <p:nvSpPr>
          <p:cNvPr id="873" name="Shape 22"/>
          <p:cNvSpPr/>
          <p:nvPr/>
        </p:nvSpPr>
        <p:spPr>
          <a:xfrm>
            <a:off x="90385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74" name="Shape 23"/>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875" name="Text 24"/>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WHY WE MIGHT LOSE</a:t>
            </a:r>
            <a:endParaRPr b="0" lang="en-US" sz="900" strike="noStrike" u="none">
              <a:solidFill>
                <a:srgbClr val="000000"/>
              </a:solidFill>
              <a:effectLst/>
              <a:uFillTx/>
              <a:latin typeface="Arial"/>
            </a:endParaRPr>
          </a:p>
        </p:txBody>
      </p:sp>
      <p:sp>
        <p:nvSpPr>
          <p:cNvPr id="876" name="Text 25"/>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What we must not claim</a:t>
            </a:r>
            <a:endParaRPr b="0" lang="en-US" sz="1600" strike="noStrike" u="none">
              <a:solidFill>
                <a:srgbClr val="000000"/>
              </a:solidFill>
              <a:effectLst/>
              <a:uFillTx/>
              <a:latin typeface="Arial"/>
            </a:endParaRPr>
          </a:p>
        </p:txBody>
      </p:sp>
      <p:sp>
        <p:nvSpPr>
          <p:cNvPr id="877" name="Text 26"/>
          <p:cNvSpPr/>
          <p:nvPr/>
        </p:nvSpPr>
        <p:spPr>
          <a:xfrm>
            <a:off x="92397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A price advantage without matched-account evidence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Feature parity in every specialist domain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AI maturity that is not visible in the product</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Directional horizons presented as commitments</a:t>
            </a:r>
            <a:endParaRPr b="0" lang="en-US" sz="1100" strike="noStrike" u="none">
              <a:solidFill>
                <a:srgbClr val="000000"/>
              </a:solidFill>
              <a:effectLst/>
              <a:uFillTx/>
              <a:latin typeface="Arial"/>
            </a:endParaRPr>
          </a:p>
        </p:txBody>
      </p:sp>
      <p:sp>
        <p:nvSpPr>
          <p:cNvPr id="878" name="Shape 27"/>
          <p:cNvSpPr/>
          <p:nvPr/>
        </p:nvSpPr>
        <p:spPr>
          <a:xfrm>
            <a:off x="621720" y="5650920"/>
            <a:ext cx="10947600" cy="585000"/>
          </a:xfrm>
          <a:prstGeom prst="roundRect">
            <a:avLst>
              <a:gd name="adj" fmla="val 12500"/>
            </a:avLst>
          </a:prstGeom>
          <a:solidFill>
            <a:srgbClr val="effaf1"/>
          </a:solidFill>
          <a:ln w="12700">
            <a:solidFill>
              <a:srgbClr val="bce8c9"/>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79" name="Shape 28"/>
          <p:cNvSpPr/>
          <p:nvPr/>
        </p:nvSpPr>
        <p:spPr>
          <a:xfrm>
            <a:off x="676800" y="5760720"/>
            <a:ext cx="45360" cy="3654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80" name="Text 29"/>
          <p:cNvSpPr/>
          <p:nvPr/>
        </p:nvSpPr>
        <p:spPr>
          <a:xfrm>
            <a:off x="859680" y="5650920"/>
            <a:ext cx="10527120" cy="585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200" strike="noStrike" u="none">
                <a:solidFill>
                  <a:srgbClr val="3a423c"/>
                </a:solidFill>
                <a:effectLst/>
                <a:uFillTx/>
                <a:latin typeface="Calibri"/>
                <a:ea typeface="Calibri"/>
              </a:rPr>
              <a:t>The winning position is integrated outcomes with visible AI, not a feature-by-feature race.</a:t>
            </a:r>
            <a:endParaRPr b="0" lang="en-US" sz="1200" strike="noStrike" u="none">
              <a:solidFill>
                <a:srgbClr val="000000"/>
              </a:solidFill>
              <a:effectLst/>
              <a:uFillTx/>
              <a:latin typeface="Arial"/>
            </a:endParaRPr>
          </a:p>
        </p:txBody>
      </p:sp>
      <p:sp>
        <p:nvSpPr>
          <p:cNvPr id="881" name="Shape 30"/>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882" name="Text 31"/>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883" name="Text 32"/>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884" name="PlaceHolder 1"/>
          <p:cNvSpPr>
            <a:spLocks noGrp="1"/>
          </p:cNvSpPr>
          <p:nvPr>
            <p:ph type="sldNum" idx="29"/>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8EA6123E-A933-4BD5-B18D-1605CFA0B73F}"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85"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886"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887" name="Shape 2"/>
          <p:cNvSpPr/>
          <p:nvPr/>
        </p:nvSpPr>
        <p:spPr>
          <a:xfrm>
            <a:off x="621720" y="311040"/>
            <a:ext cx="460368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88" name="Text 3"/>
          <p:cNvSpPr/>
          <p:nvPr/>
        </p:nvSpPr>
        <p:spPr>
          <a:xfrm>
            <a:off x="804600" y="329040"/>
            <a:ext cx="427464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CAPABILITY POSITION: CARBON PERFORMANCE</a:t>
            </a:r>
            <a:endParaRPr b="0" lang="en-US" sz="950" strike="noStrike" u="none">
              <a:solidFill>
                <a:srgbClr val="000000"/>
              </a:solidFill>
              <a:effectLst/>
              <a:uFillTx/>
              <a:latin typeface="Arial"/>
            </a:endParaRPr>
          </a:p>
        </p:txBody>
      </p:sp>
      <p:sp>
        <p:nvSpPr>
          <p:cNvPr id="889" name="Text 4"/>
          <p:cNvSpPr/>
          <p:nvPr/>
        </p:nvSpPr>
        <p:spPr>
          <a:xfrm>
            <a:off x="621720" y="768240"/>
            <a:ext cx="10947600" cy="9140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2500" strike="noStrike" u="none">
                <a:solidFill>
                  <a:srgbClr val="1e2420"/>
                </a:solidFill>
                <a:effectLst/>
                <a:uFillTx/>
                <a:latin typeface="Calibri"/>
                <a:ea typeface="Calibri"/>
              </a:rPr>
              <a:t>Carbon Performance: leading on energy grade data, on parity on the inventory</a:t>
            </a:r>
            <a:endParaRPr b="0" lang="en-US" sz="2500" strike="noStrike" u="none">
              <a:solidFill>
                <a:srgbClr val="000000"/>
              </a:solidFill>
              <a:effectLst/>
              <a:uFillTx/>
              <a:latin typeface="Arial"/>
            </a:endParaRPr>
          </a:p>
        </p:txBody>
      </p:sp>
      <p:sp>
        <p:nvSpPr>
          <p:cNvPr id="890" name="Text 5"/>
          <p:cNvSpPr/>
          <p:nvPr/>
        </p:nvSpPr>
        <p:spPr>
          <a:xfrm>
            <a:off x="621720" y="173736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Capability by capability, where we lead the market, where we match it, and where we are still closing a gap.</a:t>
            </a:r>
            <a:endParaRPr b="0" lang="en-US" sz="1250" strike="noStrike" u="none">
              <a:solidFill>
                <a:srgbClr val="000000"/>
              </a:solidFill>
              <a:effectLst/>
              <a:uFillTx/>
              <a:latin typeface="Arial"/>
            </a:endParaRPr>
          </a:p>
        </p:txBody>
      </p:sp>
      <p:sp>
        <p:nvSpPr>
          <p:cNvPr id="891" name="Shape 6"/>
          <p:cNvSpPr/>
          <p:nvPr/>
        </p:nvSpPr>
        <p:spPr>
          <a:xfrm>
            <a:off x="621720" y="20847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892" name="Shape 7"/>
          <p:cNvSpPr/>
          <p:nvPr/>
        </p:nvSpPr>
        <p:spPr>
          <a:xfrm>
            <a:off x="621720" y="2249280"/>
            <a:ext cx="2011320" cy="36540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93" name="Text 8"/>
          <p:cNvSpPr/>
          <p:nvPr/>
        </p:nvSpPr>
        <p:spPr>
          <a:xfrm>
            <a:off x="713160" y="2249280"/>
            <a:ext cx="1828440" cy="3654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CAPABILITY</a:t>
            </a:r>
            <a:endParaRPr b="0" lang="en-US" sz="760" strike="noStrike" u="none">
              <a:solidFill>
                <a:srgbClr val="000000"/>
              </a:solidFill>
              <a:effectLst/>
              <a:uFillTx/>
              <a:latin typeface="Arial"/>
            </a:endParaRPr>
          </a:p>
        </p:txBody>
      </p:sp>
      <p:sp>
        <p:nvSpPr>
          <p:cNvPr id="894" name="Shape 9"/>
          <p:cNvSpPr/>
          <p:nvPr/>
        </p:nvSpPr>
        <p:spPr>
          <a:xfrm>
            <a:off x="2633400" y="2249280"/>
            <a:ext cx="3794400" cy="36540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95" name="Text 10"/>
          <p:cNvSpPr/>
          <p:nvPr/>
        </p:nvSpPr>
        <p:spPr>
          <a:xfrm>
            <a:off x="2724840" y="2249280"/>
            <a:ext cx="3611520" cy="3654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WHAT RA+ DELIVERS</a:t>
            </a:r>
            <a:endParaRPr b="0" lang="en-US" sz="760" strike="noStrike" u="none">
              <a:solidFill>
                <a:srgbClr val="000000"/>
              </a:solidFill>
              <a:effectLst/>
              <a:uFillTx/>
              <a:latin typeface="Arial"/>
            </a:endParaRPr>
          </a:p>
        </p:txBody>
      </p:sp>
      <p:sp>
        <p:nvSpPr>
          <p:cNvPr id="896" name="Shape 11"/>
          <p:cNvSpPr/>
          <p:nvPr/>
        </p:nvSpPr>
        <p:spPr>
          <a:xfrm>
            <a:off x="6428160" y="2249280"/>
            <a:ext cx="1371240" cy="36540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97" name="Text 12"/>
          <p:cNvSpPr/>
          <p:nvPr/>
        </p:nvSpPr>
        <p:spPr>
          <a:xfrm>
            <a:off x="6519600" y="2249280"/>
            <a:ext cx="1188360" cy="3654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EXPECTED POSITION</a:t>
            </a:r>
            <a:endParaRPr b="0" lang="en-US" sz="760" strike="noStrike" u="none">
              <a:solidFill>
                <a:srgbClr val="000000"/>
              </a:solidFill>
              <a:effectLst/>
              <a:uFillTx/>
              <a:latin typeface="Arial"/>
            </a:endParaRPr>
          </a:p>
        </p:txBody>
      </p:sp>
      <p:sp>
        <p:nvSpPr>
          <p:cNvPr id="898" name="Shape 13"/>
          <p:cNvSpPr/>
          <p:nvPr/>
        </p:nvSpPr>
        <p:spPr>
          <a:xfrm>
            <a:off x="7799760" y="2249280"/>
            <a:ext cx="3767040" cy="36540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899" name="Text 14"/>
          <p:cNvSpPr/>
          <p:nvPr/>
        </p:nvSpPr>
        <p:spPr>
          <a:xfrm>
            <a:off x="7891200" y="2249280"/>
            <a:ext cx="3584160" cy="3654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MARKET BENCHMARK</a:t>
            </a:r>
            <a:endParaRPr b="0" lang="en-US" sz="760" strike="noStrike" u="none">
              <a:solidFill>
                <a:srgbClr val="000000"/>
              </a:solidFill>
              <a:effectLst/>
              <a:uFillTx/>
              <a:latin typeface="Arial"/>
            </a:endParaRPr>
          </a:p>
        </p:txBody>
      </p:sp>
      <p:sp>
        <p:nvSpPr>
          <p:cNvPr id="900" name="Shape 15"/>
          <p:cNvSpPr/>
          <p:nvPr/>
        </p:nvSpPr>
        <p:spPr>
          <a:xfrm>
            <a:off x="621720" y="2615040"/>
            <a:ext cx="201132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01" name="Text 16"/>
          <p:cNvSpPr/>
          <p:nvPr/>
        </p:nvSpPr>
        <p:spPr>
          <a:xfrm>
            <a:off x="713160" y="2660760"/>
            <a:ext cx="182844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Energy and utility data</a:t>
            </a:r>
            <a:endParaRPr b="0" lang="en-US" sz="900" strike="noStrike" u="none">
              <a:solidFill>
                <a:srgbClr val="000000"/>
              </a:solidFill>
              <a:effectLst/>
              <a:uFillTx/>
              <a:latin typeface="Arial"/>
            </a:endParaRPr>
          </a:p>
        </p:txBody>
      </p:sp>
      <p:sp>
        <p:nvSpPr>
          <p:cNvPr id="902" name="Shape 17"/>
          <p:cNvSpPr/>
          <p:nvPr/>
        </p:nvSpPr>
        <p:spPr>
          <a:xfrm>
            <a:off x="2633400" y="2615040"/>
            <a:ext cx="379440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03" name="Text 18"/>
          <p:cNvSpPr/>
          <p:nvPr/>
        </p:nvSpPr>
        <p:spPr>
          <a:xfrm>
            <a:off x="2724840" y="2660760"/>
            <a:ext cx="361152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Metered energy, EAC and PPA management fed by the Schneider energy expertise.</a:t>
            </a:r>
            <a:endParaRPr b="0" lang="en-US" sz="800" strike="noStrike" u="none">
              <a:solidFill>
                <a:srgbClr val="000000"/>
              </a:solidFill>
              <a:effectLst/>
              <a:uFillTx/>
              <a:latin typeface="Arial"/>
            </a:endParaRPr>
          </a:p>
        </p:txBody>
      </p:sp>
      <p:sp>
        <p:nvSpPr>
          <p:cNvPr id="904" name="Shape 19"/>
          <p:cNvSpPr/>
          <p:nvPr/>
        </p:nvSpPr>
        <p:spPr>
          <a:xfrm>
            <a:off x="6428160" y="2615040"/>
            <a:ext cx="137124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05" name="Shape 20"/>
          <p:cNvSpPr/>
          <p:nvPr/>
        </p:nvSpPr>
        <p:spPr>
          <a:xfrm>
            <a:off x="6501240" y="2716560"/>
            <a:ext cx="1225080" cy="237240"/>
          </a:xfrm>
          <a:prstGeom prst="roundRect">
            <a:avLst>
              <a:gd name="adj" fmla="val 46154"/>
            </a:avLst>
          </a:prstGeom>
          <a:solidFill>
            <a:srgbClr val="eaf8ed"/>
          </a:solidFill>
          <a:ln w="635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06" name="Text 21"/>
          <p:cNvSpPr/>
          <p:nvPr/>
        </p:nvSpPr>
        <p:spPr>
          <a:xfrm>
            <a:off x="6501240" y="271656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007a27"/>
                </a:solidFill>
                <a:effectLst/>
                <a:uFillTx/>
                <a:latin typeface="Calibri"/>
                <a:ea typeface="Calibri"/>
              </a:rPr>
              <a:t>Market leading</a:t>
            </a:r>
            <a:endParaRPr b="0" lang="en-US" sz="740" strike="noStrike" u="none">
              <a:solidFill>
                <a:srgbClr val="000000"/>
              </a:solidFill>
              <a:effectLst/>
              <a:uFillTx/>
              <a:latin typeface="Arial"/>
            </a:endParaRPr>
          </a:p>
        </p:txBody>
      </p:sp>
      <p:sp>
        <p:nvSpPr>
          <p:cNvPr id="907" name="Shape 22"/>
          <p:cNvSpPr/>
          <p:nvPr/>
        </p:nvSpPr>
        <p:spPr>
          <a:xfrm>
            <a:off x="7799760" y="2615040"/>
            <a:ext cx="376704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08" name="Text 23"/>
          <p:cNvSpPr/>
          <p:nvPr/>
        </p:nvSpPr>
        <p:spPr>
          <a:xfrm>
            <a:off x="7891200" y="2660760"/>
            <a:ext cx="358416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Carbon only vendors buy or infer this data instead of owning the meter relationship.</a:t>
            </a:r>
            <a:endParaRPr b="0" lang="en-US" sz="800" strike="noStrike" u="none">
              <a:solidFill>
                <a:srgbClr val="000000"/>
              </a:solidFill>
              <a:effectLst/>
              <a:uFillTx/>
              <a:latin typeface="Arial"/>
            </a:endParaRPr>
          </a:p>
        </p:txBody>
      </p:sp>
      <p:sp>
        <p:nvSpPr>
          <p:cNvPr id="909" name="Shape 24"/>
          <p:cNvSpPr/>
          <p:nvPr/>
        </p:nvSpPr>
        <p:spPr>
          <a:xfrm>
            <a:off x="621720" y="3055680"/>
            <a:ext cx="201132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10" name="Text 25"/>
          <p:cNvSpPr/>
          <p:nvPr/>
        </p:nvSpPr>
        <p:spPr>
          <a:xfrm>
            <a:off x="713160" y="3101400"/>
            <a:ext cx="182844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Scope 1, 2 and 3 inventory</a:t>
            </a:r>
            <a:endParaRPr b="0" lang="en-US" sz="900" strike="noStrike" u="none">
              <a:solidFill>
                <a:srgbClr val="000000"/>
              </a:solidFill>
              <a:effectLst/>
              <a:uFillTx/>
              <a:latin typeface="Arial"/>
            </a:endParaRPr>
          </a:p>
        </p:txBody>
      </p:sp>
      <p:sp>
        <p:nvSpPr>
          <p:cNvPr id="911" name="Shape 26"/>
          <p:cNvSpPr/>
          <p:nvPr/>
        </p:nvSpPr>
        <p:spPr>
          <a:xfrm>
            <a:off x="2633400" y="3055680"/>
            <a:ext cx="379440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12" name="Text 27"/>
          <p:cNvSpPr/>
          <p:nvPr/>
        </p:nvSpPr>
        <p:spPr>
          <a:xfrm>
            <a:off x="2724840" y="3101400"/>
            <a:ext cx="361152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Consultant grade, audit ready inventory across all scopes with per gas breakdown.</a:t>
            </a:r>
            <a:endParaRPr b="0" lang="en-US" sz="800" strike="noStrike" u="none">
              <a:solidFill>
                <a:srgbClr val="000000"/>
              </a:solidFill>
              <a:effectLst/>
              <a:uFillTx/>
              <a:latin typeface="Arial"/>
            </a:endParaRPr>
          </a:p>
        </p:txBody>
      </p:sp>
      <p:sp>
        <p:nvSpPr>
          <p:cNvPr id="913" name="Shape 28"/>
          <p:cNvSpPr/>
          <p:nvPr/>
        </p:nvSpPr>
        <p:spPr>
          <a:xfrm>
            <a:off x="6428160" y="3055680"/>
            <a:ext cx="137124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14" name="Shape 29"/>
          <p:cNvSpPr/>
          <p:nvPr/>
        </p:nvSpPr>
        <p:spPr>
          <a:xfrm>
            <a:off x="6501240" y="3156840"/>
            <a:ext cx="1225080" cy="237240"/>
          </a:xfrm>
          <a:prstGeom prst="roundRect">
            <a:avLst>
              <a:gd name="adj" fmla="val 46154"/>
            </a:avLst>
          </a:prstGeom>
          <a:solidFill>
            <a:srgbClr val="f1f3f2"/>
          </a:solidFill>
          <a:ln w="635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15" name="Text 30"/>
          <p:cNvSpPr/>
          <p:nvPr/>
        </p:nvSpPr>
        <p:spPr>
          <a:xfrm>
            <a:off x="6501240" y="315684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5a625c"/>
                </a:solidFill>
                <a:effectLst/>
                <a:uFillTx/>
                <a:latin typeface="Calibri"/>
                <a:ea typeface="Calibri"/>
              </a:rPr>
              <a:t>On parity</a:t>
            </a:r>
            <a:endParaRPr b="0" lang="en-US" sz="740" strike="noStrike" u="none">
              <a:solidFill>
                <a:srgbClr val="000000"/>
              </a:solidFill>
              <a:effectLst/>
              <a:uFillTx/>
              <a:latin typeface="Arial"/>
            </a:endParaRPr>
          </a:p>
        </p:txBody>
      </p:sp>
      <p:sp>
        <p:nvSpPr>
          <p:cNvPr id="916" name="Shape 31"/>
          <p:cNvSpPr/>
          <p:nvPr/>
        </p:nvSpPr>
        <p:spPr>
          <a:xfrm>
            <a:off x="7799760" y="3055680"/>
            <a:ext cx="376704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17" name="Text 32"/>
          <p:cNvSpPr/>
          <p:nvPr/>
        </p:nvSpPr>
        <p:spPr>
          <a:xfrm>
            <a:off x="7891200" y="3101400"/>
            <a:ext cx="358416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Table stakes for every enterprise carbon vendor benchmarked by Verdantix.</a:t>
            </a:r>
            <a:endParaRPr b="0" lang="en-US" sz="800" strike="noStrike" u="none">
              <a:solidFill>
                <a:srgbClr val="000000"/>
              </a:solidFill>
              <a:effectLst/>
              <a:uFillTx/>
              <a:latin typeface="Arial"/>
            </a:endParaRPr>
          </a:p>
        </p:txBody>
      </p:sp>
      <p:sp>
        <p:nvSpPr>
          <p:cNvPr id="918" name="Shape 33"/>
          <p:cNvSpPr/>
          <p:nvPr/>
        </p:nvSpPr>
        <p:spPr>
          <a:xfrm>
            <a:off x="621720" y="3495960"/>
            <a:ext cx="201132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19" name="Text 34"/>
          <p:cNvSpPr/>
          <p:nvPr/>
        </p:nvSpPr>
        <p:spPr>
          <a:xfrm>
            <a:off x="713160" y="3541680"/>
            <a:ext cx="182844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Emission factors and method depth</a:t>
            </a:r>
            <a:endParaRPr b="0" lang="en-US" sz="900" strike="noStrike" u="none">
              <a:solidFill>
                <a:srgbClr val="000000"/>
              </a:solidFill>
              <a:effectLst/>
              <a:uFillTx/>
              <a:latin typeface="Arial"/>
            </a:endParaRPr>
          </a:p>
        </p:txBody>
      </p:sp>
      <p:sp>
        <p:nvSpPr>
          <p:cNvPr id="920" name="Shape 35"/>
          <p:cNvSpPr/>
          <p:nvPr/>
        </p:nvSpPr>
        <p:spPr>
          <a:xfrm>
            <a:off x="2633400" y="3495960"/>
            <a:ext cx="379440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21" name="Text 36"/>
          <p:cNvSpPr/>
          <p:nvPr/>
        </p:nvSpPr>
        <p:spPr>
          <a:xfrm>
            <a:off x="2724840" y="3541680"/>
            <a:ext cx="361152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Q4 2026 wedge: factor coverage, method transparency per data point, rebaselining.</a:t>
            </a:r>
            <a:endParaRPr b="0" lang="en-US" sz="800" strike="noStrike" u="none">
              <a:solidFill>
                <a:srgbClr val="000000"/>
              </a:solidFill>
              <a:effectLst/>
              <a:uFillTx/>
              <a:latin typeface="Arial"/>
            </a:endParaRPr>
          </a:p>
        </p:txBody>
      </p:sp>
      <p:sp>
        <p:nvSpPr>
          <p:cNvPr id="922" name="Shape 37"/>
          <p:cNvSpPr/>
          <p:nvPr/>
        </p:nvSpPr>
        <p:spPr>
          <a:xfrm>
            <a:off x="6428160" y="3495960"/>
            <a:ext cx="137124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23" name="Shape 38"/>
          <p:cNvSpPr/>
          <p:nvPr/>
        </p:nvSpPr>
        <p:spPr>
          <a:xfrm>
            <a:off x="6501240" y="3597480"/>
            <a:ext cx="1225080" cy="237240"/>
          </a:xfrm>
          <a:prstGeom prst="roundRect">
            <a:avLst>
              <a:gd name="adj" fmla="val 46154"/>
            </a:avLst>
          </a:prstGeom>
          <a:solidFill>
            <a:srgbClr val="fff4e3"/>
          </a:solidFill>
          <a:ln w="635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24" name="Text 39"/>
          <p:cNvSpPr/>
          <p:nvPr/>
        </p:nvSpPr>
        <p:spPr>
          <a:xfrm>
            <a:off x="6501240" y="359748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a65b00"/>
                </a:solidFill>
                <a:effectLst/>
                <a:uFillTx/>
                <a:latin typeface="Calibri"/>
                <a:ea typeface="Calibri"/>
              </a:rPr>
              <a:t>Closing gap</a:t>
            </a:r>
            <a:endParaRPr b="0" lang="en-US" sz="740" strike="noStrike" u="none">
              <a:solidFill>
                <a:srgbClr val="000000"/>
              </a:solidFill>
              <a:effectLst/>
              <a:uFillTx/>
              <a:latin typeface="Arial"/>
            </a:endParaRPr>
          </a:p>
        </p:txBody>
      </p:sp>
      <p:sp>
        <p:nvSpPr>
          <p:cNvPr id="925" name="Shape 40"/>
          <p:cNvSpPr/>
          <p:nvPr/>
        </p:nvSpPr>
        <p:spPr>
          <a:xfrm>
            <a:off x="7799760" y="3495960"/>
            <a:ext cx="376704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26" name="Text 41"/>
          <p:cNvSpPr/>
          <p:nvPr/>
        </p:nvSpPr>
        <p:spPr>
          <a:xfrm>
            <a:off x="7891200" y="3541680"/>
            <a:ext cx="358416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Leaders already expose method and factor lineage at data point level.</a:t>
            </a:r>
            <a:endParaRPr b="0" lang="en-US" sz="800" strike="noStrike" u="none">
              <a:solidFill>
                <a:srgbClr val="000000"/>
              </a:solidFill>
              <a:effectLst/>
              <a:uFillTx/>
              <a:latin typeface="Arial"/>
            </a:endParaRPr>
          </a:p>
        </p:txBody>
      </p:sp>
      <p:sp>
        <p:nvSpPr>
          <p:cNvPr id="927" name="Shape 42"/>
          <p:cNvSpPr/>
          <p:nvPr/>
        </p:nvSpPr>
        <p:spPr>
          <a:xfrm>
            <a:off x="621720" y="3936600"/>
            <a:ext cx="201132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28" name="Text 43"/>
          <p:cNvSpPr/>
          <p:nvPr/>
        </p:nvSpPr>
        <p:spPr>
          <a:xfrm>
            <a:off x="713160" y="3982320"/>
            <a:ext cx="182844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AI assistance</a:t>
            </a:r>
            <a:endParaRPr b="0" lang="en-US" sz="900" strike="noStrike" u="none">
              <a:solidFill>
                <a:srgbClr val="000000"/>
              </a:solidFill>
              <a:effectLst/>
              <a:uFillTx/>
              <a:latin typeface="Arial"/>
            </a:endParaRPr>
          </a:p>
        </p:txBody>
      </p:sp>
      <p:sp>
        <p:nvSpPr>
          <p:cNvPr id="929" name="Shape 44"/>
          <p:cNvSpPr/>
          <p:nvPr/>
        </p:nvSpPr>
        <p:spPr>
          <a:xfrm>
            <a:off x="2633400" y="3936600"/>
            <a:ext cx="379440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30" name="Text 45"/>
          <p:cNvSpPr/>
          <p:nvPr/>
        </p:nvSpPr>
        <p:spPr>
          <a:xfrm>
            <a:off x="2724840" y="3982320"/>
            <a:ext cx="361152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Sera brought forward to Q4 2026 for carbon inventory tasks.</a:t>
            </a:r>
            <a:endParaRPr b="0" lang="en-US" sz="800" strike="noStrike" u="none">
              <a:solidFill>
                <a:srgbClr val="000000"/>
              </a:solidFill>
              <a:effectLst/>
              <a:uFillTx/>
              <a:latin typeface="Arial"/>
            </a:endParaRPr>
          </a:p>
        </p:txBody>
      </p:sp>
      <p:sp>
        <p:nvSpPr>
          <p:cNvPr id="931" name="Shape 46"/>
          <p:cNvSpPr/>
          <p:nvPr/>
        </p:nvSpPr>
        <p:spPr>
          <a:xfrm>
            <a:off x="6428160" y="3936600"/>
            <a:ext cx="137124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32" name="Shape 47"/>
          <p:cNvSpPr/>
          <p:nvPr/>
        </p:nvSpPr>
        <p:spPr>
          <a:xfrm>
            <a:off x="6501240" y="4037760"/>
            <a:ext cx="1225080" cy="237240"/>
          </a:xfrm>
          <a:prstGeom prst="roundRect">
            <a:avLst>
              <a:gd name="adj" fmla="val 46154"/>
            </a:avLst>
          </a:prstGeom>
          <a:solidFill>
            <a:srgbClr val="fff4e3"/>
          </a:solidFill>
          <a:ln w="635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33" name="Text 48"/>
          <p:cNvSpPr/>
          <p:nvPr/>
        </p:nvSpPr>
        <p:spPr>
          <a:xfrm>
            <a:off x="6501240" y="403776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a65b00"/>
                </a:solidFill>
                <a:effectLst/>
                <a:uFillTx/>
                <a:latin typeface="Calibri"/>
                <a:ea typeface="Calibri"/>
              </a:rPr>
              <a:t>Closing gap</a:t>
            </a:r>
            <a:endParaRPr b="0" lang="en-US" sz="740" strike="noStrike" u="none">
              <a:solidFill>
                <a:srgbClr val="000000"/>
              </a:solidFill>
              <a:effectLst/>
              <a:uFillTx/>
              <a:latin typeface="Arial"/>
            </a:endParaRPr>
          </a:p>
        </p:txBody>
      </p:sp>
      <p:sp>
        <p:nvSpPr>
          <p:cNvPr id="934" name="Shape 49"/>
          <p:cNvSpPr/>
          <p:nvPr/>
        </p:nvSpPr>
        <p:spPr>
          <a:xfrm>
            <a:off x="7799760" y="3936600"/>
            <a:ext cx="376704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35" name="Text 50"/>
          <p:cNvSpPr/>
          <p:nvPr/>
        </p:nvSpPr>
        <p:spPr>
          <a:xfrm>
            <a:off x="7891200" y="3982320"/>
            <a:ext cx="358416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AI copilots are now a headline claim across the benchmarked field.</a:t>
            </a:r>
            <a:endParaRPr b="0" lang="en-US" sz="800" strike="noStrike" u="none">
              <a:solidFill>
                <a:srgbClr val="000000"/>
              </a:solidFill>
              <a:effectLst/>
              <a:uFillTx/>
              <a:latin typeface="Arial"/>
            </a:endParaRPr>
          </a:p>
        </p:txBody>
      </p:sp>
      <p:sp>
        <p:nvSpPr>
          <p:cNvPr id="936" name="Shape 51"/>
          <p:cNvSpPr/>
          <p:nvPr/>
        </p:nvSpPr>
        <p:spPr>
          <a:xfrm>
            <a:off x="621720" y="4376880"/>
            <a:ext cx="201132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37" name="Text 52"/>
          <p:cNvSpPr/>
          <p:nvPr/>
        </p:nvSpPr>
        <p:spPr>
          <a:xfrm>
            <a:off x="713160" y="4422600"/>
            <a:ext cx="182844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Decarbonisation planning</a:t>
            </a:r>
            <a:endParaRPr b="0" lang="en-US" sz="900" strike="noStrike" u="none">
              <a:solidFill>
                <a:srgbClr val="000000"/>
              </a:solidFill>
              <a:effectLst/>
              <a:uFillTx/>
              <a:latin typeface="Arial"/>
            </a:endParaRPr>
          </a:p>
        </p:txBody>
      </p:sp>
      <p:sp>
        <p:nvSpPr>
          <p:cNvPr id="938" name="Shape 53"/>
          <p:cNvSpPr/>
          <p:nvPr/>
        </p:nvSpPr>
        <p:spPr>
          <a:xfrm>
            <a:off x="2633400" y="4376880"/>
            <a:ext cx="379440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39" name="Text 54"/>
          <p:cNvSpPr/>
          <p:nvPr/>
        </p:nvSpPr>
        <p:spPr>
          <a:xfrm>
            <a:off x="2724840" y="4422600"/>
            <a:ext cx="361152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Advanced scenario analysis and ECM library with energy and carbon cobenefits.</a:t>
            </a:r>
            <a:endParaRPr b="0" lang="en-US" sz="800" strike="noStrike" u="none">
              <a:solidFill>
                <a:srgbClr val="000000"/>
              </a:solidFill>
              <a:effectLst/>
              <a:uFillTx/>
              <a:latin typeface="Arial"/>
            </a:endParaRPr>
          </a:p>
        </p:txBody>
      </p:sp>
      <p:sp>
        <p:nvSpPr>
          <p:cNvPr id="940" name="Shape 55"/>
          <p:cNvSpPr/>
          <p:nvPr/>
        </p:nvSpPr>
        <p:spPr>
          <a:xfrm>
            <a:off x="6428160" y="4376880"/>
            <a:ext cx="137124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41" name="Shape 56"/>
          <p:cNvSpPr/>
          <p:nvPr/>
        </p:nvSpPr>
        <p:spPr>
          <a:xfrm>
            <a:off x="6501240" y="4478400"/>
            <a:ext cx="1225080" cy="237240"/>
          </a:xfrm>
          <a:prstGeom prst="roundRect">
            <a:avLst>
              <a:gd name="adj" fmla="val 46154"/>
            </a:avLst>
          </a:prstGeom>
          <a:solidFill>
            <a:srgbClr val="eaf8ed"/>
          </a:solidFill>
          <a:ln w="635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42" name="Text 57"/>
          <p:cNvSpPr/>
          <p:nvPr/>
        </p:nvSpPr>
        <p:spPr>
          <a:xfrm>
            <a:off x="6501240" y="447840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007a27"/>
                </a:solidFill>
                <a:effectLst/>
                <a:uFillTx/>
                <a:latin typeface="Calibri"/>
                <a:ea typeface="Calibri"/>
              </a:rPr>
              <a:t>Market leading</a:t>
            </a:r>
            <a:endParaRPr b="0" lang="en-US" sz="740" strike="noStrike" u="none">
              <a:solidFill>
                <a:srgbClr val="000000"/>
              </a:solidFill>
              <a:effectLst/>
              <a:uFillTx/>
              <a:latin typeface="Arial"/>
            </a:endParaRPr>
          </a:p>
        </p:txBody>
      </p:sp>
      <p:sp>
        <p:nvSpPr>
          <p:cNvPr id="943" name="Shape 58"/>
          <p:cNvSpPr/>
          <p:nvPr/>
        </p:nvSpPr>
        <p:spPr>
          <a:xfrm>
            <a:off x="7799760" y="4376880"/>
            <a:ext cx="376704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44" name="Text 59"/>
          <p:cNvSpPr/>
          <p:nvPr/>
        </p:nvSpPr>
        <p:spPr>
          <a:xfrm>
            <a:off x="7891200" y="4422600"/>
            <a:ext cx="358416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Few carbon vendors can price an efficiency measure and its carbon effect together.</a:t>
            </a:r>
            <a:endParaRPr b="0" lang="en-US" sz="800" strike="noStrike" u="none">
              <a:solidFill>
                <a:srgbClr val="000000"/>
              </a:solidFill>
              <a:effectLst/>
              <a:uFillTx/>
              <a:latin typeface="Arial"/>
            </a:endParaRPr>
          </a:p>
        </p:txBody>
      </p:sp>
      <p:sp>
        <p:nvSpPr>
          <p:cNvPr id="945" name="Shape 60"/>
          <p:cNvSpPr/>
          <p:nvPr/>
        </p:nvSpPr>
        <p:spPr>
          <a:xfrm>
            <a:off x="621720" y="4817520"/>
            <a:ext cx="201132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46" name="Text 61"/>
          <p:cNvSpPr/>
          <p:nvPr/>
        </p:nvSpPr>
        <p:spPr>
          <a:xfrm>
            <a:off x="713160" y="4863240"/>
            <a:ext cx="182844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Assurance and governance</a:t>
            </a:r>
            <a:endParaRPr b="0" lang="en-US" sz="900" strike="noStrike" u="none">
              <a:solidFill>
                <a:srgbClr val="000000"/>
              </a:solidFill>
              <a:effectLst/>
              <a:uFillTx/>
              <a:latin typeface="Arial"/>
            </a:endParaRPr>
          </a:p>
        </p:txBody>
      </p:sp>
      <p:sp>
        <p:nvSpPr>
          <p:cNvPr id="947" name="Shape 62"/>
          <p:cNvSpPr/>
          <p:nvPr/>
        </p:nvSpPr>
        <p:spPr>
          <a:xfrm>
            <a:off x="2633400" y="4817520"/>
            <a:ext cx="379440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48" name="Text 63"/>
          <p:cNvSpPr/>
          <p:nvPr/>
        </p:nvSpPr>
        <p:spPr>
          <a:xfrm>
            <a:off x="2724840" y="4863240"/>
            <a:ext cx="361152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Boundaries, approvals and audit trail on the shared inventory.</a:t>
            </a:r>
            <a:endParaRPr b="0" lang="en-US" sz="800" strike="noStrike" u="none">
              <a:solidFill>
                <a:srgbClr val="000000"/>
              </a:solidFill>
              <a:effectLst/>
              <a:uFillTx/>
              <a:latin typeface="Arial"/>
            </a:endParaRPr>
          </a:p>
        </p:txBody>
      </p:sp>
      <p:sp>
        <p:nvSpPr>
          <p:cNvPr id="949" name="Shape 64"/>
          <p:cNvSpPr/>
          <p:nvPr/>
        </p:nvSpPr>
        <p:spPr>
          <a:xfrm>
            <a:off x="6428160" y="4817520"/>
            <a:ext cx="137124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50" name="Shape 65"/>
          <p:cNvSpPr/>
          <p:nvPr/>
        </p:nvSpPr>
        <p:spPr>
          <a:xfrm>
            <a:off x="6501240" y="4918680"/>
            <a:ext cx="1225080" cy="237240"/>
          </a:xfrm>
          <a:prstGeom prst="roundRect">
            <a:avLst>
              <a:gd name="adj" fmla="val 46154"/>
            </a:avLst>
          </a:prstGeom>
          <a:solidFill>
            <a:srgbClr val="f1f3f2"/>
          </a:solidFill>
          <a:ln w="635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51" name="Text 66"/>
          <p:cNvSpPr/>
          <p:nvPr/>
        </p:nvSpPr>
        <p:spPr>
          <a:xfrm>
            <a:off x="6501240" y="491868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5a625c"/>
                </a:solidFill>
                <a:effectLst/>
                <a:uFillTx/>
                <a:latin typeface="Calibri"/>
                <a:ea typeface="Calibri"/>
              </a:rPr>
              <a:t>On parity</a:t>
            </a:r>
            <a:endParaRPr b="0" lang="en-US" sz="740" strike="noStrike" u="none">
              <a:solidFill>
                <a:srgbClr val="000000"/>
              </a:solidFill>
              <a:effectLst/>
              <a:uFillTx/>
              <a:latin typeface="Arial"/>
            </a:endParaRPr>
          </a:p>
        </p:txBody>
      </p:sp>
      <p:sp>
        <p:nvSpPr>
          <p:cNvPr id="952" name="Shape 67"/>
          <p:cNvSpPr/>
          <p:nvPr/>
        </p:nvSpPr>
        <p:spPr>
          <a:xfrm>
            <a:off x="7799760" y="4817520"/>
            <a:ext cx="376704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53" name="Text 68"/>
          <p:cNvSpPr/>
          <p:nvPr/>
        </p:nvSpPr>
        <p:spPr>
          <a:xfrm>
            <a:off x="7891200" y="4863240"/>
            <a:ext cx="358416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Expected by CSRD ready buyers.</a:t>
            </a:r>
            <a:endParaRPr b="0" lang="en-US" sz="800" strike="noStrike" u="none">
              <a:solidFill>
                <a:srgbClr val="000000"/>
              </a:solidFill>
              <a:effectLst/>
              <a:uFillTx/>
              <a:latin typeface="Arial"/>
            </a:endParaRPr>
          </a:p>
        </p:txBody>
      </p:sp>
      <p:sp>
        <p:nvSpPr>
          <p:cNvPr id="954" name="Shape 69"/>
          <p:cNvSpPr/>
          <p:nvPr/>
        </p:nvSpPr>
        <p:spPr>
          <a:xfrm>
            <a:off x="621720" y="5440680"/>
            <a:ext cx="10947600" cy="548280"/>
          </a:xfrm>
          <a:prstGeom prst="roundRect">
            <a:avLst>
              <a:gd name="adj" fmla="val 6667"/>
            </a:avLst>
          </a:prstGeom>
          <a:solidFill>
            <a:srgbClr val="005730"/>
          </a:solidFill>
          <a:ln w="12700">
            <a:solidFill>
              <a:srgbClr val="005730"/>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955" name="Shape 70"/>
          <p:cNvSpPr/>
          <p:nvPr/>
        </p:nvSpPr>
        <p:spPr>
          <a:xfrm>
            <a:off x="621720" y="5440680"/>
            <a:ext cx="1508400" cy="54828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56" name="Text 71"/>
          <p:cNvSpPr/>
          <p:nvPr/>
        </p:nvSpPr>
        <p:spPr>
          <a:xfrm>
            <a:off x="740520" y="5440680"/>
            <a:ext cx="1270800" cy="54828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800" spc="71" strike="noStrike" u="none">
                <a:solidFill>
                  <a:srgbClr val="005730"/>
                </a:solidFill>
                <a:effectLst/>
                <a:uFillTx/>
                <a:latin typeface="Calibri"/>
                <a:ea typeface="Calibri"/>
              </a:rPr>
              <a:t>BOARD IMPLICATION</a:t>
            </a:r>
            <a:endParaRPr b="0" lang="en-US" sz="800" strike="noStrike" u="none">
              <a:solidFill>
                <a:srgbClr val="000000"/>
              </a:solidFill>
              <a:effectLst/>
              <a:uFillTx/>
              <a:latin typeface="Arial"/>
            </a:endParaRPr>
          </a:p>
        </p:txBody>
      </p:sp>
      <p:sp>
        <p:nvSpPr>
          <p:cNvPr id="957" name="Text 72"/>
          <p:cNvSpPr/>
          <p:nvPr/>
        </p:nvSpPr>
        <p:spPr>
          <a:xfrm>
            <a:off x="2322720" y="5495400"/>
            <a:ext cx="904572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50" strike="noStrike" u="none">
                <a:solidFill>
                  <a:srgbClr val="ffffff"/>
                </a:solidFill>
                <a:effectLst/>
                <a:uFillTx/>
                <a:latin typeface="Calibri"/>
                <a:ea typeface="Calibri"/>
              </a:rPr>
              <a:t>Our differentiation is energy grade data and cobenefit planning. The Q4 factor and method work is what removes the last credibility gap.</a:t>
            </a:r>
            <a:endParaRPr b="0" lang="en-US" sz="950" strike="noStrike" u="none">
              <a:solidFill>
                <a:srgbClr val="000000"/>
              </a:solidFill>
              <a:effectLst/>
              <a:uFillTx/>
              <a:latin typeface="Arial"/>
            </a:endParaRPr>
          </a:p>
        </p:txBody>
      </p:sp>
      <p:sp>
        <p:nvSpPr>
          <p:cNvPr id="958" name="Text 73"/>
          <p:cNvSpPr/>
          <p:nvPr/>
        </p:nvSpPr>
        <p:spPr>
          <a:xfrm>
            <a:off x="621720" y="6053400"/>
            <a:ext cx="10947600" cy="22824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720" strike="noStrike" u="none">
                <a:solidFill>
                  <a:srgbClr val="5a625c"/>
                </a:solidFill>
                <a:effectLst/>
                <a:uFillTx/>
                <a:latin typeface="Calibri"/>
                <a:ea typeface="Calibri"/>
              </a:rPr>
              <a:t>Source: RA+ 2026 and 2027 roadmap, competitor public product pages (Watershed, osapiens, Sphera, Persefoni, Arcadia, Deepki).</a:t>
            </a:r>
            <a:endParaRPr b="0" lang="en-US" sz="720" strike="noStrike" u="none">
              <a:solidFill>
                <a:srgbClr val="000000"/>
              </a:solidFill>
              <a:effectLst/>
              <a:uFillTx/>
              <a:latin typeface="Arial"/>
            </a:endParaRPr>
          </a:p>
        </p:txBody>
      </p:sp>
      <p:sp>
        <p:nvSpPr>
          <p:cNvPr id="959" name="Shape 74"/>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960" name="Text 75"/>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961" name="Text 76"/>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962" name="PlaceHolder 1"/>
          <p:cNvSpPr>
            <a:spLocks noGrp="1"/>
          </p:cNvSpPr>
          <p:nvPr>
            <p:ph type="sldNum" idx="30"/>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07062B68-D81E-4C1F-BCA9-A54B08D311E5}"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63"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964"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965" name="Shape 2"/>
          <p:cNvSpPr/>
          <p:nvPr/>
        </p:nvSpPr>
        <p:spPr>
          <a:xfrm>
            <a:off x="621720" y="311040"/>
            <a:ext cx="397260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66" name="Text 3"/>
          <p:cNvSpPr/>
          <p:nvPr/>
        </p:nvSpPr>
        <p:spPr>
          <a:xfrm>
            <a:off x="804600" y="329040"/>
            <a:ext cx="364356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CAPABILITY POSITION: SUPPLY CHAIN</a:t>
            </a:r>
            <a:endParaRPr b="0" lang="en-US" sz="950" strike="noStrike" u="none">
              <a:solidFill>
                <a:srgbClr val="000000"/>
              </a:solidFill>
              <a:effectLst/>
              <a:uFillTx/>
              <a:latin typeface="Arial"/>
            </a:endParaRPr>
          </a:p>
        </p:txBody>
      </p:sp>
      <p:sp>
        <p:nvSpPr>
          <p:cNvPr id="967" name="Text 4"/>
          <p:cNvSpPr/>
          <p:nvPr/>
        </p:nvSpPr>
        <p:spPr>
          <a:xfrm>
            <a:off x="621720" y="768240"/>
            <a:ext cx="10947600" cy="804240"/>
          </a:xfrm>
          <a:prstGeom prst="rect">
            <a:avLst/>
          </a:prstGeom>
          <a:noFill/>
          <a:ln w="0">
            <a:noFill/>
          </a:ln>
        </p:spPr>
        <p:style>
          <a:lnRef idx="0"/>
          <a:fillRef idx="0"/>
          <a:effectRef idx="0"/>
          <a:fontRef idx="minor"/>
        </p:style>
        <p:txBody>
          <a:bodyPr lIns="0" rIns="0" tIns="0" bIns="0" anchor="t">
            <a:normAutofit lnSpcReduction="9999"/>
          </a:bodyPr>
          <a:p>
            <a:pPr defTabSz="914400">
              <a:lnSpc>
                <a:spcPct val="100000"/>
              </a:lnSpc>
              <a:tabLst>
                <a:tab algn="l" pos="0"/>
              </a:tabLst>
            </a:pPr>
            <a:r>
              <a:rPr b="1" lang="en-US" sz="2800" strike="noStrike" u="none">
                <a:solidFill>
                  <a:srgbClr val="1e2420"/>
                </a:solidFill>
                <a:effectLst/>
                <a:uFillTx/>
                <a:latin typeface="Calibri"/>
                <a:ea typeface="Calibri"/>
              </a:rPr>
              <a:t>Supply Chain: strong network reach, still closing the automated PCF gap</a:t>
            </a:r>
            <a:endParaRPr b="0" lang="en-US" sz="2800" strike="noStrike" u="none">
              <a:solidFill>
                <a:srgbClr val="000000"/>
              </a:solidFill>
              <a:effectLst/>
              <a:uFillTx/>
              <a:latin typeface="Arial"/>
            </a:endParaRPr>
          </a:p>
        </p:txBody>
      </p:sp>
      <p:sp>
        <p:nvSpPr>
          <p:cNvPr id="968" name="Text 5"/>
          <p:cNvSpPr/>
          <p:nvPr/>
        </p:nvSpPr>
        <p:spPr>
          <a:xfrm>
            <a:off x="621720" y="15728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The most contested product line in the market, and the one where our 2027 bets matter most.</a:t>
            </a:r>
            <a:endParaRPr b="0" lang="en-US" sz="1250" strike="noStrike" u="none">
              <a:solidFill>
                <a:srgbClr val="000000"/>
              </a:solidFill>
              <a:effectLst/>
              <a:uFillTx/>
              <a:latin typeface="Arial"/>
            </a:endParaRPr>
          </a:p>
        </p:txBody>
      </p:sp>
      <p:sp>
        <p:nvSpPr>
          <p:cNvPr id="969"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970" name="Shape 7"/>
          <p:cNvSpPr/>
          <p:nvPr/>
        </p:nvSpPr>
        <p:spPr>
          <a:xfrm>
            <a:off x="621720" y="2084760"/>
            <a:ext cx="2011320" cy="36540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971" name="Text 8"/>
          <p:cNvSpPr/>
          <p:nvPr/>
        </p:nvSpPr>
        <p:spPr>
          <a:xfrm>
            <a:off x="713160" y="2084760"/>
            <a:ext cx="1828440" cy="3654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CAPABILITY</a:t>
            </a:r>
            <a:endParaRPr b="0" lang="en-US" sz="760" strike="noStrike" u="none">
              <a:solidFill>
                <a:srgbClr val="000000"/>
              </a:solidFill>
              <a:effectLst/>
              <a:uFillTx/>
              <a:latin typeface="Arial"/>
            </a:endParaRPr>
          </a:p>
        </p:txBody>
      </p:sp>
      <p:sp>
        <p:nvSpPr>
          <p:cNvPr id="972" name="Shape 9"/>
          <p:cNvSpPr/>
          <p:nvPr/>
        </p:nvSpPr>
        <p:spPr>
          <a:xfrm>
            <a:off x="2633400" y="2084760"/>
            <a:ext cx="3794400" cy="36540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973" name="Text 10"/>
          <p:cNvSpPr/>
          <p:nvPr/>
        </p:nvSpPr>
        <p:spPr>
          <a:xfrm>
            <a:off x="2724840" y="2084760"/>
            <a:ext cx="3611520" cy="3654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WHAT RA+ DELIVERS</a:t>
            </a:r>
            <a:endParaRPr b="0" lang="en-US" sz="760" strike="noStrike" u="none">
              <a:solidFill>
                <a:srgbClr val="000000"/>
              </a:solidFill>
              <a:effectLst/>
              <a:uFillTx/>
              <a:latin typeface="Arial"/>
            </a:endParaRPr>
          </a:p>
        </p:txBody>
      </p:sp>
      <p:sp>
        <p:nvSpPr>
          <p:cNvPr id="974" name="Shape 11"/>
          <p:cNvSpPr/>
          <p:nvPr/>
        </p:nvSpPr>
        <p:spPr>
          <a:xfrm>
            <a:off x="6428160" y="2084760"/>
            <a:ext cx="1371240" cy="36540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975" name="Text 12"/>
          <p:cNvSpPr/>
          <p:nvPr/>
        </p:nvSpPr>
        <p:spPr>
          <a:xfrm>
            <a:off x="6519600" y="2084760"/>
            <a:ext cx="1188360" cy="3654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EXPECTED POSITION</a:t>
            </a:r>
            <a:endParaRPr b="0" lang="en-US" sz="760" strike="noStrike" u="none">
              <a:solidFill>
                <a:srgbClr val="000000"/>
              </a:solidFill>
              <a:effectLst/>
              <a:uFillTx/>
              <a:latin typeface="Arial"/>
            </a:endParaRPr>
          </a:p>
        </p:txBody>
      </p:sp>
      <p:sp>
        <p:nvSpPr>
          <p:cNvPr id="976" name="Shape 13"/>
          <p:cNvSpPr/>
          <p:nvPr/>
        </p:nvSpPr>
        <p:spPr>
          <a:xfrm>
            <a:off x="7799760" y="2084760"/>
            <a:ext cx="3767040" cy="36540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977" name="Text 14"/>
          <p:cNvSpPr/>
          <p:nvPr/>
        </p:nvSpPr>
        <p:spPr>
          <a:xfrm>
            <a:off x="7891200" y="2084760"/>
            <a:ext cx="3584160" cy="3654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MARKET BENCHMARK</a:t>
            </a:r>
            <a:endParaRPr b="0" lang="en-US" sz="760" strike="noStrike" u="none">
              <a:solidFill>
                <a:srgbClr val="000000"/>
              </a:solidFill>
              <a:effectLst/>
              <a:uFillTx/>
              <a:latin typeface="Arial"/>
            </a:endParaRPr>
          </a:p>
        </p:txBody>
      </p:sp>
      <p:sp>
        <p:nvSpPr>
          <p:cNvPr id="978" name="Shape 15"/>
          <p:cNvSpPr/>
          <p:nvPr/>
        </p:nvSpPr>
        <p:spPr>
          <a:xfrm>
            <a:off x="621720" y="2450520"/>
            <a:ext cx="201132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79" name="Text 16"/>
          <p:cNvSpPr/>
          <p:nvPr/>
        </p:nvSpPr>
        <p:spPr>
          <a:xfrm>
            <a:off x="713160" y="2496240"/>
            <a:ext cx="182844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Supplier engagement reach</a:t>
            </a:r>
            <a:endParaRPr b="0" lang="en-US" sz="900" strike="noStrike" u="none">
              <a:solidFill>
                <a:srgbClr val="000000"/>
              </a:solidFill>
              <a:effectLst/>
              <a:uFillTx/>
              <a:latin typeface="Arial"/>
            </a:endParaRPr>
          </a:p>
        </p:txBody>
      </p:sp>
      <p:sp>
        <p:nvSpPr>
          <p:cNvPr id="980" name="Shape 17"/>
          <p:cNvSpPr/>
          <p:nvPr/>
        </p:nvSpPr>
        <p:spPr>
          <a:xfrm>
            <a:off x="2633400" y="2450520"/>
            <a:ext cx="379440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81" name="Text 18"/>
          <p:cNvSpPr/>
          <p:nvPr/>
        </p:nvSpPr>
        <p:spPr>
          <a:xfrm>
            <a:off x="2724840" y="2496240"/>
            <a:ext cx="361152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Built on Zeigo Hub heritage: campaigns at scale, structured supplier education programs and learning paths.</a:t>
            </a:r>
            <a:endParaRPr b="0" lang="en-US" sz="800" strike="noStrike" u="none">
              <a:solidFill>
                <a:srgbClr val="000000"/>
              </a:solidFill>
              <a:effectLst/>
              <a:uFillTx/>
              <a:latin typeface="Arial"/>
            </a:endParaRPr>
          </a:p>
        </p:txBody>
      </p:sp>
      <p:sp>
        <p:nvSpPr>
          <p:cNvPr id="982" name="Shape 19"/>
          <p:cNvSpPr/>
          <p:nvPr/>
        </p:nvSpPr>
        <p:spPr>
          <a:xfrm>
            <a:off x="6428160" y="2450520"/>
            <a:ext cx="137124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83" name="Shape 20"/>
          <p:cNvSpPr/>
          <p:nvPr/>
        </p:nvSpPr>
        <p:spPr>
          <a:xfrm>
            <a:off x="6501240" y="2565720"/>
            <a:ext cx="1225080" cy="237240"/>
          </a:xfrm>
          <a:prstGeom prst="roundRect">
            <a:avLst>
              <a:gd name="adj" fmla="val 46154"/>
            </a:avLst>
          </a:prstGeom>
          <a:solidFill>
            <a:srgbClr val="eaf8ed"/>
          </a:solidFill>
          <a:ln w="635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84" name="Text 21"/>
          <p:cNvSpPr/>
          <p:nvPr/>
        </p:nvSpPr>
        <p:spPr>
          <a:xfrm>
            <a:off x="6501240" y="256572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007a27"/>
                </a:solidFill>
                <a:effectLst/>
                <a:uFillTx/>
                <a:latin typeface="Calibri"/>
                <a:ea typeface="Calibri"/>
              </a:rPr>
              <a:t>Market leading</a:t>
            </a:r>
            <a:endParaRPr b="0" lang="en-US" sz="740" strike="noStrike" u="none">
              <a:solidFill>
                <a:srgbClr val="000000"/>
              </a:solidFill>
              <a:effectLst/>
              <a:uFillTx/>
              <a:latin typeface="Arial"/>
            </a:endParaRPr>
          </a:p>
        </p:txBody>
      </p:sp>
      <p:sp>
        <p:nvSpPr>
          <p:cNvPr id="985" name="Shape 22"/>
          <p:cNvSpPr/>
          <p:nvPr/>
        </p:nvSpPr>
        <p:spPr>
          <a:xfrm>
            <a:off x="7799760" y="2450520"/>
            <a:ext cx="376704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86" name="Text 23"/>
          <p:cNvSpPr/>
          <p:nvPr/>
        </p:nvSpPr>
        <p:spPr>
          <a:xfrm>
            <a:off x="7891200" y="2496240"/>
            <a:ext cx="358416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Reach at this scale is rare outside the largest platforms.</a:t>
            </a:r>
            <a:endParaRPr b="0" lang="en-US" sz="800" strike="noStrike" u="none">
              <a:solidFill>
                <a:srgbClr val="000000"/>
              </a:solidFill>
              <a:effectLst/>
              <a:uFillTx/>
              <a:latin typeface="Arial"/>
            </a:endParaRPr>
          </a:p>
        </p:txBody>
      </p:sp>
      <p:sp>
        <p:nvSpPr>
          <p:cNvPr id="987" name="Shape 24"/>
          <p:cNvSpPr/>
          <p:nvPr/>
        </p:nvSpPr>
        <p:spPr>
          <a:xfrm>
            <a:off x="621720" y="2918520"/>
            <a:ext cx="201132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88" name="Text 25"/>
          <p:cNvSpPr/>
          <p:nvPr/>
        </p:nvSpPr>
        <p:spPr>
          <a:xfrm>
            <a:off x="713160" y="2964240"/>
            <a:ext cx="182844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Product carbon footprint</a:t>
            </a:r>
            <a:endParaRPr b="0" lang="en-US" sz="900" strike="noStrike" u="none">
              <a:solidFill>
                <a:srgbClr val="000000"/>
              </a:solidFill>
              <a:effectLst/>
              <a:uFillTx/>
              <a:latin typeface="Arial"/>
            </a:endParaRPr>
          </a:p>
        </p:txBody>
      </p:sp>
      <p:sp>
        <p:nvSpPr>
          <p:cNvPr id="989" name="Shape 26"/>
          <p:cNvSpPr/>
          <p:nvPr/>
        </p:nvSpPr>
        <p:spPr>
          <a:xfrm>
            <a:off x="2633400" y="2918520"/>
            <a:ext cx="379440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90" name="Text 27"/>
          <p:cNvSpPr/>
          <p:nvPr/>
        </p:nvSpPr>
        <p:spPr>
          <a:xfrm>
            <a:off x="2724840" y="2964240"/>
            <a:ext cx="361152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Light PCF calculator in 2027 H1, deeper PCF after.</a:t>
            </a:r>
            <a:endParaRPr b="0" lang="en-US" sz="800" strike="noStrike" u="none">
              <a:solidFill>
                <a:srgbClr val="000000"/>
              </a:solidFill>
              <a:effectLst/>
              <a:uFillTx/>
              <a:latin typeface="Arial"/>
            </a:endParaRPr>
          </a:p>
        </p:txBody>
      </p:sp>
      <p:sp>
        <p:nvSpPr>
          <p:cNvPr id="991" name="Shape 28"/>
          <p:cNvSpPr/>
          <p:nvPr/>
        </p:nvSpPr>
        <p:spPr>
          <a:xfrm>
            <a:off x="6428160" y="2918520"/>
            <a:ext cx="137124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92" name="Shape 29"/>
          <p:cNvSpPr/>
          <p:nvPr/>
        </p:nvSpPr>
        <p:spPr>
          <a:xfrm>
            <a:off x="6501240" y="3033360"/>
            <a:ext cx="1225080" cy="237240"/>
          </a:xfrm>
          <a:prstGeom prst="roundRect">
            <a:avLst>
              <a:gd name="adj" fmla="val 46154"/>
            </a:avLst>
          </a:prstGeom>
          <a:solidFill>
            <a:srgbClr val="fff4e3"/>
          </a:solidFill>
          <a:ln w="635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93" name="Text 30"/>
          <p:cNvSpPr/>
          <p:nvPr/>
        </p:nvSpPr>
        <p:spPr>
          <a:xfrm>
            <a:off x="6501240" y="303336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a65b00"/>
                </a:solidFill>
                <a:effectLst/>
                <a:uFillTx/>
                <a:latin typeface="Calibri"/>
                <a:ea typeface="Calibri"/>
              </a:rPr>
              <a:t>Behind</a:t>
            </a:r>
            <a:endParaRPr b="0" lang="en-US" sz="740" strike="noStrike" u="none">
              <a:solidFill>
                <a:srgbClr val="000000"/>
              </a:solidFill>
              <a:effectLst/>
              <a:uFillTx/>
              <a:latin typeface="Arial"/>
            </a:endParaRPr>
          </a:p>
        </p:txBody>
      </p:sp>
      <p:sp>
        <p:nvSpPr>
          <p:cNvPr id="994" name="Shape 31"/>
          <p:cNvSpPr/>
          <p:nvPr/>
        </p:nvSpPr>
        <p:spPr>
          <a:xfrm>
            <a:off x="7799760" y="2918520"/>
            <a:ext cx="376704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95" name="Text 32"/>
          <p:cNvSpPr/>
          <p:nvPr/>
        </p:nvSpPr>
        <p:spPr>
          <a:xfrm>
            <a:off x="7891200" y="2964240"/>
            <a:ext cx="358416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osapiens and Watershed market BoM driven, largely automated PCF creation today.</a:t>
            </a:r>
            <a:endParaRPr b="0" lang="en-US" sz="800" strike="noStrike" u="none">
              <a:solidFill>
                <a:srgbClr val="000000"/>
              </a:solidFill>
              <a:effectLst/>
              <a:uFillTx/>
              <a:latin typeface="Arial"/>
            </a:endParaRPr>
          </a:p>
        </p:txBody>
      </p:sp>
      <p:sp>
        <p:nvSpPr>
          <p:cNvPr id="996" name="Shape 33"/>
          <p:cNvSpPr/>
          <p:nvPr/>
        </p:nvSpPr>
        <p:spPr>
          <a:xfrm>
            <a:off x="621720" y="3386160"/>
            <a:ext cx="201132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97" name="Text 34"/>
          <p:cNvSpPr/>
          <p:nvPr/>
        </p:nvSpPr>
        <p:spPr>
          <a:xfrm>
            <a:off x="713160" y="3431880"/>
            <a:ext cx="182844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Category 1 and 4 data into the inventory</a:t>
            </a:r>
            <a:endParaRPr b="0" lang="en-US" sz="900" strike="noStrike" u="none">
              <a:solidFill>
                <a:srgbClr val="000000"/>
              </a:solidFill>
              <a:effectLst/>
              <a:uFillTx/>
              <a:latin typeface="Arial"/>
            </a:endParaRPr>
          </a:p>
        </p:txBody>
      </p:sp>
      <p:sp>
        <p:nvSpPr>
          <p:cNvPr id="998" name="Shape 35"/>
          <p:cNvSpPr/>
          <p:nvPr/>
        </p:nvSpPr>
        <p:spPr>
          <a:xfrm>
            <a:off x="2633400" y="3386160"/>
            <a:ext cx="379440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99" name="Text 36"/>
          <p:cNvSpPr/>
          <p:nvPr/>
        </p:nvSpPr>
        <p:spPr>
          <a:xfrm>
            <a:off x="2724840" y="3431880"/>
            <a:ext cx="361152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Supplier and transport data flows straight into the shared carbon inventory.</a:t>
            </a:r>
            <a:endParaRPr b="0" lang="en-US" sz="800" strike="noStrike" u="none">
              <a:solidFill>
                <a:srgbClr val="000000"/>
              </a:solidFill>
              <a:effectLst/>
              <a:uFillTx/>
              <a:latin typeface="Arial"/>
            </a:endParaRPr>
          </a:p>
        </p:txBody>
      </p:sp>
      <p:sp>
        <p:nvSpPr>
          <p:cNvPr id="1000" name="Shape 37"/>
          <p:cNvSpPr/>
          <p:nvPr/>
        </p:nvSpPr>
        <p:spPr>
          <a:xfrm>
            <a:off x="6428160" y="3386160"/>
            <a:ext cx="137124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01" name="Shape 38"/>
          <p:cNvSpPr/>
          <p:nvPr/>
        </p:nvSpPr>
        <p:spPr>
          <a:xfrm>
            <a:off x="6501240" y="3501360"/>
            <a:ext cx="1225080" cy="237240"/>
          </a:xfrm>
          <a:prstGeom prst="roundRect">
            <a:avLst>
              <a:gd name="adj" fmla="val 46154"/>
            </a:avLst>
          </a:prstGeom>
          <a:solidFill>
            <a:srgbClr val="eaf8ed"/>
          </a:solidFill>
          <a:ln w="635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02" name="Text 39"/>
          <p:cNvSpPr/>
          <p:nvPr/>
        </p:nvSpPr>
        <p:spPr>
          <a:xfrm>
            <a:off x="6501240" y="350136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007a27"/>
                </a:solidFill>
                <a:effectLst/>
                <a:uFillTx/>
                <a:latin typeface="Calibri"/>
                <a:ea typeface="Calibri"/>
              </a:rPr>
              <a:t>Market leading</a:t>
            </a:r>
            <a:endParaRPr b="0" lang="en-US" sz="740" strike="noStrike" u="none">
              <a:solidFill>
                <a:srgbClr val="000000"/>
              </a:solidFill>
              <a:effectLst/>
              <a:uFillTx/>
              <a:latin typeface="Arial"/>
            </a:endParaRPr>
          </a:p>
        </p:txBody>
      </p:sp>
      <p:sp>
        <p:nvSpPr>
          <p:cNvPr id="1003" name="Shape 40"/>
          <p:cNvSpPr/>
          <p:nvPr/>
        </p:nvSpPr>
        <p:spPr>
          <a:xfrm>
            <a:off x="7799760" y="3386160"/>
            <a:ext cx="376704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04" name="Text 41"/>
          <p:cNvSpPr/>
          <p:nvPr/>
        </p:nvSpPr>
        <p:spPr>
          <a:xfrm>
            <a:off x="7891200" y="3431880"/>
            <a:ext cx="358416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Most rivals move this data between separate tools.</a:t>
            </a:r>
            <a:endParaRPr b="0" lang="en-US" sz="800" strike="noStrike" u="none">
              <a:solidFill>
                <a:srgbClr val="000000"/>
              </a:solidFill>
              <a:effectLst/>
              <a:uFillTx/>
              <a:latin typeface="Arial"/>
            </a:endParaRPr>
          </a:p>
        </p:txBody>
      </p:sp>
      <p:sp>
        <p:nvSpPr>
          <p:cNvPr id="1005" name="Shape 42"/>
          <p:cNvSpPr/>
          <p:nvPr/>
        </p:nvSpPr>
        <p:spPr>
          <a:xfrm>
            <a:off x="621720" y="3854160"/>
            <a:ext cx="201132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06" name="Text 43"/>
          <p:cNvSpPr/>
          <p:nvPr/>
        </p:nvSpPr>
        <p:spPr>
          <a:xfrm>
            <a:off x="713160" y="3899880"/>
            <a:ext cx="182844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Data quality assurance</a:t>
            </a:r>
            <a:endParaRPr b="0" lang="en-US" sz="900" strike="noStrike" u="none">
              <a:solidFill>
                <a:srgbClr val="000000"/>
              </a:solidFill>
              <a:effectLst/>
              <a:uFillTx/>
              <a:latin typeface="Arial"/>
            </a:endParaRPr>
          </a:p>
        </p:txBody>
      </p:sp>
      <p:sp>
        <p:nvSpPr>
          <p:cNvPr id="1007" name="Shape 44"/>
          <p:cNvSpPr/>
          <p:nvPr/>
        </p:nvSpPr>
        <p:spPr>
          <a:xfrm>
            <a:off x="2633400" y="3854160"/>
            <a:ext cx="379440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08" name="Text 45"/>
          <p:cNvSpPr/>
          <p:nvPr/>
        </p:nvSpPr>
        <p:spPr>
          <a:xfrm>
            <a:off x="2724840" y="3899880"/>
            <a:ext cx="361152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Improved data quality assurance and scoring on collected supplier data.</a:t>
            </a:r>
            <a:endParaRPr b="0" lang="en-US" sz="800" strike="noStrike" u="none">
              <a:solidFill>
                <a:srgbClr val="000000"/>
              </a:solidFill>
              <a:effectLst/>
              <a:uFillTx/>
              <a:latin typeface="Arial"/>
            </a:endParaRPr>
          </a:p>
        </p:txBody>
      </p:sp>
      <p:sp>
        <p:nvSpPr>
          <p:cNvPr id="1009" name="Shape 46"/>
          <p:cNvSpPr/>
          <p:nvPr/>
        </p:nvSpPr>
        <p:spPr>
          <a:xfrm>
            <a:off x="6428160" y="3854160"/>
            <a:ext cx="137124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10" name="Shape 47"/>
          <p:cNvSpPr/>
          <p:nvPr/>
        </p:nvSpPr>
        <p:spPr>
          <a:xfrm>
            <a:off x="6501240" y="3969360"/>
            <a:ext cx="1225080" cy="237240"/>
          </a:xfrm>
          <a:prstGeom prst="roundRect">
            <a:avLst>
              <a:gd name="adj" fmla="val 46154"/>
            </a:avLst>
          </a:prstGeom>
          <a:solidFill>
            <a:srgbClr val="f1f3f2"/>
          </a:solidFill>
          <a:ln w="635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11" name="Text 48"/>
          <p:cNvSpPr/>
          <p:nvPr/>
        </p:nvSpPr>
        <p:spPr>
          <a:xfrm>
            <a:off x="6501240" y="396936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5a625c"/>
                </a:solidFill>
                <a:effectLst/>
                <a:uFillTx/>
                <a:latin typeface="Calibri"/>
                <a:ea typeface="Calibri"/>
              </a:rPr>
              <a:t>On parity</a:t>
            </a:r>
            <a:endParaRPr b="0" lang="en-US" sz="740" strike="noStrike" u="none">
              <a:solidFill>
                <a:srgbClr val="000000"/>
              </a:solidFill>
              <a:effectLst/>
              <a:uFillTx/>
              <a:latin typeface="Arial"/>
            </a:endParaRPr>
          </a:p>
        </p:txBody>
      </p:sp>
      <p:sp>
        <p:nvSpPr>
          <p:cNvPr id="1012" name="Shape 49"/>
          <p:cNvSpPr/>
          <p:nvPr/>
        </p:nvSpPr>
        <p:spPr>
          <a:xfrm>
            <a:off x="7799760" y="3854160"/>
            <a:ext cx="376704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13" name="Text 50"/>
          <p:cNvSpPr/>
          <p:nvPr/>
        </p:nvSpPr>
        <p:spPr>
          <a:xfrm>
            <a:off x="7891200" y="3899880"/>
            <a:ext cx="358416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Standard across the benchmarked field.</a:t>
            </a:r>
            <a:endParaRPr b="0" lang="en-US" sz="800" strike="noStrike" u="none">
              <a:solidFill>
                <a:srgbClr val="000000"/>
              </a:solidFill>
              <a:effectLst/>
              <a:uFillTx/>
              <a:latin typeface="Arial"/>
            </a:endParaRPr>
          </a:p>
        </p:txBody>
      </p:sp>
      <p:sp>
        <p:nvSpPr>
          <p:cNvPr id="1014" name="Shape 51"/>
          <p:cNvSpPr/>
          <p:nvPr/>
        </p:nvSpPr>
        <p:spPr>
          <a:xfrm>
            <a:off x="621720" y="4322160"/>
            <a:ext cx="201132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15" name="Text 52"/>
          <p:cNvSpPr/>
          <p:nvPr/>
        </p:nvSpPr>
        <p:spPr>
          <a:xfrm>
            <a:off x="713160" y="4367880"/>
            <a:ext cx="182844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Supplier abatement</a:t>
            </a:r>
            <a:endParaRPr b="0" lang="en-US" sz="900" strike="noStrike" u="none">
              <a:solidFill>
                <a:srgbClr val="000000"/>
              </a:solidFill>
              <a:effectLst/>
              <a:uFillTx/>
              <a:latin typeface="Arial"/>
            </a:endParaRPr>
          </a:p>
        </p:txBody>
      </p:sp>
      <p:sp>
        <p:nvSpPr>
          <p:cNvPr id="1016" name="Shape 53"/>
          <p:cNvSpPr/>
          <p:nvPr/>
        </p:nvSpPr>
        <p:spPr>
          <a:xfrm>
            <a:off x="2633400" y="4322160"/>
            <a:ext cx="379440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17" name="Text 54"/>
          <p:cNvSpPr/>
          <p:nvPr/>
        </p:nvSpPr>
        <p:spPr>
          <a:xfrm>
            <a:off x="2724840" y="4367880"/>
            <a:ext cx="361152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Guided decarbonisation and supplier action, sequenced for 2027.</a:t>
            </a:r>
            <a:endParaRPr b="0" lang="en-US" sz="800" strike="noStrike" u="none">
              <a:solidFill>
                <a:srgbClr val="000000"/>
              </a:solidFill>
              <a:effectLst/>
              <a:uFillTx/>
              <a:latin typeface="Arial"/>
            </a:endParaRPr>
          </a:p>
        </p:txBody>
      </p:sp>
      <p:sp>
        <p:nvSpPr>
          <p:cNvPr id="1018" name="Shape 55"/>
          <p:cNvSpPr/>
          <p:nvPr/>
        </p:nvSpPr>
        <p:spPr>
          <a:xfrm>
            <a:off x="6428160" y="4322160"/>
            <a:ext cx="137124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19" name="Shape 56"/>
          <p:cNvSpPr/>
          <p:nvPr/>
        </p:nvSpPr>
        <p:spPr>
          <a:xfrm>
            <a:off x="6501240" y="4437000"/>
            <a:ext cx="1225080" cy="237240"/>
          </a:xfrm>
          <a:prstGeom prst="roundRect">
            <a:avLst>
              <a:gd name="adj" fmla="val 46154"/>
            </a:avLst>
          </a:prstGeom>
          <a:solidFill>
            <a:srgbClr val="fff4e3"/>
          </a:solidFill>
          <a:ln w="635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20" name="Text 57"/>
          <p:cNvSpPr/>
          <p:nvPr/>
        </p:nvSpPr>
        <p:spPr>
          <a:xfrm>
            <a:off x="6501240" y="443700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a65b00"/>
                </a:solidFill>
                <a:effectLst/>
                <a:uFillTx/>
                <a:latin typeface="Calibri"/>
                <a:ea typeface="Calibri"/>
              </a:rPr>
              <a:t>Closing gap</a:t>
            </a:r>
            <a:endParaRPr b="0" lang="en-US" sz="740" strike="noStrike" u="none">
              <a:solidFill>
                <a:srgbClr val="000000"/>
              </a:solidFill>
              <a:effectLst/>
              <a:uFillTx/>
              <a:latin typeface="Arial"/>
            </a:endParaRPr>
          </a:p>
        </p:txBody>
      </p:sp>
      <p:sp>
        <p:nvSpPr>
          <p:cNvPr id="1021" name="Shape 58"/>
          <p:cNvSpPr/>
          <p:nvPr/>
        </p:nvSpPr>
        <p:spPr>
          <a:xfrm>
            <a:off x="7799760" y="4322160"/>
            <a:ext cx="376704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22" name="Text 59"/>
          <p:cNvSpPr/>
          <p:nvPr/>
        </p:nvSpPr>
        <p:spPr>
          <a:xfrm>
            <a:off x="7891200" y="4367880"/>
            <a:ext cx="358416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Leaders already market supplier abatement programmes, not just collection.</a:t>
            </a:r>
            <a:endParaRPr b="0" lang="en-US" sz="800" strike="noStrike" u="none">
              <a:solidFill>
                <a:srgbClr val="000000"/>
              </a:solidFill>
              <a:effectLst/>
              <a:uFillTx/>
              <a:latin typeface="Arial"/>
            </a:endParaRPr>
          </a:p>
        </p:txBody>
      </p:sp>
      <p:sp>
        <p:nvSpPr>
          <p:cNvPr id="1023" name="Shape 60"/>
          <p:cNvSpPr/>
          <p:nvPr/>
        </p:nvSpPr>
        <p:spPr>
          <a:xfrm>
            <a:off x="621720" y="4789800"/>
            <a:ext cx="201132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24" name="Text 61"/>
          <p:cNvSpPr/>
          <p:nvPr/>
        </p:nvSpPr>
        <p:spPr>
          <a:xfrm>
            <a:off x="713160" y="4835520"/>
            <a:ext cx="182844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Upstream and downstream transport</a:t>
            </a:r>
            <a:endParaRPr b="0" lang="en-US" sz="900" strike="noStrike" u="none">
              <a:solidFill>
                <a:srgbClr val="000000"/>
              </a:solidFill>
              <a:effectLst/>
              <a:uFillTx/>
              <a:latin typeface="Arial"/>
            </a:endParaRPr>
          </a:p>
        </p:txBody>
      </p:sp>
      <p:sp>
        <p:nvSpPr>
          <p:cNvPr id="1025" name="Shape 62"/>
          <p:cNvSpPr/>
          <p:nvPr/>
        </p:nvSpPr>
        <p:spPr>
          <a:xfrm>
            <a:off x="2633400" y="4789800"/>
            <a:ext cx="379440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26" name="Text 63"/>
          <p:cNvSpPr/>
          <p:nvPr/>
        </p:nvSpPr>
        <p:spPr>
          <a:xfrm>
            <a:off x="2724840" y="4835520"/>
            <a:ext cx="361152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Category 4 and 9 product linked transport in 2027 H1.</a:t>
            </a:r>
            <a:endParaRPr b="0" lang="en-US" sz="800" strike="noStrike" u="none">
              <a:solidFill>
                <a:srgbClr val="000000"/>
              </a:solidFill>
              <a:effectLst/>
              <a:uFillTx/>
              <a:latin typeface="Arial"/>
            </a:endParaRPr>
          </a:p>
        </p:txBody>
      </p:sp>
      <p:sp>
        <p:nvSpPr>
          <p:cNvPr id="1027" name="Shape 64"/>
          <p:cNvSpPr/>
          <p:nvPr/>
        </p:nvSpPr>
        <p:spPr>
          <a:xfrm>
            <a:off x="6428160" y="4789800"/>
            <a:ext cx="137124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28" name="Shape 65"/>
          <p:cNvSpPr/>
          <p:nvPr/>
        </p:nvSpPr>
        <p:spPr>
          <a:xfrm>
            <a:off x="6501240" y="4905000"/>
            <a:ext cx="1225080" cy="237240"/>
          </a:xfrm>
          <a:prstGeom prst="roundRect">
            <a:avLst>
              <a:gd name="adj" fmla="val 46154"/>
            </a:avLst>
          </a:prstGeom>
          <a:solidFill>
            <a:srgbClr val="f1f3f2"/>
          </a:solidFill>
          <a:ln w="635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29" name="Text 66"/>
          <p:cNvSpPr/>
          <p:nvPr/>
        </p:nvSpPr>
        <p:spPr>
          <a:xfrm>
            <a:off x="6501240" y="490500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5a625c"/>
                </a:solidFill>
                <a:effectLst/>
                <a:uFillTx/>
                <a:latin typeface="Calibri"/>
                <a:ea typeface="Calibri"/>
              </a:rPr>
              <a:t>On parity</a:t>
            </a:r>
            <a:endParaRPr b="0" lang="en-US" sz="740" strike="noStrike" u="none">
              <a:solidFill>
                <a:srgbClr val="000000"/>
              </a:solidFill>
              <a:effectLst/>
              <a:uFillTx/>
              <a:latin typeface="Arial"/>
            </a:endParaRPr>
          </a:p>
        </p:txBody>
      </p:sp>
      <p:sp>
        <p:nvSpPr>
          <p:cNvPr id="1030" name="Shape 67"/>
          <p:cNvSpPr/>
          <p:nvPr/>
        </p:nvSpPr>
        <p:spPr>
          <a:xfrm>
            <a:off x="7799760" y="4789800"/>
            <a:ext cx="376704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31" name="Text 68"/>
          <p:cNvSpPr/>
          <p:nvPr/>
        </p:nvSpPr>
        <p:spPr>
          <a:xfrm>
            <a:off x="7891200" y="4835520"/>
            <a:ext cx="358416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Covered by logistics focused rivals.</a:t>
            </a:r>
            <a:endParaRPr b="0" lang="en-US" sz="800" strike="noStrike" u="none">
              <a:solidFill>
                <a:srgbClr val="000000"/>
              </a:solidFill>
              <a:effectLst/>
              <a:uFillTx/>
              <a:latin typeface="Arial"/>
            </a:endParaRPr>
          </a:p>
        </p:txBody>
      </p:sp>
      <p:sp>
        <p:nvSpPr>
          <p:cNvPr id="1032" name="Shape 69"/>
          <p:cNvSpPr/>
          <p:nvPr/>
        </p:nvSpPr>
        <p:spPr>
          <a:xfrm>
            <a:off x="621720" y="5440680"/>
            <a:ext cx="10947600" cy="548280"/>
          </a:xfrm>
          <a:prstGeom prst="roundRect">
            <a:avLst>
              <a:gd name="adj" fmla="val 6667"/>
            </a:avLst>
          </a:prstGeom>
          <a:solidFill>
            <a:srgbClr val="005730"/>
          </a:solidFill>
          <a:ln w="12700">
            <a:solidFill>
              <a:srgbClr val="005730"/>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33" name="Shape 70"/>
          <p:cNvSpPr/>
          <p:nvPr/>
        </p:nvSpPr>
        <p:spPr>
          <a:xfrm>
            <a:off x="621720" y="5440680"/>
            <a:ext cx="1508400" cy="54828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34" name="Text 71"/>
          <p:cNvSpPr/>
          <p:nvPr/>
        </p:nvSpPr>
        <p:spPr>
          <a:xfrm>
            <a:off x="740520" y="5440680"/>
            <a:ext cx="1270800" cy="54828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800" spc="71" strike="noStrike" u="none">
                <a:solidFill>
                  <a:srgbClr val="005730"/>
                </a:solidFill>
                <a:effectLst/>
                <a:uFillTx/>
                <a:latin typeface="Calibri"/>
                <a:ea typeface="Calibri"/>
              </a:rPr>
              <a:t>BOARD IMPLICATION</a:t>
            </a:r>
            <a:endParaRPr b="0" lang="en-US" sz="800" strike="noStrike" u="none">
              <a:solidFill>
                <a:srgbClr val="000000"/>
              </a:solidFill>
              <a:effectLst/>
              <a:uFillTx/>
              <a:latin typeface="Arial"/>
            </a:endParaRPr>
          </a:p>
        </p:txBody>
      </p:sp>
      <p:sp>
        <p:nvSpPr>
          <p:cNvPr id="1035" name="Text 72"/>
          <p:cNvSpPr/>
          <p:nvPr/>
        </p:nvSpPr>
        <p:spPr>
          <a:xfrm>
            <a:off x="2322720" y="5495400"/>
            <a:ext cx="904572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50" strike="noStrike" u="none">
                <a:solidFill>
                  <a:srgbClr val="ffffff"/>
                </a:solidFill>
                <a:effectLst/>
                <a:uFillTx/>
                <a:latin typeface="Calibri"/>
                <a:ea typeface="Calibri"/>
              </a:rPr>
              <a:t>We win on reach and on one inventory. PCF automation is the single capability where we are visibly behind and it needs protected capacity.</a:t>
            </a:r>
            <a:endParaRPr b="0" lang="en-US" sz="950" strike="noStrike" u="none">
              <a:solidFill>
                <a:srgbClr val="000000"/>
              </a:solidFill>
              <a:effectLst/>
              <a:uFillTx/>
              <a:latin typeface="Arial"/>
            </a:endParaRPr>
          </a:p>
        </p:txBody>
      </p:sp>
      <p:sp>
        <p:nvSpPr>
          <p:cNvPr id="1036" name="Text 73"/>
          <p:cNvSpPr/>
          <p:nvPr/>
        </p:nvSpPr>
        <p:spPr>
          <a:xfrm>
            <a:off x="621720" y="6053400"/>
            <a:ext cx="10947600" cy="22824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720" strike="noStrike" u="none">
                <a:solidFill>
                  <a:srgbClr val="5a625c"/>
                </a:solidFill>
                <a:effectLst/>
                <a:uFillTx/>
                <a:latin typeface="Calibri"/>
                <a:ea typeface="Calibri"/>
              </a:rPr>
              <a:t>Source: RA+ 2026 and 2027 roadmap, competitor public product pages (Watershed, osapiens, Sphera, Persefoni).</a:t>
            </a:r>
            <a:endParaRPr b="0" lang="en-US" sz="720" strike="noStrike" u="none">
              <a:solidFill>
                <a:srgbClr val="000000"/>
              </a:solidFill>
              <a:effectLst/>
              <a:uFillTx/>
              <a:latin typeface="Arial"/>
            </a:endParaRPr>
          </a:p>
        </p:txBody>
      </p:sp>
      <p:sp>
        <p:nvSpPr>
          <p:cNvPr id="1037" name="Shape 74"/>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038" name="Text 75"/>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1039" name="Text 76"/>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1040" name="PlaceHolder 1"/>
          <p:cNvSpPr>
            <a:spLocks noGrp="1"/>
          </p:cNvSpPr>
          <p:nvPr>
            <p:ph type="sldNum" idx="31"/>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0C386123-E38B-47DC-888D-39518A21F345}"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41"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1042"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1043" name="Shape 2"/>
          <p:cNvSpPr/>
          <p:nvPr/>
        </p:nvSpPr>
        <p:spPr>
          <a:xfrm>
            <a:off x="621720" y="311040"/>
            <a:ext cx="475452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44" name="Text 3"/>
          <p:cNvSpPr/>
          <p:nvPr/>
        </p:nvSpPr>
        <p:spPr>
          <a:xfrm>
            <a:off x="804600" y="329040"/>
            <a:ext cx="442548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CAPABILITY POSITION: REPORTING AND COMPLIANCE</a:t>
            </a:r>
            <a:endParaRPr b="0" lang="en-US" sz="950" strike="noStrike" u="none">
              <a:solidFill>
                <a:srgbClr val="000000"/>
              </a:solidFill>
              <a:effectLst/>
              <a:uFillTx/>
              <a:latin typeface="Arial"/>
            </a:endParaRPr>
          </a:p>
        </p:txBody>
      </p:sp>
      <p:sp>
        <p:nvSpPr>
          <p:cNvPr id="1045" name="Text 4"/>
          <p:cNvSpPr/>
          <p:nvPr/>
        </p:nvSpPr>
        <p:spPr>
          <a:xfrm>
            <a:off x="621720" y="768240"/>
            <a:ext cx="10947600" cy="9140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2500" strike="noStrike" u="none">
                <a:solidFill>
                  <a:srgbClr val="1e2420"/>
                </a:solidFill>
                <a:effectLst/>
                <a:uFillTx/>
                <a:latin typeface="Calibri"/>
                <a:ea typeface="Calibri"/>
              </a:rPr>
              <a:t>Reporting and Compliance: parity is the target, speed of standing up is the risk</a:t>
            </a:r>
            <a:endParaRPr b="0" lang="en-US" sz="2500" strike="noStrike" u="none">
              <a:solidFill>
                <a:srgbClr val="000000"/>
              </a:solidFill>
              <a:effectLst/>
              <a:uFillTx/>
              <a:latin typeface="Arial"/>
            </a:endParaRPr>
          </a:p>
        </p:txBody>
      </p:sp>
      <p:sp>
        <p:nvSpPr>
          <p:cNvPr id="1046" name="Text 5"/>
          <p:cNvSpPr/>
          <p:nvPr/>
        </p:nvSpPr>
        <p:spPr>
          <a:xfrm>
            <a:off x="621720" y="173736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This is a crowded, regulation driven segment. Credibility comes from evidence and lineage, not feature count.</a:t>
            </a:r>
            <a:endParaRPr b="0" lang="en-US" sz="1250" strike="noStrike" u="none">
              <a:solidFill>
                <a:srgbClr val="000000"/>
              </a:solidFill>
              <a:effectLst/>
              <a:uFillTx/>
              <a:latin typeface="Arial"/>
            </a:endParaRPr>
          </a:p>
        </p:txBody>
      </p:sp>
      <p:sp>
        <p:nvSpPr>
          <p:cNvPr id="1047" name="Shape 6"/>
          <p:cNvSpPr/>
          <p:nvPr/>
        </p:nvSpPr>
        <p:spPr>
          <a:xfrm>
            <a:off x="621720" y="20847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048" name="Shape 7"/>
          <p:cNvSpPr/>
          <p:nvPr/>
        </p:nvSpPr>
        <p:spPr>
          <a:xfrm>
            <a:off x="621720" y="2249280"/>
            <a:ext cx="2011320" cy="36540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49" name="Text 8"/>
          <p:cNvSpPr/>
          <p:nvPr/>
        </p:nvSpPr>
        <p:spPr>
          <a:xfrm>
            <a:off x="713160" y="2249280"/>
            <a:ext cx="1828440" cy="3654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CAPABILITY</a:t>
            </a:r>
            <a:endParaRPr b="0" lang="en-US" sz="760" strike="noStrike" u="none">
              <a:solidFill>
                <a:srgbClr val="000000"/>
              </a:solidFill>
              <a:effectLst/>
              <a:uFillTx/>
              <a:latin typeface="Arial"/>
            </a:endParaRPr>
          </a:p>
        </p:txBody>
      </p:sp>
      <p:sp>
        <p:nvSpPr>
          <p:cNvPr id="1050" name="Shape 9"/>
          <p:cNvSpPr/>
          <p:nvPr/>
        </p:nvSpPr>
        <p:spPr>
          <a:xfrm>
            <a:off x="2633400" y="2249280"/>
            <a:ext cx="3794400" cy="36540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51" name="Text 10"/>
          <p:cNvSpPr/>
          <p:nvPr/>
        </p:nvSpPr>
        <p:spPr>
          <a:xfrm>
            <a:off x="2724840" y="2249280"/>
            <a:ext cx="3611520" cy="3654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WHAT RA+ DELIVERS</a:t>
            </a:r>
            <a:endParaRPr b="0" lang="en-US" sz="760" strike="noStrike" u="none">
              <a:solidFill>
                <a:srgbClr val="000000"/>
              </a:solidFill>
              <a:effectLst/>
              <a:uFillTx/>
              <a:latin typeface="Arial"/>
            </a:endParaRPr>
          </a:p>
        </p:txBody>
      </p:sp>
      <p:sp>
        <p:nvSpPr>
          <p:cNvPr id="1052" name="Shape 11"/>
          <p:cNvSpPr/>
          <p:nvPr/>
        </p:nvSpPr>
        <p:spPr>
          <a:xfrm>
            <a:off x="6428160" y="2249280"/>
            <a:ext cx="1371240" cy="36540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53" name="Text 12"/>
          <p:cNvSpPr/>
          <p:nvPr/>
        </p:nvSpPr>
        <p:spPr>
          <a:xfrm>
            <a:off x="6519600" y="2249280"/>
            <a:ext cx="1188360" cy="3654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EXPECTED POSITION</a:t>
            </a:r>
            <a:endParaRPr b="0" lang="en-US" sz="760" strike="noStrike" u="none">
              <a:solidFill>
                <a:srgbClr val="000000"/>
              </a:solidFill>
              <a:effectLst/>
              <a:uFillTx/>
              <a:latin typeface="Arial"/>
            </a:endParaRPr>
          </a:p>
        </p:txBody>
      </p:sp>
      <p:sp>
        <p:nvSpPr>
          <p:cNvPr id="1054" name="Shape 13"/>
          <p:cNvSpPr/>
          <p:nvPr/>
        </p:nvSpPr>
        <p:spPr>
          <a:xfrm>
            <a:off x="7799760" y="2249280"/>
            <a:ext cx="3767040" cy="36540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055" name="Text 14"/>
          <p:cNvSpPr/>
          <p:nvPr/>
        </p:nvSpPr>
        <p:spPr>
          <a:xfrm>
            <a:off x="7891200" y="2249280"/>
            <a:ext cx="3584160" cy="3654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MARKET BENCHMARK</a:t>
            </a:r>
            <a:endParaRPr b="0" lang="en-US" sz="760" strike="noStrike" u="none">
              <a:solidFill>
                <a:srgbClr val="000000"/>
              </a:solidFill>
              <a:effectLst/>
              <a:uFillTx/>
              <a:latin typeface="Arial"/>
            </a:endParaRPr>
          </a:p>
        </p:txBody>
      </p:sp>
      <p:sp>
        <p:nvSpPr>
          <p:cNvPr id="1056" name="Shape 15"/>
          <p:cNvSpPr/>
          <p:nvPr/>
        </p:nvSpPr>
        <p:spPr>
          <a:xfrm>
            <a:off x="621720" y="2615040"/>
            <a:ext cx="201132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57" name="Text 16"/>
          <p:cNvSpPr/>
          <p:nvPr/>
        </p:nvSpPr>
        <p:spPr>
          <a:xfrm>
            <a:off x="713160" y="2660760"/>
            <a:ext cx="182844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Framework library</a:t>
            </a:r>
            <a:endParaRPr b="0" lang="en-US" sz="900" strike="noStrike" u="none">
              <a:solidFill>
                <a:srgbClr val="000000"/>
              </a:solidFill>
              <a:effectLst/>
              <a:uFillTx/>
              <a:latin typeface="Arial"/>
            </a:endParaRPr>
          </a:p>
        </p:txBody>
      </p:sp>
      <p:sp>
        <p:nvSpPr>
          <p:cNvPr id="1058" name="Shape 17"/>
          <p:cNvSpPr/>
          <p:nvPr/>
        </p:nvSpPr>
        <p:spPr>
          <a:xfrm>
            <a:off x="2633400" y="2615040"/>
            <a:ext cx="379440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59" name="Text 18"/>
          <p:cNvSpPr/>
          <p:nvPr/>
        </p:nvSpPr>
        <p:spPr>
          <a:xfrm>
            <a:off x="2724840" y="2660760"/>
            <a:ext cx="361152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CSRD foundations built in 2026, wider frameworks after.</a:t>
            </a:r>
            <a:endParaRPr b="0" lang="en-US" sz="800" strike="noStrike" u="none">
              <a:solidFill>
                <a:srgbClr val="000000"/>
              </a:solidFill>
              <a:effectLst/>
              <a:uFillTx/>
              <a:latin typeface="Arial"/>
            </a:endParaRPr>
          </a:p>
        </p:txBody>
      </p:sp>
      <p:sp>
        <p:nvSpPr>
          <p:cNvPr id="1060" name="Shape 19"/>
          <p:cNvSpPr/>
          <p:nvPr/>
        </p:nvSpPr>
        <p:spPr>
          <a:xfrm>
            <a:off x="6428160" y="2615040"/>
            <a:ext cx="137124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61" name="Shape 20"/>
          <p:cNvSpPr/>
          <p:nvPr/>
        </p:nvSpPr>
        <p:spPr>
          <a:xfrm>
            <a:off x="6501240" y="2716560"/>
            <a:ext cx="1225080" cy="237240"/>
          </a:xfrm>
          <a:prstGeom prst="roundRect">
            <a:avLst>
              <a:gd name="adj" fmla="val 46154"/>
            </a:avLst>
          </a:prstGeom>
          <a:solidFill>
            <a:srgbClr val="fff4e3"/>
          </a:solidFill>
          <a:ln w="635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62" name="Text 21"/>
          <p:cNvSpPr/>
          <p:nvPr/>
        </p:nvSpPr>
        <p:spPr>
          <a:xfrm>
            <a:off x="6501240" y="271656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a65b00"/>
                </a:solidFill>
                <a:effectLst/>
                <a:uFillTx/>
                <a:latin typeface="Calibri"/>
                <a:ea typeface="Calibri"/>
              </a:rPr>
              <a:t>Closing gap</a:t>
            </a:r>
            <a:endParaRPr b="0" lang="en-US" sz="740" strike="noStrike" u="none">
              <a:solidFill>
                <a:srgbClr val="000000"/>
              </a:solidFill>
              <a:effectLst/>
              <a:uFillTx/>
              <a:latin typeface="Arial"/>
            </a:endParaRPr>
          </a:p>
        </p:txBody>
      </p:sp>
      <p:sp>
        <p:nvSpPr>
          <p:cNvPr id="1063" name="Shape 22"/>
          <p:cNvSpPr/>
          <p:nvPr/>
        </p:nvSpPr>
        <p:spPr>
          <a:xfrm>
            <a:off x="7799760" y="2615040"/>
            <a:ext cx="376704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64" name="Text 23"/>
          <p:cNvSpPr/>
          <p:nvPr/>
        </p:nvSpPr>
        <p:spPr>
          <a:xfrm>
            <a:off x="7891200" y="2660760"/>
            <a:ext cx="358416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Compliance specialists ship broad framework libraries out of the box.</a:t>
            </a:r>
            <a:endParaRPr b="0" lang="en-US" sz="800" strike="noStrike" u="none">
              <a:solidFill>
                <a:srgbClr val="000000"/>
              </a:solidFill>
              <a:effectLst/>
              <a:uFillTx/>
              <a:latin typeface="Arial"/>
            </a:endParaRPr>
          </a:p>
        </p:txBody>
      </p:sp>
      <p:sp>
        <p:nvSpPr>
          <p:cNvPr id="1065" name="Shape 24"/>
          <p:cNvSpPr/>
          <p:nvPr/>
        </p:nvSpPr>
        <p:spPr>
          <a:xfrm>
            <a:off x="621720" y="3055680"/>
            <a:ext cx="201132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66" name="Text 25"/>
          <p:cNvSpPr/>
          <p:nvPr/>
        </p:nvSpPr>
        <p:spPr>
          <a:xfrm>
            <a:off x="713160" y="3101400"/>
            <a:ext cx="182844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Indicator management</a:t>
            </a:r>
            <a:endParaRPr b="0" lang="en-US" sz="900" strike="noStrike" u="none">
              <a:solidFill>
                <a:srgbClr val="000000"/>
              </a:solidFill>
              <a:effectLst/>
              <a:uFillTx/>
              <a:latin typeface="Arial"/>
            </a:endParaRPr>
          </a:p>
        </p:txBody>
      </p:sp>
      <p:sp>
        <p:nvSpPr>
          <p:cNvPr id="1067" name="Shape 26"/>
          <p:cNvSpPr/>
          <p:nvPr/>
        </p:nvSpPr>
        <p:spPr>
          <a:xfrm>
            <a:off x="2633400" y="3055680"/>
            <a:ext cx="379440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68" name="Text 27"/>
          <p:cNvSpPr/>
          <p:nvPr/>
        </p:nvSpPr>
        <p:spPr>
          <a:xfrm>
            <a:off x="2724840" y="3101400"/>
            <a:ext cx="361152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Indicator library foundation, approval hierarchies and bulk assignment in Q4 2026.</a:t>
            </a:r>
            <a:endParaRPr b="0" lang="en-US" sz="800" strike="noStrike" u="none">
              <a:solidFill>
                <a:srgbClr val="000000"/>
              </a:solidFill>
              <a:effectLst/>
              <a:uFillTx/>
              <a:latin typeface="Arial"/>
            </a:endParaRPr>
          </a:p>
        </p:txBody>
      </p:sp>
      <p:sp>
        <p:nvSpPr>
          <p:cNvPr id="1069" name="Shape 28"/>
          <p:cNvSpPr/>
          <p:nvPr/>
        </p:nvSpPr>
        <p:spPr>
          <a:xfrm>
            <a:off x="6428160" y="3055680"/>
            <a:ext cx="137124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70" name="Shape 29"/>
          <p:cNvSpPr/>
          <p:nvPr/>
        </p:nvSpPr>
        <p:spPr>
          <a:xfrm>
            <a:off x="6501240" y="3156840"/>
            <a:ext cx="1225080" cy="237240"/>
          </a:xfrm>
          <a:prstGeom prst="roundRect">
            <a:avLst>
              <a:gd name="adj" fmla="val 46154"/>
            </a:avLst>
          </a:prstGeom>
          <a:solidFill>
            <a:srgbClr val="f1f3f2"/>
          </a:solidFill>
          <a:ln w="635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71" name="Text 30"/>
          <p:cNvSpPr/>
          <p:nvPr/>
        </p:nvSpPr>
        <p:spPr>
          <a:xfrm>
            <a:off x="6501240" y="315684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5a625c"/>
                </a:solidFill>
                <a:effectLst/>
                <a:uFillTx/>
                <a:latin typeface="Calibri"/>
                <a:ea typeface="Calibri"/>
              </a:rPr>
              <a:t>On parity</a:t>
            </a:r>
            <a:endParaRPr b="0" lang="en-US" sz="740" strike="noStrike" u="none">
              <a:solidFill>
                <a:srgbClr val="000000"/>
              </a:solidFill>
              <a:effectLst/>
              <a:uFillTx/>
              <a:latin typeface="Arial"/>
            </a:endParaRPr>
          </a:p>
        </p:txBody>
      </p:sp>
      <p:sp>
        <p:nvSpPr>
          <p:cNvPr id="1072" name="Shape 31"/>
          <p:cNvSpPr/>
          <p:nvPr/>
        </p:nvSpPr>
        <p:spPr>
          <a:xfrm>
            <a:off x="7799760" y="3055680"/>
            <a:ext cx="376704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73" name="Text 32"/>
          <p:cNvSpPr/>
          <p:nvPr/>
        </p:nvSpPr>
        <p:spPr>
          <a:xfrm>
            <a:off x="7891200" y="3101400"/>
            <a:ext cx="358416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Expected capability in every enterprise disclosure tool.</a:t>
            </a:r>
            <a:endParaRPr b="0" lang="en-US" sz="800" strike="noStrike" u="none">
              <a:solidFill>
                <a:srgbClr val="000000"/>
              </a:solidFill>
              <a:effectLst/>
              <a:uFillTx/>
              <a:latin typeface="Arial"/>
            </a:endParaRPr>
          </a:p>
        </p:txBody>
      </p:sp>
      <p:sp>
        <p:nvSpPr>
          <p:cNvPr id="1074" name="Shape 33"/>
          <p:cNvSpPr/>
          <p:nvPr/>
        </p:nvSpPr>
        <p:spPr>
          <a:xfrm>
            <a:off x="621720" y="3495960"/>
            <a:ext cx="201132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75" name="Text 34"/>
          <p:cNvSpPr/>
          <p:nvPr/>
        </p:nvSpPr>
        <p:spPr>
          <a:xfrm>
            <a:off x="713160" y="3541680"/>
            <a:ext cx="182844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Data ingestion and transformation</a:t>
            </a:r>
            <a:endParaRPr b="0" lang="en-US" sz="900" strike="noStrike" u="none">
              <a:solidFill>
                <a:srgbClr val="000000"/>
              </a:solidFill>
              <a:effectLst/>
              <a:uFillTx/>
              <a:latin typeface="Arial"/>
            </a:endParaRPr>
          </a:p>
        </p:txBody>
      </p:sp>
      <p:sp>
        <p:nvSpPr>
          <p:cNvPr id="1076" name="Shape 35"/>
          <p:cNvSpPr/>
          <p:nvPr/>
        </p:nvSpPr>
        <p:spPr>
          <a:xfrm>
            <a:off x="2633400" y="3495960"/>
            <a:ext cx="379440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77" name="Text 36"/>
          <p:cNvSpPr/>
          <p:nvPr/>
        </p:nvSpPr>
        <p:spPr>
          <a:xfrm>
            <a:off x="2724840" y="3541680"/>
            <a:ext cx="361152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Advanced ingestion and transformation rules on the shared core.</a:t>
            </a:r>
            <a:endParaRPr b="0" lang="en-US" sz="800" strike="noStrike" u="none">
              <a:solidFill>
                <a:srgbClr val="000000"/>
              </a:solidFill>
              <a:effectLst/>
              <a:uFillTx/>
              <a:latin typeface="Arial"/>
            </a:endParaRPr>
          </a:p>
        </p:txBody>
      </p:sp>
      <p:sp>
        <p:nvSpPr>
          <p:cNvPr id="1078" name="Shape 37"/>
          <p:cNvSpPr/>
          <p:nvPr/>
        </p:nvSpPr>
        <p:spPr>
          <a:xfrm>
            <a:off x="6428160" y="3495960"/>
            <a:ext cx="137124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79" name="Shape 38"/>
          <p:cNvSpPr/>
          <p:nvPr/>
        </p:nvSpPr>
        <p:spPr>
          <a:xfrm>
            <a:off x="6501240" y="3597480"/>
            <a:ext cx="1225080" cy="237240"/>
          </a:xfrm>
          <a:prstGeom prst="roundRect">
            <a:avLst>
              <a:gd name="adj" fmla="val 46154"/>
            </a:avLst>
          </a:prstGeom>
          <a:solidFill>
            <a:srgbClr val="f1f3f2"/>
          </a:solidFill>
          <a:ln w="635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80" name="Text 39"/>
          <p:cNvSpPr/>
          <p:nvPr/>
        </p:nvSpPr>
        <p:spPr>
          <a:xfrm>
            <a:off x="6501240" y="359748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5a625c"/>
                </a:solidFill>
                <a:effectLst/>
                <a:uFillTx/>
                <a:latin typeface="Calibri"/>
                <a:ea typeface="Calibri"/>
              </a:rPr>
              <a:t>On parity</a:t>
            </a:r>
            <a:endParaRPr b="0" lang="en-US" sz="740" strike="noStrike" u="none">
              <a:solidFill>
                <a:srgbClr val="000000"/>
              </a:solidFill>
              <a:effectLst/>
              <a:uFillTx/>
              <a:latin typeface="Arial"/>
            </a:endParaRPr>
          </a:p>
        </p:txBody>
      </p:sp>
      <p:sp>
        <p:nvSpPr>
          <p:cNvPr id="1081" name="Shape 40"/>
          <p:cNvSpPr/>
          <p:nvPr/>
        </p:nvSpPr>
        <p:spPr>
          <a:xfrm>
            <a:off x="7799760" y="3495960"/>
            <a:ext cx="376704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82" name="Text 41"/>
          <p:cNvSpPr/>
          <p:nvPr/>
        </p:nvSpPr>
        <p:spPr>
          <a:xfrm>
            <a:off x="7891200" y="3541680"/>
            <a:ext cx="358416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Comparable to the benchmarked field.</a:t>
            </a:r>
            <a:endParaRPr b="0" lang="en-US" sz="800" strike="noStrike" u="none">
              <a:solidFill>
                <a:srgbClr val="000000"/>
              </a:solidFill>
              <a:effectLst/>
              <a:uFillTx/>
              <a:latin typeface="Arial"/>
            </a:endParaRPr>
          </a:p>
        </p:txBody>
      </p:sp>
      <p:sp>
        <p:nvSpPr>
          <p:cNvPr id="1083" name="Shape 42"/>
          <p:cNvSpPr/>
          <p:nvPr/>
        </p:nvSpPr>
        <p:spPr>
          <a:xfrm>
            <a:off x="621720" y="3936600"/>
            <a:ext cx="201132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84" name="Text 43"/>
          <p:cNvSpPr/>
          <p:nvPr/>
        </p:nvSpPr>
        <p:spPr>
          <a:xfrm>
            <a:off x="713160" y="3982320"/>
            <a:ext cx="182844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Lineage and audit evidence</a:t>
            </a:r>
            <a:endParaRPr b="0" lang="en-US" sz="900" strike="noStrike" u="none">
              <a:solidFill>
                <a:srgbClr val="000000"/>
              </a:solidFill>
              <a:effectLst/>
              <a:uFillTx/>
              <a:latin typeface="Arial"/>
            </a:endParaRPr>
          </a:p>
        </p:txBody>
      </p:sp>
      <p:sp>
        <p:nvSpPr>
          <p:cNvPr id="1085" name="Shape 44"/>
          <p:cNvSpPr/>
          <p:nvPr/>
        </p:nvSpPr>
        <p:spPr>
          <a:xfrm>
            <a:off x="2633400" y="3936600"/>
            <a:ext cx="379440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86" name="Text 45"/>
          <p:cNvSpPr/>
          <p:nvPr/>
        </p:nvSpPr>
        <p:spPr>
          <a:xfrm>
            <a:off x="2724840" y="3982320"/>
            <a:ext cx="361152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Evidence and audit trail inherited from the platform, not rebuilt per report.</a:t>
            </a:r>
            <a:endParaRPr b="0" lang="en-US" sz="800" strike="noStrike" u="none">
              <a:solidFill>
                <a:srgbClr val="000000"/>
              </a:solidFill>
              <a:effectLst/>
              <a:uFillTx/>
              <a:latin typeface="Arial"/>
            </a:endParaRPr>
          </a:p>
        </p:txBody>
      </p:sp>
      <p:sp>
        <p:nvSpPr>
          <p:cNvPr id="1087" name="Shape 46"/>
          <p:cNvSpPr/>
          <p:nvPr/>
        </p:nvSpPr>
        <p:spPr>
          <a:xfrm>
            <a:off x="6428160" y="3936600"/>
            <a:ext cx="137124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88" name="Shape 47"/>
          <p:cNvSpPr/>
          <p:nvPr/>
        </p:nvSpPr>
        <p:spPr>
          <a:xfrm>
            <a:off x="6501240" y="4037760"/>
            <a:ext cx="1225080" cy="237240"/>
          </a:xfrm>
          <a:prstGeom prst="roundRect">
            <a:avLst>
              <a:gd name="adj" fmla="val 46154"/>
            </a:avLst>
          </a:prstGeom>
          <a:solidFill>
            <a:srgbClr val="eaf8ed"/>
          </a:solidFill>
          <a:ln w="635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89" name="Text 48"/>
          <p:cNvSpPr/>
          <p:nvPr/>
        </p:nvSpPr>
        <p:spPr>
          <a:xfrm>
            <a:off x="6501240" y="403776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007a27"/>
                </a:solidFill>
                <a:effectLst/>
                <a:uFillTx/>
                <a:latin typeface="Calibri"/>
                <a:ea typeface="Calibri"/>
              </a:rPr>
              <a:t>Market leading</a:t>
            </a:r>
            <a:endParaRPr b="0" lang="en-US" sz="740" strike="noStrike" u="none">
              <a:solidFill>
                <a:srgbClr val="000000"/>
              </a:solidFill>
              <a:effectLst/>
              <a:uFillTx/>
              <a:latin typeface="Arial"/>
            </a:endParaRPr>
          </a:p>
        </p:txBody>
      </p:sp>
      <p:sp>
        <p:nvSpPr>
          <p:cNvPr id="1090" name="Shape 49"/>
          <p:cNvSpPr/>
          <p:nvPr/>
        </p:nvSpPr>
        <p:spPr>
          <a:xfrm>
            <a:off x="7799760" y="3936600"/>
            <a:ext cx="376704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91" name="Text 50"/>
          <p:cNvSpPr/>
          <p:nvPr/>
        </p:nvSpPr>
        <p:spPr>
          <a:xfrm>
            <a:off x="7891200" y="3982320"/>
            <a:ext cx="358416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Verdantix buyers name lineage and auditability as the top selection driver.</a:t>
            </a:r>
            <a:endParaRPr b="0" lang="en-US" sz="800" strike="noStrike" u="none">
              <a:solidFill>
                <a:srgbClr val="000000"/>
              </a:solidFill>
              <a:effectLst/>
              <a:uFillTx/>
              <a:latin typeface="Arial"/>
            </a:endParaRPr>
          </a:p>
        </p:txBody>
      </p:sp>
      <p:sp>
        <p:nvSpPr>
          <p:cNvPr id="1092" name="Shape 51"/>
          <p:cNvSpPr/>
          <p:nvPr/>
        </p:nvSpPr>
        <p:spPr>
          <a:xfrm>
            <a:off x="621720" y="4376880"/>
            <a:ext cx="201132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93" name="Text 52"/>
          <p:cNvSpPr/>
          <p:nvPr/>
        </p:nvSpPr>
        <p:spPr>
          <a:xfrm>
            <a:off x="713160" y="4422600"/>
            <a:ext cx="182844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Cross product data reuse</a:t>
            </a:r>
            <a:endParaRPr b="0" lang="en-US" sz="900" strike="noStrike" u="none">
              <a:solidFill>
                <a:srgbClr val="000000"/>
              </a:solidFill>
              <a:effectLst/>
              <a:uFillTx/>
              <a:latin typeface="Arial"/>
            </a:endParaRPr>
          </a:p>
        </p:txBody>
      </p:sp>
      <p:sp>
        <p:nvSpPr>
          <p:cNvPr id="1094" name="Shape 53"/>
          <p:cNvSpPr/>
          <p:nvPr/>
        </p:nvSpPr>
        <p:spPr>
          <a:xfrm>
            <a:off x="2633400" y="4376880"/>
            <a:ext cx="379440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95" name="Text 54"/>
          <p:cNvSpPr/>
          <p:nvPr/>
        </p:nvSpPr>
        <p:spPr>
          <a:xfrm>
            <a:off x="2724840" y="4422600"/>
            <a:ext cx="361152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Receives data from every other product to facilitate disclosure.</a:t>
            </a:r>
            <a:endParaRPr b="0" lang="en-US" sz="800" strike="noStrike" u="none">
              <a:solidFill>
                <a:srgbClr val="000000"/>
              </a:solidFill>
              <a:effectLst/>
              <a:uFillTx/>
              <a:latin typeface="Arial"/>
            </a:endParaRPr>
          </a:p>
        </p:txBody>
      </p:sp>
      <p:sp>
        <p:nvSpPr>
          <p:cNvPr id="1096" name="Shape 55"/>
          <p:cNvSpPr/>
          <p:nvPr/>
        </p:nvSpPr>
        <p:spPr>
          <a:xfrm>
            <a:off x="6428160" y="4376880"/>
            <a:ext cx="137124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97" name="Shape 56"/>
          <p:cNvSpPr/>
          <p:nvPr/>
        </p:nvSpPr>
        <p:spPr>
          <a:xfrm>
            <a:off x="6501240" y="4478400"/>
            <a:ext cx="1225080" cy="237240"/>
          </a:xfrm>
          <a:prstGeom prst="roundRect">
            <a:avLst>
              <a:gd name="adj" fmla="val 46154"/>
            </a:avLst>
          </a:prstGeom>
          <a:solidFill>
            <a:srgbClr val="eaf8ed"/>
          </a:solidFill>
          <a:ln w="635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098" name="Text 57"/>
          <p:cNvSpPr/>
          <p:nvPr/>
        </p:nvSpPr>
        <p:spPr>
          <a:xfrm>
            <a:off x="6501240" y="447840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007a27"/>
                </a:solidFill>
                <a:effectLst/>
                <a:uFillTx/>
                <a:latin typeface="Calibri"/>
                <a:ea typeface="Calibri"/>
              </a:rPr>
              <a:t>Market leading</a:t>
            </a:r>
            <a:endParaRPr b="0" lang="en-US" sz="740" strike="noStrike" u="none">
              <a:solidFill>
                <a:srgbClr val="000000"/>
              </a:solidFill>
              <a:effectLst/>
              <a:uFillTx/>
              <a:latin typeface="Arial"/>
            </a:endParaRPr>
          </a:p>
        </p:txBody>
      </p:sp>
      <p:sp>
        <p:nvSpPr>
          <p:cNvPr id="1099" name="Shape 58"/>
          <p:cNvSpPr/>
          <p:nvPr/>
        </p:nvSpPr>
        <p:spPr>
          <a:xfrm>
            <a:off x="7799760" y="4376880"/>
            <a:ext cx="376704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00" name="Text 59"/>
          <p:cNvSpPr/>
          <p:nvPr/>
        </p:nvSpPr>
        <p:spPr>
          <a:xfrm>
            <a:off x="7891200" y="4422600"/>
            <a:ext cx="358416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Point solutions must import from third party tools.</a:t>
            </a:r>
            <a:endParaRPr b="0" lang="en-US" sz="800" strike="noStrike" u="none">
              <a:solidFill>
                <a:srgbClr val="000000"/>
              </a:solidFill>
              <a:effectLst/>
              <a:uFillTx/>
              <a:latin typeface="Arial"/>
            </a:endParaRPr>
          </a:p>
        </p:txBody>
      </p:sp>
      <p:sp>
        <p:nvSpPr>
          <p:cNvPr id="1101" name="Shape 60"/>
          <p:cNvSpPr/>
          <p:nvPr/>
        </p:nvSpPr>
        <p:spPr>
          <a:xfrm>
            <a:off x="621720" y="4817520"/>
            <a:ext cx="201132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02" name="Text 61"/>
          <p:cNvSpPr/>
          <p:nvPr/>
        </p:nvSpPr>
        <p:spPr>
          <a:xfrm>
            <a:off x="713160" y="4863240"/>
            <a:ext cx="182844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AI assisted disclosure drafting</a:t>
            </a:r>
            <a:endParaRPr b="0" lang="en-US" sz="900" strike="noStrike" u="none">
              <a:solidFill>
                <a:srgbClr val="000000"/>
              </a:solidFill>
              <a:effectLst/>
              <a:uFillTx/>
              <a:latin typeface="Arial"/>
            </a:endParaRPr>
          </a:p>
        </p:txBody>
      </p:sp>
      <p:sp>
        <p:nvSpPr>
          <p:cNvPr id="1103" name="Shape 62"/>
          <p:cNvSpPr/>
          <p:nvPr/>
        </p:nvSpPr>
        <p:spPr>
          <a:xfrm>
            <a:off x="2633400" y="4817520"/>
            <a:ext cx="379440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04" name="Text 63"/>
          <p:cNvSpPr/>
          <p:nvPr/>
        </p:nvSpPr>
        <p:spPr>
          <a:xfrm>
            <a:off x="2724840" y="4863240"/>
            <a:ext cx="361152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Directional for 2027.</a:t>
            </a:r>
            <a:endParaRPr b="0" lang="en-US" sz="800" strike="noStrike" u="none">
              <a:solidFill>
                <a:srgbClr val="000000"/>
              </a:solidFill>
              <a:effectLst/>
              <a:uFillTx/>
              <a:latin typeface="Arial"/>
            </a:endParaRPr>
          </a:p>
        </p:txBody>
      </p:sp>
      <p:sp>
        <p:nvSpPr>
          <p:cNvPr id="1105" name="Shape 64"/>
          <p:cNvSpPr/>
          <p:nvPr/>
        </p:nvSpPr>
        <p:spPr>
          <a:xfrm>
            <a:off x="6428160" y="4817520"/>
            <a:ext cx="137124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06" name="Shape 65"/>
          <p:cNvSpPr/>
          <p:nvPr/>
        </p:nvSpPr>
        <p:spPr>
          <a:xfrm>
            <a:off x="6501240" y="4918680"/>
            <a:ext cx="1225080" cy="237240"/>
          </a:xfrm>
          <a:prstGeom prst="roundRect">
            <a:avLst>
              <a:gd name="adj" fmla="val 46154"/>
            </a:avLst>
          </a:prstGeom>
          <a:solidFill>
            <a:srgbClr val="fff4e3"/>
          </a:solidFill>
          <a:ln w="635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07" name="Text 66"/>
          <p:cNvSpPr/>
          <p:nvPr/>
        </p:nvSpPr>
        <p:spPr>
          <a:xfrm>
            <a:off x="6501240" y="491868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a65b00"/>
                </a:solidFill>
                <a:effectLst/>
                <a:uFillTx/>
                <a:latin typeface="Calibri"/>
                <a:ea typeface="Calibri"/>
              </a:rPr>
              <a:t>Behind</a:t>
            </a:r>
            <a:endParaRPr b="0" lang="en-US" sz="740" strike="noStrike" u="none">
              <a:solidFill>
                <a:srgbClr val="000000"/>
              </a:solidFill>
              <a:effectLst/>
              <a:uFillTx/>
              <a:latin typeface="Arial"/>
            </a:endParaRPr>
          </a:p>
        </p:txBody>
      </p:sp>
      <p:sp>
        <p:nvSpPr>
          <p:cNvPr id="1108" name="Shape 67"/>
          <p:cNvSpPr/>
          <p:nvPr/>
        </p:nvSpPr>
        <p:spPr>
          <a:xfrm>
            <a:off x="7799760" y="4817520"/>
            <a:ext cx="376704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09" name="Text 68"/>
          <p:cNvSpPr/>
          <p:nvPr/>
        </p:nvSpPr>
        <p:spPr>
          <a:xfrm>
            <a:off x="7891200" y="4863240"/>
            <a:ext cx="358416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Already marketed by several rivals.</a:t>
            </a:r>
            <a:endParaRPr b="0" lang="en-US" sz="800" strike="noStrike" u="none">
              <a:solidFill>
                <a:srgbClr val="000000"/>
              </a:solidFill>
              <a:effectLst/>
              <a:uFillTx/>
              <a:latin typeface="Arial"/>
            </a:endParaRPr>
          </a:p>
        </p:txBody>
      </p:sp>
      <p:sp>
        <p:nvSpPr>
          <p:cNvPr id="1110" name="Shape 69"/>
          <p:cNvSpPr/>
          <p:nvPr/>
        </p:nvSpPr>
        <p:spPr>
          <a:xfrm>
            <a:off x="621720" y="5440680"/>
            <a:ext cx="10947600" cy="548280"/>
          </a:xfrm>
          <a:prstGeom prst="roundRect">
            <a:avLst>
              <a:gd name="adj" fmla="val 6667"/>
            </a:avLst>
          </a:prstGeom>
          <a:solidFill>
            <a:srgbClr val="005730"/>
          </a:solidFill>
          <a:ln w="12700">
            <a:solidFill>
              <a:srgbClr val="005730"/>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11" name="Shape 70"/>
          <p:cNvSpPr/>
          <p:nvPr/>
        </p:nvSpPr>
        <p:spPr>
          <a:xfrm>
            <a:off x="621720" y="5440680"/>
            <a:ext cx="1508400" cy="54828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12" name="Text 71"/>
          <p:cNvSpPr/>
          <p:nvPr/>
        </p:nvSpPr>
        <p:spPr>
          <a:xfrm>
            <a:off x="740520" y="5440680"/>
            <a:ext cx="1270800" cy="54828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800" spc="71" strike="noStrike" u="none">
                <a:solidFill>
                  <a:srgbClr val="005730"/>
                </a:solidFill>
                <a:effectLst/>
                <a:uFillTx/>
                <a:latin typeface="Calibri"/>
                <a:ea typeface="Calibri"/>
              </a:rPr>
              <a:t>BOARD IMPLICATION</a:t>
            </a:r>
            <a:endParaRPr b="0" lang="en-US" sz="800" strike="noStrike" u="none">
              <a:solidFill>
                <a:srgbClr val="000000"/>
              </a:solidFill>
              <a:effectLst/>
              <a:uFillTx/>
              <a:latin typeface="Arial"/>
            </a:endParaRPr>
          </a:p>
        </p:txBody>
      </p:sp>
      <p:sp>
        <p:nvSpPr>
          <p:cNvPr id="1113" name="Text 72"/>
          <p:cNvSpPr/>
          <p:nvPr/>
        </p:nvSpPr>
        <p:spPr>
          <a:xfrm>
            <a:off x="2322720" y="5495400"/>
            <a:ext cx="904572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50" strike="noStrike" u="none">
                <a:solidFill>
                  <a:srgbClr val="ffffff"/>
                </a:solidFill>
                <a:effectLst/>
                <a:uFillTx/>
                <a:latin typeface="Calibri"/>
                <a:ea typeface="Calibri"/>
              </a:rPr>
              <a:t>We should not fight a framework count race. We win by proving where every number came from and reusing data no rival holds.</a:t>
            </a:r>
            <a:endParaRPr b="0" lang="en-US" sz="950" strike="noStrike" u="none">
              <a:solidFill>
                <a:srgbClr val="000000"/>
              </a:solidFill>
              <a:effectLst/>
              <a:uFillTx/>
              <a:latin typeface="Arial"/>
            </a:endParaRPr>
          </a:p>
        </p:txBody>
      </p:sp>
      <p:sp>
        <p:nvSpPr>
          <p:cNvPr id="1114" name="Text 73"/>
          <p:cNvSpPr/>
          <p:nvPr/>
        </p:nvSpPr>
        <p:spPr>
          <a:xfrm>
            <a:off x="621720" y="6053400"/>
            <a:ext cx="10947600" cy="22824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720" strike="noStrike" u="none">
                <a:solidFill>
                  <a:srgbClr val="5a625c"/>
                </a:solidFill>
                <a:effectLst/>
                <a:uFillTx/>
                <a:latin typeface="Calibri"/>
                <a:ea typeface="Calibri"/>
              </a:rPr>
              <a:t>Source: RA+ 2026 and 2027 roadmap, competitor public product pages (Watershed, Sphera, Deepki).</a:t>
            </a:r>
            <a:endParaRPr b="0" lang="en-US" sz="720" strike="noStrike" u="none">
              <a:solidFill>
                <a:srgbClr val="000000"/>
              </a:solidFill>
              <a:effectLst/>
              <a:uFillTx/>
              <a:latin typeface="Arial"/>
            </a:endParaRPr>
          </a:p>
        </p:txBody>
      </p:sp>
      <p:sp>
        <p:nvSpPr>
          <p:cNvPr id="1115" name="Shape 74"/>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116" name="Text 75"/>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1117" name="Text 76"/>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1118" name="PlaceHolder 1"/>
          <p:cNvSpPr>
            <a:spLocks noGrp="1"/>
          </p:cNvSpPr>
          <p:nvPr>
            <p:ph type="sldNum" idx="32"/>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46FD2425-9C75-40A4-80C8-FE27FEABD40C}"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19"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1120"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1121" name="Shape 2"/>
          <p:cNvSpPr/>
          <p:nvPr/>
        </p:nvSpPr>
        <p:spPr>
          <a:xfrm>
            <a:off x="621720" y="311040"/>
            <a:ext cx="397260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22" name="Text 3"/>
          <p:cNvSpPr/>
          <p:nvPr/>
        </p:nvSpPr>
        <p:spPr>
          <a:xfrm>
            <a:off x="804600" y="329040"/>
            <a:ext cx="364356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CAPABILITY POSITION: CLIMATE RISK</a:t>
            </a:r>
            <a:endParaRPr b="0" lang="en-US" sz="950" strike="noStrike" u="none">
              <a:solidFill>
                <a:srgbClr val="000000"/>
              </a:solidFill>
              <a:effectLst/>
              <a:uFillTx/>
              <a:latin typeface="Arial"/>
            </a:endParaRPr>
          </a:p>
        </p:txBody>
      </p:sp>
      <p:sp>
        <p:nvSpPr>
          <p:cNvPr id="1123" name="Text 4"/>
          <p:cNvSpPr/>
          <p:nvPr/>
        </p:nvSpPr>
        <p:spPr>
          <a:xfrm>
            <a:off x="621720" y="768240"/>
            <a:ext cx="10947600" cy="9140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2500" strike="noStrike" u="none">
                <a:solidFill>
                  <a:srgbClr val="1e2420"/>
                </a:solidFill>
                <a:effectLst/>
                <a:uFillTx/>
                <a:latin typeface="Calibri"/>
                <a:ea typeface="Calibri"/>
              </a:rPr>
              <a:t>Climate Risk: physical risk depth is good, financial value at risk is the differentiator</a:t>
            </a:r>
            <a:endParaRPr b="0" lang="en-US" sz="2500" strike="noStrike" u="none">
              <a:solidFill>
                <a:srgbClr val="000000"/>
              </a:solidFill>
              <a:effectLst/>
              <a:uFillTx/>
              <a:latin typeface="Arial"/>
            </a:endParaRPr>
          </a:p>
        </p:txBody>
      </p:sp>
      <p:sp>
        <p:nvSpPr>
          <p:cNvPr id="1124" name="Text 5"/>
          <p:cNvSpPr/>
          <p:nvPr/>
        </p:nvSpPr>
        <p:spPr>
          <a:xfrm>
            <a:off x="621720" y="173736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The segment where connection to the rest of the platform decides whether the product pays off.</a:t>
            </a:r>
            <a:endParaRPr b="0" lang="en-US" sz="1250" strike="noStrike" u="none">
              <a:solidFill>
                <a:srgbClr val="000000"/>
              </a:solidFill>
              <a:effectLst/>
              <a:uFillTx/>
              <a:latin typeface="Arial"/>
            </a:endParaRPr>
          </a:p>
        </p:txBody>
      </p:sp>
      <p:sp>
        <p:nvSpPr>
          <p:cNvPr id="1125" name="Shape 6"/>
          <p:cNvSpPr/>
          <p:nvPr/>
        </p:nvSpPr>
        <p:spPr>
          <a:xfrm>
            <a:off x="621720" y="20847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126" name="Shape 7"/>
          <p:cNvSpPr/>
          <p:nvPr/>
        </p:nvSpPr>
        <p:spPr>
          <a:xfrm>
            <a:off x="621720" y="2249280"/>
            <a:ext cx="2011320" cy="36540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27" name="Text 8"/>
          <p:cNvSpPr/>
          <p:nvPr/>
        </p:nvSpPr>
        <p:spPr>
          <a:xfrm>
            <a:off x="713160" y="2249280"/>
            <a:ext cx="1828440" cy="3654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CAPABILITY</a:t>
            </a:r>
            <a:endParaRPr b="0" lang="en-US" sz="760" strike="noStrike" u="none">
              <a:solidFill>
                <a:srgbClr val="000000"/>
              </a:solidFill>
              <a:effectLst/>
              <a:uFillTx/>
              <a:latin typeface="Arial"/>
            </a:endParaRPr>
          </a:p>
        </p:txBody>
      </p:sp>
      <p:sp>
        <p:nvSpPr>
          <p:cNvPr id="1128" name="Shape 9"/>
          <p:cNvSpPr/>
          <p:nvPr/>
        </p:nvSpPr>
        <p:spPr>
          <a:xfrm>
            <a:off x="2633400" y="2249280"/>
            <a:ext cx="3794400" cy="36540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29" name="Text 10"/>
          <p:cNvSpPr/>
          <p:nvPr/>
        </p:nvSpPr>
        <p:spPr>
          <a:xfrm>
            <a:off x="2724840" y="2249280"/>
            <a:ext cx="3611520" cy="3654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WHAT RA+ DELIVERS</a:t>
            </a:r>
            <a:endParaRPr b="0" lang="en-US" sz="760" strike="noStrike" u="none">
              <a:solidFill>
                <a:srgbClr val="000000"/>
              </a:solidFill>
              <a:effectLst/>
              <a:uFillTx/>
              <a:latin typeface="Arial"/>
            </a:endParaRPr>
          </a:p>
        </p:txBody>
      </p:sp>
      <p:sp>
        <p:nvSpPr>
          <p:cNvPr id="1130" name="Shape 11"/>
          <p:cNvSpPr/>
          <p:nvPr/>
        </p:nvSpPr>
        <p:spPr>
          <a:xfrm>
            <a:off x="6428160" y="2249280"/>
            <a:ext cx="1371240" cy="36540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31" name="Text 12"/>
          <p:cNvSpPr/>
          <p:nvPr/>
        </p:nvSpPr>
        <p:spPr>
          <a:xfrm>
            <a:off x="6519600" y="2249280"/>
            <a:ext cx="1188360" cy="3654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EXPECTED POSITION</a:t>
            </a:r>
            <a:endParaRPr b="0" lang="en-US" sz="760" strike="noStrike" u="none">
              <a:solidFill>
                <a:srgbClr val="000000"/>
              </a:solidFill>
              <a:effectLst/>
              <a:uFillTx/>
              <a:latin typeface="Arial"/>
            </a:endParaRPr>
          </a:p>
        </p:txBody>
      </p:sp>
      <p:sp>
        <p:nvSpPr>
          <p:cNvPr id="1132" name="Shape 13"/>
          <p:cNvSpPr/>
          <p:nvPr/>
        </p:nvSpPr>
        <p:spPr>
          <a:xfrm>
            <a:off x="7799760" y="2249280"/>
            <a:ext cx="3767040" cy="36540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33" name="Text 14"/>
          <p:cNvSpPr/>
          <p:nvPr/>
        </p:nvSpPr>
        <p:spPr>
          <a:xfrm>
            <a:off x="7891200" y="2249280"/>
            <a:ext cx="3584160" cy="3654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MARKET BENCHMARK</a:t>
            </a:r>
            <a:endParaRPr b="0" lang="en-US" sz="760" strike="noStrike" u="none">
              <a:solidFill>
                <a:srgbClr val="000000"/>
              </a:solidFill>
              <a:effectLst/>
              <a:uFillTx/>
              <a:latin typeface="Arial"/>
            </a:endParaRPr>
          </a:p>
        </p:txBody>
      </p:sp>
      <p:sp>
        <p:nvSpPr>
          <p:cNvPr id="1134" name="Shape 15"/>
          <p:cNvSpPr/>
          <p:nvPr/>
        </p:nvSpPr>
        <p:spPr>
          <a:xfrm>
            <a:off x="621720" y="2615040"/>
            <a:ext cx="201132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35" name="Text 16"/>
          <p:cNvSpPr/>
          <p:nvPr/>
        </p:nvSpPr>
        <p:spPr>
          <a:xfrm>
            <a:off x="713160" y="2660760"/>
            <a:ext cx="182844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Asset and hazard coverage</a:t>
            </a:r>
            <a:endParaRPr b="0" lang="en-US" sz="900" strike="noStrike" u="none">
              <a:solidFill>
                <a:srgbClr val="000000"/>
              </a:solidFill>
              <a:effectLst/>
              <a:uFillTx/>
              <a:latin typeface="Arial"/>
            </a:endParaRPr>
          </a:p>
        </p:txBody>
      </p:sp>
      <p:sp>
        <p:nvSpPr>
          <p:cNvPr id="1136" name="Shape 17"/>
          <p:cNvSpPr/>
          <p:nvPr/>
        </p:nvSpPr>
        <p:spPr>
          <a:xfrm>
            <a:off x="2633400" y="2615040"/>
            <a:ext cx="379440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37" name="Text 18"/>
          <p:cNvSpPr/>
          <p:nvPr/>
        </p:nvSpPr>
        <p:spPr>
          <a:xfrm>
            <a:off x="2724840" y="2660760"/>
            <a:ext cx="361152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Eclr becoming a full self serve product with scalable performance.</a:t>
            </a:r>
            <a:endParaRPr b="0" lang="en-US" sz="800" strike="noStrike" u="none">
              <a:solidFill>
                <a:srgbClr val="000000"/>
              </a:solidFill>
              <a:effectLst/>
              <a:uFillTx/>
              <a:latin typeface="Arial"/>
            </a:endParaRPr>
          </a:p>
        </p:txBody>
      </p:sp>
      <p:sp>
        <p:nvSpPr>
          <p:cNvPr id="1138" name="Shape 19"/>
          <p:cNvSpPr/>
          <p:nvPr/>
        </p:nvSpPr>
        <p:spPr>
          <a:xfrm>
            <a:off x="6428160" y="2615040"/>
            <a:ext cx="137124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39" name="Shape 20"/>
          <p:cNvSpPr/>
          <p:nvPr/>
        </p:nvSpPr>
        <p:spPr>
          <a:xfrm>
            <a:off x="6501240" y="2716560"/>
            <a:ext cx="1225080" cy="237240"/>
          </a:xfrm>
          <a:prstGeom prst="roundRect">
            <a:avLst>
              <a:gd name="adj" fmla="val 46154"/>
            </a:avLst>
          </a:prstGeom>
          <a:solidFill>
            <a:srgbClr val="f1f3f2"/>
          </a:solidFill>
          <a:ln w="635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40" name="Text 21"/>
          <p:cNvSpPr/>
          <p:nvPr/>
        </p:nvSpPr>
        <p:spPr>
          <a:xfrm>
            <a:off x="6501240" y="271656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5a625c"/>
                </a:solidFill>
                <a:effectLst/>
                <a:uFillTx/>
                <a:latin typeface="Calibri"/>
                <a:ea typeface="Calibri"/>
              </a:rPr>
              <a:t>On parity</a:t>
            </a:r>
            <a:endParaRPr b="0" lang="en-US" sz="740" strike="noStrike" u="none">
              <a:solidFill>
                <a:srgbClr val="000000"/>
              </a:solidFill>
              <a:effectLst/>
              <a:uFillTx/>
              <a:latin typeface="Arial"/>
            </a:endParaRPr>
          </a:p>
        </p:txBody>
      </p:sp>
      <p:sp>
        <p:nvSpPr>
          <p:cNvPr id="1141" name="Shape 22"/>
          <p:cNvSpPr/>
          <p:nvPr/>
        </p:nvSpPr>
        <p:spPr>
          <a:xfrm>
            <a:off x="7799760" y="2615040"/>
            <a:ext cx="376704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42" name="Text 23"/>
          <p:cNvSpPr/>
          <p:nvPr/>
        </p:nvSpPr>
        <p:spPr>
          <a:xfrm>
            <a:off x="7891200" y="2660760"/>
            <a:ext cx="358416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Specialist providers and data partnerships cover hazards broadly.</a:t>
            </a:r>
            <a:endParaRPr b="0" lang="en-US" sz="800" strike="noStrike" u="none">
              <a:solidFill>
                <a:srgbClr val="000000"/>
              </a:solidFill>
              <a:effectLst/>
              <a:uFillTx/>
              <a:latin typeface="Arial"/>
            </a:endParaRPr>
          </a:p>
        </p:txBody>
      </p:sp>
      <p:sp>
        <p:nvSpPr>
          <p:cNvPr id="1143" name="Shape 24"/>
          <p:cNvSpPr/>
          <p:nvPr/>
        </p:nvSpPr>
        <p:spPr>
          <a:xfrm>
            <a:off x="621720" y="3055680"/>
            <a:ext cx="201132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44" name="Text 25"/>
          <p:cNvSpPr/>
          <p:nvPr/>
        </p:nvSpPr>
        <p:spPr>
          <a:xfrm>
            <a:off x="713160" y="3101400"/>
            <a:ext cx="182844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Value at risk in financial terms</a:t>
            </a:r>
            <a:endParaRPr b="0" lang="en-US" sz="900" strike="noStrike" u="none">
              <a:solidFill>
                <a:srgbClr val="000000"/>
              </a:solidFill>
              <a:effectLst/>
              <a:uFillTx/>
              <a:latin typeface="Arial"/>
            </a:endParaRPr>
          </a:p>
        </p:txBody>
      </p:sp>
      <p:sp>
        <p:nvSpPr>
          <p:cNvPr id="1145" name="Shape 26"/>
          <p:cNvSpPr/>
          <p:nvPr/>
        </p:nvSpPr>
        <p:spPr>
          <a:xfrm>
            <a:off x="2633400" y="3055680"/>
            <a:ext cx="379440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46" name="Text 27"/>
          <p:cNvSpPr/>
          <p:nvPr/>
        </p:nvSpPr>
        <p:spPr>
          <a:xfrm>
            <a:off x="2724840" y="3101400"/>
            <a:ext cx="361152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ClimVar, value at risk expressed in financial terms, in 2027 H1.</a:t>
            </a:r>
            <a:endParaRPr b="0" lang="en-US" sz="800" strike="noStrike" u="none">
              <a:solidFill>
                <a:srgbClr val="000000"/>
              </a:solidFill>
              <a:effectLst/>
              <a:uFillTx/>
              <a:latin typeface="Arial"/>
            </a:endParaRPr>
          </a:p>
        </p:txBody>
      </p:sp>
      <p:sp>
        <p:nvSpPr>
          <p:cNvPr id="1147" name="Shape 28"/>
          <p:cNvSpPr/>
          <p:nvPr/>
        </p:nvSpPr>
        <p:spPr>
          <a:xfrm>
            <a:off x="6428160" y="3055680"/>
            <a:ext cx="137124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48" name="Shape 29"/>
          <p:cNvSpPr/>
          <p:nvPr/>
        </p:nvSpPr>
        <p:spPr>
          <a:xfrm>
            <a:off x="6501240" y="3156840"/>
            <a:ext cx="1225080" cy="237240"/>
          </a:xfrm>
          <a:prstGeom prst="roundRect">
            <a:avLst>
              <a:gd name="adj" fmla="val 46154"/>
            </a:avLst>
          </a:prstGeom>
          <a:solidFill>
            <a:srgbClr val="eaf8ed"/>
          </a:solidFill>
          <a:ln w="635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49" name="Text 30"/>
          <p:cNvSpPr/>
          <p:nvPr/>
        </p:nvSpPr>
        <p:spPr>
          <a:xfrm>
            <a:off x="6501240" y="315684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007a27"/>
                </a:solidFill>
                <a:effectLst/>
                <a:uFillTx/>
                <a:latin typeface="Calibri"/>
                <a:ea typeface="Calibri"/>
              </a:rPr>
              <a:t>Market leading</a:t>
            </a:r>
            <a:endParaRPr b="0" lang="en-US" sz="740" strike="noStrike" u="none">
              <a:solidFill>
                <a:srgbClr val="000000"/>
              </a:solidFill>
              <a:effectLst/>
              <a:uFillTx/>
              <a:latin typeface="Arial"/>
            </a:endParaRPr>
          </a:p>
        </p:txBody>
      </p:sp>
      <p:sp>
        <p:nvSpPr>
          <p:cNvPr id="1150" name="Shape 31"/>
          <p:cNvSpPr/>
          <p:nvPr/>
        </p:nvSpPr>
        <p:spPr>
          <a:xfrm>
            <a:off x="7799760" y="3055680"/>
            <a:ext cx="376704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51" name="Text 32"/>
          <p:cNvSpPr/>
          <p:nvPr/>
        </p:nvSpPr>
        <p:spPr>
          <a:xfrm>
            <a:off x="7891200" y="3101400"/>
            <a:ext cx="358416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Most rivals stop at hazard scores rather than a priced exposure.</a:t>
            </a:r>
            <a:endParaRPr b="0" lang="en-US" sz="800" strike="noStrike" u="none">
              <a:solidFill>
                <a:srgbClr val="000000"/>
              </a:solidFill>
              <a:effectLst/>
              <a:uFillTx/>
              <a:latin typeface="Arial"/>
            </a:endParaRPr>
          </a:p>
        </p:txBody>
      </p:sp>
      <p:sp>
        <p:nvSpPr>
          <p:cNvPr id="1152" name="Shape 33"/>
          <p:cNvSpPr/>
          <p:nvPr/>
        </p:nvSpPr>
        <p:spPr>
          <a:xfrm>
            <a:off x="621720" y="3495960"/>
            <a:ext cx="201132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53" name="Text 34"/>
          <p:cNvSpPr/>
          <p:nvPr/>
        </p:nvSpPr>
        <p:spPr>
          <a:xfrm>
            <a:off x="713160" y="3541680"/>
            <a:ext cx="182844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Scenario analysis</a:t>
            </a:r>
            <a:endParaRPr b="0" lang="en-US" sz="900" strike="noStrike" u="none">
              <a:solidFill>
                <a:srgbClr val="000000"/>
              </a:solidFill>
              <a:effectLst/>
              <a:uFillTx/>
              <a:latin typeface="Arial"/>
            </a:endParaRPr>
          </a:p>
        </p:txBody>
      </p:sp>
      <p:sp>
        <p:nvSpPr>
          <p:cNvPr id="1154" name="Shape 35"/>
          <p:cNvSpPr/>
          <p:nvPr/>
        </p:nvSpPr>
        <p:spPr>
          <a:xfrm>
            <a:off x="2633400" y="3495960"/>
            <a:ext cx="379440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55" name="Text 36"/>
          <p:cNvSpPr/>
          <p:nvPr/>
        </p:nvSpPr>
        <p:spPr>
          <a:xfrm>
            <a:off x="2724840" y="3541680"/>
            <a:ext cx="361152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Scenario analysis and adaptation actions on the shared action model.</a:t>
            </a:r>
            <a:endParaRPr b="0" lang="en-US" sz="800" strike="noStrike" u="none">
              <a:solidFill>
                <a:srgbClr val="000000"/>
              </a:solidFill>
              <a:effectLst/>
              <a:uFillTx/>
              <a:latin typeface="Arial"/>
            </a:endParaRPr>
          </a:p>
        </p:txBody>
      </p:sp>
      <p:sp>
        <p:nvSpPr>
          <p:cNvPr id="1156" name="Shape 37"/>
          <p:cNvSpPr/>
          <p:nvPr/>
        </p:nvSpPr>
        <p:spPr>
          <a:xfrm>
            <a:off x="6428160" y="3495960"/>
            <a:ext cx="137124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57" name="Shape 38"/>
          <p:cNvSpPr/>
          <p:nvPr/>
        </p:nvSpPr>
        <p:spPr>
          <a:xfrm>
            <a:off x="6501240" y="3597480"/>
            <a:ext cx="1225080" cy="237240"/>
          </a:xfrm>
          <a:prstGeom prst="roundRect">
            <a:avLst>
              <a:gd name="adj" fmla="val 46154"/>
            </a:avLst>
          </a:prstGeom>
          <a:solidFill>
            <a:srgbClr val="f1f3f2"/>
          </a:solidFill>
          <a:ln w="635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58" name="Text 39"/>
          <p:cNvSpPr/>
          <p:nvPr/>
        </p:nvSpPr>
        <p:spPr>
          <a:xfrm>
            <a:off x="6501240" y="359748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5a625c"/>
                </a:solidFill>
                <a:effectLst/>
                <a:uFillTx/>
                <a:latin typeface="Calibri"/>
                <a:ea typeface="Calibri"/>
              </a:rPr>
              <a:t>On parity</a:t>
            </a:r>
            <a:endParaRPr b="0" lang="en-US" sz="740" strike="noStrike" u="none">
              <a:solidFill>
                <a:srgbClr val="000000"/>
              </a:solidFill>
              <a:effectLst/>
              <a:uFillTx/>
              <a:latin typeface="Arial"/>
            </a:endParaRPr>
          </a:p>
        </p:txBody>
      </p:sp>
      <p:sp>
        <p:nvSpPr>
          <p:cNvPr id="1159" name="Shape 40"/>
          <p:cNvSpPr/>
          <p:nvPr/>
        </p:nvSpPr>
        <p:spPr>
          <a:xfrm>
            <a:off x="7799760" y="3495960"/>
            <a:ext cx="376704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60" name="Text 41"/>
          <p:cNvSpPr/>
          <p:nvPr/>
        </p:nvSpPr>
        <p:spPr>
          <a:xfrm>
            <a:off x="7891200" y="3541680"/>
            <a:ext cx="358416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Standard in the benchmarked field.</a:t>
            </a:r>
            <a:endParaRPr b="0" lang="en-US" sz="800" strike="noStrike" u="none">
              <a:solidFill>
                <a:srgbClr val="000000"/>
              </a:solidFill>
              <a:effectLst/>
              <a:uFillTx/>
              <a:latin typeface="Arial"/>
            </a:endParaRPr>
          </a:p>
        </p:txBody>
      </p:sp>
      <p:sp>
        <p:nvSpPr>
          <p:cNvPr id="1161" name="Shape 42"/>
          <p:cNvSpPr/>
          <p:nvPr/>
        </p:nvSpPr>
        <p:spPr>
          <a:xfrm>
            <a:off x="621720" y="3936600"/>
            <a:ext cx="201132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62" name="Text 43"/>
          <p:cNvSpPr/>
          <p:nvPr/>
        </p:nvSpPr>
        <p:spPr>
          <a:xfrm>
            <a:off x="713160" y="3982320"/>
            <a:ext cx="182844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Adaptation planning</a:t>
            </a:r>
            <a:endParaRPr b="0" lang="en-US" sz="900" strike="noStrike" u="none">
              <a:solidFill>
                <a:srgbClr val="000000"/>
              </a:solidFill>
              <a:effectLst/>
              <a:uFillTx/>
              <a:latin typeface="Arial"/>
            </a:endParaRPr>
          </a:p>
        </p:txBody>
      </p:sp>
      <p:sp>
        <p:nvSpPr>
          <p:cNvPr id="1163" name="Shape 44"/>
          <p:cNvSpPr/>
          <p:nvPr/>
        </p:nvSpPr>
        <p:spPr>
          <a:xfrm>
            <a:off x="2633400" y="3936600"/>
            <a:ext cx="379440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64" name="Text 45"/>
          <p:cNvSpPr/>
          <p:nvPr/>
        </p:nvSpPr>
        <p:spPr>
          <a:xfrm>
            <a:off x="2724840" y="3982320"/>
            <a:ext cx="361152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One action model shared with decarbonisation planning.</a:t>
            </a:r>
            <a:endParaRPr b="0" lang="en-US" sz="800" strike="noStrike" u="none">
              <a:solidFill>
                <a:srgbClr val="000000"/>
              </a:solidFill>
              <a:effectLst/>
              <a:uFillTx/>
              <a:latin typeface="Arial"/>
            </a:endParaRPr>
          </a:p>
        </p:txBody>
      </p:sp>
      <p:sp>
        <p:nvSpPr>
          <p:cNvPr id="1165" name="Shape 46"/>
          <p:cNvSpPr/>
          <p:nvPr/>
        </p:nvSpPr>
        <p:spPr>
          <a:xfrm>
            <a:off x="6428160" y="3936600"/>
            <a:ext cx="137124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66" name="Shape 47"/>
          <p:cNvSpPr/>
          <p:nvPr/>
        </p:nvSpPr>
        <p:spPr>
          <a:xfrm>
            <a:off x="6501240" y="4037760"/>
            <a:ext cx="1225080" cy="237240"/>
          </a:xfrm>
          <a:prstGeom prst="roundRect">
            <a:avLst>
              <a:gd name="adj" fmla="val 46154"/>
            </a:avLst>
          </a:prstGeom>
          <a:solidFill>
            <a:srgbClr val="eaf8ed"/>
          </a:solidFill>
          <a:ln w="635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67" name="Text 48"/>
          <p:cNvSpPr/>
          <p:nvPr/>
        </p:nvSpPr>
        <p:spPr>
          <a:xfrm>
            <a:off x="6501240" y="403776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007a27"/>
                </a:solidFill>
                <a:effectLst/>
                <a:uFillTx/>
                <a:latin typeface="Calibri"/>
                <a:ea typeface="Calibri"/>
              </a:rPr>
              <a:t>Market leading</a:t>
            </a:r>
            <a:endParaRPr b="0" lang="en-US" sz="740" strike="noStrike" u="none">
              <a:solidFill>
                <a:srgbClr val="000000"/>
              </a:solidFill>
              <a:effectLst/>
              <a:uFillTx/>
              <a:latin typeface="Arial"/>
            </a:endParaRPr>
          </a:p>
        </p:txBody>
      </p:sp>
      <p:sp>
        <p:nvSpPr>
          <p:cNvPr id="1168" name="Shape 49"/>
          <p:cNvSpPr/>
          <p:nvPr/>
        </p:nvSpPr>
        <p:spPr>
          <a:xfrm>
            <a:off x="7799760" y="3936600"/>
            <a:ext cx="376704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69" name="Text 50"/>
          <p:cNvSpPr/>
          <p:nvPr/>
        </p:nvSpPr>
        <p:spPr>
          <a:xfrm>
            <a:off x="7891200" y="3982320"/>
            <a:ext cx="358416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Rivals separate mitigation and adaptation into different tools.</a:t>
            </a:r>
            <a:endParaRPr b="0" lang="en-US" sz="800" strike="noStrike" u="none">
              <a:solidFill>
                <a:srgbClr val="000000"/>
              </a:solidFill>
              <a:effectLst/>
              <a:uFillTx/>
              <a:latin typeface="Arial"/>
            </a:endParaRPr>
          </a:p>
        </p:txBody>
      </p:sp>
      <p:sp>
        <p:nvSpPr>
          <p:cNvPr id="1170" name="Shape 51"/>
          <p:cNvSpPr/>
          <p:nvPr/>
        </p:nvSpPr>
        <p:spPr>
          <a:xfrm>
            <a:off x="621720" y="4376880"/>
            <a:ext cx="201132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71" name="Text 52"/>
          <p:cNvSpPr/>
          <p:nvPr/>
        </p:nvSpPr>
        <p:spPr>
          <a:xfrm>
            <a:off x="713160" y="4422600"/>
            <a:ext cx="182844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Risk into disclosure</a:t>
            </a:r>
            <a:endParaRPr b="0" lang="en-US" sz="900" strike="noStrike" u="none">
              <a:solidFill>
                <a:srgbClr val="000000"/>
              </a:solidFill>
              <a:effectLst/>
              <a:uFillTx/>
              <a:latin typeface="Arial"/>
            </a:endParaRPr>
          </a:p>
        </p:txBody>
      </p:sp>
      <p:sp>
        <p:nvSpPr>
          <p:cNvPr id="1172" name="Shape 53"/>
          <p:cNvSpPr/>
          <p:nvPr/>
        </p:nvSpPr>
        <p:spPr>
          <a:xfrm>
            <a:off x="2633400" y="4376880"/>
            <a:ext cx="379440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73" name="Text 54"/>
          <p:cNvSpPr/>
          <p:nvPr/>
        </p:nvSpPr>
        <p:spPr>
          <a:xfrm>
            <a:off x="2724840" y="4422600"/>
            <a:ext cx="361152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Risk data flows into disclosures and is turned into financial values.</a:t>
            </a:r>
            <a:endParaRPr b="0" lang="en-US" sz="800" strike="noStrike" u="none">
              <a:solidFill>
                <a:srgbClr val="000000"/>
              </a:solidFill>
              <a:effectLst/>
              <a:uFillTx/>
              <a:latin typeface="Arial"/>
            </a:endParaRPr>
          </a:p>
        </p:txBody>
      </p:sp>
      <p:sp>
        <p:nvSpPr>
          <p:cNvPr id="1174" name="Shape 55"/>
          <p:cNvSpPr/>
          <p:nvPr/>
        </p:nvSpPr>
        <p:spPr>
          <a:xfrm>
            <a:off x="6428160" y="4376880"/>
            <a:ext cx="137124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75" name="Shape 56"/>
          <p:cNvSpPr/>
          <p:nvPr/>
        </p:nvSpPr>
        <p:spPr>
          <a:xfrm>
            <a:off x="6501240" y="4478400"/>
            <a:ext cx="1225080" cy="237240"/>
          </a:xfrm>
          <a:prstGeom prst="roundRect">
            <a:avLst>
              <a:gd name="adj" fmla="val 46154"/>
            </a:avLst>
          </a:prstGeom>
          <a:solidFill>
            <a:srgbClr val="eaf8ed"/>
          </a:solidFill>
          <a:ln w="635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76" name="Text 57"/>
          <p:cNvSpPr/>
          <p:nvPr/>
        </p:nvSpPr>
        <p:spPr>
          <a:xfrm>
            <a:off x="6501240" y="447840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007a27"/>
                </a:solidFill>
                <a:effectLst/>
                <a:uFillTx/>
                <a:latin typeface="Calibri"/>
                <a:ea typeface="Calibri"/>
              </a:rPr>
              <a:t>Market leading</a:t>
            </a:r>
            <a:endParaRPr b="0" lang="en-US" sz="740" strike="noStrike" u="none">
              <a:solidFill>
                <a:srgbClr val="000000"/>
              </a:solidFill>
              <a:effectLst/>
              <a:uFillTx/>
              <a:latin typeface="Arial"/>
            </a:endParaRPr>
          </a:p>
        </p:txBody>
      </p:sp>
      <p:sp>
        <p:nvSpPr>
          <p:cNvPr id="1177" name="Shape 58"/>
          <p:cNvSpPr/>
          <p:nvPr/>
        </p:nvSpPr>
        <p:spPr>
          <a:xfrm>
            <a:off x="7799760" y="4376880"/>
            <a:ext cx="3767040" cy="43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78" name="Text 59"/>
          <p:cNvSpPr/>
          <p:nvPr/>
        </p:nvSpPr>
        <p:spPr>
          <a:xfrm>
            <a:off x="7891200" y="4422600"/>
            <a:ext cx="358416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Usually a manual handoff between vendors.</a:t>
            </a:r>
            <a:endParaRPr b="0" lang="en-US" sz="800" strike="noStrike" u="none">
              <a:solidFill>
                <a:srgbClr val="000000"/>
              </a:solidFill>
              <a:effectLst/>
              <a:uFillTx/>
              <a:latin typeface="Arial"/>
            </a:endParaRPr>
          </a:p>
        </p:txBody>
      </p:sp>
      <p:sp>
        <p:nvSpPr>
          <p:cNvPr id="1179" name="Shape 60"/>
          <p:cNvSpPr/>
          <p:nvPr/>
        </p:nvSpPr>
        <p:spPr>
          <a:xfrm>
            <a:off x="621720" y="4817520"/>
            <a:ext cx="201132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80" name="Text 61"/>
          <p:cNvSpPr/>
          <p:nvPr/>
        </p:nvSpPr>
        <p:spPr>
          <a:xfrm>
            <a:off x="713160" y="4863240"/>
            <a:ext cx="182844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Beyond owned assets</a:t>
            </a:r>
            <a:endParaRPr b="0" lang="en-US" sz="900" strike="noStrike" u="none">
              <a:solidFill>
                <a:srgbClr val="000000"/>
              </a:solidFill>
              <a:effectLst/>
              <a:uFillTx/>
              <a:latin typeface="Arial"/>
            </a:endParaRPr>
          </a:p>
        </p:txBody>
      </p:sp>
      <p:sp>
        <p:nvSpPr>
          <p:cNvPr id="1181" name="Shape 62"/>
          <p:cNvSpPr/>
          <p:nvPr/>
        </p:nvSpPr>
        <p:spPr>
          <a:xfrm>
            <a:off x="2633400" y="4817520"/>
            <a:ext cx="379440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82" name="Text 63"/>
          <p:cNvSpPr/>
          <p:nvPr/>
        </p:nvSpPr>
        <p:spPr>
          <a:xfrm>
            <a:off x="2724840" y="4863240"/>
            <a:ext cx="361152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Extend climate risk to suppliers and the value chain: a whitespace opportunity in 2027.</a:t>
            </a:r>
            <a:endParaRPr b="0" lang="en-US" sz="800" strike="noStrike" u="none">
              <a:solidFill>
                <a:srgbClr val="000000"/>
              </a:solidFill>
              <a:effectLst/>
              <a:uFillTx/>
              <a:latin typeface="Arial"/>
            </a:endParaRPr>
          </a:p>
        </p:txBody>
      </p:sp>
      <p:sp>
        <p:nvSpPr>
          <p:cNvPr id="1183" name="Shape 64"/>
          <p:cNvSpPr/>
          <p:nvPr/>
        </p:nvSpPr>
        <p:spPr>
          <a:xfrm>
            <a:off x="6428160" y="4817520"/>
            <a:ext cx="137124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84" name="Shape 65"/>
          <p:cNvSpPr/>
          <p:nvPr/>
        </p:nvSpPr>
        <p:spPr>
          <a:xfrm>
            <a:off x="6501240" y="4918680"/>
            <a:ext cx="1225080" cy="237240"/>
          </a:xfrm>
          <a:prstGeom prst="roundRect">
            <a:avLst>
              <a:gd name="adj" fmla="val 46154"/>
            </a:avLst>
          </a:prstGeom>
          <a:solidFill>
            <a:srgbClr val="eaf8ed"/>
          </a:solidFill>
          <a:ln w="635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85" name="Text 66"/>
          <p:cNvSpPr/>
          <p:nvPr/>
        </p:nvSpPr>
        <p:spPr>
          <a:xfrm>
            <a:off x="6501240" y="491868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007a27"/>
                </a:solidFill>
                <a:effectLst/>
                <a:uFillTx/>
                <a:latin typeface="Calibri"/>
                <a:ea typeface="Calibri"/>
              </a:rPr>
              <a:t>Market leading</a:t>
            </a:r>
            <a:endParaRPr b="0" lang="en-US" sz="740" strike="noStrike" u="none">
              <a:solidFill>
                <a:srgbClr val="000000"/>
              </a:solidFill>
              <a:effectLst/>
              <a:uFillTx/>
              <a:latin typeface="Arial"/>
            </a:endParaRPr>
          </a:p>
        </p:txBody>
      </p:sp>
      <p:sp>
        <p:nvSpPr>
          <p:cNvPr id="1186" name="Shape 67"/>
          <p:cNvSpPr/>
          <p:nvPr/>
        </p:nvSpPr>
        <p:spPr>
          <a:xfrm>
            <a:off x="7799760" y="4817520"/>
            <a:ext cx="3767040" cy="43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87" name="Text 68"/>
          <p:cNvSpPr/>
          <p:nvPr/>
        </p:nvSpPr>
        <p:spPr>
          <a:xfrm>
            <a:off x="7891200" y="4863240"/>
            <a:ext cx="3584160" cy="34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Supply chain risk tools exist, but none combine supplier exposure with climate risk and financial value at risk.</a:t>
            </a:r>
            <a:endParaRPr b="0" lang="en-US" sz="800" strike="noStrike" u="none">
              <a:solidFill>
                <a:srgbClr val="000000"/>
              </a:solidFill>
              <a:effectLst/>
              <a:uFillTx/>
              <a:latin typeface="Arial"/>
            </a:endParaRPr>
          </a:p>
        </p:txBody>
      </p:sp>
      <p:sp>
        <p:nvSpPr>
          <p:cNvPr id="1188" name="Shape 69"/>
          <p:cNvSpPr/>
          <p:nvPr/>
        </p:nvSpPr>
        <p:spPr>
          <a:xfrm>
            <a:off x="621720" y="5440680"/>
            <a:ext cx="10947600" cy="548280"/>
          </a:xfrm>
          <a:prstGeom prst="roundRect">
            <a:avLst>
              <a:gd name="adj" fmla="val 6667"/>
            </a:avLst>
          </a:prstGeom>
          <a:solidFill>
            <a:srgbClr val="005730"/>
          </a:solidFill>
          <a:ln w="12700">
            <a:solidFill>
              <a:srgbClr val="005730"/>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189" name="Shape 70"/>
          <p:cNvSpPr/>
          <p:nvPr/>
        </p:nvSpPr>
        <p:spPr>
          <a:xfrm>
            <a:off x="621720" y="5440680"/>
            <a:ext cx="1508400" cy="54828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190" name="Text 71"/>
          <p:cNvSpPr/>
          <p:nvPr/>
        </p:nvSpPr>
        <p:spPr>
          <a:xfrm>
            <a:off x="740520" y="5440680"/>
            <a:ext cx="1270800" cy="54828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800" spc="71" strike="noStrike" u="none">
                <a:solidFill>
                  <a:srgbClr val="005730"/>
                </a:solidFill>
                <a:effectLst/>
                <a:uFillTx/>
                <a:latin typeface="Calibri"/>
                <a:ea typeface="Calibri"/>
              </a:rPr>
              <a:t>BOARD IMPLICATION</a:t>
            </a:r>
            <a:endParaRPr b="0" lang="en-US" sz="800" strike="noStrike" u="none">
              <a:solidFill>
                <a:srgbClr val="000000"/>
              </a:solidFill>
              <a:effectLst/>
              <a:uFillTx/>
              <a:latin typeface="Arial"/>
            </a:endParaRPr>
          </a:p>
        </p:txBody>
      </p:sp>
      <p:sp>
        <p:nvSpPr>
          <p:cNvPr id="1191" name="Text 72"/>
          <p:cNvSpPr/>
          <p:nvPr/>
        </p:nvSpPr>
        <p:spPr>
          <a:xfrm>
            <a:off x="2322720" y="5495400"/>
            <a:ext cx="904572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50" strike="noStrike" u="none">
                <a:solidFill>
                  <a:srgbClr val="ffffff"/>
                </a:solidFill>
                <a:effectLst/>
                <a:uFillTx/>
                <a:latin typeface="Calibri"/>
                <a:ea typeface="Calibri"/>
              </a:rPr>
              <a:t>Priced risk connected to disclosure is our wedge. Hazard data alone is a commodity we should buy, not build.</a:t>
            </a:r>
            <a:endParaRPr b="0" lang="en-US" sz="950" strike="noStrike" u="none">
              <a:solidFill>
                <a:srgbClr val="000000"/>
              </a:solidFill>
              <a:effectLst/>
              <a:uFillTx/>
              <a:latin typeface="Arial"/>
            </a:endParaRPr>
          </a:p>
        </p:txBody>
      </p:sp>
      <p:sp>
        <p:nvSpPr>
          <p:cNvPr id="1192" name="Text 73"/>
          <p:cNvSpPr/>
          <p:nvPr/>
        </p:nvSpPr>
        <p:spPr>
          <a:xfrm>
            <a:off x="621720" y="6053400"/>
            <a:ext cx="10947600" cy="22824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720" strike="noStrike" u="none">
                <a:solidFill>
                  <a:srgbClr val="5a625c"/>
                </a:solidFill>
                <a:effectLst/>
                <a:uFillTx/>
                <a:latin typeface="Calibri"/>
                <a:ea typeface="Calibri"/>
              </a:rPr>
              <a:t>Source: RA+ 2026 and 2027 roadmap and climate risk vendor public product pages (Climate X, XDI, Cotality, S&amp;P Global Climanomics, Risilience, Bloomberg).</a:t>
            </a:r>
            <a:endParaRPr b="0" lang="en-US" sz="720" strike="noStrike" u="none">
              <a:solidFill>
                <a:srgbClr val="000000"/>
              </a:solidFill>
              <a:effectLst/>
              <a:uFillTx/>
              <a:latin typeface="Arial"/>
            </a:endParaRPr>
          </a:p>
        </p:txBody>
      </p:sp>
      <p:sp>
        <p:nvSpPr>
          <p:cNvPr id="1193" name="Shape 74"/>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194" name="Text 75"/>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1195" name="Text 76"/>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1196" name="PlaceHolder 1"/>
          <p:cNvSpPr>
            <a:spLocks noGrp="1"/>
          </p:cNvSpPr>
          <p:nvPr>
            <p:ph type="sldNum" idx="33"/>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8FD0D785-9E8C-4A40-8285-B6D9A9131026}"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97"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1198"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1199" name="Shape 2"/>
          <p:cNvSpPr/>
          <p:nvPr/>
        </p:nvSpPr>
        <p:spPr>
          <a:xfrm>
            <a:off x="621720" y="311040"/>
            <a:ext cx="355212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00" name="Text 3"/>
          <p:cNvSpPr/>
          <p:nvPr/>
        </p:nvSpPr>
        <p:spPr>
          <a:xfrm>
            <a:off x="804600" y="329040"/>
            <a:ext cx="322308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CAPABILITY POSITION: STRATEGY</a:t>
            </a:r>
            <a:endParaRPr b="0" lang="en-US" sz="950" strike="noStrike" u="none">
              <a:solidFill>
                <a:srgbClr val="000000"/>
              </a:solidFill>
              <a:effectLst/>
              <a:uFillTx/>
              <a:latin typeface="Arial"/>
            </a:endParaRPr>
          </a:p>
        </p:txBody>
      </p:sp>
      <p:sp>
        <p:nvSpPr>
          <p:cNvPr id="1201" name="Text 4"/>
          <p:cNvSpPr/>
          <p:nvPr/>
        </p:nvSpPr>
        <p:spPr>
          <a:xfrm>
            <a:off x="621720" y="768240"/>
            <a:ext cx="10947600" cy="804240"/>
          </a:xfrm>
          <a:prstGeom prst="rect">
            <a:avLst/>
          </a:prstGeom>
          <a:noFill/>
          <a:ln w="0">
            <a:noFill/>
          </a:ln>
        </p:spPr>
        <p:style>
          <a:lnRef idx="0"/>
          <a:fillRef idx="0"/>
          <a:effectRef idx="0"/>
          <a:fontRef idx="minor"/>
        </p:style>
        <p:txBody>
          <a:bodyPr lIns="0" rIns="0" tIns="0" bIns="0" anchor="t">
            <a:normAutofit lnSpcReduction="9999"/>
          </a:bodyPr>
          <a:p>
            <a:pPr defTabSz="914400">
              <a:lnSpc>
                <a:spcPct val="100000"/>
              </a:lnSpc>
              <a:tabLst>
                <a:tab algn="l" pos="0"/>
              </a:tabLst>
            </a:pPr>
            <a:r>
              <a:rPr b="1" lang="en-US" sz="2800" strike="noStrike" u="none">
                <a:solidFill>
                  <a:srgbClr val="1e2420"/>
                </a:solidFill>
                <a:effectLst/>
                <a:uFillTx/>
                <a:latin typeface="Calibri"/>
                <a:ea typeface="Calibri"/>
              </a:rPr>
              <a:t>Strategy: the plan to execution gap is where we can lead outright</a:t>
            </a:r>
            <a:endParaRPr b="0" lang="en-US" sz="2800" strike="noStrike" u="none">
              <a:solidFill>
                <a:srgbClr val="000000"/>
              </a:solidFill>
              <a:effectLst/>
              <a:uFillTx/>
              <a:latin typeface="Arial"/>
            </a:endParaRPr>
          </a:p>
        </p:txBody>
      </p:sp>
      <p:sp>
        <p:nvSpPr>
          <p:cNvPr id="1202" name="Text 5"/>
          <p:cNvSpPr/>
          <p:nvPr/>
        </p:nvSpPr>
        <p:spPr>
          <a:xfrm>
            <a:off x="621720" y="15728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Few vendors connect targets, initiatives and realised performance in one governed loop.</a:t>
            </a:r>
            <a:endParaRPr b="0" lang="en-US" sz="1250" strike="noStrike" u="none">
              <a:solidFill>
                <a:srgbClr val="000000"/>
              </a:solidFill>
              <a:effectLst/>
              <a:uFillTx/>
              <a:latin typeface="Arial"/>
            </a:endParaRPr>
          </a:p>
        </p:txBody>
      </p:sp>
      <p:sp>
        <p:nvSpPr>
          <p:cNvPr id="1203"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204" name="Shape 7"/>
          <p:cNvSpPr/>
          <p:nvPr/>
        </p:nvSpPr>
        <p:spPr>
          <a:xfrm>
            <a:off x="621720" y="2084760"/>
            <a:ext cx="2011320" cy="36540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05" name="Text 8"/>
          <p:cNvSpPr/>
          <p:nvPr/>
        </p:nvSpPr>
        <p:spPr>
          <a:xfrm>
            <a:off x="713160" y="2084760"/>
            <a:ext cx="1828440" cy="3654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CAPABILITY</a:t>
            </a:r>
            <a:endParaRPr b="0" lang="en-US" sz="760" strike="noStrike" u="none">
              <a:solidFill>
                <a:srgbClr val="000000"/>
              </a:solidFill>
              <a:effectLst/>
              <a:uFillTx/>
              <a:latin typeface="Arial"/>
            </a:endParaRPr>
          </a:p>
        </p:txBody>
      </p:sp>
      <p:sp>
        <p:nvSpPr>
          <p:cNvPr id="1206" name="Shape 9"/>
          <p:cNvSpPr/>
          <p:nvPr/>
        </p:nvSpPr>
        <p:spPr>
          <a:xfrm>
            <a:off x="2633400" y="2084760"/>
            <a:ext cx="3794400" cy="36540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07" name="Text 10"/>
          <p:cNvSpPr/>
          <p:nvPr/>
        </p:nvSpPr>
        <p:spPr>
          <a:xfrm>
            <a:off x="2724840" y="2084760"/>
            <a:ext cx="3611520" cy="3654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WHAT RA+ DELIVERS</a:t>
            </a:r>
            <a:endParaRPr b="0" lang="en-US" sz="760" strike="noStrike" u="none">
              <a:solidFill>
                <a:srgbClr val="000000"/>
              </a:solidFill>
              <a:effectLst/>
              <a:uFillTx/>
              <a:latin typeface="Arial"/>
            </a:endParaRPr>
          </a:p>
        </p:txBody>
      </p:sp>
      <p:sp>
        <p:nvSpPr>
          <p:cNvPr id="1208" name="Shape 11"/>
          <p:cNvSpPr/>
          <p:nvPr/>
        </p:nvSpPr>
        <p:spPr>
          <a:xfrm>
            <a:off x="6428160" y="2084760"/>
            <a:ext cx="1371240" cy="36540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09" name="Text 12"/>
          <p:cNvSpPr/>
          <p:nvPr/>
        </p:nvSpPr>
        <p:spPr>
          <a:xfrm>
            <a:off x="6519600" y="2084760"/>
            <a:ext cx="1188360" cy="3654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EXPECTED POSITION</a:t>
            </a:r>
            <a:endParaRPr b="0" lang="en-US" sz="760" strike="noStrike" u="none">
              <a:solidFill>
                <a:srgbClr val="000000"/>
              </a:solidFill>
              <a:effectLst/>
              <a:uFillTx/>
              <a:latin typeface="Arial"/>
            </a:endParaRPr>
          </a:p>
        </p:txBody>
      </p:sp>
      <p:sp>
        <p:nvSpPr>
          <p:cNvPr id="1210" name="Shape 13"/>
          <p:cNvSpPr/>
          <p:nvPr/>
        </p:nvSpPr>
        <p:spPr>
          <a:xfrm>
            <a:off x="7799760" y="2084760"/>
            <a:ext cx="3767040" cy="36540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11" name="Text 14"/>
          <p:cNvSpPr/>
          <p:nvPr/>
        </p:nvSpPr>
        <p:spPr>
          <a:xfrm>
            <a:off x="7891200" y="2084760"/>
            <a:ext cx="3584160" cy="3654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MARKET BENCHMARK</a:t>
            </a:r>
            <a:endParaRPr b="0" lang="en-US" sz="760" strike="noStrike" u="none">
              <a:solidFill>
                <a:srgbClr val="000000"/>
              </a:solidFill>
              <a:effectLst/>
              <a:uFillTx/>
              <a:latin typeface="Arial"/>
            </a:endParaRPr>
          </a:p>
        </p:txBody>
      </p:sp>
      <p:sp>
        <p:nvSpPr>
          <p:cNvPr id="1212" name="Shape 15"/>
          <p:cNvSpPr/>
          <p:nvPr/>
        </p:nvSpPr>
        <p:spPr>
          <a:xfrm>
            <a:off x="621720" y="2450520"/>
            <a:ext cx="201132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13" name="Text 16"/>
          <p:cNvSpPr/>
          <p:nvPr/>
        </p:nvSpPr>
        <p:spPr>
          <a:xfrm>
            <a:off x="713160" y="2496240"/>
            <a:ext cx="182844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Target and pathway setting</a:t>
            </a:r>
            <a:endParaRPr b="0" lang="en-US" sz="900" strike="noStrike" u="none">
              <a:solidFill>
                <a:srgbClr val="000000"/>
              </a:solidFill>
              <a:effectLst/>
              <a:uFillTx/>
              <a:latin typeface="Arial"/>
            </a:endParaRPr>
          </a:p>
        </p:txBody>
      </p:sp>
      <p:sp>
        <p:nvSpPr>
          <p:cNvPr id="1214" name="Shape 17"/>
          <p:cNvSpPr/>
          <p:nvPr/>
        </p:nvSpPr>
        <p:spPr>
          <a:xfrm>
            <a:off x="2633400" y="2450520"/>
            <a:ext cx="379440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15" name="Text 18"/>
          <p:cNvSpPr/>
          <p:nvPr/>
        </p:nvSpPr>
        <p:spPr>
          <a:xfrm>
            <a:off x="2724840" y="2496240"/>
            <a:ext cx="361152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Targets set against the same inventory the products use.</a:t>
            </a:r>
            <a:endParaRPr b="0" lang="en-US" sz="800" strike="noStrike" u="none">
              <a:solidFill>
                <a:srgbClr val="000000"/>
              </a:solidFill>
              <a:effectLst/>
              <a:uFillTx/>
              <a:latin typeface="Arial"/>
            </a:endParaRPr>
          </a:p>
        </p:txBody>
      </p:sp>
      <p:sp>
        <p:nvSpPr>
          <p:cNvPr id="1216" name="Shape 19"/>
          <p:cNvSpPr/>
          <p:nvPr/>
        </p:nvSpPr>
        <p:spPr>
          <a:xfrm>
            <a:off x="6428160" y="2450520"/>
            <a:ext cx="137124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17" name="Shape 20"/>
          <p:cNvSpPr/>
          <p:nvPr/>
        </p:nvSpPr>
        <p:spPr>
          <a:xfrm>
            <a:off x="6501240" y="2565720"/>
            <a:ext cx="1225080" cy="237240"/>
          </a:xfrm>
          <a:prstGeom prst="roundRect">
            <a:avLst>
              <a:gd name="adj" fmla="val 46154"/>
            </a:avLst>
          </a:prstGeom>
          <a:solidFill>
            <a:srgbClr val="f1f3f2"/>
          </a:solidFill>
          <a:ln w="635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18" name="Text 21"/>
          <p:cNvSpPr/>
          <p:nvPr/>
        </p:nvSpPr>
        <p:spPr>
          <a:xfrm>
            <a:off x="6501240" y="256572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5a625c"/>
                </a:solidFill>
                <a:effectLst/>
                <a:uFillTx/>
                <a:latin typeface="Calibri"/>
                <a:ea typeface="Calibri"/>
              </a:rPr>
              <a:t>On parity</a:t>
            </a:r>
            <a:endParaRPr b="0" lang="en-US" sz="740" strike="noStrike" u="none">
              <a:solidFill>
                <a:srgbClr val="000000"/>
              </a:solidFill>
              <a:effectLst/>
              <a:uFillTx/>
              <a:latin typeface="Arial"/>
            </a:endParaRPr>
          </a:p>
        </p:txBody>
      </p:sp>
      <p:sp>
        <p:nvSpPr>
          <p:cNvPr id="1219" name="Shape 22"/>
          <p:cNvSpPr/>
          <p:nvPr/>
        </p:nvSpPr>
        <p:spPr>
          <a:xfrm>
            <a:off x="7799760" y="2450520"/>
            <a:ext cx="376704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20" name="Text 23"/>
          <p:cNvSpPr/>
          <p:nvPr/>
        </p:nvSpPr>
        <p:spPr>
          <a:xfrm>
            <a:off x="7891200" y="2496240"/>
            <a:ext cx="358416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Common capability.</a:t>
            </a:r>
            <a:endParaRPr b="0" lang="en-US" sz="800" strike="noStrike" u="none">
              <a:solidFill>
                <a:srgbClr val="000000"/>
              </a:solidFill>
              <a:effectLst/>
              <a:uFillTx/>
              <a:latin typeface="Arial"/>
            </a:endParaRPr>
          </a:p>
        </p:txBody>
      </p:sp>
      <p:sp>
        <p:nvSpPr>
          <p:cNvPr id="1221" name="Shape 24"/>
          <p:cNvSpPr/>
          <p:nvPr/>
        </p:nvSpPr>
        <p:spPr>
          <a:xfrm>
            <a:off x="621720" y="2918520"/>
            <a:ext cx="201132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22" name="Text 25"/>
          <p:cNvSpPr/>
          <p:nvPr/>
        </p:nvSpPr>
        <p:spPr>
          <a:xfrm>
            <a:off x="713160" y="2964240"/>
            <a:ext cx="182844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Initiatives and actions management</a:t>
            </a:r>
            <a:endParaRPr b="0" lang="en-US" sz="900" strike="noStrike" u="none">
              <a:solidFill>
                <a:srgbClr val="000000"/>
              </a:solidFill>
              <a:effectLst/>
              <a:uFillTx/>
              <a:latin typeface="Arial"/>
            </a:endParaRPr>
          </a:p>
        </p:txBody>
      </p:sp>
      <p:sp>
        <p:nvSpPr>
          <p:cNvPr id="1223" name="Shape 26"/>
          <p:cNvSpPr/>
          <p:nvPr/>
        </p:nvSpPr>
        <p:spPr>
          <a:xfrm>
            <a:off x="2633400" y="2918520"/>
            <a:ext cx="379440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24" name="Text 27"/>
          <p:cNvSpPr/>
          <p:nvPr/>
        </p:nvSpPr>
        <p:spPr>
          <a:xfrm>
            <a:off x="2724840" y="2964240"/>
            <a:ext cx="361152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Initiative and action management shipping with Q4 2026 scenario work.</a:t>
            </a:r>
            <a:endParaRPr b="0" lang="en-US" sz="800" strike="noStrike" u="none">
              <a:solidFill>
                <a:srgbClr val="000000"/>
              </a:solidFill>
              <a:effectLst/>
              <a:uFillTx/>
              <a:latin typeface="Arial"/>
            </a:endParaRPr>
          </a:p>
        </p:txBody>
      </p:sp>
      <p:sp>
        <p:nvSpPr>
          <p:cNvPr id="1225" name="Shape 28"/>
          <p:cNvSpPr/>
          <p:nvPr/>
        </p:nvSpPr>
        <p:spPr>
          <a:xfrm>
            <a:off x="6428160" y="2918520"/>
            <a:ext cx="137124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26" name="Shape 29"/>
          <p:cNvSpPr/>
          <p:nvPr/>
        </p:nvSpPr>
        <p:spPr>
          <a:xfrm>
            <a:off x="6501240" y="3033360"/>
            <a:ext cx="1225080" cy="237240"/>
          </a:xfrm>
          <a:prstGeom prst="roundRect">
            <a:avLst>
              <a:gd name="adj" fmla="val 46154"/>
            </a:avLst>
          </a:prstGeom>
          <a:solidFill>
            <a:srgbClr val="eaf8ed"/>
          </a:solidFill>
          <a:ln w="635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27" name="Text 30"/>
          <p:cNvSpPr/>
          <p:nvPr/>
        </p:nvSpPr>
        <p:spPr>
          <a:xfrm>
            <a:off x="6501240" y="303336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007a27"/>
                </a:solidFill>
                <a:effectLst/>
                <a:uFillTx/>
                <a:latin typeface="Calibri"/>
                <a:ea typeface="Calibri"/>
              </a:rPr>
              <a:t>Market leading</a:t>
            </a:r>
            <a:endParaRPr b="0" lang="en-US" sz="740" strike="noStrike" u="none">
              <a:solidFill>
                <a:srgbClr val="000000"/>
              </a:solidFill>
              <a:effectLst/>
              <a:uFillTx/>
              <a:latin typeface="Arial"/>
            </a:endParaRPr>
          </a:p>
        </p:txBody>
      </p:sp>
      <p:sp>
        <p:nvSpPr>
          <p:cNvPr id="1228" name="Shape 31"/>
          <p:cNvSpPr/>
          <p:nvPr/>
        </p:nvSpPr>
        <p:spPr>
          <a:xfrm>
            <a:off x="7799760" y="2918520"/>
            <a:ext cx="376704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29" name="Text 32"/>
          <p:cNvSpPr/>
          <p:nvPr/>
        </p:nvSpPr>
        <p:spPr>
          <a:xfrm>
            <a:off x="7891200" y="2964240"/>
            <a:ext cx="358416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Most carbon tools stop at the plan and never track execution.</a:t>
            </a:r>
            <a:endParaRPr b="0" lang="en-US" sz="800" strike="noStrike" u="none">
              <a:solidFill>
                <a:srgbClr val="000000"/>
              </a:solidFill>
              <a:effectLst/>
              <a:uFillTx/>
              <a:latin typeface="Arial"/>
            </a:endParaRPr>
          </a:p>
        </p:txBody>
      </p:sp>
      <p:sp>
        <p:nvSpPr>
          <p:cNvPr id="1230" name="Shape 33"/>
          <p:cNvSpPr/>
          <p:nvPr/>
        </p:nvSpPr>
        <p:spPr>
          <a:xfrm>
            <a:off x="621720" y="3386160"/>
            <a:ext cx="201132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31" name="Text 34"/>
          <p:cNvSpPr/>
          <p:nvPr/>
        </p:nvSpPr>
        <p:spPr>
          <a:xfrm>
            <a:off x="713160" y="3431880"/>
            <a:ext cx="182844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Scenario and cobenefit modelling</a:t>
            </a:r>
            <a:endParaRPr b="0" lang="en-US" sz="900" strike="noStrike" u="none">
              <a:solidFill>
                <a:srgbClr val="000000"/>
              </a:solidFill>
              <a:effectLst/>
              <a:uFillTx/>
              <a:latin typeface="Arial"/>
            </a:endParaRPr>
          </a:p>
        </p:txBody>
      </p:sp>
      <p:sp>
        <p:nvSpPr>
          <p:cNvPr id="1232" name="Shape 35"/>
          <p:cNvSpPr/>
          <p:nvPr/>
        </p:nvSpPr>
        <p:spPr>
          <a:xfrm>
            <a:off x="2633400" y="3386160"/>
            <a:ext cx="379440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33" name="Text 36"/>
          <p:cNvSpPr/>
          <p:nvPr/>
        </p:nvSpPr>
        <p:spPr>
          <a:xfrm>
            <a:off x="2724840" y="3431880"/>
            <a:ext cx="361152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Energy, carbon and cost cobenefits modelled together.</a:t>
            </a:r>
            <a:endParaRPr b="0" lang="en-US" sz="800" strike="noStrike" u="none">
              <a:solidFill>
                <a:srgbClr val="000000"/>
              </a:solidFill>
              <a:effectLst/>
              <a:uFillTx/>
              <a:latin typeface="Arial"/>
            </a:endParaRPr>
          </a:p>
        </p:txBody>
      </p:sp>
      <p:sp>
        <p:nvSpPr>
          <p:cNvPr id="1234" name="Shape 37"/>
          <p:cNvSpPr/>
          <p:nvPr/>
        </p:nvSpPr>
        <p:spPr>
          <a:xfrm>
            <a:off x="6428160" y="3386160"/>
            <a:ext cx="137124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35" name="Shape 38"/>
          <p:cNvSpPr/>
          <p:nvPr/>
        </p:nvSpPr>
        <p:spPr>
          <a:xfrm>
            <a:off x="6501240" y="3501360"/>
            <a:ext cx="1225080" cy="237240"/>
          </a:xfrm>
          <a:prstGeom prst="roundRect">
            <a:avLst>
              <a:gd name="adj" fmla="val 46154"/>
            </a:avLst>
          </a:prstGeom>
          <a:solidFill>
            <a:srgbClr val="eaf8ed"/>
          </a:solidFill>
          <a:ln w="635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36" name="Text 39"/>
          <p:cNvSpPr/>
          <p:nvPr/>
        </p:nvSpPr>
        <p:spPr>
          <a:xfrm>
            <a:off x="6501240" y="350136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007a27"/>
                </a:solidFill>
                <a:effectLst/>
                <a:uFillTx/>
                <a:latin typeface="Calibri"/>
                <a:ea typeface="Calibri"/>
              </a:rPr>
              <a:t>Market leading</a:t>
            </a:r>
            <a:endParaRPr b="0" lang="en-US" sz="740" strike="noStrike" u="none">
              <a:solidFill>
                <a:srgbClr val="000000"/>
              </a:solidFill>
              <a:effectLst/>
              <a:uFillTx/>
              <a:latin typeface="Arial"/>
            </a:endParaRPr>
          </a:p>
        </p:txBody>
      </p:sp>
      <p:sp>
        <p:nvSpPr>
          <p:cNvPr id="1237" name="Shape 40"/>
          <p:cNvSpPr/>
          <p:nvPr/>
        </p:nvSpPr>
        <p:spPr>
          <a:xfrm>
            <a:off x="7799760" y="3386160"/>
            <a:ext cx="376704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38" name="Text 41"/>
          <p:cNvSpPr/>
          <p:nvPr/>
        </p:nvSpPr>
        <p:spPr>
          <a:xfrm>
            <a:off x="7891200" y="3431880"/>
            <a:ext cx="358416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Requires the energy and efficiency data only we hold.</a:t>
            </a:r>
            <a:endParaRPr b="0" lang="en-US" sz="800" strike="noStrike" u="none">
              <a:solidFill>
                <a:srgbClr val="000000"/>
              </a:solidFill>
              <a:effectLst/>
              <a:uFillTx/>
              <a:latin typeface="Arial"/>
            </a:endParaRPr>
          </a:p>
        </p:txBody>
      </p:sp>
      <p:sp>
        <p:nvSpPr>
          <p:cNvPr id="1239" name="Shape 42"/>
          <p:cNvSpPr/>
          <p:nvPr/>
        </p:nvSpPr>
        <p:spPr>
          <a:xfrm>
            <a:off x="621720" y="3854160"/>
            <a:ext cx="201132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40" name="Text 43"/>
          <p:cNvSpPr/>
          <p:nvPr/>
        </p:nvSpPr>
        <p:spPr>
          <a:xfrm>
            <a:off x="713160" y="3899880"/>
            <a:ext cx="182844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Recommendations</a:t>
            </a:r>
            <a:endParaRPr b="0" lang="en-US" sz="900" strike="noStrike" u="none">
              <a:solidFill>
                <a:srgbClr val="000000"/>
              </a:solidFill>
              <a:effectLst/>
              <a:uFillTx/>
              <a:latin typeface="Arial"/>
            </a:endParaRPr>
          </a:p>
        </p:txBody>
      </p:sp>
      <p:sp>
        <p:nvSpPr>
          <p:cNvPr id="1241" name="Shape 44"/>
          <p:cNvSpPr/>
          <p:nvPr/>
        </p:nvSpPr>
        <p:spPr>
          <a:xfrm>
            <a:off x="2633400" y="3854160"/>
            <a:ext cx="379440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42" name="Text 45"/>
          <p:cNvSpPr/>
          <p:nvPr/>
        </p:nvSpPr>
        <p:spPr>
          <a:xfrm>
            <a:off x="2724840" y="3899880"/>
            <a:ext cx="361152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AI recommendations on the next best action, launching Q4 2026, with energy, carbon and cost cobenefits surfaced together.</a:t>
            </a:r>
            <a:endParaRPr b="0" lang="en-US" sz="800" strike="noStrike" u="none">
              <a:solidFill>
                <a:srgbClr val="000000"/>
              </a:solidFill>
              <a:effectLst/>
              <a:uFillTx/>
              <a:latin typeface="Arial"/>
            </a:endParaRPr>
          </a:p>
        </p:txBody>
      </p:sp>
      <p:sp>
        <p:nvSpPr>
          <p:cNvPr id="1243" name="Shape 46"/>
          <p:cNvSpPr/>
          <p:nvPr/>
        </p:nvSpPr>
        <p:spPr>
          <a:xfrm>
            <a:off x="6428160" y="3854160"/>
            <a:ext cx="137124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44" name="Shape 47"/>
          <p:cNvSpPr/>
          <p:nvPr/>
        </p:nvSpPr>
        <p:spPr>
          <a:xfrm>
            <a:off x="6501240" y="3969360"/>
            <a:ext cx="1225080" cy="237240"/>
          </a:xfrm>
          <a:prstGeom prst="roundRect">
            <a:avLst>
              <a:gd name="adj" fmla="val 46154"/>
            </a:avLst>
          </a:prstGeom>
          <a:solidFill>
            <a:srgbClr val="eaf8ed"/>
          </a:solidFill>
          <a:ln w="635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45" name="Text 48"/>
          <p:cNvSpPr/>
          <p:nvPr/>
        </p:nvSpPr>
        <p:spPr>
          <a:xfrm>
            <a:off x="6501240" y="396936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007a27"/>
                </a:solidFill>
                <a:effectLst/>
                <a:uFillTx/>
                <a:latin typeface="Calibri"/>
                <a:ea typeface="Calibri"/>
              </a:rPr>
              <a:t>Market leading</a:t>
            </a:r>
            <a:endParaRPr b="0" lang="en-US" sz="740" strike="noStrike" u="none">
              <a:solidFill>
                <a:srgbClr val="000000"/>
              </a:solidFill>
              <a:effectLst/>
              <a:uFillTx/>
              <a:latin typeface="Arial"/>
            </a:endParaRPr>
          </a:p>
        </p:txBody>
      </p:sp>
      <p:sp>
        <p:nvSpPr>
          <p:cNvPr id="1246" name="Shape 49"/>
          <p:cNvSpPr/>
          <p:nvPr/>
        </p:nvSpPr>
        <p:spPr>
          <a:xfrm>
            <a:off x="7799760" y="3854160"/>
            <a:ext cx="376704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47" name="Text 50"/>
          <p:cNvSpPr/>
          <p:nvPr/>
        </p:nvSpPr>
        <p:spPr>
          <a:xfrm>
            <a:off x="7891200" y="3899880"/>
            <a:ext cx="358416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No rival currently links next best action recommendations to energy, carbon and cost cobenefits on one platform.</a:t>
            </a:r>
            <a:endParaRPr b="0" lang="en-US" sz="800" strike="noStrike" u="none">
              <a:solidFill>
                <a:srgbClr val="000000"/>
              </a:solidFill>
              <a:effectLst/>
              <a:uFillTx/>
              <a:latin typeface="Arial"/>
            </a:endParaRPr>
          </a:p>
        </p:txBody>
      </p:sp>
      <p:sp>
        <p:nvSpPr>
          <p:cNvPr id="1248" name="Shape 51"/>
          <p:cNvSpPr/>
          <p:nvPr/>
        </p:nvSpPr>
        <p:spPr>
          <a:xfrm>
            <a:off x="621720" y="4322160"/>
            <a:ext cx="201132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49" name="Text 52"/>
          <p:cNvSpPr/>
          <p:nvPr/>
        </p:nvSpPr>
        <p:spPr>
          <a:xfrm>
            <a:off x="713160" y="4367880"/>
            <a:ext cx="182844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Realised versus planned</a:t>
            </a:r>
            <a:endParaRPr b="0" lang="en-US" sz="900" strike="noStrike" u="none">
              <a:solidFill>
                <a:srgbClr val="000000"/>
              </a:solidFill>
              <a:effectLst/>
              <a:uFillTx/>
              <a:latin typeface="Arial"/>
            </a:endParaRPr>
          </a:p>
        </p:txBody>
      </p:sp>
      <p:sp>
        <p:nvSpPr>
          <p:cNvPr id="1250" name="Shape 53"/>
          <p:cNvSpPr/>
          <p:nvPr/>
        </p:nvSpPr>
        <p:spPr>
          <a:xfrm>
            <a:off x="2633400" y="4322160"/>
            <a:ext cx="379440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51" name="Text 54"/>
          <p:cNvSpPr/>
          <p:nvPr/>
        </p:nvSpPr>
        <p:spPr>
          <a:xfrm>
            <a:off x="2724840" y="4367880"/>
            <a:ext cx="361152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Actual performance measured against the plan on the same data.</a:t>
            </a:r>
            <a:endParaRPr b="0" lang="en-US" sz="800" strike="noStrike" u="none">
              <a:solidFill>
                <a:srgbClr val="000000"/>
              </a:solidFill>
              <a:effectLst/>
              <a:uFillTx/>
              <a:latin typeface="Arial"/>
            </a:endParaRPr>
          </a:p>
        </p:txBody>
      </p:sp>
      <p:sp>
        <p:nvSpPr>
          <p:cNvPr id="1252" name="Shape 55"/>
          <p:cNvSpPr/>
          <p:nvPr/>
        </p:nvSpPr>
        <p:spPr>
          <a:xfrm>
            <a:off x="6428160" y="4322160"/>
            <a:ext cx="137124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53" name="Shape 56"/>
          <p:cNvSpPr/>
          <p:nvPr/>
        </p:nvSpPr>
        <p:spPr>
          <a:xfrm>
            <a:off x="6501240" y="4437000"/>
            <a:ext cx="1225080" cy="237240"/>
          </a:xfrm>
          <a:prstGeom prst="roundRect">
            <a:avLst>
              <a:gd name="adj" fmla="val 46154"/>
            </a:avLst>
          </a:prstGeom>
          <a:solidFill>
            <a:srgbClr val="eaf8ed"/>
          </a:solidFill>
          <a:ln w="635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54" name="Text 57"/>
          <p:cNvSpPr/>
          <p:nvPr/>
        </p:nvSpPr>
        <p:spPr>
          <a:xfrm>
            <a:off x="6501240" y="443700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007a27"/>
                </a:solidFill>
                <a:effectLst/>
                <a:uFillTx/>
                <a:latin typeface="Calibri"/>
                <a:ea typeface="Calibri"/>
              </a:rPr>
              <a:t>Market leading</a:t>
            </a:r>
            <a:endParaRPr b="0" lang="en-US" sz="740" strike="noStrike" u="none">
              <a:solidFill>
                <a:srgbClr val="000000"/>
              </a:solidFill>
              <a:effectLst/>
              <a:uFillTx/>
              <a:latin typeface="Arial"/>
            </a:endParaRPr>
          </a:p>
        </p:txBody>
      </p:sp>
      <p:sp>
        <p:nvSpPr>
          <p:cNvPr id="1255" name="Shape 58"/>
          <p:cNvSpPr/>
          <p:nvPr/>
        </p:nvSpPr>
        <p:spPr>
          <a:xfrm>
            <a:off x="7799760" y="4322160"/>
            <a:ext cx="376704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56" name="Text 59"/>
          <p:cNvSpPr/>
          <p:nvPr/>
        </p:nvSpPr>
        <p:spPr>
          <a:xfrm>
            <a:off x="7891200" y="4367880"/>
            <a:ext cx="358416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Rare outside consultancy led engagements.</a:t>
            </a:r>
            <a:endParaRPr b="0" lang="en-US" sz="800" strike="noStrike" u="none">
              <a:solidFill>
                <a:srgbClr val="000000"/>
              </a:solidFill>
              <a:effectLst/>
              <a:uFillTx/>
              <a:latin typeface="Arial"/>
            </a:endParaRPr>
          </a:p>
        </p:txBody>
      </p:sp>
      <p:sp>
        <p:nvSpPr>
          <p:cNvPr id="1257" name="Shape 60"/>
          <p:cNvSpPr/>
          <p:nvPr/>
        </p:nvSpPr>
        <p:spPr>
          <a:xfrm>
            <a:off x="621720" y="4789800"/>
            <a:ext cx="201132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58" name="Text 61"/>
          <p:cNvSpPr/>
          <p:nvPr/>
        </p:nvSpPr>
        <p:spPr>
          <a:xfrm>
            <a:off x="713160" y="4835520"/>
            <a:ext cx="182844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Governance and scale</a:t>
            </a:r>
            <a:endParaRPr b="0" lang="en-US" sz="900" strike="noStrike" u="none">
              <a:solidFill>
                <a:srgbClr val="000000"/>
              </a:solidFill>
              <a:effectLst/>
              <a:uFillTx/>
              <a:latin typeface="Arial"/>
            </a:endParaRPr>
          </a:p>
        </p:txBody>
      </p:sp>
      <p:sp>
        <p:nvSpPr>
          <p:cNvPr id="1259" name="Shape 62"/>
          <p:cNvSpPr/>
          <p:nvPr/>
        </p:nvSpPr>
        <p:spPr>
          <a:xfrm>
            <a:off x="2633400" y="4789800"/>
            <a:ext cx="379440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60" name="Text 63"/>
          <p:cNvSpPr/>
          <p:nvPr/>
        </p:nvSpPr>
        <p:spPr>
          <a:xfrm>
            <a:off x="2724840" y="4835520"/>
            <a:ext cx="361152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Roll out across business units on the shared hierarchy.</a:t>
            </a:r>
            <a:endParaRPr b="0" lang="en-US" sz="800" strike="noStrike" u="none">
              <a:solidFill>
                <a:srgbClr val="000000"/>
              </a:solidFill>
              <a:effectLst/>
              <a:uFillTx/>
              <a:latin typeface="Arial"/>
            </a:endParaRPr>
          </a:p>
        </p:txBody>
      </p:sp>
      <p:sp>
        <p:nvSpPr>
          <p:cNvPr id="1261" name="Shape 64"/>
          <p:cNvSpPr/>
          <p:nvPr/>
        </p:nvSpPr>
        <p:spPr>
          <a:xfrm>
            <a:off x="6428160" y="4789800"/>
            <a:ext cx="137124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62" name="Shape 65"/>
          <p:cNvSpPr/>
          <p:nvPr/>
        </p:nvSpPr>
        <p:spPr>
          <a:xfrm>
            <a:off x="6501240" y="4905000"/>
            <a:ext cx="1225080" cy="237240"/>
          </a:xfrm>
          <a:prstGeom prst="roundRect">
            <a:avLst>
              <a:gd name="adj" fmla="val 46154"/>
            </a:avLst>
          </a:prstGeom>
          <a:solidFill>
            <a:srgbClr val="f1f3f2"/>
          </a:solidFill>
          <a:ln w="635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63" name="Text 66"/>
          <p:cNvSpPr/>
          <p:nvPr/>
        </p:nvSpPr>
        <p:spPr>
          <a:xfrm>
            <a:off x="6501240" y="490500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5a625c"/>
                </a:solidFill>
                <a:effectLst/>
                <a:uFillTx/>
                <a:latin typeface="Calibri"/>
                <a:ea typeface="Calibri"/>
              </a:rPr>
              <a:t>On parity</a:t>
            </a:r>
            <a:endParaRPr b="0" lang="en-US" sz="740" strike="noStrike" u="none">
              <a:solidFill>
                <a:srgbClr val="000000"/>
              </a:solidFill>
              <a:effectLst/>
              <a:uFillTx/>
              <a:latin typeface="Arial"/>
            </a:endParaRPr>
          </a:p>
        </p:txBody>
      </p:sp>
      <p:sp>
        <p:nvSpPr>
          <p:cNvPr id="1264" name="Shape 67"/>
          <p:cNvSpPr/>
          <p:nvPr/>
        </p:nvSpPr>
        <p:spPr>
          <a:xfrm>
            <a:off x="7799760" y="4789800"/>
            <a:ext cx="376704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65" name="Text 68"/>
          <p:cNvSpPr/>
          <p:nvPr/>
        </p:nvSpPr>
        <p:spPr>
          <a:xfrm>
            <a:off x="7891200" y="4835520"/>
            <a:ext cx="358416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Expected at enterprise scale.</a:t>
            </a:r>
            <a:endParaRPr b="0" lang="en-US" sz="800" strike="noStrike" u="none">
              <a:solidFill>
                <a:srgbClr val="000000"/>
              </a:solidFill>
              <a:effectLst/>
              <a:uFillTx/>
              <a:latin typeface="Arial"/>
            </a:endParaRPr>
          </a:p>
        </p:txBody>
      </p:sp>
      <p:sp>
        <p:nvSpPr>
          <p:cNvPr id="1266" name="Shape 69"/>
          <p:cNvSpPr/>
          <p:nvPr/>
        </p:nvSpPr>
        <p:spPr>
          <a:xfrm>
            <a:off x="621720" y="5440680"/>
            <a:ext cx="10947600" cy="548280"/>
          </a:xfrm>
          <a:prstGeom prst="roundRect">
            <a:avLst>
              <a:gd name="adj" fmla="val 6667"/>
            </a:avLst>
          </a:prstGeom>
          <a:solidFill>
            <a:srgbClr val="005730"/>
          </a:solidFill>
          <a:ln w="12700">
            <a:solidFill>
              <a:srgbClr val="005730"/>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67" name="Shape 70"/>
          <p:cNvSpPr/>
          <p:nvPr/>
        </p:nvSpPr>
        <p:spPr>
          <a:xfrm>
            <a:off x="621720" y="5440680"/>
            <a:ext cx="1508400" cy="54828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68" name="Text 71"/>
          <p:cNvSpPr/>
          <p:nvPr/>
        </p:nvSpPr>
        <p:spPr>
          <a:xfrm>
            <a:off x="740520" y="5440680"/>
            <a:ext cx="1270800" cy="54828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800" spc="71" strike="noStrike" u="none">
                <a:solidFill>
                  <a:srgbClr val="005730"/>
                </a:solidFill>
                <a:effectLst/>
                <a:uFillTx/>
                <a:latin typeface="Calibri"/>
                <a:ea typeface="Calibri"/>
              </a:rPr>
              <a:t>BOARD IMPLICATION</a:t>
            </a:r>
            <a:endParaRPr b="0" lang="en-US" sz="800" strike="noStrike" u="none">
              <a:solidFill>
                <a:srgbClr val="000000"/>
              </a:solidFill>
              <a:effectLst/>
              <a:uFillTx/>
              <a:latin typeface="Arial"/>
            </a:endParaRPr>
          </a:p>
        </p:txBody>
      </p:sp>
      <p:sp>
        <p:nvSpPr>
          <p:cNvPr id="1269" name="Text 72"/>
          <p:cNvSpPr/>
          <p:nvPr/>
        </p:nvSpPr>
        <p:spPr>
          <a:xfrm>
            <a:off x="2322720" y="5495400"/>
            <a:ext cx="904572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50" strike="noStrike" u="none">
                <a:solidFill>
                  <a:srgbClr val="ffffff"/>
                </a:solidFill>
                <a:effectLst/>
                <a:uFillTx/>
                <a:latin typeface="Calibri"/>
                <a:ea typeface="Calibri"/>
              </a:rPr>
              <a:t>Strategy is where the convergence story becomes tangible. It is our clearest chance to be first, not fast follower.</a:t>
            </a:r>
            <a:endParaRPr b="0" lang="en-US" sz="950" strike="noStrike" u="none">
              <a:solidFill>
                <a:srgbClr val="000000"/>
              </a:solidFill>
              <a:effectLst/>
              <a:uFillTx/>
              <a:latin typeface="Arial"/>
            </a:endParaRPr>
          </a:p>
        </p:txBody>
      </p:sp>
      <p:sp>
        <p:nvSpPr>
          <p:cNvPr id="1270" name="Text 73"/>
          <p:cNvSpPr/>
          <p:nvPr/>
        </p:nvSpPr>
        <p:spPr>
          <a:xfrm>
            <a:off x="621720" y="6053400"/>
            <a:ext cx="10947600" cy="22824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720" strike="noStrike" u="none">
                <a:solidFill>
                  <a:srgbClr val="5a625c"/>
                </a:solidFill>
                <a:effectLst/>
                <a:uFillTx/>
                <a:latin typeface="Calibri"/>
                <a:ea typeface="Calibri"/>
              </a:rPr>
              <a:t>Source: RA+ 2026 and 2027 roadmap, competitor public product pages (Watershed, osapiens, Sphera, Persefoni, Arcadia, Deepki).</a:t>
            </a:r>
            <a:endParaRPr b="0" lang="en-US" sz="720" strike="noStrike" u="none">
              <a:solidFill>
                <a:srgbClr val="000000"/>
              </a:solidFill>
              <a:effectLst/>
              <a:uFillTx/>
              <a:latin typeface="Arial"/>
            </a:endParaRPr>
          </a:p>
        </p:txBody>
      </p:sp>
      <p:sp>
        <p:nvSpPr>
          <p:cNvPr id="1271" name="Shape 74"/>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272" name="Text 75"/>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1273" name="Text 76"/>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1274" name="PlaceHolder 1"/>
          <p:cNvSpPr>
            <a:spLocks noGrp="1"/>
          </p:cNvSpPr>
          <p:nvPr>
            <p:ph type="sldNum" idx="34"/>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1555B526-2AF1-4AEA-A2A9-AFF26104A283}"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75"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1276"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1277" name="Shape 2"/>
          <p:cNvSpPr/>
          <p:nvPr/>
        </p:nvSpPr>
        <p:spPr>
          <a:xfrm>
            <a:off x="621720" y="311040"/>
            <a:ext cx="407772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78" name="Text 3"/>
          <p:cNvSpPr/>
          <p:nvPr/>
        </p:nvSpPr>
        <p:spPr>
          <a:xfrm>
            <a:off x="804600" y="329040"/>
            <a:ext cx="374868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CAPABILITY POSITION: CORE PLATFORM</a:t>
            </a:r>
            <a:endParaRPr b="0" lang="en-US" sz="950" strike="noStrike" u="none">
              <a:solidFill>
                <a:srgbClr val="000000"/>
              </a:solidFill>
              <a:effectLst/>
              <a:uFillTx/>
              <a:latin typeface="Arial"/>
            </a:endParaRPr>
          </a:p>
        </p:txBody>
      </p:sp>
      <p:sp>
        <p:nvSpPr>
          <p:cNvPr id="1279"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fontScale="92500" lnSpcReduction="9999"/>
          </a:bodyPr>
          <a:p>
            <a:pPr defTabSz="914400">
              <a:lnSpc>
                <a:spcPct val="100000"/>
              </a:lnSpc>
              <a:tabLst>
                <a:tab algn="l" pos="0"/>
              </a:tabLst>
            </a:pPr>
            <a:r>
              <a:rPr b="1" lang="en-US" sz="3200" strike="noStrike" u="none">
                <a:solidFill>
                  <a:srgbClr val="1e2420"/>
                </a:solidFill>
                <a:effectLst/>
                <a:uFillTx/>
                <a:latin typeface="Calibri"/>
                <a:ea typeface="Calibri"/>
              </a:rPr>
              <a:t>Core Platform: the capability rivals cannot copy quickly</a:t>
            </a:r>
            <a:endParaRPr b="0" lang="en-US" sz="3200" strike="noStrike" u="none">
              <a:solidFill>
                <a:srgbClr val="000000"/>
              </a:solidFill>
              <a:effectLst/>
              <a:uFillTx/>
              <a:latin typeface="Arial"/>
            </a:endParaRPr>
          </a:p>
        </p:txBody>
      </p:sp>
      <p:sp>
        <p:nvSpPr>
          <p:cNvPr id="1280"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None of this is sold on its own. All of it decides whether every other product can lead.</a:t>
            </a:r>
            <a:endParaRPr b="0" lang="en-US" sz="1250" strike="noStrike" u="none">
              <a:solidFill>
                <a:srgbClr val="000000"/>
              </a:solidFill>
              <a:effectLst/>
              <a:uFillTx/>
              <a:latin typeface="Arial"/>
            </a:endParaRPr>
          </a:p>
        </p:txBody>
      </p:sp>
      <p:sp>
        <p:nvSpPr>
          <p:cNvPr id="1281"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282" name="Shape 7"/>
          <p:cNvSpPr/>
          <p:nvPr/>
        </p:nvSpPr>
        <p:spPr>
          <a:xfrm>
            <a:off x="621720" y="2084760"/>
            <a:ext cx="2011320" cy="36540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83" name="Text 8"/>
          <p:cNvSpPr/>
          <p:nvPr/>
        </p:nvSpPr>
        <p:spPr>
          <a:xfrm>
            <a:off x="713160" y="2084760"/>
            <a:ext cx="1828440" cy="3654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CAPABILITY</a:t>
            </a:r>
            <a:endParaRPr b="0" lang="en-US" sz="760" strike="noStrike" u="none">
              <a:solidFill>
                <a:srgbClr val="000000"/>
              </a:solidFill>
              <a:effectLst/>
              <a:uFillTx/>
              <a:latin typeface="Arial"/>
            </a:endParaRPr>
          </a:p>
        </p:txBody>
      </p:sp>
      <p:sp>
        <p:nvSpPr>
          <p:cNvPr id="1284" name="Shape 9"/>
          <p:cNvSpPr/>
          <p:nvPr/>
        </p:nvSpPr>
        <p:spPr>
          <a:xfrm>
            <a:off x="2633400" y="2084760"/>
            <a:ext cx="3794400" cy="36540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85" name="Text 10"/>
          <p:cNvSpPr/>
          <p:nvPr/>
        </p:nvSpPr>
        <p:spPr>
          <a:xfrm>
            <a:off x="2724840" y="2084760"/>
            <a:ext cx="3611520" cy="3654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WHAT RA+ DELIVERS</a:t>
            </a:r>
            <a:endParaRPr b="0" lang="en-US" sz="760" strike="noStrike" u="none">
              <a:solidFill>
                <a:srgbClr val="000000"/>
              </a:solidFill>
              <a:effectLst/>
              <a:uFillTx/>
              <a:latin typeface="Arial"/>
            </a:endParaRPr>
          </a:p>
        </p:txBody>
      </p:sp>
      <p:sp>
        <p:nvSpPr>
          <p:cNvPr id="1286" name="Shape 11"/>
          <p:cNvSpPr/>
          <p:nvPr/>
        </p:nvSpPr>
        <p:spPr>
          <a:xfrm>
            <a:off x="6428160" y="2084760"/>
            <a:ext cx="1371240" cy="36540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87" name="Text 12"/>
          <p:cNvSpPr/>
          <p:nvPr/>
        </p:nvSpPr>
        <p:spPr>
          <a:xfrm>
            <a:off x="6519600" y="2084760"/>
            <a:ext cx="1188360" cy="3654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EXPECTED POSITION</a:t>
            </a:r>
            <a:endParaRPr b="0" lang="en-US" sz="760" strike="noStrike" u="none">
              <a:solidFill>
                <a:srgbClr val="000000"/>
              </a:solidFill>
              <a:effectLst/>
              <a:uFillTx/>
              <a:latin typeface="Arial"/>
            </a:endParaRPr>
          </a:p>
        </p:txBody>
      </p:sp>
      <p:sp>
        <p:nvSpPr>
          <p:cNvPr id="1288" name="Shape 13"/>
          <p:cNvSpPr/>
          <p:nvPr/>
        </p:nvSpPr>
        <p:spPr>
          <a:xfrm>
            <a:off x="7799760" y="2084760"/>
            <a:ext cx="3767040" cy="36540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289" name="Text 14"/>
          <p:cNvSpPr/>
          <p:nvPr/>
        </p:nvSpPr>
        <p:spPr>
          <a:xfrm>
            <a:off x="7891200" y="2084760"/>
            <a:ext cx="3584160" cy="3654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MARKET BENCHMARK</a:t>
            </a:r>
            <a:endParaRPr b="0" lang="en-US" sz="760" strike="noStrike" u="none">
              <a:solidFill>
                <a:srgbClr val="000000"/>
              </a:solidFill>
              <a:effectLst/>
              <a:uFillTx/>
              <a:latin typeface="Arial"/>
            </a:endParaRPr>
          </a:p>
        </p:txBody>
      </p:sp>
      <p:sp>
        <p:nvSpPr>
          <p:cNvPr id="1290" name="Shape 15"/>
          <p:cNvSpPr/>
          <p:nvPr/>
        </p:nvSpPr>
        <p:spPr>
          <a:xfrm>
            <a:off x="621720" y="2450520"/>
            <a:ext cx="201132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91" name="Text 16"/>
          <p:cNvSpPr/>
          <p:nvPr/>
        </p:nvSpPr>
        <p:spPr>
          <a:xfrm>
            <a:off x="713160" y="2496240"/>
            <a:ext cx="182844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Shared hierarchy and ontology</a:t>
            </a:r>
            <a:endParaRPr b="0" lang="en-US" sz="900" strike="noStrike" u="none">
              <a:solidFill>
                <a:srgbClr val="000000"/>
              </a:solidFill>
              <a:effectLst/>
              <a:uFillTx/>
              <a:latin typeface="Arial"/>
            </a:endParaRPr>
          </a:p>
        </p:txBody>
      </p:sp>
      <p:sp>
        <p:nvSpPr>
          <p:cNvPr id="1292" name="Shape 17"/>
          <p:cNvSpPr/>
          <p:nvPr/>
        </p:nvSpPr>
        <p:spPr>
          <a:xfrm>
            <a:off x="2633400" y="2450520"/>
            <a:ext cx="379440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93" name="Text 18"/>
          <p:cNvSpPr/>
          <p:nvPr/>
        </p:nvSpPr>
        <p:spPr>
          <a:xfrm>
            <a:off x="2724840" y="2496240"/>
            <a:ext cx="361152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One organisational and asset hierarchy every product inherits.</a:t>
            </a:r>
            <a:endParaRPr b="0" lang="en-US" sz="800" strike="noStrike" u="none">
              <a:solidFill>
                <a:srgbClr val="000000"/>
              </a:solidFill>
              <a:effectLst/>
              <a:uFillTx/>
              <a:latin typeface="Arial"/>
            </a:endParaRPr>
          </a:p>
        </p:txBody>
      </p:sp>
      <p:sp>
        <p:nvSpPr>
          <p:cNvPr id="1294" name="Shape 19"/>
          <p:cNvSpPr/>
          <p:nvPr/>
        </p:nvSpPr>
        <p:spPr>
          <a:xfrm>
            <a:off x="6428160" y="2450520"/>
            <a:ext cx="137124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95" name="Shape 20"/>
          <p:cNvSpPr/>
          <p:nvPr/>
        </p:nvSpPr>
        <p:spPr>
          <a:xfrm>
            <a:off x="6501240" y="2565720"/>
            <a:ext cx="1225080" cy="237240"/>
          </a:xfrm>
          <a:prstGeom prst="roundRect">
            <a:avLst>
              <a:gd name="adj" fmla="val 46154"/>
            </a:avLst>
          </a:prstGeom>
          <a:solidFill>
            <a:srgbClr val="eaf8ed"/>
          </a:solidFill>
          <a:ln w="635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96" name="Text 21"/>
          <p:cNvSpPr/>
          <p:nvPr/>
        </p:nvSpPr>
        <p:spPr>
          <a:xfrm>
            <a:off x="6501240" y="256572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007a27"/>
                </a:solidFill>
                <a:effectLst/>
                <a:uFillTx/>
                <a:latin typeface="Calibri"/>
                <a:ea typeface="Calibri"/>
              </a:rPr>
              <a:t>Market leading</a:t>
            </a:r>
            <a:endParaRPr b="0" lang="en-US" sz="740" strike="noStrike" u="none">
              <a:solidFill>
                <a:srgbClr val="000000"/>
              </a:solidFill>
              <a:effectLst/>
              <a:uFillTx/>
              <a:latin typeface="Arial"/>
            </a:endParaRPr>
          </a:p>
        </p:txBody>
      </p:sp>
      <p:sp>
        <p:nvSpPr>
          <p:cNvPr id="1297" name="Shape 22"/>
          <p:cNvSpPr/>
          <p:nvPr/>
        </p:nvSpPr>
        <p:spPr>
          <a:xfrm>
            <a:off x="7799760" y="2450520"/>
            <a:ext cx="376704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298" name="Text 23"/>
          <p:cNvSpPr/>
          <p:nvPr/>
        </p:nvSpPr>
        <p:spPr>
          <a:xfrm>
            <a:off x="7891200" y="2496240"/>
            <a:ext cx="358416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Multi product rivals commonly run separate models per product.</a:t>
            </a:r>
            <a:endParaRPr b="0" lang="en-US" sz="800" strike="noStrike" u="none">
              <a:solidFill>
                <a:srgbClr val="000000"/>
              </a:solidFill>
              <a:effectLst/>
              <a:uFillTx/>
              <a:latin typeface="Arial"/>
            </a:endParaRPr>
          </a:p>
        </p:txBody>
      </p:sp>
      <p:sp>
        <p:nvSpPr>
          <p:cNvPr id="1299" name="Shape 24"/>
          <p:cNvSpPr/>
          <p:nvPr/>
        </p:nvSpPr>
        <p:spPr>
          <a:xfrm>
            <a:off x="621720" y="2918520"/>
            <a:ext cx="201132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00" name="Text 25"/>
          <p:cNvSpPr/>
          <p:nvPr/>
        </p:nvSpPr>
        <p:spPr>
          <a:xfrm>
            <a:off x="713160" y="2964240"/>
            <a:ext cx="182844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AI Intelligence layer</a:t>
            </a:r>
            <a:endParaRPr b="0" lang="en-US" sz="900" strike="noStrike" u="none">
              <a:solidFill>
                <a:srgbClr val="000000"/>
              </a:solidFill>
              <a:effectLst/>
              <a:uFillTx/>
              <a:latin typeface="Arial"/>
            </a:endParaRPr>
          </a:p>
        </p:txBody>
      </p:sp>
      <p:sp>
        <p:nvSpPr>
          <p:cNvPr id="1301" name="Shape 26"/>
          <p:cNvSpPr/>
          <p:nvPr/>
        </p:nvSpPr>
        <p:spPr>
          <a:xfrm>
            <a:off x="2633400" y="2918520"/>
            <a:ext cx="379440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02" name="Text 27"/>
          <p:cNvSpPr/>
          <p:nvPr/>
        </p:nvSpPr>
        <p:spPr>
          <a:xfrm>
            <a:off x="2724840" y="2964240"/>
            <a:ext cx="361152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Shared AI services, agents and reasoning consumed by every product.</a:t>
            </a:r>
            <a:endParaRPr b="0" lang="en-US" sz="800" strike="noStrike" u="none">
              <a:solidFill>
                <a:srgbClr val="000000"/>
              </a:solidFill>
              <a:effectLst/>
              <a:uFillTx/>
              <a:latin typeface="Arial"/>
            </a:endParaRPr>
          </a:p>
        </p:txBody>
      </p:sp>
      <p:sp>
        <p:nvSpPr>
          <p:cNvPr id="1303" name="Shape 28"/>
          <p:cNvSpPr/>
          <p:nvPr/>
        </p:nvSpPr>
        <p:spPr>
          <a:xfrm>
            <a:off x="6428160" y="2918520"/>
            <a:ext cx="137124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04" name="Shape 29"/>
          <p:cNvSpPr/>
          <p:nvPr/>
        </p:nvSpPr>
        <p:spPr>
          <a:xfrm>
            <a:off x="6501240" y="3033360"/>
            <a:ext cx="1225080" cy="237240"/>
          </a:xfrm>
          <a:prstGeom prst="roundRect">
            <a:avLst>
              <a:gd name="adj" fmla="val 46154"/>
            </a:avLst>
          </a:prstGeom>
          <a:solidFill>
            <a:srgbClr val="eaf8ed"/>
          </a:solidFill>
          <a:ln w="635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05" name="Text 30"/>
          <p:cNvSpPr/>
          <p:nvPr/>
        </p:nvSpPr>
        <p:spPr>
          <a:xfrm>
            <a:off x="6501240" y="303336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007a27"/>
                </a:solidFill>
                <a:effectLst/>
                <a:uFillTx/>
                <a:latin typeface="Calibri"/>
                <a:ea typeface="Calibri"/>
              </a:rPr>
              <a:t>Market leading</a:t>
            </a:r>
            <a:endParaRPr b="0" lang="en-US" sz="740" strike="noStrike" u="none">
              <a:solidFill>
                <a:srgbClr val="000000"/>
              </a:solidFill>
              <a:effectLst/>
              <a:uFillTx/>
              <a:latin typeface="Arial"/>
            </a:endParaRPr>
          </a:p>
        </p:txBody>
      </p:sp>
      <p:sp>
        <p:nvSpPr>
          <p:cNvPr id="1306" name="Shape 31"/>
          <p:cNvSpPr/>
          <p:nvPr/>
        </p:nvSpPr>
        <p:spPr>
          <a:xfrm>
            <a:off x="7799760" y="2918520"/>
            <a:ext cx="376704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07" name="Text 32"/>
          <p:cNvSpPr/>
          <p:nvPr/>
        </p:nvSpPr>
        <p:spPr>
          <a:xfrm>
            <a:off x="7891200" y="2964240"/>
            <a:ext cx="358416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Point solutions bolt on separate AI stacks; RA+ embeds intelligence once.</a:t>
            </a:r>
            <a:endParaRPr b="0" lang="en-US" sz="800" strike="noStrike" u="none">
              <a:solidFill>
                <a:srgbClr val="000000"/>
              </a:solidFill>
              <a:effectLst/>
              <a:uFillTx/>
              <a:latin typeface="Arial"/>
            </a:endParaRPr>
          </a:p>
        </p:txBody>
      </p:sp>
      <p:sp>
        <p:nvSpPr>
          <p:cNvPr id="1308" name="Shape 33"/>
          <p:cNvSpPr/>
          <p:nvPr/>
        </p:nvSpPr>
        <p:spPr>
          <a:xfrm>
            <a:off x="621720" y="3386160"/>
            <a:ext cx="201132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09" name="Text 34"/>
          <p:cNvSpPr/>
          <p:nvPr/>
        </p:nvSpPr>
        <p:spPr>
          <a:xfrm>
            <a:off x="713160" y="3431880"/>
            <a:ext cx="182844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Config engine, calc methods, templates</a:t>
            </a:r>
            <a:endParaRPr b="0" lang="en-US" sz="900" strike="noStrike" u="none">
              <a:solidFill>
                <a:srgbClr val="000000"/>
              </a:solidFill>
              <a:effectLst/>
              <a:uFillTx/>
              <a:latin typeface="Arial"/>
            </a:endParaRPr>
          </a:p>
        </p:txBody>
      </p:sp>
      <p:sp>
        <p:nvSpPr>
          <p:cNvPr id="1310" name="Shape 35"/>
          <p:cNvSpPr/>
          <p:nvPr/>
        </p:nvSpPr>
        <p:spPr>
          <a:xfrm>
            <a:off x="2633400" y="3386160"/>
            <a:ext cx="379440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11" name="Text 36"/>
          <p:cNvSpPr/>
          <p:nvPr/>
        </p:nvSpPr>
        <p:spPr>
          <a:xfrm>
            <a:off x="2724840" y="3431880"/>
            <a:ext cx="361152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Configuration promoted and reused across products and clients.</a:t>
            </a:r>
            <a:endParaRPr b="0" lang="en-US" sz="800" strike="noStrike" u="none">
              <a:solidFill>
                <a:srgbClr val="000000"/>
              </a:solidFill>
              <a:effectLst/>
              <a:uFillTx/>
              <a:latin typeface="Arial"/>
            </a:endParaRPr>
          </a:p>
        </p:txBody>
      </p:sp>
      <p:sp>
        <p:nvSpPr>
          <p:cNvPr id="1312" name="Shape 37"/>
          <p:cNvSpPr/>
          <p:nvPr/>
        </p:nvSpPr>
        <p:spPr>
          <a:xfrm>
            <a:off x="6428160" y="3386160"/>
            <a:ext cx="137124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13" name="Shape 38"/>
          <p:cNvSpPr/>
          <p:nvPr/>
        </p:nvSpPr>
        <p:spPr>
          <a:xfrm>
            <a:off x="6501240" y="3501360"/>
            <a:ext cx="1225080" cy="237240"/>
          </a:xfrm>
          <a:prstGeom prst="roundRect">
            <a:avLst>
              <a:gd name="adj" fmla="val 46154"/>
            </a:avLst>
          </a:prstGeom>
          <a:solidFill>
            <a:srgbClr val="f1f3f2"/>
          </a:solidFill>
          <a:ln w="635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14" name="Text 39"/>
          <p:cNvSpPr/>
          <p:nvPr/>
        </p:nvSpPr>
        <p:spPr>
          <a:xfrm>
            <a:off x="6501240" y="350136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5a625c"/>
                </a:solidFill>
                <a:effectLst/>
                <a:uFillTx/>
                <a:latin typeface="Calibri"/>
                <a:ea typeface="Calibri"/>
              </a:rPr>
              <a:t>On parity</a:t>
            </a:r>
            <a:endParaRPr b="0" lang="en-US" sz="740" strike="noStrike" u="none">
              <a:solidFill>
                <a:srgbClr val="000000"/>
              </a:solidFill>
              <a:effectLst/>
              <a:uFillTx/>
              <a:latin typeface="Arial"/>
            </a:endParaRPr>
          </a:p>
        </p:txBody>
      </p:sp>
      <p:sp>
        <p:nvSpPr>
          <p:cNvPr id="1315" name="Shape 40"/>
          <p:cNvSpPr/>
          <p:nvPr/>
        </p:nvSpPr>
        <p:spPr>
          <a:xfrm>
            <a:off x="7799760" y="3386160"/>
            <a:ext cx="376704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16" name="Text 41"/>
          <p:cNvSpPr/>
          <p:nvPr/>
        </p:nvSpPr>
        <p:spPr>
          <a:xfrm>
            <a:off x="7891200" y="3431880"/>
            <a:ext cx="358416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Comparable to leading platforms.</a:t>
            </a:r>
            <a:endParaRPr b="0" lang="en-US" sz="800" strike="noStrike" u="none">
              <a:solidFill>
                <a:srgbClr val="000000"/>
              </a:solidFill>
              <a:effectLst/>
              <a:uFillTx/>
              <a:latin typeface="Arial"/>
            </a:endParaRPr>
          </a:p>
        </p:txBody>
      </p:sp>
      <p:sp>
        <p:nvSpPr>
          <p:cNvPr id="1317" name="Shape 42"/>
          <p:cNvSpPr/>
          <p:nvPr/>
        </p:nvSpPr>
        <p:spPr>
          <a:xfrm>
            <a:off x="621720" y="3854160"/>
            <a:ext cx="201132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18" name="Text 43"/>
          <p:cNvSpPr/>
          <p:nvPr/>
        </p:nvSpPr>
        <p:spPr>
          <a:xfrm>
            <a:off x="713160" y="3899880"/>
            <a:ext cx="182844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Ingestion and data quality</a:t>
            </a:r>
            <a:endParaRPr b="0" lang="en-US" sz="900" strike="noStrike" u="none">
              <a:solidFill>
                <a:srgbClr val="000000"/>
              </a:solidFill>
              <a:effectLst/>
              <a:uFillTx/>
              <a:latin typeface="Arial"/>
            </a:endParaRPr>
          </a:p>
        </p:txBody>
      </p:sp>
      <p:sp>
        <p:nvSpPr>
          <p:cNvPr id="1319" name="Shape 44"/>
          <p:cNvSpPr/>
          <p:nvPr/>
        </p:nvSpPr>
        <p:spPr>
          <a:xfrm>
            <a:off x="2633400" y="3854160"/>
            <a:ext cx="379440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20" name="Text 45"/>
          <p:cNvSpPr/>
          <p:nvPr/>
        </p:nvSpPr>
        <p:spPr>
          <a:xfrm>
            <a:off x="2724840" y="3899880"/>
            <a:ext cx="361152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Advanced ingestion, transformation rules and quality scoring.</a:t>
            </a:r>
            <a:endParaRPr b="0" lang="en-US" sz="800" strike="noStrike" u="none">
              <a:solidFill>
                <a:srgbClr val="000000"/>
              </a:solidFill>
              <a:effectLst/>
              <a:uFillTx/>
              <a:latin typeface="Arial"/>
            </a:endParaRPr>
          </a:p>
        </p:txBody>
      </p:sp>
      <p:sp>
        <p:nvSpPr>
          <p:cNvPr id="1321" name="Shape 46"/>
          <p:cNvSpPr/>
          <p:nvPr/>
        </p:nvSpPr>
        <p:spPr>
          <a:xfrm>
            <a:off x="6428160" y="3854160"/>
            <a:ext cx="137124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22" name="Shape 47"/>
          <p:cNvSpPr/>
          <p:nvPr/>
        </p:nvSpPr>
        <p:spPr>
          <a:xfrm>
            <a:off x="6501240" y="3969360"/>
            <a:ext cx="1225080" cy="237240"/>
          </a:xfrm>
          <a:prstGeom prst="roundRect">
            <a:avLst>
              <a:gd name="adj" fmla="val 46154"/>
            </a:avLst>
          </a:prstGeom>
          <a:solidFill>
            <a:srgbClr val="f1f3f2"/>
          </a:solidFill>
          <a:ln w="635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23" name="Text 48"/>
          <p:cNvSpPr/>
          <p:nvPr/>
        </p:nvSpPr>
        <p:spPr>
          <a:xfrm>
            <a:off x="6501240" y="396936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5a625c"/>
                </a:solidFill>
                <a:effectLst/>
                <a:uFillTx/>
                <a:latin typeface="Calibri"/>
                <a:ea typeface="Calibri"/>
              </a:rPr>
              <a:t>On parity</a:t>
            </a:r>
            <a:endParaRPr b="0" lang="en-US" sz="740" strike="noStrike" u="none">
              <a:solidFill>
                <a:srgbClr val="000000"/>
              </a:solidFill>
              <a:effectLst/>
              <a:uFillTx/>
              <a:latin typeface="Arial"/>
            </a:endParaRPr>
          </a:p>
        </p:txBody>
      </p:sp>
      <p:sp>
        <p:nvSpPr>
          <p:cNvPr id="1324" name="Shape 49"/>
          <p:cNvSpPr/>
          <p:nvPr/>
        </p:nvSpPr>
        <p:spPr>
          <a:xfrm>
            <a:off x="7799760" y="3854160"/>
            <a:ext cx="376704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25" name="Text 50"/>
          <p:cNvSpPr/>
          <p:nvPr/>
        </p:nvSpPr>
        <p:spPr>
          <a:xfrm>
            <a:off x="7891200" y="3899880"/>
            <a:ext cx="358416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Table stakes at enterprise scale.</a:t>
            </a:r>
            <a:endParaRPr b="0" lang="en-US" sz="800" strike="noStrike" u="none">
              <a:solidFill>
                <a:srgbClr val="000000"/>
              </a:solidFill>
              <a:effectLst/>
              <a:uFillTx/>
              <a:latin typeface="Arial"/>
            </a:endParaRPr>
          </a:p>
        </p:txBody>
      </p:sp>
      <p:sp>
        <p:nvSpPr>
          <p:cNvPr id="1326" name="Shape 51"/>
          <p:cNvSpPr/>
          <p:nvPr/>
        </p:nvSpPr>
        <p:spPr>
          <a:xfrm>
            <a:off x="621720" y="4322160"/>
            <a:ext cx="201132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27" name="Text 52"/>
          <p:cNvSpPr/>
          <p:nvPr/>
        </p:nvSpPr>
        <p:spPr>
          <a:xfrm>
            <a:off x="713160" y="4367880"/>
            <a:ext cx="182844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Lineage, evidence and audit trail</a:t>
            </a:r>
            <a:endParaRPr b="0" lang="en-US" sz="900" strike="noStrike" u="none">
              <a:solidFill>
                <a:srgbClr val="000000"/>
              </a:solidFill>
              <a:effectLst/>
              <a:uFillTx/>
              <a:latin typeface="Arial"/>
            </a:endParaRPr>
          </a:p>
        </p:txBody>
      </p:sp>
      <p:sp>
        <p:nvSpPr>
          <p:cNvPr id="1328" name="Shape 53"/>
          <p:cNvSpPr/>
          <p:nvPr/>
        </p:nvSpPr>
        <p:spPr>
          <a:xfrm>
            <a:off x="2633400" y="4322160"/>
            <a:ext cx="379440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29" name="Text 54"/>
          <p:cNvSpPr/>
          <p:nvPr/>
        </p:nvSpPr>
        <p:spPr>
          <a:xfrm>
            <a:off x="2724840" y="4367880"/>
            <a:ext cx="361152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Traceability from raw data point to disclosed number.</a:t>
            </a:r>
            <a:endParaRPr b="0" lang="en-US" sz="800" strike="noStrike" u="none">
              <a:solidFill>
                <a:srgbClr val="000000"/>
              </a:solidFill>
              <a:effectLst/>
              <a:uFillTx/>
              <a:latin typeface="Arial"/>
            </a:endParaRPr>
          </a:p>
        </p:txBody>
      </p:sp>
      <p:sp>
        <p:nvSpPr>
          <p:cNvPr id="1330" name="Shape 55"/>
          <p:cNvSpPr/>
          <p:nvPr/>
        </p:nvSpPr>
        <p:spPr>
          <a:xfrm>
            <a:off x="6428160" y="4322160"/>
            <a:ext cx="137124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31" name="Shape 56"/>
          <p:cNvSpPr/>
          <p:nvPr/>
        </p:nvSpPr>
        <p:spPr>
          <a:xfrm>
            <a:off x="6501240" y="4437000"/>
            <a:ext cx="1225080" cy="237240"/>
          </a:xfrm>
          <a:prstGeom prst="roundRect">
            <a:avLst>
              <a:gd name="adj" fmla="val 46154"/>
            </a:avLst>
          </a:prstGeom>
          <a:solidFill>
            <a:srgbClr val="f1f3f2"/>
          </a:solidFill>
          <a:ln w="635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32" name="Text 57"/>
          <p:cNvSpPr/>
          <p:nvPr/>
        </p:nvSpPr>
        <p:spPr>
          <a:xfrm>
            <a:off x="6501240" y="443700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5a625c"/>
                </a:solidFill>
                <a:effectLst/>
                <a:uFillTx/>
                <a:latin typeface="Calibri"/>
                <a:ea typeface="Calibri"/>
              </a:rPr>
              <a:t>On parity</a:t>
            </a:r>
            <a:endParaRPr b="0" lang="en-US" sz="740" strike="noStrike" u="none">
              <a:solidFill>
                <a:srgbClr val="000000"/>
              </a:solidFill>
              <a:effectLst/>
              <a:uFillTx/>
              <a:latin typeface="Arial"/>
            </a:endParaRPr>
          </a:p>
        </p:txBody>
      </p:sp>
      <p:sp>
        <p:nvSpPr>
          <p:cNvPr id="1333" name="Shape 58"/>
          <p:cNvSpPr/>
          <p:nvPr/>
        </p:nvSpPr>
        <p:spPr>
          <a:xfrm>
            <a:off x="7799760" y="4322160"/>
            <a:ext cx="3767040" cy="46764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34" name="Text 59"/>
          <p:cNvSpPr/>
          <p:nvPr/>
        </p:nvSpPr>
        <p:spPr>
          <a:xfrm>
            <a:off x="7891200" y="4367880"/>
            <a:ext cx="358416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Expected by enterprise buyers and available from leading platforms.</a:t>
            </a:r>
            <a:endParaRPr b="0" lang="en-US" sz="800" strike="noStrike" u="none">
              <a:solidFill>
                <a:srgbClr val="000000"/>
              </a:solidFill>
              <a:effectLst/>
              <a:uFillTx/>
              <a:latin typeface="Arial"/>
            </a:endParaRPr>
          </a:p>
        </p:txBody>
      </p:sp>
      <p:sp>
        <p:nvSpPr>
          <p:cNvPr id="1335" name="Shape 60"/>
          <p:cNvSpPr/>
          <p:nvPr/>
        </p:nvSpPr>
        <p:spPr>
          <a:xfrm>
            <a:off x="621720" y="4789800"/>
            <a:ext cx="201132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36" name="Text 61"/>
          <p:cNvSpPr/>
          <p:nvPr/>
        </p:nvSpPr>
        <p:spPr>
          <a:xfrm>
            <a:off x="713160" y="4835520"/>
            <a:ext cx="182844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Scale and performance</a:t>
            </a:r>
            <a:endParaRPr b="0" lang="en-US" sz="900" strike="noStrike" u="none">
              <a:solidFill>
                <a:srgbClr val="000000"/>
              </a:solidFill>
              <a:effectLst/>
              <a:uFillTx/>
              <a:latin typeface="Arial"/>
            </a:endParaRPr>
          </a:p>
        </p:txBody>
      </p:sp>
      <p:sp>
        <p:nvSpPr>
          <p:cNvPr id="1337" name="Shape 62"/>
          <p:cNvSpPr/>
          <p:nvPr/>
        </p:nvSpPr>
        <p:spPr>
          <a:xfrm>
            <a:off x="2633400" y="4789800"/>
            <a:ext cx="379440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38" name="Text 63"/>
          <p:cNvSpPr/>
          <p:nvPr/>
        </p:nvSpPr>
        <p:spPr>
          <a:xfrm>
            <a:off x="2724840" y="4835520"/>
            <a:ext cx="361152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Enterprise scale performance across the product family.</a:t>
            </a:r>
            <a:endParaRPr b="0" lang="en-US" sz="800" strike="noStrike" u="none">
              <a:solidFill>
                <a:srgbClr val="000000"/>
              </a:solidFill>
              <a:effectLst/>
              <a:uFillTx/>
              <a:latin typeface="Arial"/>
            </a:endParaRPr>
          </a:p>
        </p:txBody>
      </p:sp>
      <p:sp>
        <p:nvSpPr>
          <p:cNvPr id="1339" name="Shape 64"/>
          <p:cNvSpPr/>
          <p:nvPr/>
        </p:nvSpPr>
        <p:spPr>
          <a:xfrm>
            <a:off x="6428160" y="4789800"/>
            <a:ext cx="137124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40" name="Shape 65"/>
          <p:cNvSpPr/>
          <p:nvPr/>
        </p:nvSpPr>
        <p:spPr>
          <a:xfrm>
            <a:off x="6501240" y="4905000"/>
            <a:ext cx="1225080" cy="237240"/>
          </a:xfrm>
          <a:prstGeom prst="roundRect">
            <a:avLst>
              <a:gd name="adj" fmla="val 46154"/>
            </a:avLst>
          </a:prstGeom>
          <a:solidFill>
            <a:srgbClr val="f1f3f2"/>
          </a:solidFill>
          <a:ln w="635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41" name="Text 66"/>
          <p:cNvSpPr/>
          <p:nvPr/>
        </p:nvSpPr>
        <p:spPr>
          <a:xfrm>
            <a:off x="6501240" y="490500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5a625c"/>
                </a:solidFill>
                <a:effectLst/>
                <a:uFillTx/>
                <a:latin typeface="Calibri"/>
                <a:ea typeface="Calibri"/>
              </a:rPr>
              <a:t>On parity</a:t>
            </a:r>
            <a:endParaRPr b="0" lang="en-US" sz="740" strike="noStrike" u="none">
              <a:solidFill>
                <a:srgbClr val="000000"/>
              </a:solidFill>
              <a:effectLst/>
              <a:uFillTx/>
              <a:latin typeface="Arial"/>
            </a:endParaRPr>
          </a:p>
        </p:txBody>
      </p:sp>
      <p:sp>
        <p:nvSpPr>
          <p:cNvPr id="1342" name="Shape 67"/>
          <p:cNvSpPr/>
          <p:nvPr/>
        </p:nvSpPr>
        <p:spPr>
          <a:xfrm>
            <a:off x="7799760" y="4789800"/>
            <a:ext cx="3767040" cy="4676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43" name="Text 68"/>
          <p:cNvSpPr/>
          <p:nvPr/>
        </p:nvSpPr>
        <p:spPr>
          <a:xfrm>
            <a:off x="7891200" y="4835520"/>
            <a:ext cx="3584160" cy="3762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Enterprise scale performance comparable to leading platforms.</a:t>
            </a:r>
            <a:endParaRPr b="0" lang="en-US" sz="800" strike="noStrike" u="none">
              <a:solidFill>
                <a:srgbClr val="000000"/>
              </a:solidFill>
              <a:effectLst/>
              <a:uFillTx/>
              <a:latin typeface="Arial"/>
            </a:endParaRPr>
          </a:p>
        </p:txBody>
      </p:sp>
      <p:sp>
        <p:nvSpPr>
          <p:cNvPr id="1344" name="Shape 69"/>
          <p:cNvSpPr/>
          <p:nvPr/>
        </p:nvSpPr>
        <p:spPr>
          <a:xfrm>
            <a:off x="621720" y="5440680"/>
            <a:ext cx="10947600" cy="548280"/>
          </a:xfrm>
          <a:prstGeom prst="roundRect">
            <a:avLst>
              <a:gd name="adj" fmla="val 6667"/>
            </a:avLst>
          </a:prstGeom>
          <a:solidFill>
            <a:srgbClr val="005730"/>
          </a:solidFill>
          <a:ln w="12700">
            <a:solidFill>
              <a:srgbClr val="005730"/>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45" name="Shape 70"/>
          <p:cNvSpPr/>
          <p:nvPr/>
        </p:nvSpPr>
        <p:spPr>
          <a:xfrm>
            <a:off x="621720" y="5440680"/>
            <a:ext cx="1508400" cy="54828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46" name="Text 71"/>
          <p:cNvSpPr/>
          <p:nvPr/>
        </p:nvSpPr>
        <p:spPr>
          <a:xfrm>
            <a:off x="740520" y="5440680"/>
            <a:ext cx="1270800" cy="54828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800" spc="71" strike="noStrike" u="none">
                <a:solidFill>
                  <a:srgbClr val="005730"/>
                </a:solidFill>
                <a:effectLst/>
                <a:uFillTx/>
                <a:latin typeface="Calibri"/>
                <a:ea typeface="Calibri"/>
              </a:rPr>
              <a:t>BOARD IMPLICATION</a:t>
            </a:r>
            <a:endParaRPr b="0" lang="en-US" sz="800" strike="noStrike" u="none">
              <a:solidFill>
                <a:srgbClr val="000000"/>
              </a:solidFill>
              <a:effectLst/>
              <a:uFillTx/>
              <a:latin typeface="Arial"/>
            </a:endParaRPr>
          </a:p>
        </p:txBody>
      </p:sp>
      <p:sp>
        <p:nvSpPr>
          <p:cNvPr id="1347" name="Text 72"/>
          <p:cNvSpPr/>
          <p:nvPr/>
        </p:nvSpPr>
        <p:spPr>
          <a:xfrm>
            <a:off x="2322720" y="5495400"/>
            <a:ext cx="904572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50" strike="noStrike" u="none">
                <a:solidFill>
                  <a:srgbClr val="ffffff"/>
                </a:solidFill>
                <a:effectLst/>
                <a:uFillTx/>
                <a:latin typeface="Calibri"/>
                <a:ea typeface="Calibri"/>
              </a:rPr>
              <a:t>Roughly a third of capacity protected for core is what makes every product level claim on the previous slides defensible.</a:t>
            </a:r>
            <a:endParaRPr b="0" lang="en-US" sz="950" strike="noStrike" u="none">
              <a:solidFill>
                <a:srgbClr val="000000"/>
              </a:solidFill>
              <a:effectLst/>
              <a:uFillTx/>
              <a:latin typeface="Arial"/>
            </a:endParaRPr>
          </a:p>
        </p:txBody>
      </p:sp>
      <p:sp>
        <p:nvSpPr>
          <p:cNvPr id="1348" name="Text 73"/>
          <p:cNvSpPr/>
          <p:nvPr/>
        </p:nvSpPr>
        <p:spPr>
          <a:xfrm>
            <a:off x="621720" y="6053400"/>
            <a:ext cx="10947600" cy="22824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720" strike="noStrike" u="none">
                <a:solidFill>
                  <a:srgbClr val="5a625c"/>
                </a:solidFill>
                <a:effectLst/>
                <a:uFillTx/>
                <a:latin typeface="Calibri"/>
                <a:ea typeface="Calibri"/>
              </a:rPr>
              <a:t>Source: RA+ 2026 and 2027 roadmap, competitor public product pages (Watershed, osapiens, Sphera, Persefoni, Arcadia, Deepki).</a:t>
            </a:r>
            <a:endParaRPr b="0" lang="en-US" sz="720" strike="noStrike" u="none">
              <a:solidFill>
                <a:srgbClr val="000000"/>
              </a:solidFill>
              <a:effectLst/>
              <a:uFillTx/>
              <a:latin typeface="Arial"/>
            </a:endParaRPr>
          </a:p>
        </p:txBody>
      </p:sp>
      <p:sp>
        <p:nvSpPr>
          <p:cNvPr id="1349" name="Shape 74"/>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350" name="Text 75"/>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1351" name="Text 76"/>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1352" name="PlaceHolder 1"/>
          <p:cNvSpPr>
            <a:spLocks noGrp="1"/>
          </p:cNvSpPr>
          <p:nvPr>
            <p:ph type="sldNum" idx="35"/>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F9AF1BEC-5892-40F8-A9E1-A7DD35FC7C7D}"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53"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1354"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1355" name="Shape 2"/>
          <p:cNvSpPr/>
          <p:nvPr/>
        </p:nvSpPr>
        <p:spPr>
          <a:xfrm>
            <a:off x="621720" y="311040"/>
            <a:ext cx="376236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56" name="Text 3"/>
          <p:cNvSpPr/>
          <p:nvPr/>
        </p:nvSpPr>
        <p:spPr>
          <a:xfrm>
            <a:off x="804600" y="329040"/>
            <a:ext cx="343332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HEAD TO HEAD: ENERGY MANAGEMENT</a:t>
            </a:r>
            <a:endParaRPr b="0" lang="en-US" sz="950" strike="noStrike" u="none">
              <a:solidFill>
                <a:srgbClr val="000000"/>
              </a:solidFill>
              <a:effectLst/>
              <a:uFillTx/>
              <a:latin typeface="Arial"/>
            </a:endParaRPr>
          </a:p>
        </p:txBody>
      </p:sp>
      <p:sp>
        <p:nvSpPr>
          <p:cNvPr id="1357"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fontScale="92500" lnSpcReduction="9999"/>
          </a:bodyPr>
          <a:p>
            <a:pPr defTabSz="914400">
              <a:lnSpc>
                <a:spcPct val="100000"/>
              </a:lnSpc>
              <a:tabLst>
                <a:tab algn="l" pos="0"/>
              </a:tabLst>
            </a:pPr>
            <a:r>
              <a:rPr b="1" lang="en-US" sz="3200" strike="noStrike" u="none">
                <a:solidFill>
                  <a:srgbClr val="1e2420"/>
                </a:solidFill>
                <a:effectLst/>
                <a:uFillTx/>
                <a:latin typeface="Calibri"/>
                <a:ea typeface="Calibri"/>
              </a:rPr>
              <a:t>RA+ Energy &amp; Efficiency vs the energy management field</a:t>
            </a:r>
            <a:endParaRPr b="0" lang="en-US" sz="3200" strike="noStrike" u="none">
              <a:solidFill>
                <a:srgbClr val="000000"/>
              </a:solidFill>
              <a:effectLst/>
              <a:uFillTx/>
              <a:latin typeface="Arial"/>
            </a:endParaRPr>
          </a:p>
        </p:txBody>
      </p:sp>
      <p:sp>
        <p:nvSpPr>
          <p:cNvPr id="1358"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fontScale="92500" lnSpcReduction="9999"/>
          </a:bodyPr>
          <a:p>
            <a:pPr defTabSz="914400">
              <a:lnSpc>
                <a:spcPct val="100000"/>
              </a:lnSpc>
              <a:tabLst>
                <a:tab algn="l" pos="0"/>
              </a:tabLst>
            </a:pPr>
            <a:r>
              <a:rPr b="0" lang="en-US" sz="1250" strike="noStrike" u="none">
                <a:solidFill>
                  <a:srgbClr val="5a625c"/>
                </a:solidFill>
                <a:effectLst/>
                <a:uFillTx/>
                <a:latin typeface="Calibri"/>
                <a:ea typeface="Calibri"/>
              </a:rPr>
              <a:t>IBM Envizi, EnergyCAP, Accruent, Arcadia and Honeywell Forge each cover part of the problem. None of them take energy data all the way to carbon, sourcing, flexibility and funded action on one platform.</a:t>
            </a:r>
            <a:endParaRPr b="0" lang="en-US" sz="1250" strike="noStrike" u="none">
              <a:solidFill>
                <a:srgbClr val="000000"/>
              </a:solidFill>
              <a:effectLst/>
              <a:uFillTx/>
              <a:latin typeface="Arial"/>
            </a:endParaRPr>
          </a:p>
        </p:txBody>
      </p:sp>
      <p:sp>
        <p:nvSpPr>
          <p:cNvPr id="1359"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360" name="Shape 7"/>
          <p:cNvSpPr/>
          <p:nvPr/>
        </p:nvSpPr>
        <p:spPr>
          <a:xfrm>
            <a:off x="621720" y="2084760"/>
            <a:ext cx="2011320" cy="36540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61" name="Text 8"/>
          <p:cNvSpPr/>
          <p:nvPr/>
        </p:nvSpPr>
        <p:spPr>
          <a:xfrm>
            <a:off x="713160" y="2084760"/>
            <a:ext cx="1828440" cy="3654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CAPABILITY</a:t>
            </a:r>
            <a:endParaRPr b="0" lang="en-US" sz="760" strike="noStrike" u="none">
              <a:solidFill>
                <a:srgbClr val="000000"/>
              </a:solidFill>
              <a:effectLst/>
              <a:uFillTx/>
              <a:latin typeface="Arial"/>
            </a:endParaRPr>
          </a:p>
        </p:txBody>
      </p:sp>
      <p:sp>
        <p:nvSpPr>
          <p:cNvPr id="1362" name="Shape 9"/>
          <p:cNvSpPr/>
          <p:nvPr/>
        </p:nvSpPr>
        <p:spPr>
          <a:xfrm>
            <a:off x="2633400" y="2084760"/>
            <a:ext cx="3794400" cy="36540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63" name="Text 10"/>
          <p:cNvSpPr/>
          <p:nvPr/>
        </p:nvSpPr>
        <p:spPr>
          <a:xfrm>
            <a:off x="2724840" y="2084760"/>
            <a:ext cx="3611520" cy="3654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WHAT RA+ DELIVERS</a:t>
            </a:r>
            <a:endParaRPr b="0" lang="en-US" sz="760" strike="noStrike" u="none">
              <a:solidFill>
                <a:srgbClr val="000000"/>
              </a:solidFill>
              <a:effectLst/>
              <a:uFillTx/>
              <a:latin typeface="Arial"/>
            </a:endParaRPr>
          </a:p>
        </p:txBody>
      </p:sp>
      <p:sp>
        <p:nvSpPr>
          <p:cNvPr id="1364" name="Shape 11"/>
          <p:cNvSpPr/>
          <p:nvPr/>
        </p:nvSpPr>
        <p:spPr>
          <a:xfrm>
            <a:off x="6428160" y="2084760"/>
            <a:ext cx="1371240" cy="36540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65" name="Text 12"/>
          <p:cNvSpPr/>
          <p:nvPr/>
        </p:nvSpPr>
        <p:spPr>
          <a:xfrm>
            <a:off x="6519600" y="2084760"/>
            <a:ext cx="1188360" cy="3654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EXPECTED POSITION</a:t>
            </a:r>
            <a:endParaRPr b="0" lang="en-US" sz="760" strike="noStrike" u="none">
              <a:solidFill>
                <a:srgbClr val="000000"/>
              </a:solidFill>
              <a:effectLst/>
              <a:uFillTx/>
              <a:latin typeface="Arial"/>
            </a:endParaRPr>
          </a:p>
        </p:txBody>
      </p:sp>
      <p:sp>
        <p:nvSpPr>
          <p:cNvPr id="1366" name="Shape 13"/>
          <p:cNvSpPr/>
          <p:nvPr/>
        </p:nvSpPr>
        <p:spPr>
          <a:xfrm>
            <a:off x="7799760" y="2084760"/>
            <a:ext cx="3767040" cy="36540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367" name="Text 14"/>
          <p:cNvSpPr/>
          <p:nvPr/>
        </p:nvSpPr>
        <p:spPr>
          <a:xfrm>
            <a:off x="7891200" y="2084760"/>
            <a:ext cx="3584160" cy="3654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MARKET BENCHMARK</a:t>
            </a:r>
            <a:endParaRPr b="0" lang="en-US" sz="760" strike="noStrike" u="none">
              <a:solidFill>
                <a:srgbClr val="000000"/>
              </a:solidFill>
              <a:effectLst/>
              <a:uFillTx/>
              <a:latin typeface="Arial"/>
            </a:endParaRPr>
          </a:p>
        </p:txBody>
      </p:sp>
      <p:sp>
        <p:nvSpPr>
          <p:cNvPr id="1368" name="Shape 15"/>
          <p:cNvSpPr/>
          <p:nvPr/>
        </p:nvSpPr>
        <p:spPr>
          <a:xfrm>
            <a:off x="621720" y="2450520"/>
            <a:ext cx="2011320" cy="52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69" name="Text 16"/>
          <p:cNvSpPr/>
          <p:nvPr/>
        </p:nvSpPr>
        <p:spPr>
          <a:xfrm>
            <a:off x="713160" y="2496240"/>
            <a:ext cx="182844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Metering and interval data</a:t>
            </a:r>
            <a:endParaRPr b="0" lang="en-US" sz="900" strike="noStrike" u="none">
              <a:solidFill>
                <a:srgbClr val="000000"/>
              </a:solidFill>
              <a:effectLst/>
              <a:uFillTx/>
              <a:latin typeface="Arial"/>
            </a:endParaRPr>
          </a:p>
        </p:txBody>
      </p:sp>
      <p:sp>
        <p:nvSpPr>
          <p:cNvPr id="1370" name="Shape 17"/>
          <p:cNvSpPr/>
          <p:nvPr/>
        </p:nvSpPr>
        <p:spPr>
          <a:xfrm>
            <a:off x="2633400" y="2450520"/>
            <a:ext cx="3794400" cy="52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71" name="Text 18"/>
          <p:cNvSpPr/>
          <p:nvPr/>
        </p:nvSpPr>
        <p:spPr>
          <a:xfrm>
            <a:off x="2724840" y="2496240"/>
            <a:ext cx="361152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Metering &amp; Interval Data as the shared data spine: interval capture, M&amp;V baselines, utility connectivity.</a:t>
            </a:r>
            <a:endParaRPr b="0" lang="en-US" sz="800" strike="noStrike" u="none">
              <a:solidFill>
                <a:srgbClr val="000000"/>
              </a:solidFill>
              <a:effectLst/>
              <a:uFillTx/>
              <a:latin typeface="Arial"/>
            </a:endParaRPr>
          </a:p>
        </p:txBody>
      </p:sp>
      <p:sp>
        <p:nvSpPr>
          <p:cNvPr id="1372" name="Shape 19"/>
          <p:cNvSpPr/>
          <p:nvPr/>
        </p:nvSpPr>
        <p:spPr>
          <a:xfrm>
            <a:off x="6428160" y="2450520"/>
            <a:ext cx="1371240" cy="52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73" name="Shape 20"/>
          <p:cNvSpPr/>
          <p:nvPr/>
        </p:nvSpPr>
        <p:spPr>
          <a:xfrm>
            <a:off x="6501240" y="2597040"/>
            <a:ext cx="1225080" cy="237240"/>
          </a:xfrm>
          <a:prstGeom prst="roundRect">
            <a:avLst>
              <a:gd name="adj" fmla="val 46154"/>
            </a:avLst>
          </a:prstGeom>
          <a:solidFill>
            <a:srgbClr val="eaf8ed"/>
          </a:solidFill>
          <a:ln w="635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74" name="Text 21"/>
          <p:cNvSpPr/>
          <p:nvPr/>
        </p:nvSpPr>
        <p:spPr>
          <a:xfrm>
            <a:off x="6501240" y="259704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007a27"/>
                </a:solidFill>
                <a:effectLst/>
                <a:uFillTx/>
                <a:latin typeface="Calibri"/>
                <a:ea typeface="Calibri"/>
              </a:rPr>
              <a:t>Market leading</a:t>
            </a:r>
            <a:endParaRPr b="0" lang="en-US" sz="740" strike="noStrike" u="none">
              <a:solidFill>
                <a:srgbClr val="000000"/>
              </a:solidFill>
              <a:effectLst/>
              <a:uFillTx/>
              <a:latin typeface="Arial"/>
            </a:endParaRPr>
          </a:p>
        </p:txBody>
      </p:sp>
      <p:sp>
        <p:nvSpPr>
          <p:cNvPr id="1375" name="Shape 22"/>
          <p:cNvSpPr/>
          <p:nvPr/>
        </p:nvSpPr>
        <p:spPr>
          <a:xfrm>
            <a:off x="7799760" y="2450520"/>
            <a:ext cx="3767040" cy="52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76" name="Text 23"/>
          <p:cNvSpPr/>
          <p:nvPr/>
        </p:nvSpPr>
        <p:spPr>
          <a:xfrm>
            <a:off x="7891200" y="2496240"/>
            <a:ext cx="358416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IBM Envizi Interval Meter Analytics and EnergyCAP both capture interval data well; Arcadia is strong on utility data infrastructure. Genuine strength across the field.</a:t>
            </a:r>
            <a:endParaRPr b="0" lang="en-US" sz="800" strike="noStrike" u="none">
              <a:solidFill>
                <a:srgbClr val="000000"/>
              </a:solidFill>
              <a:effectLst/>
              <a:uFillTx/>
              <a:latin typeface="Arial"/>
            </a:endParaRPr>
          </a:p>
        </p:txBody>
      </p:sp>
      <p:sp>
        <p:nvSpPr>
          <p:cNvPr id="1377" name="Shape 24"/>
          <p:cNvSpPr/>
          <p:nvPr/>
        </p:nvSpPr>
        <p:spPr>
          <a:xfrm>
            <a:off x="621720" y="2980800"/>
            <a:ext cx="2011320" cy="52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78" name="Text 25"/>
          <p:cNvSpPr/>
          <p:nvPr/>
        </p:nvSpPr>
        <p:spPr>
          <a:xfrm>
            <a:off x="713160" y="3026520"/>
            <a:ext cx="182844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Utility data and bill management</a:t>
            </a:r>
            <a:endParaRPr b="0" lang="en-US" sz="900" strike="noStrike" u="none">
              <a:solidFill>
                <a:srgbClr val="000000"/>
              </a:solidFill>
              <a:effectLst/>
              <a:uFillTx/>
              <a:latin typeface="Arial"/>
            </a:endParaRPr>
          </a:p>
        </p:txBody>
      </p:sp>
      <p:sp>
        <p:nvSpPr>
          <p:cNvPr id="1379" name="Shape 26"/>
          <p:cNvSpPr/>
          <p:nvPr/>
        </p:nvSpPr>
        <p:spPr>
          <a:xfrm>
            <a:off x="2633400" y="2980800"/>
            <a:ext cx="3794400" cy="52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80" name="Text 27"/>
          <p:cNvSpPr/>
          <p:nvPr/>
        </p:nvSpPr>
        <p:spPr>
          <a:xfrm>
            <a:off x="2724840" y="3026520"/>
            <a:ext cx="361152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Utility Data Management with bill validation, budgets, reforecasts and variance explained.</a:t>
            </a:r>
            <a:endParaRPr b="0" lang="en-US" sz="800" strike="noStrike" u="none">
              <a:solidFill>
                <a:srgbClr val="000000"/>
              </a:solidFill>
              <a:effectLst/>
              <a:uFillTx/>
              <a:latin typeface="Arial"/>
            </a:endParaRPr>
          </a:p>
        </p:txBody>
      </p:sp>
      <p:sp>
        <p:nvSpPr>
          <p:cNvPr id="1381" name="Shape 28"/>
          <p:cNvSpPr/>
          <p:nvPr/>
        </p:nvSpPr>
        <p:spPr>
          <a:xfrm>
            <a:off x="6428160" y="2980800"/>
            <a:ext cx="1371240" cy="52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82" name="Shape 29"/>
          <p:cNvSpPr/>
          <p:nvPr/>
        </p:nvSpPr>
        <p:spPr>
          <a:xfrm>
            <a:off x="6501240" y="3127320"/>
            <a:ext cx="1225080" cy="237240"/>
          </a:xfrm>
          <a:prstGeom prst="roundRect">
            <a:avLst>
              <a:gd name="adj" fmla="val 46154"/>
            </a:avLst>
          </a:prstGeom>
          <a:solidFill>
            <a:srgbClr val="eaf8ed"/>
          </a:solidFill>
          <a:ln w="635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83" name="Text 30"/>
          <p:cNvSpPr/>
          <p:nvPr/>
        </p:nvSpPr>
        <p:spPr>
          <a:xfrm>
            <a:off x="6501240" y="312732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007a27"/>
                </a:solidFill>
                <a:effectLst/>
                <a:uFillTx/>
                <a:latin typeface="Calibri"/>
                <a:ea typeface="Calibri"/>
              </a:rPr>
              <a:t>Market leading</a:t>
            </a:r>
            <a:endParaRPr b="0" lang="en-US" sz="740" strike="noStrike" u="none">
              <a:solidFill>
                <a:srgbClr val="000000"/>
              </a:solidFill>
              <a:effectLst/>
              <a:uFillTx/>
              <a:latin typeface="Arial"/>
            </a:endParaRPr>
          </a:p>
        </p:txBody>
      </p:sp>
      <p:sp>
        <p:nvSpPr>
          <p:cNvPr id="1384" name="Shape 31"/>
          <p:cNvSpPr/>
          <p:nvPr/>
        </p:nvSpPr>
        <p:spPr>
          <a:xfrm>
            <a:off x="7799760" y="2980800"/>
            <a:ext cx="3767040" cy="52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85" name="Text 32"/>
          <p:cNvSpPr/>
          <p:nvPr/>
        </p:nvSpPr>
        <p:spPr>
          <a:xfrm>
            <a:off x="7891200" y="3026520"/>
            <a:ext cx="358416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EnergyCAP is the bill accounting benchmark and Envizi Utility Bill Analytics is deep; Accruent ties bills to asset systems. Budget and reforecast workflows are thinner across all of them.</a:t>
            </a:r>
            <a:endParaRPr b="0" lang="en-US" sz="800" strike="noStrike" u="none">
              <a:solidFill>
                <a:srgbClr val="000000"/>
              </a:solidFill>
              <a:effectLst/>
              <a:uFillTx/>
              <a:latin typeface="Arial"/>
            </a:endParaRPr>
          </a:p>
        </p:txBody>
      </p:sp>
      <p:sp>
        <p:nvSpPr>
          <p:cNvPr id="1386" name="Shape 33"/>
          <p:cNvSpPr/>
          <p:nvPr/>
        </p:nvSpPr>
        <p:spPr>
          <a:xfrm>
            <a:off x="621720" y="3511440"/>
            <a:ext cx="2011320" cy="52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87" name="Text 34"/>
          <p:cNvSpPr/>
          <p:nvPr/>
        </p:nvSpPr>
        <p:spPr>
          <a:xfrm>
            <a:off x="713160" y="3557160"/>
            <a:ext cx="182844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Energy sourcing and renewables</a:t>
            </a:r>
            <a:endParaRPr b="0" lang="en-US" sz="900" strike="noStrike" u="none">
              <a:solidFill>
                <a:srgbClr val="000000"/>
              </a:solidFill>
              <a:effectLst/>
              <a:uFillTx/>
              <a:latin typeface="Arial"/>
            </a:endParaRPr>
          </a:p>
        </p:txBody>
      </p:sp>
      <p:sp>
        <p:nvSpPr>
          <p:cNvPr id="1388" name="Shape 35"/>
          <p:cNvSpPr/>
          <p:nvPr/>
        </p:nvSpPr>
        <p:spPr>
          <a:xfrm>
            <a:off x="2633400" y="3511440"/>
            <a:ext cx="3794400" cy="52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89" name="Text 36"/>
          <p:cNvSpPr/>
          <p:nvPr/>
        </p:nvSpPr>
        <p:spPr>
          <a:xfrm>
            <a:off x="2724840" y="3557160"/>
            <a:ext cx="361152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Energy Sourcing plus Renewables &amp; EACs: procurement, EAC and PPA management fed by Schneider energy expertise.</a:t>
            </a:r>
            <a:endParaRPr b="0" lang="en-US" sz="800" strike="noStrike" u="none">
              <a:solidFill>
                <a:srgbClr val="000000"/>
              </a:solidFill>
              <a:effectLst/>
              <a:uFillTx/>
              <a:latin typeface="Arial"/>
            </a:endParaRPr>
          </a:p>
        </p:txBody>
      </p:sp>
      <p:sp>
        <p:nvSpPr>
          <p:cNvPr id="1390" name="Shape 37"/>
          <p:cNvSpPr/>
          <p:nvPr/>
        </p:nvSpPr>
        <p:spPr>
          <a:xfrm>
            <a:off x="6428160" y="3511440"/>
            <a:ext cx="1371240" cy="52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91" name="Shape 38"/>
          <p:cNvSpPr/>
          <p:nvPr/>
        </p:nvSpPr>
        <p:spPr>
          <a:xfrm>
            <a:off x="6501240" y="3657600"/>
            <a:ext cx="1225080" cy="237240"/>
          </a:xfrm>
          <a:prstGeom prst="roundRect">
            <a:avLst>
              <a:gd name="adj" fmla="val 46154"/>
            </a:avLst>
          </a:prstGeom>
          <a:solidFill>
            <a:srgbClr val="eaf8ed"/>
          </a:solidFill>
          <a:ln w="635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92" name="Text 39"/>
          <p:cNvSpPr/>
          <p:nvPr/>
        </p:nvSpPr>
        <p:spPr>
          <a:xfrm>
            <a:off x="6501240" y="365760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007a27"/>
                </a:solidFill>
                <a:effectLst/>
                <a:uFillTx/>
                <a:latin typeface="Calibri"/>
                <a:ea typeface="Calibri"/>
              </a:rPr>
              <a:t>Market leading</a:t>
            </a:r>
            <a:endParaRPr b="0" lang="en-US" sz="740" strike="noStrike" u="none">
              <a:solidFill>
                <a:srgbClr val="000000"/>
              </a:solidFill>
              <a:effectLst/>
              <a:uFillTx/>
              <a:latin typeface="Arial"/>
            </a:endParaRPr>
          </a:p>
        </p:txBody>
      </p:sp>
      <p:sp>
        <p:nvSpPr>
          <p:cNvPr id="1393" name="Shape 40"/>
          <p:cNvSpPr/>
          <p:nvPr/>
        </p:nvSpPr>
        <p:spPr>
          <a:xfrm>
            <a:off x="7799760" y="3511440"/>
            <a:ext cx="3767040" cy="52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94" name="Text 41"/>
          <p:cNvSpPr/>
          <p:nvPr/>
        </p:nvSpPr>
        <p:spPr>
          <a:xfrm>
            <a:off x="7891200" y="3557160"/>
            <a:ext cx="358416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Envizi and EnergyCAP report energy and emissions but do not operate sourcing, EAC or PPA workflows. Specialist EAC platforms track instruments without owning the inventory the claim lands in.</a:t>
            </a:r>
            <a:endParaRPr b="0" lang="en-US" sz="800" strike="noStrike" u="none">
              <a:solidFill>
                <a:srgbClr val="000000"/>
              </a:solidFill>
              <a:effectLst/>
              <a:uFillTx/>
              <a:latin typeface="Arial"/>
            </a:endParaRPr>
          </a:p>
        </p:txBody>
      </p:sp>
      <p:sp>
        <p:nvSpPr>
          <p:cNvPr id="1395" name="Shape 42"/>
          <p:cNvSpPr/>
          <p:nvPr/>
        </p:nvSpPr>
        <p:spPr>
          <a:xfrm>
            <a:off x="621720" y="4041720"/>
            <a:ext cx="2011320" cy="52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96" name="Text 43"/>
          <p:cNvSpPr/>
          <p:nvPr/>
        </p:nvSpPr>
        <p:spPr>
          <a:xfrm>
            <a:off x="713160" y="4087440"/>
            <a:ext cx="182844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Efficiency to carbon convergence</a:t>
            </a:r>
            <a:endParaRPr b="0" lang="en-US" sz="900" strike="noStrike" u="none">
              <a:solidFill>
                <a:srgbClr val="000000"/>
              </a:solidFill>
              <a:effectLst/>
              <a:uFillTx/>
              <a:latin typeface="Arial"/>
            </a:endParaRPr>
          </a:p>
        </p:txBody>
      </p:sp>
      <p:sp>
        <p:nvSpPr>
          <p:cNvPr id="1397" name="Shape 44"/>
          <p:cNvSpPr/>
          <p:nvPr/>
        </p:nvSpPr>
        <p:spPr>
          <a:xfrm>
            <a:off x="2633400" y="4041720"/>
            <a:ext cx="3794400" cy="52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98" name="Text 45"/>
          <p:cNvSpPr/>
          <p:nvPr/>
        </p:nvSpPr>
        <p:spPr>
          <a:xfrm>
            <a:off x="2724840" y="4087440"/>
            <a:ext cx="361152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Hourly emissions and ECM cobenefits connect efficiency actions straight into the carbon inventory.</a:t>
            </a:r>
            <a:endParaRPr b="0" lang="en-US" sz="800" strike="noStrike" u="none">
              <a:solidFill>
                <a:srgbClr val="000000"/>
              </a:solidFill>
              <a:effectLst/>
              <a:uFillTx/>
              <a:latin typeface="Arial"/>
            </a:endParaRPr>
          </a:p>
        </p:txBody>
      </p:sp>
      <p:sp>
        <p:nvSpPr>
          <p:cNvPr id="1399" name="Shape 46"/>
          <p:cNvSpPr/>
          <p:nvPr/>
        </p:nvSpPr>
        <p:spPr>
          <a:xfrm>
            <a:off x="6428160" y="4041720"/>
            <a:ext cx="1371240" cy="52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00" name="Shape 47"/>
          <p:cNvSpPr/>
          <p:nvPr/>
        </p:nvSpPr>
        <p:spPr>
          <a:xfrm>
            <a:off x="6501240" y="4187880"/>
            <a:ext cx="1225080" cy="237240"/>
          </a:xfrm>
          <a:prstGeom prst="roundRect">
            <a:avLst>
              <a:gd name="adj" fmla="val 46154"/>
            </a:avLst>
          </a:prstGeom>
          <a:solidFill>
            <a:srgbClr val="eaf8ed"/>
          </a:solidFill>
          <a:ln w="635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01" name="Text 48"/>
          <p:cNvSpPr/>
          <p:nvPr/>
        </p:nvSpPr>
        <p:spPr>
          <a:xfrm>
            <a:off x="6501240" y="418788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007a27"/>
                </a:solidFill>
                <a:effectLst/>
                <a:uFillTx/>
                <a:latin typeface="Calibri"/>
                <a:ea typeface="Calibri"/>
              </a:rPr>
              <a:t>Market leading</a:t>
            </a:r>
            <a:endParaRPr b="0" lang="en-US" sz="740" strike="noStrike" u="none">
              <a:solidFill>
                <a:srgbClr val="000000"/>
              </a:solidFill>
              <a:effectLst/>
              <a:uFillTx/>
              <a:latin typeface="Arial"/>
            </a:endParaRPr>
          </a:p>
        </p:txBody>
      </p:sp>
      <p:sp>
        <p:nvSpPr>
          <p:cNvPr id="1402" name="Shape 49"/>
          <p:cNvSpPr/>
          <p:nvPr/>
        </p:nvSpPr>
        <p:spPr>
          <a:xfrm>
            <a:off x="7799760" y="4041720"/>
            <a:ext cx="3767040" cy="52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03" name="Text 50"/>
          <p:cNvSpPr/>
          <p:nvPr/>
        </p:nvSpPr>
        <p:spPr>
          <a:xfrm>
            <a:off x="7891200" y="4087440"/>
            <a:ext cx="358416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Envizi keeps energy analytics and ESG reporting in separate modules; Honeywell Forge recommends within controlled assets only. Nobody prices energy, carbon and cost cobenefits together.</a:t>
            </a:r>
            <a:endParaRPr b="0" lang="en-US" sz="800" strike="noStrike" u="none">
              <a:solidFill>
                <a:srgbClr val="000000"/>
              </a:solidFill>
              <a:effectLst/>
              <a:uFillTx/>
              <a:latin typeface="Arial"/>
            </a:endParaRPr>
          </a:p>
        </p:txBody>
      </p:sp>
      <p:sp>
        <p:nvSpPr>
          <p:cNvPr id="1404" name="Shape 51"/>
          <p:cNvSpPr/>
          <p:nvPr/>
        </p:nvSpPr>
        <p:spPr>
          <a:xfrm>
            <a:off x="621720" y="5440680"/>
            <a:ext cx="10947600" cy="548280"/>
          </a:xfrm>
          <a:prstGeom prst="roundRect">
            <a:avLst>
              <a:gd name="adj" fmla="val 6667"/>
            </a:avLst>
          </a:prstGeom>
          <a:solidFill>
            <a:srgbClr val="005730"/>
          </a:solidFill>
          <a:ln w="12700">
            <a:solidFill>
              <a:srgbClr val="005730"/>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405" name="Shape 52"/>
          <p:cNvSpPr/>
          <p:nvPr/>
        </p:nvSpPr>
        <p:spPr>
          <a:xfrm>
            <a:off x="621720" y="5440680"/>
            <a:ext cx="1508400" cy="54828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06" name="Text 53"/>
          <p:cNvSpPr/>
          <p:nvPr/>
        </p:nvSpPr>
        <p:spPr>
          <a:xfrm>
            <a:off x="740520" y="5440680"/>
            <a:ext cx="1270800" cy="54828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800" spc="71" strike="noStrike" u="none">
                <a:solidFill>
                  <a:srgbClr val="005730"/>
                </a:solidFill>
                <a:effectLst/>
                <a:uFillTx/>
                <a:latin typeface="Calibri"/>
                <a:ea typeface="Calibri"/>
              </a:rPr>
              <a:t>BOARD IMPLICATION</a:t>
            </a:r>
            <a:endParaRPr b="0" lang="en-US" sz="800" strike="noStrike" u="none">
              <a:solidFill>
                <a:srgbClr val="000000"/>
              </a:solidFill>
              <a:effectLst/>
              <a:uFillTx/>
              <a:latin typeface="Arial"/>
            </a:endParaRPr>
          </a:p>
        </p:txBody>
      </p:sp>
      <p:sp>
        <p:nvSpPr>
          <p:cNvPr id="1407" name="Text 54"/>
          <p:cNvSpPr/>
          <p:nvPr/>
        </p:nvSpPr>
        <p:spPr>
          <a:xfrm>
            <a:off x="2322720" y="5495400"/>
            <a:ext cx="904572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50" strike="noStrike" u="none">
                <a:solidFill>
                  <a:srgbClr val="ffffff"/>
                </a:solidFill>
                <a:effectLst/>
                <a:uFillTx/>
                <a:latin typeface="Calibri"/>
                <a:ea typeface="Calibri"/>
              </a:rPr>
              <a:t>The field matches us on capturing energy data. Nobody matches what we do with it: sourcing and efficiency actions that land in the same governed carbon inventory.</a:t>
            </a:r>
            <a:endParaRPr b="0" lang="en-US" sz="950" strike="noStrike" u="none">
              <a:solidFill>
                <a:srgbClr val="000000"/>
              </a:solidFill>
              <a:effectLst/>
              <a:uFillTx/>
              <a:latin typeface="Arial"/>
            </a:endParaRPr>
          </a:p>
        </p:txBody>
      </p:sp>
      <p:sp>
        <p:nvSpPr>
          <p:cNvPr id="1408" name="Text 55"/>
          <p:cNvSpPr/>
          <p:nvPr/>
        </p:nvSpPr>
        <p:spPr>
          <a:xfrm>
            <a:off x="621720" y="6053400"/>
            <a:ext cx="10947600" cy="22824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720" strike="noStrike" u="none">
                <a:solidFill>
                  <a:srgbClr val="5a625c"/>
                </a:solidFill>
                <a:effectLst/>
                <a:uFillTx/>
                <a:latin typeface="Calibri"/>
                <a:ea typeface="Calibri"/>
              </a:rPr>
              <a:t>Source: public product pages and documentation for IBM Envizi, EnergyCAP, Accruent, Arcadia and Honeywell Forge, reviewed September 2026, and the RA+ 2026 and 2027 roadmap.</a:t>
            </a:r>
            <a:endParaRPr b="0" lang="en-US" sz="720" strike="noStrike" u="none">
              <a:solidFill>
                <a:srgbClr val="000000"/>
              </a:solidFill>
              <a:effectLst/>
              <a:uFillTx/>
              <a:latin typeface="Arial"/>
            </a:endParaRPr>
          </a:p>
        </p:txBody>
      </p:sp>
      <p:sp>
        <p:nvSpPr>
          <p:cNvPr id="1409" name="Shape 56"/>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410" name="Text 57"/>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1411" name="Text 58"/>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1412" name="PlaceHolder 1"/>
          <p:cNvSpPr>
            <a:spLocks noGrp="1"/>
          </p:cNvSpPr>
          <p:nvPr>
            <p:ph type="sldNum" idx="36"/>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573FFE51-E0BB-47D7-8C47-06EC7CB0E12C}"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13"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1414"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1415" name="Shape 2"/>
          <p:cNvSpPr/>
          <p:nvPr/>
        </p:nvSpPr>
        <p:spPr>
          <a:xfrm>
            <a:off x="621720" y="311040"/>
            <a:ext cx="475452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16" name="Text 3"/>
          <p:cNvSpPr/>
          <p:nvPr/>
        </p:nvSpPr>
        <p:spPr>
          <a:xfrm>
            <a:off x="804600" y="329040"/>
            <a:ext cx="442548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HEAD TO HEAD: NAMED ENERGY MANAGEMENT RIVALS</a:t>
            </a:r>
            <a:endParaRPr b="0" lang="en-US" sz="950" strike="noStrike" u="none">
              <a:solidFill>
                <a:srgbClr val="000000"/>
              </a:solidFill>
              <a:effectLst/>
              <a:uFillTx/>
              <a:latin typeface="Arial"/>
            </a:endParaRPr>
          </a:p>
        </p:txBody>
      </p:sp>
      <p:sp>
        <p:nvSpPr>
          <p:cNvPr id="1417" name="Text 4"/>
          <p:cNvSpPr/>
          <p:nvPr/>
        </p:nvSpPr>
        <p:spPr>
          <a:xfrm>
            <a:off x="621720" y="768240"/>
            <a:ext cx="10947600" cy="804240"/>
          </a:xfrm>
          <a:prstGeom prst="rect">
            <a:avLst/>
          </a:prstGeom>
          <a:noFill/>
          <a:ln w="0">
            <a:noFill/>
          </a:ln>
        </p:spPr>
        <p:style>
          <a:lnRef idx="0"/>
          <a:fillRef idx="0"/>
          <a:effectRef idx="0"/>
          <a:fontRef idx="minor"/>
        </p:style>
        <p:txBody>
          <a:bodyPr lIns="0" rIns="0" tIns="0" bIns="0" anchor="t">
            <a:normAutofit lnSpcReduction="9999"/>
          </a:bodyPr>
          <a:p>
            <a:pPr defTabSz="914400">
              <a:lnSpc>
                <a:spcPct val="100000"/>
              </a:lnSpc>
              <a:tabLst>
                <a:tab algn="l" pos="0"/>
              </a:tabLst>
            </a:pPr>
            <a:r>
              <a:rPr b="1" lang="en-US" sz="2800" strike="noStrike" u="none">
                <a:solidFill>
                  <a:srgbClr val="1e2420"/>
                </a:solidFill>
                <a:effectLst/>
                <a:uFillTx/>
                <a:latin typeface="Calibri"/>
                <a:ea typeface="Calibri"/>
              </a:rPr>
              <a:t>RA+ against the demand response, metering and SaaS energy players</a:t>
            </a:r>
            <a:endParaRPr b="0" lang="en-US" sz="2800" strike="noStrike" u="none">
              <a:solidFill>
                <a:srgbClr val="000000"/>
              </a:solidFill>
              <a:effectLst/>
              <a:uFillTx/>
              <a:latin typeface="Arial"/>
            </a:endParaRPr>
          </a:p>
        </p:txBody>
      </p:sp>
      <p:sp>
        <p:nvSpPr>
          <p:cNvPr id="1418" name="Text 5"/>
          <p:cNvSpPr/>
          <p:nvPr/>
        </p:nvSpPr>
        <p:spPr>
          <a:xfrm>
            <a:off x="621720" y="1572840"/>
            <a:ext cx="10947600" cy="310680"/>
          </a:xfrm>
          <a:prstGeom prst="rect">
            <a:avLst/>
          </a:prstGeom>
          <a:noFill/>
          <a:ln w="0">
            <a:noFill/>
          </a:ln>
        </p:spPr>
        <p:style>
          <a:lnRef idx="0"/>
          <a:fillRef idx="0"/>
          <a:effectRef idx="0"/>
          <a:fontRef idx="minor"/>
        </p:style>
        <p:txBody>
          <a:bodyPr lIns="0" rIns="0" tIns="0" bIns="0" anchor="t">
            <a:normAutofit fontScale="92500" lnSpcReduction="9999"/>
          </a:bodyPr>
          <a:p>
            <a:pPr defTabSz="914400">
              <a:lnSpc>
                <a:spcPct val="100000"/>
              </a:lnSpc>
              <a:tabLst>
                <a:tab algn="l" pos="0"/>
              </a:tabLst>
            </a:pPr>
            <a:r>
              <a:rPr b="0" lang="en-US" sz="1250" strike="noStrike" u="none">
                <a:solidFill>
                  <a:srgbClr val="5a625c"/>
                </a:solidFill>
                <a:effectLst/>
                <a:uFillTx/>
                <a:latin typeface="Calibri"/>
                <a:ea typeface="Calibri"/>
              </a:rPr>
              <a:t>Enel X (formerly EnerNOC), Schneider ION and Itron metering platforms, and the energy SaaS field (EnergyCAP, Arcadia, GridPoint, Uplight) each own one slice. The roadmap gap matrix at /competitor-matrix tracks the same rivals horizon by horizon.</a:t>
            </a:r>
            <a:endParaRPr b="0" lang="en-US" sz="1250" strike="noStrike" u="none">
              <a:solidFill>
                <a:srgbClr val="000000"/>
              </a:solidFill>
              <a:effectLst/>
              <a:uFillTx/>
              <a:latin typeface="Arial"/>
            </a:endParaRPr>
          </a:p>
        </p:txBody>
      </p:sp>
      <p:sp>
        <p:nvSpPr>
          <p:cNvPr id="1419"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420" name="Shape 7"/>
          <p:cNvSpPr/>
          <p:nvPr/>
        </p:nvSpPr>
        <p:spPr>
          <a:xfrm>
            <a:off x="621720" y="2084760"/>
            <a:ext cx="2011320" cy="36540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421" name="Text 8"/>
          <p:cNvSpPr/>
          <p:nvPr/>
        </p:nvSpPr>
        <p:spPr>
          <a:xfrm>
            <a:off x="713160" y="2084760"/>
            <a:ext cx="1828440" cy="3654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CAPABILITY</a:t>
            </a:r>
            <a:endParaRPr b="0" lang="en-US" sz="760" strike="noStrike" u="none">
              <a:solidFill>
                <a:srgbClr val="000000"/>
              </a:solidFill>
              <a:effectLst/>
              <a:uFillTx/>
              <a:latin typeface="Arial"/>
            </a:endParaRPr>
          </a:p>
        </p:txBody>
      </p:sp>
      <p:sp>
        <p:nvSpPr>
          <p:cNvPr id="1422" name="Shape 9"/>
          <p:cNvSpPr/>
          <p:nvPr/>
        </p:nvSpPr>
        <p:spPr>
          <a:xfrm>
            <a:off x="2633400" y="2084760"/>
            <a:ext cx="3794400" cy="36540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423" name="Text 10"/>
          <p:cNvSpPr/>
          <p:nvPr/>
        </p:nvSpPr>
        <p:spPr>
          <a:xfrm>
            <a:off x="2724840" y="2084760"/>
            <a:ext cx="3611520" cy="3654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WHAT RA+ DELIVERS</a:t>
            </a:r>
            <a:endParaRPr b="0" lang="en-US" sz="760" strike="noStrike" u="none">
              <a:solidFill>
                <a:srgbClr val="000000"/>
              </a:solidFill>
              <a:effectLst/>
              <a:uFillTx/>
              <a:latin typeface="Arial"/>
            </a:endParaRPr>
          </a:p>
        </p:txBody>
      </p:sp>
      <p:sp>
        <p:nvSpPr>
          <p:cNvPr id="1424" name="Shape 11"/>
          <p:cNvSpPr/>
          <p:nvPr/>
        </p:nvSpPr>
        <p:spPr>
          <a:xfrm>
            <a:off x="6428160" y="2084760"/>
            <a:ext cx="1371240" cy="36540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425" name="Text 12"/>
          <p:cNvSpPr/>
          <p:nvPr/>
        </p:nvSpPr>
        <p:spPr>
          <a:xfrm>
            <a:off x="6519600" y="2084760"/>
            <a:ext cx="1188360" cy="3654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EXPECTED POSITION</a:t>
            </a:r>
            <a:endParaRPr b="0" lang="en-US" sz="760" strike="noStrike" u="none">
              <a:solidFill>
                <a:srgbClr val="000000"/>
              </a:solidFill>
              <a:effectLst/>
              <a:uFillTx/>
              <a:latin typeface="Arial"/>
            </a:endParaRPr>
          </a:p>
        </p:txBody>
      </p:sp>
      <p:sp>
        <p:nvSpPr>
          <p:cNvPr id="1426" name="Shape 13"/>
          <p:cNvSpPr/>
          <p:nvPr/>
        </p:nvSpPr>
        <p:spPr>
          <a:xfrm>
            <a:off x="7799760" y="2084760"/>
            <a:ext cx="3767040" cy="365400"/>
          </a:xfrm>
          <a:prstGeom prst="rect">
            <a:avLst/>
          </a:prstGeom>
          <a:solidFill>
            <a:srgbClr val="005730"/>
          </a:solidFill>
          <a:ln w="5715">
            <a:solidFill>
              <a:srgbClr val="3972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427" name="Text 14"/>
          <p:cNvSpPr/>
          <p:nvPr/>
        </p:nvSpPr>
        <p:spPr>
          <a:xfrm>
            <a:off x="7891200" y="2084760"/>
            <a:ext cx="3584160" cy="3654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60" spc="71" strike="noStrike" u="none">
                <a:solidFill>
                  <a:srgbClr val="ffffff"/>
                </a:solidFill>
                <a:effectLst/>
                <a:uFillTx/>
                <a:latin typeface="Calibri"/>
                <a:ea typeface="Calibri"/>
              </a:rPr>
              <a:t>MARKET BENCHMARK</a:t>
            </a:r>
            <a:endParaRPr b="0" lang="en-US" sz="760" strike="noStrike" u="none">
              <a:solidFill>
                <a:srgbClr val="000000"/>
              </a:solidFill>
              <a:effectLst/>
              <a:uFillTx/>
              <a:latin typeface="Arial"/>
            </a:endParaRPr>
          </a:p>
        </p:txBody>
      </p:sp>
      <p:sp>
        <p:nvSpPr>
          <p:cNvPr id="1428" name="Shape 15"/>
          <p:cNvSpPr/>
          <p:nvPr/>
        </p:nvSpPr>
        <p:spPr>
          <a:xfrm>
            <a:off x="621720" y="2450520"/>
            <a:ext cx="2011320" cy="52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29" name="Text 16"/>
          <p:cNvSpPr/>
          <p:nvPr/>
        </p:nvSpPr>
        <p:spPr>
          <a:xfrm>
            <a:off x="713160" y="2496240"/>
            <a:ext cx="182844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Metering and interval capture</a:t>
            </a:r>
            <a:endParaRPr b="0" lang="en-US" sz="900" strike="noStrike" u="none">
              <a:solidFill>
                <a:srgbClr val="000000"/>
              </a:solidFill>
              <a:effectLst/>
              <a:uFillTx/>
              <a:latin typeface="Arial"/>
            </a:endParaRPr>
          </a:p>
        </p:txBody>
      </p:sp>
      <p:sp>
        <p:nvSpPr>
          <p:cNvPr id="1430" name="Shape 17"/>
          <p:cNvSpPr/>
          <p:nvPr/>
        </p:nvSpPr>
        <p:spPr>
          <a:xfrm>
            <a:off x="2633400" y="2450520"/>
            <a:ext cx="3794400" cy="52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31" name="Text 18"/>
          <p:cNvSpPr/>
          <p:nvPr/>
        </p:nvSpPr>
        <p:spPr>
          <a:xfrm>
            <a:off x="2724840" y="2496240"/>
            <a:ext cx="361152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Metering &amp; Interval Data as the shared spine, fed by Schneider hardware adjacency.</a:t>
            </a:r>
            <a:endParaRPr b="0" lang="en-US" sz="800" strike="noStrike" u="none">
              <a:solidFill>
                <a:srgbClr val="000000"/>
              </a:solidFill>
              <a:effectLst/>
              <a:uFillTx/>
              <a:latin typeface="Arial"/>
            </a:endParaRPr>
          </a:p>
        </p:txBody>
      </p:sp>
      <p:sp>
        <p:nvSpPr>
          <p:cNvPr id="1432" name="Shape 19"/>
          <p:cNvSpPr/>
          <p:nvPr/>
        </p:nvSpPr>
        <p:spPr>
          <a:xfrm>
            <a:off x="6428160" y="2450520"/>
            <a:ext cx="1371240" cy="52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33" name="Shape 20"/>
          <p:cNvSpPr/>
          <p:nvPr/>
        </p:nvSpPr>
        <p:spPr>
          <a:xfrm>
            <a:off x="6501240" y="2597040"/>
            <a:ext cx="1225080" cy="237240"/>
          </a:xfrm>
          <a:prstGeom prst="roundRect">
            <a:avLst>
              <a:gd name="adj" fmla="val 46154"/>
            </a:avLst>
          </a:prstGeom>
          <a:solidFill>
            <a:srgbClr val="eaf8ed"/>
          </a:solidFill>
          <a:ln w="635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34" name="Text 21"/>
          <p:cNvSpPr/>
          <p:nvPr/>
        </p:nvSpPr>
        <p:spPr>
          <a:xfrm>
            <a:off x="6501240" y="259704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007a27"/>
                </a:solidFill>
                <a:effectLst/>
                <a:uFillTx/>
                <a:latin typeface="Calibri"/>
                <a:ea typeface="Calibri"/>
              </a:rPr>
              <a:t>Market leading</a:t>
            </a:r>
            <a:endParaRPr b="0" lang="en-US" sz="740" strike="noStrike" u="none">
              <a:solidFill>
                <a:srgbClr val="000000"/>
              </a:solidFill>
              <a:effectLst/>
              <a:uFillTx/>
              <a:latin typeface="Arial"/>
            </a:endParaRPr>
          </a:p>
        </p:txBody>
      </p:sp>
      <p:sp>
        <p:nvSpPr>
          <p:cNvPr id="1435" name="Shape 22"/>
          <p:cNvSpPr/>
          <p:nvPr/>
        </p:nvSpPr>
        <p:spPr>
          <a:xfrm>
            <a:off x="7799760" y="2450520"/>
            <a:ext cx="3767040" cy="52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36" name="Text 23"/>
          <p:cNvSpPr/>
          <p:nvPr/>
        </p:nvSpPr>
        <p:spPr>
          <a:xfrm>
            <a:off x="7891200" y="2496240"/>
            <a:ext cx="358416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ION and Itron metering platforms are strong at the device layer. Their analytics stop at energy, ours continues into carbon and cost.</a:t>
            </a:r>
            <a:endParaRPr b="0" lang="en-US" sz="800" strike="noStrike" u="none">
              <a:solidFill>
                <a:srgbClr val="000000"/>
              </a:solidFill>
              <a:effectLst/>
              <a:uFillTx/>
              <a:latin typeface="Arial"/>
            </a:endParaRPr>
          </a:p>
        </p:txBody>
      </p:sp>
      <p:sp>
        <p:nvSpPr>
          <p:cNvPr id="1437" name="Shape 24"/>
          <p:cNvSpPr/>
          <p:nvPr/>
        </p:nvSpPr>
        <p:spPr>
          <a:xfrm>
            <a:off x="621720" y="2980800"/>
            <a:ext cx="2011320" cy="52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38" name="Text 25"/>
          <p:cNvSpPr/>
          <p:nvPr/>
        </p:nvSpPr>
        <p:spPr>
          <a:xfrm>
            <a:off x="713160" y="3026520"/>
            <a:ext cx="182844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Utility data and bill accounting SaaS</a:t>
            </a:r>
            <a:endParaRPr b="0" lang="en-US" sz="900" strike="noStrike" u="none">
              <a:solidFill>
                <a:srgbClr val="000000"/>
              </a:solidFill>
              <a:effectLst/>
              <a:uFillTx/>
              <a:latin typeface="Arial"/>
            </a:endParaRPr>
          </a:p>
        </p:txBody>
      </p:sp>
      <p:sp>
        <p:nvSpPr>
          <p:cNvPr id="1439" name="Shape 26"/>
          <p:cNvSpPr/>
          <p:nvPr/>
        </p:nvSpPr>
        <p:spPr>
          <a:xfrm>
            <a:off x="2633400" y="2980800"/>
            <a:ext cx="3794400" cy="52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40" name="Text 27"/>
          <p:cNvSpPr/>
          <p:nvPr/>
        </p:nvSpPr>
        <p:spPr>
          <a:xfrm>
            <a:off x="2724840" y="3026520"/>
            <a:ext cx="361152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Utility Data Management plus Budget &amp; Tariff Intelligence: validated bills, tariffs, budgets, variance explained.</a:t>
            </a:r>
            <a:endParaRPr b="0" lang="en-US" sz="800" strike="noStrike" u="none">
              <a:solidFill>
                <a:srgbClr val="000000"/>
              </a:solidFill>
              <a:effectLst/>
              <a:uFillTx/>
              <a:latin typeface="Arial"/>
            </a:endParaRPr>
          </a:p>
        </p:txBody>
      </p:sp>
      <p:sp>
        <p:nvSpPr>
          <p:cNvPr id="1441" name="Shape 28"/>
          <p:cNvSpPr/>
          <p:nvPr/>
        </p:nvSpPr>
        <p:spPr>
          <a:xfrm>
            <a:off x="6428160" y="2980800"/>
            <a:ext cx="1371240" cy="52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42" name="Shape 29"/>
          <p:cNvSpPr/>
          <p:nvPr/>
        </p:nvSpPr>
        <p:spPr>
          <a:xfrm>
            <a:off x="6501240" y="3127320"/>
            <a:ext cx="1225080" cy="237240"/>
          </a:xfrm>
          <a:prstGeom prst="roundRect">
            <a:avLst>
              <a:gd name="adj" fmla="val 46154"/>
            </a:avLst>
          </a:prstGeom>
          <a:solidFill>
            <a:srgbClr val="eaf8ed"/>
          </a:solidFill>
          <a:ln w="635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43" name="Text 30"/>
          <p:cNvSpPr/>
          <p:nvPr/>
        </p:nvSpPr>
        <p:spPr>
          <a:xfrm>
            <a:off x="6501240" y="312732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007a27"/>
                </a:solidFill>
                <a:effectLst/>
                <a:uFillTx/>
                <a:latin typeface="Calibri"/>
                <a:ea typeface="Calibri"/>
              </a:rPr>
              <a:t>Market leading</a:t>
            </a:r>
            <a:endParaRPr b="0" lang="en-US" sz="740" strike="noStrike" u="none">
              <a:solidFill>
                <a:srgbClr val="000000"/>
              </a:solidFill>
              <a:effectLst/>
              <a:uFillTx/>
              <a:latin typeface="Arial"/>
            </a:endParaRPr>
          </a:p>
        </p:txBody>
      </p:sp>
      <p:sp>
        <p:nvSpPr>
          <p:cNvPr id="1444" name="Shape 31"/>
          <p:cNvSpPr/>
          <p:nvPr/>
        </p:nvSpPr>
        <p:spPr>
          <a:xfrm>
            <a:off x="7799760" y="2980800"/>
            <a:ext cx="3767040" cy="52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45" name="Text 32"/>
          <p:cNvSpPr/>
          <p:nvPr/>
        </p:nvSpPr>
        <p:spPr>
          <a:xfrm>
            <a:off x="7891200" y="3026520"/>
            <a:ext cx="358416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EnergyCAP and Arcadia are the SaaS benchmarks on utility data. Neither carries the same data into sourcing, flexibility and disclosure.</a:t>
            </a:r>
            <a:endParaRPr b="0" lang="en-US" sz="800" strike="noStrike" u="none">
              <a:solidFill>
                <a:srgbClr val="000000"/>
              </a:solidFill>
              <a:effectLst/>
              <a:uFillTx/>
              <a:latin typeface="Arial"/>
            </a:endParaRPr>
          </a:p>
        </p:txBody>
      </p:sp>
      <p:sp>
        <p:nvSpPr>
          <p:cNvPr id="1446" name="Shape 33"/>
          <p:cNvSpPr/>
          <p:nvPr/>
        </p:nvSpPr>
        <p:spPr>
          <a:xfrm>
            <a:off x="621720" y="3511440"/>
            <a:ext cx="2011320" cy="52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47" name="Text 34"/>
          <p:cNvSpPr/>
          <p:nvPr/>
        </p:nvSpPr>
        <p:spPr>
          <a:xfrm>
            <a:off x="713160" y="3557160"/>
            <a:ext cx="182844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Efficiency and asset action</a:t>
            </a:r>
            <a:endParaRPr b="0" lang="en-US" sz="900" strike="noStrike" u="none">
              <a:solidFill>
                <a:srgbClr val="000000"/>
              </a:solidFill>
              <a:effectLst/>
              <a:uFillTx/>
              <a:latin typeface="Arial"/>
            </a:endParaRPr>
          </a:p>
        </p:txBody>
      </p:sp>
      <p:sp>
        <p:nvSpPr>
          <p:cNvPr id="1448" name="Shape 35"/>
          <p:cNvSpPr/>
          <p:nvPr/>
        </p:nvSpPr>
        <p:spPr>
          <a:xfrm>
            <a:off x="2633400" y="3511440"/>
            <a:ext cx="3794400" cy="52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49" name="Text 36"/>
          <p:cNvSpPr/>
          <p:nvPr/>
        </p:nvSpPr>
        <p:spPr>
          <a:xfrm>
            <a:off x="2724840" y="3557160"/>
            <a:ext cx="361152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Energy Efficiency and Capital Asset Planning turn findings into funded, tracked measures.</a:t>
            </a:r>
            <a:endParaRPr b="0" lang="en-US" sz="800" strike="noStrike" u="none">
              <a:solidFill>
                <a:srgbClr val="000000"/>
              </a:solidFill>
              <a:effectLst/>
              <a:uFillTx/>
              <a:latin typeface="Arial"/>
            </a:endParaRPr>
          </a:p>
        </p:txBody>
      </p:sp>
      <p:sp>
        <p:nvSpPr>
          <p:cNvPr id="1450" name="Shape 37"/>
          <p:cNvSpPr/>
          <p:nvPr/>
        </p:nvSpPr>
        <p:spPr>
          <a:xfrm>
            <a:off x="6428160" y="3511440"/>
            <a:ext cx="1371240" cy="52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51" name="Shape 38"/>
          <p:cNvSpPr/>
          <p:nvPr/>
        </p:nvSpPr>
        <p:spPr>
          <a:xfrm>
            <a:off x="6501240" y="3657600"/>
            <a:ext cx="1225080" cy="237240"/>
          </a:xfrm>
          <a:prstGeom prst="roundRect">
            <a:avLst>
              <a:gd name="adj" fmla="val 46154"/>
            </a:avLst>
          </a:prstGeom>
          <a:solidFill>
            <a:srgbClr val="eaf8ed"/>
          </a:solidFill>
          <a:ln w="635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52" name="Text 39"/>
          <p:cNvSpPr/>
          <p:nvPr/>
        </p:nvSpPr>
        <p:spPr>
          <a:xfrm>
            <a:off x="6501240" y="365760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007a27"/>
                </a:solidFill>
                <a:effectLst/>
                <a:uFillTx/>
                <a:latin typeface="Calibri"/>
                <a:ea typeface="Calibri"/>
              </a:rPr>
              <a:t>Market leading</a:t>
            </a:r>
            <a:endParaRPr b="0" lang="en-US" sz="740" strike="noStrike" u="none">
              <a:solidFill>
                <a:srgbClr val="000000"/>
              </a:solidFill>
              <a:effectLst/>
              <a:uFillTx/>
              <a:latin typeface="Arial"/>
            </a:endParaRPr>
          </a:p>
        </p:txBody>
      </p:sp>
      <p:sp>
        <p:nvSpPr>
          <p:cNvPr id="1453" name="Shape 40"/>
          <p:cNvSpPr/>
          <p:nvPr/>
        </p:nvSpPr>
        <p:spPr>
          <a:xfrm>
            <a:off x="7799760" y="3511440"/>
            <a:ext cx="3767040" cy="52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54" name="Text 41"/>
          <p:cNvSpPr/>
          <p:nvPr/>
        </p:nvSpPr>
        <p:spPr>
          <a:xfrm>
            <a:off x="7891200" y="3557160"/>
            <a:ext cx="358416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GridPoint and Uplight optimise building and customer energy. Capital planning and measure funding are outside their scope.</a:t>
            </a:r>
            <a:endParaRPr b="0" lang="en-US" sz="800" strike="noStrike" u="none">
              <a:solidFill>
                <a:srgbClr val="000000"/>
              </a:solidFill>
              <a:effectLst/>
              <a:uFillTx/>
              <a:latin typeface="Arial"/>
            </a:endParaRPr>
          </a:p>
        </p:txBody>
      </p:sp>
      <p:sp>
        <p:nvSpPr>
          <p:cNvPr id="1455" name="Shape 42"/>
          <p:cNvSpPr/>
          <p:nvPr/>
        </p:nvSpPr>
        <p:spPr>
          <a:xfrm>
            <a:off x="621720" y="4041720"/>
            <a:ext cx="2011320" cy="52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56" name="Text 43"/>
          <p:cNvSpPr/>
          <p:nvPr/>
        </p:nvSpPr>
        <p:spPr>
          <a:xfrm>
            <a:off x="713160" y="4087440"/>
            <a:ext cx="182844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Sourcing, PPAs and EACs</a:t>
            </a:r>
            <a:endParaRPr b="0" lang="en-US" sz="900" strike="noStrike" u="none">
              <a:solidFill>
                <a:srgbClr val="000000"/>
              </a:solidFill>
              <a:effectLst/>
              <a:uFillTx/>
              <a:latin typeface="Arial"/>
            </a:endParaRPr>
          </a:p>
        </p:txBody>
      </p:sp>
      <p:sp>
        <p:nvSpPr>
          <p:cNvPr id="1457" name="Shape 44"/>
          <p:cNvSpPr/>
          <p:nvPr/>
        </p:nvSpPr>
        <p:spPr>
          <a:xfrm>
            <a:off x="2633400" y="4041720"/>
            <a:ext cx="3794400" cy="52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58" name="Text 45"/>
          <p:cNvSpPr/>
          <p:nvPr/>
        </p:nvSpPr>
        <p:spPr>
          <a:xfrm>
            <a:off x="2724840" y="4087440"/>
            <a:ext cx="361152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Sourcing &amp; Procurement with PPAs &amp; EACs, priced against exposure and carbon impact.</a:t>
            </a:r>
            <a:endParaRPr b="0" lang="en-US" sz="800" strike="noStrike" u="none">
              <a:solidFill>
                <a:srgbClr val="000000"/>
              </a:solidFill>
              <a:effectLst/>
              <a:uFillTx/>
              <a:latin typeface="Arial"/>
            </a:endParaRPr>
          </a:p>
        </p:txBody>
      </p:sp>
      <p:sp>
        <p:nvSpPr>
          <p:cNvPr id="1459" name="Shape 46"/>
          <p:cNvSpPr/>
          <p:nvPr/>
        </p:nvSpPr>
        <p:spPr>
          <a:xfrm>
            <a:off x="6428160" y="4041720"/>
            <a:ext cx="1371240" cy="52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60" name="Shape 47"/>
          <p:cNvSpPr/>
          <p:nvPr/>
        </p:nvSpPr>
        <p:spPr>
          <a:xfrm>
            <a:off x="6501240" y="4187880"/>
            <a:ext cx="1225080" cy="237240"/>
          </a:xfrm>
          <a:prstGeom prst="roundRect">
            <a:avLst>
              <a:gd name="adj" fmla="val 46154"/>
            </a:avLst>
          </a:prstGeom>
          <a:solidFill>
            <a:srgbClr val="eaf8ed"/>
          </a:solidFill>
          <a:ln w="635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61" name="Text 48"/>
          <p:cNvSpPr/>
          <p:nvPr/>
        </p:nvSpPr>
        <p:spPr>
          <a:xfrm>
            <a:off x="6501240" y="418788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007a27"/>
                </a:solidFill>
                <a:effectLst/>
                <a:uFillTx/>
                <a:latin typeface="Calibri"/>
                <a:ea typeface="Calibri"/>
              </a:rPr>
              <a:t>Market leading</a:t>
            </a:r>
            <a:endParaRPr b="0" lang="en-US" sz="740" strike="noStrike" u="none">
              <a:solidFill>
                <a:srgbClr val="000000"/>
              </a:solidFill>
              <a:effectLst/>
              <a:uFillTx/>
              <a:latin typeface="Arial"/>
            </a:endParaRPr>
          </a:p>
        </p:txBody>
      </p:sp>
      <p:sp>
        <p:nvSpPr>
          <p:cNvPr id="1462" name="Shape 49"/>
          <p:cNvSpPr/>
          <p:nvPr/>
        </p:nvSpPr>
        <p:spPr>
          <a:xfrm>
            <a:off x="7799760" y="4041720"/>
            <a:ext cx="3767040" cy="52992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63" name="Text 50"/>
          <p:cNvSpPr/>
          <p:nvPr/>
        </p:nvSpPr>
        <p:spPr>
          <a:xfrm>
            <a:off x="7891200" y="4087440"/>
            <a:ext cx="358416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Demand response and metering rivals do not sell sourcing. Sourcing specialists do not own the meter or the inventory.</a:t>
            </a:r>
            <a:endParaRPr b="0" lang="en-US" sz="800" strike="noStrike" u="none">
              <a:solidFill>
                <a:srgbClr val="000000"/>
              </a:solidFill>
              <a:effectLst/>
              <a:uFillTx/>
              <a:latin typeface="Arial"/>
            </a:endParaRPr>
          </a:p>
        </p:txBody>
      </p:sp>
      <p:sp>
        <p:nvSpPr>
          <p:cNvPr id="1464" name="Shape 51"/>
          <p:cNvSpPr/>
          <p:nvPr/>
        </p:nvSpPr>
        <p:spPr>
          <a:xfrm>
            <a:off x="621720" y="4572000"/>
            <a:ext cx="2011320" cy="52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65" name="Text 52"/>
          <p:cNvSpPr/>
          <p:nvPr/>
        </p:nvSpPr>
        <p:spPr>
          <a:xfrm>
            <a:off x="713160" y="4617720"/>
            <a:ext cx="182844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00" strike="noStrike" u="none">
                <a:solidFill>
                  <a:srgbClr val="1e2420"/>
                </a:solidFill>
                <a:effectLst/>
                <a:uFillTx/>
                <a:latin typeface="Calibri"/>
                <a:ea typeface="Calibri"/>
              </a:rPr>
              <a:t>One governed platform</a:t>
            </a:r>
            <a:endParaRPr b="0" lang="en-US" sz="900" strike="noStrike" u="none">
              <a:solidFill>
                <a:srgbClr val="000000"/>
              </a:solidFill>
              <a:effectLst/>
              <a:uFillTx/>
              <a:latin typeface="Arial"/>
            </a:endParaRPr>
          </a:p>
        </p:txBody>
      </p:sp>
      <p:sp>
        <p:nvSpPr>
          <p:cNvPr id="1466" name="Shape 53"/>
          <p:cNvSpPr/>
          <p:nvPr/>
        </p:nvSpPr>
        <p:spPr>
          <a:xfrm>
            <a:off x="2633400" y="4572000"/>
            <a:ext cx="3794400" cy="52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67" name="Text 54"/>
          <p:cNvSpPr/>
          <p:nvPr/>
        </p:nvSpPr>
        <p:spPr>
          <a:xfrm>
            <a:off x="2724840" y="4617720"/>
            <a:ext cx="361152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1e2420"/>
                </a:solidFill>
                <a:effectLst/>
                <a:uFillTx/>
                <a:latin typeface="Calibri"/>
                <a:ea typeface="Calibri"/>
              </a:rPr>
              <a:t>Every product above runs on the same AI native RA+ platform layer, hierarchy and audit trail.</a:t>
            </a:r>
            <a:endParaRPr b="0" lang="en-US" sz="800" strike="noStrike" u="none">
              <a:solidFill>
                <a:srgbClr val="000000"/>
              </a:solidFill>
              <a:effectLst/>
              <a:uFillTx/>
              <a:latin typeface="Arial"/>
            </a:endParaRPr>
          </a:p>
        </p:txBody>
      </p:sp>
      <p:sp>
        <p:nvSpPr>
          <p:cNvPr id="1468" name="Shape 55"/>
          <p:cNvSpPr/>
          <p:nvPr/>
        </p:nvSpPr>
        <p:spPr>
          <a:xfrm>
            <a:off x="6428160" y="4572000"/>
            <a:ext cx="1371240" cy="52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69" name="Shape 56"/>
          <p:cNvSpPr/>
          <p:nvPr/>
        </p:nvSpPr>
        <p:spPr>
          <a:xfrm>
            <a:off x="6501240" y="4718160"/>
            <a:ext cx="1225080" cy="237240"/>
          </a:xfrm>
          <a:prstGeom prst="roundRect">
            <a:avLst>
              <a:gd name="adj" fmla="val 46154"/>
            </a:avLst>
          </a:prstGeom>
          <a:solidFill>
            <a:srgbClr val="eaf8ed"/>
          </a:solidFill>
          <a:ln w="635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70" name="Text 57"/>
          <p:cNvSpPr/>
          <p:nvPr/>
        </p:nvSpPr>
        <p:spPr>
          <a:xfrm>
            <a:off x="6501240" y="4718160"/>
            <a:ext cx="1225080" cy="23724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740" strike="noStrike" u="none">
                <a:solidFill>
                  <a:srgbClr val="007a27"/>
                </a:solidFill>
                <a:effectLst/>
                <a:uFillTx/>
                <a:latin typeface="Calibri"/>
                <a:ea typeface="Calibri"/>
              </a:rPr>
              <a:t>Market leading</a:t>
            </a:r>
            <a:endParaRPr b="0" lang="en-US" sz="740" strike="noStrike" u="none">
              <a:solidFill>
                <a:srgbClr val="000000"/>
              </a:solidFill>
              <a:effectLst/>
              <a:uFillTx/>
              <a:latin typeface="Arial"/>
            </a:endParaRPr>
          </a:p>
        </p:txBody>
      </p:sp>
      <p:sp>
        <p:nvSpPr>
          <p:cNvPr id="1471" name="Shape 58"/>
          <p:cNvSpPr/>
          <p:nvPr/>
        </p:nvSpPr>
        <p:spPr>
          <a:xfrm>
            <a:off x="7799760" y="4572000"/>
            <a:ext cx="3767040" cy="529920"/>
          </a:xfrm>
          <a:prstGeom prst="rect">
            <a:avLst/>
          </a:prstGeom>
          <a:solidFill>
            <a:srgbClr val="ffffff"/>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72" name="Text 59"/>
          <p:cNvSpPr/>
          <p:nvPr/>
        </p:nvSpPr>
        <p:spPr>
          <a:xfrm>
            <a:off x="7891200" y="4617720"/>
            <a:ext cx="358416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800" strike="noStrike" u="none">
                <a:solidFill>
                  <a:srgbClr val="5a625c"/>
                </a:solidFill>
                <a:effectLst/>
                <a:uFillTx/>
                <a:latin typeface="Calibri"/>
                <a:ea typeface="Calibri"/>
              </a:rPr>
              <a:t>The named rivals are point platforms. Buying three of them still leaves the customer reconciling three data models.</a:t>
            </a:r>
            <a:endParaRPr b="0" lang="en-US" sz="800" strike="noStrike" u="none">
              <a:solidFill>
                <a:srgbClr val="000000"/>
              </a:solidFill>
              <a:effectLst/>
              <a:uFillTx/>
              <a:latin typeface="Arial"/>
            </a:endParaRPr>
          </a:p>
        </p:txBody>
      </p:sp>
      <p:sp>
        <p:nvSpPr>
          <p:cNvPr id="1473" name="Shape 60"/>
          <p:cNvSpPr/>
          <p:nvPr/>
        </p:nvSpPr>
        <p:spPr>
          <a:xfrm>
            <a:off x="621720" y="5440680"/>
            <a:ext cx="10947600" cy="548280"/>
          </a:xfrm>
          <a:prstGeom prst="roundRect">
            <a:avLst>
              <a:gd name="adj" fmla="val 6667"/>
            </a:avLst>
          </a:prstGeom>
          <a:solidFill>
            <a:srgbClr val="005730"/>
          </a:solidFill>
          <a:ln w="12700">
            <a:solidFill>
              <a:srgbClr val="005730"/>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474" name="Shape 61"/>
          <p:cNvSpPr/>
          <p:nvPr/>
        </p:nvSpPr>
        <p:spPr>
          <a:xfrm>
            <a:off x="621720" y="5440680"/>
            <a:ext cx="1508400" cy="54828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75" name="Text 62"/>
          <p:cNvSpPr/>
          <p:nvPr/>
        </p:nvSpPr>
        <p:spPr>
          <a:xfrm>
            <a:off x="740520" y="5440680"/>
            <a:ext cx="1270800" cy="54828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800" spc="71" strike="noStrike" u="none">
                <a:solidFill>
                  <a:srgbClr val="005730"/>
                </a:solidFill>
                <a:effectLst/>
                <a:uFillTx/>
                <a:latin typeface="Calibri"/>
                <a:ea typeface="Calibri"/>
              </a:rPr>
              <a:t>BOARD IMPLICATION</a:t>
            </a:r>
            <a:endParaRPr b="0" lang="en-US" sz="800" strike="noStrike" u="none">
              <a:solidFill>
                <a:srgbClr val="000000"/>
              </a:solidFill>
              <a:effectLst/>
              <a:uFillTx/>
              <a:latin typeface="Arial"/>
            </a:endParaRPr>
          </a:p>
        </p:txBody>
      </p:sp>
      <p:sp>
        <p:nvSpPr>
          <p:cNvPr id="1476" name="Text 63"/>
          <p:cNvSpPr/>
          <p:nvPr/>
        </p:nvSpPr>
        <p:spPr>
          <a:xfrm>
            <a:off x="2322720" y="5495400"/>
            <a:ext cx="904572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50" strike="noStrike" u="none">
                <a:solidFill>
                  <a:srgbClr val="ffffff"/>
                </a:solidFill>
                <a:effectLst/>
                <a:uFillTx/>
                <a:latin typeface="Calibri"/>
                <a:ea typeface="Calibri"/>
              </a:rPr>
              <a:t>Each rival is credible in one lane. Our claim is the lane change: metered data that becomes tariff, flexibility, efficiency and carbon decisions without leaving the platform.</a:t>
            </a:r>
            <a:endParaRPr b="0" lang="en-US" sz="950" strike="noStrike" u="none">
              <a:solidFill>
                <a:srgbClr val="000000"/>
              </a:solidFill>
              <a:effectLst/>
              <a:uFillTx/>
              <a:latin typeface="Arial"/>
            </a:endParaRPr>
          </a:p>
        </p:txBody>
      </p:sp>
      <p:sp>
        <p:nvSpPr>
          <p:cNvPr id="1477" name="Text 64"/>
          <p:cNvSpPr/>
          <p:nvPr/>
        </p:nvSpPr>
        <p:spPr>
          <a:xfrm>
            <a:off x="621720" y="6053400"/>
            <a:ext cx="10947600" cy="22824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720" strike="noStrike" u="none">
                <a:solidFill>
                  <a:srgbClr val="5a625c"/>
                </a:solidFill>
                <a:effectLst/>
                <a:uFillTx/>
                <a:latin typeface="Calibri"/>
                <a:ea typeface="Calibri"/>
              </a:rPr>
              <a:t>Source: public product pages for Enel X, Itron, Schneider ION, EnergyCAP, Arcadia, GridPoint and Uplight, reviewed September 2026, plus licensed Verdantix research and the RA+ roadmap. Positions are internal assessments, not third party ratings. Horizon by horizon detail sits in the roadmap gap matrix at /competitor-matrix.</a:t>
            </a:r>
            <a:endParaRPr b="0" lang="en-US" sz="720" strike="noStrike" u="none">
              <a:solidFill>
                <a:srgbClr val="000000"/>
              </a:solidFill>
              <a:effectLst/>
              <a:uFillTx/>
              <a:latin typeface="Arial"/>
            </a:endParaRPr>
          </a:p>
        </p:txBody>
      </p:sp>
      <p:sp>
        <p:nvSpPr>
          <p:cNvPr id="1478" name="Shape 65"/>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479" name="Text 66"/>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1480" name="Text 67"/>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1481" name="PlaceHolder 1"/>
          <p:cNvSpPr>
            <a:spLocks noGrp="1"/>
          </p:cNvSpPr>
          <p:nvPr>
            <p:ph type="sldNum" idx="37"/>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F7EAFF0B-9C7C-46C5-971D-1108AD01F605}"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82"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1483"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1484" name="Text 2"/>
          <p:cNvSpPr/>
          <p:nvPr/>
        </p:nvSpPr>
        <p:spPr>
          <a:xfrm>
            <a:off x="621720" y="320040"/>
            <a:ext cx="7131960" cy="22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50" strike="noStrike" u="none">
                <a:solidFill>
                  <a:srgbClr val="007a27"/>
                </a:solidFill>
                <a:effectLst/>
                <a:uFillTx/>
                <a:latin typeface="Calibri"/>
                <a:ea typeface="Calibri"/>
              </a:rPr>
              <a:t>COMMERCIAL MODEL | BOARD PROPOSAL</a:t>
            </a:r>
            <a:endParaRPr b="0" lang="en-US" sz="900" strike="noStrike" u="none">
              <a:solidFill>
                <a:srgbClr val="000000"/>
              </a:solidFill>
              <a:effectLst/>
              <a:uFillTx/>
              <a:latin typeface="Arial"/>
            </a:endParaRPr>
          </a:p>
        </p:txBody>
      </p:sp>
      <p:sp>
        <p:nvSpPr>
          <p:cNvPr id="1485" name="Text 3"/>
          <p:cNvSpPr/>
          <p:nvPr/>
        </p:nvSpPr>
        <p:spPr>
          <a:xfrm>
            <a:off x="621720" y="676800"/>
            <a:ext cx="10947600" cy="639720"/>
          </a:xfrm>
          <a:prstGeom prst="rect">
            <a:avLst/>
          </a:prstGeom>
          <a:noFill/>
          <a:ln w="0">
            <a:noFill/>
          </a:ln>
        </p:spPr>
        <p:style>
          <a:lnRef idx="0"/>
          <a:fillRef idx="0"/>
          <a:effectRef idx="0"/>
          <a:fontRef idx="minor"/>
        </p:style>
        <p:txBody>
          <a:bodyPr lIns="0" rIns="0" tIns="0" bIns="0" anchor="ctr">
            <a:normAutofit fontScale="92500" lnSpcReduction="19999"/>
          </a:bodyPr>
          <a:p>
            <a:pPr defTabSz="914400">
              <a:lnSpc>
                <a:spcPct val="100000"/>
              </a:lnSpc>
              <a:tabLst>
                <a:tab algn="l" pos="0"/>
              </a:tabLst>
            </a:pPr>
            <a:r>
              <a:rPr b="1" lang="en-US" sz="2700" strike="noStrike" u="none">
                <a:solidFill>
                  <a:srgbClr val="1e2420"/>
                </a:solidFill>
                <a:effectLst/>
                <a:uFillTx/>
                <a:latin typeface="Calibri"/>
                <a:ea typeface="Calibri"/>
              </a:rPr>
              <a:t>Platform fee plus per-product expansion: simpler to buy, clearer to scale</a:t>
            </a:r>
            <a:endParaRPr b="0" lang="en-US" sz="2700" strike="noStrike" u="none">
              <a:solidFill>
                <a:srgbClr val="000000"/>
              </a:solidFill>
              <a:effectLst/>
              <a:uFillTx/>
              <a:latin typeface="Arial"/>
            </a:endParaRPr>
          </a:p>
        </p:txBody>
      </p:sp>
      <p:sp>
        <p:nvSpPr>
          <p:cNvPr id="1486" name="Text 4"/>
          <p:cNvSpPr/>
          <p:nvPr/>
        </p:nvSpPr>
        <p:spPr>
          <a:xfrm>
            <a:off x="621720" y="1344240"/>
            <a:ext cx="10947600" cy="438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050" strike="noStrike" u="none">
                <a:solidFill>
                  <a:srgbClr val="5a625c"/>
                </a:solidFill>
                <a:effectLst/>
                <a:uFillTx/>
                <a:latin typeface="Calibri"/>
                <a:ea typeface="Calibri"/>
              </a:rPr>
              <a:t>Every tier includes the core data spine and governance platform. Product modules are priced separately so expansion revenue is predictable and the convergence story pays for itself. Price points remain subject to Finance and market validation.</a:t>
            </a:r>
            <a:endParaRPr b="0" lang="en-US" sz="1050" strike="noStrike" u="none">
              <a:solidFill>
                <a:srgbClr val="000000"/>
              </a:solidFill>
              <a:effectLst/>
              <a:uFillTx/>
              <a:latin typeface="Arial"/>
            </a:endParaRPr>
          </a:p>
        </p:txBody>
      </p:sp>
      <p:sp>
        <p:nvSpPr>
          <p:cNvPr id="1487" name="Shape 5"/>
          <p:cNvSpPr/>
          <p:nvPr/>
        </p:nvSpPr>
        <p:spPr>
          <a:xfrm>
            <a:off x="621720" y="1901880"/>
            <a:ext cx="2370960" cy="2468520"/>
          </a:xfrm>
          <a:prstGeom prst="roundRect">
            <a:avLst>
              <a:gd name="adj" fmla="val 2314"/>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88" name="Shape 6"/>
          <p:cNvSpPr/>
          <p:nvPr/>
        </p:nvSpPr>
        <p:spPr>
          <a:xfrm>
            <a:off x="621720" y="1901880"/>
            <a:ext cx="2370960" cy="63720"/>
          </a:xfrm>
          <a:prstGeom prst="rect">
            <a:avLst/>
          </a:prstGeom>
          <a:solidFill>
            <a:srgbClr val="3dcd58"/>
          </a:solidFill>
          <a:ln w="12700">
            <a:solidFill>
              <a:srgbClr val="3dcd58"/>
            </a:solidFill>
            <a:round/>
          </a:ln>
        </p:spPr>
        <p:style>
          <a:lnRef idx="0"/>
          <a:fillRef idx="0"/>
          <a:effectRef idx="0"/>
          <a:fontRef idx="minor"/>
        </p:style>
        <p:txBody>
          <a:bodyPr lIns="90000" rIns="90000" tIns="19080" bIns="19080" anchor="t">
            <a:noAutofit/>
          </a:bodyPr>
          <a:p>
            <a:endParaRPr b="0" lang="en-US" sz="1800" strike="noStrike" u="none">
              <a:solidFill>
                <a:srgbClr val="000000"/>
              </a:solidFill>
              <a:effectLst/>
              <a:uFillTx/>
              <a:latin typeface="Arial"/>
            </a:endParaRPr>
          </a:p>
        </p:txBody>
      </p:sp>
      <p:sp>
        <p:nvSpPr>
          <p:cNvPr id="1489" name="Text 7"/>
          <p:cNvSpPr/>
          <p:nvPr/>
        </p:nvSpPr>
        <p:spPr>
          <a:xfrm>
            <a:off x="786240" y="2057400"/>
            <a:ext cx="685440" cy="182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79" strike="noStrike" u="none">
                <a:solidFill>
                  <a:srgbClr val="007a27"/>
                </a:solidFill>
                <a:effectLst/>
                <a:uFillTx/>
                <a:latin typeface="Calibri"/>
                <a:ea typeface="Calibri"/>
              </a:rPr>
              <a:t>TIER 01</a:t>
            </a:r>
            <a:endParaRPr b="0" lang="en-US" sz="750" strike="noStrike" u="none">
              <a:solidFill>
                <a:srgbClr val="000000"/>
              </a:solidFill>
              <a:effectLst/>
              <a:uFillTx/>
              <a:latin typeface="Arial"/>
            </a:endParaRPr>
          </a:p>
        </p:txBody>
      </p:sp>
      <p:sp>
        <p:nvSpPr>
          <p:cNvPr id="1490" name="Text 8"/>
          <p:cNvSpPr/>
          <p:nvPr/>
        </p:nvSpPr>
        <p:spPr>
          <a:xfrm>
            <a:off x="786240" y="2313360"/>
            <a:ext cx="2041920" cy="319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500" strike="noStrike" u="none">
                <a:solidFill>
                  <a:srgbClr val="1e2420"/>
                </a:solidFill>
                <a:effectLst/>
                <a:uFillTx/>
                <a:latin typeface="Calibri"/>
                <a:ea typeface="Calibri"/>
              </a:rPr>
              <a:t>Foundation</a:t>
            </a:r>
            <a:endParaRPr b="0" lang="en-US" sz="1500" strike="noStrike" u="none">
              <a:solidFill>
                <a:srgbClr val="000000"/>
              </a:solidFill>
              <a:effectLst/>
              <a:uFillTx/>
              <a:latin typeface="Arial"/>
            </a:endParaRPr>
          </a:p>
        </p:txBody>
      </p:sp>
      <p:sp>
        <p:nvSpPr>
          <p:cNvPr id="1491" name="Text 9"/>
          <p:cNvSpPr/>
          <p:nvPr/>
        </p:nvSpPr>
        <p:spPr>
          <a:xfrm>
            <a:off x="786240" y="2660760"/>
            <a:ext cx="2041920" cy="3837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830" strike="noStrike" u="none">
                <a:solidFill>
                  <a:srgbClr val="5a625c"/>
                </a:solidFill>
                <a:effectLst/>
                <a:uFillTx/>
                <a:latin typeface="Calibri"/>
                <a:ea typeface="Calibri"/>
              </a:rPr>
              <a:t>Establish a trusted baseline</a:t>
            </a:r>
            <a:endParaRPr b="0" lang="en-US" sz="830" strike="noStrike" u="none">
              <a:solidFill>
                <a:srgbClr val="000000"/>
              </a:solidFill>
              <a:effectLst/>
              <a:uFillTx/>
              <a:latin typeface="Arial"/>
            </a:endParaRPr>
          </a:p>
        </p:txBody>
      </p:sp>
      <p:sp>
        <p:nvSpPr>
          <p:cNvPr id="1492" name="Shape 10"/>
          <p:cNvSpPr/>
          <p:nvPr/>
        </p:nvSpPr>
        <p:spPr>
          <a:xfrm>
            <a:off x="786240" y="3136320"/>
            <a:ext cx="2042280" cy="360"/>
          </a:xfrm>
          <a:prstGeom prst="line">
            <a:avLst/>
          </a:prstGeom>
          <a:ln w="7620">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493" name="Text 11"/>
          <p:cNvSpPr/>
          <p:nvPr/>
        </p:nvSpPr>
        <p:spPr>
          <a:xfrm>
            <a:off x="786240" y="3255120"/>
            <a:ext cx="204192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150" strike="noStrike" u="none">
                <a:solidFill>
                  <a:srgbClr val="1e2420"/>
                </a:solidFill>
                <a:effectLst/>
                <a:uFillTx/>
                <a:latin typeface="Calibri"/>
                <a:ea typeface="Calibri"/>
              </a:rPr>
              <a:t>[€ BASE PRICE] / year</a:t>
            </a:r>
            <a:endParaRPr b="0" lang="en-US" sz="1150" strike="noStrike" u="none">
              <a:solidFill>
                <a:srgbClr val="000000"/>
              </a:solidFill>
              <a:effectLst/>
              <a:uFillTx/>
              <a:latin typeface="Arial"/>
            </a:endParaRPr>
          </a:p>
        </p:txBody>
      </p:sp>
      <p:sp>
        <p:nvSpPr>
          <p:cNvPr id="1494" name="Text 12"/>
          <p:cNvSpPr/>
          <p:nvPr/>
        </p:nvSpPr>
        <p:spPr>
          <a:xfrm>
            <a:off x="786240" y="3648600"/>
            <a:ext cx="2041920" cy="566640"/>
          </a:xfrm>
          <a:prstGeom prst="rect">
            <a:avLst/>
          </a:prstGeom>
          <a:noFill/>
          <a:ln w="0">
            <a:noFill/>
          </a:ln>
        </p:spPr>
        <p:style>
          <a:lnRef idx="0"/>
          <a:fillRef idx="0"/>
          <a:effectRef idx="0"/>
          <a:fontRef idx="minor"/>
        </p:style>
        <p:txBody>
          <a:bodyPr lIns="0" rIns="0" tIns="0" bIns="0" anchor="t">
            <a:normAutofit lnSpcReduction="9999"/>
          </a:bodyPr>
          <a:p>
            <a:pPr marL="114480" indent="-114480" defTabSz="914400">
              <a:lnSpc>
                <a:spcPct val="100000"/>
              </a:lnSpc>
              <a:spcAft>
                <a:spcPts val="400"/>
              </a:spcAft>
              <a:buClr>
                <a:srgbClr val="5a625c"/>
              </a:buClr>
              <a:buFont typeface="Symbol" charset="2"/>
              <a:buChar char=""/>
            </a:pPr>
            <a:r>
              <a:rPr b="0" lang="en-US" sz="780" strike="noStrike" u="none">
                <a:solidFill>
                  <a:srgbClr val="5a625c"/>
                </a:solidFill>
                <a:effectLst/>
                <a:uFillTx/>
                <a:latin typeface="Calibri"/>
                <a:ea typeface="Calibri"/>
              </a:rPr>
              <a:t>Platform spine and one sustainability product</a:t>
            </a:r>
            <a:endParaRPr b="0" lang="en-US" sz="780" strike="noStrike" u="none">
              <a:solidFill>
                <a:srgbClr val="000000"/>
              </a:solidFill>
              <a:effectLst/>
              <a:uFillTx/>
              <a:latin typeface="Arial"/>
            </a:endParaRPr>
          </a:p>
          <a:p>
            <a:pPr marL="114480" indent="-114480" defTabSz="914400">
              <a:lnSpc>
                <a:spcPct val="100000"/>
              </a:lnSpc>
              <a:spcAft>
                <a:spcPts val="400"/>
              </a:spcAft>
              <a:buClr>
                <a:srgbClr val="5a625c"/>
              </a:buClr>
              <a:buFont typeface="Symbol" charset="2"/>
              <a:buChar char=""/>
            </a:pPr>
            <a:r>
              <a:rPr b="0" lang="en-US" sz="780" strike="noStrike" u="none">
                <a:solidFill>
                  <a:srgbClr val="5a625c"/>
                </a:solidFill>
                <a:effectLst/>
                <a:uFillTx/>
                <a:latin typeface="Calibri"/>
                <a:ea typeface="Calibri"/>
              </a:rPr>
              <a:t>Standard onboarding and support</a:t>
            </a:r>
            <a:endParaRPr b="0" lang="en-US" sz="780" strike="noStrike" u="none">
              <a:solidFill>
                <a:srgbClr val="000000"/>
              </a:solidFill>
              <a:effectLst/>
              <a:uFillTx/>
              <a:latin typeface="Arial"/>
            </a:endParaRPr>
          </a:p>
          <a:p>
            <a:pPr marL="114480" indent="-114480" defTabSz="914400">
              <a:lnSpc>
                <a:spcPct val="100000"/>
              </a:lnSpc>
              <a:spcAft>
                <a:spcPts val="400"/>
              </a:spcAft>
              <a:buClr>
                <a:srgbClr val="5a625c"/>
              </a:buClr>
              <a:buFont typeface="Symbol" charset="2"/>
              <a:buChar char=""/>
            </a:pPr>
            <a:r>
              <a:rPr b="0" lang="en-US" sz="780" strike="noStrike" u="none">
                <a:solidFill>
                  <a:srgbClr val="5a625c"/>
                </a:solidFill>
                <a:effectLst/>
                <a:uFillTx/>
                <a:latin typeface="Calibri"/>
                <a:ea typeface="Calibri"/>
              </a:rPr>
              <a:t>Pay only for what you need to start</a:t>
            </a:r>
            <a:endParaRPr b="0" lang="en-US" sz="780" strike="noStrike" u="none">
              <a:solidFill>
                <a:srgbClr val="000000"/>
              </a:solidFill>
              <a:effectLst/>
              <a:uFillTx/>
              <a:latin typeface="Arial"/>
            </a:endParaRPr>
          </a:p>
        </p:txBody>
      </p:sp>
      <p:sp>
        <p:nvSpPr>
          <p:cNvPr id="1495" name="Shape 13"/>
          <p:cNvSpPr/>
          <p:nvPr/>
        </p:nvSpPr>
        <p:spPr>
          <a:xfrm>
            <a:off x="3139560" y="1901880"/>
            <a:ext cx="2370960" cy="2468520"/>
          </a:xfrm>
          <a:prstGeom prst="roundRect">
            <a:avLst>
              <a:gd name="adj" fmla="val 2314"/>
            </a:avLst>
          </a:prstGeom>
          <a:solidFill>
            <a:srgbClr val="005730"/>
          </a:solidFill>
          <a:ln w="9525">
            <a:solidFill>
              <a:srgbClr val="3dcd58"/>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496" name="Shape 14"/>
          <p:cNvSpPr/>
          <p:nvPr/>
        </p:nvSpPr>
        <p:spPr>
          <a:xfrm>
            <a:off x="3139560" y="1901880"/>
            <a:ext cx="2370960" cy="63720"/>
          </a:xfrm>
          <a:prstGeom prst="rect">
            <a:avLst/>
          </a:prstGeom>
          <a:solidFill>
            <a:srgbClr val="3dcd58"/>
          </a:solidFill>
          <a:ln w="12700">
            <a:solidFill>
              <a:srgbClr val="3dcd58"/>
            </a:solidFill>
            <a:round/>
          </a:ln>
        </p:spPr>
        <p:style>
          <a:lnRef idx="0"/>
          <a:fillRef idx="0"/>
          <a:effectRef idx="0"/>
          <a:fontRef idx="minor"/>
        </p:style>
        <p:txBody>
          <a:bodyPr lIns="90000" rIns="90000" tIns="19080" bIns="19080" anchor="t">
            <a:noAutofit/>
          </a:bodyPr>
          <a:p>
            <a:endParaRPr b="0" lang="en-US" sz="1800" strike="noStrike" u="none">
              <a:solidFill>
                <a:srgbClr val="000000"/>
              </a:solidFill>
              <a:effectLst/>
              <a:uFillTx/>
              <a:latin typeface="Arial"/>
            </a:endParaRPr>
          </a:p>
        </p:txBody>
      </p:sp>
      <p:sp>
        <p:nvSpPr>
          <p:cNvPr id="1497" name="Text 15"/>
          <p:cNvSpPr/>
          <p:nvPr/>
        </p:nvSpPr>
        <p:spPr>
          <a:xfrm>
            <a:off x="3304080" y="2057400"/>
            <a:ext cx="685440" cy="182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79" strike="noStrike" u="none">
                <a:solidFill>
                  <a:srgbClr val="cdfc57"/>
                </a:solidFill>
                <a:effectLst/>
                <a:uFillTx/>
                <a:latin typeface="Calibri"/>
                <a:ea typeface="Calibri"/>
              </a:rPr>
              <a:t>TIER 02</a:t>
            </a:r>
            <a:endParaRPr b="0" lang="en-US" sz="750" strike="noStrike" u="none">
              <a:solidFill>
                <a:srgbClr val="000000"/>
              </a:solidFill>
              <a:effectLst/>
              <a:uFillTx/>
              <a:latin typeface="Arial"/>
            </a:endParaRPr>
          </a:p>
        </p:txBody>
      </p:sp>
      <p:sp>
        <p:nvSpPr>
          <p:cNvPr id="1498" name="Text 16"/>
          <p:cNvSpPr/>
          <p:nvPr/>
        </p:nvSpPr>
        <p:spPr>
          <a:xfrm>
            <a:off x="4550760" y="2057400"/>
            <a:ext cx="795240" cy="18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650" strike="noStrike" u="none">
                <a:solidFill>
                  <a:srgbClr val="cdfc57"/>
                </a:solidFill>
                <a:effectLst/>
                <a:uFillTx/>
                <a:latin typeface="Calibri"/>
                <a:ea typeface="Calibri"/>
              </a:rPr>
              <a:t>RECOMMENDED</a:t>
            </a:r>
            <a:endParaRPr b="0" lang="en-US" sz="650" strike="noStrike" u="none">
              <a:solidFill>
                <a:srgbClr val="000000"/>
              </a:solidFill>
              <a:effectLst/>
              <a:uFillTx/>
              <a:latin typeface="Arial"/>
            </a:endParaRPr>
          </a:p>
        </p:txBody>
      </p:sp>
      <p:sp>
        <p:nvSpPr>
          <p:cNvPr id="1499" name="Text 17"/>
          <p:cNvSpPr/>
          <p:nvPr/>
        </p:nvSpPr>
        <p:spPr>
          <a:xfrm>
            <a:off x="3304080" y="2313360"/>
            <a:ext cx="2041920" cy="319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500" strike="noStrike" u="none">
                <a:solidFill>
                  <a:srgbClr val="ffffff"/>
                </a:solidFill>
                <a:effectLst/>
                <a:uFillTx/>
                <a:latin typeface="Calibri"/>
                <a:ea typeface="Calibri"/>
              </a:rPr>
              <a:t>Enterprise</a:t>
            </a:r>
            <a:endParaRPr b="0" lang="en-US" sz="1500" strike="noStrike" u="none">
              <a:solidFill>
                <a:srgbClr val="000000"/>
              </a:solidFill>
              <a:effectLst/>
              <a:uFillTx/>
              <a:latin typeface="Arial"/>
            </a:endParaRPr>
          </a:p>
        </p:txBody>
      </p:sp>
      <p:sp>
        <p:nvSpPr>
          <p:cNvPr id="1500" name="Text 18"/>
          <p:cNvSpPr/>
          <p:nvPr/>
        </p:nvSpPr>
        <p:spPr>
          <a:xfrm>
            <a:off x="3304080" y="2660760"/>
            <a:ext cx="2041920" cy="3837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830" strike="noStrike" u="none">
                <a:solidFill>
                  <a:srgbClr val="bfd9c9"/>
                </a:solidFill>
                <a:effectLst/>
                <a:uFillTx/>
                <a:latin typeface="Calibri"/>
                <a:ea typeface="Calibri"/>
              </a:rPr>
              <a:t>Connect data, decisions and disclosure</a:t>
            </a:r>
            <a:endParaRPr b="0" lang="en-US" sz="830" strike="noStrike" u="none">
              <a:solidFill>
                <a:srgbClr val="000000"/>
              </a:solidFill>
              <a:effectLst/>
              <a:uFillTx/>
              <a:latin typeface="Arial"/>
            </a:endParaRPr>
          </a:p>
        </p:txBody>
      </p:sp>
      <p:sp>
        <p:nvSpPr>
          <p:cNvPr id="1501" name="Shape 19"/>
          <p:cNvSpPr/>
          <p:nvPr/>
        </p:nvSpPr>
        <p:spPr>
          <a:xfrm>
            <a:off x="3303720" y="3136320"/>
            <a:ext cx="2042280" cy="360"/>
          </a:xfrm>
          <a:prstGeom prst="line">
            <a:avLst/>
          </a:prstGeom>
          <a:ln w="7620">
            <a:solidFill>
              <a:srgbClr val="397257"/>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502" name="Text 20"/>
          <p:cNvSpPr/>
          <p:nvPr/>
        </p:nvSpPr>
        <p:spPr>
          <a:xfrm>
            <a:off x="3304080" y="3255120"/>
            <a:ext cx="2041920" cy="292320"/>
          </a:xfrm>
          <a:prstGeom prst="rect">
            <a:avLst/>
          </a:prstGeom>
          <a:noFill/>
          <a:ln w="0">
            <a:noFill/>
          </a:ln>
        </p:spPr>
        <p:style>
          <a:lnRef idx="0"/>
          <a:fillRef idx="0"/>
          <a:effectRef idx="0"/>
          <a:fontRef idx="minor"/>
        </p:style>
        <p:txBody>
          <a:bodyPr lIns="0" rIns="0" tIns="0" bIns="0" anchor="ctr">
            <a:normAutofit fontScale="92500" lnSpcReduction="19999"/>
          </a:bodyPr>
          <a:p>
            <a:pPr defTabSz="914400">
              <a:lnSpc>
                <a:spcPct val="100000"/>
              </a:lnSpc>
              <a:tabLst>
                <a:tab algn="l" pos="0"/>
              </a:tabLst>
            </a:pPr>
            <a:r>
              <a:rPr b="1" lang="en-US" sz="1150" strike="noStrike" u="none">
                <a:solidFill>
                  <a:srgbClr val="cdfc57"/>
                </a:solidFill>
                <a:effectLst/>
                <a:uFillTx/>
                <a:latin typeface="Calibri"/>
                <a:ea typeface="Calibri"/>
              </a:rPr>
              <a:t>[€ PLATFORM FEE] + [€ PER PRODUCT FEE] / year</a:t>
            </a:r>
            <a:endParaRPr b="0" lang="en-US" sz="1150" strike="noStrike" u="none">
              <a:solidFill>
                <a:srgbClr val="000000"/>
              </a:solidFill>
              <a:effectLst/>
              <a:uFillTx/>
              <a:latin typeface="Arial"/>
            </a:endParaRPr>
          </a:p>
        </p:txBody>
      </p:sp>
      <p:sp>
        <p:nvSpPr>
          <p:cNvPr id="1503" name="Text 21"/>
          <p:cNvSpPr/>
          <p:nvPr/>
        </p:nvSpPr>
        <p:spPr>
          <a:xfrm>
            <a:off x="3304080" y="3648600"/>
            <a:ext cx="2041920" cy="566640"/>
          </a:xfrm>
          <a:prstGeom prst="rect">
            <a:avLst/>
          </a:prstGeom>
          <a:noFill/>
          <a:ln w="0">
            <a:noFill/>
          </a:ln>
        </p:spPr>
        <p:style>
          <a:lnRef idx="0"/>
          <a:fillRef idx="0"/>
          <a:effectRef idx="0"/>
          <a:fontRef idx="minor"/>
        </p:style>
        <p:txBody>
          <a:bodyPr lIns="0" rIns="0" tIns="0" bIns="0" anchor="t">
            <a:normAutofit fontScale="92500" lnSpcReduction="19999"/>
          </a:bodyPr>
          <a:p>
            <a:pPr marL="114480" indent="-114480" defTabSz="914400">
              <a:lnSpc>
                <a:spcPct val="100000"/>
              </a:lnSpc>
              <a:spcAft>
                <a:spcPts val="400"/>
              </a:spcAft>
              <a:buClr>
                <a:srgbClr val="bfd9c9"/>
              </a:buClr>
              <a:buFont typeface="Symbol" charset="2"/>
              <a:buChar char=""/>
            </a:pPr>
            <a:r>
              <a:rPr b="0" lang="en-US" sz="780" strike="noStrike" u="none">
                <a:solidFill>
                  <a:srgbClr val="bfd9c9"/>
                </a:solidFill>
                <a:effectLst/>
                <a:uFillTx/>
                <a:latin typeface="Calibri"/>
                <a:ea typeface="Calibri"/>
              </a:rPr>
              <a:t>Platform fee covers spine, governance and AI assurance</a:t>
            </a:r>
            <a:endParaRPr b="0" lang="en-US" sz="780" strike="noStrike" u="none">
              <a:solidFill>
                <a:srgbClr val="000000"/>
              </a:solidFill>
              <a:effectLst/>
              <a:uFillTx/>
              <a:latin typeface="Arial"/>
            </a:endParaRPr>
          </a:p>
          <a:p>
            <a:pPr marL="114480" indent="-114480" defTabSz="914400">
              <a:lnSpc>
                <a:spcPct val="100000"/>
              </a:lnSpc>
              <a:spcAft>
                <a:spcPts val="400"/>
              </a:spcAft>
              <a:buClr>
                <a:srgbClr val="bfd9c9"/>
              </a:buClr>
              <a:buFont typeface="Symbol" charset="2"/>
              <a:buChar char=""/>
            </a:pPr>
            <a:r>
              <a:rPr b="0" lang="en-US" sz="780" strike="noStrike" u="none">
                <a:solidFill>
                  <a:srgbClr val="bfd9c9"/>
                </a:solidFill>
                <a:effectLst/>
                <a:uFillTx/>
                <a:latin typeface="Calibri"/>
                <a:ea typeface="Calibri"/>
              </a:rPr>
              <a:t>Per-product fee for each connected product</a:t>
            </a:r>
            <a:endParaRPr b="0" lang="en-US" sz="780" strike="noStrike" u="none">
              <a:solidFill>
                <a:srgbClr val="000000"/>
              </a:solidFill>
              <a:effectLst/>
              <a:uFillTx/>
              <a:latin typeface="Arial"/>
            </a:endParaRPr>
          </a:p>
          <a:p>
            <a:pPr marL="114480" indent="-114480" defTabSz="914400">
              <a:lnSpc>
                <a:spcPct val="100000"/>
              </a:lnSpc>
              <a:spcAft>
                <a:spcPts val="400"/>
              </a:spcAft>
              <a:buClr>
                <a:srgbClr val="bfd9c9"/>
              </a:buClr>
              <a:buFont typeface="Symbol" charset="2"/>
              <a:buChar char=""/>
            </a:pPr>
            <a:r>
              <a:rPr b="0" lang="en-US" sz="780" strike="noStrike" u="none">
                <a:solidFill>
                  <a:srgbClr val="bfd9c9"/>
                </a:solidFill>
                <a:effectLst/>
                <a:uFillTx/>
                <a:latin typeface="Calibri"/>
                <a:ea typeface="Calibri"/>
              </a:rPr>
              <a:t>Recommended bundle: first 3 products included</a:t>
            </a:r>
            <a:endParaRPr b="0" lang="en-US" sz="780" strike="noStrike" u="none">
              <a:solidFill>
                <a:srgbClr val="000000"/>
              </a:solidFill>
              <a:effectLst/>
              <a:uFillTx/>
              <a:latin typeface="Arial"/>
            </a:endParaRPr>
          </a:p>
        </p:txBody>
      </p:sp>
      <p:sp>
        <p:nvSpPr>
          <p:cNvPr id="1504" name="Shape 22"/>
          <p:cNvSpPr/>
          <p:nvPr/>
        </p:nvSpPr>
        <p:spPr>
          <a:xfrm>
            <a:off x="5657040" y="1901880"/>
            <a:ext cx="2370960" cy="2468520"/>
          </a:xfrm>
          <a:prstGeom prst="roundRect">
            <a:avLst>
              <a:gd name="adj" fmla="val 2314"/>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05" name="Shape 23"/>
          <p:cNvSpPr/>
          <p:nvPr/>
        </p:nvSpPr>
        <p:spPr>
          <a:xfrm>
            <a:off x="5657040" y="1901880"/>
            <a:ext cx="2370960" cy="63720"/>
          </a:xfrm>
          <a:prstGeom prst="rect">
            <a:avLst/>
          </a:prstGeom>
          <a:solidFill>
            <a:srgbClr val="3dcd58"/>
          </a:solidFill>
          <a:ln w="12700">
            <a:solidFill>
              <a:srgbClr val="3dcd58"/>
            </a:solidFill>
            <a:round/>
          </a:ln>
        </p:spPr>
        <p:style>
          <a:lnRef idx="0"/>
          <a:fillRef idx="0"/>
          <a:effectRef idx="0"/>
          <a:fontRef idx="minor"/>
        </p:style>
        <p:txBody>
          <a:bodyPr lIns="90000" rIns="90000" tIns="19080" bIns="19080" anchor="t">
            <a:noAutofit/>
          </a:bodyPr>
          <a:p>
            <a:endParaRPr b="0" lang="en-US" sz="1800" strike="noStrike" u="none">
              <a:solidFill>
                <a:srgbClr val="000000"/>
              </a:solidFill>
              <a:effectLst/>
              <a:uFillTx/>
              <a:latin typeface="Arial"/>
            </a:endParaRPr>
          </a:p>
        </p:txBody>
      </p:sp>
      <p:sp>
        <p:nvSpPr>
          <p:cNvPr id="1506" name="Text 24"/>
          <p:cNvSpPr/>
          <p:nvPr/>
        </p:nvSpPr>
        <p:spPr>
          <a:xfrm>
            <a:off x="5821560" y="2057400"/>
            <a:ext cx="685440" cy="182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79" strike="noStrike" u="none">
                <a:solidFill>
                  <a:srgbClr val="007a27"/>
                </a:solidFill>
                <a:effectLst/>
                <a:uFillTx/>
                <a:latin typeface="Calibri"/>
                <a:ea typeface="Calibri"/>
              </a:rPr>
              <a:t>TIER 03</a:t>
            </a:r>
            <a:endParaRPr b="0" lang="en-US" sz="750" strike="noStrike" u="none">
              <a:solidFill>
                <a:srgbClr val="000000"/>
              </a:solidFill>
              <a:effectLst/>
              <a:uFillTx/>
              <a:latin typeface="Arial"/>
            </a:endParaRPr>
          </a:p>
        </p:txBody>
      </p:sp>
      <p:sp>
        <p:nvSpPr>
          <p:cNvPr id="1507" name="Text 25"/>
          <p:cNvSpPr/>
          <p:nvPr/>
        </p:nvSpPr>
        <p:spPr>
          <a:xfrm>
            <a:off x="5821560" y="2313360"/>
            <a:ext cx="2041920" cy="319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500" strike="noStrike" u="none">
                <a:solidFill>
                  <a:srgbClr val="1e2420"/>
                </a:solidFill>
                <a:effectLst/>
                <a:uFillTx/>
                <a:latin typeface="Calibri"/>
                <a:ea typeface="Calibri"/>
              </a:rPr>
              <a:t>Portfolio</a:t>
            </a:r>
            <a:endParaRPr b="0" lang="en-US" sz="1500" strike="noStrike" u="none">
              <a:solidFill>
                <a:srgbClr val="000000"/>
              </a:solidFill>
              <a:effectLst/>
              <a:uFillTx/>
              <a:latin typeface="Arial"/>
            </a:endParaRPr>
          </a:p>
        </p:txBody>
      </p:sp>
      <p:sp>
        <p:nvSpPr>
          <p:cNvPr id="1508" name="Text 26"/>
          <p:cNvSpPr/>
          <p:nvPr/>
        </p:nvSpPr>
        <p:spPr>
          <a:xfrm>
            <a:off x="5821560" y="2660760"/>
            <a:ext cx="2041920" cy="3837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830" strike="noStrike" u="none">
                <a:solidFill>
                  <a:srgbClr val="5a625c"/>
                </a:solidFill>
                <a:effectLst/>
                <a:uFillTx/>
                <a:latin typeface="Calibri"/>
                <a:ea typeface="Calibri"/>
              </a:rPr>
              <a:t>Converge Sustainability, Energy and Efficiency</a:t>
            </a:r>
            <a:endParaRPr b="0" lang="en-US" sz="830" strike="noStrike" u="none">
              <a:solidFill>
                <a:srgbClr val="000000"/>
              </a:solidFill>
              <a:effectLst/>
              <a:uFillTx/>
              <a:latin typeface="Arial"/>
            </a:endParaRPr>
          </a:p>
        </p:txBody>
      </p:sp>
      <p:sp>
        <p:nvSpPr>
          <p:cNvPr id="1509" name="Shape 27"/>
          <p:cNvSpPr/>
          <p:nvPr/>
        </p:nvSpPr>
        <p:spPr>
          <a:xfrm>
            <a:off x="5821560" y="3136320"/>
            <a:ext cx="2042280" cy="360"/>
          </a:xfrm>
          <a:prstGeom prst="line">
            <a:avLst/>
          </a:prstGeom>
          <a:ln w="7620">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510" name="Text 28"/>
          <p:cNvSpPr/>
          <p:nvPr/>
        </p:nvSpPr>
        <p:spPr>
          <a:xfrm>
            <a:off x="5821560" y="3255120"/>
            <a:ext cx="204192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150" strike="noStrike" u="none">
                <a:solidFill>
                  <a:srgbClr val="1e2420"/>
                </a:solidFill>
                <a:effectLst/>
                <a:uFillTx/>
                <a:latin typeface="Calibri"/>
                <a:ea typeface="Calibri"/>
              </a:rPr>
              <a:t>[€ PORTFOLIO PRICE] / year</a:t>
            </a:r>
            <a:endParaRPr b="0" lang="en-US" sz="1150" strike="noStrike" u="none">
              <a:solidFill>
                <a:srgbClr val="000000"/>
              </a:solidFill>
              <a:effectLst/>
              <a:uFillTx/>
              <a:latin typeface="Arial"/>
            </a:endParaRPr>
          </a:p>
        </p:txBody>
      </p:sp>
      <p:sp>
        <p:nvSpPr>
          <p:cNvPr id="1511" name="Text 29"/>
          <p:cNvSpPr/>
          <p:nvPr/>
        </p:nvSpPr>
        <p:spPr>
          <a:xfrm>
            <a:off x="5821560" y="3648600"/>
            <a:ext cx="2041920" cy="566640"/>
          </a:xfrm>
          <a:prstGeom prst="rect">
            <a:avLst/>
          </a:prstGeom>
          <a:noFill/>
          <a:ln w="0">
            <a:noFill/>
          </a:ln>
        </p:spPr>
        <p:style>
          <a:lnRef idx="0"/>
          <a:fillRef idx="0"/>
          <a:effectRef idx="0"/>
          <a:fontRef idx="minor"/>
        </p:style>
        <p:txBody>
          <a:bodyPr lIns="0" rIns="0" tIns="0" bIns="0" anchor="t">
            <a:normAutofit lnSpcReduction="9999"/>
          </a:bodyPr>
          <a:p>
            <a:pPr marL="114480" indent="-114480" defTabSz="914400">
              <a:lnSpc>
                <a:spcPct val="100000"/>
              </a:lnSpc>
              <a:spcAft>
                <a:spcPts val="400"/>
              </a:spcAft>
              <a:buClr>
                <a:srgbClr val="5a625c"/>
              </a:buClr>
              <a:buFont typeface="Symbol" charset="2"/>
              <a:buChar char=""/>
            </a:pPr>
            <a:r>
              <a:rPr b="0" lang="en-US" sz="780" strike="noStrike" u="none">
                <a:solidFill>
                  <a:srgbClr val="5a625c"/>
                </a:solidFill>
                <a:effectLst/>
                <a:uFillTx/>
                <a:latin typeface="Calibri"/>
                <a:ea typeface="Calibri"/>
              </a:rPr>
              <a:t>Platform fee + unlimited product portfolio</a:t>
            </a:r>
            <a:endParaRPr b="0" lang="en-US" sz="780" strike="noStrike" u="none">
              <a:solidFill>
                <a:srgbClr val="000000"/>
              </a:solidFill>
              <a:effectLst/>
              <a:uFillTx/>
              <a:latin typeface="Arial"/>
            </a:endParaRPr>
          </a:p>
          <a:p>
            <a:pPr marL="114480" indent="-114480" defTabSz="914400">
              <a:lnSpc>
                <a:spcPct val="100000"/>
              </a:lnSpc>
              <a:spcAft>
                <a:spcPts val="400"/>
              </a:spcAft>
              <a:buClr>
                <a:srgbClr val="5a625c"/>
              </a:buClr>
              <a:buFont typeface="Symbol" charset="2"/>
              <a:buChar char=""/>
            </a:pPr>
            <a:r>
              <a:rPr b="0" lang="en-US" sz="780" strike="noStrike" u="none">
                <a:solidFill>
                  <a:srgbClr val="5a625c"/>
                </a:solidFill>
                <a:effectLst/>
                <a:uFillTx/>
                <a:latin typeface="Calibri"/>
                <a:ea typeface="Calibri"/>
              </a:rPr>
              <a:t>Cross-domain intelligence and APIs</a:t>
            </a:r>
            <a:endParaRPr b="0" lang="en-US" sz="780" strike="noStrike" u="none">
              <a:solidFill>
                <a:srgbClr val="000000"/>
              </a:solidFill>
              <a:effectLst/>
              <a:uFillTx/>
              <a:latin typeface="Arial"/>
            </a:endParaRPr>
          </a:p>
          <a:p>
            <a:pPr marL="114480" indent="-114480" defTabSz="914400">
              <a:lnSpc>
                <a:spcPct val="100000"/>
              </a:lnSpc>
              <a:spcAft>
                <a:spcPts val="400"/>
              </a:spcAft>
              <a:buClr>
                <a:srgbClr val="5a625c"/>
              </a:buClr>
              <a:buFont typeface="Symbol" charset="2"/>
              <a:buChar char=""/>
            </a:pPr>
            <a:r>
              <a:rPr b="0" lang="en-US" sz="780" strike="noStrike" u="none">
                <a:solidFill>
                  <a:srgbClr val="5a625c"/>
                </a:solidFill>
                <a:effectLst/>
                <a:uFillTx/>
                <a:latin typeface="Calibri"/>
                <a:ea typeface="Calibri"/>
              </a:rPr>
              <a:t>Strategic success and advisory package</a:t>
            </a:r>
            <a:endParaRPr b="0" lang="en-US" sz="780" strike="noStrike" u="none">
              <a:solidFill>
                <a:srgbClr val="000000"/>
              </a:solidFill>
              <a:effectLst/>
              <a:uFillTx/>
              <a:latin typeface="Arial"/>
            </a:endParaRPr>
          </a:p>
        </p:txBody>
      </p:sp>
      <p:sp>
        <p:nvSpPr>
          <p:cNvPr id="1512" name="Shape 30"/>
          <p:cNvSpPr/>
          <p:nvPr/>
        </p:nvSpPr>
        <p:spPr>
          <a:xfrm>
            <a:off x="621720" y="4517280"/>
            <a:ext cx="1851480" cy="676440"/>
          </a:xfrm>
          <a:prstGeom prst="rect">
            <a:avLst/>
          </a:prstGeom>
          <a:solidFill>
            <a:srgbClr val="f7f8f7"/>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13" name="Text 31"/>
          <p:cNvSpPr/>
          <p:nvPr/>
        </p:nvSpPr>
        <p:spPr>
          <a:xfrm>
            <a:off x="731520" y="4626720"/>
            <a:ext cx="1631880" cy="1458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670" spc="51" strike="noStrike" u="none">
                <a:solidFill>
                  <a:srgbClr val="007a27"/>
                </a:solidFill>
                <a:effectLst/>
                <a:uFillTx/>
                <a:latin typeface="Calibri"/>
                <a:ea typeface="Calibri"/>
              </a:rPr>
              <a:t>ORGANIZATIONAL SCALE</a:t>
            </a:r>
            <a:endParaRPr b="0" lang="en-US" sz="670" strike="noStrike" u="none">
              <a:solidFill>
                <a:srgbClr val="000000"/>
              </a:solidFill>
              <a:effectLst/>
              <a:uFillTx/>
              <a:latin typeface="Arial"/>
            </a:endParaRPr>
          </a:p>
        </p:txBody>
      </p:sp>
      <p:sp>
        <p:nvSpPr>
          <p:cNvPr id="1514" name="Text 32"/>
          <p:cNvSpPr/>
          <p:nvPr/>
        </p:nvSpPr>
        <p:spPr>
          <a:xfrm>
            <a:off x="731520" y="4846320"/>
            <a:ext cx="1631880" cy="22824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80" strike="noStrike" u="none">
                <a:solidFill>
                  <a:srgbClr val="1e2420"/>
                </a:solidFill>
                <a:effectLst/>
                <a:uFillTx/>
                <a:latin typeface="Calibri"/>
                <a:ea typeface="Calibri"/>
              </a:rPr>
              <a:t>Sites, entities and suppliers</a:t>
            </a:r>
            <a:endParaRPr b="0" lang="en-US" sz="780" strike="noStrike" u="none">
              <a:solidFill>
                <a:srgbClr val="000000"/>
              </a:solidFill>
              <a:effectLst/>
              <a:uFillTx/>
              <a:latin typeface="Arial"/>
            </a:endParaRPr>
          </a:p>
        </p:txBody>
      </p:sp>
      <p:sp>
        <p:nvSpPr>
          <p:cNvPr id="1515" name="Shape 33"/>
          <p:cNvSpPr/>
          <p:nvPr/>
        </p:nvSpPr>
        <p:spPr>
          <a:xfrm>
            <a:off x="2473560" y="4517280"/>
            <a:ext cx="1851480" cy="6764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16" name="Text 34"/>
          <p:cNvSpPr/>
          <p:nvPr/>
        </p:nvSpPr>
        <p:spPr>
          <a:xfrm>
            <a:off x="2583360" y="4626720"/>
            <a:ext cx="1631880" cy="1458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670" spc="51" strike="noStrike" u="none">
                <a:solidFill>
                  <a:srgbClr val="007a27"/>
                </a:solidFill>
                <a:effectLst/>
                <a:uFillTx/>
                <a:latin typeface="Calibri"/>
                <a:ea typeface="Calibri"/>
              </a:rPr>
              <a:t>DATA SCALE</a:t>
            </a:r>
            <a:endParaRPr b="0" lang="en-US" sz="670" strike="noStrike" u="none">
              <a:solidFill>
                <a:srgbClr val="000000"/>
              </a:solidFill>
              <a:effectLst/>
              <a:uFillTx/>
              <a:latin typeface="Arial"/>
            </a:endParaRPr>
          </a:p>
        </p:txBody>
      </p:sp>
      <p:sp>
        <p:nvSpPr>
          <p:cNvPr id="1517" name="Text 35"/>
          <p:cNvSpPr/>
          <p:nvPr/>
        </p:nvSpPr>
        <p:spPr>
          <a:xfrm>
            <a:off x="2583360" y="4846320"/>
            <a:ext cx="1631880" cy="22824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80" strike="noStrike" u="none">
                <a:solidFill>
                  <a:srgbClr val="1e2420"/>
                </a:solidFill>
                <a:effectLst/>
                <a:uFillTx/>
                <a:latin typeface="Calibri"/>
                <a:ea typeface="Calibri"/>
              </a:rPr>
              <a:t>Meters, transactions and records</a:t>
            </a:r>
            <a:endParaRPr b="0" lang="en-US" sz="780" strike="noStrike" u="none">
              <a:solidFill>
                <a:srgbClr val="000000"/>
              </a:solidFill>
              <a:effectLst/>
              <a:uFillTx/>
              <a:latin typeface="Arial"/>
            </a:endParaRPr>
          </a:p>
        </p:txBody>
      </p:sp>
      <p:sp>
        <p:nvSpPr>
          <p:cNvPr id="1518" name="Shape 36"/>
          <p:cNvSpPr/>
          <p:nvPr/>
        </p:nvSpPr>
        <p:spPr>
          <a:xfrm>
            <a:off x="4325040" y="4517280"/>
            <a:ext cx="1851480" cy="676440"/>
          </a:xfrm>
          <a:prstGeom prst="rect">
            <a:avLst/>
          </a:prstGeom>
          <a:solidFill>
            <a:srgbClr val="f7f8f7"/>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19" name="Text 37"/>
          <p:cNvSpPr/>
          <p:nvPr/>
        </p:nvSpPr>
        <p:spPr>
          <a:xfrm>
            <a:off x="4434840" y="4626720"/>
            <a:ext cx="1631880" cy="1458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670" spc="51" strike="noStrike" u="none">
                <a:solidFill>
                  <a:srgbClr val="007a27"/>
                </a:solidFill>
                <a:effectLst/>
                <a:uFillTx/>
                <a:latin typeface="Calibri"/>
                <a:ea typeface="Calibri"/>
              </a:rPr>
              <a:t>CAPABILITY SCALE</a:t>
            </a:r>
            <a:endParaRPr b="0" lang="en-US" sz="670" strike="noStrike" u="none">
              <a:solidFill>
                <a:srgbClr val="000000"/>
              </a:solidFill>
              <a:effectLst/>
              <a:uFillTx/>
              <a:latin typeface="Arial"/>
            </a:endParaRPr>
          </a:p>
        </p:txBody>
      </p:sp>
      <p:sp>
        <p:nvSpPr>
          <p:cNvPr id="1520" name="Text 38"/>
          <p:cNvSpPr/>
          <p:nvPr/>
        </p:nvSpPr>
        <p:spPr>
          <a:xfrm>
            <a:off x="4434840" y="4846320"/>
            <a:ext cx="1631880" cy="228240"/>
          </a:xfrm>
          <a:prstGeom prst="rect">
            <a:avLst/>
          </a:prstGeom>
          <a:noFill/>
          <a:ln w="0">
            <a:noFill/>
          </a:ln>
        </p:spPr>
        <p:style>
          <a:lnRef idx="0"/>
          <a:fillRef idx="0"/>
          <a:effectRef idx="0"/>
          <a:fontRef idx="minor"/>
        </p:style>
        <p:txBody>
          <a:bodyPr lIns="0" rIns="0" tIns="0" bIns="0" anchor="ctr">
            <a:normAutofit lnSpcReduction="9999"/>
          </a:bodyPr>
          <a:p>
            <a:pPr defTabSz="914400">
              <a:lnSpc>
                <a:spcPct val="100000"/>
              </a:lnSpc>
              <a:tabLst>
                <a:tab algn="l" pos="0"/>
              </a:tabLst>
            </a:pPr>
            <a:r>
              <a:rPr b="1" lang="en-US" sz="780" strike="noStrike" u="none">
                <a:solidFill>
                  <a:srgbClr val="1e2420"/>
                </a:solidFill>
                <a:effectLst/>
                <a:uFillTx/>
                <a:latin typeface="Calibri"/>
                <a:ea typeface="Calibri"/>
              </a:rPr>
              <a:t>Products, modules and frameworks</a:t>
            </a:r>
            <a:endParaRPr b="0" lang="en-US" sz="780" strike="noStrike" u="none">
              <a:solidFill>
                <a:srgbClr val="000000"/>
              </a:solidFill>
              <a:effectLst/>
              <a:uFillTx/>
              <a:latin typeface="Arial"/>
            </a:endParaRPr>
          </a:p>
        </p:txBody>
      </p:sp>
      <p:sp>
        <p:nvSpPr>
          <p:cNvPr id="1521" name="Shape 39"/>
          <p:cNvSpPr/>
          <p:nvPr/>
        </p:nvSpPr>
        <p:spPr>
          <a:xfrm>
            <a:off x="6176880" y="4517280"/>
            <a:ext cx="1851480" cy="676440"/>
          </a:xfrm>
          <a:prstGeom prst="rect">
            <a:avLst/>
          </a:prstGeom>
          <a:solidFill>
            <a:srgbClr val="f1f3f2"/>
          </a:solidFill>
          <a:ln w="571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22" name="Text 40"/>
          <p:cNvSpPr/>
          <p:nvPr/>
        </p:nvSpPr>
        <p:spPr>
          <a:xfrm>
            <a:off x="6286680" y="4626720"/>
            <a:ext cx="1631880" cy="1458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670" spc="51" strike="noStrike" u="none">
                <a:solidFill>
                  <a:srgbClr val="007a27"/>
                </a:solidFill>
                <a:effectLst/>
                <a:uFillTx/>
                <a:latin typeface="Calibri"/>
                <a:ea typeface="Calibri"/>
              </a:rPr>
              <a:t>SERVICE SCALE</a:t>
            </a:r>
            <a:endParaRPr b="0" lang="en-US" sz="670" strike="noStrike" u="none">
              <a:solidFill>
                <a:srgbClr val="000000"/>
              </a:solidFill>
              <a:effectLst/>
              <a:uFillTx/>
              <a:latin typeface="Arial"/>
            </a:endParaRPr>
          </a:p>
        </p:txBody>
      </p:sp>
      <p:sp>
        <p:nvSpPr>
          <p:cNvPr id="1523" name="Text 41"/>
          <p:cNvSpPr/>
          <p:nvPr/>
        </p:nvSpPr>
        <p:spPr>
          <a:xfrm>
            <a:off x="6286680" y="4846320"/>
            <a:ext cx="1631880" cy="22824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80" strike="noStrike" u="none">
                <a:solidFill>
                  <a:srgbClr val="1e2420"/>
                </a:solidFill>
                <a:effectLst/>
                <a:uFillTx/>
                <a:latin typeface="Calibri"/>
                <a:ea typeface="Calibri"/>
              </a:rPr>
              <a:t>Support, advisory and assurance</a:t>
            </a:r>
            <a:endParaRPr b="0" lang="en-US" sz="780" strike="noStrike" u="none">
              <a:solidFill>
                <a:srgbClr val="000000"/>
              </a:solidFill>
              <a:effectLst/>
              <a:uFillTx/>
              <a:latin typeface="Arial"/>
            </a:endParaRPr>
          </a:p>
        </p:txBody>
      </p:sp>
      <p:sp>
        <p:nvSpPr>
          <p:cNvPr id="1524" name="Shape 42"/>
          <p:cNvSpPr/>
          <p:nvPr/>
        </p:nvSpPr>
        <p:spPr>
          <a:xfrm>
            <a:off x="8284320" y="1901880"/>
            <a:ext cx="3285000" cy="3291480"/>
          </a:xfrm>
          <a:prstGeom prst="roundRect">
            <a:avLst>
              <a:gd name="adj" fmla="val 1113"/>
            </a:avLst>
          </a:prstGeom>
          <a:solidFill>
            <a:srgbClr val="ffffff"/>
          </a:solidFill>
          <a:ln w="889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25" name="Shape 43"/>
          <p:cNvSpPr/>
          <p:nvPr/>
        </p:nvSpPr>
        <p:spPr>
          <a:xfrm>
            <a:off x="8284320" y="1901880"/>
            <a:ext cx="3285000" cy="392760"/>
          </a:xfrm>
          <a:prstGeom prst="rect">
            <a:avLst/>
          </a:prstGeom>
          <a:solidFill>
            <a:srgbClr val="005730"/>
          </a:solidFill>
          <a:ln w="12700">
            <a:solidFill>
              <a:srgbClr val="005730"/>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526" name="Text 44"/>
          <p:cNvSpPr/>
          <p:nvPr/>
        </p:nvSpPr>
        <p:spPr>
          <a:xfrm>
            <a:off x="8430840" y="1901880"/>
            <a:ext cx="2992320" cy="392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79" strike="noStrike" u="none">
                <a:solidFill>
                  <a:srgbClr val="ffffff"/>
                </a:solidFill>
                <a:effectLst/>
                <a:uFillTx/>
                <a:latin typeface="Calibri"/>
                <a:ea typeface="Calibri"/>
              </a:rPr>
              <a:t>BUYING-MODEL BENCHMARK</a:t>
            </a:r>
            <a:endParaRPr b="0" lang="en-US" sz="750" strike="noStrike" u="none">
              <a:solidFill>
                <a:srgbClr val="000000"/>
              </a:solidFill>
              <a:effectLst/>
              <a:uFillTx/>
              <a:latin typeface="Arial"/>
            </a:endParaRPr>
          </a:p>
        </p:txBody>
      </p:sp>
      <p:sp>
        <p:nvSpPr>
          <p:cNvPr id="1527" name="Shape 45"/>
          <p:cNvSpPr/>
          <p:nvPr/>
        </p:nvSpPr>
        <p:spPr>
          <a:xfrm>
            <a:off x="8284320" y="2295000"/>
            <a:ext cx="3285000" cy="579240"/>
          </a:xfrm>
          <a:prstGeom prst="rect">
            <a:avLst/>
          </a:prstGeom>
          <a:solidFill>
            <a:srgbClr val="eaf8ed"/>
          </a:solidFill>
          <a:ln w="444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28" name="Text 46"/>
          <p:cNvSpPr/>
          <p:nvPr/>
        </p:nvSpPr>
        <p:spPr>
          <a:xfrm>
            <a:off x="8421480" y="2386440"/>
            <a:ext cx="712800" cy="1825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880" strike="noStrike" u="none">
                <a:solidFill>
                  <a:srgbClr val="007a27"/>
                </a:solidFill>
                <a:effectLst/>
                <a:uFillTx/>
                <a:latin typeface="Calibri"/>
                <a:ea typeface="Calibri"/>
              </a:rPr>
              <a:t>RA+</a:t>
            </a:r>
            <a:endParaRPr b="0" lang="en-US" sz="880" strike="noStrike" u="none">
              <a:solidFill>
                <a:srgbClr val="000000"/>
              </a:solidFill>
              <a:effectLst/>
              <a:uFillTx/>
              <a:latin typeface="Arial"/>
            </a:endParaRPr>
          </a:p>
        </p:txBody>
      </p:sp>
      <p:sp>
        <p:nvSpPr>
          <p:cNvPr id="1529" name="Text 47"/>
          <p:cNvSpPr/>
          <p:nvPr/>
        </p:nvSpPr>
        <p:spPr>
          <a:xfrm>
            <a:off x="9198720" y="2386440"/>
            <a:ext cx="2233440" cy="164160"/>
          </a:xfrm>
          <a:prstGeom prst="rect">
            <a:avLst/>
          </a:prstGeom>
          <a:noFill/>
          <a:ln w="0">
            <a:noFill/>
          </a:ln>
        </p:spPr>
        <p:style>
          <a:lnRef idx="0"/>
          <a:fillRef idx="0"/>
          <a:effectRef idx="0"/>
          <a:fontRef idx="minor"/>
        </p:style>
        <p:txBody>
          <a:bodyPr lIns="0" rIns="0" tIns="0" bIns="0" anchor="ctr">
            <a:normAutofit/>
          </a:bodyPr>
          <a:p>
            <a:pPr algn="r" defTabSz="914400">
              <a:lnSpc>
                <a:spcPct val="100000"/>
              </a:lnSpc>
              <a:tabLst>
                <a:tab algn="l" pos="0"/>
              </a:tabLst>
            </a:pPr>
            <a:r>
              <a:rPr b="1" lang="en-US" sz="680" strike="noStrike" u="none">
                <a:solidFill>
                  <a:srgbClr val="5a625c"/>
                </a:solidFill>
                <a:effectLst/>
                <a:uFillTx/>
                <a:latin typeface="Calibri"/>
                <a:ea typeface="Calibri"/>
              </a:rPr>
              <a:t>Proposed: high</a:t>
            </a:r>
            <a:endParaRPr b="0" lang="en-US" sz="680" strike="noStrike" u="none">
              <a:solidFill>
                <a:srgbClr val="000000"/>
              </a:solidFill>
              <a:effectLst/>
              <a:uFillTx/>
              <a:latin typeface="Arial"/>
            </a:endParaRPr>
          </a:p>
        </p:txBody>
      </p:sp>
      <p:sp>
        <p:nvSpPr>
          <p:cNvPr id="1530" name="Text 48"/>
          <p:cNvSpPr/>
          <p:nvPr/>
        </p:nvSpPr>
        <p:spPr>
          <a:xfrm>
            <a:off x="8421480" y="2606040"/>
            <a:ext cx="3010680" cy="213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750" strike="noStrike" u="none">
                <a:solidFill>
                  <a:srgbClr val="1e2420"/>
                </a:solidFill>
                <a:effectLst/>
                <a:uFillTx/>
                <a:latin typeface="Calibri"/>
                <a:ea typeface="Calibri"/>
              </a:rPr>
              <a:t>Published platform fee + per-product expansion</a:t>
            </a:r>
            <a:endParaRPr b="0" lang="en-US" sz="750" strike="noStrike" u="none">
              <a:solidFill>
                <a:srgbClr val="000000"/>
              </a:solidFill>
              <a:effectLst/>
              <a:uFillTx/>
              <a:latin typeface="Arial"/>
            </a:endParaRPr>
          </a:p>
        </p:txBody>
      </p:sp>
      <p:sp>
        <p:nvSpPr>
          <p:cNvPr id="1531" name="Shape 49"/>
          <p:cNvSpPr/>
          <p:nvPr/>
        </p:nvSpPr>
        <p:spPr>
          <a:xfrm>
            <a:off x="8284320" y="2874960"/>
            <a:ext cx="3285000" cy="579240"/>
          </a:xfrm>
          <a:prstGeom prst="rect">
            <a:avLst/>
          </a:prstGeom>
          <a:solidFill>
            <a:srgbClr val="f1f3f2"/>
          </a:solidFill>
          <a:ln w="444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32" name="Text 50"/>
          <p:cNvSpPr/>
          <p:nvPr/>
        </p:nvSpPr>
        <p:spPr>
          <a:xfrm>
            <a:off x="8421480" y="2966400"/>
            <a:ext cx="712800" cy="1825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880" strike="noStrike" u="none">
                <a:solidFill>
                  <a:srgbClr val="1e2420"/>
                </a:solidFill>
                <a:effectLst/>
                <a:uFillTx/>
                <a:latin typeface="Calibri"/>
                <a:ea typeface="Calibri"/>
              </a:rPr>
              <a:t>Watershed</a:t>
            </a:r>
            <a:endParaRPr b="0" lang="en-US" sz="880" strike="noStrike" u="none">
              <a:solidFill>
                <a:srgbClr val="000000"/>
              </a:solidFill>
              <a:effectLst/>
              <a:uFillTx/>
              <a:latin typeface="Arial"/>
            </a:endParaRPr>
          </a:p>
        </p:txBody>
      </p:sp>
      <p:sp>
        <p:nvSpPr>
          <p:cNvPr id="1533" name="Text 51"/>
          <p:cNvSpPr/>
          <p:nvPr/>
        </p:nvSpPr>
        <p:spPr>
          <a:xfrm>
            <a:off x="9198720" y="2966400"/>
            <a:ext cx="2233440" cy="164160"/>
          </a:xfrm>
          <a:prstGeom prst="rect">
            <a:avLst/>
          </a:prstGeom>
          <a:noFill/>
          <a:ln w="0">
            <a:noFill/>
          </a:ln>
        </p:spPr>
        <p:style>
          <a:lnRef idx="0"/>
          <a:fillRef idx="0"/>
          <a:effectRef idx="0"/>
          <a:fontRef idx="minor"/>
        </p:style>
        <p:txBody>
          <a:bodyPr lIns="0" rIns="0" tIns="0" bIns="0" anchor="ctr">
            <a:normAutofit/>
          </a:bodyPr>
          <a:p>
            <a:pPr algn="r" defTabSz="914400">
              <a:lnSpc>
                <a:spcPct val="100000"/>
              </a:lnSpc>
              <a:tabLst>
                <a:tab algn="l" pos="0"/>
              </a:tabLst>
            </a:pPr>
            <a:r>
              <a:rPr b="1" lang="en-US" sz="680" strike="noStrike" u="none">
                <a:solidFill>
                  <a:srgbClr val="5a625c"/>
                </a:solidFill>
                <a:effectLst/>
                <a:uFillTx/>
                <a:latin typeface="Calibri"/>
                <a:ea typeface="Calibri"/>
              </a:rPr>
              <a:t>Public price not disclosed</a:t>
            </a:r>
            <a:endParaRPr b="0" lang="en-US" sz="680" strike="noStrike" u="none">
              <a:solidFill>
                <a:srgbClr val="000000"/>
              </a:solidFill>
              <a:effectLst/>
              <a:uFillTx/>
              <a:latin typeface="Arial"/>
            </a:endParaRPr>
          </a:p>
        </p:txBody>
      </p:sp>
      <p:sp>
        <p:nvSpPr>
          <p:cNvPr id="1534" name="Text 52"/>
          <p:cNvSpPr/>
          <p:nvPr/>
        </p:nvSpPr>
        <p:spPr>
          <a:xfrm>
            <a:off x="8421480" y="3185640"/>
            <a:ext cx="3010680" cy="213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750" strike="noStrike" u="none">
                <a:solidFill>
                  <a:srgbClr val="1e2420"/>
                </a:solidFill>
                <a:effectLst/>
                <a:uFillTx/>
                <a:latin typeface="Calibri"/>
                <a:ea typeface="Calibri"/>
              </a:rPr>
              <a:t>Enterprise sales and custom proposal</a:t>
            </a:r>
            <a:endParaRPr b="0" lang="en-US" sz="750" strike="noStrike" u="none">
              <a:solidFill>
                <a:srgbClr val="000000"/>
              </a:solidFill>
              <a:effectLst/>
              <a:uFillTx/>
              <a:latin typeface="Arial"/>
            </a:endParaRPr>
          </a:p>
        </p:txBody>
      </p:sp>
      <p:sp>
        <p:nvSpPr>
          <p:cNvPr id="1535" name="Shape 53"/>
          <p:cNvSpPr/>
          <p:nvPr/>
        </p:nvSpPr>
        <p:spPr>
          <a:xfrm>
            <a:off x="8284320" y="3454560"/>
            <a:ext cx="3285000" cy="579240"/>
          </a:xfrm>
          <a:prstGeom prst="rect">
            <a:avLst/>
          </a:prstGeom>
          <a:solidFill>
            <a:srgbClr val="ffffff"/>
          </a:solidFill>
          <a:ln w="444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36" name="Text 54"/>
          <p:cNvSpPr/>
          <p:nvPr/>
        </p:nvSpPr>
        <p:spPr>
          <a:xfrm>
            <a:off x="8421480" y="3546000"/>
            <a:ext cx="712800" cy="1825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880" strike="noStrike" u="none">
                <a:solidFill>
                  <a:srgbClr val="1e2420"/>
                </a:solidFill>
                <a:effectLst/>
                <a:uFillTx/>
                <a:latin typeface="Calibri"/>
                <a:ea typeface="Calibri"/>
              </a:rPr>
              <a:t>osapiens</a:t>
            </a:r>
            <a:endParaRPr b="0" lang="en-US" sz="880" strike="noStrike" u="none">
              <a:solidFill>
                <a:srgbClr val="000000"/>
              </a:solidFill>
              <a:effectLst/>
              <a:uFillTx/>
              <a:latin typeface="Arial"/>
            </a:endParaRPr>
          </a:p>
        </p:txBody>
      </p:sp>
      <p:sp>
        <p:nvSpPr>
          <p:cNvPr id="1537" name="Text 55"/>
          <p:cNvSpPr/>
          <p:nvPr/>
        </p:nvSpPr>
        <p:spPr>
          <a:xfrm>
            <a:off x="9198720" y="3546000"/>
            <a:ext cx="2233440" cy="164160"/>
          </a:xfrm>
          <a:prstGeom prst="rect">
            <a:avLst/>
          </a:prstGeom>
          <a:noFill/>
          <a:ln w="0">
            <a:noFill/>
          </a:ln>
        </p:spPr>
        <p:style>
          <a:lnRef idx="0"/>
          <a:fillRef idx="0"/>
          <a:effectRef idx="0"/>
          <a:fontRef idx="minor"/>
        </p:style>
        <p:txBody>
          <a:bodyPr lIns="0" rIns="0" tIns="0" bIns="0" anchor="ctr">
            <a:normAutofit/>
          </a:bodyPr>
          <a:p>
            <a:pPr algn="r" defTabSz="914400">
              <a:lnSpc>
                <a:spcPct val="100000"/>
              </a:lnSpc>
              <a:tabLst>
                <a:tab algn="l" pos="0"/>
              </a:tabLst>
            </a:pPr>
            <a:r>
              <a:rPr b="1" lang="en-US" sz="680" strike="noStrike" u="none">
                <a:solidFill>
                  <a:srgbClr val="5a625c"/>
                </a:solidFill>
                <a:effectLst/>
                <a:uFillTx/>
                <a:latin typeface="Calibri"/>
                <a:ea typeface="Calibri"/>
              </a:rPr>
              <a:t>Limited</a:t>
            </a:r>
            <a:endParaRPr b="0" lang="en-US" sz="680" strike="noStrike" u="none">
              <a:solidFill>
                <a:srgbClr val="000000"/>
              </a:solidFill>
              <a:effectLst/>
              <a:uFillTx/>
              <a:latin typeface="Arial"/>
            </a:endParaRPr>
          </a:p>
        </p:txBody>
      </p:sp>
      <p:sp>
        <p:nvSpPr>
          <p:cNvPr id="1538" name="Text 56"/>
          <p:cNvSpPr/>
          <p:nvPr/>
        </p:nvSpPr>
        <p:spPr>
          <a:xfrm>
            <a:off x="8421480" y="3765600"/>
            <a:ext cx="3010680" cy="213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750" strike="noStrike" u="none">
                <a:solidFill>
                  <a:srgbClr val="1e2420"/>
                </a:solidFill>
                <a:effectLst/>
                <a:uFillTx/>
                <a:latin typeface="Calibri"/>
                <a:ea typeface="Calibri"/>
              </a:rPr>
              <a:t>Custom quote by solution scope</a:t>
            </a:r>
            <a:endParaRPr b="0" lang="en-US" sz="750" strike="noStrike" u="none">
              <a:solidFill>
                <a:srgbClr val="000000"/>
              </a:solidFill>
              <a:effectLst/>
              <a:uFillTx/>
              <a:latin typeface="Arial"/>
            </a:endParaRPr>
          </a:p>
        </p:txBody>
      </p:sp>
      <p:sp>
        <p:nvSpPr>
          <p:cNvPr id="1539" name="Shape 57"/>
          <p:cNvSpPr/>
          <p:nvPr/>
        </p:nvSpPr>
        <p:spPr>
          <a:xfrm>
            <a:off x="8284320" y="4034160"/>
            <a:ext cx="3285000" cy="579240"/>
          </a:xfrm>
          <a:prstGeom prst="rect">
            <a:avLst/>
          </a:prstGeom>
          <a:solidFill>
            <a:srgbClr val="f1f3f2"/>
          </a:solidFill>
          <a:ln w="444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40" name="Text 58"/>
          <p:cNvSpPr/>
          <p:nvPr/>
        </p:nvSpPr>
        <p:spPr>
          <a:xfrm>
            <a:off x="8421480" y="4125600"/>
            <a:ext cx="712800" cy="1825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880" strike="noStrike" u="none">
                <a:solidFill>
                  <a:srgbClr val="1e2420"/>
                </a:solidFill>
                <a:effectLst/>
                <a:uFillTx/>
                <a:latin typeface="Calibri"/>
                <a:ea typeface="Calibri"/>
              </a:rPr>
              <a:t>Arcadia</a:t>
            </a:r>
            <a:endParaRPr b="0" lang="en-US" sz="880" strike="noStrike" u="none">
              <a:solidFill>
                <a:srgbClr val="000000"/>
              </a:solidFill>
              <a:effectLst/>
              <a:uFillTx/>
              <a:latin typeface="Arial"/>
            </a:endParaRPr>
          </a:p>
        </p:txBody>
      </p:sp>
      <p:sp>
        <p:nvSpPr>
          <p:cNvPr id="1541" name="Text 59"/>
          <p:cNvSpPr/>
          <p:nvPr/>
        </p:nvSpPr>
        <p:spPr>
          <a:xfrm>
            <a:off x="9198720" y="4125600"/>
            <a:ext cx="2233440" cy="164160"/>
          </a:xfrm>
          <a:prstGeom prst="rect">
            <a:avLst/>
          </a:prstGeom>
          <a:noFill/>
          <a:ln w="0">
            <a:noFill/>
          </a:ln>
        </p:spPr>
        <p:style>
          <a:lnRef idx="0"/>
          <a:fillRef idx="0"/>
          <a:effectRef idx="0"/>
          <a:fontRef idx="minor"/>
        </p:style>
        <p:txBody>
          <a:bodyPr lIns="0" rIns="0" tIns="0" bIns="0" anchor="ctr">
            <a:normAutofit/>
          </a:bodyPr>
          <a:p>
            <a:pPr algn="r" defTabSz="914400">
              <a:lnSpc>
                <a:spcPct val="100000"/>
              </a:lnSpc>
              <a:tabLst>
                <a:tab algn="l" pos="0"/>
              </a:tabLst>
            </a:pPr>
            <a:r>
              <a:rPr b="1" lang="en-US" sz="680" strike="noStrike" u="none">
                <a:solidFill>
                  <a:srgbClr val="5a625c"/>
                </a:solidFill>
                <a:effectLst/>
                <a:uFillTx/>
                <a:latin typeface="Calibri"/>
                <a:ea typeface="Calibri"/>
              </a:rPr>
              <a:t>Limited</a:t>
            </a:r>
            <a:endParaRPr b="0" lang="en-US" sz="680" strike="noStrike" u="none">
              <a:solidFill>
                <a:srgbClr val="000000"/>
              </a:solidFill>
              <a:effectLst/>
              <a:uFillTx/>
              <a:latin typeface="Arial"/>
            </a:endParaRPr>
          </a:p>
        </p:txBody>
      </p:sp>
      <p:sp>
        <p:nvSpPr>
          <p:cNvPr id="1542" name="Text 60"/>
          <p:cNvSpPr/>
          <p:nvPr/>
        </p:nvSpPr>
        <p:spPr>
          <a:xfrm>
            <a:off x="8421480" y="4345200"/>
            <a:ext cx="3010680" cy="213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750" strike="noStrike" u="none">
                <a:solidFill>
                  <a:srgbClr val="1e2420"/>
                </a:solidFill>
                <a:effectLst/>
                <a:uFillTx/>
                <a:latin typeface="Calibri"/>
                <a:ea typeface="Calibri"/>
              </a:rPr>
              <a:t>Custom enterprise and data offering</a:t>
            </a:r>
            <a:endParaRPr b="0" lang="en-US" sz="750" strike="noStrike" u="none">
              <a:solidFill>
                <a:srgbClr val="000000"/>
              </a:solidFill>
              <a:effectLst/>
              <a:uFillTx/>
              <a:latin typeface="Arial"/>
            </a:endParaRPr>
          </a:p>
        </p:txBody>
      </p:sp>
      <p:sp>
        <p:nvSpPr>
          <p:cNvPr id="1543" name="Shape 61"/>
          <p:cNvSpPr/>
          <p:nvPr/>
        </p:nvSpPr>
        <p:spPr>
          <a:xfrm>
            <a:off x="8284320" y="4614120"/>
            <a:ext cx="3285000" cy="579240"/>
          </a:xfrm>
          <a:prstGeom prst="rect">
            <a:avLst/>
          </a:prstGeom>
          <a:solidFill>
            <a:srgbClr val="ffffff"/>
          </a:solidFill>
          <a:ln w="4445">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44" name="Text 62"/>
          <p:cNvSpPr/>
          <p:nvPr/>
        </p:nvSpPr>
        <p:spPr>
          <a:xfrm>
            <a:off x="8421480" y="4705560"/>
            <a:ext cx="712800" cy="1825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880" strike="noStrike" u="none">
                <a:solidFill>
                  <a:srgbClr val="1e2420"/>
                </a:solidFill>
                <a:effectLst/>
                <a:uFillTx/>
                <a:latin typeface="Calibri"/>
                <a:ea typeface="Calibri"/>
              </a:rPr>
              <a:t>Deepki</a:t>
            </a:r>
            <a:endParaRPr b="0" lang="en-US" sz="880" strike="noStrike" u="none">
              <a:solidFill>
                <a:srgbClr val="000000"/>
              </a:solidFill>
              <a:effectLst/>
              <a:uFillTx/>
              <a:latin typeface="Arial"/>
            </a:endParaRPr>
          </a:p>
        </p:txBody>
      </p:sp>
      <p:sp>
        <p:nvSpPr>
          <p:cNvPr id="1545" name="Text 63"/>
          <p:cNvSpPr/>
          <p:nvPr/>
        </p:nvSpPr>
        <p:spPr>
          <a:xfrm>
            <a:off x="9198720" y="4705560"/>
            <a:ext cx="2233440" cy="164160"/>
          </a:xfrm>
          <a:prstGeom prst="rect">
            <a:avLst/>
          </a:prstGeom>
          <a:noFill/>
          <a:ln w="0">
            <a:noFill/>
          </a:ln>
        </p:spPr>
        <p:style>
          <a:lnRef idx="0"/>
          <a:fillRef idx="0"/>
          <a:effectRef idx="0"/>
          <a:fontRef idx="minor"/>
        </p:style>
        <p:txBody>
          <a:bodyPr lIns="0" rIns="0" tIns="0" bIns="0" anchor="ctr">
            <a:normAutofit/>
          </a:bodyPr>
          <a:p>
            <a:pPr algn="r" defTabSz="914400">
              <a:lnSpc>
                <a:spcPct val="100000"/>
              </a:lnSpc>
              <a:tabLst>
                <a:tab algn="l" pos="0"/>
              </a:tabLst>
            </a:pPr>
            <a:r>
              <a:rPr b="1" lang="en-US" sz="680" strike="noStrike" u="none">
                <a:solidFill>
                  <a:srgbClr val="5a625c"/>
                </a:solidFill>
                <a:effectLst/>
                <a:uFillTx/>
                <a:latin typeface="Calibri"/>
                <a:ea typeface="Calibri"/>
              </a:rPr>
              <a:t>Public price not disclosed</a:t>
            </a:r>
            <a:endParaRPr b="0" lang="en-US" sz="680" strike="noStrike" u="none">
              <a:solidFill>
                <a:srgbClr val="000000"/>
              </a:solidFill>
              <a:effectLst/>
              <a:uFillTx/>
              <a:latin typeface="Arial"/>
            </a:endParaRPr>
          </a:p>
        </p:txBody>
      </p:sp>
      <p:sp>
        <p:nvSpPr>
          <p:cNvPr id="1546" name="Text 64"/>
          <p:cNvSpPr/>
          <p:nvPr/>
        </p:nvSpPr>
        <p:spPr>
          <a:xfrm>
            <a:off x="8421480" y="4924800"/>
            <a:ext cx="3010680" cy="2134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750" strike="noStrike" u="none">
                <a:solidFill>
                  <a:srgbClr val="1e2420"/>
                </a:solidFill>
                <a:effectLst/>
                <a:uFillTx/>
                <a:latin typeface="Calibri"/>
                <a:ea typeface="Calibri"/>
              </a:rPr>
              <a:t>Enterprise sales and custom proposal</a:t>
            </a:r>
            <a:endParaRPr b="0" lang="en-US" sz="750" strike="noStrike" u="none">
              <a:solidFill>
                <a:srgbClr val="000000"/>
              </a:solidFill>
              <a:effectLst/>
              <a:uFillTx/>
              <a:latin typeface="Arial"/>
            </a:endParaRPr>
          </a:p>
        </p:txBody>
      </p:sp>
      <p:sp>
        <p:nvSpPr>
          <p:cNvPr id="1547" name="Shape 65"/>
          <p:cNvSpPr/>
          <p:nvPr/>
        </p:nvSpPr>
        <p:spPr>
          <a:xfrm>
            <a:off x="621720" y="5513760"/>
            <a:ext cx="10947600" cy="502560"/>
          </a:xfrm>
          <a:prstGeom prst="roundRect">
            <a:avLst>
              <a:gd name="adj" fmla="val 7273"/>
            </a:avLst>
          </a:prstGeom>
          <a:solidFill>
            <a:srgbClr val="005730"/>
          </a:solidFill>
          <a:ln w="12700">
            <a:solidFill>
              <a:srgbClr val="005730"/>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548" name="Shape 66"/>
          <p:cNvSpPr/>
          <p:nvPr/>
        </p:nvSpPr>
        <p:spPr>
          <a:xfrm>
            <a:off x="621720" y="5513760"/>
            <a:ext cx="1371240" cy="50256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49" name="Text 67"/>
          <p:cNvSpPr/>
          <p:nvPr/>
        </p:nvSpPr>
        <p:spPr>
          <a:xfrm>
            <a:off x="731520" y="5513760"/>
            <a:ext cx="1151640" cy="5025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750" strike="noStrike" u="none">
                <a:solidFill>
                  <a:srgbClr val="005730"/>
                </a:solidFill>
                <a:effectLst/>
                <a:uFillTx/>
                <a:latin typeface="Calibri"/>
                <a:ea typeface="Calibri"/>
              </a:rPr>
              <a:t>BOARD DECISION</a:t>
            </a:r>
            <a:endParaRPr b="0" lang="en-US" sz="750" strike="noStrike" u="none">
              <a:solidFill>
                <a:srgbClr val="000000"/>
              </a:solidFill>
              <a:effectLst/>
              <a:uFillTx/>
              <a:latin typeface="Arial"/>
            </a:endParaRPr>
          </a:p>
        </p:txBody>
      </p:sp>
      <p:sp>
        <p:nvSpPr>
          <p:cNvPr id="1550" name="Text 68"/>
          <p:cNvSpPr/>
          <p:nvPr/>
        </p:nvSpPr>
        <p:spPr>
          <a:xfrm>
            <a:off x="2176200" y="5577840"/>
            <a:ext cx="9210240" cy="3744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880" strike="noStrike" u="none">
                <a:solidFill>
                  <a:srgbClr val="ffffff"/>
                </a:solidFill>
                <a:effectLst/>
                <a:uFillTx/>
                <a:latin typeface="Calibri"/>
                <a:ea typeface="Calibri"/>
              </a:rPr>
              <a:t>Approve the platform-plus-product architecture and guardrails now. Validate platform fee, per-product price, bundle rules and discount authority before launch.</a:t>
            </a:r>
            <a:endParaRPr b="0" lang="en-US" sz="880" strike="noStrike" u="none">
              <a:solidFill>
                <a:srgbClr val="000000"/>
              </a:solidFill>
              <a:effectLst/>
              <a:uFillTx/>
              <a:latin typeface="Arial"/>
            </a:endParaRPr>
          </a:p>
        </p:txBody>
      </p:sp>
      <p:sp>
        <p:nvSpPr>
          <p:cNvPr id="1551" name="Text 69"/>
          <p:cNvSpPr/>
          <p:nvPr/>
        </p:nvSpPr>
        <p:spPr>
          <a:xfrm>
            <a:off x="621720" y="6108120"/>
            <a:ext cx="10947600" cy="1825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680" strike="noStrike" u="none">
                <a:solidFill>
                  <a:srgbClr val="5a625c"/>
                </a:solidFill>
                <a:effectLst/>
                <a:uFillTx/>
                <a:latin typeface="Calibri"/>
                <a:ea typeface="Calibri"/>
              </a:rPr>
              <a:t>Competitor descriptions reflect publicly visible buying models reviewed September 2026, not confidential quotes or relative contract value. RA+ prices are placeholders pending Finance approval.</a:t>
            </a:r>
            <a:endParaRPr b="0" lang="en-US" sz="680" strike="noStrike" u="none">
              <a:solidFill>
                <a:srgbClr val="000000"/>
              </a:solidFill>
              <a:effectLst/>
              <a:uFillTx/>
              <a:latin typeface="Arial"/>
            </a:endParaRPr>
          </a:p>
        </p:txBody>
      </p:sp>
      <p:sp>
        <p:nvSpPr>
          <p:cNvPr id="1552" name="Shape 70"/>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553" name="Text 71"/>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1554" name="Text 72"/>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1555" name="PlaceHolder 1"/>
          <p:cNvSpPr>
            <a:spLocks noGrp="1"/>
          </p:cNvSpPr>
          <p:nvPr>
            <p:ph type="sldNum" idx="38"/>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CB75A1B1-605E-4BF5-92A2-14C7AB32ACEB}"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556"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1557"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1558" name="Shape 2"/>
          <p:cNvSpPr/>
          <p:nvPr/>
        </p:nvSpPr>
        <p:spPr>
          <a:xfrm>
            <a:off x="621720" y="311040"/>
            <a:ext cx="344700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59" name="Text 3"/>
          <p:cNvSpPr/>
          <p:nvPr/>
        </p:nvSpPr>
        <p:spPr>
          <a:xfrm>
            <a:off x="804600" y="329040"/>
            <a:ext cx="311760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GO TO MARKET | BUYER JOURNEY</a:t>
            </a:r>
            <a:endParaRPr b="0" lang="en-US" sz="950" strike="noStrike" u="none">
              <a:solidFill>
                <a:srgbClr val="000000"/>
              </a:solidFill>
              <a:effectLst/>
              <a:uFillTx/>
              <a:latin typeface="Arial"/>
            </a:endParaRPr>
          </a:p>
        </p:txBody>
      </p:sp>
      <p:sp>
        <p:nvSpPr>
          <p:cNvPr id="1560" name="Text 4"/>
          <p:cNvSpPr/>
          <p:nvPr/>
        </p:nvSpPr>
        <p:spPr>
          <a:xfrm>
            <a:off x="621720" y="768240"/>
            <a:ext cx="10947600" cy="804240"/>
          </a:xfrm>
          <a:prstGeom prst="rect">
            <a:avLst/>
          </a:prstGeom>
          <a:noFill/>
          <a:ln w="0">
            <a:noFill/>
          </a:ln>
        </p:spPr>
        <p:style>
          <a:lnRef idx="0"/>
          <a:fillRef idx="0"/>
          <a:effectRef idx="0"/>
          <a:fontRef idx="minor"/>
        </p:style>
        <p:txBody>
          <a:bodyPr lIns="0" rIns="0" tIns="0" bIns="0" anchor="t">
            <a:normAutofit lnSpcReduction="9999"/>
          </a:bodyPr>
          <a:p>
            <a:pPr defTabSz="914400">
              <a:lnSpc>
                <a:spcPct val="100000"/>
              </a:lnSpc>
              <a:tabLst>
                <a:tab algn="l" pos="0"/>
              </a:tabLst>
            </a:pPr>
            <a:r>
              <a:rPr b="1" lang="en-US" sz="2800" strike="noStrike" u="none">
                <a:solidFill>
                  <a:srgbClr val="1e2420"/>
                </a:solidFill>
                <a:effectLst/>
                <a:uFillTx/>
                <a:latin typeface="Calibri"/>
                <a:ea typeface="Calibri"/>
              </a:rPr>
              <a:t>How a Fortune 500 buyer moves from one product to the whole platform</a:t>
            </a:r>
            <a:endParaRPr b="0" lang="en-US" sz="2800" strike="noStrike" u="none">
              <a:solidFill>
                <a:srgbClr val="000000"/>
              </a:solidFill>
              <a:effectLst/>
              <a:uFillTx/>
              <a:latin typeface="Arial"/>
            </a:endParaRPr>
          </a:p>
        </p:txBody>
      </p:sp>
      <p:sp>
        <p:nvSpPr>
          <p:cNvPr id="1561" name="Text 5"/>
          <p:cNvSpPr/>
          <p:nvPr/>
        </p:nvSpPr>
        <p:spPr>
          <a:xfrm>
            <a:off x="621720" y="1572840"/>
            <a:ext cx="10947600" cy="310680"/>
          </a:xfrm>
          <a:prstGeom prst="rect">
            <a:avLst/>
          </a:prstGeom>
          <a:noFill/>
          <a:ln w="0">
            <a:noFill/>
          </a:ln>
        </p:spPr>
        <p:style>
          <a:lnRef idx="0"/>
          <a:fillRef idx="0"/>
          <a:effectRef idx="0"/>
          <a:fontRef idx="minor"/>
        </p:style>
        <p:txBody>
          <a:bodyPr lIns="0" rIns="0" tIns="0" bIns="0" anchor="t">
            <a:normAutofit fontScale="92500" lnSpcReduction="9999"/>
          </a:bodyPr>
          <a:p>
            <a:pPr defTabSz="914400">
              <a:lnSpc>
                <a:spcPct val="100000"/>
              </a:lnSpc>
              <a:tabLst>
                <a:tab algn="l" pos="0"/>
              </a:tabLst>
            </a:pPr>
            <a:r>
              <a:rPr b="0" lang="en-US" sz="1250" strike="noStrike" u="none">
                <a:solidFill>
                  <a:srgbClr val="5a625c"/>
                </a:solidFill>
                <a:effectLst/>
                <a:uFillTx/>
                <a:latin typeface="Calibri"/>
                <a:ea typeface="Calibri"/>
              </a:rPr>
              <a:t>The commercial motion mirrors the platform strategy: land on one urgent problem, prove value fast, then expand across Sustainability, Energy and Efficiency as the data spine compounds.</a:t>
            </a:r>
            <a:endParaRPr b="0" lang="en-US" sz="1250" strike="noStrike" u="none">
              <a:solidFill>
                <a:srgbClr val="000000"/>
              </a:solidFill>
              <a:effectLst/>
              <a:uFillTx/>
              <a:latin typeface="Arial"/>
            </a:endParaRPr>
          </a:p>
        </p:txBody>
      </p:sp>
      <p:sp>
        <p:nvSpPr>
          <p:cNvPr id="1562"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563" name="Shape 7"/>
          <p:cNvSpPr/>
          <p:nvPr/>
        </p:nvSpPr>
        <p:spPr>
          <a:xfrm>
            <a:off x="621720" y="2084760"/>
            <a:ext cx="2572200" cy="3588120"/>
          </a:xfrm>
          <a:prstGeom prst="roundRect">
            <a:avLst>
              <a:gd name="adj" fmla="val 1422"/>
            </a:avLst>
          </a:prstGeom>
          <a:solidFill>
            <a:srgbClr val="ffffff"/>
          </a:solidFill>
          <a:ln w="1016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64" name="Shape 8"/>
          <p:cNvSpPr/>
          <p:nvPr/>
        </p:nvSpPr>
        <p:spPr>
          <a:xfrm>
            <a:off x="621720" y="2084760"/>
            <a:ext cx="63720" cy="35881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65" name="Text 9"/>
          <p:cNvSpPr/>
          <p:nvPr/>
        </p:nvSpPr>
        <p:spPr>
          <a:xfrm>
            <a:off x="841320" y="2231280"/>
            <a:ext cx="2133000" cy="23724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850" spc="119" strike="noStrike" u="none">
                <a:solidFill>
                  <a:srgbClr val="007a27"/>
                </a:solidFill>
                <a:effectLst/>
                <a:uFillTx/>
                <a:latin typeface="Calibri"/>
                <a:ea typeface="Calibri"/>
              </a:rPr>
              <a:t>STAGE 1 | LAND</a:t>
            </a:r>
            <a:endParaRPr b="0" lang="en-US" sz="850" strike="noStrike" u="none">
              <a:solidFill>
                <a:srgbClr val="000000"/>
              </a:solidFill>
              <a:effectLst/>
              <a:uFillTx/>
              <a:latin typeface="Arial"/>
            </a:endParaRPr>
          </a:p>
        </p:txBody>
      </p:sp>
      <p:sp>
        <p:nvSpPr>
          <p:cNvPr id="1566" name="Text 10"/>
          <p:cNvSpPr/>
          <p:nvPr/>
        </p:nvSpPr>
        <p:spPr>
          <a:xfrm>
            <a:off x="841320" y="2487240"/>
            <a:ext cx="2133000" cy="4568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350" strike="noStrike" u="none">
                <a:solidFill>
                  <a:srgbClr val="1e2420"/>
                </a:solidFill>
                <a:effectLst/>
                <a:uFillTx/>
                <a:latin typeface="Calibri"/>
                <a:ea typeface="Calibri"/>
              </a:rPr>
              <a:t>One urgent problem</a:t>
            </a:r>
            <a:endParaRPr b="0" lang="en-US" sz="1350" strike="noStrike" u="none">
              <a:solidFill>
                <a:srgbClr val="000000"/>
              </a:solidFill>
              <a:effectLst/>
              <a:uFillTx/>
              <a:latin typeface="Arial"/>
            </a:endParaRPr>
          </a:p>
        </p:txBody>
      </p:sp>
      <p:sp>
        <p:nvSpPr>
          <p:cNvPr id="1567" name="Text 11"/>
          <p:cNvSpPr/>
          <p:nvPr/>
        </p:nvSpPr>
        <p:spPr>
          <a:xfrm>
            <a:off x="841320" y="3017520"/>
            <a:ext cx="2133000" cy="136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00" spc="79" strike="noStrike" u="none">
                <a:solidFill>
                  <a:srgbClr val="007a27"/>
                </a:solidFill>
                <a:effectLst/>
                <a:uFillTx/>
                <a:latin typeface="Calibri"/>
                <a:ea typeface="Calibri"/>
              </a:rPr>
              <a:t>BUYER MOMENT</a:t>
            </a:r>
            <a:endParaRPr b="0" lang="en-US" sz="700" strike="noStrike" u="none">
              <a:solidFill>
                <a:srgbClr val="000000"/>
              </a:solidFill>
              <a:effectLst/>
              <a:uFillTx/>
              <a:latin typeface="Arial"/>
            </a:endParaRPr>
          </a:p>
        </p:txBody>
      </p:sp>
      <p:sp>
        <p:nvSpPr>
          <p:cNvPr id="1568" name="Text 12"/>
          <p:cNvSpPr/>
          <p:nvPr/>
        </p:nvSpPr>
        <p:spPr>
          <a:xfrm>
            <a:off x="841320" y="3163680"/>
            <a:ext cx="2133000" cy="396000"/>
          </a:xfrm>
          <a:prstGeom prst="rect">
            <a:avLst/>
          </a:prstGeom>
          <a:noFill/>
          <a:ln w="0">
            <a:noFill/>
          </a:ln>
        </p:spPr>
        <p:style>
          <a:lnRef idx="0"/>
          <a:fillRef idx="0"/>
          <a:effectRef idx="0"/>
          <a:fontRef idx="minor"/>
        </p:style>
        <p:txBody>
          <a:bodyPr lIns="0" rIns="0" tIns="0" bIns="0" anchor="t">
            <a:normAutofit/>
          </a:bodyPr>
          <a:p>
            <a:pPr defTabSz="914400">
              <a:lnSpc>
                <a:spcPct val="105000"/>
              </a:lnSpc>
              <a:tabLst>
                <a:tab algn="l" pos="0"/>
              </a:tabLst>
            </a:pPr>
            <a:r>
              <a:rPr b="0" lang="en-US" sz="800" strike="noStrike" u="none">
                <a:solidFill>
                  <a:srgbClr val="1e2420"/>
                </a:solidFill>
                <a:effectLst/>
                <a:uFillTx/>
                <a:latin typeface="Calibri"/>
                <a:ea typeface="Calibri"/>
              </a:rPr>
              <a:t>A Chief Sustainability Officer faces a disclosure deadline or a Scope 3 inventory gap.</a:t>
            </a:r>
            <a:endParaRPr b="0" lang="en-US" sz="800" strike="noStrike" u="none">
              <a:solidFill>
                <a:srgbClr val="000000"/>
              </a:solidFill>
              <a:effectLst/>
              <a:uFillTx/>
              <a:latin typeface="Arial"/>
            </a:endParaRPr>
          </a:p>
        </p:txBody>
      </p:sp>
      <p:sp>
        <p:nvSpPr>
          <p:cNvPr id="1569" name="Text 13"/>
          <p:cNvSpPr/>
          <p:nvPr/>
        </p:nvSpPr>
        <p:spPr>
          <a:xfrm>
            <a:off x="841320" y="3624120"/>
            <a:ext cx="2133000" cy="136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00" spc="79" strike="noStrike" u="none">
                <a:solidFill>
                  <a:srgbClr val="007a27"/>
                </a:solidFill>
                <a:effectLst/>
                <a:uFillTx/>
                <a:latin typeface="Calibri"/>
                <a:ea typeface="Calibri"/>
              </a:rPr>
              <a:t>PRODUCTS</a:t>
            </a:r>
            <a:endParaRPr b="0" lang="en-US" sz="700" strike="noStrike" u="none">
              <a:solidFill>
                <a:srgbClr val="000000"/>
              </a:solidFill>
              <a:effectLst/>
              <a:uFillTx/>
              <a:latin typeface="Arial"/>
            </a:endParaRPr>
          </a:p>
        </p:txBody>
      </p:sp>
      <p:sp>
        <p:nvSpPr>
          <p:cNvPr id="1570" name="Text 14"/>
          <p:cNvSpPr/>
          <p:nvPr/>
        </p:nvSpPr>
        <p:spPr>
          <a:xfrm>
            <a:off x="841320" y="3770280"/>
            <a:ext cx="2133000" cy="276120"/>
          </a:xfrm>
          <a:prstGeom prst="rect">
            <a:avLst/>
          </a:prstGeom>
          <a:noFill/>
          <a:ln w="0">
            <a:noFill/>
          </a:ln>
        </p:spPr>
        <p:style>
          <a:lnRef idx="0"/>
          <a:fillRef idx="0"/>
          <a:effectRef idx="0"/>
          <a:fontRef idx="minor"/>
        </p:style>
        <p:txBody>
          <a:bodyPr lIns="0" rIns="0" tIns="0" bIns="0" anchor="t">
            <a:normAutofit/>
          </a:bodyPr>
          <a:p>
            <a:pPr defTabSz="914400">
              <a:lnSpc>
                <a:spcPct val="105000"/>
              </a:lnSpc>
              <a:tabLst>
                <a:tab algn="l" pos="0"/>
              </a:tabLst>
            </a:pPr>
            <a:r>
              <a:rPr b="0" lang="en-US" sz="800" strike="noStrike" u="none">
                <a:solidFill>
                  <a:srgbClr val="5a625c"/>
                </a:solidFill>
                <a:effectLst/>
                <a:uFillTx/>
                <a:latin typeface="Calibri"/>
                <a:ea typeface="Calibri"/>
              </a:rPr>
              <a:t>One product, typically Carbon Performance or Reporting &amp; Compliance.</a:t>
            </a:r>
            <a:endParaRPr b="0" lang="en-US" sz="800" strike="noStrike" u="none">
              <a:solidFill>
                <a:srgbClr val="000000"/>
              </a:solidFill>
              <a:effectLst/>
              <a:uFillTx/>
              <a:latin typeface="Arial"/>
            </a:endParaRPr>
          </a:p>
        </p:txBody>
      </p:sp>
      <p:sp>
        <p:nvSpPr>
          <p:cNvPr id="1571" name="Text 15"/>
          <p:cNvSpPr/>
          <p:nvPr/>
        </p:nvSpPr>
        <p:spPr>
          <a:xfrm>
            <a:off x="841320" y="4110840"/>
            <a:ext cx="2133000" cy="136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00" spc="79" strike="noStrike" u="none">
                <a:solidFill>
                  <a:srgbClr val="007a27"/>
                </a:solidFill>
                <a:effectLst/>
                <a:uFillTx/>
                <a:latin typeface="Calibri"/>
                <a:ea typeface="Calibri"/>
              </a:rPr>
              <a:t>VALUE</a:t>
            </a:r>
            <a:endParaRPr b="0" lang="en-US" sz="700" strike="noStrike" u="none">
              <a:solidFill>
                <a:srgbClr val="000000"/>
              </a:solidFill>
              <a:effectLst/>
              <a:uFillTx/>
              <a:latin typeface="Arial"/>
            </a:endParaRPr>
          </a:p>
        </p:txBody>
      </p:sp>
      <p:sp>
        <p:nvSpPr>
          <p:cNvPr id="1572" name="Text 16"/>
          <p:cNvSpPr/>
          <p:nvPr/>
        </p:nvSpPr>
        <p:spPr>
          <a:xfrm>
            <a:off x="841320" y="4257000"/>
            <a:ext cx="2133000" cy="396000"/>
          </a:xfrm>
          <a:prstGeom prst="rect">
            <a:avLst/>
          </a:prstGeom>
          <a:noFill/>
          <a:ln w="0">
            <a:noFill/>
          </a:ln>
        </p:spPr>
        <p:style>
          <a:lnRef idx="0"/>
          <a:fillRef idx="0"/>
          <a:effectRef idx="0"/>
          <a:fontRef idx="minor"/>
        </p:style>
        <p:txBody>
          <a:bodyPr lIns="0" rIns="0" tIns="0" bIns="0" anchor="t">
            <a:normAutofit/>
          </a:bodyPr>
          <a:p>
            <a:pPr defTabSz="914400">
              <a:lnSpc>
                <a:spcPct val="105000"/>
              </a:lnSpc>
              <a:tabLst>
                <a:tab algn="l" pos="0"/>
              </a:tabLst>
            </a:pPr>
            <a:r>
              <a:rPr b="0" lang="en-US" sz="800" strike="noStrike" u="none">
                <a:solidFill>
                  <a:srgbClr val="5a625c"/>
                </a:solidFill>
                <a:effectLst/>
                <a:uFillTx/>
                <a:latin typeface="Calibri"/>
                <a:ea typeface="Calibri"/>
              </a:rPr>
              <a:t>A consultant grade, AI driven inventory or a CSRD ready cycle in one reporting season.</a:t>
            </a:r>
            <a:endParaRPr b="0" lang="en-US" sz="800" strike="noStrike" u="none">
              <a:solidFill>
                <a:srgbClr val="000000"/>
              </a:solidFill>
              <a:effectLst/>
              <a:uFillTx/>
              <a:latin typeface="Arial"/>
            </a:endParaRPr>
          </a:p>
        </p:txBody>
      </p:sp>
      <p:sp>
        <p:nvSpPr>
          <p:cNvPr id="1573" name="Text 17"/>
          <p:cNvSpPr/>
          <p:nvPr/>
        </p:nvSpPr>
        <p:spPr>
          <a:xfrm>
            <a:off x="841320" y="4717440"/>
            <a:ext cx="2133000" cy="136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00" spc="79" strike="noStrike" u="none">
                <a:solidFill>
                  <a:srgbClr val="007a27"/>
                </a:solidFill>
                <a:effectLst/>
                <a:uFillTx/>
                <a:latin typeface="Calibri"/>
                <a:ea typeface="Calibri"/>
              </a:rPr>
              <a:t>EXPANSION TRIGGER</a:t>
            </a:r>
            <a:endParaRPr b="0" lang="en-US" sz="700" strike="noStrike" u="none">
              <a:solidFill>
                <a:srgbClr val="000000"/>
              </a:solidFill>
              <a:effectLst/>
              <a:uFillTx/>
              <a:latin typeface="Arial"/>
            </a:endParaRPr>
          </a:p>
        </p:txBody>
      </p:sp>
      <p:sp>
        <p:nvSpPr>
          <p:cNvPr id="1574" name="Text 18"/>
          <p:cNvSpPr/>
          <p:nvPr/>
        </p:nvSpPr>
        <p:spPr>
          <a:xfrm>
            <a:off x="841320" y="4863600"/>
            <a:ext cx="2133000" cy="396000"/>
          </a:xfrm>
          <a:prstGeom prst="rect">
            <a:avLst/>
          </a:prstGeom>
          <a:noFill/>
          <a:ln w="0">
            <a:noFill/>
          </a:ln>
        </p:spPr>
        <p:style>
          <a:lnRef idx="0"/>
          <a:fillRef idx="0"/>
          <a:effectRef idx="0"/>
          <a:fontRef idx="minor"/>
        </p:style>
        <p:txBody>
          <a:bodyPr lIns="0" rIns="0" tIns="0" bIns="0" anchor="t">
            <a:normAutofit/>
          </a:bodyPr>
          <a:p>
            <a:pPr defTabSz="914400">
              <a:lnSpc>
                <a:spcPct val="105000"/>
              </a:lnSpc>
              <a:tabLst>
                <a:tab algn="l" pos="0"/>
              </a:tabLst>
            </a:pPr>
            <a:r>
              <a:rPr b="0" lang="en-US" sz="800" strike="noStrike" u="none">
                <a:solidFill>
                  <a:srgbClr val="5a625c"/>
                </a:solidFill>
                <a:effectLst/>
                <a:uFillTx/>
                <a:latin typeface="Calibri"/>
                <a:ea typeface="Calibri"/>
              </a:rPr>
              <a:t>Regulatory deadline, audit pressure or a board level carbon commitment.</a:t>
            </a:r>
            <a:endParaRPr b="0" lang="en-US" sz="800" strike="noStrike" u="none">
              <a:solidFill>
                <a:srgbClr val="000000"/>
              </a:solidFill>
              <a:effectLst/>
              <a:uFillTx/>
              <a:latin typeface="Arial"/>
            </a:endParaRPr>
          </a:p>
        </p:txBody>
      </p:sp>
      <p:sp>
        <p:nvSpPr>
          <p:cNvPr id="1575" name="Text 19"/>
          <p:cNvSpPr/>
          <p:nvPr/>
        </p:nvSpPr>
        <p:spPr>
          <a:xfrm>
            <a:off x="3175920" y="3741840"/>
            <a:ext cx="27396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rgbClr val="3dcd58"/>
                </a:solidFill>
                <a:effectLst/>
                <a:uFillTx/>
                <a:latin typeface="Calibri"/>
                <a:ea typeface="Calibri"/>
              </a:rPr>
              <a:t>→</a:t>
            </a:r>
            <a:endParaRPr b="0" lang="en-US" sz="1400" strike="noStrike" u="none">
              <a:solidFill>
                <a:srgbClr val="000000"/>
              </a:solidFill>
              <a:effectLst/>
              <a:uFillTx/>
              <a:latin typeface="Arial"/>
            </a:endParaRPr>
          </a:p>
        </p:txBody>
      </p:sp>
      <p:sp>
        <p:nvSpPr>
          <p:cNvPr id="1576" name="Shape 20"/>
          <p:cNvSpPr/>
          <p:nvPr/>
        </p:nvSpPr>
        <p:spPr>
          <a:xfrm>
            <a:off x="3413520" y="2084760"/>
            <a:ext cx="2572200" cy="3588120"/>
          </a:xfrm>
          <a:prstGeom prst="roundRect">
            <a:avLst>
              <a:gd name="adj" fmla="val 1422"/>
            </a:avLst>
          </a:prstGeom>
          <a:solidFill>
            <a:srgbClr val="ffffff"/>
          </a:solidFill>
          <a:ln w="1016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77" name="Shape 21"/>
          <p:cNvSpPr/>
          <p:nvPr/>
        </p:nvSpPr>
        <p:spPr>
          <a:xfrm>
            <a:off x="3413520" y="2084760"/>
            <a:ext cx="63720" cy="35881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78" name="Text 22"/>
          <p:cNvSpPr/>
          <p:nvPr/>
        </p:nvSpPr>
        <p:spPr>
          <a:xfrm>
            <a:off x="3633120" y="2231280"/>
            <a:ext cx="2133000" cy="23724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850" spc="119" strike="noStrike" u="none">
                <a:solidFill>
                  <a:srgbClr val="007a27"/>
                </a:solidFill>
                <a:effectLst/>
                <a:uFillTx/>
                <a:latin typeface="Calibri"/>
                <a:ea typeface="Calibri"/>
              </a:rPr>
              <a:t>STAGE 2 | PROVE</a:t>
            </a:r>
            <a:endParaRPr b="0" lang="en-US" sz="850" strike="noStrike" u="none">
              <a:solidFill>
                <a:srgbClr val="000000"/>
              </a:solidFill>
              <a:effectLst/>
              <a:uFillTx/>
              <a:latin typeface="Arial"/>
            </a:endParaRPr>
          </a:p>
        </p:txBody>
      </p:sp>
      <p:sp>
        <p:nvSpPr>
          <p:cNvPr id="1579" name="Text 23"/>
          <p:cNvSpPr/>
          <p:nvPr/>
        </p:nvSpPr>
        <p:spPr>
          <a:xfrm>
            <a:off x="3633120" y="2487240"/>
            <a:ext cx="2133000" cy="4568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350" strike="noStrike" u="none">
                <a:solidFill>
                  <a:srgbClr val="1e2420"/>
                </a:solidFill>
                <a:effectLst/>
                <a:uFillTx/>
                <a:latin typeface="Calibri"/>
                <a:ea typeface="Calibri"/>
              </a:rPr>
              <a:t>First measurable value</a:t>
            </a:r>
            <a:endParaRPr b="0" lang="en-US" sz="1350" strike="noStrike" u="none">
              <a:solidFill>
                <a:srgbClr val="000000"/>
              </a:solidFill>
              <a:effectLst/>
              <a:uFillTx/>
              <a:latin typeface="Arial"/>
            </a:endParaRPr>
          </a:p>
        </p:txBody>
      </p:sp>
      <p:sp>
        <p:nvSpPr>
          <p:cNvPr id="1580" name="Text 24"/>
          <p:cNvSpPr/>
          <p:nvPr/>
        </p:nvSpPr>
        <p:spPr>
          <a:xfrm>
            <a:off x="3633120" y="3017520"/>
            <a:ext cx="2133000" cy="136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00" spc="79" strike="noStrike" u="none">
                <a:solidFill>
                  <a:srgbClr val="007a27"/>
                </a:solidFill>
                <a:effectLst/>
                <a:uFillTx/>
                <a:latin typeface="Calibri"/>
                <a:ea typeface="Calibri"/>
              </a:rPr>
              <a:t>BUYER MOMENT</a:t>
            </a:r>
            <a:endParaRPr b="0" lang="en-US" sz="700" strike="noStrike" u="none">
              <a:solidFill>
                <a:srgbClr val="000000"/>
              </a:solidFill>
              <a:effectLst/>
              <a:uFillTx/>
              <a:latin typeface="Arial"/>
            </a:endParaRPr>
          </a:p>
        </p:txBody>
      </p:sp>
      <p:sp>
        <p:nvSpPr>
          <p:cNvPr id="1581" name="Text 25"/>
          <p:cNvSpPr/>
          <p:nvPr/>
        </p:nvSpPr>
        <p:spPr>
          <a:xfrm>
            <a:off x="3633120" y="3163680"/>
            <a:ext cx="2133000" cy="396000"/>
          </a:xfrm>
          <a:prstGeom prst="rect">
            <a:avLst/>
          </a:prstGeom>
          <a:noFill/>
          <a:ln w="0">
            <a:noFill/>
          </a:ln>
        </p:spPr>
        <p:style>
          <a:lnRef idx="0"/>
          <a:fillRef idx="0"/>
          <a:effectRef idx="0"/>
          <a:fontRef idx="minor"/>
        </p:style>
        <p:txBody>
          <a:bodyPr lIns="0" rIns="0" tIns="0" bIns="0" anchor="t">
            <a:normAutofit/>
          </a:bodyPr>
          <a:p>
            <a:pPr defTabSz="914400">
              <a:lnSpc>
                <a:spcPct val="105000"/>
              </a:lnSpc>
              <a:tabLst>
                <a:tab algn="l" pos="0"/>
              </a:tabLst>
            </a:pPr>
            <a:r>
              <a:rPr b="0" lang="en-US" sz="800" strike="noStrike" u="none">
                <a:solidFill>
                  <a:srgbClr val="1e2420"/>
                </a:solidFill>
                <a:effectLst/>
                <a:uFillTx/>
                <a:latin typeface="Calibri"/>
                <a:ea typeface="Calibri"/>
              </a:rPr>
              <a:t>The same sponsor sees time to value measured in weeks, with evidence and lineage that survive audit.</a:t>
            </a:r>
            <a:endParaRPr b="0" lang="en-US" sz="800" strike="noStrike" u="none">
              <a:solidFill>
                <a:srgbClr val="000000"/>
              </a:solidFill>
              <a:effectLst/>
              <a:uFillTx/>
              <a:latin typeface="Arial"/>
            </a:endParaRPr>
          </a:p>
        </p:txBody>
      </p:sp>
      <p:sp>
        <p:nvSpPr>
          <p:cNvPr id="1582" name="Text 26"/>
          <p:cNvSpPr/>
          <p:nvPr/>
        </p:nvSpPr>
        <p:spPr>
          <a:xfrm>
            <a:off x="3633120" y="3624120"/>
            <a:ext cx="2133000" cy="136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00" spc="79" strike="noStrike" u="none">
                <a:solidFill>
                  <a:srgbClr val="007a27"/>
                </a:solidFill>
                <a:effectLst/>
                <a:uFillTx/>
                <a:latin typeface="Calibri"/>
                <a:ea typeface="Calibri"/>
              </a:rPr>
              <a:t>PRODUCTS</a:t>
            </a:r>
            <a:endParaRPr b="0" lang="en-US" sz="700" strike="noStrike" u="none">
              <a:solidFill>
                <a:srgbClr val="000000"/>
              </a:solidFill>
              <a:effectLst/>
              <a:uFillTx/>
              <a:latin typeface="Arial"/>
            </a:endParaRPr>
          </a:p>
        </p:txBody>
      </p:sp>
      <p:sp>
        <p:nvSpPr>
          <p:cNvPr id="1583" name="Text 27"/>
          <p:cNvSpPr/>
          <p:nvPr/>
        </p:nvSpPr>
        <p:spPr>
          <a:xfrm>
            <a:off x="3633120" y="3770280"/>
            <a:ext cx="2133000" cy="396000"/>
          </a:xfrm>
          <a:prstGeom prst="rect">
            <a:avLst/>
          </a:prstGeom>
          <a:noFill/>
          <a:ln w="0">
            <a:noFill/>
          </a:ln>
        </p:spPr>
        <p:style>
          <a:lnRef idx="0"/>
          <a:fillRef idx="0"/>
          <a:effectRef idx="0"/>
          <a:fontRef idx="minor"/>
        </p:style>
        <p:txBody>
          <a:bodyPr lIns="0" rIns="0" tIns="0" bIns="0" anchor="t">
            <a:normAutofit/>
          </a:bodyPr>
          <a:p>
            <a:pPr defTabSz="914400">
              <a:lnSpc>
                <a:spcPct val="105000"/>
              </a:lnSpc>
              <a:tabLst>
                <a:tab algn="l" pos="0"/>
              </a:tabLst>
            </a:pPr>
            <a:r>
              <a:rPr b="0" lang="en-US" sz="800" strike="noStrike" u="none">
                <a:solidFill>
                  <a:srgbClr val="5a625c"/>
                </a:solidFill>
                <a:effectLst/>
                <a:uFillTx/>
                <a:latin typeface="Calibri"/>
                <a:ea typeface="Calibri"/>
              </a:rPr>
              <a:t>Same product, deeper adoption: scenarios, initiatives and actions on the trusted baseline.</a:t>
            </a:r>
            <a:endParaRPr b="0" lang="en-US" sz="800" strike="noStrike" u="none">
              <a:solidFill>
                <a:srgbClr val="000000"/>
              </a:solidFill>
              <a:effectLst/>
              <a:uFillTx/>
              <a:latin typeface="Arial"/>
            </a:endParaRPr>
          </a:p>
        </p:txBody>
      </p:sp>
      <p:sp>
        <p:nvSpPr>
          <p:cNvPr id="1584" name="Text 28"/>
          <p:cNvSpPr/>
          <p:nvPr/>
        </p:nvSpPr>
        <p:spPr>
          <a:xfrm>
            <a:off x="3633120" y="4230720"/>
            <a:ext cx="2133000" cy="136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00" spc="79" strike="noStrike" u="none">
                <a:solidFill>
                  <a:srgbClr val="007a27"/>
                </a:solidFill>
                <a:effectLst/>
                <a:uFillTx/>
                <a:latin typeface="Calibri"/>
                <a:ea typeface="Calibri"/>
              </a:rPr>
              <a:t>VALUE</a:t>
            </a:r>
            <a:endParaRPr b="0" lang="en-US" sz="700" strike="noStrike" u="none">
              <a:solidFill>
                <a:srgbClr val="000000"/>
              </a:solidFill>
              <a:effectLst/>
              <a:uFillTx/>
              <a:latin typeface="Arial"/>
            </a:endParaRPr>
          </a:p>
        </p:txBody>
      </p:sp>
      <p:sp>
        <p:nvSpPr>
          <p:cNvPr id="1585" name="Text 29"/>
          <p:cNvSpPr/>
          <p:nvPr/>
        </p:nvSpPr>
        <p:spPr>
          <a:xfrm>
            <a:off x="3633120" y="4376880"/>
            <a:ext cx="2133000" cy="396000"/>
          </a:xfrm>
          <a:prstGeom prst="rect">
            <a:avLst/>
          </a:prstGeom>
          <a:noFill/>
          <a:ln w="0">
            <a:noFill/>
          </a:ln>
        </p:spPr>
        <p:style>
          <a:lnRef idx="0"/>
          <a:fillRef idx="0"/>
          <a:effectRef idx="0"/>
          <a:fontRef idx="minor"/>
        </p:style>
        <p:txBody>
          <a:bodyPr lIns="0" rIns="0" tIns="0" bIns="0" anchor="t">
            <a:normAutofit/>
          </a:bodyPr>
          <a:p>
            <a:pPr defTabSz="914400">
              <a:lnSpc>
                <a:spcPct val="105000"/>
              </a:lnSpc>
              <a:tabLst>
                <a:tab algn="l" pos="0"/>
              </a:tabLst>
            </a:pPr>
            <a:r>
              <a:rPr b="0" lang="en-US" sz="800" strike="noStrike" u="none">
                <a:solidFill>
                  <a:srgbClr val="5a625c"/>
                </a:solidFill>
                <a:effectLst/>
                <a:uFillTx/>
                <a:latin typeface="Calibri"/>
                <a:ea typeface="Calibri"/>
              </a:rPr>
              <a:t>From reporting the footprint to actively reducing it; the sponsor becomes our internal advocate.</a:t>
            </a:r>
            <a:endParaRPr b="0" lang="en-US" sz="800" strike="noStrike" u="none">
              <a:solidFill>
                <a:srgbClr val="000000"/>
              </a:solidFill>
              <a:effectLst/>
              <a:uFillTx/>
              <a:latin typeface="Arial"/>
            </a:endParaRPr>
          </a:p>
        </p:txBody>
      </p:sp>
      <p:sp>
        <p:nvSpPr>
          <p:cNvPr id="1586" name="Text 30"/>
          <p:cNvSpPr/>
          <p:nvPr/>
        </p:nvSpPr>
        <p:spPr>
          <a:xfrm>
            <a:off x="3633120" y="4837320"/>
            <a:ext cx="2133000" cy="136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00" spc="79" strike="noStrike" u="none">
                <a:solidFill>
                  <a:srgbClr val="007a27"/>
                </a:solidFill>
                <a:effectLst/>
                <a:uFillTx/>
                <a:latin typeface="Calibri"/>
                <a:ea typeface="Calibri"/>
              </a:rPr>
              <a:t>EXPANSION TRIGGER</a:t>
            </a:r>
            <a:endParaRPr b="0" lang="en-US" sz="700" strike="noStrike" u="none">
              <a:solidFill>
                <a:srgbClr val="000000"/>
              </a:solidFill>
              <a:effectLst/>
              <a:uFillTx/>
              <a:latin typeface="Arial"/>
            </a:endParaRPr>
          </a:p>
        </p:txBody>
      </p:sp>
      <p:sp>
        <p:nvSpPr>
          <p:cNvPr id="1587" name="Text 31"/>
          <p:cNvSpPr/>
          <p:nvPr/>
        </p:nvSpPr>
        <p:spPr>
          <a:xfrm>
            <a:off x="3633120" y="4983480"/>
            <a:ext cx="2133000" cy="396000"/>
          </a:xfrm>
          <a:prstGeom prst="rect">
            <a:avLst/>
          </a:prstGeom>
          <a:noFill/>
          <a:ln w="0">
            <a:noFill/>
          </a:ln>
        </p:spPr>
        <p:style>
          <a:lnRef idx="0"/>
          <a:fillRef idx="0"/>
          <a:effectRef idx="0"/>
          <a:fontRef idx="minor"/>
        </p:style>
        <p:txBody>
          <a:bodyPr lIns="0" rIns="0" tIns="0" bIns="0" anchor="t">
            <a:normAutofit/>
          </a:bodyPr>
          <a:p>
            <a:pPr defTabSz="914400">
              <a:lnSpc>
                <a:spcPct val="105000"/>
              </a:lnSpc>
              <a:tabLst>
                <a:tab algn="l" pos="0"/>
              </a:tabLst>
            </a:pPr>
            <a:r>
              <a:rPr b="0" lang="en-US" sz="800" strike="noStrike" u="none">
                <a:solidFill>
                  <a:srgbClr val="5a625c"/>
                </a:solidFill>
                <a:effectLst/>
                <a:uFillTx/>
                <a:latin typeface="Calibri"/>
                <a:ea typeface="Calibri"/>
              </a:rPr>
              <a:t>First audit passed, first board disclosure delivered, first reduction target tracked.</a:t>
            </a:r>
            <a:endParaRPr b="0" lang="en-US" sz="800" strike="noStrike" u="none">
              <a:solidFill>
                <a:srgbClr val="000000"/>
              </a:solidFill>
              <a:effectLst/>
              <a:uFillTx/>
              <a:latin typeface="Arial"/>
            </a:endParaRPr>
          </a:p>
        </p:txBody>
      </p:sp>
      <p:sp>
        <p:nvSpPr>
          <p:cNvPr id="1588" name="Text 32"/>
          <p:cNvSpPr/>
          <p:nvPr/>
        </p:nvSpPr>
        <p:spPr>
          <a:xfrm>
            <a:off x="5967720" y="3741840"/>
            <a:ext cx="27396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rgbClr val="3dcd58"/>
                </a:solidFill>
                <a:effectLst/>
                <a:uFillTx/>
                <a:latin typeface="Calibri"/>
                <a:ea typeface="Calibri"/>
              </a:rPr>
              <a:t>→</a:t>
            </a:r>
            <a:endParaRPr b="0" lang="en-US" sz="1400" strike="noStrike" u="none">
              <a:solidFill>
                <a:srgbClr val="000000"/>
              </a:solidFill>
              <a:effectLst/>
              <a:uFillTx/>
              <a:latin typeface="Arial"/>
            </a:endParaRPr>
          </a:p>
        </p:txBody>
      </p:sp>
      <p:sp>
        <p:nvSpPr>
          <p:cNvPr id="1589" name="Shape 33"/>
          <p:cNvSpPr/>
          <p:nvPr/>
        </p:nvSpPr>
        <p:spPr>
          <a:xfrm>
            <a:off x="6205680" y="2084760"/>
            <a:ext cx="2572200" cy="3588120"/>
          </a:xfrm>
          <a:prstGeom prst="roundRect">
            <a:avLst>
              <a:gd name="adj" fmla="val 1422"/>
            </a:avLst>
          </a:prstGeom>
          <a:solidFill>
            <a:srgbClr val="ffffff"/>
          </a:solidFill>
          <a:ln w="1016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90" name="Shape 34"/>
          <p:cNvSpPr/>
          <p:nvPr/>
        </p:nvSpPr>
        <p:spPr>
          <a:xfrm>
            <a:off x="6205680" y="2084760"/>
            <a:ext cx="63720" cy="35881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91" name="Text 35"/>
          <p:cNvSpPr/>
          <p:nvPr/>
        </p:nvSpPr>
        <p:spPr>
          <a:xfrm>
            <a:off x="6424920" y="2231280"/>
            <a:ext cx="2133000" cy="23724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850" spc="119" strike="noStrike" u="none">
                <a:solidFill>
                  <a:srgbClr val="007a27"/>
                </a:solidFill>
                <a:effectLst/>
                <a:uFillTx/>
                <a:latin typeface="Calibri"/>
                <a:ea typeface="Calibri"/>
              </a:rPr>
              <a:t>STAGE 3 | EXPAND</a:t>
            </a:r>
            <a:endParaRPr b="0" lang="en-US" sz="850" strike="noStrike" u="none">
              <a:solidFill>
                <a:srgbClr val="000000"/>
              </a:solidFill>
              <a:effectLst/>
              <a:uFillTx/>
              <a:latin typeface="Arial"/>
            </a:endParaRPr>
          </a:p>
        </p:txBody>
      </p:sp>
      <p:sp>
        <p:nvSpPr>
          <p:cNvPr id="1592" name="Text 36"/>
          <p:cNvSpPr/>
          <p:nvPr/>
        </p:nvSpPr>
        <p:spPr>
          <a:xfrm>
            <a:off x="6424920" y="2487240"/>
            <a:ext cx="2133000" cy="4568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350" strike="noStrike" u="none">
                <a:solidFill>
                  <a:srgbClr val="1e2420"/>
                </a:solidFill>
                <a:effectLst/>
                <a:uFillTx/>
                <a:latin typeface="Calibri"/>
                <a:ea typeface="Calibri"/>
              </a:rPr>
              <a:t>Second and third product</a:t>
            </a:r>
            <a:endParaRPr b="0" lang="en-US" sz="1350" strike="noStrike" u="none">
              <a:solidFill>
                <a:srgbClr val="000000"/>
              </a:solidFill>
              <a:effectLst/>
              <a:uFillTx/>
              <a:latin typeface="Arial"/>
            </a:endParaRPr>
          </a:p>
        </p:txBody>
      </p:sp>
      <p:sp>
        <p:nvSpPr>
          <p:cNvPr id="1593" name="Text 37"/>
          <p:cNvSpPr/>
          <p:nvPr/>
        </p:nvSpPr>
        <p:spPr>
          <a:xfrm>
            <a:off x="6424920" y="3017520"/>
            <a:ext cx="2133000" cy="136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00" spc="79" strike="noStrike" u="none">
                <a:solidFill>
                  <a:srgbClr val="007a27"/>
                </a:solidFill>
                <a:effectLst/>
                <a:uFillTx/>
                <a:latin typeface="Calibri"/>
                <a:ea typeface="Calibri"/>
              </a:rPr>
              <a:t>BUYER MOMENT</a:t>
            </a:r>
            <a:endParaRPr b="0" lang="en-US" sz="700" strike="noStrike" u="none">
              <a:solidFill>
                <a:srgbClr val="000000"/>
              </a:solidFill>
              <a:effectLst/>
              <a:uFillTx/>
              <a:latin typeface="Arial"/>
            </a:endParaRPr>
          </a:p>
        </p:txBody>
      </p:sp>
      <p:sp>
        <p:nvSpPr>
          <p:cNvPr id="1594" name="Text 38"/>
          <p:cNvSpPr/>
          <p:nvPr/>
        </p:nvSpPr>
        <p:spPr>
          <a:xfrm>
            <a:off x="6424920" y="3163680"/>
            <a:ext cx="2133000" cy="396000"/>
          </a:xfrm>
          <a:prstGeom prst="rect">
            <a:avLst/>
          </a:prstGeom>
          <a:noFill/>
          <a:ln w="0">
            <a:noFill/>
          </a:ln>
        </p:spPr>
        <p:style>
          <a:lnRef idx="0"/>
          <a:fillRef idx="0"/>
          <a:effectRef idx="0"/>
          <a:fontRef idx="minor"/>
        </p:style>
        <p:txBody>
          <a:bodyPr lIns="0" rIns="0" tIns="0" bIns="0" anchor="t">
            <a:normAutofit/>
          </a:bodyPr>
          <a:p>
            <a:pPr defTabSz="914400">
              <a:lnSpc>
                <a:spcPct val="105000"/>
              </a:lnSpc>
              <a:tabLst>
                <a:tab algn="l" pos="0"/>
              </a:tabLst>
            </a:pPr>
            <a:r>
              <a:rPr b="0" lang="en-US" sz="800" strike="noStrike" u="none">
                <a:solidFill>
                  <a:srgbClr val="1e2420"/>
                </a:solidFill>
                <a:effectLst/>
                <a:uFillTx/>
                <a:latin typeface="Calibri"/>
                <a:ea typeface="Calibri"/>
              </a:rPr>
              <a:t>Procurement, supply chain and energy leaders join; the data spine means no new baseline project.</a:t>
            </a:r>
            <a:endParaRPr b="0" lang="en-US" sz="800" strike="noStrike" u="none">
              <a:solidFill>
                <a:srgbClr val="000000"/>
              </a:solidFill>
              <a:effectLst/>
              <a:uFillTx/>
              <a:latin typeface="Arial"/>
            </a:endParaRPr>
          </a:p>
        </p:txBody>
      </p:sp>
      <p:sp>
        <p:nvSpPr>
          <p:cNvPr id="1595" name="Text 39"/>
          <p:cNvSpPr/>
          <p:nvPr/>
        </p:nvSpPr>
        <p:spPr>
          <a:xfrm>
            <a:off x="6424920" y="3624120"/>
            <a:ext cx="2133000" cy="136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00" spc="79" strike="noStrike" u="none">
                <a:solidFill>
                  <a:srgbClr val="007a27"/>
                </a:solidFill>
                <a:effectLst/>
                <a:uFillTx/>
                <a:latin typeface="Calibri"/>
                <a:ea typeface="Calibri"/>
              </a:rPr>
              <a:t>PRODUCTS</a:t>
            </a:r>
            <a:endParaRPr b="0" lang="en-US" sz="700" strike="noStrike" u="none">
              <a:solidFill>
                <a:srgbClr val="000000"/>
              </a:solidFill>
              <a:effectLst/>
              <a:uFillTx/>
              <a:latin typeface="Arial"/>
            </a:endParaRPr>
          </a:p>
        </p:txBody>
      </p:sp>
      <p:sp>
        <p:nvSpPr>
          <p:cNvPr id="1596" name="Text 40"/>
          <p:cNvSpPr/>
          <p:nvPr/>
        </p:nvSpPr>
        <p:spPr>
          <a:xfrm>
            <a:off x="6424920" y="3770280"/>
            <a:ext cx="2133000" cy="515880"/>
          </a:xfrm>
          <a:prstGeom prst="rect">
            <a:avLst/>
          </a:prstGeom>
          <a:noFill/>
          <a:ln w="0">
            <a:noFill/>
          </a:ln>
        </p:spPr>
        <p:style>
          <a:lnRef idx="0"/>
          <a:fillRef idx="0"/>
          <a:effectRef idx="0"/>
          <a:fontRef idx="minor"/>
        </p:style>
        <p:txBody>
          <a:bodyPr lIns="0" rIns="0" tIns="0" bIns="0" anchor="t">
            <a:normAutofit/>
          </a:bodyPr>
          <a:p>
            <a:pPr defTabSz="914400">
              <a:lnSpc>
                <a:spcPct val="105000"/>
              </a:lnSpc>
              <a:tabLst>
                <a:tab algn="l" pos="0"/>
              </a:tabLst>
            </a:pPr>
            <a:r>
              <a:rPr b="0" lang="en-US" sz="800" strike="noStrike" u="none">
                <a:solidFill>
                  <a:srgbClr val="5a625c"/>
                </a:solidFill>
                <a:effectLst/>
                <a:uFillTx/>
                <a:latin typeface="Calibri"/>
                <a:ea typeface="Calibri"/>
              </a:rPr>
              <a:t>Supply Chain for supplier emissions abatement, Climate Risk for value at risk, Energy &amp; Efficiency for metered reality.</a:t>
            </a:r>
            <a:endParaRPr b="0" lang="en-US" sz="800" strike="noStrike" u="none">
              <a:solidFill>
                <a:srgbClr val="000000"/>
              </a:solidFill>
              <a:effectLst/>
              <a:uFillTx/>
              <a:latin typeface="Arial"/>
            </a:endParaRPr>
          </a:p>
        </p:txBody>
      </p:sp>
      <p:sp>
        <p:nvSpPr>
          <p:cNvPr id="1597" name="Text 41"/>
          <p:cNvSpPr/>
          <p:nvPr/>
        </p:nvSpPr>
        <p:spPr>
          <a:xfrm>
            <a:off x="6424920" y="4350600"/>
            <a:ext cx="2133000" cy="136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00" spc="79" strike="noStrike" u="none">
                <a:solidFill>
                  <a:srgbClr val="007a27"/>
                </a:solidFill>
                <a:effectLst/>
                <a:uFillTx/>
                <a:latin typeface="Calibri"/>
                <a:ea typeface="Calibri"/>
              </a:rPr>
              <a:t>VALUE</a:t>
            </a:r>
            <a:endParaRPr b="0" lang="en-US" sz="700" strike="noStrike" u="none">
              <a:solidFill>
                <a:srgbClr val="000000"/>
              </a:solidFill>
              <a:effectLst/>
              <a:uFillTx/>
              <a:latin typeface="Arial"/>
            </a:endParaRPr>
          </a:p>
        </p:txBody>
      </p:sp>
      <p:sp>
        <p:nvSpPr>
          <p:cNvPr id="1598" name="Text 42"/>
          <p:cNvSpPr/>
          <p:nvPr/>
        </p:nvSpPr>
        <p:spPr>
          <a:xfrm>
            <a:off x="6424920" y="4496760"/>
            <a:ext cx="2133000" cy="396000"/>
          </a:xfrm>
          <a:prstGeom prst="rect">
            <a:avLst/>
          </a:prstGeom>
          <a:noFill/>
          <a:ln w="0">
            <a:noFill/>
          </a:ln>
        </p:spPr>
        <p:style>
          <a:lnRef idx="0"/>
          <a:fillRef idx="0"/>
          <a:effectRef idx="0"/>
          <a:fontRef idx="minor"/>
        </p:style>
        <p:txBody>
          <a:bodyPr lIns="0" rIns="0" tIns="0" bIns="0" anchor="t">
            <a:normAutofit/>
          </a:bodyPr>
          <a:p>
            <a:pPr defTabSz="914400">
              <a:lnSpc>
                <a:spcPct val="105000"/>
              </a:lnSpc>
              <a:tabLst>
                <a:tab algn="l" pos="0"/>
              </a:tabLst>
            </a:pPr>
            <a:r>
              <a:rPr b="0" lang="en-US" sz="800" strike="noStrike" u="none">
                <a:solidFill>
                  <a:srgbClr val="5a625c"/>
                </a:solidFill>
                <a:effectLst/>
                <a:uFillTx/>
                <a:latin typeface="Calibri"/>
                <a:ea typeface="Calibri"/>
              </a:rPr>
              <a:t>Category 1 and 4 flow into the CP inventory; energy and carbon cobenefits appear on one platform.</a:t>
            </a:r>
            <a:endParaRPr b="0" lang="en-US" sz="800" strike="noStrike" u="none">
              <a:solidFill>
                <a:srgbClr val="000000"/>
              </a:solidFill>
              <a:effectLst/>
              <a:uFillTx/>
              <a:latin typeface="Arial"/>
            </a:endParaRPr>
          </a:p>
        </p:txBody>
      </p:sp>
      <p:sp>
        <p:nvSpPr>
          <p:cNvPr id="1599" name="Text 43"/>
          <p:cNvSpPr/>
          <p:nvPr/>
        </p:nvSpPr>
        <p:spPr>
          <a:xfrm>
            <a:off x="6424920" y="4957200"/>
            <a:ext cx="2133000" cy="136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00" spc="79" strike="noStrike" u="none">
                <a:solidFill>
                  <a:srgbClr val="007a27"/>
                </a:solidFill>
                <a:effectLst/>
                <a:uFillTx/>
                <a:latin typeface="Calibri"/>
                <a:ea typeface="Calibri"/>
              </a:rPr>
              <a:t>EXPANSION TRIGGER</a:t>
            </a:r>
            <a:endParaRPr b="0" lang="en-US" sz="700" strike="noStrike" u="none">
              <a:solidFill>
                <a:srgbClr val="000000"/>
              </a:solidFill>
              <a:effectLst/>
              <a:uFillTx/>
              <a:latin typeface="Arial"/>
            </a:endParaRPr>
          </a:p>
        </p:txBody>
      </p:sp>
      <p:sp>
        <p:nvSpPr>
          <p:cNvPr id="1600" name="Text 44"/>
          <p:cNvSpPr/>
          <p:nvPr/>
        </p:nvSpPr>
        <p:spPr>
          <a:xfrm>
            <a:off x="6424920" y="5103360"/>
            <a:ext cx="2133000" cy="396000"/>
          </a:xfrm>
          <a:prstGeom prst="rect">
            <a:avLst/>
          </a:prstGeom>
          <a:noFill/>
          <a:ln w="0">
            <a:noFill/>
          </a:ln>
        </p:spPr>
        <p:style>
          <a:lnRef idx="0"/>
          <a:fillRef idx="0"/>
          <a:effectRef idx="0"/>
          <a:fontRef idx="minor"/>
        </p:style>
        <p:txBody>
          <a:bodyPr lIns="0" rIns="0" tIns="0" bIns="0" anchor="t">
            <a:normAutofit/>
          </a:bodyPr>
          <a:p>
            <a:pPr defTabSz="914400">
              <a:lnSpc>
                <a:spcPct val="105000"/>
              </a:lnSpc>
              <a:tabLst>
                <a:tab algn="l" pos="0"/>
              </a:tabLst>
            </a:pPr>
            <a:r>
              <a:rPr b="0" lang="en-US" sz="800" strike="noStrike" u="none">
                <a:solidFill>
                  <a:srgbClr val="5a625c"/>
                </a:solidFill>
                <a:effectLst/>
                <a:uFillTx/>
                <a:latin typeface="Calibri"/>
                <a:ea typeface="Calibri"/>
              </a:rPr>
              <a:t>Cross-functional steering committee sees one hierarchy, one evidence chain, one login.</a:t>
            </a:r>
            <a:endParaRPr b="0" lang="en-US" sz="800" strike="noStrike" u="none">
              <a:solidFill>
                <a:srgbClr val="000000"/>
              </a:solidFill>
              <a:effectLst/>
              <a:uFillTx/>
              <a:latin typeface="Arial"/>
            </a:endParaRPr>
          </a:p>
        </p:txBody>
      </p:sp>
      <p:sp>
        <p:nvSpPr>
          <p:cNvPr id="1601" name="Text 45"/>
          <p:cNvSpPr/>
          <p:nvPr/>
        </p:nvSpPr>
        <p:spPr>
          <a:xfrm>
            <a:off x="8759880" y="3741840"/>
            <a:ext cx="27396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rgbClr val="3dcd58"/>
                </a:solidFill>
                <a:effectLst/>
                <a:uFillTx/>
                <a:latin typeface="Calibri"/>
                <a:ea typeface="Calibri"/>
              </a:rPr>
              <a:t>→</a:t>
            </a:r>
            <a:endParaRPr b="0" lang="en-US" sz="1400" strike="noStrike" u="none">
              <a:solidFill>
                <a:srgbClr val="000000"/>
              </a:solidFill>
              <a:effectLst/>
              <a:uFillTx/>
              <a:latin typeface="Arial"/>
            </a:endParaRPr>
          </a:p>
        </p:txBody>
      </p:sp>
      <p:sp>
        <p:nvSpPr>
          <p:cNvPr id="1602" name="Shape 46"/>
          <p:cNvSpPr/>
          <p:nvPr/>
        </p:nvSpPr>
        <p:spPr>
          <a:xfrm>
            <a:off x="8997480" y="2084760"/>
            <a:ext cx="2572200" cy="3588120"/>
          </a:xfrm>
          <a:prstGeom prst="roundRect">
            <a:avLst>
              <a:gd name="adj" fmla="val 1422"/>
            </a:avLst>
          </a:prstGeom>
          <a:solidFill>
            <a:srgbClr val="0c3b25"/>
          </a:solidFill>
          <a:ln w="10160">
            <a:solidFill>
              <a:srgbClr val="0c3b25"/>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603" name="Shape 47"/>
          <p:cNvSpPr/>
          <p:nvPr/>
        </p:nvSpPr>
        <p:spPr>
          <a:xfrm>
            <a:off x="8997480" y="2084760"/>
            <a:ext cx="63720" cy="3588120"/>
          </a:xfrm>
          <a:prstGeom prst="rect">
            <a:avLst/>
          </a:prstGeom>
          <a:solidFill>
            <a:srgbClr val="cdfc57"/>
          </a:solidFill>
          <a:ln w="12700">
            <a:solidFill>
              <a:srgbClr val="cdfc5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604" name="Text 48"/>
          <p:cNvSpPr/>
          <p:nvPr/>
        </p:nvSpPr>
        <p:spPr>
          <a:xfrm>
            <a:off x="9217080" y="2231280"/>
            <a:ext cx="2133000" cy="23724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850" spc="119" strike="noStrike" u="none">
                <a:solidFill>
                  <a:srgbClr val="cdfc57"/>
                </a:solidFill>
                <a:effectLst/>
                <a:uFillTx/>
                <a:latin typeface="Calibri"/>
                <a:ea typeface="Calibri"/>
              </a:rPr>
              <a:t>STAGE 4 | STANDARDIZE</a:t>
            </a:r>
            <a:endParaRPr b="0" lang="en-US" sz="850" strike="noStrike" u="none">
              <a:solidFill>
                <a:srgbClr val="000000"/>
              </a:solidFill>
              <a:effectLst/>
              <a:uFillTx/>
              <a:latin typeface="Arial"/>
            </a:endParaRPr>
          </a:p>
        </p:txBody>
      </p:sp>
      <p:sp>
        <p:nvSpPr>
          <p:cNvPr id="1605" name="Text 49"/>
          <p:cNvSpPr/>
          <p:nvPr/>
        </p:nvSpPr>
        <p:spPr>
          <a:xfrm>
            <a:off x="9217080" y="2487240"/>
            <a:ext cx="2133000" cy="4568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350" strike="noStrike" u="none">
                <a:solidFill>
                  <a:srgbClr val="ffffff"/>
                </a:solidFill>
                <a:effectLst/>
                <a:uFillTx/>
                <a:latin typeface="Calibri"/>
                <a:ea typeface="Calibri"/>
              </a:rPr>
              <a:t>Platform as the system of action</a:t>
            </a:r>
            <a:endParaRPr b="0" lang="en-US" sz="1350" strike="noStrike" u="none">
              <a:solidFill>
                <a:srgbClr val="000000"/>
              </a:solidFill>
              <a:effectLst/>
              <a:uFillTx/>
              <a:latin typeface="Arial"/>
            </a:endParaRPr>
          </a:p>
        </p:txBody>
      </p:sp>
      <p:sp>
        <p:nvSpPr>
          <p:cNvPr id="1606" name="Text 50"/>
          <p:cNvSpPr/>
          <p:nvPr/>
        </p:nvSpPr>
        <p:spPr>
          <a:xfrm>
            <a:off x="9217080" y="3017520"/>
            <a:ext cx="2133000" cy="136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00" spc="79" strike="noStrike" u="none">
                <a:solidFill>
                  <a:srgbClr val="cdfc57"/>
                </a:solidFill>
                <a:effectLst/>
                <a:uFillTx/>
                <a:latin typeface="Calibri"/>
                <a:ea typeface="Calibri"/>
              </a:rPr>
              <a:t>BUYER MOMENT</a:t>
            </a:r>
            <a:endParaRPr b="0" lang="en-US" sz="700" strike="noStrike" u="none">
              <a:solidFill>
                <a:srgbClr val="000000"/>
              </a:solidFill>
              <a:effectLst/>
              <a:uFillTx/>
              <a:latin typeface="Arial"/>
            </a:endParaRPr>
          </a:p>
        </p:txBody>
      </p:sp>
      <p:sp>
        <p:nvSpPr>
          <p:cNvPr id="1607" name="Text 51"/>
          <p:cNvSpPr/>
          <p:nvPr/>
        </p:nvSpPr>
        <p:spPr>
          <a:xfrm>
            <a:off x="9217080" y="3163680"/>
            <a:ext cx="2133000" cy="396000"/>
          </a:xfrm>
          <a:prstGeom prst="rect">
            <a:avLst/>
          </a:prstGeom>
          <a:noFill/>
          <a:ln w="0">
            <a:noFill/>
          </a:ln>
        </p:spPr>
        <p:style>
          <a:lnRef idx="0"/>
          <a:fillRef idx="0"/>
          <a:effectRef idx="0"/>
          <a:fontRef idx="minor"/>
        </p:style>
        <p:txBody>
          <a:bodyPr lIns="0" rIns="0" tIns="0" bIns="0" anchor="t">
            <a:normAutofit/>
          </a:bodyPr>
          <a:p>
            <a:pPr defTabSz="914400">
              <a:lnSpc>
                <a:spcPct val="105000"/>
              </a:lnSpc>
              <a:tabLst>
                <a:tab algn="l" pos="0"/>
              </a:tabLst>
            </a:pPr>
            <a:r>
              <a:rPr b="0" lang="en-US" sz="800" strike="noStrike" u="none">
                <a:solidFill>
                  <a:srgbClr val="dce9e1"/>
                </a:solidFill>
                <a:effectLst/>
                <a:uFillTx/>
                <a:latin typeface="Calibri"/>
                <a:ea typeface="Calibri"/>
              </a:rPr>
              <a:t>CFO and board sponsor: RA+ becomes the trusted source for disclosure, decisions and capital allocation.</a:t>
            </a:r>
            <a:endParaRPr b="0" lang="en-US" sz="800" strike="noStrike" u="none">
              <a:solidFill>
                <a:srgbClr val="000000"/>
              </a:solidFill>
              <a:effectLst/>
              <a:uFillTx/>
              <a:latin typeface="Arial"/>
            </a:endParaRPr>
          </a:p>
        </p:txBody>
      </p:sp>
      <p:sp>
        <p:nvSpPr>
          <p:cNvPr id="1608" name="Text 52"/>
          <p:cNvSpPr/>
          <p:nvPr/>
        </p:nvSpPr>
        <p:spPr>
          <a:xfrm>
            <a:off x="9217080" y="3624120"/>
            <a:ext cx="2133000" cy="136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00" spc="79" strike="noStrike" u="none">
                <a:solidFill>
                  <a:srgbClr val="cdfc57"/>
                </a:solidFill>
                <a:effectLst/>
                <a:uFillTx/>
                <a:latin typeface="Calibri"/>
                <a:ea typeface="Calibri"/>
              </a:rPr>
              <a:t>PRODUCTS</a:t>
            </a:r>
            <a:endParaRPr b="0" lang="en-US" sz="700" strike="noStrike" u="none">
              <a:solidFill>
                <a:srgbClr val="000000"/>
              </a:solidFill>
              <a:effectLst/>
              <a:uFillTx/>
              <a:latin typeface="Arial"/>
            </a:endParaRPr>
          </a:p>
        </p:txBody>
      </p:sp>
      <p:sp>
        <p:nvSpPr>
          <p:cNvPr id="1609" name="Text 53"/>
          <p:cNvSpPr/>
          <p:nvPr/>
        </p:nvSpPr>
        <p:spPr>
          <a:xfrm>
            <a:off x="9217080" y="3770280"/>
            <a:ext cx="2133000" cy="515880"/>
          </a:xfrm>
          <a:prstGeom prst="rect">
            <a:avLst/>
          </a:prstGeom>
          <a:noFill/>
          <a:ln w="0">
            <a:noFill/>
          </a:ln>
        </p:spPr>
        <p:style>
          <a:lnRef idx="0"/>
          <a:fillRef idx="0"/>
          <a:effectRef idx="0"/>
          <a:fontRef idx="minor"/>
        </p:style>
        <p:txBody>
          <a:bodyPr lIns="0" rIns="0" tIns="0" bIns="0" anchor="t">
            <a:normAutofit/>
          </a:bodyPr>
          <a:p>
            <a:pPr defTabSz="914400">
              <a:lnSpc>
                <a:spcPct val="105000"/>
              </a:lnSpc>
              <a:tabLst>
                <a:tab algn="l" pos="0"/>
              </a:tabLst>
            </a:pPr>
            <a:r>
              <a:rPr b="0" lang="en-US" sz="800" strike="noStrike" u="none">
                <a:solidFill>
                  <a:srgbClr val="bfd9c9"/>
                </a:solidFill>
                <a:effectLst/>
                <a:uFillTx/>
                <a:latin typeface="Calibri"/>
                <a:ea typeface="Calibri"/>
              </a:rPr>
              <a:t>Full portfolio on the Portfolio tier: platform fee plus unlimited products, cross-domain intelligence and APIs.</a:t>
            </a:r>
            <a:endParaRPr b="0" lang="en-US" sz="800" strike="noStrike" u="none">
              <a:solidFill>
                <a:srgbClr val="000000"/>
              </a:solidFill>
              <a:effectLst/>
              <a:uFillTx/>
              <a:latin typeface="Arial"/>
            </a:endParaRPr>
          </a:p>
        </p:txBody>
      </p:sp>
      <p:sp>
        <p:nvSpPr>
          <p:cNvPr id="1610" name="Text 54"/>
          <p:cNvSpPr/>
          <p:nvPr/>
        </p:nvSpPr>
        <p:spPr>
          <a:xfrm>
            <a:off x="9217080" y="4350600"/>
            <a:ext cx="2133000" cy="136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00" spc="79" strike="noStrike" u="none">
                <a:solidFill>
                  <a:srgbClr val="cdfc57"/>
                </a:solidFill>
                <a:effectLst/>
                <a:uFillTx/>
                <a:latin typeface="Calibri"/>
                <a:ea typeface="Calibri"/>
              </a:rPr>
              <a:t>VALUE</a:t>
            </a:r>
            <a:endParaRPr b="0" lang="en-US" sz="700" strike="noStrike" u="none">
              <a:solidFill>
                <a:srgbClr val="000000"/>
              </a:solidFill>
              <a:effectLst/>
              <a:uFillTx/>
              <a:latin typeface="Arial"/>
            </a:endParaRPr>
          </a:p>
        </p:txBody>
      </p:sp>
      <p:sp>
        <p:nvSpPr>
          <p:cNvPr id="1611" name="Text 55"/>
          <p:cNvSpPr/>
          <p:nvPr/>
        </p:nvSpPr>
        <p:spPr>
          <a:xfrm>
            <a:off x="9217080" y="4496760"/>
            <a:ext cx="2133000" cy="396000"/>
          </a:xfrm>
          <a:prstGeom prst="rect">
            <a:avLst/>
          </a:prstGeom>
          <a:noFill/>
          <a:ln w="0">
            <a:noFill/>
          </a:ln>
        </p:spPr>
        <p:style>
          <a:lnRef idx="0"/>
          <a:fillRef idx="0"/>
          <a:effectRef idx="0"/>
          <a:fontRef idx="minor"/>
        </p:style>
        <p:txBody>
          <a:bodyPr lIns="0" rIns="0" tIns="0" bIns="0" anchor="t">
            <a:normAutofit/>
          </a:bodyPr>
          <a:p>
            <a:pPr defTabSz="914400">
              <a:lnSpc>
                <a:spcPct val="105000"/>
              </a:lnSpc>
              <a:tabLst>
                <a:tab algn="l" pos="0"/>
              </a:tabLst>
            </a:pPr>
            <a:r>
              <a:rPr b="0" lang="en-US" sz="800" strike="noStrike" u="none">
                <a:solidFill>
                  <a:srgbClr val="bfd9c9"/>
                </a:solidFill>
                <a:effectLst/>
                <a:uFillTx/>
                <a:latin typeface="Calibri"/>
                <a:ea typeface="Calibri"/>
              </a:rPr>
              <a:t>One platform replaces fragmented point tools; lower total cost of ownership and priced climate risk.</a:t>
            </a:r>
            <a:endParaRPr b="0" lang="en-US" sz="800" strike="noStrike" u="none">
              <a:solidFill>
                <a:srgbClr val="000000"/>
              </a:solidFill>
              <a:effectLst/>
              <a:uFillTx/>
              <a:latin typeface="Arial"/>
            </a:endParaRPr>
          </a:p>
        </p:txBody>
      </p:sp>
      <p:sp>
        <p:nvSpPr>
          <p:cNvPr id="1612" name="Text 56"/>
          <p:cNvSpPr/>
          <p:nvPr/>
        </p:nvSpPr>
        <p:spPr>
          <a:xfrm>
            <a:off x="9217080" y="4957200"/>
            <a:ext cx="2133000" cy="136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00" spc="79" strike="noStrike" u="none">
                <a:solidFill>
                  <a:srgbClr val="cdfc57"/>
                </a:solidFill>
                <a:effectLst/>
                <a:uFillTx/>
                <a:latin typeface="Calibri"/>
                <a:ea typeface="Calibri"/>
              </a:rPr>
              <a:t>EXPANSION TRIGGER</a:t>
            </a:r>
            <a:endParaRPr b="0" lang="en-US" sz="700" strike="noStrike" u="none">
              <a:solidFill>
                <a:srgbClr val="000000"/>
              </a:solidFill>
              <a:effectLst/>
              <a:uFillTx/>
              <a:latin typeface="Arial"/>
            </a:endParaRPr>
          </a:p>
        </p:txBody>
      </p:sp>
      <p:sp>
        <p:nvSpPr>
          <p:cNvPr id="1613" name="Text 57"/>
          <p:cNvSpPr/>
          <p:nvPr/>
        </p:nvSpPr>
        <p:spPr>
          <a:xfrm>
            <a:off x="9217080" y="5103360"/>
            <a:ext cx="2133000" cy="396000"/>
          </a:xfrm>
          <a:prstGeom prst="rect">
            <a:avLst/>
          </a:prstGeom>
          <a:noFill/>
          <a:ln w="0">
            <a:noFill/>
          </a:ln>
        </p:spPr>
        <p:style>
          <a:lnRef idx="0"/>
          <a:fillRef idx="0"/>
          <a:effectRef idx="0"/>
          <a:fontRef idx="minor"/>
        </p:style>
        <p:txBody>
          <a:bodyPr lIns="0" rIns="0" tIns="0" bIns="0" anchor="t">
            <a:normAutofit/>
          </a:bodyPr>
          <a:p>
            <a:pPr defTabSz="914400">
              <a:lnSpc>
                <a:spcPct val="105000"/>
              </a:lnSpc>
              <a:tabLst>
                <a:tab algn="l" pos="0"/>
              </a:tabLst>
            </a:pPr>
            <a:r>
              <a:rPr b="0" lang="en-US" sz="800" strike="noStrike" u="none">
                <a:solidFill>
                  <a:srgbClr val="bfd9c9"/>
                </a:solidFill>
                <a:effectLst/>
                <a:uFillTx/>
                <a:latin typeface="Calibri"/>
                <a:ea typeface="Calibri"/>
              </a:rPr>
              <a:t>Multi-year enterprise agreement; RA+ named the corporate energy &amp; sustainability system of action.</a:t>
            </a:r>
            <a:endParaRPr b="0" lang="en-US" sz="800" strike="noStrike" u="none">
              <a:solidFill>
                <a:srgbClr val="000000"/>
              </a:solidFill>
              <a:effectLst/>
              <a:uFillTx/>
              <a:latin typeface="Arial"/>
            </a:endParaRPr>
          </a:p>
        </p:txBody>
      </p:sp>
      <p:sp>
        <p:nvSpPr>
          <p:cNvPr id="1614" name="Shape 58"/>
          <p:cNvSpPr/>
          <p:nvPr/>
        </p:nvSpPr>
        <p:spPr>
          <a:xfrm>
            <a:off x="621720" y="5819760"/>
            <a:ext cx="10947600" cy="328680"/>
          </a:xfrm>
          <a:prstGeom prst="rect">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615" name="Shape 59"/>
          <p:cNvSpPr/>
          <p:nvPr/>
        </p:nvSpPr>
        <p:spPr>
          <a:xfrm>
            <a:off x="621720" y="5819760"/>
            <a:ext cx="63720" cy="32868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616" name="Text 60"/>
          <p:cNvSpPr/>
          <p:nvPr/>
        </p:nvSpPr>
        <p:spPr>
          <a:xfrm>
            <a:off x="804600" y="5819760"/>
            <a:ext cx="10581840" cy="328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000" strike="noStrike" u="none">
                <a:solidFill>
                  <a:srgbClr val="1e2420"/>
                </a:solidFill>
                <a:effectLst/>
                <a:uFillTx/>
                <a:latin typeface="Calibri"/>
                <a:ea typeface="Calibri"/>
              </a:rPr>
              <a:t>Every stage deepens the moat: the data spine makes each next product cheaper to adopt and harder to rip out. Value per product, energy savings, cost savings and risk reduction, sits on the value proposition page at /value-proposition.</a:t>
            </a:r>
            <a:endParaRPr b="0" lang="en-US" sz="1000" strike="noStrike" u="none">
              <a:solidFill>
                <a:srgbClr val="000000"/>
              </a:solidFill>
              <a:effectLst/>
              <a:uFillTx/>
              <a:latin typeface="Arial"/>
            </a:endParaRPr>
          </a:p>
        </p:txBody>
      </p:sp>
      <p:sp>
        <p:nvSpPr>
          <p:cNvPr id="1617" name="Shape 61"/>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618" name="Text 62"/>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1619" name="Text 63"/>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1620" name="PlaceHolder 1"/>
          <p:cNvSpPr>
            <a:spLocks noGrp="1"/>
          </p:cNvSpPr>
          <p:nvPr>
            <p:ph type="sldNum" idx="39"/>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618D577D-143D-43C6-9F6E-18EAC45777E3}"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5730"/>
        </a:solidFill>
      </p:bgPr>
    </p:bg>
    <p:spTree>
      <p:nvGrpSpPr>
        <p:cNvPr id="1" name=""/>
        <p:cNvGrpSpPr/>
        <p:nvPr/>
      </p:nvGrpSpPr>
      <p:grpSpPr>
        <a:xfrm>
          <a:off x="0" y="0"/>
          <a:ext cx="0" cy="0"/>
          <a:chOff x="0" y="0"/>
          <a:chExt cx="0" cy="0"/>
        </a:xfrm>
      </p:grpSpPr>
      <p:sp>
        <p:nvSpPr>
          <p:cNvPr id="1621"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1622"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1623" name="Shape 2"/>
          <p:cNvSpPr/>
          <p:nvPr/>
        </p:nvSpPr>
        <p:spPr>
          <a:xfrm>
            <a:off x="8641080" y="822960"/>
            <a:ext cx="360" cy="5212080"/>
          </a:xfrm>
          <a:prstGeom prst="line">
            <a:avLst/>
          </a:prstGeom>
          <a:ln w="12700">
            <a:solidFill>
              <a:srgbClr val="2c8058"/>
            </a:solidFill>
            <a:round/>
          </a:ln>
        </p:spPr>
        <p:style>
          <a:lnRef idx="0"/>
          <a:fillRef idx="0"/>
          <a:effectRef idx="0"/>
          <a:fontRef idx="minor"/>
        </p:style>
        <p:txBody>
          <a:bodyPr lIns="90000" rIns="90000" tIns="45000" bIns="45000" anchor="t" anchorCtr="1">
            <a:noAutofit/>
          </a:bodyPr>
          <a:p>
            <a:endParaRPr b="0" lang="en-US" sz="1800" strike="noStrike" u="none">
              <a:solidFill>
                <a:srgbClr val="ffffff"/>
              </a:solidFill>
              <a:effectLst/>
              <a:uFillTx/>
              <a:latin typeface="Arial"/>
            </a:endParaRPr>
          </a:p>
        </p:txBody>
      </p:sp>
      <p:sp>
        <p:nvSpPr>
          <p:cNvPr id="1624" name="Text 3"/>
          <p:cNvSpPr/>
          <p:nvPr/>
        </p:nvSpPr>
        <p:spPr>
          <a:xfrm>
            <a:off x="9144000" y="841320"/>
            <a:ext cx="2194200" cy="22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81" strike="noStrike" u="none">
                <a:solidFill>
                  <a:srgbClr val="bfe6ce"/>
                </a:solidFill>
                <a:effectLst/>
                <a:uFillTx/>
                <a:latin typeface="Calibri"/>
                <a:ea typeface="Calibri"/>
              </a:rPr>
              <a:t>RA+ ROADMAP</a:t>
            </a:r>
            <a:endParaRPr b="0" lang="en-US" sz="900" strike="noStrike" u="none">
              <a:solidFill>
                <a:srgbClr val="ffffff"/>
              </a:solidFill>
              <a:effectLst/>
              <a:uFillTx/>
              <a:latin typeface="Arial"/>
            </a:endParaRPr>
          </a:p>
        </p:txBody>
      </p:sp>
      <p:sp>
        <p:nvSpPr>
          <p:cNvPr id="1625" name="Text 4"/>
          <p:cNvSpPr/>
          <p:nvPr/>
        </p:nvSpPr>
        <p:spPr>
          <a:xfrm>
            <a:off x="9144000" y="1325880"/>
            <a:ext cx="2194200" cy="1462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3600" strike="noStrike" u="none">
                <a:solidFill>
                  <a:srgbClr val="ffffff"/>
                </a:solidFill>
                <a:effectLst/>
                <a:uFillTx/>
                <a:latin typeface="Calibri"/>
                <a:ea typeface="Calibri"/>
              </a:rPr>
              <a:t>2026</a:t>
            </a:r>
            <a:endParaRPr b="0" lang="en-US" sz="3600" strike="noStrike" u="none">
              <a:solidFill>
                <a:srgbClr val="ffffff"/>
              </a:solidFill>
              <a:effectLst/>
              <a:uFillTx/>
              <a:latin typeface="Arial"/>
            </a:endParaRPr>
          </a:p>
          <a:p>
            <a:pPr defTabSz="914400">
              <a:lnSpc>
                <a:spcPct val="100000"/>
              </a:lnSpc>
              <a:tabLst>
                <a:tab algn="l" pos="0"/>
              </a:tabLst>
            </a:pPr>
            <a:r>
              <a:rPr b="1" lang="en-US" sz="3600" strike="noStrike" u="none">
                <a:solidFill>
                  <a:srgbClr val="ffffff"/>
                </a:solidFill>
                <a:effectLst/>
                <a:uFillTx/>
                <a:latin typeface="Calibri"/>
                <a:ea typeface="Calibri"/>
              </a:rPr>
              <a:t>2027</a:t>
            </a:r>
            <a:endParaRPr b="0" lang="en-US" sz="3600" strike="noStrike" u="none">
              <a:solidFill>
                <a:srgbClr val="ffffff"/>
              </a:solidFill>
              <a:effectLst/>
              <a:uFillTx/>
              <a:latin typeface="Arial"/>
            </a:endParaRPr>
          </a:p>
        </p:txBody>
      </p:sp>
      <p:sp>
        <p:nvSpPr>
          <p:cNvPr id="1626" name="Text 5"/>
          <p:cNvSpPr/>
          <p:nvPr/>
        </p:nvSpPr>
        <p:spPr>
          <a:xfrm>
            <a:off x="621720" y="960120"/>
            <a:ext cx="71319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221" strike="noStrike" u="none">
                <a:solidFill>
                  <a:srgbClr val="bfe6ce"/>
                </a:solidFill>
                <a:effectLst/>
                <a:uFillTx/>
                <a:latin typeface="Calibri"/>
                <a:ea typeface="Calibri"/>
              </a:rPr>
              <a:t>AGENDA ITEM 3</a:t>
            </a:r>
            <a:endParaRPr b="0" lang="en-US" sz="1100" strike="noStrike" u="none">
              <a:solidFill>
                <a:srgbClr val="ffffff"/>
              </a:solidFill>
              <a:effectLst/>
              <a:uFillTx/>
              <a:latin typeface="Arial"/>
            </a:endParaRPr>
          </a:p>
        </p:txBody>
      </p:sp>
      <p:sp>
        <p:nvSpPr>
          <p:cNvPr id="1627" name="Text 6"/>
          <p:cNvSpPr/>
          <p:nvPr/>
        </p:nvSpPr>
        <p:spPr>
          <a:xfrm>
            <a:off x="621720" y="1508760"/>
            <a:ext cx="191988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5800" strike="noStrike" u="none">
                <a:solidFill>
                  <a:srgbClr val="3dcd58"/>
                </a:solidFill>
                <a:effectLst/>
                <a:uFillTx/>
                <a:latin typeface="Calibri"/>
                <a:ea typeface="Calibri"/>
              </a:rPr>
              <a:t>03</a:t>
            </a:r>
            <a:endParaRPr b="0" lang="en-US" sz="5800" strike="noStrike" u="none">
              <a:solidFill>
                <a:srgbClr val="ffffff"/>
              </a:solidFill>
              <a:effectLst/>
              <a:uFillTx/>
              <a:latin typeface="Arial"/>
            </a:endParaRPr>
          </a:p>
        </p:txBody>
      </p:sp>
      <p:sp>
        <p:nvSpPr>
          <p:cNvPr id="1628" name="Text 7"/>
          <p:cNvSpPr/>
          <p:nvPr/>
        </p:nvSpPr>
        <p:spPr>
          <a:xfrm>
            <a:off x="621720" y="2606040"/>
            <a:ext cx="7406280" cy="11426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ffffff"/>
                </a:solidFill>
                <a:effectLst/>
                <a:uFillTx/>
                <a:latin typeface="Calibri"/>
                <a:ea typeface="Calibri"/>
              </a:rPr>
              <a:t>The value case and the investment</a:t>
            </a:r>
            <a:endParaRPr b="0" lang="en-US" sz="3200" strike="noStrike" u="none">
              <a:solidFill>
                <a:srgbClr val="ffffff"/>
              </a:solidFill>
              <a:effectLst/>
              <a:uFillTx/>
              <a:latin typeface="Arial"/>
            </a:endParaRPr>
          </a:p>
        </p:txBody>
      </p:sp>
      <p:sp>
        <p:nvSpPr>
          <p:cNvPr id="1629" name="Text 8"/>
          <p:cNvSpPr/>
          <p:nvPr/>
        </p:nvSpPr>
        <p:spPr>
          <a:xfrm>
            <a:off x="621720" y="4005000"/>
            <a:ext cx="704052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400" strike="noStrike" u="none">
                <a:solidFill>
                  <a:srgbClr val="d6eadf"/>
                </a:solidFill>
                <a:effectLst/>
                <a:uFillTx/>
                <a:latin typeface="Calibri"/>
                <a:ea typeface="Calibri"/>
              </a:rPr>
              <a:t>What the platform returns, what it costs, and how the board keeps control of it.</a:t>
            </a:r>
            <a:endParaRPr b="0" lang="en-US" sz="14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30"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1631"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1632" name="Shape 2"/>
          <p:cNvSpPr/>
          <p:nvPr/>
        </p:nvSpPr>
        <p:spPr>
          <a:xfrm>
            <a:off x="621720" y="311040"/>
            <a:ext cx="155412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633" name="Text 3"/>
          <p:cNvSpPr/>
          <p:nvPr/>
        </p:nvSpPr>
        <p:spPr>
          <a:xfrm>
            <a:off x="804600" y="329040"/>
            <a:ext cx="122508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VALUE CASE</a:t>
            </a:r>
            <a:endParaRPr b="0" lang="en-US" sz="950" strike="noStrike" u="none">
              <a:solidFill>
                <a:srgbClr val="000000"/>
              </a:solidFill>
              <a:effectLst/>
              <a:uFillTx/>
              <a:latin typeface="Arial"/>
            </a:endParaRPr>
          </a:p>
        </p:txBody>
      </p:sp>
      <p:sp>
        <p:nvSpPr>
          <p:cNvPr id="1634"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What the value case assumes, and what breaks it</a:t>
            </a:r>
            <a:endParaRPr b="0" lang="en-US" sz="3200" strike="noStrike" u="none">
              <a:solidFill>
                <a:srgbClr val="000000"/>
              </a:solidFill>
              <a:effectLst/>
              <a:uFillTx/>
              <a:latin typeface="Arial"/>
            </a:endParaRPr>
          </a:p>
        </p:txBody>
      </p:sp>
      <p:sp>
        <p:nvSpPr>
          <p:cNvPr id="1635"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Every euro in this deck is a placeholder until Finance validates it. These are the assumptions behind those numbers.</a:t>
            </a:r>
            <a:endParaRPr b="0" lang="en-US" sz="1250" strike="noStrike" u="none">
              <a:solidFill>
                <a:srgbClr val="000000"/>
              </a:solidFill>
              <a:effectLst/>
              <a:uFillTx/>
              <a:latin typeface="Arial"/>
            </a:endParaRPr>
          </a:p>
        </p:txBody>
      </p:sp>
      <p:sp>
        <p:nvSpPr>
          <p:cNvPr id="1636"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637" name="Shape 7"/>
          <p:cNvSpPr/>
          <p:nvPr/>
        </p:nvSpPr>
        <p:spPr>
          <a:xfrm>
            <a:off x="621720" y="2084760"/>
            <a:ext cx="3466080" cy="3419640"/>
          </a:xfrm>
          <a:prstGeom prst="roundRect">
            <a:avLst>
              <a:gd name="adj" fmla="val 1604"/>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638" name="Shape 8"/>
          <p:cNvSpPr/>
          <p:nvPr/>
        </p:nvSpPr>
        <p:spPr>
          <a:xfrm>
            <a:off x="621720" y="2084760"/>
            <a:ext cx="346608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1639" name="Text 9"/>
          <p:cNvSpPr/>
          <p:nvPr/>
        </p:nvSpPr>
        <p:spPr>
          <a:xfrm>
            <a:off x="82296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ASSUMPTIONS</a:t>
            </a:r>
            <a:endParaRPr b="0" lang="en-US" sz="900" strike="noStrike" u="none">
              <a:solidFill>
                <a:srgbClr val="000000"/>
              </a:solidFill>
              <a:effectLst/>
              <a:uFillTx/>
              <a:latin typeface="Arial"/>
            </a:endParaRPr>
          </a:p>
        </p:txBody>
      </p:sp>
      <p:sp>
        <p:nvSpPr>
          <p:cNvPr id="1640" name="Text 10"/>
          <p:cNvSpPr/>
          <p:nvPr/>
        </p:nvSpPr>
        <p:spPr>
          <a:xfrm>
            <a:off x="82296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What we assume</a:t>
            </a:r>
            <a:endParaRPr b="0" lang="en-US" sz="1600" strike="noStrike" u="none">
              <a:solidFill>
                <a:srgbClr val="000000"/>
              </a:solidFill>
              <a:effectLst/>
              <a:uFillTx/>
              <a:latin typeface="Arial"/>
            </a:endParaRPr>
          </a:p>
        </p:txBody>
      </p:sp>
      <p:sp>
        <p:nvSpPr>
          <p:cNvPr id="1641" name="Text 11"/>
          <p:cNvSpPr/>
          <p:nvPr/>
        </p:nvSpPr>
        <p:spPr>
          <a:xfrm>
            <a:off x="80460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The base case rests on four assumptions the board should test.</a:t>
            </a:r>
            <a:endParaRPr b="0" lang="en-US" sz="1100" strike="noStrike" u="none">
              <a:solidFill>
                <a:srgbClr val="000000"/>
              </a:solidFill>
              <a:effectLst/>
              <a:uFillTx/>
              <a:latin typeface="Arial"/>
            </a:endParaRPr>
          </a:p>
        </p:txBody>
      </p:sp>
      <p:sp>
        <p:nvSpPr>
          <p:cNvPr id="1642" name="Text 12"/>
          <p:cNvSpPr/>
          <p:nvPr/>
        </p:nvSpPr>
        <p:spPr>
          <a:xfrm>
            <a:off x="822960" y="3776400"/>
            <a:ext cx="3100320" cy="1508400"/>
          </a:xfrm>
          <a:prstGeom prst="rect">
            <a:avLst/>
          </a:prstGeom>
          <a:noFill/>
          <a:ln w="0">
            <a:noFill/>
          </a:ln>
        </p:spPr>
        <p:style>
          <a:lnRef idx="0"/>
          <a:fillRef idx="0"/>
          <a:effectRef idx="0"/>
          <a:fontRef idx="minor"/>
        </p:style>
        <p:txBody>
          <a:bodyPr lIns="0" rIns="0" tIns="0" bIns="0" anchor="t">
            <a:normAutofit fontScale="92500" lnSpcReduction="9999"/>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Core platform capacity is protected at roughly one third of build</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Committed 2026 dates hold, 2027 remains H1 and H2 bands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Cross product adoption follows the shared data spine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Assurance demand keeps rising through the 2027 cycles</a:t>
            </a:r>
            <a:endParaRPr b="0" lang="en-US" sz="1100" strike="noStrike" u="none">
              <a:solidFill>
                <a:srgbClr val="000000"/>
              </a:solidFill>
              <a:effectLst/>
              <a:uFillTx/>
              <a:latin typeface="Arial"/>
            </a:endParaRPr>
          </a:p>
        </p:txBody>
      </p:sp>
      <p:sp>
        <p:nvSpPr>
          <p:cNvPr id="1643" name="Shape 13"/>
          <p:cNvSpPr/>
          <p:nvPr/>
        </p:nvSpPr>
        <p:spPr>
          <a:xfrm>
            <a:off x="4362480" y="2084760"/>
            <a:ext cx="3466080" cy="3419640"/>
          </a:xfrm>
          <a:prstGeom prst="roundRect">
            <a:avLst>
              <a:gd name="adj" fmla="val 1604"/>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644" name="Shape 14"/>
          <p:cNvSpPr/>
          <p:nvPr/>
        </p:nvSpPr>
        <p:spPr>
          <a:xfrm>
            <a:off x="4362480" y="2084760"/>
            <a:ext cx="346608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1645" name="Text 15"/>
          <p:cNvSpPr/>
          <p:nvPr/>
        </p:nvSpPr>
        <p:spPr>
          <a:xfrm>
            <a:off x="456372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SENSITIVITY</a:t>
            </a:r>
            <a:endParaRPr b="0" lang="en-US" sz="900" strike="noStrike" u="none">
              <a:solidFill>
                <a:srgbClr val="000000"/>
              </a:solidFill>
              <a:effectLst/>
              <a:uFillTx/>
              <a:latin typeface="Arial"/>
            </a:endParaRPr>
          </a:p>
        </p:txBody>
      </p:sp>
      <p:sp>
        <p:nvSpPr>
          <p:cNvPr id="1646" name="Text 16"/>
          <p:cNvSpPr/>
          <p:nvPr/>
        </p:nvSpPr>
        <p:spPr>
          <a:xfrm>
            <a:off x="456372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What moves the outcome</a:t>
            </a:r>
            <a:endParaRPr b="0" lang="en-US" sz="1600" strike="noStrike" u="none">
              <a:solidFill>
                <a:srgbClr val="000000"/>
              </a:solidFill>
              <a:effectLst/>
              <a:uFillTx/>
              <a:latin typeface="Arial"/>
            </a:endParaRPr>
          </a:p>
        </p:txBody>
      </p:sp>
      <p:sp>
        <p:nvSpPr>
          <p:cNvPr id="1647" name="Text 17"/>
          <p:cNvSpPr/>
          <p:nvPr/>
        </p:nvSpPr>
        <p:spPr>
          <a:xfrm>
            <a:off x="454536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Directional sensitivity, to be quantified with Finance.</a:t>
            </a:r>
            <a:endParaRPr b="0" lang="en-US" sz="1100" strike="noStrike" u="none">
              <a:solidFill>
                <a:srgbClr val="000000"/>
              </a:solidFill>
              <a:effectLst/>
              <a:uFillTx/>
              <a:latin typeface="Arial"/>
            </a:endParaRPr>
          </a:p>
        </p:txBody>
      </p:sp>
      <p:sp>
        <p:nvSpPr>
          <p:cNvPr id="1648" name="Text 18"/>
          <p:cNvSpPr/>
          <p:nvPr/>
        </p:nvSpPr>
        <p:spPr>
          <a:xfrm>
            <a:off x="4563720" y="3776400"/>
            <a:ext cx="3100320" cy="1508400"/>
          </a:xfrm>
          <a:prstGeom prst="rect">
            <a:avLst/>
          </a:prstGeom>
          <a:noFill/>
          <a:ln w="0">
            <a:noFill/>
          </a:ln>
        </p:spPr>
        <p:style>
          <a:lnRef idx="0"/>
          <a:fillRef idx="0"/>
          <a:effectRef idx="0"/>
          <a:fontRef idx="minor"/>
        </p:style>
        <p:txBody>
          <a:bodyPr lIns="0" rIns="0" tIns="0" bIns="0" anchor="t">
            <a:normAutofit fontScale="92500" lnSpcReduction="9999"/>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Slower cross product attach: value pool lands later, not smaller</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Core capacity diverted to product asks: every stream slows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Migration slips: disclosure cycle value shifts a full year</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Pricing pressure: ARR protected falls before cost removed does</a:t>
            </a:r>
            <a:endParaRPr b="0" lang="en-US" sz="1100" strike="noStrike" u="none">
              <a:solidFill>
                <a:srgbClr val="000000"/>
              </a:solidFill>
              <a:effectLst/>
              <a:uFillTx/>
              <a:latin typeface="Arial"/>
            </a:endParaRPr>
          </a:p>
        </p:txBody>
      </p:sp>
      <p:sp>
        <p:nvSpPr>
          <p:cNvPr id="1649" name="Shape 19"/>
          <p:cNvSpPr/>
          <p:nvPr/>
        </p:nvSpPr>
        <p:spPr>
          <a:xfrm>
            <a:off x="8103240" y="2084760"/>
            <a:ext cx="3466080" cy="3419640"/>
          </a:xfrm>
          <a:prstGeom prst="roundRect">
            <a:avLst>
              <a:gd name="adj" fmla="val 1604"/>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650" name="Shape 20"/>
          <p:cNvSpPr/>
          <p:nvPr/>
        </p:nvSpPr>
        <p:spPr>
          <a:xfrm>
            <a:off x="8103240" y="2084760"/>
            <a:ext cx="346608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1651" name="Text 21"/>
          <p:cNvSpPr/>
          <p:nvPr/>
        </p:nvSpPr>
        <p:spPr>
          <a:xfrm>
            <a:off x="830448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VALIDATION</a:t>
            </a:r>
            <a:endParaRPr b="0" lang="en-US" sz="900" strike="noStrike" u="none">
              <a:solidFill>
                <a:srgbClr val="000000"/>
              </a:solidFill>
              <a:effectLst/>
              <a:uFillTx/>
              <a:latin typeface="Arial"/>
            </a:endParaRPr>
          </a:p>
        </p:txBody>
      </p:sp>
      <p:sp>
        <p:nvSpPr>
          <p:cNvPr id="1652" name="Text 22"/>
          <p:cNvSpPr/>
          <p:nvPr/>
        </p:nvSpPr>
        <p:spPr>
          <a:xfrm>
            <a:off x="830448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What Finance must confirm</a:t>
            </a:r>
            <a:endParaRPr b="0" lang="en-US" sz="1600" strike="noStrike" u="none">
              <a:solidFill>
                <a:srgbClr val="000000"/>
              </a:solidFill>
              <a:effectLst/>
              <a:uFillTx/>
              <a:latin typeface="Arial"/>
            </a:endParaRPr>
          </a:p>
        </p:txBody>
      </p:sp>
      <p:sp>
        <p:nvSpPr>
          <p:cNvPr id="1653" name="Text 23"/>
          <p:cNvSpPr/>
          <p:nvPr/>
        </p:nvSpPr>
        <p:spPr>
          <a:xfrm>
            <a:off x="828612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Named placeholders in this deck, in one list.</a:t>
            </a:r>
            <a:endParaRPr b="0" lang="en-US" sz="1100" strike="noStrike" u="none">
              <a:solidFill>
                <a:srgbClr val="000000"/>
              </a:solidFill>
              <a:effectLst/>
              <a:uFillTx/>
              <a:latin typeface="Arial"/>
            </a:endParaRPr>
          </a:p>
        </p:txBody>
      </p:sp>
      <p:sp>
        <p:nvSpPr>
          <p:cNvPr id="1654" name="Text 24"/>
          <p:cNvSpPr/>
          <p:nvPr/>
        </p:nvSpPr>
        <p:spPr>
          <a:xfrm>
            <a:off x="8304480" y="3776400"/>
            <a:ext cx="3100320" cy="150840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ARR protected and expanded</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Annual cost removed from the current stack</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Climate exposure avoided or repriced</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Incremental investment and payback period</a:t>
            </a:r>
            <a:endParaRPr b="0" lang="en-US" sz="1100" strike="noStrike" u="none">
              <a:solidFill>
                <a:srgbClr val="000000"/>
              </a:solidFill>
              <a:effectLst/>
              <a:uFillTx/>
              <a:latin typeface="Arial"/>
            </a:endParaRPr>
          </a:p>
        </p:txBody>
      </p:sp>
      <p:sp>
        <p:nvSpPr>
          <p:cNvPr id="1655" name="Shape 25"/>
          <p:cNvSpPr/>
          <p:nvPr/>
        </p:nvSpPr>
        <p:spPr>
          <a:xfrm>
            <a:off x="621720" y="5650920"/>
            <a:ext cx="10947600" cy="585000"/>
          </a:xfrm>
          <a:prstGeom prst="roundRect">
            <a:avLst>
              <a:gd name="adj" fmla="val 12500"/>
            </a:avLst>
          </a:prstGeom>
          <a:solidFill>
            <a:srgbClr val="effaf1"/>
          </a:solidFill>
          <a:ln w="12700">
            <a:solidFill>
              <a:srgbClr val="bce8c9"/>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656" name="Shape 26"/>
          <p:cNvSpPr/>
          <p:nvPr/>
        </p:nvSpPr>
        <p:spPr>
          <a:xfrm>
            <a:off x="676800" y="5760720"/>
            <a:ext cx="45360" cy="3654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657" name="Text 27"/>
          <p:cNvSpPr/>
          <p:nvPr/>
        </p:nvSpPr>
        <p:spPr>
          <a:xfrm>
            <a:off x="859680" y="5650920"/>
            <a:ext cx="10527120" cy="585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200" strike="noStrike" u="none">
                <a:solidFill>
                  <a:srgbClr val="3a423c"/>
                </a:solidFill>
                <a:effectLst/>
                <a:uFillTx/>
                <a:latin typeface="Calibri"/>
                <a:ea typeface="Calibri"/>
              </a:rPr>
              <a:t>All euro figures shown elsewhere in this deck are explicit placeholders pending Finance validation.</a:t>
            </a:r>
            <a:endParaRPr b="0" lang="en-US" sz="1200" strike="noStrike" u="none">
              <a:solidFill>
                <a:srgbClr val="000000"/>
              </a:solidFill>
              <a:effectLst/>
              <a:uFillTx/>
              <a:latin typeface="Arial"/>
            </a:endParaRPr>
          </a:p>
        </p:txBody>
      </p:sp>
      <p:sp>
        <p:nvSpPr>
          <p:cNvPr id="1658" name="Shape 28"/>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659" name="Text 29"/>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1660" name="Text 30"/>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1661" name="PlaceHolder 1"/>
          <p:cNvSpPr>
            <a:spLocks noGrp="1"/>
          </p:cNvSpPr>
          <p:nvPr>
            <p:ph type="sldNum" idx="40"/>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9587A35C-F56B-43BA-923E-5FEE50C2490E}"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62"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1663"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1664" name="Shape 2"/>
          <p:cNvSpPr/>
          <p:nvPr/>
        </p:nvSpPr>
        <p:spPr>
          <a:xfrm>
            <a:off x="621720" y="311040"/>
            <a:ext cx="155412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665" name="Text 3"/>
          <p:cNvSpPr/>
          <p:nvPr/>
        </p:nvSpPr>
        <p:spPr>
          <a:xfrm>
            <a:off x="804600" y="329040"/>
            <a:ext cx="122508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VALUE CASE</a:t>
            </a:r>
            <a:endParaRPr b="0" lang="en-US" sz="950" strike="noStrike" u="none">
              <a:solidFill>
                <a:srgbClr val="000000"/>
              </a:solidFill>
              <a:effectLst/>
              <a:uFillTx/>
              <a:latin typeface="Arial"/>
            </a:endParaRPr>
          </a:p>
        </p:txBody>
      </p:sp>
      <p:sp>
        <p:nvSpPr>
          <p:cNvPr id="1666"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The people behind the plan</a:t>
            </a:r>
            <a:endParaRPr b="0" lang="en-US" sz="3200" strike="noStrike" u="none">
              <a:solidFill>
                <a:srgbClr val="000000"/>
              </a:solidFill>
              <a:effectLst/>
              <a:uFillTx/>
              <a:latin typeface="Arial"/>
            </a:endParaRPr>
          </a:p>
        </p:txBody>
      </p:sp>
      <p:sp>
        <p:nvSpPr>
          <p:cNvPr id="1667"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Capacity, ownership and the trade offs we accept to fund the core.</a:t>
            </a:r>
            <a:endParaRPr b="0" lang="en-US" sz="1250" strike="noStrike" u="none">
              <a:solidFill>
                <a:srgbClr val="000000"/>
              </a:solidFill>
              <a:effectLst/>
              <a:uFillTx/>
              <a:latin typeface="Arial"/>
            </a:endParaRPr>
          </a:p>
        </p:txBody>
      </p:sp>
      <p:sp>
        <p:nvSpPr>
          <p:cNvPr id="1668"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669" name="Shape 7"/>
          <p:cNvSpPr/>
          <p:nvPr/>
        </p:nvSpPr>
        <p:spPr>
          <a:xfrm>
            <a:off x="621720" y="2084760"/>
            <a:ext cx="3466080" cy="3419640"/>
          </a:xfrm>
          <a:prstGeom prst="roundRect">
            <a:avLst>
              <a:gd name="adj" fmla="val 1604"/>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670" name="Shape 8"/>
          <p:cNvSpPr/>
          <p:nvPr/>
        </p:nvSpPr>
        <p:spPr>
          <a:xfrm>
            <a:off x="621720" y="2084760"/>
            <a:ext cx="346608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1671" name="Text 9"/>
          <p:cNvSpPr/>
          <p:nvPr/>
        </p:nvSpPr>
        <p:spPr>
          <a:xfrm>
            <a:off x="82296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OWNERSHIP</a:t>
            </a:r>
            <a:endParaRPr b="0" lang="en-US" sz="900" strike="noStrike" u="none">
              <a:solidFill>
                <a:srgbClr val="000000"/>
              </a:solidFill>
              <a:effectLst/>
              <a:uFillTx/>
              <a:latin typeface="Arial"/>
            </a:endParaRPr>
          </a:p>
        </p:txBody>
      </p:sp>
      <p:sp>
        <p:nvSpPr>
          <p:cNvPr id="1672" name="Text 10"/>
          <p:cNvSpPr/>
          <p:nvPr/>
        </p:nvSpPr>
        <p:spPr>
          <a:xfrm>
            <a:off x="82296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Who builds what</a:t>
            </a:r>
            <a:endParaRPr b="0" lang="en-US" sz="1600" strike="noStrike" u="none">
              <a:solidFill>
                <a:srgbClr val="000000"/>
              </a:solidFill>
              <a:effectLst/>
              <a:uFillTx/>
              <a:latin typeface="Arial"/>
            </a:endParaRPr>
          </a:p>
        </p:txBody>
      </p:sp>
      <p:sp>
        <p:nvSpPr>
          <p:cNvPr id="1673" name="Text 11"/>
          <p:cNvSpPr/>
          <p:nvPr/>
        </p:nvSpPr>
        <p:spPr>
          <a:xfrm>
            <a:off x="80460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Clear ownership per layer, no shared accountability.</a:t>
            </a:r>
            <a:endParaRPr b="0" lang="en-US" sz="1100" strike="noStrike" u="none">
              <a:solidFill>
                <a:srgbClr val="000000"/>
              </a:solidFill>
              <a:effectLst/>
              <a:uFillTx/>
              <a:latin typeface="Arial"/>
            </a:endParaRPr>
          </a:p>
        </p:txBody>
      </p:sp>
      <p:sp>
        <p:nvSpPr>
          <p:cNvPr id="1674" name="Text 12"/>
          <p:cNvSpPr/>
          <p:nvPr/>
        </p:nvSpPr>
        <p:spPr>
          <a:xfrm>
            <a:off x="822960" y="3776400"/>
            <a:ext cx="3100320" cy="150840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Core platform team owns hierarchy, factors, engine and audit trail</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Product teams own outcomes on top of the core, not their own core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One architecture authority arbitrates shared components</a:t>
            </a:r>
            <a:endParaRPr b="0" lang="en-US" sz="1100" strike="noStrike" u="none">
              <a:solidFill>
                <a:srgbClr val="000000"/>
              </a:solidFill>
              <a:effectLst/>
              <a:uFillTx/>
              <a:latin typeface="Arial"/>
            </a:endParaRPr>
          </a:p>
        </p:txBody>
      </p:sp>
      <p:sp>
        <p:nvSpPr>
          <p:cNvPr id="1675" name="Shape 13"/>
          <p:cNvSpPr/>
          <p:nvPr/>
        </p:nvSpPr>
        <p:spPr>
          <a:xfrm>
            <a:off x="4362480" y="2084760"/>
            <a:ext cx="3466080" cy="3419640"/>
          </a:xfrm>
          <a:prstGeom prst="roundRect">
            <a:avLst>
              <a:gd name="adj" fmla="val 1604"/>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676" name="Shape 14"/>
          <p:cNvSpPr/>
          <p:nvPr/>
        </p:nvSpPr>
        <p:spPr>
          <a:xfrm>
            <a:off x="4362480" y="2084760"/>
            <a:ext cx="346608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1677" name="Text 15"/>
          <p:cNvSpPr/>
          <p:nvPr/>
        </p:nvSpPr>
        <p:spPr>
          <a:xfrm>
            <a:off x="456372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CAPACITY</a:t>
            </a:r>
            <a:endParaRPr b="0" lang="en-US" sz="900" strike="noStrike" u="none">
              <a:solidFill>
                <a:srgbClr val="000000"/>
              </a:solidFill>
              <a:effectLst/>
              <a:uFillTx/>
              <a:latin typeface="Arial"/>
            </a:endParaRPr>
          </a:p>
        </p:txBody>
      </p:sp>
      <p:sp>
        <p:nvSpPr>
          <p:cNvPr id="1678" name="Text 16"/>
          <p:cNvSpPr/>
          <p:nvPr/>
        </p:nvSpPr>
        <p:spPr>
          <a:xfrm>
            <a:off x="456372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Where capacity goes</a:t>
            </a:r>
            <a:endParaRPr b="0" lang="en-US" sz="1600" strike="noStrike" u="none">
              <a:solidFill>
                <a:srgbClr val="000000"/>
              </a:solidFill>
              <a:effectLst/>
              <a:uFillTx/>
              <a:latin typeface="Arial"/>
            </a:endParaRPr>
          </a:p>
        </p:txBody>
      </p:sp>
      <p:sp>
        <p:nvSpPr>
          <p:cNvPr id="1679" name="Text 17"/>
          <p:cNvSpPr/>
          <p:nvPr/>
        </p:nvSpPr>
        <p:spPr>
          <a:xfrm>
            <a:off x="454536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Capacity is allocated before scope, not after.</a:t>
            </a:r>
            <a:endParaRPr b="0" lang="en-US" sz="1100" strike="noStrike" u="none">
              <a:solidFill>
                <a:srgbClr val="000000"/>
              </a:solidFill>
              <a:effectLst/>
              <a:uFillTx/>
              <a:latin typeface="Arial"/>
            </a:endParaRPr>
          </a:p>
        </p:txBody>
      </p:sp>
      <p:sp>
        <p:nvSpPr>
          <p:cNvPr id="1680" name="Text 18"/>
          <p:cNvSpPr/>
          <p:nvPr/>
        </p:nvSpPr>
        <p:spPr>
          <a:xfrm>
            <a:off x="4563720" y="3776400"/>
            <a:ext cx="3100320" cy="150840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Sufficient build capacity protected for the core platform</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Remaining capacity split across ranked product themes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Unranked 2027 items stay directional until capacity is confirmed</a:t>
            </a:r>
            <a:endParaRPr b="0" lang="en-US" sz="1100" strike="noStrike" u="none">
              <a:solidFill>
                <a:srgbClr val="000000"/>
              </a:solidFill>
              <a:effectLst/>
              <a:uFillTx/>
              <a:latin typeface="Arial"/>
            </a:endParaRPr>
          </a:p>
        </p:txBody>
      </p:sp>
      <p:sp>
        <p:nvSpPr>
          <p:cNvPr id="1681" name="Shape 19"/>
          <p:cNvSpPr/>
          <p:nvPr/>
        </p:nvSpPr>
        <p:spPr>
          <a:xfrm>
            <a:off x="8103240" y="2084760"/>
            <a:ext cx="3466080" cy="3419640"/>
          </a:xfrm>
          <a:prstGeom prst="roundRect">
            <a:avLst>
              <a:gd name="adj" fmla="val 1604"/>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682" name="Shape 20"/>
          <p:cNvSpPr/>
          <p:nvPr/>
        </p:nvSpPr>
        <p:spPr>
          <a:xfrm>
            <a:off x="8103240" y="2084760"/>
            <a:ext cx="346608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1683" name="Text 21"/>
          <p:cNvSpPr/>
          <p:nvPr/>
        </p:nvSpPr>
        <p:spPr>
          <a:xfrm>
            <a:off x="830448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TRADE OFFS</a:t>
            </a:r>
            <a:endParaRPr b="0" lang="en-US" sz="900" strike="noStrike" u="none">
              <a:solidFill>
                <a:srgbClr val="000000"/>
              </a:solidFill>
              <a:effectLst/>
              <a:uFillTx/>
              <a:latin typeface="Arial"/>
            </a:endParaRPr>
          </a:p>
        </p:txBody>
      </p:sp>
      <p:sp>
        <p:nvSpPr>
          <p:cNvPr id="1684" name="Text 22"/>
          <p:cNvSpPr/>
          <p:nvPr/>
        </p:nvSpPr>
        <p:spPr>
          <a:xfrm>
            <a:off x="830448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What stops or slows</a:t>
            </a:r>
            <a:endParaRPr b="0" lang="en-US" sz="1600" strike="noStrike" u="none">
              <a:solidFill>
                <a:srgbClr val="000000"/>
              </a:solidFill>
              <a:effectLst/>
              <a:uFillTx/>
              <a:latin typeface="Arial"/>
            </a:endParaRPr>
          </a:p>
        </p:txBody>
      </p:sp>
      <p:sp>
        <p:nvSpPr>
          <p:cNvPr id="1685" name="Text 23"/>
          <p:cNvSpPr/>
          <p:nvPr/>
        </p:nvSpPr>
        <p:spPr>
          <a:xfrm>
            <a:off x="828612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Funding the spine means saying no in public.</a:t>
            </a:r>
            <a:endParaRPr b="0" lang="en-US" sz="1100" strike="noStrike" u="none">
              <a:solidFill>
                <a:srgbClr val="000000"/>
              </a:solidFill>
              <a:effectLst/>
              <a:uFillTx/>
              <a:latin typeface="Arial"/>
            </a:endParaRPr>
          </a:p>
        </p:txBody>
      </p:sp>
      <p:sp>
        <p:nvSpPr>
          <p:cNvPr id="1686" name="Text 24"/>
          <p:cNvSpPr/>
          <p:nvPr/>
        </p:nvSpPr>
        <p:spPr>
          <a:xfrm>
            <a:off x="8304480" y="3776400"/>
            <a:ext cx="3100320" cy="150840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No net new standalone products before the core lands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Bespoke customer builds routed to configuration, not code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Legacy tooling sunset rather than maintained in parallel</a:t>
            </a:r>
            <a:endParaRPr b="0" lang="en-US" sz="1100" strike="noStrike" u="none">
              <a:solidFill>
                <a:srgbClr val="000000"/>
              </a:solidFill>
              <a:effectLst/>
              <a:uFillTx/>
              <a:latin typeface="Arial"/>
            </a:endParaRPr>
          </a:p>
        </p:txBody>
      </p:sp>
      <p:sp>
        <p:nvSpPr>
          <p:cNvPr id="1687" name="Shape 25"/>
          <p:cNvSpPr/>
          <p:nvPr/>
        </p:nvSpPr>
        <p:spPr>
          <a:xfrm>
            <a:off x="621720" y="5650920"/>
            <a:ext cx="10947600" cy="585000"/>
          </a:xfrm>
          <a:prstGeom prst="roundRect">
            <a:avLst>
              <a:gd name="adj" fmla="val 12500"/>
            </a:avLst>
          </a:prstGeom>
          <a:solidFill>
            <a:srgbClr val="effaf1"/>
          </a:solidFill>
          <a:ln w="12700">
            <a:solidFill>
              <a:srgbClr val="bce8c9"/>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688" name="Shape 26"/>
          <p:cNvSpPr/>
          <p:nvPr/>
        </p:nvSpPr>
        <p:spPr>
          <a:xfrm>
            <a:off x="676800" y="5760720"/>
            <a:ext cx="45360" cy="3654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689" name="Text 27"/>
          <p:cNvSpPr/>
          <p:nvPr/>
        </p:nvSpPr>
        <p:spPr>
          <a:xfrm>
            <a:off x="859680" y="5650920"/>
            <a:ext cx="10527120" cy="585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200" strike="noStrike" u="none">
                <a:solidFill>
                  <a:srgbClr val="3a423c"/>
                </a:solidFill>
                <a:effectLst/>
                <a:uFillTx/>
                <a:latin typeface="Calibri"/>
                <a:ea typeface="Calibri"/>
              </a:rPr>
              <a:t>Hiring plan and named roles to be confirmed with People and Finance.</a:t>
            </a:r>
            <a:endParaRPr b="0" lang="en-US" sz="1200" strike="noStrike" u="none">
              <a:solidFill>
                <a:srgbClr val="000000"/>
              </a:solidFill>
              <a:effectLst/>
              <a:uFillTx/>
              <a:latin typeface="Arial"/>
            </a:endParaRPr>
          </a:p>
        </p:txBody>
      </p:sp>
      <p:sp>
        <p:nvSpPr>
          <p:cNvPr id="1690" name="Shape 28"/>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691" name="Text 29"/>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1692" name="Text 30"/>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1693" name="PlaceHolder 1"/>
          <p:cNvSpPr>
            <a:spLocks noGrp="1"/>
          </p:cNvSpPr>
          <p:nvPr>
            <p:ph type="sldNum" idx="41"/>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D532FFF7-E6F8-4BBB-B214-A971BB64212B}"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94"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1695"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1696" name="Shape 2"/>
          <p:cNvSpPr/>
          <p:nvPr/>
        </p:nvSpPr>
        <p:spPr>
          <a:xfrm>
            <a:off x="621720" y="384120"/>
            <a:ext cx="1755360" cy="31068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697" name="Text 3"/>
          <p:cNvSpPr/>
          <p:nvPr/>
        </p:nvSpPr>
        <p:spPr>
          <a:xfrm>
            <a:off x="621720" y="384120"/>
            <a:ext cx="1755360" cy="310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900" spc="170" strike="noStrike" u="none">
                <a:solidFill>
                  <a:srgbClr val="007a27"/>
                </a:solidFill>
                <a:effectLst/>
                <a:uFillTx/>
                <a:latin typeface="Calibri"/>
                <a:ea typeface="Calibri"/>
              </a:rPr>
              <a:t>2027 VALUE CASE</a:t>
            </a:r>
            <a:endParaRPr b="0" lang="en-US" sz="900" strike="noStrike" u="none">
              <a:solidFill>
                <a:srgbClr val="000000"/>
              </a:solidFill>
              <a:effectLst/>
              <a:uFillTx/>
              <a:latin typeface="Arial"/>
            </a:endParaRPr>
          </a:p>
        </p:txBody>
      </p:sp>
      <p:sp>
        <p:nvSpPr>
          <p:cNvPr id="1698" name="Text 4"/>
          <p:cNvSpPr/>
          <p:nvPr/>
        </p:nvSpPr>
        <p:spPr>
          <a:xfrm>
            <a:off x="621720" y="85968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2800" strike="noStrike" u="none">
                <a:solidFill>
                  <a:srgbClr val="1e2420"/>
                </a:solidFill>
                <a:effectLst/>
                <a:uFillTx/>
                <a:latin typeface="Calibri"/>
                <a:ea typeface="Calibri"/>
              </a:rPr>
              <a:t>One roadmap converts trusted data into </a:t>
            </a:r>
            <a:r>
              <a:rPr b="1" lang="en-US" sz="2800" strike="noStrike" u="none">
                <a:solidFill>
                  <a:srgbClr val="007a27"/>
                </a:solidFill>
                <a:effectLst/>
                <a:uFillTx/>
                <a:latin typeface="Calibri"/>
                <a:ea typeface="Calibri"/>
              </a:rPr>
              <a:t>enterprise value.</a:t>
            </a:r>
            <a:endParaRPr b="0" lang="en-US" sz="2800" strike="noStrike" u="none">
              <a:solidFill>
                <a:srgbClr val="000000"/>
              </a:solidFill>
              <a:effectLst/>
              <a:uFillTx/>
              <a:latin typeface="Arial"/>
            </a:endParaRPr>
          </a:p>
        </p:txBody>
      </p:sp>
      <p:sp>
        <p:nvSpPr>
          <p:cNvPr id="1699" name="Text 5"/>
          <p:cNvSpPr/>
          <p:nvPr/>
        </p:nvSpPr>
        <p:spPr>
          <a:xfrm>
            <a:off x="621720" y="1572840"/>
            <a:ext cx="10947600" cy="4568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50" strike="noStrike" u="none">
                <a:solidFill>
                  <a:srgbClr val="5a625c"/>
                </a:solidFill>
                <a:effectLst/>
                <a:uFillTx/>
                <a:latin typeface="Calibri"/>
                <a:ea typeface="Calibri"/>
              </a:rPr>
              <a:t>RA+ compounds value across Sustainability, Energy and Efficiency: protect and expand strategic relationships, remove duplicated delivery effort, price climate exposure, and turn insight into funded action.</a:t>
            </a:r>
            <a:endParaRPr b="0" lang="en-US" sz="1150" strike="noStrike" u="none">
              <a:solidFill>
                <a:srgbClr val="000000"/>
              </a:solidFill>
              <a:effectLst/>
              <a:uFillTx/>
              <a:latin typeface="Arial"/>
            </a:endParaRPr>
          </a:p>
        </p:txBody>
      </p:sp>
      <p:sp>
        <p:nvSpPr>
          <p:cNvPr id="1700" name="Shape 6"/>
          <p:cNvSpPr/>
          <p:nvPr/>
        </p:nvSpPr>
        <p:spPr>
          <a:xfrm>
            <a:off x="621720" y="2212920"/>
            <a:ext cx="4800240" cy="3547440"/>
          </a:xfrm>
          <a:prstGeom prst="roundRect">
            <a:avLst>
              <a:gd name="adj" fmla="val 1289"/>
            </a:avLst>
          </a:prstGeom>
          <a:solidFill>
            <a:srgbClr val="0c3b25"/>
          </a:solidFill>
          <a:ln w="12700">
            <a:solidFill>
              <a:srgbClr val="0c3b25"/>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701" name="Text 7"/>
          <p:cNvSpPr/>
          <p:nvPr/>
        </p:nvSpPr>
        <p:spPr>
          <a:xfrm>
            <a:off x="877680" y="2423160"/>
            <a:ext cx="4288320" cy="219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39" strike="noStrike" u="none">
                <a:solidFill>
                  <a:srgbClr val="cdfc57"/>
                </a:solidFill>
                <a:effectLst/>
                <a:uFillTx/>
                <a:latin typeface="Calibri"/>
                <a:ea typeface="Calibri"/>
              </a:rPr>
              <a:t>FINANCIAL IMPACT TO VALIDATE</a:t>
            </a:r>
            <a:endParaRPr b="0" lang="en-US" sz="900" strike="noStrike" u="none">
              <a:solidFill>
                <a:srgbClr val="000000"/>
              </a:solidFill>
              <a:effectLst/>
              <a:uFillTx/>
              <a:latin typeface="Arial"/>
            </a:endParaRPr>
          </a:p>
        </p:txBody>
      </p:sp>
      <p:sp>
        <p:nvSpPr>
          <p:cNvPr id="1702" name="Text 8"/>
          <p:cNvSpPr/>
          <p:nvPr/>
        </p:nvSpPr>
        <p:spPr>
          <a:xfrm>
            <a:off x="877680" y="2797920"/>
            <a:ext cx="1352880" cy="182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79" strike="noStrike" u="none">
                <a:solidFill>
                  <a:srgbClr val="bfd9c9"/>
                </a:solidFill>
                <a:effectLst/>
                <a:uFillTx/>
                <a:latin typeface="Calibri"/>
                <a:ea typeface="Calibri"/>
              </a:rPr>
              <a:t>GROWTH AND RETENTION</a:t>
            </a:r>
            <a:endParaRPr b="0" lang="en-US" sz="750" strike="noStrike" u="none">
              <a:solidFill>
                <a:srgbClr val="000000"/>
              </a:solidFill>
              <a:effectLst/>
              <a:uFillTx/>
              <a:latin typeface="Arial"/>
            </a:endParaRPr>
          </a:p>
        </p:txBody>
      </p:sp>
      <p:sp>
        <p:nvSpPr>
          <p:cNvPr id="1703" name="Text 9"/>
          <p:cNvSpPr/>
          <p:nvPr/>
        </p:nvSpPr>
        <p:spPr>
          <a:xfrm>
            <a:off x="2103120" y="2770560"/>
            <a:ext cx="306288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cdfc57"/>
                </a:solidFill>
                <a:effectLst/>
                <a:uFillTx/>
                <a:latin typeface="Calibri"/>
                <a:ea typeface="Calibri"/>
              </a:rPr>
              <a:t>[€ ARR protected + expanded]</a:t>
            </a:r>
            <a:endParaRPr b="0" lang="en-US" sz="1400" strike="noStrike" u="none">
              <a:solidFill>
                <a:srgbClr val="000000"/>
              </a:solidFill>
              <a:effectLst/>
              <a:uFillTx/>
              <a:latin typeface="Arial"/>
            </a:endParaRPr>
          </a:p>
        </p:txBody>
      </p:sp>
      <p:sp>
        <p:nvSpPr>
          <p:cNvPr id="1704" name="Text 10"/>
          <p:cNvSpPr/>
          <p:nvPr/>
        </p:nvSpPr>
        <p:spPr>
          <a:xfrm>
            <a:off x="877680" y="3081600"/>
            <a:ext cx="4288320" cy="5666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850" strike="noStrike" u="none">
                <a:solidFill>
                  <a:srgbClr val="bfd9c9"/>
                </a:solidFill>
                <a:effectLst/>
                <a:uFillTx/>
                <a:latin typeface="Calibri"/>
                <a:ea typeface="Calibri"/>
              </a:rPr>
              <a:t>A connected portfolio increases account relevance, creates cross-sell paths, and replaces point solutions with one strategic platform.</a:t>
            </a:r>
            <a:endParaRPr b="0" lang="en-US" sz="850" strike="noStrike" u="none">
              <a:solidFill>
                <a:srgbClr val="000000"/>
              </a:solidFill>
              <a:effectLst/>
              <a:uFillTx/>
              <a:latin typeface="Arial"/>
            </a:endParaRPr>
          </a:p>
        </p:txBody>
      </p:sp>
      <p:sp>
        <p:nvSpPr>
          <p:cNvPr id="1705" name="Shape 11"/>
          <p:cNvSpPr/>
          <p:nvPr/>
        </p:nvSpPr>
        <p:spPr>
          <a:xfrm>
            <a:off x="877680" y="3620880"/>
            <a:ext cx="4288680" cy="360"/>
          </a:xfrm>
          <a:prstGeom prst="line">
            <a:avLst/>
          </a:prstGeom>
          <a:ln w="7620">
            <a:solidFill>
              <a:srgbClr val="32654b"/>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706" name="Text 12"/>
          <p:cNvSpPr/>
          <p:nvPr/>
        </p:nvSpPr>
        <p:spPr>
          <a:xfrm>
            <a:off x="877680" y="3730680"/>
            <a:ext cx="1352880" cy="182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79" strike="noStrike" u="none">
                <a:solidFill>
                  <a:srgbClr val="bfd9c9"/>
                </a:solidFill>
                <a:effectLst/>
                <a:uFillTx/>
                <a:latin typeface="Calibri"/>
                <a:ea typeface="Calibri"/>
              </a:rPr>
              <a:t>COST TO SERVE</a:t>
            </a:r>
            <a:endParaRPr b="0" lang="en-US" sz="750" strike="noStrike" u="none">
              <a:solidFill>
                <a:srgbClr val="000000"/>
              </a:solidFill>
              <a:effectLst/>
              <a:uFillTx/>
              <a:latin typeface="Arial"/>
            </a:endParaRPr>
          </a:p>
        </p:txBody>
      </p:sp>
      <p:sp>
        <p:nvSpPr>
          <p:cNvPr id="1707" name="Text 13"/>
          <p:cNvSpPr/>
          <p:nvPr/>
        </p:nvSpPr>
        <p:spPr>
          <a:xfrm>
            <a:off x="2103120" y="3703320"/>
            <a:ext cx="306288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cdfc57"/>
                </a:solidFill>
                <a:effectLst/>
                <a:uFillTx/>
                <a:latin typeface="Calibri"/>
                <a:ea typeface="Calibri"/>
              </a:rPr>
              <a:t>[€ annual cost removed]</a:t>
            </a:r>
            <a:endParaRPr b="0" lang="en-US" sz="1400" strike="noStrike" u="none">
              <a:solidFill>
                <a:srgbClr val="000000"/>
              </a:solidFill>
              <a:effectLst/>
              <a:uFillTx/>
              <a:latin typeface="Arial"/>
            </a:endParaRPr>
          </a:p>
        </p:txBody>
      </p:sp>
      <p:sp>
        <p:nvSpPr>
          <p:cNvPr id="1708" name="Text 14"/>
          <p:cNvSpPr/>
          <p:nvPr/>
        </p:nvSpPr>
        <p:spPr>
          <a:xfrm>
            <a:off x="877680" y="4014360"/>
            <a:ext cx="4288320" cy="5666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850" strike="noStrike" u="none">
                <a:solidFill>
                  <a:srgbClr val="bfd9c9"/>
                </a:solidFill>
                <a:effectLst/>
                <a:uFillTx/>
                <a:latin typeface="Calibri"/>
                <a:ea typeface="Calibri"/>
              </a:rPr>
              <a:t>Shared ingestion, calculations, evidence and AI-assisted workflows reduce duplicate build, reporting-cycle effort, and methodology hypercare.</a:t>
            </a:r>
            <a:endParaRPr b="0" lang="en-US" sz="850" strike="noStrike" u="none">
              <a:solidFill>
                <a:srgbClr val="000000"/>
              </a:solidFill>
              <a:effectLst/>
              <a:uFillTx/>
              <a:latin typeface="Arial"/>
            </a:endParaRPr>
          </a:p>
        </p:txBody>
      </p:sp>
      <p:sp>
        <p:nvSpPr>
          <p:cNvPr id="1709" name="Shape 15"/>
          <p:cNvSpPr/>
          <p:nvPr/>
        </p:nvSpPr>
        <p:spPr>
          <a:xfrm>
            <a:off x="877680" y="4553640"/>
            <a:ext cx="4288680" cy="360"/>
          </a:xfrm>
          <a:prstGeom prst="line">
            <a:avLst/>
          </a:prstGeom>
          <a:ln w="7620">
            <a:solidFill>
              <a:srgbClr val="32654b"/>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710" name="Text 16"/>
          <p:cNvSpPr/>
          <p:nvPr/>
        </p:nvSpPr>
        <p:spPr>
          <a:xfrm>
            <a:off x="877680" y="4663440"/>
            <a:ext cx="1352880" cy="182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79" strike="noStrike" u="none">
                <a:solidFill>
                  <a:srgbClr val="bfd9c9"/>
                </a:solidFill>
                <a:effectLst/>
                <a:uFillTx/>
                <a:latin typeface="Calibri"/>
                <a:ea typeface="Calibri"/>
              </a:rPr>
              <a:t>RISK AND CAPITAL</a:t>
            </a:r>
            <a:endParaRPr b="0" lang="en-US" sz="750" strike="noStrike" u="none">
              <a:solidFill>
                <a:srgbClr val="000000"/>
              </a:solidFill>
              <a:effectLst/>
              <a:uFillTx/>
              <a:latin typeface="Arial"/>
            </a:endParaRPr>
          </a:p>
        </p:txBody>
      </p:sp>
      <p:sp>
        <p:nvSpPr>
          <p:cNvPr id="1711" name="Text 17"/>
          <p:cNvSpPr/>
          <p:nvPr/>
        </p:nvSpPr>
        <p:spPr>
          <a:xfrm>
            <a:off x="2103120" y="4636080"/>
            <a:ext cx="306288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cdfc57"/>
                </a:solidFill>
                <a:effectLst/>
                <a:uFillTx/>
                <a:latin typeface="Calibri"/>
                <a:ea typeface="Calibri"/>
              </a:rPr>
              <a:t>[€ exposure avoided or repriced]</a:t>
            </a:r>
            <a:endParaRPr b="0" lang="en-US" sz="1400" strike="noStrike" u="none">
              <a:solidFill>
                <a:srgbClr val="000000"/>
              </a:solidFill>
              <a:effectLst/>
              <a:uFillTx/>
              <a:latin typeface="Arial"/>
            </a:endParaRPr>
          </a:p>
        </p:txBody>
      </p:sp>
      <p:sp>
        <p:nvSpPr>
          <p:cNvPr id="1712" name="Text 18"/>
          <p:cNvSpPr/>
          <p:nvPr/>
        </p:nvSpPr>
        <p:spPr>
          <a:xfrm>
            <a:off x="877680" y="4946760"/>
            <a:ext cx="4288320" cy="5666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850" strike="noStrike" u="none">
                <a:solidFill>
                  <a:srgbClr val="bfd9c9"/>
                </a:solidFill>
                <a:effectLst/>
                <a:uFillTx/>
                <a:latin typeface="Calibri"/>
                <a:ea typeface="Calibri"/>
              </a:rPr>
              <a:t>ClimVar expresses climate risk in financial terms, while scenarios and adaptation actions direct capital toward the highest-value response.</a:t>
            </a:r>
            <a:endParaRPr b="0" lang="en-US" sz="850" strike="noStrike" u="none">
              <a:solidFill>
                <a:srgbClr val="000000"/>
              </a:solidFill>
              <a:effectLst/>
              <a:uFillTx/>
              <a:latin typeface="Arial"/>
            </a:endParaRPr>
          </a:p>
        </p:txBody>
      </p:sp>
      <p:sp>
        <p:nvSpPr>
          <p:cNvPr id="1713" name="Shape 19"/>
          <p:cNvSpPr/>
          <p:nvPr/>
        </p:nvSpPr>
        <p:spPr>
          <a:xfrm>
            <a:off x="5733360" y="2212920"/>
            <a:ext cx="2817360" cy="1672920"/>
          </a:xfrm>
          <a:prstGeom prst="roundRect">
            <a:avLst>
              <a:gd name="adj" fmla="val 3279"/>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714" name="Shape 20"/>
          <p:cNvSpPr/>
          <p:nvPr/>
        </p:nvSpPr>
        <p:spPr>
          <a:xfrm>
            <a:off x="5733360" y="2212920"/>
            <a:ext cx="54360" cy="16729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715" name="Text 21"/>
          <p:cNvSpPr/>
          <p:nvPr/>
        </p:nvSpPr>
        <p:spPr>
          <a:xfrm>
            <a:off x="5934600" y="2377440"/>
            <a:ext cx="38376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trike="noStrike" u="none">
                <a:solidFill>
                  <a:srgbClr val="007a27"/>
                </a:solidFill>
                <a:effectLst/>
                <a:uFillTx/>
                <a:latin typeface="Calibri"/>
                <a:ea typeface="Calibri"/>
              </a:rPr>
              <a:t>01</a:t>
            </a:r>
            <a:endParaRPr b="0" lang="en-US" sz="900" strike="noStrike" u="none">
              <a:solidFill>
                <a:srgbClr val="000000"/>
              </a:solidFill>
              <a:effectLst/>
              <a:uFillTx/>
              <a:latin typeface="Arial"/>
            </a:endParaRPr>
          </a:p>
        </p:txBody>
      </p:sp>
      <p:sp>
        <p:nvSpPr>
          <p:cNvPr id="1716" name="Text 22"/>
          <p:cNvSpPr/>
          <p:nvPr/>
        </p:nvSpPr>
        <p:spPr>
          <a:xfrm>
            <a:off x="5934600" y="2670120"/>
            <a:ext cx="2414880" cy="319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One source of truth</a:t>
            </a:r>
            <a:endParaRPr b="0" lang="en-US" sz="1400" strike="noStrike" u="none">
              <a:solidFill>
                <a:srgbClr val="000000"/>
              </a:solidFill>
              <a:effectLst/>
              <a:uFillTx/>
              <a:latin typeface="Arial"/>
            </a:endParaRPr>
          </a:p>
        </p:txBody>
      </p:sp>
      <p:sp>
        <p:nvSpPr>
          <p:cNvPr id="1717" name="Text 23"/>
          <p:cNvSpPr/>
          <p:nvPr/>
        </p:nvSpPr>
        <p:spPr>
          <a:xfrm>
            <a:off x="5934600" y="3063240"/>
            <a:ext cx="2414880" cy="648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920" strike="noStrike" u="none">
                <a:solidFill>
                  <a:srgbClr val="5a625c"/>
                </a:solidFill>
                <a:effectLst/>
                <a:uFillTx/>
                <a:latin typeface="Calibri"/>
                <a:ea typeface="Calibri"/>
              </a:rPr>
              <a:t>Consultant-grade inventories flow through targets, risk, supplier action and disclosures without reconciliation between products.</a:t>
            </a:r>
            <a:endParaRPr b="0" lang="en-US" sz="920" strike="noStrike" u="none">
              <a:solidFill>
                <a:srgbClr val="000000"/>
              </a:solidFill>
              <a:effectLst/>
              <a:uFillTx/>
              <a:latin typeface="Arial"/>
            </a:endParaRPr>
          </a:p>
        </p:txBody>
      </p:sp>
      <p:sp>
        <p:nvSpPr>
          <p:cNvPr id="1718" name="Shape 24"/>
          <p:cNvSpPr/>
          <p:nvPr/>
        </p:nvSpPr>
        <p:spPr>
          <a:xfrm>
            <a:off x="8752320" y="2212920"/>
            <a:ext cx="2817360" cy="1672920"/>
          </a:xfrm>
          <a:prstGeom prst="roundRect">
            <a:avLst>
              <a:gd name="adj" fmla="val 3279"/>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719" name="Shape 25"/>
          <p:cNvSpPr/>
          <p:nvPr/>
        </p:nvSpPr>
        <p:spPr>
          <a:xfrm>
            <a:off x="8752320" y="2212920"/>
            <a:ext cx="54360" cy="16729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720" name="Text 26"/>
          <p:cNvSpPr/>
          <p:nvPr/>
        </p:nvSpPr>
        <p:spPr>
          <a:xfrm>
            <a:off x="8953200" y="2377440"/>
            <a:ext cx="38376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trike="noStrike" u="none">
                <a:solidFill>
                  <a:srgbClr val="007a27"/>
                </a:solidFill>
                <a:effectLst/>
                <a:uFillTx/>
                <a:latin typeface="Calibri"/>
                <a:ea typeface="Calibri"/>
              </a:rPr>
              <a:t>02</a:t>
            </a:r>
            <a:endParaRPr b="0" lang="en-US" sz="900" strike="noStrike" u="none">
              <a:solidFill>
                <a:srgbClr val="000000"/>
              </a:solidFill>
              <a:effectLst/>
              <a:uFillTx/>
              <a:latin typeface="Arial"/>
            </a:endParaRPr>
          </a:p>
        </p:txBody>
      </p:sp>
      <p:sp>
        <p:nvSpPr>
          <p:cNvPr id="1721" name="Text 27"/>
          <p:cNvSpPr/>
          <p:nvPr/>
        </p:nvSpPr>
        <p:spPr>
          <a:xfrm>
            <a:off x="8953200" y="2670120"/>
            <a:ext cx="2414880" cy="319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Platform economics</a:t>
            </a:r>
            <a:endParaRPr b="0" lang="en-US" sz="1400" strike="noStrike" u="none">
              <a:solidFill>
                <a:srgbClr val="000000"/>
              </a:solidFill>
              <a:effectLst/>
              <a:uFillTx/>
              <a:latin typeface="Arial"/>
            </a:endParaRPr>
          </a:p>
        </p:txBody>
      </p:sp>
      <p:sp>
        <p:nvSpPr>
          <p:cNvPr id="1722" name="Text 28"/>
          <p:cNvSpPr/>
          <p:nvPr/>
        </p:nvSpPr>
        <p:spPr>
          <a:xfrm>
            <a:off x="8953200" y="3063240"/>
            <a:ext cx="2414880" cy="648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920" strike="noStrike" u="none">
                <a:solidFill>
                  <a:srgbClr val="5a625c"/>
                </a:solidFill>
                <a:effectLst/>
                <a:uFillTx/>
                <a:latin typeface="Calibri"/>
                <a:ea typeface="Calibri"/>
              </a:rPr>
              <a:t>Core capabilities are built once and inherited across products, increasing roadmap leverage and reducing fragmented investment.</a:t>
            </a:r>
            <a:endParaRPr b="0" lang="en-US" sz="920" strike="noStrike" u="none">
              <a:solidFill>
                <a:srgbClr val="000000"/>
              </a:solidFill>
              <a:effectLst/>
              <a:uFillTx/>
              <a:latin typeface="Arial"/>
            </a:endParaRPr>
          </a:p>
        </p:txBody>
      </p:sp>
      <p:sp>
        <p:nvSpPr>
          <p:cNvPr id="1723" name="Shape 29"/>
          <p:cNvSpPr/>
          <p:nvPr/>
        </p:nvSpPr>
        <p:spPr>
          <a:xfrm>
            <a:off x="5733360" y="4087440"/>
            <a:ext cx="2817360" cy="1672920"/>
          </a:xfrm>
          <a:prstGeom prst="roundRect">
            <a:avLst>
              <a:gd name="adj" fmla="val 3279"/>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724" name="Shape 30"/>
          <p:cNvSpPr/>
          <p:nvPr/>
        </p:nvSpPr>
        <p:spPr>
          <a:xfrm>
            <a:off x="5733360" y="4087440"/>
            <a:ext cx="54360" cy="16729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725" name="Text 31"/>
          <p:cNvSpPr/>
          <p:nvPr/>
        </p:nvSpPr>
        <p:spPr>
          <a:xfrm>
            <a:off x="5934600" y="4251960"/>
            <a:ext cx="38376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trike="noStrike" u="none">
                <a:solidFill>
                  <a:srgbClr val="007a27"/>
                </a:solidFill>
                <a:effectLst/>
                <a:uFillTx/>
                <a:latin typeface="Calibri"/>
                <a:ea typeface="Calibri"/>
              </a:rPr>
              <a:t>03</a:t>
            </a:r>
            <a:endParaRPr b="0" lang="en-US" sz="900" strike="noStrike" u="none">
              <a:solidFill>
                <a:srgbClr val="000000"/>
              </a:solidFill>
              <a:effectLst/>
              <a:uFillTx/>
              <a:latin typeface="Arial"/>
            </a:endParaRPr>
          </a:p>
        </p:txBody>
      </p:sp>
      <p:sp>
        <p:nvSpPr>
          <p:cNvPr id="1726" name="Text 32"/>
          <p:cNvSpPr/>
          <p:nvPr/>
        </p:nvSpPr>
        <p:spPr>
          <a:xfrm>
            <a:off x="5934600" y="4544640"/>
            <a:ext cx="2414880" cy="319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Board-grade assurance</a:t>
            </a:r>
            <a:endParaRPr b="0" lang="en-US" sz="1400" strike="noStrike" u="none">
              <a:solidFill>
                <a:srgbClr val="000000"/>
              </a:solidFill>
              <a:effectLst/>
              <a:uFillTx/>
              <a:latin typeface="Arial"/>
            </a:endParaRPr>
          </a:p>
        </p:txBody>
      </p:sp>
      <p:sp>
        <p:nvSpPr>
          <p:cNvPr id="1727" name="Text 33"/>
          <p:cNvSpPr/>
          <p:nvPr/>
        </p:nvSpPr>
        <p:spPr>
          <a:xfrm>
            <a:off x="5934600" y="4937760"/>
            <a:ext cx="2414880" cy="648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920" strike="noStrike" u="none">
                <a:solidFill>
                  <a:srgbClr val="5a625c"/>
                </a:solidFill>
                <a:effectLst/>
                <a:uFillTx/>
                <a:latin typeface="Calibri"/>
                <a:ea typeface="Calibri"/>
              </a:rPr>
              <a:t>Lineage, calculation governance and evidence make every material number reproducible, auditable and disclosure ready.</a:t>
            </a:r>
            <a:endParaRPr b="0" lang="en-US" sz="920" strike="noStrike" u="none">
              <a:solidFill>
                <a:srgbClr val="000000"/>
              </a:solidFill>
              <a:effectLst/>
              <a:uFillTx/>
              <a:latin typeface="Arial"/>
            </a:endParaRPr>
          </a:p>
        </p:txBody>
      </p:sp>
      <p:sp>
        <p:nvSpPr>
          <p:cNvPr id="1728" name="Shape 34"/>
          <p:cNvSpPr/>
          <p:nvPr/>
        </p:nvSpPr>
        <p:spPr>
          <a:xfrm>
            <a:off x="8752320" y="4087440"/>
            <a:ext cx="2817360" cy="1672920"/>
          </a:xfrm>
          <a:prstGeom prst="roundRect">
            <a:avLst>
              <a:gd name="adj" fmla="val 3279"/>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729" name="Shape 35"/>
          <p:cNvSpPr/>
          <p:nvPr/>
        </p:nvSpPr>
        <p:spPr>
          <a:xfrm>
            <a:off x="8752320" y="4087440"/>
            <a:ext cx="54360" cy="16729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730" name="Text 36"/>
          <p:cNvSpPr/>
          <p:nvPr/>
        </p:nvSpPr>
        <p:spPr>
          <a:xfrm>
            <a:off x="8953200" y="4251960"/>
            <a:ext cx="38376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trike="noStrike" u="none">
                <a:solidFill>
                  <a:srgbClr val="007a27"/>
                </a:solidFill>
                <a:effectLst/>
                <a:uFillTx/>
                <a:latin typeface="Calibri"/>
                <a:ea typeface="Calibri"/>
              </a:rPr>
              <a:t>04</a:t>
            </a:r>
            <a:endParaRPr b="0" lang="en-US" sz="900" strike="noStrike" u="none">
              <a:solidFill>
                <a:srgbClr val="000000"/>
              </a:solidFill>
              <a:effectLst/>
              <a:uFillTx/>
              <a:latin typeface="Arial"/>
            </a:endParaRPr>
          </a:p>
        </p:txBody>
      </p:sp>
      <p:sp>
        <p:nvSpPr>
          <p:cNvPr id="1731" name="Text 37"/>
          <p:cNvSpPr/>
          <p:nvPr/>
        </p:nvSpPr>
        <p:spPr>
          <a:xfrm>
            <a:off x="8953200" y="4544640"/>
            <a:ext cx="2414880" cy="319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Faster decisions</a:t>
            </a:r>
            <a:endParaRPr b="0" lang="en-US" sz="1400" strike="noStrike" u="none">
              <a:solidFill>
                <a:srgbClr val="000000"/>
              </a:solidFill>
              <a:effectLst/>
              <a:uFillTx/>
              <a:latin typeface="Arial"/>
            </a:endParaRPr>
          </a:p>
        </p:txBody>
      </p:sp>
      <p:sp>
        <p:nvSpPr>
          <p:cNvPr id="1732" name="Text 38"/>
          <p:cNvSpPr/>
          <p:nvPr/>
        </p:nvSpPr>
        <p:spPr>
          <a:xfrm>
            <a:off x="8953200" y="4937760"/>
            <a:ext cx="2414880" cy="648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920" strike="noStrike" u="none">
                <a:solidFill>
                  <a:srgbClr val="5a625c"/>
                </a:solidFill>
                <a:effectLst/>
                <a:uFillTx/>
                <a:latin typeface="Calibri"/>
                <a:ea typeface="Calibri"/>
              </a:rPr>
              <a:t>AI-assisted recommendations, scenarios and value-at-risk analysis move teams from collecting data to funding action.</a:t>
            </a:r>
            <a:endParaRPr b="0" lang="en-US" sz="920" strike="noStrike" u="none">
              <a:solidFill>
                <a:srgbClr val="000000"/>
              </a:solidFill>
              <a:effectLst/>
              <a:uFillTx/>
              <a:latin typeface="Arial"/>
            </a:endParaRPr>
          </a:p>
        </p:txBody>
      </p:sp>
      <p:sp>
        <p:nvSpPr>
          <p:cNvPr id="1733" name="Shape 39"/>
          <p:cNvSpPr/>
          <p:nvPr/>
        </p:nvSpPr>
        <p:spPr>
          <a:xfrm>
            <a:off x="621720" y="5943600"/>
            <a:ext cx="10947600" cy="402120"/>
          </a:xfrm>
          <a:prstGeom prst="rect">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734" name="Shape 40"/>
          <p:cNvSpPr/>
          <p:nvPr/>
        </p:nvSpPr>
        <p:spPr>
          <a:xfrm>
            <a:off x="621720" y="5943600"/>
            <a:ext cx="63720" cy="4021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735" name="Text 41"/>
          <p:cNvSpPr/>
          <p:nvPr/>
        </p:nvSpPr>
        <p:spPr>
          <a:xfrm>
            <a:off x="804600" y="5943600"/>
            <a:ext cx="10581840" cy="4021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950" strike="noStrike" u="none">
                <a:solidFill>
                  <a:srgbClr val="1e2420"/>
                </a:solidFill>
                <a:effectLst/>
                <a:uFillTx/>
                <a:latin typeface="Calibri"/>
                <a:ea typeface="Calibri"/>
              </a:rPr>
              <a:t>Finance and Product to baseline three measures before investment lock: ARR protected and expanded, annual cost to serve removed, and climate exposure avoided or repriced.</a:t>
            </a:r>
            <a:endParaRPr b="0" lang="en-US" sz="950" strike="noStrike" u="none">
              <a:solidFill>
                <a:srgbClr val="000000"/>
              </a:solidFill>
              <a:effectLst/>
              <a:uFillTx/>
              <a:latin typeface="Arial"/>
            </a:endParaRPr>
          </a:p>
        </p:txBody>
      </p:sp>
      <p:sp>
        <p:nvSpPr>
          <p:cNvPr id="1736" name="Shape 42"/>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737" name="Text 43"/>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1738" name="Text 44"/>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1739" name="PlaceHolder 1"/>
          <p:cNvSpPr>
            <a:spLocks noGrp="1"/>
          </p:cNvSpPr>
          <p:nvPr>
            <p:ph type="sldNum" idx="42"/>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E119AB7C-D2C7-4CA5-9584-EFAA44E0D093}"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740"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1741"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1742" name="Shape 2"/>
          <p:cNvSpPr/>
          <p:nvPr/>
        </p:nvSpPr>
        <p:spPr>
          <a:xfrm>
            <a:off x="621720" y="311040"/>
            <a:ext cx="460368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743" name="Text 3"/>
          <p:cNvSpPr/>
          <p:nvPr/>
        </p:nvSpPr>
        <p:spPr>
          <a:xfrm>
            <a:off x="804600" y="329040"/>
            <a:ext cx="427464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2027 COST-BENEFIT CASE | BOARD PROPOSAL</a:t>
            </a:r>
            <a:endParaRPr b="0" lang="en-US" sz="950" strike="noStrike" u="none">
              <a:solidFill>
                <a:srgbClr val="000000"/>
              </a:solidFill>
              <a:effectLst/>
              <a:uFillTx/>
              <a:latin typeface="Arial"/>
            </a:endParaRPr>
          </a:p>
        </p:txBody>
      </p:sp>
      <p:sp>
        <p:nvSpPr>
          <p:cNvPr id="1744" name="Text 4"/>
          <p:cNvSpPr/>
          <p:nvPr/>
        </p:nvSpPr>
        <p:spPr>
          <a:xfrm>
            <a:off x="621720" y="768240"/>
            <a:ext cx="10947600" cy="804240"/>
          </a:xfrm>
          <a:prstGeom prst="rect">
            <a:avLst/>
          </a:prstGeom>
          <a:noFill/>
          <a:ln w="0">
            <a:noFill/>
          </a:ln>
        </p:spPr>
        <p:style>
          <a:lnRef idx="0"/>
          <a:fillRef idx="0"/>
          <a:effectRef idx="0"/>
          <a:fontRef idx="minor"/>
        </p:style>
        <p:txBody>
          <a:bodyPr lIns="0" rIns="0" tIns="0" bIns="0" anchor="t">
            <a:normAutofit lnSpcReduction="9999"/>
          </a:bodyPr>
          <a:p>
            <a:pPr defTabSz="914400">
              <a:lnSpc>
                <a:spcPct val="100000"/>
              </a:lnSpc>
              <a:tabLst>
                <a:tab algn="l" pos="0"/>
              </a:tabLst>
            </a:pPr>
            <a:r>
              <a:rPr b="1" lang="en-US" sz="2800" strike="noStrike" u="none">
                <a:solidFill>
                  <a:srgbClr val="1e2420"/>
                </a:solidFill>
                <a:effectLst/>
                <a:uFillTx/>
                <a:latin typeface="Calibri"/>
                <a:ea typeface="Calibri"/>
              </a:rPr>
              <a:t>Fund the shared platform once, unlock three measurable value pools</a:t>
            </a:r>
            <a:endParaRPr b="0" lang="en-US" sz="2800" strike="noStrike" u="none">
              <a:solidFill>
                <a:srgbClr val="000000"/>
              </a:solidFill>
              <a:effectLst/>
              <a:uFillTx/>
              <a:latin typeface="Arial"/>
            </a:endParaRPr>
          </a:p>
        </p:txBody>
      </p:sp>
      <p:sp>
        <p:nvSpPr>
          <p:cNvPr id="1745" name="Text 5"/>
          <p:cNvSpPr/>
          <p:nvPr/>
        </p:nvSpPr>
        <p:spPr>
          <a:xfrm>
            <a:off x="621720" y="1572840"/>
            <a:ext cx="10947600" cy="310680"/>
          </a:xfrm>
          <a:prstGeom prst="rect">
            <a:avLst/>
          </a:prstGeom>
          <a:noFill/>
          <a:ln w="0">
            <a:noFill/>
          </a:ln>
        </p:spPr>
        <p:style>
          <a:lnRef idx="0"/>
          <a:fillRef idx="0"/>
          <a:effectRef idx="0"/>
          <a:fontRef idx="minor"/>
        </p:style>
        <p:txBody>
          <a:bodyPr lIns="0" rIns="0" tIns="0" bIns="0" anchor="t">
            <a:normAutofit fontScale="92500" lnSpcReduction="9999"/>
          </a:bodyPr>
          <a:p>
            <a:pPr defTabSz="914400">
              <a:lnSpc>
                <a:spcPct val="100000"/>
              </a:lnSpc>
              <a:tabLst>
                <a:tab algn="l" pos="0"/>
              </a:tabLst>
            </a:pPr>
            <a:r>
              <a:rPr b="0" lang="en-US" sz="1250" strike="noStrike" u="none">
                <a:solidFill>
                  <a:srgbClr val="5a625c"/>
                </a:solidFill>
                <a:effectLst/>
                <a:uFillTx/>
                <a:latin typeface="Calibri"/>
                <a:ea typeface="Calibri"/>
              </a:rPr>
              <a:t>The 2027 case compares incremental roadmap investment with commercial growth, operating leverage, and risk-adjusted value. All monetary amounts remain subject to Finance validation.</a:t>
            </a:r>
            <a:endParaRPr b="0" lang="en-US" sz="1250" strike="noStrike" u="none">
              <a:solidFill>
                <a:srgbClr val="000000"/>
              </a:solidFill>
              <a:effectLst/>
              <a:uFillTx/>
              <a:latin typeface="Arial"/>
            </a:endParaRPr>
          </a:p>
        </p:txBody>
      </p:sp>
      <p:sp>
        <p:nvSpPr>
          <p:cNvPr id="1746"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747" name="Shape 7"/>
          <p:cNvSpPr/>
          <p:nvPr/>
        </p:nvSpPr>
        <p:spPr>
          <a:xfrm>
            <a:off x="621720" y="1901880"/>
            <a:ext cx="4891680" cy="2907360"/>
          </a:xfrm>
          <a:prstGeom prst="roundRect">
            <a:avLst>
              <a:gd name="adj" fmla="val 188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748" name="Text 8"/>
          <p:cNvSpPr/>
          <p:nvPr/>
        </p:nvSpPr>
        <p:spPr>
          <a:xfrm>
            <a:off x="841320" y="2084760"/>
            <a:ext cx="445284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11" strike="noStrike" u="none">
                <a:solidFill>
                  <a:srgbClr val="5a625c"/>
                </a:solidFill>
                <a:effectLst/>
                <a:uFillTx/>
                <a:latin typeface="Calibri"/>
                <a:ea typeface="Calibri"/>
              </a:rPr>
              <a:t>INCREMENTAL INVESTMENT TO 2027</a:t>
            </a:r>
            <a:endParaRPr b="0" lang="en-US" sz="850" strike="noStrike" u="none">
              <a:solidFill>
                <a:srgbClr val="000000"/>
              </a:solidFill>
              <a:effectLst/>
              <a:uFillTx/>
              <a:latin typeface="Arial"/>
            </a:endParaRPr>
          </a:p>
        </p:txBody>
      </p:sp>
      <p:sp>
        <p:nvSpPr>
          <p:cNvPr id="1749" name="Text 9"/>
          <p:cNvSpPr/>
          <p:nvPr/>
        </p:nvSpPr>
        <p:spPr>
          <a:xfrm>
            <a:off x="841320" y="2432160"/>
            <a:ext cx="2880000" cy="2008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050" strike="noStrike" u="none">
                <a:solidFill>
                  <a:srgbClr val="1e2420"/>
                </a:solidFill>
                <a:effectLst/>
                <a:uFillTx/>
                <a:latin typeface="Calibri"/>
                <a:ea typeface="Calibri"/>
              </a:rPr>
              <a:t>01  Product and platform capacity</a:t>
            </a:r>
            <a:endParaRPr b="0" lang="en-US" sz="1050" strike="noStrike" u="none">
              <a:solidFill>
                <a:srgbClr val="000000"/>
              </a:solidFill>
              <a:effectLst/>
              <a:uFillTx/>
              <a:latin typeface="Arial"/>
            </a:endParaRPr>
          </a:p>
        </p:txBody>
      </p:sp>
      <p:sp>
        <p:nvSpPr>
          <p:cNvPr id="1750" name="Text 10"/>
          <p:cNvSpPr/>
          <p:nvPr/>
        </p:nvSpPr>
        <p:spPr>
          <a:xfrm>
            <a:off x="3776400" y="2432160"/>
            <a:ext cx="1517400" cy="200880"/>
          </a:xfrm>
          <a:prstGeom prst="rect">
            <a:avLst/>
          </a:prstGeom>
          <a:noFill/>
          <a:ln w="0">
            <a:noFill/>
          </a:ln>
        </p:spPr>
        <p:style>
          <a:lnRef idx="0"/>
          <a:fillRef idx="0"/>
          <a:effectRef idx="0"/>
          <a:fontRef idx="minor"/>
        </p:style>
        <p:txBody>
          <a:bodyPr lIns="0" rIns="0" tIns="0" bIns="0" anchor="ctr">
            <a:normAutofit/>
          </a:bodyPr>
          <a:p>
            <a:pPr algn="r" defTabSz="914400">
              <a:lnSpc>
                <a:spcPct val="100000"/>
              </a:lnSpc>
              <a:tabLst>
                <a:tab algn="l" pos="0"/>
              </a:tabLst>
            </a:pPr>
            <a:r>
              <a:rPr b="1" lang="en-US" sz="1050" strike="noStrike" u="none">
                <a:solidFill>
                  <a:srgbClr val="1e2420"/>
                </a:solidFill>
                <a:effectLst/>
                <a:uFillTx/>
                <a:latin typeface="Calibri"/>
                <a:ea typeface="Calibri"/>
              </a:rPr>
              <a:t>[€ BUILD COST]</a:t>
            </a:r>
            <a:endParaRPr b="0" lang="en-US" sz="1050" strike="noStrike" u="none">
              <a:solidFill>
                <a:srgbClr val="000000"/>
              </a:solidFill>
              <a:effectLst/>
              <a:uFillTx/>
              <a:latin typeface="Arial"/>
            </a:endParaRPr>
          </a:p>
        </p:txBody>
      </p:sp>
      <p:sp>
        <p:nvSpPr>
          <p:cNvPr id="1751" name="Text 11"/>
          <p:cNvSpPr/>
          <p:nvPr/>
        </p:nvSpPr>
        <p:spPr>
          <a:xfrm>
            <a:off x="841320" y="2697480"/>
            <a:ext cx="445284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780" strike="noStrike" u="none">
                <a:solidFill>
                  <a:srgbClr val="5a625c"/>
                </a:solidFill>
                <a:effectLst/>
                <a:uFillTx/>
                <a:latin typeface="Calibri"/>
                <a:ea typeface="Calibri"/>
              </a:rPr>
              <a:t>Core data, calculation and AI capabilities  •  Product roadmap delivery through 2027</a:t>
            </a:r>
            <a:endParaRPr b="0" lang="en-US" sz="780" strike="noStrike" u="none">
              <a:solidFill>
                <a:srgbClr val="000000"/>
              </a:solidFill>
              <a:effectLst/>
              <a:uFillTx/>
              <a:latin typeface="Arial"/>
            </a:endParaRPr>
          </a:p>
        </p:txBody>
      </p:sp>
      <p:sp>
        <p:nvSpPr>
          <p:cNvPr id="1752" name="Shape 12"/>
          <p:cNvSpPr/>
          <p:nvPr/>
        </p:nvSpPr>
        <p:spPr>
          <a:xfrm>
            <a:off x="840960" y="3081240"/>
            <a:ext cx="4453200" cy="360"/>
          </a:xfrm>
          <a:prstGeom prst="line">
            <a:avLst/>
          </a:prstGeom>
          <a:ln w="6350">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753" name="Text 13"/>
          <p:cNvSpPr/>
          <p:nvPr/>
        </p:nvSpPr>
        <p:spPr>
          <a:xfrm>
            <a:off x="841320" y="3182040"/>
            <a:ext cx="2880000" cy="2008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050" strike="noStrike" u="none">
                <a:solidFill>
                  <a:srgbClr val="1e2420"/>
                </a:solidFill>
                <a:effectLst/>
                <a:uFillTx/>
                <a:latin typeface="Calibri"/>
                <a:ea typeface="Calibri"/>
              </a:rPr>
              <a:t>02  Migration and enablement</a:t>
            </a:r>
            <a:endParaRPr b="0" lang="en-US" sz="1050" strike="noStrike" u="none">
              <a:solidFill>
                <a:srgbClr val="000000"/>
              </a:solidFill>
              <a:effectLst/>
              <a:uFillTx/>
              <a:latin typeface="Arial"/>
            </a:endParaRPr>
          </a:p>
        </p:txBody>
      </p:sp>
      <p:sp>
        <p:nvSpPr>
          <p:cNvPr id="1754" name="Text 14"/>
          <p:cNvSpPr/>
          <p:nvPr/>
        </p:nvSpPr>
        <p:spPr>
          <a:xfrm>
            <a:off x="3776400" y="3182040"/>
            <a:ext cx="1517400" cy="200880"/>
          </a:xfrm>
          <a:prstGeom prst="rect">
            <a:avLst/>
          </a:prstGeom>
          <a:noFill/>
          <a:ln w="0">
            <a:noFill/>
          </a:ln>
        </p:spPr>
        <p:style>
          <a:lnRef idx="0"/>
          <a:fillRef idx="0"/>
          <a:effectRef idx="0"/>
          <a:fontRef idx="minor"/>
        </p:style>
        <p:txBody>
          <a:bodyPr lIns="0" rIns="0" tIns="0" bIns="0" anchor="ctr">
            <a:normAutofit/>
          </a:bodyPr>
          <a:p>
            <a:pPr algn="r" defTabSz="914400">
              <a:lnSpc>
                <a:spcPct val="100000"/>
              </a:lnSpc>
              <a:tabLst>
                <a:tab algn="l" pos="0"/>
              </a:tabLst>
            </a:pPr>
            <a:r>
              <a:rPr b="1" lang="en-US" sz="1050" strike="noStrike" u="none">
                <a:solidFill>
                  <a:srgbClr val="1e2420"/>
                </a:solidFill>
                <a:effectLst/>
                <a:uFillTx/>
                <a:latin typeface="Calibri"/>
                <a:ea typeface="Calibri"/>
              </a:rPr>
              <a:t>[€ CHANGE COST]</a:t>
            </a:r>
            <a:endParaRPr b="0" lang="en-US" sz="1050" strike="noStrike" u="none">
              <a:solidFill>
                <a:srgbClr val="000000"/>
              </a:solidFill>
              <a:effectLst/>
              <a:uFillTx/>
              <a:latin typeface="Arial"/>
            </a:endParaRPr>
          </a:p>
        </p:txBody>
      </p:sp>
      <p:sp>
        <p:nvSpPr>
          <p:cNvPr id="1755" name="Text 15"/>
          <p:cNvSpPr/>
          <p:nvPr/>
        </p:nvSpPr>
        <p:spPr>
          <a:xfrm>
            <a:off x="841320" y="3447360"/>
            <a:ext cx="445284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780" strike="noStrike" u="none">
                <a:solidFill>
                  <a:srgbClr val="5a625c"/>
                </a:solidFill>
                <a:effectLst/>
                <a:uFillTx/>
                <a:latin typeface="Calibri"/>
                <a:ea typeface="Calibri"/>
              </a:rPr>
              <a:t>Client and Schneider Electric migrations  •  Data onboarding, training and adoption</a:t>
            </a:r>
            <a:endParaRPr b="0" lang="en-US" sz="780" strike="noStrike" u="none">
              <a:solidFill>
                <a:srgbClr val="000000"/>
              </a:solidFill>
              <a:effectLst/>
              <a:uFillTx/>
              <a:latin typeface="Arial"/>
            </a:endParaRPr>
          </a:p>
        </p:txBody>
      </p:sp>
      <p:sp>
        <p:nvSpPr>
          <p:cNvPr id="1756" name="Shape 16"/>
          <p:cNvSpPr/>
          <p:nvPr/>
        </p:nvSpPr>
        <p:spPr>
          <a:xfrm>
            <a:off x="840960" y="3831120"/>
            <a:ext cx="4453200" cy="360"/>
          </a:xfrm>
          <a:prstGeom prst="line">
            <a:avLst/>
          </a:prstGeom>
          <a:ln w="6350">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757" name="Text 17"/>
          <p:cNvSpPr/>
          <p:nvPr/>
        </p:nvSpPr>
        <p:spPr>
          <a:xfrm>
            <a:off x="841320" y="3931920"/>
            <a:ext cx="2880000" cy="2008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050" strike="noStrike" u="none">
                <a:solidFill>
                  <a:srgbClr val="1e2420"/>
                </a:solidFill>
                <a:effectLst/>
                <a:uFillTx/>
                <a:latin typeface="Calibri"/>
                <a:ea typeface="Calibri"/>
              </a:rPr>
              <a:t>03  Go-to-market and assurance</a:t>
            </a:r>
            <a:endParaRPr b="0" lang="en-US" sz="1050" strike="noStrike" u="none">
              <a:solidFill>
                <a:srgbClr val="000000"/>
              </a:solidFill>
              <a:effectLst/>
              <a:uFillTx/>
              <a:latin typeface="Arial"/>
            </a:endParaRPr>
          </a:p>
        </p:txBody>
      </p:sp>
      <p:sp>
        <p:nvSpPr>
          <p:cNvPr id="1758" name="Text 18"/>
          <p:cNvSpPr/>
          <p:nvPr/>
        </p:nvSpPr>
        <p:spPr>
          <a:xfrm>
            <a:off x="3776400" y="3931920"/>
            <a:ext cx="1517400" cy="200880"/>
          </a:xfrm>
          <a:prstGeom prst="rect">
            <a:avLst/>
          </a:prstGeom>
          <a:noFill/>
          <a:ln w="0">
            <a:noFill/>
          </a:ln>
        </p:spPr>
        <p:style>
          <a:lnRef idx="0"/>
          <a:fillRef idx="0"/>
          <a:effectRef idx="0"/>
          <a:fontRef idx="minor"/>
        </p:style>
        <p:txBody>
          <a:bodyPr lIns="0" rIns="0" tIns="0" bIns="0" anchor="ctr">
            <a:normAutofit/>
          </a:bodyPr>
          <a:p>
            <a:pPr algn="r" defTabSz="914400">
              <a:lnSpc>
                <a:spcPct val="100000"/>
              </a:lnSpc>
              <a:tabLst>
                <a:tab algn="l" pos="0"/>
              </a:tabLst>
            </a:pPr>
            <a:r>
              <a:rPr b="1" lang="en-US" sz="1050" strike="noStrike" u="none">
                <a:solidFill>
                  <a:srgbClr val="1e2420"/>
                </a:solidFill>
                <a:effectLst/>
                <a:uFillTx/>
                <a:latin typeface="Calibri"/>
                <a:ea typeface="Calibri"/>
              </a:rPr>
              <a:t>[€ LAUNCH COST]</a:t>
            </a:r>
            <a:endParaRPr b="0" lang="en-US" sz="1050" strike="noStrike" u="none">
              <a:solidFill>
                <a:srgbClr val="000000"/>
              </a:solidFill>
              <a:effectLst/>
              <a:uFillTx/>
              <a:latin typeface="Arial"/>
            </a:endParaRPr>
          </a:p>
        </p:txBody>
      </p:sp>
      <p:sp>
        <p:nvSpPr>
          <p:cNvPr id="1759" name="Text 19"/>
          <p:cNvSpPr/>
          <p:nvPr/>
        </p:nvSpPr>
        <p:spPr>
          <a:xfrm>
            <a:off x="841320" y="4197240"/>
            <a:ext cx="445284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780" strike="noStrike" u="none">
                <a:solidFill>
                  <a:srgbClr val="5a625c"/>
                </a:solidFill>
                <a:effectLst/>
                <a:uFillTx/>
                <a:latin typeface="Calibri"/>
                <a:ea typeface="Calibri"/>
              </a:rPr>
              <a:t>Commercial readiness and packaging  •  Methodology, controls and assurance</a:t>
            </a:r>
            <a:endParaRPr b="0" lang="en-US" sz="780" strike="noStrike" u="none">
              <a:solidFill>
                <a:srgbClr val="000000"/>
              </a:solidFill>
              <a:effectLst/>
              <a:uFillTx/>
              <a:latin typeface="Arial"/>
            </a:endParaRPr>
          </a:p>
        </p:txBody>
      </p:sp>
      <p:sp>
        <p:nvSpPr>
          <p:cNvPr id="1760" name="Shape 20"/>
          <p:cNvSpPr/>
          <p:nvPr/>
        </p:nvSpPr>
        <p:spPr>
          <a:xfrm>
            <a:off x="5586840" y="3154680"/>
            <a:ext cx="511920" cy="360"/>
          </a:xfrm>
          <a:prstGeom prst="line">
            <a:avLst/>
          </a:prstGeom>
          <a:ln w="25400">
            <a:solidFill>
              <a:srgbClr val="3dcd58"/>
            </a:solidFill>
            <a:round/>
            <a:tailEnd len="med" type="triangle" w="me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761" name="Text 21"/>
          <p:cNvSpPr/>
          <p:nvPr/>
        </p:nvSpPr>
        <p:spPr>
          <a:xfrm>
            <a:off x="5550480" y="3319200"/>
            <a:ext cx="585000" cy="41112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620" strike="noStrike" u="none">
                <a:solidFill>
                  <a:srgbClr val="007a27"/>
                </a:solidFill>
                <a:effectLst/>
                <a:uFillTx/>
                <a:latin typeface="Calibri"/>
                <a:ea typeface="Calibri"/>
              </a:rPr>
              <a:t>VALUE</a:t>
            </a:r>
            <a:endParaRPr b="0" lang="en-US" sz="620" strike="noStrike" u="none">
              <a:solidFill>
                <a:srgbClr val="000000"/>
              </a:solidFill>
              <a:effectLst/>
              <a:uFillTx/>
              <a:latin typeface="Arial"/>
            </a:endParaRPr>
          </a:p>
          <a:p>
            <a:pPr algn="ctr" defTabSz="914400">
              <a:lnSpc>
                <a:spcPct val="100000"/>
              </a:lnSpc>
              <a:tabLst>
                <a:tab algn="l" pos="0"/>
              </a:tabLst>
            </a:pPr>
            <a:r>
              <a:rPr b="1" lang="en-US" sz="620" strike="noStrike" u="none">
                <a:solidFill>
                  <a:srgbClr val="007a27"/>
                </a:solidFill>
                <a:effectLst/>
                <a:uFillTx/>
                <a:latin typeface="Calibri"/>
                <a:ea typeface="Calibri"/>
              </a:rPr>
              <a:t>CONVERSION</a:t>
            </a:r>
            <a:endParaRPr b="0" lang="en-US" sz="620" strike="noStrike" u="none">
              <a:solidFill>
                <a:srgbClr val="000000"/>
              </a:solidFill>
              <a:effectLst/>
              <a:uFillTx/>
              <a:latin typeface="Arial"/>
            </a:endParaRPr>
          </a:p>
        </p:txBody>
      </p:sp>
      <p:sp>
        <p:nvSpPr>
          <p:cNvPr id="1762" name="Shape 22"/>
          <p:cNvSpPr/>
          <p:nvPr/>
        </p:nvSpPr>
        <p:spPr>
          <a:xfrm>
            <a:off x="6172200" y="1901880"/>
            <a:ext cx="5397480" cy="2907360"/>
          </a:xfrm>
          <a:prstGeom prst="roundRect">
            <a:avLst>
              <a:gd name="adj" fmla="val 1572"/>
            </a:avLst>
          </a:prstGeom>
          <a:solidFill>
            <a:srgbClr val="0c3b25"/>
          </a:solidFill>
          <a:ln w="12700">
            <a:solidFill>
              <a:srgbClr val="0c3b25"/>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763" name="Text 23"/>
          <p:cNvSpPr/>
          <p:nvPr/>
        </p:nvSpPr>
        <p:spPr>
          <a:xfrm>
            <a:off x="6391800" y="2084760"/>
            <a:ext cx="495828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11" strike="noStrike" u="none">
                <a:solidFill>
                  <a:srgbClr val="cdfc57"/>
                </a:solidFill>
                <a:effectLst/>
                <a:uFillTx/>
                <a:latin typeface="Calibri"/>
                <a:ea typeface="Calibri"/>
              </a:rPr>
              <a:t>VALUE POOLS FROM THE VALUE CASE</a:t>
            </a:r>
            <a:endParaRPr b="0" lang="en-US" sz="850" strike="noStrike" u="none">
              <a:solidFill>
                <a:srgbClr val="000000"/>
              </a:solidFill>
              <a:effectLst/>
              <a:uFillTx/>
              <a:latin typeface="Arial"/>
            </a:endParaRPr>
          </a:p>
        </p:txBody>
      </p:sp>
      <p:sp>
        <p:nvSpPr>
          <p:cNvPr id="1764" name="Text 24"/>
          <p:cNvSpPr/>
          <p:nvPr/>
        </p:nvSpPr>
        <p:spPr>
          <a:xfrm>
            <a:off x="6391800" y="2432160"/>
            <a:ext cx="1599840" cy="1641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00" spc="51" strike="noStrike" u="none">
                <a:solidFill>
                  <a:srgbClr val="bfd9c9"/>
                </a:solidFill>
                <a:effectLst/>
                <a:uFillTx/>
                <a:latin typeface="Calibri"/>
                <a:ea typeface="Calibri"/>
              </a:rPr>
              <a:t>01  GROWTH AND RETENTION</a:t>
            </a:r>
            <a:endParaRPr b="0" lang="en-US" sz="700" strike="noStrike" u="none">
              <a:solidFill>
                <a:srgbClr val="000000"/>
              </a:solidFill>
              <a:effectLst/>
              <a:uFillTx/>
              <a:latin typeface="Arial"/>
            </a:endParaRPr>
          </a:p>
        </p:txBody>
      </p:sp>
      <p:sp>
        <p:nvSpPr>
          <p:cNvPr id="1765" name="Text 25"/>
          <p:cNvSpPr/>
          <p:nvPr/>
        </p:nvSpPr>
        <p:spPr>
          <a:xfrm>
            <a:off x="8019360" y="2414160"/>
            <a:ext cx="3330720" cy="219240"/>
          </a:xfrm>
          <a:prstGeom prst="rect">
            <a:avLst/>
          </a:prstGeom>
          <a:noFill/>
          <a:ln w="0">
            <a:noFill/>
          </a:ln>
        </p:spPr>
        <p:style>
          <a:lnRef idx="0"/>
          <a:fillRef idx="0"/>
          <a:effectRef idx="0"/>
          <a:fontRef idx="minor"/>
        </p:style>
        <p:txBody>
          <a:bodyPr lIns="0" rIns="0" tIns="0" bIns="0" anchor="ctr">
            <a:normAutofit/>
          </a:bodyPr>
          <a:p>
            <a:pPr algn="r" defTabSz="914400">
              <a:lnSpc>
                <a:spcPct val="100000"/>
              </a:lnSpc>
              <a:tabLst>
                <a:tab algn="l" pos="0"/>
              </a:tabLst>
            </a:pPr>
            <a:r>
              <a:rPr b="1" lang="en-US" sz="1150" strike="noStrike" u="none">
                <a:solidFill>
                  <a:srgbClr val="cdfc57"/>
                </a:solidFill>
                <a:effectLst/>
                <a:uFillTx/>
                <a:latin typeface="Calibri"/>
                <a:ea typeface="Calibri"/>
              </a:rPr>
              <a:t>[€ ARR protected + expanded]</a:t>
            </a:r>
            <a:endParaRPr b="0" lang="en-US" sz="1150" strike="noStrike" u="none">
              <a:solidFill>
                <a:srgbClr val="000000"/>
              </a:solidFill>
              <a:effectLst/>
              <a:uFillTx/>
              <a:latin typeface="Arial"/>
            </a:endParaRPr>
          </a:p>
        </p:txBody>
      </p:sp>
      <p:sp>
        <p:nvSpPr>
          <p:cNvPr id="1766" name="Text 26"/>
          <p:cNvSpPr/>
          <p:nvPr/>
        </p:nvSpPr>
        <p:spPr>
          <a:xfrm>
            <a:off x="6391800" y="2688480"/>
            <a:ext cx="4958280" cy="282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780" strike="noStrike" u="none">
                <a:solidFill>
                  <a:srgbClr val="bfd9c9"/>
                </a:solidFill>
                <a:effectLst/>
                <a:uFillTx/>
                <a:latin typeface="Calibri"/>
                <a:ea typeface="Calibri"/>
              </a:rPr>
              <a:t>Cross-sell connected products, deepen strategic relevance, and reduce displacement by point solutions.</a:t>
            </a:r>
            <a:endParaRPr b="0" lang="en-US" sz="780" strike="noStrike" u="none">
              <a:solidFill>
                <a:srgbClr val="000000"/>
              </a:solidFill>
              <a:effectLst/>
              <a:uFillTx/>
              <a:latin typeface="Arial"/>
            </a:endParaRPr>
          </a:p>
        </p:txBody>
      </p:sp>
      <p:sp>
        <p:nvSpPr>
          <p:cNvPr id="1767" name="Shape 27"/>
          <p:cNvSpPr/>
          <p:nvPr/>
        </p:nvSpPr>
        <p:spPr>
          <a:xfrm>
            <a:off x="6391440" y="3081240"/>
            <a:ext cx="4959000" cy="360"/>
          </a:xfrm>
          <a:prstGeom prst="line">
            <a:avLst/>
          </a:prstGeom>
          <a:ln w="6350">
            <a:solidFill>
              <a:srgbClr val="32654b"/>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768" name="Text 28"/>
          <p:cNvSpPr/>
          <p:nvPr/>
        </p:nvSpPr>
        <p:spPr>
          <a:xfrm>
            <a:off x="6391800" y="3182040"/>
            <a:ext cx="1599840" cy="1641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00" spc="51" strike="noStrike" u="none">
                <a:solidFill>
                  <a:srgbClr val="bfd9c9"/>
                </a:solidFill>
                <a:effectLst/>
                <a:uFillTx/>
                <a:latin typeface="Calibri"/>
                <a:ea typeface="Calibri"/>
              </a:rPr>
              <a:t>02  COST TO SERVE</a:t>
            </a:r>
            <a:endParaRPr b="0" lang="en-US" sz="700" strike="noStrike" u="none">
              <a:solidFill>
                <a:srgbClr val="000000"/>
              </a:solidFill>
              <a:effectLst/>
              <a:uFillTx/>
              <a:latin typeface="Arial"/>
            </a:endParaRPr>
          </a:p>
        </p:txBody>
      </p:sp>
      <p:sp>
        <p:nvSpPr>
          <p:cNvPr id="1769" name="Text 29"/>
          <p:cNvSpPr/>
          <p:nvPr/>
        </p:nvSpPr>
        <p:spPr>
          <a:xfrm>
            <a:off x="8019360" y="3163680"/>
            <a:ext cx="3330720" cy="219240"/>
          </a:xfrm>
          <a:prstGeom prst="rect">
            <a:avLst/>
          </a:prstGeom>
          <a:noFill/>
          <a:ln w="0">
            <a:noFill/>
          </a:ln>
        </p:spPr>
        <p:style>
          <a:lnRef idx="0"/>
          <a:fillRef idx="0"/>
          <a:effectRef idx="0"/>
          <a:fontRef idx="minor"/>
        </p:style>
        <p:txBody>
          <a:bodyPr lIns="0" rIns="0" tIns="0" bIns="0" anchor="ctr">
            <a:normAutofit/>
          </a:bodyPr>
          <a:p>
            <a:pPr algn="r" defTabSz="914400">
              <a:lnSpc>
                <a:spcPct val="100000"/>
              </a:lnSpc>
              <a:tabLst>
                <a:tab algn="l" pos="0"/>
              </a:tabLst>
            </a:pPr>
            <a:r>
              <a:rPr b="1" lang="en-US" sz="1150" strike="noStrike" u="none">
                <a:solidFill>
                  <a:srgbClr val="cdfc57"/>
                </a:solidFill>
                <a:effectLst/>
                <a:uFillTx/>
                <a:latin typeface="Calibri"/>
                <a:ea typeface="Calibri"/>
              </a:rPr>
              <a:t>[€ annual cost removed]</a:t>
            </a:r>
            <a:endParaRPr b="0" lang="en-US" sz="1150" strike="noStrike" u="none">
              <a:solidFill>
                <a:srgbClr val="000000"/>
              </a:solidFill>
              <a:effectLst/>
              <a:uFillTx/>
              <a:latin typeface="Arial"/>
            </a:endParaRPr>
          </a:p>
        </p:txBody>
      </p:sp>
      <p:sp>
        <p:nvSpPr>
          <p:cNvPr id="1770" name="Text 30"/>
          <p:cNvSpPr/>
          <p:nvPr/>
        </p:nvSpPr>
        <p:spPr>
          <a:xfrm>
            <a:off x="6391800" y="3438000"/>
            <a:ext cx="4958280" cy="282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780" strike="noStrike" u="none">
                <a:solidFill>
                  <a:srgbClr val="bfd9c9"/>
                </a:solidFill>
                <a:effectLst/>
                <a:uFillTx/>
                <a:latin typeface="Calibri"/>
                <a:ea typeface="Calibri"/>
              </a:rPr>
              <a:t>Reuse ingestion, calculations, evidence and AI workflows instead of rebuilding them product by product.</a:t>
            </a:r>
            <a:endParaRPr b="0" lang="en-US" sz="780" strike="noStrike" u="none">
              <a:solidFill>
                <a:srgbClr val="000000"/>
              </a:solidFill>
              <a:effectLst/>
              <a:uFillTx/>
              <a:latin typeface="Arial"/>
            </a:endParaRPr>
          </a:p>
        </p:txBody>
      </p:sp>
      <p:sp>
        <p:nvSpPr>
          <p:cNvPr id="1771" name="Shape 31"/>
          <p:cNvSpPr/>
          <p:nvPr/>
        </p:nvSpPr>
        <p:spPr>
          <a:xfrm>
            <a:off x="6391440" y="3831120"/>
            <a:ext cx="4959000" cy="360"/>
          </a:xfrm>
          <a:prstGeom prst="line">
            <a:avLst/>
          </a:prstGeom>
          <a:ln w="6350">
            <a:solidFill>
              <a:srgbClr val="32654b"/>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772" name="Text 32"/>
          <p:cNvSpPr/>
          <p:nvPr/>
        </p:nvSpPr>
        <p:spPr>
          <a:xfrm>
            <a:off x="6391800" y="3931920"/>
            <a:ext cx="1599840" cy="1641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700" spc="51" strike="noStrike" u="none">
                <a:solidFill>
                  <a:srgbClr val="bfd9c9"/>
                </a:solidFill>
                <a:effectLst/>
                <a:uFillTx/>
                <a:latin typeface="Calibri"/>
                <a:ea typeface="Calibri"/>
              </a:rPr>
              <a:t>03  RISK AND CAPITAL</a:t>
            </a:r>
            <a:endParaRPr b="0" lang="en-US" sz="700" strike="noStrike" u="none">
              <a:solidFill>
                <a:srgbClr val="000000"/>
              </a:solidFill>
              <a:effectLst/>
              <a:uFillTx/>
              <a:latin typeface="Arial"/>
            </a:endParaRPr>
          </a:p>
        </p:txBody>
      </p:sp>
      <p:sp>
        <p:nvSpPr>
          <p:cNvPr id="1773" name="Text 33"/>
          <p:cNvSpPr/>
          <p:nvPr/>
        </p:nvSpPr>
        <p:spPr>
          <a:xfrm>
            <a:off x="8019360" y="3913560"/>
            <a:ext cx="3330720" cy="219240"/>
          </a:xfrm>
          <a:prstGeom prst="rect">
            <a:avLst/>
          </a:prstGeom>
          <a:noFill/>
          <a:ln w="0">
            <a:noFill/>
          </a:ln>
        </p:spPr>
        <p:style>
          <a:lnRef idx="0"/>
          <a:fillRef idx="0"/>
          <a:effectRef idx="0"/>
          <a:fontRef idx="minor"/>
        </p:style>
        <p:txBody>
          <a:bodyPr lIns="0" rIns="0" tIns="0" bIns="0" anchor="ctr">
            <a:normAutofit/>
          </a:bodyPr>
          <a:p>
            <a:pPr algn="r" defTabSz="914400">
              <a:lnSpc>
                <a:spcPct val="100000"/>
              </a:lnSpc>
              <a:tabLst>
                <a:tab algn="l" pos="0"/>
              </a:tabLst>
            </a:pPr>
            <a:r>
              <a:rPr b="1" lang="en-US" sz="1150" strike="noStrike" u="none">
                <a:solidFill>
                  <a:srgbClr val="cdfc57"/>
                </a:solidFill>
                <a:effectLst/>
                <a:uFillTx/>
                <a:latin typeface="Calibri"/>
                <a:ea typeface="Calibri"/>
              </a:rPr>
              <a:t>[€ exposure avoided or repriced]</a:t>
            </a:r>
            <a:endParaRPr b="0" lang="en-US" sz="1150" strike="noStrike" u="none">
              <a:solidFill>
                <a:srgbClr val="000000"/>
              </a:solidFill>
              <a:effectLst/>
              <a:uFillTx/>
              <a:latin typeface="Arial"/>
            </a:endParaRPr>
          </a:p>
        </p:txBody>
      </p:sp>
      <p:sp>
        <p:nvSpPr>
          <p:cNvPr id="1774" name="Text 34"/>
          <p:cNvSpPr/>
          <p:nvPr/>
        </p:nvSpPr>
        <p:spPr>
          <a:xfrm>
            <a:off x="6391800" y="4187880"/>
            <a:ext cx="4958280" cy="282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780" strike="noStrike" u="none">
                <a:solidFill>
                  <a:srgbClr val="bfd9c9"/>
                </a:solidFill>
                <a:effectLst/>
                <a:uFillTx/>
                <a:latin typeface="Calibri"/>
                <a:ea typeface="Calibri"/>
              </a:rPr>
              <a:t>Translate climate exposure into financial terms and direct adaptation capital toward the highest-value response.</a:t>
            </a:r>
            <a:endParaRPr b="0" lang="en-US" sz="780" strike="noStrike" u="none">
              <a:solidFill>
                <a:srgbClr val="000000"/>
              </a:solidFill>
              <a:effectLst/>
              <a:uFillTx/>
              <a:latin typeface="Arial"/>
            </a:endParaRPr>
          </a:p>
        </p:txBody>
      </p:sp>
      <p:sp>
        <p:nvSpPr>
          <p:cNvPr id="1775" name="Shape 35"/>
          <p:cNvSpPr/>
          <p:nvPr/>
        </p:nvSpPr>
        <p:spPr>
          <a:xfrm>
            <a:off x="621720" y="4992480"/>
            <a:ext cx="10947600" cy="438480"/>
          </a:xfrm>
          <a:prstGeom prst="roundRect">
            <a:avLst>
              <a:gd name="adj" fmla="val 8333"/>
            </a:avLst>
          </a:prstGeom>
          <a:solidFill>
            <a:srgbClr val="eaf8ed"/>
          </a:solidFill>
          <a:ln w="8890">
            <a:solidFill>
              <a:srgbClr val="3dcd58">
                <a:alpha val="45000"/>
              </a:srgbClr>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776" name="Text 36"/>
          <p:cNvSpPr/>
          <p:nvPr/>
        </p:nvSpPr>
        <p:spPr>
          <a:xfrm>
            <a:off x="804600" y="4992480"/>
            <a:ext cx="10581840" cy="43848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1050" strike="noStrike" u="none">
                <a:solidFill>
                  <a:srgbClr val="1e2420"/>
                </a:solidFill>
                <a:effectLst/>
                <a:uFillTx/>
                <a:latin typeface="Calibri"/>
                <a:ea typeface="Calibri"/>
              </a:rPr>
              <a:t>[€ TOTAL VALUE] − [€ INCREMENTAL COST] = [€ NET VALUE]  |  [X.X× BENEFIT / COST]  |  [XX-MONTH PAYBACK]</a:t>
            </a:r>
            <a:endParaRPr b="0" lang="en-US" sz="1050" strike="noStrike" u="none">
              <a:solidFill>
                <a:srgbClr val="000000"/>
              </a:solidFill>
              <a:effectLst/>
              <a:uFillTx/>
              <a:latin typeface="Arial"/>
            </a:endParaRPr>
          </a:p>
        </p:txBody>
      </p:sp>
      <p:sp>
        <p:nvSpPr>
          <p:cNvPr id="1777" name="Shape 37"/>
          <p:cNvSpPr/>
          <p:nvPr/>
        </p:nvSpPr>
        <p:spPr>
          <a:xfrm>
            <a:off x="621720" y="5577840"/>
            <a:ext cx="2736720" cy="328680"/>
          </a:xfrm>
          <a:prstGeom prst="rect">
            <a:avLst/>
          </a:prstGeom>
          <a:solidFill>
            <a:srgbClr val="ffffff"/>
          </a:solidFill>
          <a:ln w="508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778" name="Shape 38"/>
          <p:cNvSpPr/>
          <p:nvPr/>
        </p:nvSpPr>
        <p:spPr>
          <a:xfrm>
            <a:off x="621720" y="5577840"/>
            <a:ext cx="45360" cy="32868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779" name="Text 39"/>
          <p:cNvSpPr/>
          <p:nvPr/>
        </p:nvSpPr>
        <p:spPr>
          <a:xfrm>
            <a:off x="749880" y="5577840"/>
            <a:ext cx="2517120" cy="328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800" strike="noStrike" u="none">
                <a:solidFill>
                  <a:srgbClr val="1e2420"/>
                </a:solidFill>
                <a:effectLst/>
                <a:uFillTx/>
                <a:latin typeface="Calibri"/>
                <a:ea typeface="Calibri"/>
              </a:rPr>
              <a:t>01  Finance baseline</a:t>
            </a:r>
            <a:endParaRPr b="0" lang="en-US" sz="800" strike="noStrike" u="none">
              <a:solidFill>
                <a:srgbClr val="000000"/>
              </a:solidFill>
              <a:effectLst/>
              <a:uFillTx/>
              <a:latin typeface="Arial"/>
            </a:endParaRPr>
          </a:p>
        </p:txBody>
      </p:sp>
      <p:sp>
        <p:nvSpPr>
          <p:cNvPr id="1780" name="Shape 40"/>
          <p:cNvSpPr/>
          <p:nvPr/>
        </p:nvSpPr>
        <p:spPr>
          <a:xfrm>
            <a:off x="3358800" y="5577840"/>
            <a:ext cx="2736720" cy="328680"/>
          </a:xfrm>
          <a:prstGeom prst="rect">
            <a:avLst/>
          </a:prstGeom>
          <a:solidFill>
            <a:srgbClr val="f1f3f2"/>
          </a:solidFill>
          <a:ln w="508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781" name="Shape 41"/>
          <p:cNvSpPr/>
          <p:nvPr/>
        </p:nvSpPr>
        <p:spPr>
          <a:xfrm>
            <a:off x="3358800" y="5577840"/>
            <a:ext cx="45360" cy="32868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782" name="Text 42"/>
          <p:cNvSpPr/>
          <p:nvPr/>
        </p:nvSpPr>
        <p:spPr>
          <a:xfrm>
            <a:off x="3486960" y="5577840"/>
            <a:ext cx="2517120" cy="328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800" strike="noStrike" u="none">
                <a:solidFill>
                  <a:srgbClr val="1e2420"/>
                </a:solidFill>
                <a:effectLst/>
                <a:uFillTx/>
                <a:latin typeface="Calibri"/>
                <a:ea typeface="Calibri"/>
              </a:rPr>
              <a:t>02  Benefits owners</a:t>
            </a:r>
            <a:endParaRPr b="0" lang="en-US" sz="800" strike="noStrike" u="none">
              <a:solidFill>
                <a:srgbClr val="000000"/>
              </a:solidFill>
              <a:effectLst/>
              <a:uFillTx/>
              <a:latin typeface="Arial"/>
            </a:endParaRPr>
          </a:p>
        </p:txBody>
      </p:sp>
      <p:sp>
        <p:nvSpPr>
          <p:cNvPr id="1783" name="Shape 43"/>
          <p:cNvSpPr/>
          <p:nvPr/>
        </p:nvSpPr>
        <p:spPr>
          <a:xfrm>
            <a:off x="6095880" y="5577840"/>
            <a:ext cx="2736720" cy="328680"/>
          </a:xfrm>
          <a:prstGeom prst="rect">
            <a:avLst/>
          </a:prstGeom>
          <a:solidFill>
            <a:srgbClr val="ffffff"/>
          </a:solidFill>
          <a:ln w="508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784" name="Shape 44"/>
          <p:cNvSpPr/>
          <p:nvPr/>
        </p:nvSpPr>
        <p:spPr>
          <a:xfrm>
            <a:off x="6095880" y="5577840"/>
            <a:ext cx="45360" cy="32868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785" name="Text 45"/>
          <p:cNvSpPr/>
          <p:nvPr/>
        </p:nvSpPr>
        <p:spPr>
          <a:xfrm>
            <a:off x="6224040" y="5577840"/>
            <a:ext cx="2517120" cy="328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800" strike="noStrike" u="none">
                <a:solidFill>
                  <a:srgbClr val="1e2420"/>
                </a:solidFill>
                <a:effectLst/>
                <a:uFillTx/>
                <a:latin typeface="Calibri"/>
                <a:ea typeface="Calibri"/>
              </a:rPr>
              <a:t>03  Quarterly evidence</a:t>
            </a:r>
            <a:endParaRPr b="0" lang="en-US" sz="800" strike="noStrike" u="none">
              <a:solidFill>
                <a:srgbClr val="000000"/>
              </a:solidFill>
              <a:effectLst/>
              <a:uFillTx/>
              <a:latin typeface="Arial"/>
            </a:endParaRPr>
          </a:p>
        </p:txBody>
      </p:sp>
      <p:sp>
        <p:nvSpPr>
          <p:cNvPr id="1786" name="Shape 46"/>
          <p:cNvSpPr/>
          <p:nvPr/>
        </p:nvSpPr>
        <p:spPr>
          <a:xfrm>
            <a:off x="8832960" y="5577840"/>
            <a:ext cx="2736720" cy="328680"/>
          </a:xfrm>
          <a:prstGeom prst="rect">
            <a:avLst/>
          </a:prstGeom>
          <a:solidFill>
            <a:srgbClr val="f1f3f2"/>
          </a:solidFill>
          <a:ln w="508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787" name="Shape 47"/>
          <p:cNvSpPr/>
          <p:nvPr/>
        </p:nvSpPr>
        <p:spPr>
          <a:xfrm>
            <a:off x="8832960" y="5577840"/>
            <a:ext cx="45360" cy="32868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788" name="Text 48"/>
          <p:cNvSpPr/>
          <p:nvPr/>
        </p:nvSpPr>
        <p:spPr>
          <a:xfrm>
            <a:off x="8960760" y="5577840"/>
            <a:ext cx="2517120" cy="328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800" strike="noStrike" u="none">
                <a:solidFill>
                  <a:srgbClr val="1e2420"/>
                </a:solidFill>
                <a:effectLst/>
                <a:uFillTx/>
                <a:latin typeface="Calibri"/>
                <a:ea typeface="Calibri"/>
              </a:rPr>
              <a:t>04  Scale or stop gates</a:t>
            </a:r>
            <a:endParaRPr b="0" lang="en-US" sz="800" strike="noStrike" u="none">
              <a:solidFill>
                <a:srgbClr val="000000"/>
              </a:solidFill>
              <a:effectLst/>
              <a:uFillTx/>
              <a:latin typeface="Arial"/>
            </a:endParaRPr>
          </a:p>
        </p:txBody>
      </p:sp>
      <p:sp>
        <p:nvSpPr>
          <p:cNvPr id="1789" name="Shape 49"/>
          <p:cNvSpPr/>
          <p:nvPr/>
        </p:nvSpPr>
        <p:spPr>
          <a:xfrm>
            <a:off x="621720" y="6044040"/>
            <a:ext cx="10947600" cy="438480"/>
          </a:xfrm>
          <a:prstGeom prst="roundRect">
            <a:avLst>
              <a:gd name="adj" fmla="val 8333"/>
            </a:avLst>
          </a:prstGeom>
          <a:solidFill>
            <a:srgbClr val="005730"/>
          </a:solidFill>
          <a:ln w="12700">
            <a:solidFill>
              <a:srgbClr val="005730"/>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790" name="Shape 50"/>
          <p:cNvSpPr/>
          <p:nvPr/>
        </p:nvSpPr>
        <p:spPr>
          <a:xfrm>
            <a:off x="621720" y="6044040"/>
            <a:ext cx="1371240" cy="43848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791" name="Text 51"/>
          <p:cNvSpPr/>
          <p:nvPr/>
        </p:nvSpPr>
        <p:spPr>
          <a:xfrm>
            <a:off x="731520" y="6044040"/>
            <a:ext cx="115164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750" strike="noStrike" u="none">
                <a:solidFill>
                  <a:srgbClr val="005730"/>
                </a:solidFill>
                <a:effectLst/>
                <a:uFillTx/>
                <a:latin typeface="Calibri"/>
                <a:ea typeface="Calibri"/>
              </a:rPr>
              <a:t>BOARD DECISION</a:t>
            </a:r>
            <a:endParaRPr b="0" lang="en-US" sz="750" strike="noStrike" u="none">
              <a:solidFill>
                <a:srgbClr val="000000"/>
              </a:solidFill>
              <a:effectLst/>
              <a:uFillTx/>
              <a:latin typeface="Arial"/>
            </a:endParaRPr>
          </a:p>
        </p:txBody>
      </p:sp>
      <p:sp>
        <p:nvSpPr>
          <p:cNvPr id="1792" name="Text 52"/>
          <p:cNvSpPr/>
          <p:nvPr/>
        </p:nvSpPr>
        <p:spPr>
          <a:xfrm>
            <a:off x="2176200" y="6089760"/>
            <a:ext cx="9210240" cy="34704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850" strike="noStrike" u="none">
                <a:solidFill>
                  <a:srgbClr val="ffffff"/>
                </a:solidFill>
                <a:effectLst/>
                <a:uFillTx/>
                <a:latin typeface="Calibri"/>
                <a:ea typeface="Calibri"/>
              </a:rPr>
              <a:t>Approve the investment envelope only with named benefit owners, agreed baselines, and quarterly release gates tied to realized value.</a:t>
            </a:r>
            <a:endParaRPr b="0" lang="en-US" sz="850" strike="noStrike" u="none">
              <a:solidFill>
                <a:srgbClr val="000000"/>
              </a:solidFill>
              <a:effectLst/>
              <a:uFillTx/>
              <a:latin typeface="Arial"/>
            </a:endParaRPr>
          </a:p>
        </p:txBody>
      </p:sp>
      <p:sp>
        <p:nvSpPr>
          <p:cNvPr id="1793" name="Shape 53"/>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794" name="Text 54"/>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1795" name="Text 55"/>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1796" name="PlaceHolder 1"/>
          <p:cNvSpPr>
            <a:spLocks noGrp="1"/>
          </p:cNvSpPr>
          <p:nvPr>
            <p:ph type="sldNum" idx="43"/>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F9A71FF2-584B-4075-BCFF-31D61EC9E036}"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797"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1798"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1799" name="Shape 2"/>
          <p:cNvSpPr/>
          <p:nvPr/>
        </p:nvSpPr>
        <p:spPr>
          <a:xfrm>
            <a:off x="621720" y="311040"/>
            <a:ext cx="292104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800" name="Text 3"/>
          <p:cNvSpPr/>
          <p:nvPr/>
        </p:nvSpPr>
        <p:spPr>
          <a:xfrm>
            <a:off x="804600" y="329040"/>
            <a:ext cx="259200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EVIDENCE | PROOF POINTS</a:t>
            </a:r>
            <a:endParaRPr b="0" lang="en-US" sz="950" strike="noStrike" u="none">
              <a:solidFill>
                <a:srgbClr val="000000"/>
              </a:solidFill>
              <a:effectLst/>
              <a:uFillTx/>
              <a:latin typeface="Arial"/>
            </a:endParaRPr>
          </a:p>
        </p:txBody>
      </p:sp>
      <p:sp>
        <p:nvSpPr>
          <p:cNvPr id="1801" name="Text 4"/>
          <p:cNvSpPr/>
          <p:nvPr/>
        </p:nvSpPr>
        <p:spPr>
          <a:xfrm>
            <a:off x="621720" y="768240"/>
            <a:ext cx="10947600" cy="8042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2800" strike="noStrike" u="none">
                <a:solidFill>
                  <a:srgbClr val="1e2420"/>
                </a:solidFill>
                <a:effectLst/>
                <a:uFillTx/>
                <a:latin typeface="Calibri"/>
                <a:ea typeface="Calibri"/>
              </a:rPr>
              <a:t>The proof is already in named accounts, not in a forecast</a:t>
            </a:r>
            <a:endParaRPr b="0" lang="en-US" sz="2800" strike="noStrike" u="none">
              <a:solidFill>
                <a:srgbClr val="000000"/>
              </a:solidFill>
              <a:effectLst/>
              <a:uFillTx/>
              <a:latin typeface="Arial"/>
            </a:endParaRPr>
          </a:p>
        </p:txBody>
      </p:sp>
      <p:sp>
        <p:nvSpPr>
          <p:cNvPr id="1802" name="Text 5"/>
          <p:cNvSpPr/>
          <p:nvPr/>
        </p:nvSpPr>
        <p:spPr>
          <a:xfrm>
            <a:off x="621720" y="1572840"/>
            <a:ext cx="10947600" cy="310680"/>
          </a:xfrm>
          <a:prstGeom prst="rect">
            <a:avLst/>
          </a:prstGeom>
          <a:noFill/>
          <a:ln w="0">
            <a:noFill/>
          </a:ln>
        </p:spPr>
        <p:style>
          <a:lnRef idx="0"/>
          <a:fillRef idx="0"/>
          <a:effectRef idx="0"/>
          <a:fontRef idx="minor"/>
        </p:style>
        <p:txBody>
          <a:bodyPr lIns="0" rIns="0" tIns="0" bIns="0" anchor="t">
            <a:normAutofit fontScale="92500" lnSpcReduction="9999"/>
          </a:bodyPr>
          <a:p>
            <a:pPr defTabSz="914400">
              <a:lnSpc>
                <a:spcPct val="100000"/>
              </a:lnSpc>
              <a:tabLst>
                <a:tab algn="l" pos="0"/>
              </a:tabLst>
            </a:pPr>
            <a:r>
              <a:rPr b="0" lang="en-US" sz="1250" strike="noStrike" u="none">
                <a:solidFill>
                  <a:srgbClr val="5a625c"/>
                </a:solidFill>
                <a:effectLst/>
                <a:uFillTx/>
                <a:latin typeface="Calibri"/>
                <a:ea typeface="Calibri"/>
              </a:rPr>
              <a:t>Live commitments, cross-product usage and cost comparison, mapped to the same three value pools used in the cost-benefit case. Monetary amounts stay as placeholders until Finance validates them.</a:t>
            </a:r>
            <a:endParaRPr b="0" lang="en-US" sz="1250" strike="noStrike" u="none">
              <a:solidFill>
                <a:srgbClr val="000000"/>
              </a:solidFill>
              <a:effectLst/>
              <a:uFillTx/>
              <a:latin typeface="Arial"/>
            </a:endParaRPr>
          </a:p>
        </p:txBody>
      </p:sp>
      <p:sp>
        <p:nvSpPr>
          <p:cNvPr id="1803"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804" name="Shape 7"/>
          <p:cNvSpPr/>
          <p:nvPr/>
        </p:nvSpPr>
        <p:spPr>
          <a:xfrm>
            <a:off x="6217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805"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1806"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GROWTH AND RETENTION</a:t>
            </a:r>
            <a:endParaRPr b="0" lang="en-US" sz="900" strike="noStrike" u="none">
              <a:solidFill>
                <a:srgbClr val="000000"/>
              </a:solidFill>
              <a:effectLst/>
              <a:uFillTx/>
              <a:latin typeface="Arial"/>
            </a:endParaRPr>
          </a:p>
        </p:txBody>
      </p:sp>
      <p:sp>
        <p:nvSpPr>
          <p:cNvPr id="1807"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Named strategic accounts</a:t>
            </a:r>
            <a:endParaRPr b="0" lang="en-US" sz="1600" strike="noStrike" u="none">
              <a:solidFill>
                <a:srgbClr val="000000"/>
              </a:solidFill>
              <a:effectLst/>
              <a:uFillTx/>
              <a:latin typeface="Arial"/>
            </a:endParaRPr>
          </a:p>
        </p:txBody>
      </p:sp>
      <p:sp>
        <p:nvSpPr>
          <p:cNvPr id="1808" name="Text 11"/>
          <p:cNvSpPr/>
          <p:nvPr/>
        </p:nvSpPr>
        <p:spPr>
          <a:xfrm>
            <a:off x="80460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Committed Q4 2026 delivery dates, not pipeline</a:t>
            </a:r>
            <a:endParaRPr b="0" lang="en-US" sz="1100" strike="noStrike" u="none">
              <a:solidFill>
                <a:srgbClr val="000000"/>
              </a:solidFill>
              <a:effectLst/>
              <a:uFillTx/>
              <a:latin typeface="Arial"/>
            </a:endParaRPr>
          </a:p>
        </p:txBody>
      </p:sp>
      <p:sp>
        <p:nvSpPr>
          <p:cNvPr id="1809" name="Text 12"/>
          <p:cNvSpPr/>
          <p:nvPr/>
        </p:nvSpPr>
        <p:spPr>
          <a:xfrm>
            <a:off x="82296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050" strike="noStrike" u="none">
                <a:solidFill>
                  <a:srgbClr val="3dcd58"/>
                </a:solidFill>
                <a:effectLst/>
                <a:uFillTx/>
                <a:latin typeface="Calibri"/>
                <a:ea typeface="Calibri"/>
              </a:rPr>
              <a:t>▪ </a:t>
            </a:r>
            <a:r>
              <a:rPr b="0" lang="en-US" sz="1050" strike="noStrike" u="none">
                <a:solidFill>
                  <a:srgbClr val="3a423c"/>
                </a:solidFill>
                <a:effectLst/>
                <a:uFillTx/>
                <a:latin typeface="Calibri"/>
                <a:ea typeface="Calibri"/>
              </a:rPr>
              <a:t>Accor: portfolio data experience, October to December 2026</a:t>
            </a:r>
            <a:endParaRPr b="0" lang="en-US" sz="1050" strike="noStrike" u="none">
              <a:solidFill>
                <a:srgbClr val="000000"/>
              </a:solidFill>
              <a:effectLst/>
              <a:uFillTx/>
              <a:latin typeface="Arial"/>
            </a:endParaRPr>
          </a:p>
          <a:p>
            <a:pPr defTabSz="914400">
              <a:lnSpc>
                <a:spcPct val="118000"/>
              </a:lnSpc>
              <a:spcAft>
                <a:spcPts val="300"/>
              </a:spcAft>
              <a:tabLst>
                <a:tab algn="l" pos="0"/>
              </a:tabLst>
            </a:pPr>
            <a:r>
              <a:rPr b="1" lang="en-US" sz="1050" strike="noStrike" u="none">
                <a:solidFill>
                  <a:srgbClr val="3dcd58"/>
                </a:solidFill>
                <a:effectLst/>
                <a:uFillTx/>
                <a:latin typeface="Calibri"/>
                <a:ea typeface="Calibri"/>
              </a:rPr>
              <a:t>▪ </a:t>
            </a:r>
            <a:r>
              <a:rPr b="0" lang="en-US" sz="1050" strike="noStrike" u="none">
                <a:solidFill>
                  <a:srgbClr val="3a423c"/>
                </a:solidFill>
                <a:effectLst/>
                <a:uFillTx/>
                <a:latin typeface="Calibri"/>
                <a:ea typeface="Calibri"/>
              </a:rPr>
              <a:t>Schneider Electric: October to December 2026, then the migration and CSRD cycle in Q1 2027</a:t>
            </a:r>
            <a:endParaRPr b="0" lang="en-US" sz="1050" strike="noStrike" u="none">
              <a:solidFill>
                <a:srgbClr val="000000"/>
              </a:solidFill>
              <a:effectLst/>
              <a:uFillTx/>
              <a:latin typeface="Arial"/>
            </a:endParaRPr>
          </a:p>
          <a:p>
            <a:pPr defTabSz="914400">
              <a:lnSpc>
                <a:spcPct val="118000"/>
              </a:lnSpc>
              <a:spcAft>
                <a:spcPts val="300"/>
              </a:spcAft>
              <a:tabLst>
                <a:tab algn="l" pos="0"/>
              </a:tabLst>
            </a:pPr>
            <a:r>
              <a:rPr b="1" lang="en-US" sz="1050" strike="noStrike" u="none">
                <a:solidFill>
                  <a:srgbClr val="3dcd58"/>
                </a:solidFill>
                <a:effectLst/>
                <a:uFillTx/>
                <a:latin typeface="Calibri"/>
                <a:ea typeface="Calibri"/>
              </a:rPr>
              <a:t>▪ </a:t>
            </a:r>
            <a:r>
              <a:rPr b="0" lang="en-US" sz="1050" strike="noStrike" u="none">
                <a:solidFill>
                  <a:srgbClr val="3a423c"/>
                </a:solidFill>
                <a:effectLst/>
                <a:uFillTx/>
                <a:latin typeface="Calibri"/>
                <a:ea typeface="Calibri"/>
              </a:rPr>
              <a:t>Newell Brands and Sanofi: November 2026</a:t>
            </a:r>
            <a:endParaRPr b="0" lang="en-US" sz="1050" strike="noStrike" u="none">
              <a:solidFill>
                <a:srgbClr val="000000"/>
              </a:solidFill>
              <a:effectLst/>
              <a:uFillTx/>
              <a:latin typeface="Arial"/>
            </a:endParaRPr>
          </a:p>
          <a:p>
            <a:pPr defTabSz="914400">
              <a:lnSpc>
                <a:spcPct val="118000"/>
              </a:lnSpc>
              <a:spcAft>
                <a:spcPts val="300"/>
              </a:spcAft>
              <a:tabLst>
                <a:tab algn="l" pos="0"/>
              </a:tabLst>
            </a:pPr>
            <a:r>
              <a:rPr b="1" lang="en-US" sz="1050" strike="noStrike" u="none">
                <a:solidFill>
                  <a:srgbClr val="3dcd58"/>
                </a:solidFill>
                <a:effectLst/>
                <a:uFillTx/>
                <a:latin typeface="Calibri"/>
                <a:ea typeface="Calibri"/>
              </a:rPr>
              <a:t>▪ </a:t>
            </a:r>
            <a:r>
              <a:rPr b="0" lang="en-US" sz="1050" strike="noStrike" u="none">
                <a:solidFill>
                  <a:srgbClr val="3a423c"/>
                </a:solidFill>
                <a:effectLst/>
                <a:uFillTx/>
                <a:latin typeface="Calibri"/>
                <a:ea typeface="Calibri"/>
              </a:rPr>
              <a:t>Schneider Electric inventory close: 31 December 2026</a:t>
            </a:r>
            <a:endParaRPr b="0" lang="en-US" sz="1050" strike="noStrike" u="none">
              <a:solidFill>
                <a:srgbClr val="000000"/>
              </a:solidFill>
              <a:effectLst/>
              <a:uFillTx/>
              <a:latin typeface="Arial"/>
            </a:endParaRPr>
          </a:p>
        </p:txBody>
      </p:sp>
      <p:sp>
        <p:nvSpPr>
          <p:cNvPr id="1810" name="Shape 13"/>
          <p:cNvSpPr/>
          <p:nvPr/>
        </p:nvSpPr>
        <p:spPr>
          <a:xfrm>
            <a:off x="342756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811" name="Shape 14"/>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1812" name="Text 15"/>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PLATFORM ECONOMICS</a:t>
            </a:r>
            <a:endParaRPr b="0" lang="en-US" sz="900" strike="noStrike" u="none">
              <a:solidFill>
                <a:srgbClr val="000000"/>
              </a:solidFill>
              <a:effectLst/>
              <a:uFillTx/>
              <a:latin typeface="Arial"/>
            </a:endParaRPr>
          </a:p>
        </p:txBody>
      </p:sp>
      <p:sp>
        <p:nvSpPr>
          <p:cNvPr id="1813" name="Text 16"/>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Cross-product adoption</a:t>
            </a:r>
            <a:endParaRPr b="0" lang="en-US" sz="1600" strike="noStrike" u="none">
              <a:solidFill>
                <a:srgbClr val="000000"/>
              </a:solidFill>
              <a:effectLst/>
              <a:uFillTx/>
              <a:latin typeface="Arial"/>
            </a:endParaRPr>
          </a:p>
        </p:txBody>
      </p:sp>
      <p:sp>
        <p:nvSpPr>
          <p:cNvPr id="1814" name="Text 17"/>
          <p:cNvSpPr/>
          <p:nvPr/>
        </p:nvSpPr>
        <p:spPr>
          <a:xfrm>
            <a:off x="361044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One spine already consumed by more than one product</a:t>
            </a:r>
            <a:endParaRPr b="0" lang="en-US" sz="1100" strike="noStrike" u="none">
              <a:solidFill>
                <a:srgbClr val="000000"/>
              </a:solidFill>
              <a:effectLst/>
              <a:uFillTx/>
              <a:latin typeface="Arial"/>
            </a:endParaRPr>
          </a:p>
        </p:txBody>
      </p:sp>
      <p:sp>
        <p:nvSpPr>
          <p:cNvPr id="1815" name="Text 18"/>
          <p:cNvSpPr/>
          <p:nvPr/>
        </p:nvSpPr>
        <p:spPr>
          <a:xfrm>
            <a:off x="362844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050" strike="noStrike" u="none">
                <a:solidFill>
                  <a:srgbClr val="007a27"/>
                </a:solidFill>
                <a:effectLst/>
                <a:uFillTx/>
                <a:latin typeface="Calibri"/>
                <a:ea typeface="Calibri"/>
              </a:rPr>
              <a:t>▪ </a:t>
            </a:r>
            <a:r>
              <a:rPr b="0" lang="en-US" sz="1050" strike="noStrike" u="none">
                <a:solidFill>
                  <a:srgbClr val="3a423c"/>
                </a:solidFill>
                <a:effectLst/>
                <a:uFillTx/>
                <a:latin typeface="Calibri"/>
                <a:ea typeface="Calibri"/>
              </a:rPr>
              <a:t>Carbon Performance owns the inventory every other product consumes</a:t>
            </a:r>
            <a:endParaRPr b="0" lang="en-US" sz="1050" strike="noStrike" u="none">
              <a:solidFill>
                <a:srgbClr val="000000"/>
              </a:solidFill>
              <a:effectLst/>
              <a:uFillTx/>
              <a:latin typeface="Arial"/>
            </a:endParaRPr>
          </a:p>
          <a:p>
            <a:pPr defTabSz="914400">
              <a:lnSpc>
                <a:spcPct val="118000"/>
              </a:lnSpc>
              <a:spcAft>
                <a:spcPts val="300"/>
              </a:spcAft>
              <a:tabLst>
                <a:tab algn="l" pos="0"/>
              </a:tabLst>
            </a:pPr>
            <a:r>
              <a:rPr b="1" lang="en-US" sz="1050" strike="noStrike" u="none">
                <a:solidFill>
                  <a:srgbClr val="007a27"/>
                </a:solidFill>
                <a:effectLst/>
                <a:uFillTx/>
                <a:latin typeface="Calibri"/>
                <a:ea typeface="Calibri"/>
              </a:rPr>
              <a:t>▪ </a:t>
            </a:r>
            <a:r>
              <a:rPr b="0" lang="en-US" sz="1050" strike="noStrike" u="none">
                <a:solidFill>
                  <a:srgbClr val="3a423c"/>
                </a:solidFill>
                <a:effectLst/>
                <a:uFillTx/>
                <a:latin typeface="Calibri"/>
                <a:ea typeface="Calibri"/>
              </a:rPr>
              <a:t>Supply Chain feeds categories 1 and 4 into the CP inventory</a:t>
            </a:r>
            <a:endParaRPr b="0" lang="en-US" sz="1050" strike="noStrike" u="none">
              <a:solidFill>
                <a:srgbClr val="000000"/>
              </a:solidFill>
              <a:effectLst/>
              <a:uFillTx/>
              <a:latin typeface="Arial"/>
            </a:endParaRPr>
          </a:p>
          <a:p>
            <a:pPr defTabSz="914400">
              <a:lnSpc>
                <a:spcPct val="118000"/>
              </a:lnSpc>
              <a:spcAft>
                <a:spcPts val="300"/>
              </a:spcAft>
              <a:tabLst>
                <a:tab algn="l" pos="0"/>
              </a:tabLst>
            </a:pPr>
            <a:r>
              <a:rPr b="1" lang="en-US" sz="1050" strike="noStrike" u="none">
                <a:solidFill>
                  <a:srgbClr val="007a27"/>
                </a:solidFill>
                <a:effectLst/>
                <a:uFillTx/>
                <a:latin typeface="Calibri"/>
                <a:ea typeface="Calibri"/>
              </a:rPr>
              <a:t>▪ </a:t>
            </a:r>
            <a:r>
              <a:rPr b="0" lang="en-US" sz="1050" strike="noStrike" u="none">
                <a:solidFill>
                  <a:srgbClr val="3a423c"/>
                </a:solidFill>
                <a:effectLst/>
                <a:uFillTx/>
                <a:latin typeface="Calibri"/>
                <a:ea typeface="Calibri"/>
              </a:rPr>
              <a:t>Reporting and Compliance receives data from every other product to facilitate disclosure</a:t>
            </a:r>
            <a:endParaRPr b="0" lang="en-US" sz="1050" strike="noStrike" u="none">
              <a:solidFill>
                <a:srgbClr val="000000"/>
              </a:solidFill>
              <a:effectLst/>
              <a:uFillTx/>
              <a:latin typeface="Arial"/>
            </a:endParaRPr>
          </a:p>
          <a:p>
            <a:pPr defTabSz="914400">
              <a:lnSpc>
                <a:spcPct val="118000"/>
              </a:lnSpc>
              <a:spcAft>
                <a:spcPts val="300"/>
              </a:spcAft>
              <a:tabLst>
                <a:tab algn="l" pos="0"/>
              </a:tabLst>
            </a:pPr>
            <a:r>
              <a:rPr b="1" lang="en-US" sz="1050" strike="noStrike" u="none">
                <a:solidFill>
                  <a:srgbClr val="007a27"/>
                </a:solidFill>
                <a:effectLst/>
                <a:uFillTx/>
                <a:latin typeface="Calibri"/>
                <a:ea typeface="Calibri"/>
              </a:rPr>
              <a:t>▪ </a:t>
            </a:r>
            <a:r>
              <a:rPr b="0" lang="en-US" sz="1050" strike="noStrike" u="none">
                <a:solidFill>
                  <a:srgbClr val="3a423c"/>
                </a:solidFill>
                <a:effectLst/>
                <a:uFillTx/>
                <a:latin typeface="Calibri"/>
                <a:ea typeface="Calibri"/>
              </a:rPr>
              <a:t>Climate Risk data flows into R&amp;C disclosures and is turned into financial values</a:t>
            </a:r>
            <a:endParaRPr b="0" lang="en-US" sz="1050" strike="noStrike" u="none">
              <a:solidFill>
                <a:srgbClr val="000000"/>
              </a:solidFill>
              <a:effectLst/>
              <a:uFillTx/>
              <a:latin typeface="Arial"/>
            </a:endParaRPr>
          </a:p>
        </p:txBody>
      </p:sp>
      <p:sp>
        <p:nvSpPr>
          <p:cNvPr id="1816" name="Shape 19"/>
          <p:cNvSpPr/>
          <p:nvPr/>
        </p:nvSpPr>
        <p:spPr>
          <a:xfrm>
            <a:off x="623304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817" name="Shape 20"/>
          <p:cNvSpPr/>
          <p:nvPr/>
        </p:nvSpPr>
        <p:spPr>
          <a:xfrm>
            <a:off x="623304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1818" name="Text 21"/>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COST TO SERVE</a:t>
            </a:r>
            <a:endParaRPr b="0" lang="en-US" sz="900" strike="noStrike" u="none">
              <a:solidFill>
                <a:srgbClr val="000000"/>
              </a:solidFill>
              <a:effectLst/>
              <a:uFillTx/>
              <a:latin typeface="Arial"/>
            </a:endParaRPr>
          </a:p>
        </p:txBody>
      </p:sp>
      <p:sp>
        <p:nvSpPr>
          <p:cNvPr id="1819" name="Text 22"/>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TCO comparison</a:t>
            </a:r>
            <a:endParaRPr b="0" lang="en-US" sz="1600" strike="noStrike" u="none">
              <a:solidFill>
                <a:srgbClr val="000000"/>
              </a:solidFill>
              <a:effectLst/>
              <a:uFillTx/>
              <a:latin typeface="Arial"/>
            </a:endParaRPr>
          </a:p>
        </p:txBody>
      </p:sp>
      <p:sp>
        <p:nvSpPr>
          <p:cNvPr id="1820" name="Text 23"/>
          <p:cNvSpPr/>
          <p:nvPr/>
        </p:nvSpPr>
        <p:spPr>
          <a:xfrm>
            <a:off x="641592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Separate tools versus one governed platform</a:t>
            </a:r>
            <a:endParaRPr b="0" lang="en-US" sz="1100" strike="noStrike" u="none">
              <a:solidFill>
                <a:srgbClr val="000000"/>
              </a:solidFill>
              <a:effectLst/>
              <a:uFillTx/>
              <a:latin typeface="Arial"/>
            </a:endParaRPr>
          </a:p>
        </p:txBody>
      </p:sp>
      <p:sp>
        <p:nvSpPr>
          <p:cNvPr id="1821" name="Text 24"/>
          <p:cNvSpPr/>
          <p:nvPr/>
        </p:nvSpPr>
        <p:spPr>
          <a:xfrm>
            <a:off x="6434280" y="3776400"/>
            <a:ext cx="2165040" cy="2267280"/>
          </a:xfrm>
          <a:prstGeom prst="rect">
            <a:avLst/>
          </a:prstGeom>
          <a:noFill/>
          <a:ln w="0">
            <a:noFill/>
          </a:ln>
        </p:spPr>
        <p:style>
          <a:lnRef idx="0"/>
          <a:fillRef idx="0"/>
          <a:effectRef idx="0"/>
          <a:fontRef idx="minor"/>
        </p:style>
        <p:txBody>
          <a:bodyPr lIns="0" rIns="0" tIns="0" bIns="0" anchor="t">
            <a:normAutofit fontScale="92500" lnSpcReduction="9999"/>
          </a:bodyPr>
          <a:p>
            <a:pPr defTabSz="914400">
              <a:lnSpc>
                <a:spcPct val="118000"/>
              </a:lnSpc>
              <a:spcAft>
                <a:spcPts val="300"/>
              </a:spcAft>
              <a:tabLst>
                <a:tab algn="l" pos="0"/>
              </a:tabLst>
            </a:pPr>
            <a:r>
              <a:rPr b="1" lang="en-US" sz="1050" strike="noStrike" u="none">
                <a:solidFill>
                  <a:srgbClr val="007a27"/>
                </a:solidFill>
                <a:effectLst/>
                <a:uFillTx/>
                <a:latin typeface="Calibri"/>
                <a:ea typeface="Calibri"/>
              </a:rPr>
              <a:t>▪ </a:t>
            </a:r>
            <a:r>
              <a:rPr b="0" lang="en-US" sz="1050" strike="noStrike" u="none">
                <a:solidFill>
                  <a:srgbClr val="3a423c"/>
                </a:solidFill>
                <a:effectLst/>
                <a:uFillTx/>
                <a:latin typeface="Calibri"/>
                <a:ea typeface="Calibri"/>
              </a:rPr>
              <a:t>Today: duplicated ingestion, factors and calculation logic per tool, [€ current stack cost]</a:t>
            </a:r>
            <a:endParaRPr b="0" lang="en-US" sz="1050" strike="noStrike" u="none">
              <a:solidFill>
                <a:srgbClr val="000000"/>
              </a:solidFill>
              <a:effectLst/>
              <a:uFillTx/>
              <a:latin typeface="Arial"/>
            </a:endParaRPr>
          </a:p>
          <a:p>
            <a:pPr defTabSz="914400">
              <a:lnSpc>
                <a:spcPct val="118000"/>
              </a:lnSpc>
              <a:spcAft>
                <a:spcPts val="300"/>
              </a:spcAft>
              <a:tabLst>
                <a:tab algn="l" pos="0"/>
              </a:tabLst>
            </a:pPr>
            <a:r>
              <a:rPr b="1" lang="en-US" sz="1050" strike="noStrike" u="none">
                <a:solidFill>
                  <a:srgbClr val="007a27"/>
                </a:solidFill>
                <a:effectLst/>
                <a:uFillTx/>
                <a:latin typeface="Calibri"/>
                <a:ea typeface="Calibri"/>
              </a:rPr>
              <a:t>▪ </a:t>
            </a:r>
            <a:r>
              <a:rPr b="0" lang="en-US" sz="1050" strike="noStrike" u="none">
                <a:solidFill>
                  <a:srgbClr val="3a423c"/>
                </a:solidFill>
                <a:effectLst/>
                <a:uFillTx/>
                <a:latin typeface="Calibri"/>
                <a:ea typeface="Calibri"/>
              </a:rPr>
              <a:t>With RA+: built once in Core, inherited by six product areas, [€ platform cost]</a:t>
            </a:r>
            <a:endParaRPr b="0" lang="en-US" sz="1050" strike="noStrike" u="none">
              <a:solidFill>
                <a:srgbClr val="000000"/>
              </a:solidFill>
              <a:effectLst/>
              <a:uFillTx/>
              <a:latin typeface="Arial"/>
            </a:endParaRPr>
          </a:p>
          <a:p>
            <a:pPr defTabSz="914400">
              <a:lnSpc>
                <a:spcPct val="118000"/>
              </a:lnSpc>
              <a:spcAft>
                <a:spcPts val="300"/>
              </a:spcAft>
              <a:tabLst>
                <a:tab algn="l" pos="0"/>
              </a:tabLst>
            </a:pPr>
            <a:r>
              <a:rPr b="1" lang="en-US" sz="1050" strike="noStrike" u="none">
                <a:solidFill>
                  <a:srgbClr val="007a27"/>
                </a:solidFill>
                <a:effectLst/>
                <a:uFillTx/>
                <a:latin typeface="Calibri"/>
                <a:ea typeface="Calibri"/>
              </a:rPr>
              <a:t>▪ </a:t>
            </a:r>
            <a:r>
              <a:rPr b="0" lang="en-US" sz="1050" strike="noStrike" u="none">
                <a:solidFill>
                  <a:srgbClr val="3a423c"/>
                </a:solidFill>
                <a:effectLst/>
                <a:uFillTx/>
                <a:latin typeface="Calibri"/>
                <a:ea typeface="Calibri"/>
              </a:rPr>
              <a:t>Removed: reconciliation between tools, repeated audit evidence, per-tool integration and hypercare</a:t>
            </a:r>
            <a:endParaRPr b="0" lang="en-US" sz="1050" strike="noStrike" u="none">
              <a:solidFill>
                <a:srgbClr val="000000"/>
              </a:solidFill>
              <a:effectLst/>
              <a:uFillTx/>
              <a:latin typeface="Arial"/>
            </a:endParaRPr>
          </a:p>
          <a:p>
            <a:pPr defTabSz="914400">
              <a:lnSpc>
                <a:spcPct val="118000"/>
              </a:lnSpc>
              <a:spcAft>
                <a:spcPts val="300"/>
              </a:spcAft>
              <a:tabLst>
                <a:tab algn="l" pos="0"/>
              </a:tabLst>
            </a:pPr>
            <a:r>
              <a:rPr b="1" lang="en-US" sz="1050" strike="noStrike" u="none">
                <a:solidFill>
                  <a:srgbClr val="007a27"/>
                </a:solidFill>
                <a:effectLst/>
                <a:uFillTx/>
                <a:latin typeface="Calibri"/>
                <a:ea typeface="Calibri"/>
              </a:rPr>
              <a:t>▪ </a:t>
            </a:r>
            <a:r>
              <a:rPr b="0" lang="en-US" sz="1050" strike="noStrike" u="none">
                <a:solidFill>
                  <a:srgbClr val="3a423c"/>
                </a:solidFill>
                <a:effectLst/>
                <a:uFillTx/>
                <a:latin typeface="Calibri"/>
                <a:ea typeface="Calibri"/>
              </a:rPr>
              <a:t>Net: [€ annual cost removed], the same figure carried in the cost-benefit case</a:t>
            </a:r>
            <a:endParaRPr b="0" lang="en-US" sz="1050" strike="noStrike" u="none">
              <a:solidFill>
                <a:srgbClr val="000000"/>
              </a:solidFill>
              <a:effectLst/>
              <a:uFillTx/>
              <a:latin typeface="Arial"/>
            </a:endParaRPr>
          </a:p>
        </p:txBody>
      </p:sp>
      <p:sp>
        <p:nvSpPr>
          <p:cNvPr id="1822" name="Shape 25"/>
          <p:cNvSpPr/>
          <p:nvPr/>
        </p:nvSpPr>
        <p:spPr>
          <a:xfrm>
            <a:off x="90385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823" name="Shape 26"/>
          <p:cNvSpPr/>
          <p:nvPr/>
        </p:nvSpPr>
        <p:spPr>
          <a:xfrm>
            <a:off x="903852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1824" name="Text 27"/>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GUARDRAIL</a:t>
            </a:r>
            <a:endParaRPr b="0" lang="en-US" sz="900" strike="noStrike" u="none">
              <a:solidFill>
                <a:srgbClr val="000000"/>
              </a:solidFill>
              <a:effectLst/>
              <a:uFillTx/>
              <a:latin typeface="Arial"/>
            </a:endParaRPr>
          </a:p>
        </p:txBody>
      </p:sp>
      <p:sp>
        <p:nvSpPr>
          <p:cNvPr id="1825" name="Text 28"/>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400" strike="noStrike" u="none">
                <a:solidFill>
                  <a:srgbClr val="1e2420"/>
                </a:solidFill>
                <a:effectLst/>
                <a:uFillTx/>
                <a:latin typeface="Calibri"/>
                <a:ea typeface="Calibri"/>
              </a:rPr>
              <a:t>What is proof and what is not</a:t>
            </a:r>
            <a:endParaRPr b="0" lang="en-US" sz="1400" strike="noStrike" u="none">
              <a:solidFill>
                <a:srgbClr val="000000"/>
              </a:solidFill>
              <a:effectLst/>
              <a:uFillTx/>
              <a:latin typeface="Arial"/>
            </a:endParaRPr>
          </a:p>
        </p:txBody>
      </p:sp>
      <p:sp>
        <p:nvSpPr>
          <p:cNvPr id="1826" name="Text 29"/>
          <p:cNvSpPr/>
          <p:nvPr/>
        </p:nvSpPr>
        <p:spPr>
          <a:xfrm>
            <a:off x="922140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Keep the board honest about the evidence base</a:t>
            </a:r>
            <a:endParaRPr b="0" lang="en-US" sz="1100" strike="noStrike" u="none">
              <a:solidFill>
                <a:srgbClr val="000000"/>
              </a:solidFill>
              <a:effectLst/>
              <a:uFillTx/>
              <a:latin typeface="Arial"/>
            </a:endParaRPr>
          </a:p>
        </p:txBody>
      </p:sp>
      <p:sp>
        <p:nvSpPr>
          <p:cNvPr id="1827" name="Text 30"/>
          <p:cNvSpPr/>
          <p:nvPr/>
        </p:nvSpPr>
        <p:spPr>
          <a:xfrm>
            <a:off x="923976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050" strike="noStrike" u="none">
                <a:solidFill>
                  <a:srgbClr val="ffb04c"/>
                </a:solidFill>
                <a:effectLst/>
                <a:uFillTx/>
                <a:latin typeface="Calibri"/>
                <a:ea typeface="Calibri"/>
              </a:rPr>
              <a:t>▪ </a:t>
            </a:r>
            <a:r>
              <a:rPr b="0" lang="en-US" sz="1050" strike="noStrike" u="none">
                <a:solidFill>
                  <a:srgbClr val="3a423c"/>
                </a:solidFill>
                <a:effectLst/>
                <a:uFillTx/>
                <a:latin typeface="Calibri"/>
                <a:ea typeface="Calibri"/>
              </a:rPr>
              <a:t>Account dates and cross-product dependencies are committed roadmap facts</a:t>
            </a:r>
            <a:endParaRPr b="0" lang="en-US" sz="1050" strike="noStrike" u="none">
              <a:solidFill>
                <a:srgbClr val="000000"/>
              </a:solidFill>
              <a:effectLst/>
              <a:uFillTx/>
              <a:latin typeface="Arial"/>
            </a:endParaRPr>
          </a:p>
          <a:p>
            <a:pPr defTabSz="914400">
              <a:lnSpc>
                <a:spcPct val="118000"/>
              </a:lnSpc>
              <a:spcAft>
                <a:spcPts val="300"/>
              </a:spcAft>
              <a:tabLst>
                <a:tab algn="l" pos="0"/>
              </a:tabLst>
            </a:pPr>
            <a:r>
              <a:rPr b="1" lang="en-US" sz="1050" strike="noStrike" u="none">
                <a:solidFill>
                  <a:srgbClr val="ffb04c"/>
                </a:solidFill>
                <a:effectLst/>
                <a:uFillTx/>
                <a:latin typeface="Calibri"/>
                <a:ea typeface="Calibri"/>
              </a:rPr>
              <a:t>▪ </a:t>
            </a:r>
            <a:r>
              <a:rPr b="0" lang="en-US" sz="1050" strike="noStrike" u="none">
                <a:solidFill>
                  <a:srgbClr val="3a423c"/>
                </a:solidFill>
                <a:effectLst/>
                <a:uFillTx/>
                <a:latin typeface="Calibri"/>
                <a:ea typeface="Calibri"/>
              </a:rPr>
              <a:t>Adoption breadth is a leading indicator, reported separately from realized value</a:t>
            </a:r>
            <a:endParaRPr b="0" lang="en-US" sz="1050" strike="noStrike" u="none">
              <a:solidFill>
                <a:srgbClr val="000000"/>
              </a:solidFill>
              <a:effectLst/>
              <a:uFillTx/>
              <a:latin typeface="Arial"/>
            </a:endParaRPr>
          </a:p>
          <a:p>
            <a:pPr defTabSz="914400">
              <a:lnSpc>
                <a:spcPct val="118000"/>
              </a:lnSpc>
              <a:spcAft>
                <a:spcPts val="300"/>
              </a:spcAft>
              <a:tabLst>
                <a:tab algn="l" pos="0"/>
              </a:tabLst>
            </a:pPr>
            <a:r>
              <a:rPr b="1" lang="en-US" sz="1050" strike="noStrike" u="none">
                <a:solidFill>
                  <a:srgbClr val="ffb04c"/>
                </a:solidFill>
                <a:effectLst/>
                <a:uFillTx/>
                <a:latin typeface="Calibri"/>
                <a:ea typeface="Calibri"/>
              </a:rPr>
              <a:t>▪ </a:t>
            </a:r>
            <a:r>
              <a:rPr b="0" lang="en-US" sz="1050" strike="noStrike" u="none">
                <a:solidFill>
                  <a:srgbClr val="3a423c"/>
                </a:solidFill>
                <a:effectLst/>
                <a:uFillTx/>
                <a:latin typeface="Calibri"/>
                <a:ea typeface="Calibri"/>
              </a:rPr>
              <a:t>All euro amounts require the Finance baseline agreed at Gate 1</a:t>
            </a:r>
            <a:endParaRPr b="0" lang="en-US" sz="1050" strike="noStrike" u="none">
              <a:solidFill>
                <a:srgbClr val="000000"/>
              </a:solidFill>
              <a:effectLst/>
              <a:uFillTx/>
              <a:latin typeface="Arial"/>
            </a:endParaRPr>
          </a:p>
        </p:txBody>
      </p:sp>
      <p:sp>
        <p:nvSpPr>
          <p:cNvPr id="1828" name="Shape 31"/>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829" name="Text 32"/>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1830" name="Text 33"/>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1831" name="PlaceHolder 1"/>
          <p:cNvSpPr>
            <a:spLocks noGrp="1"/>
          </p:cNvSpPr>
          <p:nvPr>
            <p:ph type="sldNum" idx="44"/>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6A3E2579-ACA2-4DD4-91AE-7840C044D9A2}"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832"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1833"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1834" name="Shape 2"/>
          <p:cNvSpPr/>
          <p:nvPr/>
        </p:nvSpPr>
        <p:spPr>
          <a:xfrm>
            <a:off x="621720" y="311040"/>
            <a:ext cx="239544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835" name="Text 3"/>
          <p:cNvSpPr/>
          <p:nvPr/>
        </p:nvSpPr>
        <p:spPr>
          <a:xfrm>
            <a:off x="804600" y="329040"/>
            <a:ext cx="206604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CAPITAL ALLOCATION</a:t>
            </a:r>
            <a:endParaRPr b="0" lang="en-US" sz="950" strike="noStrike" u="none">
              <a:solidFill>
                <a:srgbClr val="000000"/>
              </a:solidFill>
              <a:effectLst/>
              <a:uFillTx/>
              <a:latin typeface="Arial"/>
            </a:endParaRPr>
          </a:p>
        </p:txBody>
      </p:sp>
      <p:sp>
        <p:nvSpPr>
          <p:cNvPr id="1836"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Where the incremental investment goes</a:t>
            </a:r>
            <a:endParaRPr b="0" lang="en-US" sz="3200" strike="noStrike" u="none">
              <a:solidFill>
                <a:srgbClr val="000000"/>
              </a:solidFill>
              <a:effectLst/>
              <a:uFillTx/>
              <a:latin typeface="Arial"/>
            </a:endParaRPr>
          </a:p>
        </p:txBody>
      </p:sp>
      <p:sp>
        <p:nvSpPr>
          <p:cNvPr id="1837"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Indicative shares of the incremental envelope. Amounts remain subject to Finance validation.</a:t>
            </a:r>
            <a:endParaRPr b="0" lang="en-US" sz="1250" strike="noStrike" u="none">
              <a:solidFill>
                <a:srgbClr val="000000"/>
              </a:solidFill>
              <a:effectLst/>
              <a:uFillTx/>
              <a:latin typeface="Arial"/>
            </a:endParaRPr>
          </a:p>
        </p:txBody>
      </p:sp>
      <p:sp>
        <p:nvSpPr>
          <p:cNvPr id="1838"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839" name="Shape 7"/>
          <p:cNvSpPr/>
          <p:nvPr/>
        </p:nvSpPr>
        <p:spPr>
          <a:xfrm>
            <a:off x="6217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840"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1841"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POOL 01</a:t>
            </a:r>
            <a:endParaRPr b="0" lang="en-US" sz="900" strike="noStrike" u="none">
              <a:solidFill>
                <a:srgbClr val="000000"/>
              </a:solidFill>
              <a:effectLst/>
              <a:uFillTx/>
              <a:latin typeface="Arial"/>
            </a:endParaRPr>
          </a:p>
        </p:txBody>
      </p:sp>
      <p:sp>
        <p:nvSpPr>
          <p:cNvPr id="1842"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400" strike="noStrike" u="none">
                <a:solidFill>
                  <a:srgbClr val="1e2420"/>
                </a:solidFill>
                <a:effectLst/>
                <a:uFillTx/>
                <a:latin typeface="Calibri"/>
                <a:ea typeface="Calibri"/>
              </a:rPr>
              <a:t>Product and platform capacity</a:t>
            </a:r>
            <a:endParaRPr b="0" lang="en-US" sz="1400" strike="noStrike" u="none">
              <a:solidFill>
                <a:srgbClr val="000000"/>
              </a:solidFill>
              <a:effectLst/>
              <a:uFillTx/>
              <a:latin typeface="Arial"/>
            </a:endParaRPr>
          </a:p>
        </p:txBody>
      </p:sp>
      <p:sp>
        <p:nvSpPr>
          <p:cNvPr id="1843" name="Text 11"/>
          <p:cNvSpPr/>
          <p:nvPr/>
        </p:nvSpPr>
        <p:spPr>
          <a:xfrm>
            <a:off x="80460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 of envelope] | [€ amount to validate]</a:t>
            </a:r>
            <a:endParaRPr b="0" lang="en-US" sz="1100" strike="noStrike" u="none">
              <a:solidFill>
                <a:srgbClr val="000000"/>
              </a:solidFill>
              <a:effectLst/>
              <a:uFillTx/>
              <a:latin typeface="Arial"/>
            </a:endParaRPr>
          </a:p>
        </p:txBody>
      </p:sp>
      <p:sp>
        <p:nvSpPr>
          <p:cNvPr id="1844" name="Text 12"/>
          <p:cNvSpPr/>
          <p:nvPr/>
        </p:nvSpPr>
        <p:spPr>
          <a:xfrm>
            <a:off x="822960" y="3776400"/>
            <a:ext cx="2165040" cy="150840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Core data spine, ontology and calculation governance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Product delivery across the six areas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AI workflows built on governed context</a:t>
            </a:r>
            <a:endParaRPr b="0" lang="en-US" sz="1100" strike="noStrike" u="none">
              <a:solidFill>
                <a:srgbClr val="000000"/>
              </a:solidFill>
              <a:effectLst/>
              <a:uFillTx/>
              <a:latin typeface="Arial"/>
            </a:endParaRPr>
          </a:p>
        </p:txBody>
      </p:sp>
      <p:sp>
        <p:nvSpPr>
          <p:cNvPr id="1845" name="Shape 13"/>
          <p:cNvSpPr/>
          <p:nvPr/>
        </p:nvSpPr>
        <p:spPr>
          <a:xfrm>
            <a:off x="342756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846" name="Shape 14"/>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1847" name="Text 15"/>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POOL 02</a:t>
            </a:r>
            <a:endParaRPr b="0" lang="en-US" sz="900" strike="noStrike" u="none">
              <a:solidFill>
                <a:srgbClr val="000000"/>
              </a:solidFill>
              <a:effectLst/>
              <a:uFillTx/>
              <a:latin typeface="Arial"/>
            </a:endParaRPr>
          </a:p>
        </p:txBody>
      </p:sp>
      <p:sp>
        <p:nvSpPr>
          <p:cNvPr id="1848" name="Text 16"/>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Migration and enablement</a:t>
            </a:r>
            <a:endParaRPr b="0" lang="en-US" sz="1600" strike="noStrike" u="none">
              <a:solidFill>
                <a:srgbClr val="000000"/>
              </a:solidFill>
              <a:effectLst/>
              <a:uFillTx/>
              <a:latin typeface="Arial"/>
            </a:endParaRPr>
          </a:p>
        </p:txBody>
      </p:sp>
      <p:sp>
        <p:nvSpPr>
          <p:cNvPr id="1849" name="Text 17"/>
          <p:cNvSpPr/>
          <p:nvPr/>
        </p:nvSpPr>
        <p:spPr>
          <a:xfrm>
            <a:off x="361044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 of envelope] | [€ amount to validate]</a:t>
            </a:r>
            <a:endParaRPr b="0" lang="en-US" sz="1100" strike="noStrike" u="none">
              <a:solidFill>
                <a:srgbClr val="000000"/>
              </a:solidFill>
              <a:effectLst/>
              <a:uFillTx/>
              <a:latin typeface="Arial"/>
            </a:endParaRPr>
          </a:p>
        </p:txBody>
      </p:sp>
      <p:sp>
        <p:nvSpPr>
          <p:cNvPr id="1850" name="Text 18"/>
          <p:cNvSpPr/>
          <p:nvPr/>
        </p:nvSpPr>
        <p:spPr>
          <a:xfrm>
            <a:off x="3628440" y="3776400"/>
            <a:ext cx="2165040" cy="150840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Schneider Electric migration and CSRD cycle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Client onboarding and data quality uplift</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Delivery tooling that reduces hypercare drag</a:t>
            </a:r>
            <a:endParaRPr b="0" lang="en-US" sz="1100" strike="noStrike" u="none">
              <a:solidFill>
                <a:srgbClr val="000000"/>
              </a:solidFill>
              <a:effectLst/>
              <a:uFillTx/>
              <a:latin typeface="Arial"/>
            </a:endParaRPr>
          </a:p>
        </p:txBody>
      </p:sp>
      <p:sp>
        <p:nvSpPr>
          <p:cNvPr id="1851" name="Shape 19"/>
          <p:cNvSpPr/>
          <p:nvPr/>
        </p:nvSpPr>
        <p:spPr>
          <a:xfrm>
            <a:off x="623304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852" name="Shape 20"/>
          <p:cNvSpPr/>
          <p:nvPr/>
        </p:nvSpPr>
        <p:spPr>
          <a:xfrm>
            <a:off x="623304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1853" name="Text 21"/>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POOL 03</a:t>
            </a:r>
            <a:endParaRPr b="0" lang="en-US" sz="900" strike="noStrike" u="none">
              <a:solidFill>
                <a:srgbClr val="000000"/>
              </a:solidFill>
              <a:effectLst/>
              <a:uFillTx/>
              <a:latin typeface="Arial"/>
            </a:endParaRPr>
          </a:p>
        </p:txBody>
      </p:sp>
      <p:sp>
        <p:nvSpPr>
          <p:cNvPr id="1854" name="Text 22"/>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Go-to-market and assurance</a:t>
            </a:r>
            <a:endParaRPr b="0" lang="en-US" sz="1600" strike="noStrike" u="none">
              <a:solidFill>
                <a:srgbClr val="000000"/>
              </a:solidFill>
              <a:effectLst/>
              <a:uFillTx/>
              <a:latin typeface="Arial"/>
            </a:endParaRPr>
          </a:p>
        </p:txBody>
      </p:sp>
      <p:sp>
        <p:nvSpPr>
          <p:cNvPr id="1855" name="Text 23"/>
          <p:cNvSpPr/>
          <p:nvPr/>
        </p:nvSpPr>
        <p:spPr>
          <a:xfrm>
            <a:off x="641592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 of envelope] | [€ amount to validate]</a:t>
            </a:r>
            <a:endParaRPr b="0" lang="en-US" sz="1100" strike="noStrike" u="none">
              <a:solidFill>
                <a:srgbClr val="000000"/>
              </a:solidFill>
              <a:effectLst/>
              <a:uFillTx/>
              <a:latin typeface="Arial"/>
            </a:endParaRPr>
          </a:p>
        </p:txBody>
      </p:sp>
      <p:sp>
        <p:nvSpPr>
          <p:cNvPr id="1856" name="Text 24"/>
          <p:cNvSpPr/>
          <p:nvPr/>
        </p:nvSpPr>
        <p:spPr>
          <a:xfrm>
            <a:off x="6434280" y="3776400"/>
            <a:ext cx="2165040" cy="150840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Lighthouse accounts and proof packs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Commercial model rollout and enablement</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Audit, assurance and evidence readiness</a:t>
            </a:r>
            <a:endParaRPr b="0" lang="en-US" sz="1100" strike="noStrike" u="none">
              <a:solidFill>
                <a:srgbClr val="000000"/>
              </a:solidFill>
              <a:effectLst/>
              <a:uFillTx/>
              <a:latin typeface="Arial"/>
            </a:endParaRPr>
          </a:p>
        </p:txBody>
      </p:sp>
      <p:sp>
        <p:nvSpPr>
          <p:cNvPr id="1857" name="Shape 25"/>
          <p:cNvSpPr/>
          <p:nvPr/>
        </p:nvSpPr>
        <p:spPr>
          <a:xfrm>
            <a:off x="90385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858" name="Shape 26"/>
          <p:cNvSpPr/>
          <p:nvPr/>
        </p:nvSpPr>
        <p:spPr>
          <a:xfrm>
            <a:off x="903852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1859" name="Text 27"/>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GUARDRAIL</a:t>
            </a:r>
            <a:endParaRPr b="0" lang="en-US" sz="900" strike="noStrike" u="none">
              <a:solidFill>
                <a:srgbClr val="000000"/>
              </a:solidFill>
              <a:effectLst/>
              <a:uFillTx/>
              <a:latin typeface="Arial"/>
            </a:endParaRPr>
          </a:p>
        </p:txBody>
      </p:sp>
      <p:sp>
        <p:nvSpPr>
          <p:cNvPr id="1860" name="Text 28"/>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Protected core share</a:t>
            </a:r>
            <a:endParaRPr b="0" lang="en-US" sz="1600" strike="noStrike" u="none">
              <a:solidFill>
                <a:srgbClr val="000000"/>
              </a:solidFill>
              <a:effectLst/>
              <a:uFillTx/>
              <a:latin typeface="Arial"/>
            </a:endParaRPr>
          </a:p>
        </p:txBody>
      </p:sp>
      <p:sp>
        <p:nvSpPr>
          <p:cNvPr id="1861" name="Text 29"/>
          <p:cNvSpPr/>
          <p:nvPr/>
        </p:nvSpPr>
        <p:spPr>
          <a:xfrm>
            <a:off x="922140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Roughly one third of capacity reserved for Core Platform</a:t>
            </a:r>
            <a:endParaRPr b="0" lang="en-US" sz="1100" strike="noStrike" u="none">
              <a:solidFill>
                <a:srgbClr val="000000"/>
              </a:solidFill>
              <a:effectLst/>
              <a:uFillTx/>
              <a:latin typeface="Arial"/>
            </a:endParaRPr>
          </a:p>
        </p:txBody>
      </p:sp>
      <p:sp>
        <p:nvSpPr>
          <p:cNvPr id="1862" name="Text 30"/>
          <p:cNvSpPr/>
          <p:nvPr/>
        </p:nvSpPr>
        <p:spPr>
          <a:xfrm>
            <a:off x="9239760" y="3776400"/>
            <a:ext cx="2165040" cy="150840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Core capacity is portfolio capacity, not overhead</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It cannot be traded away product by product</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Breaking it delays every downstream outcome</a:t>
            </a:r>
            <a:endParaRPr b="0" lang="en-US" sz="1100" strike="noStrike" u="none">
              <a:solidFill>
                <a:srgbClr val="000000"/>
              </a:solidFill>
              <a:effectLst/>
              <a:uFillTx/>
              <a:latin typeface="Arial"/>
            </a:endParaRPr>
          </a:p>
        </p:txBody>
      </p:sp>
      <p:sp>
        <p:nvSpPr>
          <p:cNvPr id="1863" name="Shape 31"/>
          <p:cNvSpPr/>
          <p:nvPr/>
        </p:nvSpPr>
        <p:spPr>
          <a:xfrm>
            <a:off x="621720" y="5650920"/>
            <a:ext cx="10947600" cy="585000"/>
          </a:xfrm>
          <a:prstGeom prst="roundRect">
            <a:avLst>
              <a:gd name="adj" fmla="val 12500"/>
            </a:avLst>
          </a:prstGeom>
          <a:solidFill>
            <a:srgbClr val="effaf1"/>
          </a:solidFill>
          <a:ln w="12700">
            <a:solidFill>
              <a:srgbClr val="bce8c9"/>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864" name="Shape 32"/>
          <p:cNvSpPr/>
          <p:nvPr/>
        </p:nvSpPr>
        <p:spPr>
          <a:xfrm>
            <a:off x="676800" y="5760720"/>
            <a:ext cx="45360" cy="3654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865" name="Text 33"/>
          <p:cNvSpPr/>
          <p:nvPr/>
        </p:nvSpPr>
        <p:spPr>
          <a:xfrm>
            <a:off x="859680" y="5650920"/>
            <a:ext cx="10527120" cy="585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200" strike="noStrike" u="none">
                <a:solidFill>
                  <a:srgbClr val="3a423c"/>
                </a:solidFill>
                <a:effectLst/>
                <a:uFillTx/>
                <a:latin typeface="Calibri"/>
                <a:ea typeface="Calibri"/>
              </a:rPr>
              <a:t>Percentages and amounts are placeholders until Finance confirms the envelope.</a:t>
            </a:r>
            <a:endParaRPr b="0" lang="en-US" sz="1200" strike="noStrike" u="none">
              <a:solidFill>
                <a:srgbClr val="000000"/>
              </a:solidFill>
              <a:effectLst/>
              <a:uFillTx/>
              <a:latin typeface="Arial"/>
            </a:endParaRPr>
          </a:p>
        </p:txBody>
      </p:sp>
      <p:sp>
        <p:nvSpPr>
          <p:cNvPr id="1866" name="Shape 34"/>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867" name="Text 35"/>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1868" name="Text 36"/>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1869" name="PlaceHolder 1"/>
          <p:cNvSpPr>
            <a:spLocks noGrp="1"/>
          </p:cNvSpPr>
          <p:nvPr>
            <p:ph type="sldNum" idx="45"/>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0E4940C0-906D-4343-BD96-E9011C96D368}"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870"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1871"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1872" name="Shape 2"/>
          <p:cNvSpPr/>
          <p:nvPr/>
        </p:nvSpPr>
        <p:spPr>
          <a:xfrm>
            <a:off x="621720" y="311040"/>
            <a:ext cx="365724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873" name="Text 3"/>
          <p:cNvSpPr/>
          <p:nvPr/>
        </p:nvSpPr>
        <p:spPr>
          <a:xfrm>
            <a:off x="804600" y="329040"/>
            <a:ext cx="332820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GOVERNANCE | DECISION CALENDAR</a:t>
            </a:r>
            <a:endParaRPr b="0" lang="en-US" sz="950" strike="noStrike" u="none">
              <a:solidFill>
                <a:srgbClr val="000000"/>
              </a:solidFill>
              <a:effectLst/>
              <a:uFillTx/>
              <a:latin typeface="Arial"/>
            </a:endParaRPr>
          </a:p>
        </p:txBody>
      </p:sp>
      <p:sp>
        <p:nvSpPr>
          <p:cNvPr id="1874"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Investment gates through 2027</a:t>
            </a:r>
            <a:endParaRPr b="0" lang="en-US" sz="3200" strike="noStrike" u="none">
              <a:solidFill>
                <a:srgbClr val="000000"/>
              </a:solidFill>
              <a:effectLst/>
              <a:uFillTx/>
              <a:latin typeface="Arial"/>
            </a:endParaRPr>
          </a:p>
        </p:txBody>
      </p:sp>
      <p:sp>
        <p:nvSpPr>
          <p:cNvPr id="1875"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Each gate carries an explicit stop, adjust or scale decision.</a:t>
            </a:r>
            <a:endParaRPr b="0" lang="en-US" sz="1250" strike="noStrike" u="none">
              <a:solidFill>
                <a:srgbClr val="000000"/>
              </a:solidFill>
              <a:effectLst/>
              <a:uFillTx/>
              <a:latin typeface="Arial"/>
            </a:endParaRPr>
          </a:p>
        </p:txBody>
      </p:sp>
      <p:sp>
        <p:nvSpPr>
          <p:cNvPr id="1876"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877" name="Shape 7"/>
          <p:cNvSpPr/>
          <p:nvPr/>
        </p:nvSpPr>
        <p:spPr>
          <a:xfrm>
            <a:off x="621720" y="2084760"/>
            <a:ext cx="2544480" cy="3419640"/>
          </a:xfrm>
          <a:prstGeom prst="roundRect">
            <a:avLst>
              <a:gd name="adj" fmla="val 2156"/>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878" name="Shape 8"/>
          <p:cNvSpPr/>
          <p:nvPr/>
        </p:nvSpPr>
        <p:spPr>
          <a:xfrm>
            <a:off x="621720" y="2084760"/>
            <a:ext cx="2544480" cy="712800"/>
          </a:xfrm>
          <a:prstGeom prst="rect">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879" name="Shape 9"/>
          <p:cNvSpPr/>
          <p:nvPr/>
        </p:nvSpPr>
        <p:spPr>
          <a:xfrm>
            <a:off x="621720" y="2084760"/>
            <a:ext cx="54360" cy="341964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880" name="Text 10"/>
          <p:cNvSpPr/>
          <p:nvPr/>
        </p:nvSpPr>
        <p:spPr>
          <a:xfrm>
            <a:off x="804600" y="2176200"/>
            <a:ext cx="221544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3dcd58"/>
                </a:solidFill>
                <a:effectLst/>
                <a:uFillTx/>
                <a:latin typeface="Calibri"/>
                <a:ea typeface="Calibri"/>
              </a:rPr>
              <a:t>GATE 1</a:t>
            </a:r>
            <a:endParaRPr b="0" lang="en-US" sz="850" strike="noStrike" u="none">
              <a:solidFill>
                <a:srgbClr val="000000"/>
              </a:solidFill>
              <a:effectLst/>
              <a:uFillTx/>
              <a:latin typeface="Arial"/>
            </a:endParaRPr>
          </a:p>
        </p:txBody>
      </p:sp>
      <p:sp>
        <p:nvSpPr>
          <p:cNvPr id="1881" name="Text 11"/>
          <p:cNvSpPr/>
          <p:nvPr/>
        </p:nvSpPr>
        <p:spPr>
          <a:xfrm>
            <a:off x="804600" y="2423160"/>
            <a:ext cx="221544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Q4 2026</a:t>
            </a:r>
            <a:endParaRPr b="0" lang="en-US" sz="1400" strike="noStrike" u="none">
              <a:solidFill>
                <a:srgbClr val="000000"/>
              </a:solidFill>
              <a:effectLst/>
              <a:uFillTx/>
              <a:latin typeface="Arial"/>
            </a:endParaRPr>
          </a:p>
        </p:txBody>
      </p:sp>
      <p:sp>
        <p:nvSpPr>
          <p:cNvPr id="1882" name="Shape 12"/>
          <p:cNvSpPr/>
          <p:nvPr/>
        </p:nvSpPr>
        <p:spPr>
          <a:xfrm>
            <a:off x="758880" y="2953440"/>
            <a:ext cx="2270160" cy="722160"/>
          </a:xfrm>
          <a:prstGeom prst="roundRect">
            <a:avLst>
              <a:gd name="adj" fmla="val 3797"/>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883" name="Text 13"/>
          <p:cNvSpPr/>
          <p:nvPr/>
        </p:nvSpPr>
        <p:spPr>
          <a:xfrm>
            <a:off x="822960" y="2953440"/>
            <a:ext cx="2142360" cy="72216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Q4 scope lock</a:t>
            </a:r>
            <a:endParaRPr b="0" lang="en-US" sz="1000" strike="noStrike" u="none">
              <a:solidFill>
                <a:srgbClr val="000000"/>
              </a:solidFill>
              <a:effectLst/>
              <a:uFillTx/>
              <a:latin typeface="Arial"/>
            </a:endParaRPr>
          </a:p>
          <a:p>
            <a:pPr defTabSz="914400">
              <a:lnSpc>
                <a:spcPct val="95000"/>
              </a:lnSpc>
              <a:tabLst>
                <a:tab algn="l" pos="0"/>
              </a:tabLst>
            </a:pPr>
            <a:r>
              <a:rPr b="0" lang="en-US" sz="850" strike="noStrike" u="none">
                <a:solidFill>
                  <a:srgbClr val="5a625c"/>
                </a:solidFill>
                <a:effectLst/>
                <a:uFillTx/>
                <a:latin typeface="Calibri"/>
                <a:ea typeface="Calibri"/>
              </a:rPr>
              <a:t>Ranked cut line held at agreed capacity</a:t>
            </a:r>
            <a:endParaRPr b="0" lang="en-US" sz="850" strike="noStrike" u="none">
              <a:solidFill>
                <a:srgbClr val="000000"/>
              </a:solidFill>
              <a:effectLst/>
              <a:uFillTx/>
              <a:latin typeface="Arial"/>
            </a:endParaRPr>
          </a:p>
        </p:txBody>
      </p:sp>
      <p:sp>
        <p:nvSpPr>
          <p:cNvPr id="1884" name="Shape 14"/>
          <p:cNvSpPr/>
          <p:nvPr/>
        </p:nvSpPr>
        <p:spPr>
          <a:xfrm>
            <a:off x="758880" y="3749040"/>
            <a:ext cx="2270160" cy="722160"/>
          </a:xfrm>
          <a:prstGeom prst="roundRect">
            <a:avLst>
              <a:gd name="adj" fmla="val 3797"/>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885" name="Text 15"/>
          <p:cNvSpPr/>
          <p:nvPr/>
        </p:nvSpPr>
        <p:spPr>
          <a:xfrm>
            <a:off x="822960" y="3749040"/>
            <a:ext cx="2142360" cy="72216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Finance baselines set</a:t>
            </a:r>
            <a:endParaRPr b="0" lang="en-US" sz="1000" strike="noStrike" u="none">
              <a:solidFill>
                <a:srgbClr val="000000"/>
              </a:solidFill>
              <a:effectLst/>
              <a:uFillTx/>
              <a:latin typeface="Arial"/>
            </a:endParaRPr>
          </a:p>
          <a:p>
            <a:pPr defTabSz="914400">
              <a:lnSpc>
                <a:spcPct val="95000"/>
              </a:lnSpc>
              <a:tabLst>
                <a:tab algn="l" pos="0"/>
              </a:tabLst>
            </a:pPr>
            <a:r>
              <a:rPr b="0" lang="en-US" sz="850" strike="noStrike" u="none">
                <a:solidFill>
                  <a:srgbClr val="5a625c"/>
                </a:solidFill>
                <a:effectLst/>
                <a:uFillTx/>
                <a:latin typeface="Calibri"/>
                <a:ea typeface="Calibri"/>
              </a:rPr>
              <a:t>ARR, cost to serve and exposure methods agreed</a:t>
            </a:r>
            <a:endParaRPr b="0" lang="en-US" sz="850" strike="noStrike" u="none">
              <a:solidFill>
                <a:srgbClr val="000000"/>
              </a:solidFill>
              <a:effectLst/>
              <a:uFillTx/>
              <a:latin typeface="Arial"/>
            </a:endParaRPr>
          </a:p>
        </p:txBody>
      </p:sp>
      <p:sp>
        <p:nvSpPr>
          <p:cNvPr id="1886" name="Shape 16"/>
          <p:cNvSpPr/>
          <p:nvPr/>
        </p:nvSpPr>
        <p:spPr>
          <a:xfrm>
            <a:off x="758880" y="4544640"/>
            <a:ext cx="2270160" cy="722160"/>
          </a:xfrm>
          <a:prstGeom prst="roundRect">
            <a:avLst>
              <a:gd name="adj" fmla="val 3797"/>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887" name="Text 17"/>
          <p:cNvSpPr/>
          <p:nvPr/>
        </p:nvSpPr>
        <p:spPr>
          <a:xfrm>
            <a:off x="822960" y="4544640"/>
            <a:ext cx="2142360" cy="72216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Decision</a:t>
            </a:r>
            <a:endParaRPr b="0" lang="en-US" sz="1000" strike="noStrike" u="none">
              <a:solidFill>
                <a:srgbClr val="000000"/>
              </a:solidFill>
              <a:effectLst/>
              <a:uFillTx/>
              <a:latin typeface="Arial"/>
            </a:endParaRPr>
          </a:p>
          <a:p>
            <a:pPr defTabSz="914400">
              <a:lnSpc>
                <a:spcPct val="95000"/>
              </a:lnSpc>
              <a:tabLst>
                <a:tab algn="l" pos="0"/>
              </a:tabLst>
            </a:pPr>
            <a:r>
              <a:rPr b="0" lang="en-US" sz="850" strike="noStrike" u="none">
                <a:solidFill>
                  <a:srgbClr val="5a625c"/>
                </a:solidFill>
                <a:effectLst/>
                <a:uFillTx/>
                <a:latin typeface="Calibri"/>
                <a:ea typeface="Calibri"/>
              </a:rPr>
              <a:t>Approve the 2027 investment envelope</a:t>
            </a:r>
            <a:endParaRPr b="0" lang="en-US" sz="850" strike="noStrike" u="none">
              <a:solidFill>
                <a:srgbClr val="000000"/>
              </a:solidFill>
              <a:effectLst/>
              <a:uFillTx/>
              <a:latin typeface="Arial"/>
            </a:endParaRPr>
          </a:p>
        </p:txBody>
      </p:sp>
      <p:sp>
        <p:nvSpPr>
          <p:cNvPr id="1888" name="Shape 18"/>
          <p:cNvSpPr/>
          <p:nvPr/>
        </p:nvSpPr>
        <p:spPr>
          <a:xfrm>
            <a:off x="3422880" y="2084760"/>
            <a:ext cx="2544480" cy="3419640"/>
          </a:xfrm>
          <a:prstGeom prst="roundRect">
            <a:avLst>
              <a:gd name="adj" fmla="val 2156"/>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889" name="Shape 19"/>
          <p:cNvSpPr/>
          <p:nvPr/>
        </p:nvSpPr>
        <p:spPr>
          <a:xfrm>
            <a:off x="3422880" y="2084760"/>
            <a:ext cx="2544480" cy="712800"/>
          </a:xfrm>
          <a:prstGeom prst="rect">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890" name="Shape 20"/>
          <p:cNvSpPr/>
          <p:nvPr/>
        </p:nvSpPr>
        <p:spPr>
          <a:xfrm>
            <a:off x="3422880" y="2084760"/>
            <a:ext cx="54360" cy="3419640"/>
          </a:xfrm>
          <a:prstGeom prst="rect">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891" name="Text 21"/>
          <p:cNvSpPr/>
          <p:nvPr/>
        </p:nvSpPr>
        <p:spPr>
          <a:xfrm>
            <a:off x="3605760" y="2176200"/>
            <a:ext cx="221544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007a27"/>
                </a:solidFill>
                <a:effectLst/>
                <a:uFillTx/>
                <a:latin typeface="Calibri"/>
                <a:ea typeface="Calibri"/>
              </a:rPr>
              <a:t>GATE 2</a:t>
            </a:r>
            <a:endParaRPr b="0" lang="en-US" sz="850" strike="noStrike" u="none">
              <a:solidFill>
                <a:srgbClr val="000000"/>
              </a:solidFill>
              <a:effectLst/>
              <a:uFillTx/>
              <a:latin typeface="Arial"/>
            </a:endParaRPr>
          </a:p>
        </p:txBody>
      </p:sp>
      <p:sp>
        <p:nvSpPr>
          <p:cNvPr id="1892" name="Text 22"/>
          <p:cNvSpPr/>
          <p:nvPr/>
        </p:nvSpPr>
        <p:spPr>
          <a:xfrm>
            <a:off x="3605760" y="2423160"/>
            <a:ext cx="221544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H1 2027</a:t>
            </a:r>
            <a:endParaRPr b="0" lang="en-US" sz="1400" strike="noStrike" u="none">
              <a:solidFill>
                <a:srgbClr val="000000"/>
              </a:solidFill>
              <a:effectLst/>
              <a:uFillTx/>
              <a:latin typeface="Arial"/>
            </a:endParaRPr>
          </a:p>
        </p:txBody>
      </p:sp>
      <p:sp>
        <p:nvSpPr>
          <p:cNvPr id="1893" name="Shape 23"/>
          <p:cNvSpPr/>
          <p:nvPr/>
        </p:nvSpPr>
        <p:spPr>
          <a:xfrm>
            <a:off x="3560040" y="2953440"/>
            <a:ext cx="2270160" cy="722160"/>
          </a:xfrm>
          <a:prstGeom prst="roundRect">
            <a:avLst>
              <a:gd name="adj" fmla="val 3797"/>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894" name="Text 24"/>
          <p:cNvSpPr/>
          <p:nvPr/>
        </p:nvSpPr>
        <p:spPr>
          <a:xfrm>
            <a:off x="3624120" y="2953440"/>
            <a:ext cx="2142360" cy="72216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Migration and CSRD cycle complete</a:t>
            </a:r>
            <a:endParaRPr b="0" lang="en-US" sz="950" strike="noStrike" u="none">
              <a:solidFill>
                <a:srgbClr val="000000"/>
              </a:solidFill>
              <a:effectLst/>
              <a:uFillTx/>
              <a:latin typeface="Arial"/>
            </a:endParaRPr>
          </a:p>
          <a:p>
            <a:pPr defTabSz="914400">
              <a:lnSpc>
                <a:spcPct val="95000"/>
              </a:lnSpc>
              <a:tabLst>
                <a:tab algn="l" pos="0"/>
              </a:tabLst>
            </a:pPr>
            <a:r>
              <a:rPr b="0" lang="en-US" sz="800" strike="noStrike" u="none">
                <a:solidFill>
                  <a:srgbClr val="5a625c"/>
                </a:solidFill>
                <a:effectLst/>
                <a:uFillTx/>
                <a:latin typeface="Calibri"/>
                <a:ea typeface="Calibri"/>
              </a:rPr>
              <a:t>Schneider Electric cycle delivered</a:t>
            </a:r>
            <a:endParaRPr b="0" lang="en-US" sz="800" strike="noStrike" u="none">
              <a:solidFill>
                <a:srgbClr val="000000"/>
              </a:solidFill>
              <a:effectLst/>
              <a:uFillTx/>
              <a:latin typeface="Arial"/>
            </a:endParaRPr>
          </a:p>
        </p:txBody>
      </p:sp>
      <p:sp>
        <p:nvSpPr>
          <p:cNvPr id="1895" name="Shape 25"/>
          <p:cNvSpPr/>
          <p:nvPr/>
        </p:nvSpPr>
        <p:spPr>
          <a:xfrm>
            <a:off x="3560040" y="3749040"/>
            <a:ext cx="2270160" cy="722160"/>
          </a:xfrm>
          <a:prstGeom prst="roundRect">
            <a:avLst>
              <a:gd name="adj" fmla="val 3797"/>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896" name="Text 26"/>
          <p:cNvSpPr/>
          <p:nvPr/>
        </p:nvSpPr>
        <p:spPr>
          <a:xfrm>
            <a:off x="3624120" y="3749040"/>
            <a:ext cx="2142360" cy="72216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Data quality thresholds met</a:t>
            </a:r>
            <a:endParaRPr b="0" lang="en-US" sz="1000" strike="noStrike" u="none">
              <a:solidFill>
                <a:srgbClr val="000000"/>
              </a:solidFill>
              <a:effectLst/>
              <a:uFillTx/>
              <a:latin typeface="Arial"/>
            </a:endParaRPr>
          </a:p>
          <a:p>
            <a:pPr defTabSz="914400">
              <a:lnSpc>
                <a:spcPct val="95000"/>
              </a:lnSpc>
              <a:tabLst>
                <a:tab algn="l" pos="0"/>
              </a:tabLst>
            </a:pPr>
            <a:r>
              <a:rPr b="0" lang="en-US" sz="850" strike="noStrike" u="none">
                <a:solidFill>
                  <a:srgbClr val="5a625c"/>
                </a:solidFill>
                <a:effectLst/>
                <a:uFillTx/>
                <a:latin typeface="Calibri"/>
                <a:ea typeface="Calibri"/>
              </a:rPr>
              <a:t>Core Platform readiness evidenced</a:t>
            </a:r>
            <a:endParaRPr b="0" lang="en-US" sz="850" strike="noStrike" u="none">
              <a:solidFill>
                <a:srgbClr val="000000"/>
              </a:solidFill>
              <a:effectLst/>
              <a:uFillTx/>
              <a:latin typeface="Arial"/>
            </a:endParaRPr>
          </a:p>
        </p:txBody>
      </p:sp>
      <p:sp>
        <p:nvSpPr>
          <p:cNvPr id="1897" name="Shape 27"/>
          <p:cNvSpPr/>
          <p:nvPr/>
        </p:nvSpPr>
        <p:spPr>
          <a:xfrm>
            <a:off x="3560040" y="4544640"/>
            <a:ext cx="2270160" cy="722160"/>
          </a:xfrm>
          <a:prstGeom prst="roundRect">
            <a:avLst>
              <a:gd name="adj" fmla="val 3797"/>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898" name="Text 28"/>
          <p:cNvSpPr/>
          <p:nvPr/>
        </p:nvSpPr>
        <p:spPr>
          <a:xfrm>
            <a:off x="3624120" y="4544640"/>
            <a:ext cx="2142360" cy="72216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Decision</a:t>
            </a:r>
            <a:endParaRPr b="0" lang="en-US" sz="1000" strike="noStrike" u="none">
              <a:solidFill>
                <a:srgbClr val="000000"/>
              </a:solidFill>
              <a:effectLst/>
              <a:uFillTx/>
              <a:latin typeface="Arial"/>
            </a:endParaRPr>
          </a:p>
          <a:p>
            <a:pPr defTabSz="914400">
              <a:lnSpc>
                <a:spcPct val="95000"/>
              </a:lnSpc>
              <a:tabLst>
                <a:tab algn="l" pos="0"/>
              </a:tabLst>
            </a:pPr>
            <a:r>
              <a:rPr b="0" lang="en-US" sz="850" strike="noStrike" u="none">
                <a:solidFill>
                  <a:srgbClr val="5a625c"/>
                </a:solidFill>
                <a:effectLst/>
                <a:uFillTx/>
                <a:latin typeface="Calibri"/>
                <a:ea typeface="Calibri"/>
              </a:rPr>
              <a:t>Scale, adjust or stop the next tranche</a:t>
            </a:r>
            <a:endParaRPr b="0" lang="en-US" sz="850" strike="noStrike" u="none">
              <a:solidFill>
                <a:srgbClr val="000000"/>
              </a:solidFill>
              <a:effectLst/>
              <a:uFillTx/>
              <a:latin typeface="Arial"/>
            </a:endParaRPr>
          </a:p>
        </p:txBody>
      </p:sp>
      <p:sp>
        <p:nvSpPr>
          <p:cNvPr id="1899" name="Shape 29"/>
          <p:cNvSpPr/>
          <p:nvPr/>
        </p:nvSpPr>
        <p:spPr>
          <a:xfrm>
            <a:off x="6224040" y="2084760"/>
            <a:ext cx="2544480" cy="3419640"/>
          </a:xfrm>
          <a:prstGeom prst="roundRect">
            <a:avLst>
              <a:gd name="adj" fmla="val 2156"/>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900" name="Shape 30"/>
          <p:cNvSpPr/>
          <p:nvPr/>
        </p:nvSpPr>
        <p:spPr>
          <a:xfrm>
            <a:off x="6224040" y="2084760"/>
            <a:ext cx="2544480" cy="712800"/>
          </a:xfrm>
          <a:prstGeom prst="rect">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901" name="Shape 31"/>
          <p:cNvSpPr/>
          <p:nvPr/>
        </p:nvSpPr>
        <p:spPr>
          <a:xfrm>
            <a:off x="6224040" y="2084760"/>
            <a:ext cx="54360" cy="3419640"/>
          </a:xfrm>
          <a:prstGeom prst="rect">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902" name="Text 32"/>
          <p:cNvSpPr/>
          <p:nvPr/>
        </p:nvSpPr>
        <p:spPr>
          <a:xfrm>
            <a:off x="6406920" y="2176200"/>
            <a:ext cx="221544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007a27"/>
                </a:solidFill>
                <a:effectLst/>
                <a:uFillTx/>
                <a:latin typeface="Calibri"/>
                <a:ea typeface="Calibri"/>
              </a:rPr>
              <a:t>GATE 3</a:t>
            </a:r>
            <a:endParaRPr b="0" lang="en-US" sz="850" strike="noStrike" u="none">
              <a:solidFill>
                <a:srgbClr val="000000"/>
              </a:solidFill>
              <a:effectLst/>
              <a:uFillTx/>
              <a:latin typeface="Arial"/>
            </a:endParaRPr>
          </a:p>
        </p:txBody>
      </p:sp>
      <p:sp>
        <p:nvSpPr>
          <p:cNvPr id="1903" name="Text 33"/>
          <p:cNvSpPr/>
          <p:nvPr/>
        </p:nvSpPr>
        <p:spPr>
          <a:xfrm>
            <a:off x="6406920" y="2423160"/>
            <a:ext cx="221544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H2 2027</a:t>
            </a:r>
            <a:endParaRPr b="0" lang="en-US" sz="1400" strike="noStrike" u="none">
              <a:solidFill>
                <a:srgbClr val="000000"/>
              </a:solidFill>
              <a:effectLst/>
              <a:uFillTx/>
              <a:latin typeface="Arial"/>
            </a:endParaRPr>
          </a:p>
        </p:txBody>
      </p:sp>
      <p:sp>
        <p:nvSpPr>
          <p:cNvPr id="1904" name="Shape 34"/>
          <p:cNvSpPr/>
          <p:nvPr/>
        </p:nvSpPr>
        <p:spPr>
          <a:xfrm>
            <a:off x="6361200" y="2953440"/>
            <a:ext cx="2270160" cy="722160"/>
          </a:xfrm>
          <a:prstGeom prst="roundRect">
            <a:avLst>
              <a:gd name="adj" fmla="val 3797"/>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905" name="Text 35"/>
          <p:cNvSpPr/>
          <p:nvPr/>
        </p:nvSpPr>
        <p:spPr>
          <a:xfrm>
            <a:off x="6424920" y="2953440"/>
            <a:ext cx="2142360" cy="72216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End-to-end workflow adopted</a:t>
            </a:r>
            <a:endParaRPr b="0" lang="en-US" sz="1000" strike="noStrike" u="none">
              <a:solidFill>
                <a:srgbClr val="000000"/>
              </a:solidFill>
              <a:effectLst/>
              <a:uFillTx/>
              <a:latin typeface="Arial"/>
            </a:endParaRPr>
          </a:p>
          <a:p>
            <a:pPr defTabSz="914400">
              <a:lnSpc>
                <a:spcPct val="95000"/>
              </a:lnSpc>
              <a:tabLst>
                <a:tab algn="l" pos="0"/>
              </a:tabLst>
            </a:pPr>
            <a:r>
              <a:rPr b="0" lang="en-US" sz="850" strike="noStrike" u="none">
                <a:solidFill>
                  <a:srgbClr val="5a625c"/>
                </a:solidFill>
                <a:effectLst/>
                <a:uFillTx/>
                <a:latin typeface="Calibri"/>
                <a:ea typeface="Calibri"/>
              </a:rPr>
              <a:t>At least one connected client journey live</a:t>
            </a:r>
            <a:endParaRPr b="0" lang="en-US" sz="850" strike="noStrike" u="none">
              <a:solidFill>
                <a:srgbClr val="000000"/>
              </a:solidFill>
              <a:effectLst/>
              <a:uFillTx/>
              <a:latin typeface="Arial"/>
            </a:endParaRPr>
          </a:p>
        </p:txBody>
      </p:sp>
      <p:sp>
        <p:nvSpPr>
          <p:cNvPr id="1906" name="Shape 36"/>
          <p:cNvSpPr/>
          <p:nvPr/>
        </p:nvSpPr>
        <p:spPr>
          <a:xfrm>
            <a:off x="6361200" y="3749040"/>
            <a:ext cx="2270160" cy="722160"/>
          </a:xfrm>
          <a:prstGeom prst="roundRect">
            <a:avLst>
              <a:gd name="adj" fmla="val 3797"/>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907" name="Text 37"/>
          <p:cNvSpPr/>
          <p:nvPr/>
        </p:nvSpPr>
        <p:spPr>
          <a:xfrm>
            <a:off x="6424920" y="3749040"/>
            <a:ext cx="2142360" cy="72216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Lighthouse evidence published</a:t>
            </a:r>
            <a:endParaRPr b="0" lang="en-US" sz="1000" strike="noStrike" u="none">
              <a:solidFill>
                <a:srgbClr val="000000"/>
              </a:solidFill>
              <a:effectLst/>
              <a:uFillTx/>
              <a:latin typeface="Arial"/>
            </a:endParaRPr>
          </a:p>
          <a:p>
            <a:pPr defTabSz="914400">
              <a:lnSpc>
                <a:spcPct val="95000"/>
              </a:lnSpc>
              <a:tabLst>
                <a:tab algn="l" pos="0"/>
              </a:tabLst>
            </a:pPr>
            <a:r>
              <a:rPr b="0" lang="en-US" sz="850" strike="noStrike" u="none">
                <a:solidFill>
                  <a:srgbClr val="5a625c"/>
                </a:solidFill>
                <a:effectLst/>
                <a:uFillTx/>
                <a:latin typeface="Calibri"/>
                <a:ea typeface="Calibri"/>
              </a:rPr>
              <a:t>Cross-product adoption and TCO proof</a:t>
            </a:r>
            <a:endParaRPr b="0" lang="en-US" sz="850" strike="noStrike" u="none">
              <a:solidFill>
                <a:srgbClr val="000000"/>
              </a:solidFill>
              <a:effectLst/>
              <a:uFillTx/>
              <a:latin typeface="Arial"/>
            </a:endParaRPr>
          </a:p>
        </p:txBody>
      </p:sp>
      <p:sp>
        <p:nvSpPr>
          <p:cNvPr id="1908" name="Shape 38"/>
          <p:cNvSpPr/>
          <p:nvPr/>
        </p:nvSpPr>
        <p:spPr>
          <a:xfrm>
            <a:off x="6361200" y="4544640"/>
            <a:ext cx="2270160" cy="722160"/>
          </a:xfrm>
          <a:prstGeom prst="roundRect">
            <a:avLst>
              <a:gd name="adj" fmla="val 3797"/>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909" name="Text 39"/>
          <p:cNvSpPr/>
          <p:nvPr/>
        </p:nvSpPr>
        <p:spPr>
          <a:xfrm>
            <a:off x="6424920" y="4544640"/>
            <a:ext cx="2142360" cy="72216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Decision</a:t>
            </a:r>
            <a:endParaRPr b="0" lang="en-US" sz="1000" strike="noStrike" u="none">
              <a:solidFill>
                <a:srgbClr val="000000"/>
              </a:solidFill>
              <a:effectLst/>
              <a:uFillTx/>
              <a:latin typeface="Arial"/>
            </a:endParaRPr>
          </a:p>
          <a:p>
            <a:pPr defTabSz="914400">
              <a:lnSpc>
                <a:spcPct val="95000"/>
              </a:lnSpc>
              <a:tabLst>
                <a:tab algn="l" pos="0"/>
              </a:tabLst>
            </a:pPr>
            <a:r>
              <a:rPr b="0" lang="en-US" sz="850" strike="noStrike" u="none">
                <a:solidFill>
                  <a:srgbClr val="5a625c"/>
                </a:solidFill>
                <a:effectLst/>
                <a:uFillTx/>
                <a:latin typeface="Calibri"/>
                <a:ea typeface="Calibri"/>
              </a:rPr>
              <a:t>Confirm or re-cut the 2028 direction</a:t>
            </a:r>
            <a:endParaRPr b="0" lang="en-US" sz="850" strike="noStrike" u="none">
              <a:solidFill>
                <a:srgbClr val="000000"/>
              </a:solidFill>
              <a:effectLst/>
              <a:uFillTx/>
              <a:latin typeface="Arial"/>
            </a:endParaRPr>
          </a:p>
        </p:txBody>
      </p:sp>
      <p:sp>
        <p:nvSpPr>
          <p:cNvPr id="1910" name="Shape 40"/>
          <p:cNvSpPr/>
          <p:nvPr/>
        </p:nvSpPr>
        <p:spPr>
          <a:xfrm>
            <a:off x="9024840" y="2084760"/>
            <a:ext cx="2544480" cy="3419640"/>
          </a:xfrm>
          <a:prstGeom prst="roundRect">
            <a:avLst>
              <a:gd name="adj" fmla="val 2156"/>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911" name="Shape 41"/>
          <p:cNvSpPr/>
          <p:nvPr/>
        </p:nvSpPr>
        <p:spPr>
          <a:xfrm>
            <a:off x="9024840" y="2084760"/>
            <a:ext cx="2544480" cy="712800"/>
          </a:xfrm>
          <a:prstGeom prst="rect">
            <a:avLst/>
          </a:prstGeom>
          <a:solidFill>
            <a:srgbClr val="eaf1f5"/>
          </a:solidFill>
          <a:ln w="12700">
            <a:solidFill>
              <a:srgbClr val="eaf1f5"/>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912" name="Shape 42"/>
          <p:cNvSpPr/>
          <p:nvPr/>
        </p:nvSpPr>
        <p:spPr>
          <a:xfrm>
            <a:off x="9024840" y="2084760"/>
            <a:ext cx="54360" cy="3419640"/>
          </a:xfrm>
          <a:prstGeom prst="rect">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1913" name="Text 43"/>
          <p:cNvSpPr/>
          <p:nvPr/>
        </p:nvSpPr>
        <p:spPr>
          <a:xfrm>
            <a:off x="9207720" y="2176200"/>
            <a:ext cx="221544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275b7f"/>
                </a:solidFill>
                <a:effectLst/>
                <a:uFillTx/>
                <a:latin typeface="Calibri"/>
                <a:ea typeface="Calibri"/>
              </a:rPr>
              <a:t>GATE 4</a:t>
            </a:r>
            <a:endParaRPr b="0" lang="en-US" sz="850" strike="noStrike" u="none">
              <a:solidFill>
                <a:srgbClr val="000000"/>
              </a:solidFill>
              <a:effectLst/>
              <a:uFillTx/>
              <a:latin typeface="Arial"/>
            </a:endParaRPr>
          </a:p>
        </p:txBody>
      </p:sp>
      <p:sp>
        <p:nvSpPr>
          <p:cNvPr id="1914" name="Text 44"/>
          <p:cNvSpPr/>
          <p:nvPr/>
        </p:nvSpPr>
        <p:spPr>
          <a:xfrm>
            <a:off x="9207720" y="2423160"/>
            <a:ext cx="221544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2028 planning</a:t>
            </a:r>
            <a:endParaRPr b="0" lang="en-US" sz="1400" strike="noStrike" u="none">
              <a:solidFill>
                <a:srgbClr val="000000"/>
              </a:solidFill>
              <a:effectLst/>
              <a:uFillTx/>
              <a:latin typeface="Arial"/>
            </a:endParaRPr>
          </a:p>
        </p:txBody>
      </p:sp>
      <p:sp>
        <p:nvSpPr>
          <p:cNvPr id="1915" name="Shape 45"/>
          <p:cNvSpPr/>
          <p:nvPr/>
        </p:nvSpPr>
        <p:spPr>
          <a:xfrm>
            <a:off x="9162000" y="2953440"/>
            <a:ext cx="2270160" cy="722160"/>
          </a:xfrm>
          <a:prstGeom prst="roundRect">
            <a:avLst>
              <a:gd name="adj" fmla="val 3797"/>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916" name="Text 46"/>
          <p:cNvSpPr/>
          <p:nvPr/>
        </p:nvSpPr>
        <p:spPr>
          <a:xfrm>
            <a:off x="9226080" y="2953440"/>
            <a:ext cx="2142360" cy="72216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Realized value review</a:t>
            </a:r>
            <a:endParaRPr b="0" lang="en-US" sz="1000" strike="noStrike" u="none">
              <a:solidFill>
                <a:srgbClr val="000000"/>
              </a:solidFill>
              <a:effectLst/>
              <a:uFillTx/>
              <a:latin typeface="Arial"/>
            </a:endParaRPr>
          </a:p>
          <a:p>
            <a:pPr defTabSz="914400">
              <a:lnSpc>
                <a:spcPct val="95000"/>
              </a:lnSpc>
              <a:tabLst>
                <a:tab algn="l" pos="0"/>
              </a:tabLst>
            </a:pPr>
            <a:r>
              <a:rPr b="0" lang="en-US" sz="850" strike="noStrike" u="none">
                <a:solidFill>
                  <a:srgbClr val="5a625c"/>
                </a:solidFill>
                <a:effectLst/>
                <a:uFillTx/>
                <a:latin typeface="Calibri"/>
                <a:ea typeface="Calibri"/>
              </a:rPr>
              <a:t>Finance confirms measured contribution</a:t>
            </a:r>
            <a:endParaRPr b="0" lang="en-US" sz="850" strike="noStrike" u="none">
              <a:solidFill>
                <a:srgbClr val="000000"/>
              </a:solidFill>
              <a:effectLst/>
              <a:uFillTx/>
              <a:latin typeface="Arial"/>
            </a:endParaRPr>
          </a:p>
        </p:txBody>
      </p:sp>
      <p:sp>
        <p:nvSpPr>
          <p:cNvPr id="1917" name="Shape 47"/>
          <p:cNvSpPr/>
          <p:nvPr/>
        </p:nvSpPr>
        <p:spPr>
          <a:xfrm>
            <a:off x="9162000" y="3749040"/>
            <a:ext cx="2270160" cy="722160"/>
          </a:xfrm>
          <a:prstGeom prst="roundRect">
            <a:avLst>
              <a:gd name="adj" fmla="val 3797"/>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918" name="Text 48"/>
          <p:cNvSpPr/>
          <p:nvPr/>
        </p:nvSpPr>
        <p:spPr>
          <a:xfrm>
            <a:off x="9226080" y="3749040"/>
            <a:ext cx="2142360" cy="72216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Portfolio re-rank</a:t>
            </a:r>
            <a:endParaRPr b="0" lang="en-US" sz="1000" strike="noStrike" u="none">
              <a:solidFill>
                <a:srgbClr val="000000"/>
              </a:solidFill>
              <a:effectLst/>
              <a:uFillTx/>
              <a:latin typeface="Arial"/>
            </a:endParaRPr>
          </a:p>
          <a:p>
            <a:pPr defTabSz="914400">
              <a:lnSpc>
                <a:spcPct val="95000"/>
              </a:lnSpc>
              <a:tabLst>
                <a:tab algn="l" pos="0"/>
              </a:tabLst>
            </a:pPr>
            <a:r>
              <a:rPr b="0" lang="en-US" sz="850" strike="noStrike" u="none">
                <a:solidFill>
                  <a:srgbClr val="5a625c"/>
                </a:solidFill>
                <a:effectLst/>
                <a:uFillTx/>
                <a:latin typeface="Calibri"/>
                <a:ea typeface="Calibri"/>
              </a:rPr>
              <a:t>Annual capacity and sequencing decision</a:t>
            </a:r>
            <a:endParaRPr b="0" lang="en-US" sz="850" strike="noStrike" u="none">
              <a:solidFill>
                <a:srgbClr val="000000"/>
              </a:solidFill>
              <a:effectLst/>
              <a:uFillTx/>
              <a:latin typeface="Arial"/>
            </a:endParaRPr>
          </a:p>
        </p:txBody>
      </p:sp>
      <p:sp>
        <p:nvSpPr>
          <p:cNvPr id="1919" name="Shape 49"/>
          <p:cNvSpPr/>
          <p:nvPr/>
        </p:nvSpPr>
        <p:spPr>
          <a:xfrm>
            <a:off x="9162000" y="4544640"/>
            <a:ext cx="2270160" cy="722160"/>
          </a:xfrm>
          <a:prstGeom prst="roundRect">
            <a:avLst>
              <a:gd name="adj" fmla="val 3797"/>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920" name="Text 50"/>
          <p:cNvSpPr/>
          <p:nvPr/>
        </p:nvSpPr>
        <p:spPr>
          <a:xfrm>
            <a:off x="9226080" y="4544640"/>
            <a:ext cx="2142360" cy="72216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Decision</a:t>
            </a:r>
            <a:endParaRPr b="0" lang="en-US" sz="1000" strike="noStrike" u="none">
              <a:solidFill>
                <a:srgbClr val="000000"/>
              </a:solidFill>
              <a:effectLst/>
              <a:uFillTx/>
              <a:latin typeface="Arial"/>
            </a:endParaRPr>
          </a:p>
          <a:p>
            <a:pPr defTabSz="914400">
              <a:lnSpc>
                <a:spcPct val="95000"/>
              </a:lnSpc>
              <a:tabLst>
                <a:tab algn="l" pos="0"/>
              </a:tabLst>
            </a:pPr>
            <a:r>
              <a:rPr b="0" lang="en-US" sz="850" strike="noStrike" u="none">
                <a:solidFill>
                  <a:srgbClr val="5a625c"/>
                </a:solidFill>
                <a:effectLst/>
                <a:uFillTx/>
                <a:latin typeface="Calibri"/>
                <a:ea typeface="Calibri"/>
              </a:rPr>
              <a:t>Fund the next horizon against proof points</a:t>
            </a:r>
            <a:endParaRPr b="0" lang="en-US" sz="850" strike="noStrike" u="none">
              <a:solidFill>
                <a:srgbClr val="000000"/>
              </a:solidFill>
              <a:effectLst/>
              <a:uFillTx/>
              <a:latin typeface="Arial"/>
            </a:endParaRPr>
          </a:p>
        </p:txBody>
      </p:sp>
      <p:sp>
        <p:nvSpPr>
          <p:cNvPr id="1921" name="Shape 51"/>
          <p:cNvSpPr/>
          <p:nvPr/>
        </p:nvSpPr>
        <p:spPr>
          <a:xfrm>
            <a:off x="621720" y="5650920"/>
            <a:ext cx="10947600" cy="585000"/>
          </a:xfrm>
          <a:prstGeom prst="roundRect">
            <a:avLst>
              <a:gd name="adj" fmla="val 12500"/>
            </a:avLst>
          </a:prstGeom>
          <a:solidFill>
            <a:srgbClr val="effaf1"/>
          </a:solidFill>
          <a:ln w="12700">
            <a:solidFill>
              <a:srgbClr val="bce8c9"/>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922" name="Shape 52"/>
          <p:cNvSpPr/>
          <p:nvPr/>
        </p:nvSpPr>
        <p:spPr>
          <a:xfrm>
            <a:off x="676800" y="5760720"/>
            <a:ext cx="45360" cy="3654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923" name="Text 53"/>
          <p:cNvSpPr/>
          <p:nvPr/>
        </p:nvSpPr>
        <p:spPr>
          <a:xfrm>
            <a:off x="859680" y="5650920"/>
            <a:ext cx="10527120" cy="585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200" strike="noStrike" u="none">
                <a:solidFill>
                  <a:srgbClr val="3a423c"/>
                </a:solidFill>
                <a:effectLst/>
                <a:uFillTx/>
                <a:latin typeface="Calibri"/>
                <a:ea typeface="Calibri"/>
              </a:rPr>
              <a:t>No gate is passed on plan alone; each requires evidence signed off by the named owner.</a:t>
            </a:r>
            <a:endParaRPr b="0" lang="en-US" sz="1200" strike="noStrike" u="none">
              <a:solidFill>
                <a:srgbClr val="000000"/>
              </a:solidFill>
              <a:effectLst/>
              <a:uFillTx/>
              <a:latin typeface="Arial"/>
            </a:endParaRPr>
          </a:p>
        </p:txBody>
      </p:sp>
      <p:sp>
        <p:nvSpPr>
          <p:cNvPr id="1924" name="Shape 54"/>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925" name="Text 55"/>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1926" name="Text 56"/>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1927" name="PlaceHolder 1"/>
          <p:cNvSpPr>
            <a:spLocks noGrp="1"/>
          </p:cNvSpPr>
          <p:nvPr>
            <p:ph type="sldNum" idx="46"/>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D862EA09-6DF4-4502-BC61-A700558DA1ED}"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28"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1929"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1930" name="Shape 2"/>
          <p:cNvSpPr/>
          <p:nvPr/>
        </p:nvSpPr>
        <p:spPr>
          <a:xfrm>
            <a:off x="621720" y="311040"/>
            <a:ext cx="344700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931" name="Text 3"/>
          <p:cNvSpPr/>
          <p:nvPr/>
        </p:nvSpPr>
        <p:spPr>
          <a:xfrm>
            <a:off x="804600" y="329040"/>
            <a:ext cx="311760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GOVERNANCE | BOARD SCORECARD</a:t>
            </a:r>
            <a:endParaRPr b="0" lang="en-US" sz="950" strike="noStrike" u="none">
              <a:solidFill>
                <a:srgbClr val="000000"/>
              </a:solidFill>
              <a:effectLst/>
              <a:uFillTx/>
              <a:latin typeface="Arial"/>
            </a:endParaRPr>
          </a:p>
        </p:txBody>
      </p:sp>
      <p:sp>
        <p:nvSpPr>
          <p:cNvPr id="1932"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How the board will measure the roadmap</a:t>
            </a:r>
            <a:endParaRPr b="0" lang="en-US" sz="3200" strike="noStrike" u="none">
              <a:solidFill>
                <a:srgbClr val="000000"/>
              </a:solidFill>
              <a:effectLst/>
              <a:uFillTx/>
              <a:latin typeface="Arial"/>
            </a:endParaRPr>
          </a:p>
        </p:txBody>
      </p:sp>
      <p:sp>
        <p:nvSpPr>
          <p:cNvPr id="1933"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One owner, one baseline and one reporting rhythm per measure. Values are set once Finance validates the baselines.</a:t>
            </a:r>
            <a:endParaRPr b="0" lang="en-US" sz="1250" strike="noStrike" u="none">
              <a:solidFill>
                <a:srgbClr val="000000"/>
              </a:solidFill>
              <a:effectLst/>
              <a:uFillTx/>
              <a:latin typeface="Arial"/>
            </a:endParaRPr>
          </a:p>
        </p:txBody>
      </p:sp>
      <p:sp>
        <p:nvSpPr>
          <p:cNvPr id="1934"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graphicFrame>
        <p:nvGraphicFramePr>
          <p:cNvPr id="1935" name="Table 0"/>
          <p:cNvGraphicFramePr/>
          <p:nvPr/>
        </p:nvGraphicFramePr>
        <p:xfrm>
          <a:off x="621720" y="2084760"/>
          <a:ext cx="10947600" cy="4154760"/>
        </p:xfrm>
        <a:graphic>
          <a:graphicData uri="http://schemas.openxmlformats.org/drawingml/2006/table">
            <a:tbl>
              <a:tblPr/>
              <a:tblGrid>
                <a:gridCol w="1005840"/>
                <a:gridCol w="2485440"/>
                <a:gridCol w="2485440"/>
                <a:gridCol w="2485440"/>
                <a:gridCol w="2485440"/>
              </a:tblGrid>
              <a:tr h="468720">
                <a:tc>
                  <a:txBody>
                    <a:bodyPr lIns="73080" rIns="73080" tIns="73080" bIns="73080" anchor="ctr">
                      <a:noAutofit/>
                    </a:bodyPr>
                    <a:p>
                      <a:pPr defTabSz="914400">
                        <a:lnSpc>
                          <a:spcPct val="100000"/>
                        </a:lnSpc>
                        <a:tabLst>
                          <a:tab algn="l" pos="0"/>
                        </a:tabLst>
                      </a:pPr>
                      <a:r>
                        <a:rPr b="1" lang="en-US" sz="900" strike="noStrike" u="none">
                          <a:solidFill>
                            <a:srgbClr val="ffffff"/>
                          </a:solidFill>
                          <a:effectLst/>
                          <a:uFillTx/>
                          <a:latin typeface="Calibri"/>
                          <a:ea typeface="Calibri"/>
                        </a:rPr>
                        <a:t>MEASURE</a:t>
                      </a:r>
                      <a:endParaRPr b="0" lang="en-US" sz="900" strike="noStrike" u="none">
                        <a:solidFill>
                          <a:srgbClr val="ffffff"/>
                        </a:solidFill>
                        <a:effectLst/>
                        <a:uFillTx/>
                        <a:latin typeface="Arial"/>
                      </a:endParaRPr>
                    </a:p>
                  </a:txBody>
                  <a:tcPr anchor="ctr" marL="73080" marR="7308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005730"/>
                    </a:solidFill>
                  </a:tcPr>
                </a:tc>
                <a:tc>
                  <a:txBody>
                    <a:bodyPr lIns="73080" rIns="73080" tIns="73080" bIns="73080" anchor="ctr">
                      <a:noAutofit/>
                    </a:bodyPr>
                    <a:p>
                      <a:pPr defTabSz="914400">
                        <a:lnSpc>
                          <a:spcPct val="100000"/>
                        </a:lnSpc>
                        <a:tabLst>
                          <a:tab algn="l" pos="0"/>
                        </a:tabLst>
                      </a:pPr>
                      <a:r>
                        <a:rPr b="1" lang="en-US" sz="900" strike="noStrike" u="none">
                          <a:solidFill>
                            <a:srgbClr val="ffffff"/>
                          </a:solidFill>
                          <a:effectLst/>
                          <a:uFillTx/>
                          <a:latin typeface="Calibri"/>
                          <a:ea typeface="Calibri"/>
                        </a:rPr>
                        <a:t>WHAT IT PROVES</a:t>
                      </a:r>
                      <a:endParaRPr b="0" lang="en-US" sz="900" strike="noStrike" u="none">
                        <a:solidFill>
                          <a:srgbClr val="ffffff"/>
                        </a:solidFill>
                        <a:effectLst/>
                        <a:uFillTx/>
                        <a:latin typeface="Arial"/>
                      </a:endParaRPr>
                    </a:p>
                  </a:txBody>
                  <a:tcPr anchor="ctr" marL="73080" marR="7308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005730"/>
                    </a:solidFill>
                  </a:tcPr>
                </a:tc>
                <a:tc>
                  <a:txBody>
                    <a:bodyPr lIns="73080" rIns="73080" tIns="73080" bIns="73080" anchor="ctr">
                      <a:noAutofit/>
                    </a:bodyPr>
                    <a:p>
                      <a:pPr defTabSz="914400">
                        <a:lnSpc>
                          <a:spcPct val="100000"/>
                        </a:lnSpc>
                        <a:tabLst>
                          <a:tab algn="l" pos="0"/>
                        </a:tabLst>
                      </a:pPr>
                      <a:r>
                        <a:rPr b="1" lang="en-US" sz="900" strike="noStrike" u="none">
                          <a:solidFill>
                            <a:srgbClr val="ffffff"/>
                          </a:solidFill>
                          <a:effectLst/>
                          <a:uFillTx/>
                          <a:latin typeface="Calibri"/>
                          <a:ea typeface="Calibri"/>
                        </a:rPr>
                        <a:t>OWNER</a:t>
                      </a:r>
                      <a:endParaRPr b="0" lang="en-US" sz="900" strike="noStrike" u="none">
                        <a:solidFill>
                          <a:srgbClr val="ffffff"/>
                        </a:solidFill>
                        <a:effectLst/>
                        <a:uFillTx/>
                        <a:latin typeface="Arial"/>
                      </a:endParaRPr>
                    </a:p>
                  </a:txBody>
                  <a:tcPr anchor="ctr" marL="73080" marR="7308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005730"/>
                    </a:solidFill>
                  </a:tcPr>
                </a:tc>
                <a:tc>
                  <a:txBody>
                    <a:bodyPr lIns="73080" rIns="73080" tIns="73080" bIns="73080" anchor="ctr">
                      <a:noAutofit/>
                    </a:bodyPr>
                    <a:p>
                      <a:pPr defTabSz="914400">
                        <a:lnSpc>
                          <a:spcPct val="100000"/>
                        </a:lnSpc>
                        <a:tabLst>
                          <a:tab algn="l" pos="0"/>
                        </a:tabLst>
                      </a:pPr>
                      <a:r>
                        <a:rPr b="1" lang="en-US" sz="900" strike="noStrike" u="none">
                          <a:solidFill>
                            <a:srgbClr val="ffffff"/>
                          </a:solidFill>
                          <a:effectLst/>
                          <a:uFillTx/>
                          <a:latin typeface="Calibri"/>
                          <a:ea typeface="Calibri"/>
                        </a:rPr>
                        <a:t>BASELINE</a:t>
                      </a:r>
                      <a:endParaRPr b="0" lang="en-US" sz="900" strike="noStrike" u="none">
                        <a:solidFill>
                          <a:srgbClr val="ffffff"/>
                        </a:solidFill>
                        <a:effectLst/>
                        <a:uFillTx/>
                        <a:latin typeface="Arial"/>
                      </a:endParaRPr>
                    </a:p>
                  </a:txBody>
                  <a:tcPr anchor="ctr" marL="73080" marR="7308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005730"/>
                    </a:solidFill>
                  </a:tcPr>
                </a:tc>
                <a:tc>
                  <a:txBody>
                    <a:bodyPr lIns="73080" rIns="73080" tIns="73080" bIns="73080" anchor="ctr">
                      <a:noAutofit/>
                    </a:bodyPr>
                    <a:p>
                      <a:pPr defTabSz="914400">
                        <a:lnSpc>
                          <a:spcPct val="100000"/>
                        </a:lnSpc>
                        <a:tabLst>
                          <a:tab algn="l" pos="0"/>
                        </a:tabLst>
                      </a:pPr>
                      <a:r>
                        <a:rPr b="1" lang="en-US" sz="900" strike="noStrike" u="none">
                          <a:solidFill>
                            <a:srgbClr val="ffffff"/>
                          </a:solidFill>
                          <a:effectLst/>
                          <a:uFillTx/>
                          <a:latin typeface="Calibri"/>
                          <a:ea typeface="Calibri"/>
                        </a:rPr>
                        <a:t>REPORTED</a:t>
                      </a:r>
                      <a:endParaRPr b="0" lang="en-US" sz="900" strike="noStrike" u="none">
                        <a:solidFill>
                          <a:srgbClr val="ffffff"/>
                        </a:solidFill>
                        <a:effectLst/>
                        <a:uFillTx/>
                        <a:latin typeface="Arial"/>
                      </a:endParaRPr>
                    </a:p>
                  </a:txBody>
                  <a:tcPr anchor="ctr" marL="73080" marR="7308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005730"/>
                    </a:solidFill>
                  </a:tcPr>
                </a:tc>
              </a:tr>
              <a:tr h="468720">
                <a:tc>
                  <a:txBody>
                    <a:bodyPr tIns="91440" bIns="91440" anchor="ctr">
                      <a:noAutofit/>
                    </a:bodyPr>
                    <a:p>
                      <a:pPr defTabSz="914400">
                        <a:lnSpc>
                          <a:spcPct val="100000"/>
                        </a:lnSpc>
                        <a:tabLst>
                          <a:tab algn="l" pos="0"/>
                        </a:tabLst>
                      </a:pPr>
                      <a:r>
                        <a:rPr b="1" lang="en-US" sz="1000" strike="noStrike" u="none">
                          <a:solidFill>
                            <a:srgbClr val="007a27"/>
                          </a:solidFill>
                          <a:effectLst/>
                          <a:uFillTx/>
                          <a:latin typeface="Calibri"/>
                          <a:ea typeface="Calibri"/>
                        </a:rPr>
                        <a:t>ARR protected and expanded</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Growth and retention from platform breadth</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Sales and Finance</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[baseline to validate]</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Quarterly</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r>
              <a:tr h="468720">
                <a:tc>
                  <a:txBody>
                    <a:bodyPr tIns="91440" bIns="91440" anchor="ctr">
                      <a:noAutofit/>
                    </a:bodyPr>
                    <a:p>
                      <a:pPr defTabSz="914400">
                        <a:lnSpc>
                          <a:spcPct val="100000"/>
                        </a:lnSpc>
                        <a:tabLst>
                          <a:tab algn="l" pos="0"/>
                        </a:tabLst>
                      </a:pPr>
                      <a:r>
                        <a:rPr b="1" lang="en-US" sz="1000" strike="noStrike" u="none">
                          <a:solidFill>
                            <a:srgbClr val="007a27"/>
                          </a:solidFill>
                          <a:effectLst/>
                          <a:uFillTx/>
                          <a:latin typeface="Calibri"/>
                          <a:ea typeface="Calibri"/>
                        </a:rPr>
                        <a:t>Cross-product adoption</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Clients using one governed spine across domains</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Product</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[baseline to validate]</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Quarterly</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r>
              <a:tr h="468720">
                <a:tc>
                  <a:txBody>
                    <a:bodyPr tIns="91440" bIns="91440" anchor="ctr">
                      <a:noAutofit/>
                    </a:bodyPr>
                    <a:p>
                      <a:pPr defTabSz="914400">
                        <a:lnSpc>
                          <a:spcPct val="100000"/>
                        </a:lnSpc>
                        <a:tabLst>
                          <a:tab algn="l" pos="0"/>
                        </a:tabLst>
                      </a:pPr>
                      <a:r>
                        <a:rPr b="1" lang="en-US" sz="1000" strike="noStrike" u="none">
                          <a:solidFill>
                            <a:srgbClr val="007a27"/>
                          </a:solidFill>
                          <a:effectLst/>
                          <a:uFillTx/>
                          <a:latin typeface="Calibri"/>
                          <a:ea typeface="Calibri"/>
                        </a:rPr>
                        <a:t>Cost to serve removed</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Duplicated ingestion, calculation and assurance effort</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Delivery and Finance</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[baseline to validate]</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Quarterly</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r>
              <a:tr h="468720">
                <a:tc>
                  <a:txBody>
                    <a:bodyPr tIns="91440" bIns="91440" anchor="ctr">
                      <a:noAutofit/>
                    </a:bodyPr>
                    <a:p>
                      <a:pPr defTabSz="914400">
                        <a:lnSpc>
                          <a:spcPct val="100000"/>
                        </a:lnSpc>
                        <a:tabLst>
                          <a:tab algn="l" pos="0"/>
                        </a:tabLst>
                      </a:pPr>
                      <a:r>
                        <a:rPr b="1" lang="en-US" sz="1000" strike="noStrike" u="none">
                          <a:solidFill>
                            <a:srgbClr val="007a27"/>
                          </a:solidFill>
                          <a:effectLst/>
                          <a:uFillTx/>
                          <a:latin typeface="Calibri"/>
                          <a:ea typeface="Calibri"/>
                        </a:rPr>
                        <a:t>Reporting cycle time</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Faster, lower-friction disclosure cycles</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Reporting and Compliance</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[baseline to validate]</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Per cycle</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r>
              <a:tr h="468720">
                <a:tc>
                  <a:txBody>
                    <a:bodyPr tIns="91440" bIns="91440" anchor="ctr">
                      <a:noAutofit/>
                    </a:bodyPr>
                    <a:p>
                      <a:pPr defTabSz="914400">
                        <a:lnSpc>
                          <a:spcPct val="100000"/>
                        </a:lnSpc>
                        <a:tabLst>
                          <a:tab algn="l" pos="0"/>
                        </a:tabLst>
                      </a:pPr>
                      <a:r>
                        <a:rPr b="1" lang="en-US" sz="1000" strike="noStrike" u="none">
                          <a:solidFill>
                            <a:srgbClr val="007a27"/>
                          </a:solidFill>
                          <a:effectLst/>
                          <a:uFillTx/>
                          <a:latin typeface="Calibri"/>
                          <a:ea typeface="Calibri"/>
                        </a:rPr>
                        <a:t>Data quality and lineage</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Trusted inputs before scaled AI</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Core Platform</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[threshold to agree]</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Monthly</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r>
              <a:tr h="468720">
                <a:tc>
                  <a:txBody>
                    <a:bodyPr tIns="91440" bIns="91440" anchor="ctr">
                      <a:noAutofit/>
                    </a:bodyPr>
                    <a:p>
                      <a:pPr defTabSz="914400">
                        <a:lnSpc>
                          <a:spcPct val="100000"/>
                        </a:lnSpc>
                        <a:tabLst>
                          <a:tab algn="l" pos="0"/>
                        </a:tabLst>
                      </a:pPr>
                      <a:r>
                        <a:rPr b="1" lang="en-US" sz="1000" strike="noStrike" u="none">
                          <a:solidFill>
                            <a:srgbClr val="007a27"/>
                          </a:solidFill>
                          <a:effectLst/>
                          <a:uFillTx/>
                          <a:latin typeface="Calibri"/>
                          <a:ea typeface="Calibri"/>
                        </a:rPr>
                        <a:t>Exposure repriced</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Climate risk expressed in financial terms</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Risk and Finance</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[method to approve]</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Half-yearly</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r>
            </a:tbl>
          </a:graphicData>
        </a:graphic>
      </p:graphicFrame>
      <p:sp>
        <p:nvSpPr>
          <p:cNvPr id="1936" name="Shape 7"/>
          <p:cNvSpPr/>
          <p:nvPr/>
        </p:nvSpPr>
        <p:spPr>
          <a:xfrm>
            <a:off x="621720" y="5650920"/>
            <a:ext cx="10947600" cy="585000"/>
          </a:xfrm>
          <a:prstGeom prst="roundRect">
            <a:avLst>
              <a:gd name="adj" fmla="val 12500"/>
            </a:avLst>
          </a:prstGeom>
          <a:solidFill>
            <a:srgbClr val="effaf1"/>
          </a:solidFill>
          <a:ln w="12700">
            <a:solidFill>
              <a:srgbClr val="bce8c9"/>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937" name="Shape 8"/>
          <p:cNvSpPr/>
          <p:nvPr/>
        </p:nvSpPr>
        <p:spPr>
          <a:xfrm>
            <a:off x="676800" y="5760720"/>
            <a:ext cx="45360" cy="3654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938" name="Text 9"/>
          <p:cNvSpPr/>
          <p:nvPr/>
        </p:nvSpPr>
        <p:spPr>
          <a:xfrm>
            <a:off x="859680" y="5650920"/>
            <a:ext cx="10527120" cy="585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200" strike="noStrike" u="none">
                <a:solidFill>
                  <a:srgbClr val="3a423c"/>
                </a:solidFill>
                <a:effectLst/>
                <a:uFillTx/>
                <a:latin typeface="Calibri"/>
                <a:ea typeface="Calibri"/>
              </a:rPr>
              <a:t>Leading adoption signals are reported separately from realized financial outcomes to avoid double counting.</a:t>
            </a:r>
            <a:endParaRPr b="0" lang="en-US" sz="1200" strike="noStrike" u="none">
              <a:solidFill>
                <a:srgbClr val="000000"/>
              </a:solidFill>
              <a:effectLst/>
              <a:uFillTx/>
              <a:latin typeface="Arial"/>
            </a:endParaRPr>
          </a:p>
        </p:txBody>
      </p:sp>
      <p:sp>
        <p:nvSpPr>
          <p:cNvPr id="1939" name="Shape 10"/>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940" name="Text 11"/>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1941" name="Text 12"/>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1942" name="PlaceHolder 1"/>
          <p:cNvSpPr>
            <a:spLocks noGrp="1"/>
          </p:cNvSpPr>
          <p:nvPr>
            <p:ph type="sldNum" idx="47"/>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88A3DE74-9C6F-4C47-8C51-904C5C500302}"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5730"/>
        </a:solidFill>
      </p:bgPr>
    </p:bg>
    <p:spTree>
      <p:nvGrpSpPr>
        <p:cNvPr id="1" name=""/>
        <p:cNvGrpSpPr/>
        <p:nvPr/>
      </p:nvGrpSpPr>
      <p:grpSpPr>
        <a:xfrm>
          <a:off x="0" y="0"/>
          <a:ext cx="0" cy="0"/>
          <a:chOff x="0" y="0"/>
          <a:chExt cx="0" cy="0"/>
        </a:xfrm>
      </p:grpSpPr>
      <p:sp>
        <p:nvSpPr>
          <p:cNvPr id="1943"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1944"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1945" name="Shape 2"/>
          <p:cNvSpPr/>
          <p:nvPr/>
        </p:nvSpPr>
        <p:spPr>
          <a:xfrm>
            <a:off x="8641080" y="822960"/>
            <a:ext cx="360" cy="5212080"/>
          </a:xfrm>
          <a:prstGeom prst="line">
            <a:avLst/>
          </a:prstGeom>
          <a:ln w="12700">
            <a:solidFill>
              <a:srgbClr val="2c8058"/>
            </a:solidFill>
            <a:round/>
          </a:ln>
        </p:spPr>
        <p:style>
          <a:lnRef idx="0"/>
          <a:fillRef idx="0"/>
          <a:effectRef idx="0"/>
          <a:fontRef idx="minor"/>
        </p:style>
        <p:txBody>
          <a:bodyPr lIns="90000" rIns="90000" tIns="45000" bIns="45000" anchor="t" anchorCtr="1">
            <a:noAutofit/>
          </a:bodyPr>
          <a:p>
            <a:endParaRPr b="0" lang="en-US" sz="1800" strike="noStrike" u="none">
              <a:solidFill>
                <a:srgbClr val="ffffff"/>
              </a:solidFill>
              <a:effectLst/>
              <a:uFillTx/>
              <a:latin typeface="Arial"/>
            </a:endParaRPr>
          </a:p>
        </p:txBody>
      </p:sp>
      <p:sp>
        <p:nvSpPr>
          <p:cNvPr id="1946" name="Text 3"/>
          <p:cNvSpPr/>
          <p:nvPr/>
        </p:nvSpPr>
        <p:spPr>
          <a:xfrm>
            <a:off x="9144000" y="841320"/>
            <a:ext cx="2194200" cy="22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81" strike="noStrike" u="none">
                <a:solidFill>
                  <a:srgbClr val="bfe6ce"/>
                </a:solidFill>
                <a:effectLst/>
                <a:uFillTx/>
                <a:latin typeface="Calibri"/>
                <a:ea typeface="Calibri"/>
              </a:rPr>
              <a:t>RA+ ROADMAP</a:t>
            </a:r>
            <a:endParaRPr b="0" lang="en-US" sz="900" strike="noStrike" u="none">
              <a:solidFill>
                <a:srgbClr val="ffffff"/>
              </a:solidFill>
              <a:effectLst/>
              <a:uFillTx/>
              <a:latin typeface="Arial"/>
            </a:endParaRPr>
          </a:p>
        </p:txBody>
      </p:sp>
      <p:sp>
        <p:nvSpPr>
          <p:cNvPr id="1947" name="Text 4"/>
          <p:cNvSpPr/>
          <p:nvPr/>
        </p:nvSpPr>
        <p:spPr>
          <a:xfrm>
            <a:off x="9144000" y="1325880"/>
            <a:ext cx="2194200" cy="1462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3600" strike="noStrike" u="none">
                <a:solidFill>
                  <a:srgbClr val="ffffff"/>
                </a:solidFill>
                <a:effectLst/>
                <a:uFillTx/>
                <a:latin typeface="Calibri"/>
                <a:ea typeface="Calibri"/>
              </a:rPr>
              <a:t>2026</a:t>
            </a:r>
            <a:endParaRPr b="0" lang="en-US" sz="3600" strike="noStrike" u="none">
              <a:solidFill>
                <a:srgbClr val="ffffff"/>
              </a:solidFill>
              <a:effectLst/>
              <a:uFillTx/>
              <a:latin typeface="Arial"/>
            </a:endParaRPr>
          </a:p>
          <a:p>
            <a:pPr defTabSz="914400">
              <a:lnSpc>
                <a:spcPct val="100000"/>
              </a:lnSpc>
              <a:tabLst>
                <a:tab algn="l" pos="0"/>
              </a:tabLst>
            </a:pPr>
            <a:r>
              <a:rPr b="1" lang="en-US" sz="3600" strike="noStrike" u="none">
                <a:solidFill>
                  <a:srgbClr val="ffffff"/>
                </a:solidFill>
                <a:effectLst/>
                <a:uFillTx/>
                <a:latin typeface="Calibri"/>
                <a:ea typeface="Calibri"/>
              </a:rPr>
              <a:t>2027</a:t>
            </a:r>
            <a:endParaRPr b="0" lang="en-US" sz="3600" strike="noStrike" u="none">
              <a:solidFill>
                <a:srgbClr val="ffffff"/>
              </a:solidFill>
              <a:effectLst/>
              <a:uFillTx/>
              <a:latin typeface="Arial"/>
            </a:endParaRPr>
          </a:p>
        </p:txBody>
      </p:sp>
      <p:sp>
        <p:nvSpPr>
          <p:cNvPr id="1948" name="Text 5"/>
          <p:cNvSpPr/>
          <p:nvPr/>
        </p:nvSpPr>
        <p:spPr>
          <a:xfrm>
            <a:off x="621720" y="960120"/>
            <a:ext cx="71319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221" strike="noStrike" u="none">
                <a:solidFill>
                  <a:srgbClr val="bfe6ce"/>
                </a:solidFill>
                <a:effectLst/>
                <a:uFillTx/>
                <a:latin typeface="Calibri"/>
                <a:ea typeface="Calibri"/>
              </a:rPr>
              <a:t>AGENDA ITEM 3</a:t>
            </a:r>
            <a:endParaRPr b="0" lang="en-US" sz="1100" strike="noStrike" u="none">
              <a:solidFill>
                <a:srgbClr val="ffffff"/>
              </a:solidFill>
              <a:effectLst/>
              <a:uFillTx/>
              <a:latin typeface="Arial"/>
            </a:endParaRPr>
          </a:p>
        </p:txBody>
      </p:sp>
      <p:sp>
        <p:nvSpPr>
          <p:cNvPr id="1949" name="Text 6"/>
          <p:cNvSpPr/>
          <p:nvPr/>
        </p:nvSpPr>
        <p:spPr>
          <a:xfrm>
            <a:off x="621720" y="1508760"/>
            <a:ext cx="191988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5800" strike="noStrike" u="none">
                <a:solidFill>
                  <a:srgbClr val="3dcd58"/>
                </a:solidFill>
                <a:effectLst/>
                <a:uFillTx/>
                <a:latin typeface="Calibri"/>
                <a:ea typeface="Calibri"/>
              </a:rPr>
              <a:t>03</a:t>
            </a:r>
            <a:endParaRPr b="0" lang="en-US" sz="5800" strike="noStrike" u="none">
              <a:solidFill>
                <a:srgbClr val="ffffff"/>
              </a:solidFill>
              <a:effectLst/>
              <a:uFillTx/>
              <a:latin typeface="Arial"/>
            </a:endParaRPr>
          </a:p>
        </p:txBody>
      </p:sp>
      <p:sp>
        <p:nvSpPr>
          <p:cNvPr id="1950" name="Text 7"/>
          <p:cNvSpPr/>
          <p:nvPr/>
        </p:nvSpPr>
        <p:spPr>
          <a:xfrm>
            <a:off x="621720" y="2606040"/>
            <a:ext cx="7406280" cy="11426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ffffff"/>
                </a:solidFill>
                <a:effectLst/>
                <a:uFillTx/>
                <a:latin typeface="Calibri"/>
                <a:ea typeface="Calibri"/>
              </a:rPr>
              <a:t>RA+ 2026 and 2027 sustainability family roadmap by product</a:t>
            </a:r>
            <a:endParaRPr b="0" lang="en-US" sz="3200" strike="noStrike" u="none">
              <a:solidFill>
                <a:srgbClr val="ffffff"/>
              </a:solidFill>
              <a:effectLst/>
              <a:uFillTx/>
              <a:latin typeface="Arial"/>
            </a:endParaRPr>
          </a:p>
        </p:txBody>
      </p:sp>
      <p:sp>
        <p:nvSpPr>
          <p:cNvPr id="1951" name="Text 8"/>
          <p:cNvSpPr/>
          <p:nvPr/>
        </p:nvSpPr>
        <p:spPr>
          <a:xfrm>
            <a:off x="621720" y="4005000"/>
            <a:ext cx="704052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400" strike="noStrike" u="none">
                <a:solidFill>
                  <a:srgbClr val="d6eadf"/>
                </a:solidFill>
                <a:effectLst/>
                <a:uFillTx/>
                <a:latin typeface="Calibri"/>
                <a:ea typeface="Calibri"/>
              </a:rPr>
              <a:t>Carbon Performance, Supply Chain, Reporting and Compliance, Climate Risk, and the core platform they all stand on.</a:t>
            </a:r>
            <a:endParaRPr b="0" lang="en-US" sz="14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52"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1953"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1954" name="Shape 2"/>
          <p:cNvSpPr/>
          <p:nvPr/>
        </p:nvSpPr>
        <p:spPr>
          <a:xfrm>
            <a:off x="621720" y="311040"/>
            <a:ext cx="134388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955" name="Text 3"/>
          <p:cNvSpPr/>
          <p:nvPr/>
        </p:nvSpPr>
        <p:spPr>
          <a:xfrm>
            <a:off x="804600" y="329040"/>
            <a:ext cx="101448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PRODUCTS</a:t>
            </a:r>
            <a:endParaRPr b="0" lang="en-US" sz="950" strike="noStrike" u="none">
              <a:solidFill>
                <a:srgbClr val="000000"/>
              </a:solidFill>
              <a:effectLst/>
              <a:uFillTx/>
              <a:latin typeface="Arial"/>
            </a:endParaRPr>
          </a:p>
        </p:txBody>
      </p:sp>
      <p:sp>
        <p:nvSpPr>
          <p:cNvPr id="1956"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fontScale="92500" lnSpcReduction="9999"/>
          </a:bodyPr>
          <a:p>
            <a:pPr defTabSz="914400">
              <a:lnSpc>
                <a:spcPct val="100000"/>
              </a:lnSpc>
              <a:tabLst>
                <a:tab algn="l" pos="0"/>
              </a:tabLst>
            </a:pPr>
            <a:r>
              <a:rPr b="1" lang="en-US" sz="3200" strike="noStrike" u="none">
                <a:solidFill>
                  <a:srgbClr val="1e2420"/>
                </a:solidFill>
                <a:effectLst/>
                <a:uFillTx/>
                <a:latin typeface="Calibri"/>
                <a:ea typeface="Calibri"/>
              </a:rPr>
              <a:t>Four products, one carbon and sustainability data model</a:t>
            </a:r>
            <a:endParaRPr b="0" lang="en-US" sz="3200" strike="noStrike" u="none">
              <a:solidFill>
                <a:srgbClr val="000000"/>
              </a:solidFill>
              <a:effectLst/>
              <a:uFillTx/>
              <a:latin typeface="Arial"/>
            </a:endParaRPr>
          </a:p>
        </p:txBody>
      </p:sp>
      <p:sp>
        <p:nvSpPr>
          <p:cNvPr id="1957"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Each product owns a customer outcome. All four read and write the same governed baseline.</a:t>
            </a:r>
            <a:endParaRPr b="0" lang="en-US" sz="1250" strike="noStrike" u="none">
              <a:solidFill>
                <a:srgbClr val="000000"/>
              </a:solidFill>
              <a:effectLst/>
              <a:uFillTx/>
              <a:latin typeface="Arial"/>
            </a:endParaRPr>
          </a:p>
        </p:txBody>
      </p:sp>
      <p:sp>
        <p:nvSpPr>
          <p:cNvPr id="1958"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959" name="Shape 7"/>
          <p:cNvSpPr/>
          <p:nvPr/>
        </p:nvSpPr>
        <p:spPr>
          <a:xfrm>
            <a:off x="6217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960"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1961" name="Text 9"/>
          <p:cNvSpPr/>
          <p:nvPr/>
        </p:nvSpPr>
        <p:spPr>
          <a:xfrm>
            <a:off x="822960" y="235908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Carbon Performance</a:t>
            </a:r>
            <a:endParaRPr b="0" lang="en-US" sz="1600" strike="noStrike" u="none">
              <a:solidFill>
                <a:srgbClr val="000000"/>
              </a:solidFill>
              <a:effectLst/>
              <a:uFillTx/>
              <a:latin typeface="Arial"/>
            </a:endParaRPr>
          </a:p>
        </p:txBody>
      </p:sp>
      <p:sp>
        <p:nvSpPr>
          <p:cNvPr id="1962" name="Text 10"/>
          <p:cNvSpPr/>
          <p:nvPr/>
        </p:nvSpPr>
        <p:spPr>
          <a:xfrm>
            <a:off x="804600" y="286200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Consultant grade and AI assisted GHG inventory across Scope 1, 2 and 3.</a:t>
            </a:r>
            <a:endParaRPr b="0" lang="en-US" sz="1100" strike="noStrike" u="none">
              <a:solidFill>
                <a:srgbClr val="000000"/>
              </a:solidFill>
              <a:effectLst/>
              <a:uFillTx/>
              <a:latin typeface="Arial"/>
            </a:endParaRPr>
          </a:p>
        </p:txBody>
      </p:sp>
      <p:sp>
        <p:nvSpPr>
          <p:cNvPr id="1963" name="Text 11"/>
          <p:cNvSpPr/>
          <p:nvPr/>
        </p:nvSpPr>
        <p:spPr>
          <a:xfrm>
            <a:off x="822960" y="3593520"/>
            <a:ext cx="2165040" cy="245016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2026: emission factor and calculation depth</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2027: add more Sera use cases, governance, assurance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Owns the inventory every other product consumes</a:t>
            </a:r>
            <a:endParaRPr b="0" lang="en-US" sz="1100" strike="noStrike" u="none">
              <a:solidFill>
                <a:srgbClr val="000000"/>
              </a:solidFill>
              <a:effectLst/>
              <a:uFillTx/>
              <a:latin typeface="Arial"/>
            </a:endParaRPr>
          </a:p>
        </p:txBody>
      </p:sp>
      <p:sp>
        <p:nvSpPr>
          <p:cNvPr id="1964" name="Shape 12"/>
          <p:cNvSpPr/>
          <p:nvPr/>
        </p:nvSpPr>
        <p:spPr>
          <a:xfrm>
            <a:off x="342756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965" name="Shape 13"/>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1966" name="Text 14"/>
          <p:cNvSpPr/>
          <p:nvPr/>
        </p:nvSpPr>
        <p:spPr>
          <a:xfrm>
            <a:off x="3628440" y="235908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Supply Chain</a:t>
            </a:r>
            <a:endParaRPr b="0" lang="en-US" sz="1600" strike="noStrike" u="none">
              <a:solidFill>
                <a:srgbClr val="000000"/>
              </a:solidFill>
              <a:effectLst/>
              <a:uFillTx/>
              <a:latin typeface="Arial"/>
            </a:endParaRPr>
          </a:p>
        </p:txBody>
      </p:sp>
      <p:sp>
        <p:nvSpPr>
          <p:cNvPr id="1967" name="Text 15"/>
          <p:cNvSpPr/>
          <p:nvPr/>
        </p:nvSpPr>
        <p:spPr>
          <a:xfrm>
            <a:off x="3610440" y="286200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Supplier engagement and product level carbon footprint.</a:t>
            </a:r>
            <a:endParaRPr b="0" lang="en-US" sz="1100" strike="noStrike" u="none">
              <a:solidFill>
                <a:srgbClr val="000000"/>
              </a:solidFill>
              <a:effectLst/>
              <a:uFillTx/>
              <a:latin typeface="Arial"/>
            </a:endParaRPr>
          </a:p>
        </p:txBody>
      </p:sp>
      <p:sp>
        <p:nvSpPr>
          <p:cNvPr id="1968" name="Text 16"/>
          <p:cNvSpPr/>
          <p:nvPr/>
        </p:nvSpPr>
        <p:spPr>
          <a:xfrm>
            <a:off x="3628440" y="3593520"/>
            <a:ext cx="2165040" cy="245016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2026: complete the RA+ migration, close sponsor gaps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2027: multi tier visibility and supplier emissions abatement</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Feeds category 1 and 4 into the CP inventory</a:t>
            </a:r>
            <a:endParaRPr b="0" lang="en-US" sz="1100" strike="noStrike" u="none">
              <a:solidFill>
                <a:srgbClr val="000000"/>
              </a:solidFill>
              <a:effectLst/>
              <a:uFillTx/>
              <a:latin typeface="Arial"/>
            </a:endParaRPr>
          </a:p>
        </p:txBody>
      </p:sp>
      <p:sp>
        <p:nvSpPr>
          <p:cNvPr id="1969" name="Shape 17"/>
          <p:cNvSpPr/>
          <p:nvPr/>
        </p:nvSpPr>
        <p:spPr>
          <a:xfrm>
            <a:off x="623304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970" name="Shape 18"/>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1971" name="Text 19"/>
          <p:cNvSpPr/>
          <p:nvPr/>
        </p:nvSpPr>
        <p:spPr>
          <a:xfrm>
            <a:off x="6434280" y="235908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Reporting and Compliance</a:t>
            </a:r>
            <a:endParaRPr b="0" lang="en-US" sz="1600" strike="noStrike" u="none">
              <a:solidFill>
                <a:srgbClr val="000000"/>
              </a:solidFill>
              <a:effectLst/>
              <a:uFillTx/>
              <a:latin typeface="Arial"/>
            </a:endParaRPr>
          </a:p>
        </p:txBody>
      </p:sp>
      <p:sp>
        <p:nvSpPr>
          <p:cNvPr id="1972" name="Text 20"/>
          <p:cNvSpPr/>
          <p:nvPr/>
        </p:nvSpPr>
        <p:spPr>
          <a:xfrm>
            <a:off x="6415920" y="286200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Disclosure ready output from the same numbers.</a:t>
            </a:r>
            <a:endParaRPr b="0" lang="en-US" sz="1100" strike="noStrike" u="none">
              <a:solidFill>
                <a:srgbClr val="000000"/>
              </a:solidFill>
              <a:effectLst/>
              <a:uFillTx/>
              <a:latin typeface="Arial"/>
            </a:endParaRPr>
          </a:p>
        </p:txBody>
      </p:sp>
      <p:sp>
        <p:nvSpPr>
          <p:cNvPr id="1973" name="Text 21"/>
          <p:cNvSpPr/>
          <p:nvPr/>
        </p:nvSpPr>
        <p:spPr>
          <a:xfrm>
            <a:off x="6434280" y="3593520"/>
            <a:ext cx="2165040" cy="245016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2026: build foundations for CSRD reporting</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2027: SE migrated off RA Classic, AI drafted disclosures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Data receiver from every other product to facilitate disclosure.</a:t>
            </a:r>
            <a:endParaRPr b="0" lang="en-US" sz="1100" strike="noStrike" u="none">
              <a:solidFill>
                <a:srgbClr val="000000"/>
              </a:solidFill>
              <a:effectLst/>
              <a:uFillTx/>
              <a:latin typeface="Arial"/>
            </a:endParaRPr>
          </a:p>
        </p:txBody>
      </p:sp>
      <p:sp>
        <p:nvSpPr>
          <p:cNvPr id="1974" name="Shape 22"/>
          <p:cNvSpPr/>
          <p:nvPr/>
        </p:nvSpPr>
        <p:spPr>
          <a:xfrm>
            <a:off x="90385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975" name="Shape 23"/>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1976" name="Text 24"/>
          <p:cNvSpPr/>
          <p:nvPr/>
        </p:nvSpPr>
        <p:spPr>
          <a:xfrm>
            <a:off x="9239760" y="235908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Climate Risk</a:t>
            </a:r>
            <a:endParaRPr b="0" lang="en-US" sz="1600" strike="noStrike" u="none">
              <a:solidFill>
                <a:srgbClr val="000000"/>
              </a:solidFill>
              <a:effectLst/>
              <a:uFillTx/>
              <a:latin typeface="Arial"/>
            </a:endParaRPr>
          </a:p>
        </p:txBody>
      </p:sp>
      <p:sp>
        <p:nvSpPr>
          <p:cNvPr id="1977" name="Text 25"/>
          <p:cNvSpPr/>
          <p:nvPr/>
        </p:nvSpPr>
        <p:spPr>
          <a:xfrm>
            <a:off x="9221400" y="286200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Forward looking physical and transition exposure.</a:t>
            </a:r>
            <a:endParaRPr b="0" lang="en-US" sz="1100" strike="noStrike" u="none">
              <a:solidFill>
                <a:srgbClr val="000000"/>
              </a:solidFill>
              <a:effectLst/>
              <a:uFillTx/>
              <a:latin typeface="Arial"/>
            </a:endParaRPr>
          </a:p>
        </p:txBody>
      </p:sp>
      <p:sp>
        <p:nvSpPr>
          <p:cNvPr id="1978" name="Text 26"/>
          <p:cNvSpPr/>
          <p:nvPr/>
        </p:nvSpPr>
        <p:spPr>
          <a:xfrm>
            <a:off x="9239760" y="3593520"/>
            <a:ext cx="2165040" cy="245016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2026: Eclr turned to a full self serve product with scalable performances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2027: value at risk, scenario analysis and adaptation actions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Risk data flows into R&amp;C disclosures and are turned into financial values</a:t>
            </a:r>
            <a:endParaRPr b="0" lang="en-US" sz="1100" strike="noStrike" u="none">
              <a:solidFill>
                <a:srgbClr val="000000"/>
              </a:solidFill>
              <a:effectLst/>
              <a:uFillTx/>
              <a:latin typeface="Arial"/>
            </a:endParaRPr>
          </a:p>
        </p:txBody>
      </p:sp>
      <p:sp>
        <p:nvSpPr>
          <p:cNvPr id="1979" name="Shape 27"/>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980" name="Text 28"/>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1981" name="Text 29"/>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1982" name="PlaceHolder 1"/>
          <p:cNvSpPr>
            <a:spLocks noGrp="1"/>
          </p:cNvSpPr>
          <p:nvPr>
            <p:ph type="sldNum" idx="48"/>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FB2FA12C-C765-434D-9425-5DDACD53DBBF}"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83"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1984"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1985" name="Shape 2"/>
          <p:cNvSpPr/>
          <p:nvPr/>
        </p:nvSpPr>
        <p:spPr>
          <a:xfrm>
            <a:off x="621720" y="311040"/>
            <a:ext cx="229032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986" name="Text 3"/>
          <p:cNvSpPr/>
          <p:nvPr/>
        </p:nvSpPr>
        <p:spPr>
          <a:xfrm>
            <a:off x="804600" y="329040"/>
            <a:ext cx="196092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EXECUTIVE SUMMARY</a:t>
            </a:r>
            <a:endParaRPr b="0" lang="en-US" sz="950" strike="noStrike" u="none">
              <a:solidFill>
                <a:srgbClr val="000000"/>
              </a:solidFill>
              <a:effectLst/>
              <a:uFillTx/>
              <a:latin typeface="Arial"/>
            </a:endParaRPr>
          </a:p>
        </p:txBody>
      </p:sp>
      <p:sp>
        <p:nvSpPr>
          <p:cNvPr id="1987"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Every goal across the RA+ roadmap, part one</a:t>
            </a:r>
            <a:endParaRPr b="0" lang="en-US" sz="3200" strike="noStrike" u="none">
              <a:solidFill>
                <a:srgbClr val="000000"/>
              </a:solidFill>
              <a:effectLst/>
              <a:uFillTx/>
              <a:latin typeface="Arial"/>
            </a:endParaRPr>
          </a:p>
        </p:txBody>
      </p:sp>
      <p:sp>
        <p:nvSpPr>
          <p:cNvPr id="1988"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Four goals per product, sequenced Now, Next, Later inside each product section that follows.</a:t>
            </a:r>
            <a:endParaRPr b="0" lang="en-US" sz="1250" strike="noStrike" u="none">
              <a:solidFill>
                <a:srgbClr val="000000"/>
              </a:solidFill>
              <a:effectLst/>
              <a:uFillTx/>
              <a:latin typeface="Arial"/>
            </a:endParaRPr>
          </a:p>
        </p:txBody>
      </p:sp>
      <p:sp>
        <p:nvSpPr>
          <p:cNvPr id="1989"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1990" name="Shape 7"/>
          <p:cNvSpPr/>
          <p:nvPr/>
        </p:nvSpPr>
        <p:spPr>
          <a:xfrm>
            <a:off x="62172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991" name="Shape 8"/>
          <p:cNvSpPr/>
          <p:nvPr/>
        </p:nvSpPr>
        <p:spPr>
          <a:xfrm>
            <a:off x="621720" y="2084760"/>
            <a:ext cx="346608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1992" name="Text 9"/>
          <p:cNvSpPr/>
          <p:nvPr/>
        </p:nvSpPr>
        <p:spPr>
          <a:xfrm>
            <a:off x="82296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CARBON PERFORMANCE</a:t>
            </a:r>
            <a:endParaRPr b="0" lang="en-US" sz="900" strike="noStrike" u="none">
              <a:solidFill>
                <a:srgbClr val="000000"/>
              </a:solidFill>
              <a:effectLst/>
              <a:uFillTx/>
              <a:latin typeface="Arial"/>
            </a:endParaRPr>
          </a:p>
        </p:txBody>
      </p:sp>
      <p:sp>
        <p:nvSpPr>
          <p:cNvPr id="1993" name="Text 10"/>
          <p:cNvSpPr/>
          <p:nvPr/>
        </p:nvSpPr>
        <p:spPr>
          <a:xfrm>
            <a:off x="82296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400" strike="noStrike" u="none">
                <a:solidFill>
                  <a:srgbClr val="1e2420"/>
                </a:solidFill>
                <a:effectLst/>
                <a:uFillTx/>
                <a:latin typeface="Calibri"/>
                <a:ea typeface="Calibri"/>
              </a:rPr>
              <a:t>A consultant grade and AI driven inventory</a:t>
            </a:r>
            <a:endParaRPr b="0" lang="en-US" sz="1400" strike="noStrike" u="none">
              <a:solidFill>
                <a:srgbClr val="000000"/>
              </a:solidFill>
              <a:effectLst/>
              <a:uFillTx/>
              <a:latin typeface="Arial"/>
            </a:endParaRPr>
          </a:p>
        </p:txBody>
      </p:sp>
      <p:sp>
        <p:nvSpPr>
          <p:cNvPr id="1994" name="Text 11"/>
          <p:cNvSpPr/>
          <p:nvPr/>
        </p:nvSpPr>
        <p:spPr>
          <a:xfrm>
            <a:off x="822960" y="3044880"/>
            <a:ext cx="3100320" cy="299880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Factors and calculation depth: make the number defensible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Inventory coverage: close the Scope 3 gaps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Boundaries and governance: consultant grade control</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AI and decision support: from inventory to action</a:t>
            </a:r>
            <a:endParaRPr b="0" lang="en-US" sz="1100" strike="noStrike" u="none">
              <a:solidFill>
                <a:srgbClr val="000000"/>
              </a:solidFill>
              <a:effectLst/>
              <a:uFillTx/>
              <a:latin typeface="Arial"/>
            </a:endParaRPr>
          </a:p>
        </p:txBody>
      </p:sp>
      <p:sp>
        <p:nvSpPr>
          <p:cNvPr id="1995" name="Shape 12"/>
          <p:cNvSpPr/>
          <p:nvPr/>
        </p:nvSpPr>
        <p:spPr>
          <a:xfrm>
            <a:off x="436248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996" name="Shape 13"/>
          <p:cNvSpPr/>
          <p:nvPr/>
        </p:nvSpPr>
        <p:spPr>
          <a:xfrm>
            <a:off x="4362480" y="2084760"/>
            <a:ext cx="346608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1997" name="Text 14"/>
          <p:cNvSpPr/>
          <p:nvPr/>
        </p:nvSpPr>
        <p:spPr>
          <a:xfrm>
            <a:off x="456372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SUPPLY CHAIN</a:t>
            </a:r>
            <a:endParaRPr b="0" lang="en-US" sz="900" strike="noStrike" u="none">
              <a:solidFill>
                <a:srgbClr val="000000"/>
              </a:solidFill>
              <a:effectLst/>
              <a:uFillTx/>
              <a:latin typeface="Arial"/>
            </a:endParaRPr>
          </a:p>
        </p:txBody>
      </p:sp>
      <p:sp>
        <p:nvSpPr>
          <p:cNvPr id="1998" name="Text 15"/>
          <p:cNvSpPr/>
          <p:nvPr/>
        </p:nvSpPr>
        <p:spPr>
          <a:xfrm>
            <a:off x="456372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400" strike="noStrike" u="none">
                <a:solidFill>
                  <a:srgbClr val="1e2420"/>
                </a:solidFill>
                <a:effectLst/>
                <a:uFillTx/>
                <a:latin typeface="Calibri"/>
                <a:ea typeface="Calibri"/>
              </a:rPr>
              <a:t>From migration to supplier action</a:t>
            </a:r>
            <a:endParaRPr b="0" lang="en-US" sz="1400" strike="noStrike" u="none">
              <a:solidFill>
                <a:srgbClr val="000000"/>
              </a:solidFill>
              <a:effectLst/>
              <a:uFillTx/>
              <a:latin typeface="Arial"/>
            </a:endParaRPr>
          </a:p>
        </p:txBody>
      </p:sp>
      <p:sp>
        <p:nvSpPr>
          <p:cNvPr id="1999" name="Text 16"/>
          <p:cNvSpPr/>
          <p:nvPr/>
        </p:nvSpPr>
        <p:spPr>
          <a:xfrm>
            <a:off x="4563720" y="3044880"/>
            <a:ext cx="3100320" cy="299880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Zeigo Hub migration and core experience: land in RA+ properly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Product carbon footprint: the commercial gap closer</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Data collection campaigns: ask suppliers the right questions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Data quality assurance: numbers that survive review</a:t>
            </a:r>
            <a:endParaRPr b="0" lang="en-US" sz="1100" strike="noStrike" u="none">
              <a:solidFill>
                <a:srgbClr val="000000"/>
              </a:solidFill>
              <a:effectLst/>
              <a:uFillTx/>
              <a:latin typeface="Arial"/>
            </a:endParaRPr>
          </a:p>
        </p:txBody>
      </p:sp>
      <p:sp>
        <p:nvSpPr>
          <p:cNvPr id="2000" name="Shape 17"/>
          <p:cNvSpPr/>
          <p:nvPr/>
        </p:nvSpPr>
        <p:spPr>
          <a:xfrm>
            <a:off x="810324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001" name="Shape 18"/>
          <p:cNvSpPr/>
          <p:nvPr/>
        </p:nvSpPr>
        <p:spPr>
          <a:xfrm>
            <a:off x="8103240" y="2084760"/>
            <a:ext cx="346608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2002" name="Text 19"/>
          <p:cNvSpPr/>
          <p:nvPr/>
        </p:nvSpPr>
        <p:spPr>
          <a:xfrm>
            <a:off x="830448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REPORTING AND COMPLIANCE</a:t>
            </a:r>
            <a:endParaRPr b="0" lang="en-US" sz="900" strike="noStrike" u="none">
              <a:solidFill>
                <a:srgbClr val="000000"/>
              </a:solidFill>
              <a:effectLst/>
              <a:uFillTx/>
              <a:latin typeface="Arial"/>
            </a:endParaRPr>
          </a:p>
        </p:txBody>
      </p:sp>
      <p:sp>
        <p:nvSpPr>
          <p:cNvPr id="2003" name="Text 20"/>
          <p:cNvSpPr/>
          <p:nvPr/>
        </p:nvSpPr>
        <p:spPr>
          <a:xfrm>
            <a:off x="830448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400" strike="noStrike" u="none">
                <a:solidFill>
                  <a:srgbClr val="1e2420"/>
                </a:solidFill>
                <a:effectLst/>
                <a:uFillTx/>
                <a:latin typeface="Calibri"/>
                <a:ea typeface="Calibri"/>
              </a:rPr>
              <a:t>Stand up, migrate, automate</a:t>
            </a:r>
            <a:endParaRPr b="0" lang="en-US" sz="1400" strike="noStrike" u="none">
              <a:solidFill>
                <a:srgbClr val="000000"/>
              </a:solidFill>
              <a:effectLst/>
              <a:uFillTx/>
              <a:latin typeface="Arial"/>
            </a:endParaRPr>
          </a:p>
        </p:txBody>
      </p:sp>
      <p:sp>
        <p:nvSpPr>
          <p:cNvPr id="2004" name="Text 21"/>
          <p:cNvSpPr/>
          <p:nvPr/>
        </p:nvSpPr>
        <p:spPr>
          <a:xfrm>
            <a:off x="8304480" y="3044880"/>
            <a:ext cx="3100320" cy="299880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Framework Library: entry point and scope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Indicator Management: foundation of data management</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Disclosure Management: reporting cycle workspace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Migration and assurance: prove it on Schneider first</a:t>
            </a:r>
            <a:endParaRPr b="0" lang="en-US" sz="1100" strike="noStrike" u="none">
              <a:solidFill>
                <a:srgbClr val="000000"/>
              </a:solidFill>
              <a:effectLst/>
              <a:uFillTx/>
              <a:latin typeface="Arial"/>
            </a:endParaRPr>
          </a:p>
        </p:txBody>
      </p:sp>
      <p:sp>
        <p:nvSpPr>
          <p:cNvPr id="2005" name="Shape 22"/>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006" name="Text 23"/>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2007" name="Text 24"/>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2008" name="PlaceHolder 1"/>
          <p:cNvSpPr>
            <a:spLocks noGrp="1"/>
          </p:cNvSpPr>
          <p:nvPr>
            <p:ph type="sldNum" idx="49"/>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FEF0710F-7DBC-4230-A874-B4AD007363DE}"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009"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2010"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2011" name="Shape 2"/>
          <p:cNvSpPr/>
          <p:nvPr/>
        </p:nvSpPr>
        <p:spPr>
          <a:xfrm>
            <a:off x="621720" y="311040"/>
            <a:ext cx="229032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012" name="Text 3"/>
          <p:cNvSpPr/>
          <p:nvPr/>
        </p:nvSpPr>
        <p:spPr>
          <a:xfrm>
            <a:off x="804600" y="329040"/>
            <a:ext cx="196092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EXECUTIVE SUMMARY</a:t>
            </a:r>
            <a:endParaRPr b="0" lang="en-US" sz="950" strike="noStrike" u="none">
              <a:solidFill>
                <a:srgbClr val="000000"/>
              </a:solidFill>
              <a:effectLst/>
              <a:uFillTx/>
              <a:latin typeface="Arial"/>
            </a:endParaRPr>
          </a:p>
        </p:txBody>
      </p:sp>
      <p:sp>
        <p:nvSpPr>
          <p:cNvPr id="2013"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Every goal across the RA+ roadmap, part two</a:t>
            </a:r>
            <a:endParaRPr b="0" lang="en-US" sz="3200" strike="noStrike" u="none">
              <a:solidFill>
                <a:srgbClr val="000000"/>
              </a:solidFill>
              <a:effectLst/>
              <a:uFillTx/>
              <a:latin typeface="Arial"/>
            </a:endParaRPr>
          </a:p>
        </p:txBody>
      </p:sp>
      <p:sp>
        <p:nvSpPr>
          <p:cNvPr id="2014"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The remaining three products, same Now, Next, Later sequencing inside each section.</a:t>
            </a:r>
            <a:endParaRPr b="0" lang="en-US" sz="1250" strike="noStrike" u="none">
              <a:solidFill>
                <a:srgbClr val="000000"/>
              </a:solidFill>
              <a:effectLst/>
              <a:uFillTx/>
              <a:latin typeface="Arial"/>
            </a:endParaRPr>
          </a:p>
        </p:txBody>
      </p:sp>
      <p:sp>
        <p:nvSpPr>
          <p:cNvPr id="2015"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016" name="Shape 7"/>
          <p:cNvSpPr/>
          <p:nvPr/>
        </p:nvSpPr>
        <p:spPr>
          <a:xfrm>
            <a:off x="62172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017" name="Shape 8"/>
          <p:cNvSpPr/>
          <p:nvPr/>
        </p:nvSpPr>
        <p:spPr>
          <a:xfrm>
            <a:off x="621720" y="2084760"/>
            <a:ext cx="346608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2018" name="Text 9"/>
          <p:cNvSpPr/>
          <p:nvPr/>
        </p:nvSpPr>
        <p:spPr>
          <a:xfrm>
            <a:off x="82296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CLIMATE RISK</a:t>
            </a:r>
            <a:endParaRPr b="0" lang="en-US" sz="900" strike="noStrike" u="none">
              <a:solidFill>
                <a:srgbClr val="000000"/>
              </a:solidFill>
              <a:effectLst/>
              <a:uFillTx/>
              <a:latin typeface="Arial"/>
            </a:endParaRPr>
          </a:p>
        </p:txBody>
      </p:sp>
      <p:sp>
        <p:nvSpPr>
          <p:cNvPr id="2019" name="Text 10"/>
          <p:cNvSpPr/>
          <p:nvPr/>
        </p:nvSpPr>
        <p:spPr>
          <a:xfrm>
            <a:off x="82296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400" strike="noStrike" u="none">
                <a:solidFill>
                  <a:srgbClr val="1e2420"/>
                </a:solidFill>
                <a:effectLst/>
                <a:uFillTx/>
                <a:latin typeface="Calibri"/>
                <a:ea typeface="Calibri"/>
              </a:rPr>
              <a:t>From asset register to priced risk</a:t>
            </a:r>
            <a:endParaRPr b="0" lang="en-US" sz="1400" strike="noStrike" u="none">
              <a:solidFill>
                <a:srgbClr val="000000"/>
              </a:solidFill>
              <a:effectLst/>
              <a:uFillTx/>
              <a:latin typeface="Arial"/>
            </a:endParaRPr>
          </a:p>
        </p:txBody>
      </p:sp>
      <p:sp>
        <p:nvSpPr>
          <p:cNvPr id="2020" name="Text 11"/>
          <p:cNvSpPr/>
          <p:nvPr/>
        </p:nvSpPr>
        <p:spPr>
          <a:xfrm>
            <a:off x="822960" y="3044880"/>
            <a:ext cx="3100320" cy="299880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Asset foundation: shared model before analytics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Exposure: first defensible risk output</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Scenarios and value at risk: decision grade analysis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Adaptation: from risk to response</a:t>
            </a:r>
            <a:endParaRPr b="0" lang="en-US" sz="1100" strike="noStrike" u="none">
              <a:solidFill>
                <a:srgbClr val="000000"/>
              </a:solidFill>
              <a:effectLst/>
              <a:uFillTx/>
              <a:latin typeface="Arial"/>
            </a:endParaRPr>
          </a:p>
        </p:txBody>
      </p:sp>
      <p:sp>
        <p:nvSpPr>
          <p:cNvPr id="2021" name="Shape 12"/>
          <p:cNvSpPr/>
          <p:nvPr/>
        </p:nvSpPr>
        <p:spPr>
          <a:xfrm>
            <a:off x="436248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022" name="Shape 13"/>
          <p:cNvSpPr/>
          <p:nvPr/>
        </p:nvSpPr>
        <p:spPr>
          <a:xfrm>
            <a:off x="4362480" y="2084760"/>
            <a:ext cx="346608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2023" name="Text 14"/>
          <p:cNvSpPr/>
          <p:nvPr/>
        </p:nvSpPr>
        <p:spPr>
          <a:xfrm>
            <a:off x="456372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STRATEGY</a:t>
            </a:r>
            <a:endParaRPr b="0" lang="en-US" sz="900" strike="noStrike" u="none">
              <a:solidFill>
                <a:srgbClr val="000000"/>
              </a:solidFill>
              <a:effectLst/>
              <a:uFillTx/>
              <a:latin typeface="Arial"/>
            </a:endParaRPr>
          </a:p>
        </p:txBody>
      </p:sp>
      <p:sp>
        <p:nvSpPr>
          <p:cNvPr id="2024" name="Text 15"/>
          <p:cNvSpPr/>
          <p:nvPr/>
        </p:nvSpPr>
        <p:spPr>
          <a:xfrm>
            <a:off x="456372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400" strike="noStrike" u="none">
                <a:solidFill>
                  <a:srgbClr val="1e2420"/>
                </a:solidFill>
                <a:effectLst/>
                <a:uFillTx/>
                <a:latin typeface="Calibri"/>
                <a:ea typeface="Calibri"/>
              </a:rPr>
              <a:t>Close the plan to execution gap</a:t>
            </a:r>
            <a:endParaRPr b="0" lang="en-US" sz="1400" strike="noStrike" u="none">
              <a:solidFill>
                <a:srgbClr val="000000"/>
              </a:solidFill>
              <a:effectLst/>
              <a:uFillTx/>
              <a:latin typeface="Arial"/>
            </a:endParaRPr>
          </a:p>
        </p:txBody>
      </p:sp>
      <p:sp>
        <p:nvSpPr>
          <p:cNvPr id="2025" name="Text 16"/>
          <p:cNvSpPr/>
          <p:nvPr/>
        </p:nvSpPr>
        <p:spPr>
          <a:xfrm>
            <a:off x="4563720" y="3044880"/>
            <a:ext cx="3100320" cy="299880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Planning foundation: targets, scenarios, initiatives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Actions execution: programs, projects, purchases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Recommendations: Sera guided next steps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Scale and governance: enterprise structures</a:t>
            </a:r>
            <a:endParaRPr b="0" lang="en-US" sz="1100" strike="noStrike" u="none">
              <a:solidFill>
                <a:srgbClr val="000000"/>
              </a:solidFill>
              <a:effectLst/>
              <a:uFillTx/>
              <a:latin typeface="Arial"/>
            </a:endParaRPr>
          </a:p>
        </p:txBody>
      </p:sp>
      <p:sp>
        <p:nvSpPr>
          <p:cNvPr id="2026" name="Shape 17"/>
          <p:cNvSpPr/>
          <p:nvPr/>
        </p:nvSpPr>
        <p:spPr>
          <a:xfrm>
            <a:off x="810324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027" name="Shape 18"/>
          <p:cNvSpPr/>
          <p:nvPr/>
        </p:nvSpPr>
        <p:spPr>
          <a:xfrm>
            <a:off x="8103240" y="2084760"/>
            <a:ext cx="346608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2028" name="Text 19"/>
          <p:cNvSpPr/>
          <p:nvPr/>
        </p:nvSpPr>
        <p:spPr>
          <a:xfrm>
            <a:off x="830448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CORE PLATFORM</a:t>
            </a:r>
            <a:endParaRPr b="0" lang="en-US" sz="900" strike="noStrike" u="none">
              <a:solidFill>
                <a:srgbClr val="000000"/>
              </a:solidFill>
              <a:effectLst/>
              <a:uFillTx/>
              <a:latin typeface="Arial"/>
            </a:endParaRPr>
          </a:p>
        </p:txBody>
      </p:sp>
      <p:sp>
        <p:nvSpPr>
          <p:cNvPr id="2029" name="Text 20"/>
          <p:cNvSpPr/>
          <p:nvPr/>
        </p:nvSpPr>
        <p:spPr>
          <a:xfrm>
            <a:off x="830448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400" strike="noStrike" u="none">
                <a:solidFill>
                  <a:srgbClr val="1e2420"/>
                </a:solidFill>
                <a:effectLst/>
                <a:uFillTx/>
                <a:latin typeface="Calibri"/>
                <a:ea typeface="Calibri"/>
              </a:rPr>
              <a:t>Built once, inherited by all</a:t>
            </a:r>
            <a:endParaRPr b="0" lang="en-US" sz="1400" strike="noStrike" u="none">
              <a:solidFill>
                <a:srgbClr val="000000"/>
              </a:solidFill>
              <a:effectLst/>
              <a:uFillTx/>
              <a:latin typeface="Arial"/>
            </a:endParaRPr>
          </a:p>
        </p:txBody>
      </p:sp>
      <p:sp>
        <p:nvSpPr>
          <p:cNvPr id="2030" name="Text 21"/>
          <p:cNvSpPr/>
          <p:nvPr/>
        </p:nvSpPr>
        <p:spPr>
          <a:xfrm>
            <a:off x="8304480" y="3044880"/>
            <a:ext cx="3100320" cy="299880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Ingestion and quality: data in, trusted</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Ontology and calculation: one model, one engine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Application and analytics: one experience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Trust and reach: enterprise ready</a:t>
            </a:r>
            <a:endParaRPr b="0" lang="en-US" sz="1100" strike="noStrike" u="none">
              <a:solidFill>
                <a:srgbClr val="000000"/>
              </a:solidFill>
              <a:effectLst/>
              <a:uFillTx/>
              <a:latin typeface="Arial"/>
            </a:endParaRPr>
          </a:p>
        </p:txBody>
      </p:sp>
      <p:sp>
        <p:nvSpPr>
          <p:cNvPr id="2031" name="Shape 22"/>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032" name="Text 23"/>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2033" name="Text 24"/>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2034" name="PlaceHolder 1"/>
          <p:cNvSpPr>
            <a:spLocks noGrp="1"/>
          </p:cNvSpPr>
          <p:nvPr>
            <p:ph type="sldNum" idx="50"/>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CC3BBC6C-344B-4838-8C80-C2F8A299710C}"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035"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2036"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2037" name="Shape 2"/>
          <p:cNvSpPr/>
          <p:nvPr/>
        </p:nvSpPr>
        <p:spPr>
          <a:xfrm>
            <a:off x="621720" y="311040"/>
            <a:ext cx="229032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038" name="Text 3"/>
          <p:cNvSpPr/>
          <p:nvPr/>
        </p:nvSpPr>
        <p:spPr>
          <a:xfrm>
            <a:off x="804600" y="329040"/>
            <a:ext cx="196092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EXECUTIVE SUMMARY</a:t>
            </a:r>
            <a:endParaRPr b="0" lang="en-US" sz="950" strike="noStrike" u="none">
              <a:solidFill>
                <a:srgbClr val="000000"/>
              </a:solidFill>
              <a:effectLst/>
              <a:uFillTx/>
              <a:latin typeface="Arial"/>
            </a:endParaRPr>
          </a:p>
        </p:txBody>
      </p:sp>
      <p:sp>
        <p:nvSpPr>
          <p:cNvPr id="2039"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The 24 goals roll up into four moves</a:t>
            </a:r>
            <a:endParaRPr b="0" lang="en-US" sz="3200" strike="noStrike" u="none">
              <a:solidFill>
                <a:srgbClr val="000000"/>
              </a:solidFill>
              <a:effectLst/>
              <a:uFillTx/>
              <a:latin typeface="Arial"/>
            </a:endParaRPr>
          </a:p>
        </p:txBody>
      </p:sp>
      <p:sp>
        <p:nvSpPr>
          <p:cNvPr id="2040"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Read top to bottom, this is the RA+ thesis for 2026 and 2027.</a:t>
            </a:r>
            <a:endParaRPr b="0" lang="en-US" sz="1250" strike="noStrike" u="none">
              <a:solidFill>
                <a:srgbClr val="000000"/>
              </a:solidFill>
              <a:effectLst/>
              <a:uFillTx/>
              <a:latin typeface="Arial"/>
            </a:endParaRPr>
          </a:p>
        </p:txBody>
      </p:sp>
      <p:sp>
        <p:nvSpPr>
          <p:cNvPr id="2041"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042" name="Shape 7"/>
          <p:cNvSpPr/>
          <p:nvPr/>
        </p:nvSpPr>
        <p:spPr>
          <a:xfrm>
            <a:off x="6217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043"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2044"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MOVE 1</a:t>
            </a:r>
            <a:endParaRPr b="0" lang="en-US" sz="900" strike="noStrike" u="none">
              <a:solidFill>
                <a:srgbClr val="000000"/>
              </a:solidFill>
              <a:effectLst/>
              <a:uFillTx/>
              <a:latin typeface="Arial"/>
            </a:endParaRPr>
          </a:p>
        </p:txBody>
      </p:sp>
      <p:sp>
        <p:nvSpPr>
          <p:cNvPr id="2045"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Make the data trusted</a:t>
            </a:r>
            <a:endParaRPr b="0" lang="en-US" sz="1600" strike="noStrike" u="none">
              <a:solidFill>
                <a:srgbClr val="000000"/>
              </a:solidFill>
              <a:effectLst/>
              <a:uFillTx/>
              <a:latin typeface="Arial"/>
            </a:endParaRPr>
          </a:p>
        </p:txBody>
      </p:sp>
      <p:sp>
        <p:nvSpPr>
          <p:cNvPr id="2046" name="Text 11"/>
          <p:cNvSpPr/>
          <p:nvPr/>
        </p:nvSpPr>
        <p:spPr>
          <a:xfrm>
            <a:off x="80460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One governed backbone.</a:t>
            </a:r>
            <a:endParaRPr b="0" lang="en-US" sz="1100" strike="noStrike" u="none">
              <a:solidFill>
                <a:srgbClr val="000000"/>
              </a:solidFill>
              <a:effectLst/>
              <a:uFillTx/>
              <a:latin typeface="Arial"/>
            </a:endParaRPr>
          </a:p>
        </p:txBody>
      </p:sp>
      <p:sp>
        <p:nvSpPr>
          <p:cNvPr id="2047" name="Text 12"/>
          <p:cNvSpPr/>
          <p:nvPr/>
        </p:nvSpPr>
        <p:spPr>
          <a:xfrm>
            <a:off x="82296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Core ingestion, quality and ontology (Platform)</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Emission factors and calculation depth (Carbon)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Boundaries, rebaselining and governance (Carbon)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Supplier data quality assurance (Supply Chain)</a:t>
            </a:r>
            <a:endParaRPr b="0" lang="en-US" sz="1100" strike="noStrike" u="none">
              <a:solidFill>
                <a:srgbClr val="000000"/>
              </a:solidFill>
              <a:effectLst/>
              <a:uFillTx/>
              <a:latin typeface="Arial"/>
            </a:endParaRPr>
          </a:p>
        </p:txBody>
      </p:sp>
      <p:sp>
        <p:nvSpPr>
          <p:cNvPr id="2048" name="Shape 13"/>
          <p:cNvSpPr/>
          <p:nvPr/>
        </p:nvSpPr>
        <p:spPr>
          <a:xfrm>
            <a:off x="342756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049" name="Shape 14"/>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2050" name="Text 15"/>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MOVE 2</a:t>
            </a:r>
            <a:endParaRPr b="0" lang="en-US" sz="900" strike="noStrike" u="none">
              <a:solidFill>
                <a:srgbClr val="000000"/>
              </a:solidFill>
              <a:effectLst/>
              <a:uFillTx/>
              <a:latin typeface="Arial"/>
            </a:endParaRPr>
          </a:p>
        </p:txBody>
      </p:sp>
      <p:sp>
        <p:nvSpPr>
          <p:cNvPr id="2051" name="Text 16"/>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fontScale="92500" lnSpcReduction="19999"/>
          </a:bodyPr>
          <a:p>
            <a:pPr defTabSz="914400">
              <a:lnSpc>
                <a:spcPct val="100000"/>
              </a:lnSpc>
              <a:tabLst>
                <a:tab algn="l" pos="0"/>
              </a:tabLst>
            </a:pPr>
            <a:r>
              <a:rPr b="1" lang="en-US" sz="1400" strike="noStrike" u="none">
                <a:solidFill>
                  <a:srgbClr val="1e2420"/>
                </a:solidFill>
                <a:effectLst/>
                <a:uFillTx/>
                <a:latin typeface="Calibri"/>
                <a:ea typeface="Calibri"/>
              </a:rPr>
              <a:t>Cover the full sustainability and energy agenda</a:t>
            </a:r>
            <a:endParaRPr b="0" lang="en-US" sz="1400" strike="noStrike" u="none">
              <a:solidFill>
                <a:srgbClr val="000000"/>
              </a:solidFill>
              <a:effectLst/>
              <a:uFillTx/>
              <a:latin typeface="Arial"/>
            </a:endParaRPr>
          </a:p>
        </p:txBody>
      </p:sp>
      <p:sp>
        <p:nvSpPr>
          <p:cNvPr id="2052" name="Text 17"/>
          <p:cNvSpPr/>
          <p:nvPr/>
        </p:nvSpPr>
        <p:spPr>
          <a:xfrm>
            <a:off x="361044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No material sustainability or energy domain left disconnected.</a:t>
            </a:r>
            <a:endParaRPr b="0" lang="en-US" sz="1100" strike="noStrike" u="none">
              <a:solidFill>
                <a:srgbClr val="000000"/>
              </a:solidFill>
              <a:effectLst/>
              <a:uFillTx/>
              <a:latin typeface="Arial"/>
            </a:endParaRPr>
          </a:p>
        </p:txBody>
      </p:sp>
      <p:sp>
        <p:nvSpPr>
          <p:cNvPr id="2053" name="Text 18"/>
          <p:cNvSpPr/>
          <p:nvPr/>
        </p:nvSpPr>
        <p:spPr>
          <a:xfrm>
            <a:off x="362844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Scope 3 category coverage to a full inventory (Carbon)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Product carbon footprint and transport (Supply Chain)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Supplier campaigns that feed the baseline (Supply Chain)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Asset register and exposure across the estate (Climate Risk)</a:t>
            </a:r>
            <a:endParaRPr b="0" lang="en-US" sz="1100" strike="noStrike" u="none">
              <a:solidFill>
                <a:srgbClr val="000000"/>
              </a:solidFill>
              <a:effectLst/>
              <a:uFillTx/>
              <a:latin typeface="Arial"/>
            </a:endParaRPr>
          </a:p>
        </p:txBody>
      </p:sp>
      <p:sp>
        <p:nvSpPr>
          <p:cNvPr id="2054" name="Shape 19"/>
          <p:cNvSpPr/>
          <p:nvPr/>
        </p:nvSpPr>
        <p:spPr>
          <a:xfrm>
            <a:off x="623304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055" name="Shape 20"/>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2056" name="Text 21"/>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MOVE 3</a:t>
            </a:r>
            <a:endParaRPr b="0" lang="en-US" sz="900" strike="noStrike" u="none">
              <a:solidFill>
                <a:srgbClr val="000000"/>
              </a:solidFill>
              <a:effectLst/>
              <a:uFillTx/>
              <a:latin typeface="Arial"/>
            </a:endParaRPr>
          </a:p>
        </p:txBody>
      </p:sp>
      <p:sp>
        <p:nvSpPr>
          <p:cNvPr id="2057" name="Text 22"/>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Decide and act</a:t>
            </a:r>
            <a:endParaRPr b="0" lang="en-US" sz="1600" strike="noStrike" u="none">
              <a:solidFill>
                <a:srgbClr val="000000"/>
              </a:solidFill>
              <a:effectLst/>
              <a:uFillTx/>
              <a:latin typeface="Arial"/>
            </a:endParaRPr>
          </a:p>
        </p:txBody>
      </p:sp>
      <p:sp>
        <p:nvSpPr>
          <p:cNvPr id="2058" name="Text 23"/>
          <p:cNvSpPr/>
          <p:nvPr/>
        </p:nvSpPr>
        <p:spPr>
          <a:xfrm>
            <a:off x="641592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From measurement to funded action.</a:t>
            </a:r>
            <a:endParaRPr b="0" lang="en-US" sz="1100" strike="noStrike" u="none">
              <a:solidFill>
                <a:srgbClr val="000000"/>
              </a:solidFill>
              <a:effectLst/>
              <a:uFillTx/>
              <a:latin typeface="Arial"/>
            </a:endParaRPr>
          </a:p>
        </p:txBody>
      </p:sp>
      <p:sp>
        <p:nvSpPr>
          <p:cNvPr id="2059" name="Text 24"/>
          <p:cNvSpPr/>
          <p:nvPr/>
        </p:nvSpPr>
        <p:spPr>
          <a:xfrm>
            <a:off x="643428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Scenarios, value at risk and adaptation (Climate Risk)</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Targets, initiatives and execution (Strategy)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Sera recommendations and next steps (Strategy)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AI assisted inventory and planning (Carbon)</a:t>
            </a:r>
            <a:endParaRPr b="0" lang="en-US" sz="1100" strike="noStrike" u="none">
              <a:solidFill>
                <a:srgbClr val="000000"/>
              </a:solidFill>
              <a:effectLst/>
              <a:uFillTx/>
              <a:latin typeface="Arial"/>
            </a:endParaRPr>
          </a:p>
        </p:txBody>
      </p:sp>
      <p:sp>
        <p:nvSpPr>
          <p:cNvPr id="2060" name="Shape 25"/>
          <p:cNvSpPr/>
          <p:nvPr/>
        </p:nvSpPr>
        <p:spPr>
          <a:xfrm>
            <a:off x="90385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061" name="Shape 26"/>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2062" name="Text 27"/>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MOVE 4</a:t>
            </a:r>
            <a:endParaRPr b="0" lang="en-US" sz="900" strike="noStrike" u="none">
              <a:solidFill>
                <a:srgbClr val="000000"/>
              </a:solidFill>
              <a:effectLst/>
              <a:uFillTx/>
              <a:latin typeface="Arial"/>
            </a:endParaRPr>
          </a:p>
        </p:txBody>
      </p:sp>
      <p:sp>
        <p:nvSpPr>
          <p:cNvPr id="2063" name="Text 28"/>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Prove and disclose</a:t>
            </a:r>
            <a:endParaRPr b="0" lang="en-US" sz="1600" strike="noStrike" u="none">
              <a:solidFill>
                <a:srgbClr val="000000"/>
              </a:solidFill>
              <a:effectLst/>
              <a:uFillTx/>
              <a:latin typeface="Arial"/>
            </a:endParaRPr>
          </a:p>
        </p:txBody>
      </p:sp>
      <p:sp>
        <p:nvSpPr>
          <p:cNvPr id="2064" name="Text 29"/>
          <p:cNvSpPr/>
          <p:nvPr/>
        </p:nvSpPr>
        <p:spPr>
          <a:xfrm>
            <a:off x="922140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Audit ready output, enterprise scale.</a:t>
            </a:r>
            <a:endParaRPr b="0" lang="en-US" sz="1100" strike="noStrike" u="none">
              <a:solidFill>
                <a:srgbClr val="000000"/>
              </a:solidFill>
              <a:effectLst/>
              <a:uFillTx/>
              <a:latin typeface="Arial"/>
            </a:endParaRPr>
          </a:p>
        </p:txBody>
      </p:sp>
      <p:sp>
        <p:nvSpPr>
          <p:cNvPr id="2065" name="Text 30"/>
          <p:cNvSpPr/>
          <p:nvPr/>
        </p:nvSpPr>
        <p:spPr>
          <a:xfrm>
            <a:off x="923976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Frameworks, indicators and disclosures (R&amp;C)</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Schneider Electric migration as proof (R&amp;C)</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Audit trail and evidence lineage (Platform)</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Enterprise readiness and reach (Platform)</a:t>
            </a:r>
            <a:endParaRPr b="0" lang="en-US" sz="1100" strike="noStrike" u="none">
              <a:solidFill>
                <a:srgbClr val="000000"/>
              </a:solidFill>
              <a:effectLst/>
              <a:uFillTx/>
              <a:latin typeface="Arial"/>
            </a:endParaRPr>
          </a:p>
        </p:txBody>
      </p:sp>
      <p:sp>
        <p:nvSpPr>
          <p:cNvPr id="2066" name="Shape 31"/>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067" name="Text 32"/>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2068" name="Text 33"/>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2069" name="PlaceHolder 1"/>
          <p:cNvSpPr>
            <a:spLocks noGrp="1"/>
          </p:cNvSpPr>
          <p:nvPr>
            <p:ph type="sldNum" idx="51"/>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325A5502-2937-475F-B6E4-07B32874624B}"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5730"/>
        </a:solidFill>
      </p:bgPr>
    </p:bg>
    <p:spTree>
      <p:nvGrpSpPr>
        <p:cNvPr id="1" name=""/>
        <p:cNvGrpSpPr/>
        <p:nvPr/>
      </p:nvGrpSpPr>
      <p:grpSpPr>
        <a:xfrm>
          <a:off x="0" y="0"/>
          <a:ext cx="0" cy="0"/>
          <a:chOff x="0" y="0"/>
          <a:chExt cx="0" cy="0"/>
        </a:xfrm>
      </p:grpSpPr>
      <p:sp>
        <p:nvSpPr>
          <p:cNvPr id="2070"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2071"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2072" name="Shape 2"/>
          <p:cNvSpPr/>
          <p:nvPr/>
        </p:nvSpPr>
        <p:spPr>
          <a:xfrm>
            <a:off x="8641080" y="822960"/>
            <a:ext cx="360" cy="5212080"/>
          </a:xfrm>
          <a:prstGeom prst="line">
            <a:avLst/>
          </a:prstGeom>
          <a:ln w="12700">
            <a:solidFill>
              <a:srgbClr val="2c8058"/>
            </a:solidFill>
            <a:round/>
          </a:ln>
        </p:spPr>
        <p:style>
          <a:lnRef idx="0"/>
          <a:fillRef idx="0"/>
          <a:effectRef idx="0"/>
          <a:fontRef idx="minor"/>
        </p:style>
        <p:txBody>
          <a:bodyPr lIns="90000" rIns="90000" tIns="45000" bIns="45000" anchor="t" anchorCtr="1">
            <a:noAutofit/>
          </a:bodyPr>
          <a:p>
            <a:endParaRPr b="0" lang="en-US" sz="1800" strike="noStrike" u="none">
              <a:solidFill>
                <a:srgbClr val="ffffff"/>
              </a:solidFill>
              <a:effectLst/>
              <a:uFillTx/>
              <a:latin typeface="Arial"/>
            </a:endParaRPr>
          </a:p>
        </p:txBody>
      </p:sp>
      <p:sp>
        <p:nvSpPr>
          <p:cNvPr id="2073" name="Text 3"/>
          <p:cNvSpPr/>
          <p:nvPr/>
        </p:nvSpPr>
        <p:spPr>
          <a:xfrm>
            <a:off x="9144000" y="841320"/>
            <a:ext cx="2194200" cy="22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81" strike="noStrike" u="none">
                <a:solidFill>
                  <a:srgbClr val="bfe6ce"/>
                </a:solidFill>
                <a:effectLst/>
                <a:uFillTx/>
                <a:latin typeface="Calibri"/>
                <a:ea typeface="Calibri"/>
              </a:rPr>
              <a:t>RA+ ROADMAP</a:t>
            </a:r>
            <a:endParaRPr b="0" lang="en-US" sz="900" strike="noStrike" u="none">
              <a:solidFill>
                <a:srgbClr val="ffffff"/>
              </a:solidFill>
              <a:effectLst/>
              <a:uFillTx/>
              <a:latin typeface="Arial"/>
            </a:endParaRPr>
          </a:p>
        </p:txBody>
      </p:sp>
      <p:sp>
        <p:nvSpPr>
          <p:cNvPr id="2074" name="Text 4"/>
          <p:cNvSpPr/>
          <p:nvPr/>
        </p:nvSpPr>
        <p:spPr>
          <a:xfrm>
            <a:off x="9144000" y="1325880"/>
            <a:ext cx="2194200" cy="1462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3600" strike="noStrike" u="none">
                <a:solidFill>
                  <a:srgbClr val="ffffff"/>
                </a:solidFill>
                <a:effectLst/>
                <a:uFillTx/>
                <a:latin typeface="Calibri"/>
                <a:ea typeface="Calibri"/>
              </a:rPr>
              <a:t>2026</a:t>
            </a:r>
            <a:endParaRPr b="0" lang="en-US" sz="3600" strike="noStrike" u="none">
              <a:solidFill>
                <a:srgbClr val="ffffff"/>
              </a:solidFill>
              <a:effectLst/>
              <a:uFillTx/>
              <a:latin typeface="Arial"/>
            </a:endParaRPr>
          </a:p>
          <a:p>
            <a:pPr defTabSz="914400">
              <a:lnSpc>
                <a:spcPct val="100000"/>
              </a:lnSpc>
              <a:tabLst>
                <a:tab algn="l" pos="0"/>
              </a:tabLst>
            </a:pPr>
            <a:r>
              <a:rPr b="1" lang="en-US" sz="3600" strike="noStrike" u="none">
                <a:solidFill>
                  <a:srgbClr val="ffffff"/>
                </a:solidFill>
                <a:effectLst/>
                <a:uFillTx/>
                <a:latin typeface="Calibri"/>
                <a:ea typeface="Calibri"/>
              </a:rPr>
              <a:t>2027</a:t>
            </a:r>
            <a:endParaRPr b="0" lang="en-US" sz="3600" strike="noStrike" u="none">
              <a:solidFill>
                <a:srgbClr val="ffffff"/>
              </a:solidFill>
              <a:effectLst/>
              <a:uFillTx/>
              <a:latin typeface="Arial"/>
            </a:endParaRPr>
          </a:p>
        </p:txBody>
      </p:sp>
      <p:sp>
        <p:nvSpPr>
          <p:cNvPr id="2075" name="Text 5"/>
          <p:cNvSpPr/>
          <p:nvPr/>
        </p:nvSpPr>
        <p:spPr>
          <a:xfrm>
            <a:off x="621720" y="960120"/>
            <a:ext cx="71319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221" strike="noStrike" u="none">
                <a:solidFill>
                  <a:srgbClr val="bfe6ce"/>
                </a:solidFill>
                <a:effectLst/>
                <a:uFillTx/>
                <a:latin typeface="Calibri"/>
                <a:ea typeface="Calibri"/>
              </a:rPr>
              <a:t>AGENDA ITEM 2</a:t>
            </a:r>
            <a:endParaRPr b="0" lang="en-US" sz="1100" strike="noStrike" u="none">
              <a:solidFill>
                <a:srgbClr val="ffffff"/>
              </a:solidFill>
              <a:effectLst/>
              <a:uFillTx/>
              <a:latin typeface="Arial"/>
            </a:endParaRPr>
          </a:p>
        </p:txBody>
      </p:sp>
      <p:sp>
        <p:nvSpPr>
          <p:cNvPr id="2076" name="Text 6"/>
          <p:cNvSpPr/>
          <p:nvPr/>
        </p:nvSpPr>
        <p:spPr>
          <a:xfrm>
            <a:off x="621720" y="1508760"/>
            <a:ext cx="191988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5800" strike="noStrike" u="none">
                <a:solidFill>
                  <a:srgbClr val="3dcd58"/>
                </a:solidFill>
                <a:effectLst/>
                <a:uFillTx/>
                <a:latin typeface="Calibri"/>
                <a:ea typeface="Calibri"/>
              </a:rPr>
              <a:t>02</a:t>
            </a:r>
            <a:endParaRPr b="0" lang="en-US" sz="5800" strike="noStrike" u="none">
              <a:solidFill>
                <a:srgbClr val="ffffff"/>
              </a:solidFill>
              <a:effectLst/>
              <a:uFillTx/>
              <a:latin typeface="Arial"/>
            </a:endParaRPr>
          </a:p>
        </p:txBody>
      </p:sp>
      <p:sp>
        <p:nvSpPr>
          <p:cNvPr id="2077" name="Text 7"/>
          <p:cNvSpPr/>
          <p:nvPr/>
        </p:nvSpPr>
        <p:spPr>
          <a:xfrm>
            <a:off x="621720" y="2606040"/>
            <a:ext cx="7406280" cy="11426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ffffff"/>
                </a:solidFill>
                <a:effectLst/>
                <a:uFillTx/>
                <a:latin typeface="Calibri"/>
                <a:ea typeface="Calibri"/>
              </a:rPr>
              <a:t>The 2026 and 2027 roadmap on one board</a:t>
            </a:r>
            <a:endParaRPr b="0" lang="en-US" sz="3200" strike="noStrike" u="none">
              <a:solidFill>
                <a:srgbClr val="ffffff"/>
              </a:solidFill>
              <a:effectLst/>
              <a:uFillTx/>
              <a:latin typeface="Arial"/>
            </a:endParaRPr>
          </a:p>
        </p:txBody>
      </p:sp>
      <p:sp>
        <p:nvSpPr>
          <p:cNvPr id="2078" name="Text 8"/>
          <p:cNvSpPr/>
          <p:nvPr/>
        </p:nvSpPr>
        <p:spPr>
          <a:xfrm>
            <a:off x="621720" y="4005000"/>
            <a:ext cx="704052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400" strike="noStrike" u="none">
                <a:solidFill>
                  <a:srgbClr val="d6eadf"/>
                </a:solidFill>
                <a:effectLst/>
                <a:uFillTx/>
                <a:latin typeface="Calibri"/>
                <a:ea typeface="Calibri"/>
              </a:rPr>
              <a:t>Now is Q3 2026, Next is Q4 2026, Later is 2027 and beyond.</a:t>
            </a:r>
            <a:endParaRPr b="0" lang="en-US" sz="14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2"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3DCD58"/>
          </a:solidFill>
          <a:ln w="12700">
            <a:solidFill>
              <a:srgbClr val="3DCD58"/>
            </a:solidFill>
            <a:prstDash val="solid"/>
          </a:ln>
        </p:spPr>
      </p:sp>
      <p:sp>
        <p:nvSpPr>
          <p:cNvPr id="4" name="Shape 1"/>
          <p:cNvSpPr/>
          <p:nvPr/>
        </p:nvSpPr>
        <p:spPr>
          <a:xfrm>
            <a:off x="0" y="82296"/>
            <a:ext cx="12191695" cy="13716"/>
          </a:xfrm>
          <a:prstGeom prst="rect">
            <a:avLst/>
          </a:prstGeom>
          <a:solidFill>
            <a:srgbClr val="005730"/>
          </a:solidFill>
          <a:ln w="12700">
            <a:solidFill>
              <a:srgbClr val="005730"/>
            </a:solidFill>
            <a:prstDash val="solid"/>
          </a:ln>
        </p:spPr>
      </p:sp>
      <p:sp>
        <p:nvSpPr>
          <p:cNvPr id="5" name="Shape 2"/>
          <p:cNvSpPr/>
          <p:nvPr/>
        </p:nvSpPr>
        <p:spPr>
          <a:xfrm>
            <a:off x="621792" y="310896"/>
            <a:ext cx="2290572" cy="292608"/>
          </a:xfrm>
          <a:prstGeom prst="roundRect">
            <a:avLst>
              <a:gd name="adj" fmla="val 50000"/>
            </a:avLst>
          </a:prstGeom>
          <a:solidFill>
            <a:srgbClr val="EAF8ED"/>
          </a:solidFill>
          <a:ln w="12700">
            <a:solidFill>
              <a:srgbClr val="EAF8ED"/>
            </a:solidFill>
            <a:prstDash val="solid"/>
          </a:ln>
        </p:spPr>
      </p:sp>
      <p:sp>
        <p:nvSpPr>
          <p:cNvPr id="6" name="Text 3"/>
          <p:cNvSpPr/>
          <p:nvPr/>
        </p:nvSpPr>
        <p:spPr>
          <a:xfrm>
            <a:off x="804672" y="329184"/>
            <a:ext cx="196138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EXECUTIVE SUMMARY</a:t>
            </a:r>
            <a:endParaRPr lang="en-US" sz="950" dirty="0"/>
          </a:p>
        </p:txBody>
      </p:sp>
      <p:sp>
        <p:nvSpPr>
          <p:cNvPr id="7"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One platform, three years of converging value</a:t>
            </a:r>
            <a:endParaRPr lang="en-US" sz="3200" dirty="0"/>
          </a:p>
        </p:txBody>
      </p:sp>
      <p:sp>
        <p:nvSpPr>
          <p:cNvPr id="8"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Sustainability and Energy &amp; Efficiency on one board, both supported by the Platform. Indicative MVP and Full GA quarters.</a:t>
            </a:r>
            <a:endParaRPr lang="en-US" sz="1250" dirty="0"/>
          </a:p>
        </p:txBody>
      </p:sp>
      <p:sp>
        <p:nvSpPr>
          <p:cNvPr id="9" name="Shape 6"/>
          <p:cNvSpPr/>
          <p:nvPr/>
        </p:nvSpPr>
        <p:spPr>
          <a:xfrm>
            <a:off x="621792" y="1920240"/>
            <a:ext cx="10948111" cy="0"/>
          </a:xfrm>
          <a:prstGeom prst="line">
            <a:avLst/>
          </a:prstGeom>
          <a:noFill/>
          <a:ln w="9525">
            <a:solidFill>
              <a:srgbClr val="E2E6E2"/>
            </a:solidFill>
            <a:prstDash val="solid"/>
          </a:ln>
        </p:spPr>
      </p:sp>
      <p:sp>
        <p:nvSpPr>
          <p:cNvPr id="10" name="Shape 7"/>
          <p:cNvSpPr/>
          <p:nvPr/>
        </p:nvSpPr>
        <p:spPr>
          <a:xfrm>
            <a:off x="621792" y="1874520"/>
            <a:ext cx="10948111" cy="457200"/>
          </a:xfrm>
          <a:prstGeom prst="rect">
            <a:avLst/>
          </a:prstGeom>
          <a:solidFill>
            <a:srgbClr val="F1F3F2"/>
          </a:solidFill>
          <a:ln w="6350">
            <a:solidFill>
              <a:srgbClr val="E2E6E2"/>
            </a:solidFill>
            <a:prstDash val="solid"/>
          </a:ln>
        </p:spPr>
      </p:sp>
      <p:sp>
        <p:nvSpPr>
          <p:cNvPr id="11" name="Text 8"/>
          <p:cNvSpPr/>
          <p:nvPr/>
        </p:nvSpPr>
        <p:spPr>
          <a:xfrm>
            <a:off x="749808" y="2020824"/>
            <a:ext cx="2606040" cy="164592"/>
          </a:xfrm>
          <a:prstGeom prst="rect">
            <a:avLst/>
          </a:prstGeom>
          <a:noFill/>
          <a:ln/>
        </p:spPr>
        <p:txBody>
          <a:bodyPr wrap="square" lIns="0" tIns="0" rIns="0" bIns="0" rtlCol="0" anchor="ctr"/>
          <a:lstStyle/>
          <a:p>
            <a:pPr indent="0" marL="0">
              <a:buNone/>
            </a:pPr>
            <a:r>
              <a:rPr lang="en-US" sz="850" b="1" spc="100" kern="0" dirty="0">
                <a:solidFill>
                  <a:srgbClr val="5A625C"/>
                </a:solidFill>
                <a:latin typeface="Calibri" pitchFamily="34" charset="0"/>
                <a:ea typeface="Calibri" pitchFamily="34" charset="-122"/>
                <a:cs typeface="Calibri" pitchFamily="34" charset="-120"/>
              </a:rPr>
              <a:t>CAPABILITY</a:t>
            </a:r>
            <a:endParaRPr lang="en-US" sz="850" dirty="0"/>
          </a:p>
        </p:txBody>
      </p:sp>
      <p:sp>
        <p:nvSpPr>
          <p:cNvPr id="12" name="Text 9"/>
          <p:cNvSpPr/>
          <p:nvPr/>
        </p:nvSpPr>
        <p:spPr>
          <a:xfrm>
            <a:off x="3456432" y="1901952"/>
            <a:ext cx="2704490" cy="201168"/>
          </a:xfrm>
          <a:prstGeom prst="rect">
            <a:avLst/>
          </a:prstGeom>
          <a:noFill/>
          <a:ln/>
        </p:spPr>
        <p:txBody>
          <a:bodyPr wrap="square" lIns="0" tIns="0" rIns="0" bIns="0" rtlCol="0" anchor="ctr"/>
          <a:lstStyle/>
          <a:p>
            <a:pPr algn="ctr" indent="0" marL="0">
              <a:buNone/>
            </a:pPr>
            <a:r>
              <a:rPr lang="en-US" sz="1200" b="1" dirty="0">
                <a:solidFill>
                  <a:srgbClr val="1E2420"/>
                </a:solidFill>
                <a:latin typeface="Calibri" pitchFamily="34" charset="0"/>
                <a:ea typeface="Calibri" pitchFamily="34" charset="-122"/>
                <a:cs typeface="Calibri" pitchFamily="34" charset="-120"/>
              </a:rPr>
              <a:t>2026</a:t>
            </a:r>
            <a:endParaRPr lang="en-US" sz="1200" dirty="0"/>
          </a:p>
        </p:txBody>
      </p:sp>
      <p:sp>
        <p:nvSpPr>
          <p:cNvPr id="13" name="Text 10"/>
          <p:cNvSpPr/>
          <p:nvPr/>
        </p:nvSpPr>
        <p:spPr>
          <a:xfrm>
            <a:off x="3456432"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Q1</a:t>
            </a:r>
            <a:endParaRPr lang="en-US" sz="800" dirty="0"/>
          </a:p>
        </p:txBody>
      </p:sp>
      <p:sp>
        <p:nvSpPr>
          <p:cNvPr id="14" name="Text 11"/>
          <p:cNvSpPr/>
          <p:nvPr/>
        </p:nvSpPr>
        <p:spPr>
          <a:xfrm>
            <a:off x="4132555"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Q2</a:t>
            </a:r>
            <a:endParaRPr lang="en-US" sz="800" dirty="0"/>
          </a:p>
        </p:txBody>
      </p:sp>
      <p:sp>
        <p:nvSpPr>
          <p:cNvPr id="15" name="Text 12"/>
          <p:cNvSpPr/>
          <p:nvPr/>
        </p:nvSpPr>
        <p:spPr>
          <a:xfrm>
            <a:off x="4808677"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Q3</a:t>
            </a:r>
            <a:endParaRPr lang="en-US" sz="800" dirty="0"/>
          </a:p>
        </p:txBody>
      </p:sp>
      <p:sp>
        <p:nvSpPr>
          <p:cNvPr id="16" name="Text 13"/>
          <p:cNvSpPr/>
          <p:nvPr/>
        </p:nvSpPr>
        <p:spPr>
          <a:xfrm>
            <a:off x="5484800"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Q4</a:t>
            </a:r>
            <a:endParaRPr lang="en-US" sz="800" dirty="0"/>
          </a:p>
        </p:txBody>
      </p:sp>
      <p:sp>
        <p:nvSpPr>
          <p:cNvPr id="17" name="Text 14"/>
          <p:cNvSpPr/>
          <p:nvPr/>
        </p:nvSpPr>
        <p:spPr>
          <a:xfrm>
            <a:off x="6160922" y="1901952"/>
            <a:ext cx="2704490" cy="201168"/>
          </a:xfrm>
          <a:prstGeom prst="rect">
            <a:avLst/>
          </a:prstGeom>
          <a:noFill/>
          <a:ln/>
        </p:spPr>
        <p:txBody>
          <a:bodyPr wrap="square" lIns="0" tIns="0" rIns="0" bIns="0" rtlCol="0" anchor="ctr"/>
          <a:lstStyle/>
          <a:p>
            <a:pPr algn="ctr" indent="0" marL="0">
              <a:buNone/>
            </a:pPr>
            <a:r>
              <a:rPr lang="en-US" sz="1200" b="1" dirty="0">
                <a:solidFill>
                  <a:srgbClr val="1E2420"/>
                </a:solidFill>
                <a:latin typeface="Calibri" pitchFamily="34" charset="0"/>
                <a:ea typeface="Calibri" pitchFamily="34" charset="-122"/>
                <a:cs typeface="Calibri" pitchFamily="34" charset="-120"/>
              </a:rPr>
              <a:t>2027</a:t>
            </a:r>
            <a:endParaRPr lang="en-US" sz="1200" dirty="0"/>
          </a:p>
        </p:txBody>
      </p:sp>
      <p:sp>
        <p:nvSpPr>
          <p:cNvPr id="18" name="Text 15"/>
          <p:cNvSpPr/>
          <p:nvPr/>
        </p:nvSpPr>
        <p:spPr>
          <a:xfrm>
            <a:off x="6160922"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Q1</a:t>
            </a:r>
            <a:endParaRPr lang="en-US" sz="800" dirty="0"/>
          </a:p>
        </p:txBody>
      </p:sp>
      <p:sp>
        <p:nvSpPr>
          <p:cNvPr id="19" name="Text 16"/>
          <p:cNvSpPr/>
          <p:nvPr/>
        </p:nvSpPr>
        <p:spPr>
          <a:xfrm>
            <a:off x="6837045"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Q2</a:t>
            </a:r>
            <a:endParaRPr lang="en-US" sz="800" dirty="0"/>
          </a:p>
        </p:txBody>
      </p:sp>
      <p:sp>
        <p:nvSpPr>
          <p:cNvPr id="20" name="Text 17"/>
          <p:cNvSpPr/>
          <p:nvPr/>
        </p:nvSpPr>
        <p:spPr>
          <a:xfrm>
            <a:off x="7513168"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Q3</a:t>
            </a:r>
            <a:endParaRPr lang="en-US" sz="800" dirty="0"/>
          </a:p>
        </p:txBody>
      </p:sp>
      <p:sp>
        <p:nvSpPr>
          <p:cNvPr id="21" name="Text 18"/>
          <p:cNvSpPr/>
          <p:nvPr/>
        </p:nvSpPr>
        <p:spPr>
          <a:xfrm>
            <a:off x="8189290"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Q4</a:t>
            </a:r>
            <a:endParaRPr lang="en-US" sz="800" dirty="0"/>
          </a:p>
        </p:txBody>
      </p:sp>
      <p:sp>
        <p:nvSpPr>
          <p:cNvPr id="22" name="Text 19"/>
          <p:cNvSpPr/>
          <p:nvPr/>
        </p:nvSpPr>
        <p:spPr>
          <a:xfrm>
            <a:off x="8865413" y="1901952"/>
            <a:ext cx="2704490" cy="201168"/>
          </a:xfrm>
          <a:prstGeom prst="rect">
            <a:avLst/>
          </a:prstGeom>
          <a:noFill/>
          <a:ln/>
        </p:spPr>
        <p:txBody>
          <a:bodyPr wrap="square" lIns="0" tIns="0" rIns="0" bIns="0" rtlCol="0" anchor="ctr"/>
          <a:lstStyle/>
          <a:p>
            <a:pPr algn="ctr" indent="0" marL="0">
              <a:buNone/>
            </a:pPr>
            <a:r>
              <a:rPr lang="en-US" sz="1200" b="1" dirty="0">
                <a:solidFill>
                  <a:srgbClr val="1E2420"/>
                </a:solidFill>
                <a:latin typeface="Calibri" pitchFamily="34" charset="0"/>
                <a:ea typeface="Calibri" pitchFamily="34" charset="-122"/>
                <a:cs typeface="Calibri" pitchFamily="34" charset="-120"/>
              </a:rPr>
              <a:t>2028</a:t>
            </a:r>
            <a:endParaRPr lang="en-US" sz="1200" dirty="0"/>
          </a:p>
        </p:txBody>
      </p:sp>
      <p:sp>
        <p:nvSpPr>
          <p:cNvPr id="23" name="Text 20"/>
          <p:cNvSpPr/>
          <p:nvPr/>
        </p:nvSpPr>
        <p:spPr>
          <a:xfrm>
            <a:off x="8865413"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Q1</a:t>
            </a:r>
            <a:endParaRPr lang="en-US" sz="800" dirty="0"/>
          </a:p>
        </p:txBody>
      </p:sp>
      <p:sp>
        <p:nvSpPr>
          <p:cNvPr id="24" name="Text 21"/>
          <p:cNvSpPr/>
          <p:nvPr/>
        </p:nvSpPr>
        <p:spPr>
          <a:xfrm>
            <a:off x="9541535"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Q2</a:t>
            </a:r>
            <a:endParaRPr lang="en-US" sz="800" dirty="0"/>
          </a:p>
        </p:txBody>
      </p:sp>
      <p:sp>
        <p:nvSpPr>
          <p:cNvPr id="25" name="Text 22"/>
          <p:cNvSpPr/>
          <p:nvPr/>
        </p:nvSpPr>
        <p:spPr>
          <a:xfrm>
            <a:off x="10217658"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Q3</a:t>
            </a:r>
            <a:endParaRPr lang="en-US" sz="800" dirty="0"/>
          </a:p>
        </p:txBody>
      </p:sp>
      <p:sp>
        <p:nvSpPr>
          <p:cNvPr id="26" name="Text 23"/>
          <p:cNvSpPr/>
          <p:nvPr/>
        </p:nvSpPr>
        <p:spPr>
          <a:xfrm>
            <a:off x="10893781"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Q4</a:t>
            </a:r>
            <a:endParaRPr lang="en-US" sz="800" dirty="0"/>
          </a:p>
        </p:txBody>
      </p:sp>
      <p:sp>
        <p:nvSpPr>
          <p:cNvPr id="27" name="Shape 24"/>
          <p:cNvSpPr/>
          <p:nvPr/>
        </p:nvSpPr>
        <p:spPr>
          <a:xfrm>
            <a:off x="3456432" y="2103120"/>
            <a:ext cx="0" cy="3794760"/>
          </a:xfrm>
          <a:prstGeom prst="line">
            <a:avLst/>
          </a:prstGeom>
          <a:noFill/>
          <a:ln w="11430">
            <a:solidFill>
              <a:srgbClr val="C8CECA"/>
            </a:solidFill>
            <a:prstDash val="solid"/>
          </a:ln>
        </p:spPr>
      </p:sp>
      <p:sp>
        <p:nvSpPr>
          <p:cNvPr id="28" name="Shape 25"/>
          <p:cNvSpPr/>
          <p:nvPr/>
        </p:nvSpPr>
        <p:spPr>
          <a:xfrm>
            <a:off x="4132555" y="2103120"/>
            <a:ext cx="0" cy="3794760"/>
          </a:xfrm>
          <a:prstGeom prst="line">
            <a:avLst/>
          </a:prstGeom>
          <a:noFill/>
          <a:ln w="4445">
            <a:solidFill>
              <a:srgbClr val="E2E6E2"/>
            </a:solidFill>
            <a:prstDash val="solid"/>
          </a:ln>
        </p:spPr>
      </p:sp>
      <p:sp>
        <p:nvSpPr>
          <p:cNvPr id="29" name="Shape 26"/>
          <p:cNvSpPr/>
          <p:nvPr/>
        </p:nvSpPr>
        <p:spPr>
          <a:xfrm>
            <a:off x="4808677" y="2103120"/>
            <a:ext cx="0" cy="3794760"/>
          </a:xfrm>
          <a:prstGeom prst="line">
            <a:avLst/>
          </a:prstGeom>
          <a:noFill/>
          <a:ln w="4445">
            <a:solidFill>
              <a:srgbClr val="E2E6E2"/>
            </a:solidFill>
            <a:prstDash val="solid"/>
          </a:ln>
        </p:spPr>
      </p:sp>
      <p:sp>
        <p:nvSpPr>
          <p:cNvPr id="30" name="Shape 27"/>
          <p:cNvSpPr/>
          <p:nvPr/>
        </p:nvSpPr>
        <p:spPr>
          <a:xfrm>
            <a:off x="5484800" y="2103120"/>
            <a:ext cx="0" cy="3794760"/>
          </a:xfrm>
          <a:prstGeom prst="line">
            <a:avLst/>
          </a:prstGeom>
          <a:noFill/>
          <a:ln w="4445">
            <a:solidFill>
              <a:srgbClr val="E2E6E2"/>
            </a:solidFill>
            <a:prstDash val="solid"/>
          </a:ln>
        </p:spPr>
      </p:sp>
      <p:sp>
        <p:nvSpPr>
          <p:cNvPr id="31" name="Shape 28"/>
          <p:cNvSpPr/>
          <p:nvPr/>
        </p:nvSpPr>
        <p:spPr>
          <a:xfrm>
            <a:off x="6160922" y="2103120"/>
            <a:ext cx="0" cy="3794760"/>
          </a:xfrm>
          <a:prstGeom prst="line">
            <a:avLst/>
          </a:prstGeom>
          <a:noFill/>
          <a:ln w="11430">
            <a:solidFill>
              <a:srgbClr val="C8CECA"/>
            </a:solidFill>
            <a:prstDash val="solid"/>
          </a:ln>
        </p:spPr>
      </p:sp>
      <p:sp>
        <p:nvSpPr>
          <p:cNvPr id="32" name="Shape 29"/>
          <p:cNvSpPr/>
          <p:nvPr/>
        </p:nvSpPr>
        <p:spPr>
          <a:xfrm>
            <a:off x="6837045" y="2103120"/>
            <a:ext cx="0" cy="3794760"/>
          </a:xfrm>
          <a:prstGeom prst="line">
            <a:avLst/>
          </a:prstGeom>
          <a:noFill/>
          <a:ln w="4445">
            <a:solidFill>
              <a:srgbClr val="E2E6E2"/>
            </a:solidFill>
            <a:prstDash val="solid"/>
          </a:ln>
        </p:spPr>
      </p:sp>
      <p:sp>
        <p:nvSpPr>
          <p:cNvPr id="33" name="Shape 30"/>
          <p:cNvSpPr/>
          <p:nvPr/>
        </p:nvSpPr>
        <p:spPr>
          <a:xfrm>
            <a:off x="7513168" y="2103120"/>
            <a:ext cx="0" cy="3794760"/>
          </a:xfrm>
          <a:prstGeom prst="line">
            <a:avLst/>
          </a:prstGeom>
          <a:noFill/>
          <a:ln w="4445">
            <a:solidFill>
              <a:srgbClr val="E2E6E2"/>
            </a:solidFill>
            <a:prstDash val="solid"/>
          </a:ln>
        </p:spPr>
      </p:sp>
      <p:sp>
        <p:nvSpPr>
          <p:cNvPr id="34" name="Shape 31"/>
          <p:cNvSpPr/>
          <p:nvPr/>
        </p:nvSpPr>
        <p:spPr>
          <a:xfrm>
            <a:off x="8189290" y="2103120"/>
            <a:ext cx="0" cy="3794760"/>
          </a:xfrm>
          <a:prstGeom prst="line">
            <a:avLst/>
          </a:prstGeom>
          <a:noFill/>
          <a:ln w="4445">
            <a:solidFill>
              <a:srgbClr val="E2E6E2"/>
            </a:solidFill>
            <a:prstDash val="solid"/>
          </a:ln>
        </p:spPr>
      </p:sp>
      <p:sp>
        <p:nvSpPr>
          <p:cNvPr id="35" name="Shape 32"/>
          <p:cNvSpPr/>
          <p:nvPr/>
        </p:nvSpPr>
        <p:spPr>
          <a:xfrm>
            <a:off x="8865413" y="2103120"/>
            <a:ext cx="0" cy="3794760"/>
          </a:xfrm>
          <a:prstGeom prst="line">
            <a:avLst/>
          </a:prstGeom>
          <a:noFill/>
          <a:ln w="11430">
            <a:solidFill>
              <a:srgbClr val="C8CECA"/>
            </a:solidFill>
            <a:prstDash val="solid"/>
          </a:ln>
        </p:spPr>
      </p:sp>
      <p:sp>
        <p:nvSpPr>
          <p:cNvPr id="36" name="Shape 33"/>
          <p:cNvSpPr/>
          <p:nvPr/>
        </p:nvSpPr>
        <p:spPr>
          <a:xfrm>
            <a:off x="9541535" y="2103120"/>
            <a:ext cx="0" cy="3794760"/>
          </a:xfrm>
          <a:prstGeom prst="line">
            <a:avLst/>
          </a:prstGeom>
          <a:noFill/>
          <a:ln w="4445">
            <a:solidFill>
              <a:srgbClr val="E2E6E2"/>
            </a:solidFill>
            <a:prstDash val="solid"/>
          </a:ln>
        </p:spPr>
      </p:sp>
      <p:sp>
        <p:nvSpPr>
          <p:cNvPr id="37" name="Shape 34"/>
          <p:cNvSpPr/>
          <p:nvPr/>
        </p:nvSpPr>
        <p:spPr>
          <a:xfrm>
            <a:off x="10217658" y="2103120"/>
            <a:ext cx="0" cy="3794760"/>
          </a:xfrm>
          <a:prstGeom prst="line">
            <a:avLst/>
          </a:prstGeom>
          <a:noFill/>
          <a:ln w="4445">
            <a:solidFill>
              <a:srgbClr val="E2E6E2"/>
            </a:solidFill>
            <a:prstDash val="solid"/>
          </a:ln>
        </p:spPr>
      </p:sp>
      <p:sp>
        <p:nvSpPr>
          <p:cNvPr id="38" name="Shape 35"/>
          <p:cNvSpPr/>
          <p:nvPr/>
        </p:nvSpPr>
        <p:spPr>
          <a:xfrm>
            <a:off x="10893781" y="2103120"/>
            <a:ext cx="0" cy="3794760"/>
          </a:xfrm>
          <a:prstGeom prst="line">
            <a:avLst/>
          </a:prstGeom>
          <a:noFill/>
          <a:ln w="4445">
            <a:solidFill>
              <a:srgbClr val="E2E6E2"/>
            </a:solidFill>
            <a:prstDash val="solid"/>
          </a:ln>
        </p:spPr>
      </p:sp>
      <p:sp>
        <p:nvSpPr>
          <p:cNvPr id="39" name="Shape 36"/>
          <p:cNvSpPr/>
          <p:nvPr/>
        </p:nvSpPr>
        <p:spPr>
          <a:xfrm>
            <a:off x="11569903" y="2103120"/>
            <a:ext cx="0" cy="3794760"/>
          </a:xfrm>
          <a:prstGeom prst="line">
            <a:avLst/>
          </a:prstGeom>
          <a:noFill/>
          <a:ln w="11430">
            <a:solidFill>
              <a:srgbClr val="C8CECA"/>
            </a:solidFill>
            <a:prstDash val="solid"/>
          </a:ln>
        </p:spPr>
      </p:sp>
      <p:sp>
        <p:nvSpPr>
          <p:cNvPr id="40" name="Shape 37"/>
          <p:cNvSpPr/>
          <p:nvPr/>
        </p:nvSpPr>
        <p:spPr>
          <a:xfrm>
            <a:off x="621792" y="2331720"/>
            <a:ext cx="411480" cy="1097280"/>
          </a:xfrm>
          <a:prstGeom prst="rect">
            <a:avLst/>
          </a:prstGeom>
          <a:solidFill>
            <a:srgbClr val="3DCD58"/>
          </a:solidFill>
          <a:ln w="7620">
            <a:solidFill>
              <a:srgbClr val="FFFFFF"/>
            </a:solidFill>
            <a:prstDash val="solid"/>
          </a:ln>
        </p:spPr>
      </p:sp>
      <p:sp>
        <p:nvSpPr>
          <p:cNvPr id="41" name="Text 38"/>
          <p:cNvSpPr/>
          <p:nvPr/>
        </p:nvSpPr>
        <p:spPr>
          <a:xfrm>
            <a:off x="649224" y="2350008"/>
            <a:ext cx="356616" cy="1060704"/>
          </a:xfrm>
          <a:prstGeom prst="rect">
            <a:avLst/>
          </a:prstGeom>
          <a:noFill/>
          <a:ln/>
        </p:spPr>
        <p:txBody>
          <a:bodyPr wrap="square" lIns="0" tIns="0" rIns="0" bIns="0" rtlCol="0" anchor="ctr" vert="vert270">
            <a:normAutofit/>
          </a:bodyPr>
          <a:lstStyle/>
          <a:p>
            <a:pPr algn="ctr" indent="0" marL="0">
              <a:buNone/>
            </a:pPr>
            <a:r>
              <a:rPr lang="en-US" sz="750" b="1" dirty="0">
                <a:solidFill>
                  <a:srgbClr val="FFFFFF"/>
                </a:solidFill>
                <a:latin typeface="Calibri" pitchFamily="34" charset="0"/>
                <a:ea typeface="Calibri" pitchFamily="34" charset="-122"/>
                <a:cs typeface="Calibri" pitchFamily="34" charset="-120"/>
              </a:rPr>
              <a:t>SUSTAINABILITY</a:t>
            </a:r>
            <a:endParaRPr lang="en-US" sz="750" dirty="0"/>
          </a:p>
        </p:txBody>
      </p:sp>
      <p:sp>
        <p:nvSpPr>
          <p:cNvPr id="42" name="Shape 39"/>
          <p:cNvSpPr/>
          <p:nvPr/>
        </p:nvSpPr>
        <p:spPr>
          <a:xfrm>
            <a:off x="1033272" y="2606040"/>
            <a:ext cx="10536631" cy="0"/>
          </a:xfrm>
          <a:prstGeom prst="line">
            <a:avLst/>
          </a:prstGeom>
          <a:noFill/>
          <a:ln w="4445">
            <a:solidFill>
              <a:srgbClr val="E2E6E2"/>
            </a:solidFill>
            <a:prstDash val="solid"/>
          </a:ln>
        </p:spPr>
      </p:sp>
      <p:sp>
        <p:nvSpPr>
          <p:cNvPr id="43" name="Shape 40"/>
          <p:cNvSpPr/>
          <p:nvPr/>
        </p:nvSpPr>
        <p:spPr>
          <a:xfrm>
            <a:off x="1143000" y="2359152"/>
            <a:ext cx="45720" cy="219456"/>
          </a:xfrm>
          <a:prstGeom prst="roundRect">
            <a:avLst>
              <a:gd name="adj" fmla="val 60000"/>
            </a:avLst>
          </a:prstGeom>
          <a:solidFill>
            <a:srgbClr val="3DCD58"/>
          </a:solidFill>
          <a:ln w="12700">
            <a:solidFill>
              <a:srgbClr val="3DCD58"/>
            </a:solidFill>
            <a:prstDash val="solid"/>
          </a:ln>
        </p:spPr>
      </p:sp>
      <p:sp>
        <p:nvSpPr>
          <p:cNvPr id="44" name="Text 41"/>
          <p:cNvSpPr/>
          <p:nvPr/>
        </p:nvSpPr>
        <p:spPr>
          <a:xfrm>
            <a:off x="1243584" y="232257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RA+ Carbon Performance</a:t>
            </a:r>
            <a:endParaRPr lang="en-US" sz="950" dirty="0"/>
          </a:p>
        </p:txBody>
      </p:sp>
      <p:sp>
        <p:nvSpPr>
          <p:cNvPr id="45" name="Shape 42"/>
          <p:cNvSpPr/>
          <p:nvPr/>
        </p:nvSpPr>
        <p:spPr>
          <a:xfrm>
            <a:off x="3456432" y="2422246"/>
            <a:ext cx="2298817" cy="93269"/>
          </a:xfrm>
          <a:prstGeom prst="roundRect">
            <a:avLst>
              <a:gd name="adj" fmla="val 39216"/>
            </a:avLst>
          </a:prstGeom>
          <a:solidFill>
            <a:srgbClr val="3DCD58"/>
          </a:solidFill>
          <a:ln w="5080">
            <a:solidFill>
              <a:srgbClr val="3DCD58"/>
            </a:solidFill>
            <a:prstDash val="solid"/>
          </a:ln>
        </p:spPr>
      </p:sp>
      <p:sp>
        <p:nvSpPr>
          <p:cNvPr id="46" name="Shape 43"/>
          <p:cNvSpPr/>
          <p:nvPr/>
        </p:nvSpPr>
        <p:spPr>
          <a:xfrm>
            <a:off x="5755249" y="2422246"/>
            <a:ext cx="5814654" cy="93269"/>
          </a:xfrm>
          <a:prstGeom prst="roundRect">
            <a:avLst>
              <a:gd name="adj" fmla="val 24510"/>
            </a:avLst>
          </a:prstGeom>
          <a:solidFill>
            <a:srgbClr val="3DCD58">
              <a:alpha val="6000"/>
            </a:srgbClr>
          </a:solidFill>
          <a:ln w="6350">
            <a:solidFill>
              <a:srgbClr val="3DCD58">
                <a:alpha val="60000"/>
              </a:srgbClr>
            </a:solidFill>
            <a:prstDash val="solid"/>
          </a:ln>
        </p:spPr>
      </p:sp>
      <p:sp>
        <p:nvSpPr>
          <p:cNvPr id="47" name="Shape 44"/>
          <p:cNvSpPr/>
          <p:nvPr/>
        </p:nvSpPr>
        <p:spPr>
          <a:xfrm>
            <a:off x="5828401" y="2506370"/>
            <a:ext cx="63423" cy="-63423"/>
          </a:xfrm>
          <a:prstGeom prst="line">
            <a:avLst/>
          </a:prstGeom>
          <a:noFill/>
          <a:ln w="9525">
            <a:solidFill>
              <a:srgbClr val="3DCD58">
                <a:alpha val="84000"/>
              </a:srgbClr>
            </a:solidFill>
            <a:prstDash val="solid"/>
          </a:ln>
        </p:spPr>
      </p:sp>
      <p:sp>
        <p:nvSpPr>
          <p:cNvPr id="48" name="Shape 45"/>
          <p:cNvSpPr/>
          <p:nvPr/>
        </p:nvSpPr>
        <p:spPr>
          <a:xfrm>
            <a:off x="6102721" y="2506370"/>
            <a:ext cx="63423" cy="-63423"/>
          </a:xfrm>
          <a:prstGeom prst="line">
            <a:avLst/>
          </a:prstGeom>
          <a:noFill/>
          <a:ln w="9525">
            <a:solidFill>
              <a:srgbClr val="3DCD58">
                <a:alpha val="84000"/>
              </a:srgbClr>
            </a:solidFill>
            <a:prstDash val="solid"/>
          </a:ln>
        </p:spPr>
      </p:sp>
      <p:sp>
        <p:nvSpPr>
          <p:cNvPr id="49" name="Shape 46"/>
          <p:cNvSpPr/>
          <p:nvPr/>
        </p:nvSpPr>
        <p:spPr>
          <a:xfrm>
            <a:off x="6377041" y="2506370"/>
            <a:ext cx="63423" cy="-63423"/>
          </a:xfrm>
          <a:prstGeom prst="line">
            <a:avLst/>
          </a:prstGeom>
          <a:noFill/>
          <a:ln w="9525">
            <a:solidFill>
              <a:srgbClr val="3DCD58">
                <a:alpha val="84000"/>
              </a:srgbClr>
            </a:solidFill>
            <a:prstDash val="solid"/>
          </a:ln>
        </p:spPr>
      </p:sp>
      <p:sp>
        <p:nvSpPr>
          <p:cNvPr id="50" name="Shape 47"/>
          <p:cNvSpPr/>
          <p:nvPr/>
        </p:nvSpPr>
        <p:spPr>
          <a:xfrm>
            <a:off x="6651361" y="2506370"/>
            <a:ext cx="63423" cy="-63423"/>
          </a:xfrm>
          <a:prstGeom prst="line">
            <a:avLst/>
          </a:prstGeom>
          <a:noFill/>
          <a:ln w="9525">
            <a:solidFill>
              <a:srgbClr val="3DCD58">
                <a:alpha val="84000"/>
              </a:srgbClr>
            </a:solidFill>
            <a:prstDash val="solid"/>
          </a:ln>
        </p:spPr>
      </p:sp>
      <p:sp>
        <p:nvSpPr>
          <p:cNvPr id="51" name="Shape 48"/>
          <p:cNvSpPr/>
          <p:nvPr/>
        </p:nvSpPr>
        <p:spPr>
          <a:xfrm>
            <a:off x="6925681" y="2506370"/>
            <a:ext cx="63423" cy="-63423"/>
          </a:xfrm>
          <a:prstGeom prst="line">
            <a:avLst/>
          </a:prstGeom>
          <a:noFill/>
          <a:ln w="9525">
            <a:solidFill>
              <a:srgbClr val="3DCD58">
                <a:alpha val="84000"/>
              </a:srgbClr>
            </a:solidFill>
            <a:prstDash val="solid"/>
          </a:ln>
        </p:spPr>
      </p:sp>
      <p:sp>
        <p:nvSpPr>
          <p:cNvPr id="52" name="Shape 49"/>
          <p:cNvSpPr/>
          <p:nvPr/>
        </p:nvSpPr>
        <p:spPr>
          <a:xfrm>
            <a:off x="7200001" y="2506370"/>
            <a:ext cx="63423" cy="-63423"/>
          </a:xfrm>
          <a:prstGeom prst="line">
            <a:avLst/>
          </a:prstGeom>
          <a:noFill/>
          <a:ln w="9525">
            <a:solidFill>
              <a:srgbClr val="3DCD58">
                <a:alpha val="84000"/>
              </a:srgbClr>
            </a:solidFill>
            <a:prstDash val="solid"/>
          </a:ln>
        </p:spPr>
      </p:sp>
      <p:sp>
        <p:nvSpPr>
          <p:cNvPr id="53" name="Shape 50"/>
          <p:cNvSpPr/>
          <p:nvPr/>
        </p:nvSpPr>
        <p:spPr>
          <a:xfrm>
            <a:off x="7474321" y="2506370"/>
            <a:ext cx="63423" cy="-63423"/>
          </a:xfrm>
          <a:prstGeom prst="line">
            <a:avLst/>
          </a:prstGeom>
          <a:noFill/>
          <a:ln w="9525">
            <a:solidFill>
              <a:srgbClr val="3DCD58">
                <a:alpha val="84000"/>
              </a:srgbClr>
            </a:solidFill>
            <a:prstDash val="solid"/>
          </a:ln>
        </p:spPr>
      </p:sp>
      <p:sp>
        <p:nvSpPr>
          <p:cNvPr id="54" name="Shape 51"/>
          <p:cNvSpPr/>
          <p:nvPr/>
        </p:nvSpPr>
        <p:spPr>
          <a:xfrm>
            <a:off x="7748641" y="2506370"/>
            <a:ext cx="63423" cy="-63423"/>
          </a:xfrm>
          <a:prstGeom prst="line">
            <a:avLst/>
          </a:prstGeom>
          <a:noFill/>
          <a:ln w="9525">
            <a:solidFill>
              <a:srgbClr val="3DCD58">
                <a:alpha val="84000"/>
              </a:srgbClr>
            </a:solidFill>
            <a:prstDash val="solid"/>
          </a:ln>
        </p:spPr>
      </p:sp>
      <p:sp>
        <p:nvSpPr>
          <p:cNvPr id="55" name="Shape 52"/>
          <p:cNvSpPr/>
          <p:nvPr/>
        </p:nvSpPr>
        <p:spPr>
          <a:xfrm>
            <a:off x="8022961" y="2506370"/>
            <a:ext cx="63423" cy="-63423"/>
          </a:xfrm>
          <a:prstGeom prst="line">
            <a:avLst/>
          </a:prstGeom>
          <a:noFill/>
          <a:ln w="9525">
            <a:solidFill>
              <a:srgbClr val="3DCD58">
                <a:alpha val="84000"/>
              </a:srgbClr>
            </a:solidFill>
            <a:prstDash val="solid"/>
          </a:ln>
        </p:spPr>
      </p:sp>
      <p:sp>
        <p:nvSpPr>
          <p:cNvPr id="56" name="Shape 53"/>
          <p:cNvSpPr/>
          <p:nvPr/>
        </p:nvSpPr>
        <p:spPr>
          <a:xfrm>
            <a:off x="8297281" y="2506370"/>
            <a:ext cx="63423" cy="-63423"/>
          </a:xfrm>
          <a:prstGeom prst="line">
            <a:avLst/>
          </a:prstGeom>
          <a:noFill/>
          <a:ln w="9525">
            <a:solidFill>
              <a:srgbClr val="3DCD58">
                <a:alpha val="84000"/>
              </a:srgbClr>
            </a:solidFill>
            <a:prstDash val="solid"/>
          </a:ln>
        </p:spPr>
      </p:sp>
      <p:sp>
        <p:nvSpPr>
          <p:cNvPr id="57" name="Shape 54"/>
          <p:cNvSpPr/>
          <p:nvPr/>
        </p:nvSpPr>
        <p:spPr>
          <a:xfrm>
            <a:off x="8571601" y="2506370"/>
            <a:ext cx="63423" cy="-63423"/>
          </a:xfrm>
          <a:prstGeom prst="line">
            <a:avLst/>
          </a:prstGeom>
          <a:noFill/>
          <a:ln w="9525">
            <a:solidFill>
              <a:srgbClr val="3DCD58">
                <a:alpha val="84000"/>
              </a:srgbClr>
            </a:solidFill>
            <a:prstDash val="solid"/>
          </a:ln>
        </p:spPr>
      </p:sp>
      <p:sp>
        <p:nvSpPr>
          <p:cNvPr id="58" name="Shape 55"/>
          <p:cNvSpPr/>
          <p:nvPr/>
        </p:nvSpPr>
        <p:spPr>
          <a:xfrm>
            <a:off x="8845921" y="2506370"/>
            <a:ext cx="63423" cy="-63423"/>
          </a:xfrm>
          <a:prstGeom prst="line">
            <a:avLst/>
          </a:prstGeom>
          <a:noFill/>
          <a:ln w="9525">
            <a:solidFill>
              <a:srgbClr val="3DCD58">
                <a:alpha val="84000"/>
              </a:srgbClr>
            </a:solidFill>
            <a:prstDash val="solid"/>
          </a:ln>
        </p:spPr>
      </p:sp>
      <p:sp>
        <p:nvSpPr>
          <p:cNvPr id="59" name="Shape 56"/>
          <p:cNvSpPr/>
          <p:nvPr/>
        </p:nvSpPr>
        <p:spPr>
          <a:xfrm>
            <a:off x="9120241" y="2506370"/>
            <a:ext cx="63423" cy="-63423"/>
          </a:xfrm>
          <a:prstGeom prst="line">
            <a:avLst/>
          </a:prstGeom>
          <a:noFill/>
          <a:ln w="9525">
            <a:solidFill>
              <a:srgbClr val="3DCD58">
                <a:alpha val="84000"/>
              </a:srgbClr>
            </a:solidFill>
            <a:prstDash val="solid"/>
          </a:ln>
        </p:spPr>
      </p:sp>
      <p:sp>
        <p:nvSpPr>
          <p:cNvPr id="60" name="Shape 57"/>
          <p:cNvSpPr/>
          <p:nvPr/>
        </p:nvSpPr>
        <p:spPr>
          <a:xfrm>
            <a:off x="9394561" y="2506370"/>
            <a:ext cx="63423" cy="-63423"/>
          </a:xfrm>
          <a:prstGeom prst="line">
            <a:avLst/>
          </a:prstGeom>
          <a:noFill/>
          <a:ln w="9525">
            <a:solidFill>
              <a:srgbClr val="3DCD58">
                <a:alpha val="84000"/>
              </a:srgbClr>
            </a:solidFill>
            <a:prstDash val="solid"/>
          </a:ln>
        </p:spPr>
      </p:sp>
      <p:sp>
        <p:nvSpPr>
          <p:cNvPr id="61" name="Shape 58"/>
          <p:cNvSpPr/>
          <p:nvPr/>
        </p:nvSpPr>
        <p:spPr>
          <a:xfrm>
            <a:off x="9668881" y="2506370"/>
            <a:ext cx="63423" cy="-63423"/>
          </a:xfrm>
          <a:prstGeom prst="line">
            <a:avLst/>
          </a:prstGeom>
          <a:noFill/>
          <a:ln w="9525">
            <a:solidFill>
              <a:srgbClr val="3DCD58">
                <a:alpha val="84000"/>
              </a:srgbClr>
            </a:solidFill>
            <a:prstDash val="solid"/>
          </a:ln>
        </p:spPr>
      </p:sp>
      <p:sp>
        <p:nvSpPr>
          <p:cNvPr id="62" name="Shape 59"/>
          <p:cNvSpPr/>
          <p:nvPr/>
        </p:nvSpPr>
        <p:spPr>
          <a:xfrm>
            <a:off x="9943201" y="2506370"/>
            <a:ext cx="63423" cy="-63423"/>
          </a:xfrm>
          <a:prstGeom prst="line">
            <a:avLst/>
          </a:prstGeom>
          <a:noFill/>
          <a:ln w="9525">
            <a:solidFill>
              <a:srgbClr val="3DCD58">
                <a:alpha val="84000"/>
              </a:srgbClr>
            </a:solidFill>
            <a:prstDash val="solid"/>
          </a:ln>
        </p:spPr>
      </p:sp>
      <p:sp>
        <p:nvSpPr>
          <p:cNvPr id="63" name="Shape 60"/>
          <p:cNvSpPr/>
          <p:nvPr/>
        </p:nvSpPr>
        <p:spPr>
          <a:xfrm>
            <a:off x="10217521" y="2506370"/>
            <a:ext cx="63423" cy="-63423"/>
          </a:xfrm>
          <a:prstGeom prst="line">
            <a:avLst/>
          </a:prstGeom>
          <a:noFill/>
          <a:ln w="9525">
            <a:solidFill>
              <a:srgbClr val="3DCD58">
                <a:alpha val="84000"/>
              </a:srgbClr>
            </a:solidFill>
            <a:prstDash val="solid"/>
          </a:ln>
        </p:spPr>
      </p:sp>
      <p:sp>
        <p:nvSpPr>
          <p:cNvPr id="64" name="Shape 61"/>
          <p:cNvSpPr/>
          <p:nvPr/>
        </p:nvSpPr>
        <p:spPr>
          <a:xfrm>
            <a:off x="10491841" y="2506370"/>
            <a:ext cx="63423" cy="-63423"/>
          </a:xfrm>
          <a:prstGeom prst="line">
            <a:avLst/>
          </a:prstGeom>
          <a:noFill/>
          <a:ln w="9525">
            <a:solidFill>
              <a:srgbClr val="3DCD58">
                <a:alpha val="84000"/>
              </a:srgbClr>
            </a:solidFill>
            <a:prstDash val="solid"/>
          </a:ln>
        </p:spPr>
      </p:sp>
      <p:sp>
        <p:nvSpPr>
          <p:cNvPr id="65" name="Shape 62"/>
          <p:cNvSpPr/>
          <p:nvPr/>
        </p:nvSpPr>
        <p:spPr>
          <a:xfrm>
            <a:off x="10766161" y="2506370"/>
            <a:ext cx="63423" cy="-63423"/>
          </a:xfrm>
          <a:prstGeom prst="line">
            <a:avLst/>
          </a:prstGeom>
          <a:noFill/>
          <a:ln w="9525">
            <a:solidFill>
              <a:srgbClr val="3DCD58">
                <a:alpha val="84000"/>
              </a:srgbClr>
            </a:solidFill>
            <a:prstDash val="solid"/>
          </a:ln>
        </p:spPr>
      </p:sp>
      <p:sp>
        <p:nvSpPr>
          <p:cNvPr id="66" name="Shape 63"/>
          <p:cNvSpPr/>
          <p:nvPr/>
        </p:nvSpPr>
        <p:spPr>
          <a:xfrm>
            <a:off x="11040481" y="2506370"/>
            <a:ext cx="63423" cy="-63423"/>
          </a:xfrm>
          <a:prstGeom prst="line">
            <a:avLst/>
          </a:prstGeom>
          <a:noFill/>
          <a:ln w="9525">
            <a:solidFill>
              <a:srgbClr val="3DCD58">
                <a:alpha val="84000"/>
              </a:srgbClr>
            </a:solidFill>
            <a:prstDash val="solid"/>
          </a:ln>
        </p:spPr>
      </p:sp>
      <p:sp>
        <p:nvSpPr>
          <p:cNvPr id="67" name="Shape 64"/>
          <p:cNvSpPr/>
          <p:nvPr/>
        </p:nvSpPr>
        <p:spPr>
          <a:xfrm>
            <a:off x="11314801" y="2506370"/>
            <a:ext cx="63423" cy="-63423"/>
          </a:xfrm>
          <a:prstGeom prst="line">
            <a:avLst/>
          </a:prstGeom>
          <a:noFill/>
          <a:ln w="9525">
            <a:solidFill>
              <a:srgbClr val="3DCD58">
                <a:alpha val="84000"/>
              </a:srgbClr>
            </a:solidFill>
            <a:prstDash val="solid"/>
          </a:ln>
        </p:spPr>
      </p:sp>
      <p:sp>
        <p:nvSpPr>
          <p:cNvPr id="68" name="Shape 65"/>
          <p:cNvSpPr/>
          <p:nvPr/>
        </p:nvSpPr>
        <p:spPr>
          <a:xfrm>
            <a:off x="4338996" y="2404872"/>
            <a:ext cx="128016" cy="128016"/>
          </a:xfrm>
          <a:prstGeom prst="ellipse">
            <a:avLst/>
          </a:prstGeom>
          <a:solidFill>
            <a:srgbClr val="FFB04C"/>
          </a:solidFill>
          <a:ln w="12700">
            <a:solidFill>
              <a:srgbClr val="FFFFFF"/>
            </a:solidFill>
            <a:prstDash val="solid"/>
          </a:ln>
        </p:spPr>
      </p:sp>
      <p:sp>
        <p:nvSpPr>
          <p:cNvPr id="69" name="Shape 66"/>
          <p:cNvSpPr/>
          <p:nvPr/>
        </p:nvSpPr>
        <p:spPr>
          <a:xfrm>
            <a:off x="5691241" y="2404872"/>
            <a:ext cx="128016" cy="128016"/>
          </a:xfrm>
          <a:prstGeom prst="ellipse">
            <a:avLst/>
          </a:prstGeom>
          <a:solidFill>
            <a:srgbClr val="007A27"/>
          </a:solidFill>
          <a:ln w="12700">
            <a:solidFill>
              <a:srgbClr val="FFFFFF"/>
            </a:solidFill>
            <a:prstDash val="solid"/>
          </a:ln>
        </p:spPr>
      </p:sp>
      <p:sp>
        <p:nvSpPr>
          <p:cNvPr id="70" name="Shape 67"/>
          <p:cNvSpPr/>
          <p:nvPr/>
        </p:nvSpPr>
        <p:spPr>
          <a:xfrm>
            <a:off x="1033272" y="2606040"/>
            <a:ext cx="2423160" cy="274320"/>
          </a:xfrm>
          <a:prstGeom prst="rect">
            <a:avLst/>
          </a:prstGeom>
          <a:solidFill>
            <a:srgbClr val="F1F3F2">
              <a:alpha val="55000"/>
            </a:srgbClr>
          </a:solidFill>
          <a:ln w="12700">
            <a:solidFill>
              <a:srgbClr val="F1F3F2">
                <a:alpha val="0"/>
              </a:srgbClr>
            </a:solidFill>
            <a:prstDash val="solid"/>
          </a:ln>
        </p:spPr>
      </p:sp>
      <p:sp>
        <p:nvSpPr>
          <p:cNvPr id="71" name="Shape 68"/>
          <p:cNvSpPr/>
          <p:nvPr/>
        </p:nvSpPr>
        <p:spPr>
          <a:xfrm>
            <a:off x="1033272" y="2880360"/>
            <a:ext cx="10536631" cy="0"/>
          </a:xfrm>
          <a:prstGeom prst="line">
            <a:avLst/>
          </a:prstGeom>
          <a:noFill/>
          <a:ln w="4445">
            <a:solidFill>
              <a:srgbClr val="E2E6E2"/>
            </a:solidFill>
            <a:prstDash val="solid"/>
          </a:ln>
        </p:spPr>
      </p:sp>
      <p:sp>
        <p:nvSpPr>
          <p:cNvPr id="72" name="Shape 69"/>
          <p:cNvSpPr/>
          <p:nvPr/>
        </p:nvSpPr>
        <p:spPr>
          <a:xfrm>
            <a:off x="1143000" y="2633472"/>
            <a:ext cx="45720" cy="219456"/>
          </a:xfrm>
          <a:prstGeom prst="roundRect">
            <a:avLst>
              <a:gd name="adj" fmla="val 60000"/>
            </a:avLst>
          </a:prstGeom>
          <a:solidFill>
            <a:srgbClr val="3DCD58"/>
          </a:solidFill>
          <a:ln w="12700">
            <a:solidFill>
              <a:srgbClr val="3DCD58"/>
            </a:solidFill>
            <a:prstDash val="solid"/>
          </a:ln>
        </p:spPr>
      </p:sp>
      <p:sp>
        <p:nvSpPr>
          <p:cNvPr id="73" name="Text 70"/>
          <p:cNvSpPr/>
          <p:nvPr/>
        </p:nvSpPr>
        <p:spPr>
          <a:xfrm>
            <a:off x="1243584" y="259689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RA+ Supply Chain</a:t>
            </a:r>
            <a:endParaRPr lang="en-US" sz="950" dirty="0"/>
          </a:p>
        </p:txBody>
      </p:sp>
      <p:sp>
        <p:nvSpPr>
          <p:cNvPr id="74" name="Shape 71"/>
          <p:cNvSpPr/>
          <p:nvPr/>
        </p:nvSpPr>
        <p:spPr>
          <a:xfrm>
            <a:off x="3456432" y="2696566"/>
            <a:ext cx="338061" cy="93269"/>
          </a:xfrm>
          <a:prstGeom prst="roundRect">
            <a:avLst>
              <a:gd name="adj" fmla="val 39216"/>
            </a:avLst>
          </a:prstGeom>
          <a:solidFill>
            <a:srgbClr val="3DCD58"/>
          </a:solidFill>
          <a:ln w="5080">
            <a:solidFill>
              <a:srgbClr val="3DCD58"/>
            </a:solidFill>
            <a:prstDash val="solid"/>
          </a:ln>
        </p:spPr>
      </p:sp>
      <p:sp>
        <p:nvSpPr>
          <p:cNvPr id="75" name="Shape 72"/>
          <p:cNvSpPr/>
          <p:nvPr/>
        </p:nvSpPr>
        <p:spPr>
          <a:xfrm>
            <a:off x="3794493" y="2696566"/>
            <a:ext cx="7775410" cy="93269"/>
          </a:xfrm>
          <a:prstGeom prst="roundRect">
            <a:avLst>
              <a:gd name="adj" fmla="val 24510"/>
            </a:avLst>
          </a:prstGeom>
          <a:solidFill>
            <a:srgbClr val="3DCD58">
              <a:alpha val="6000"/>
            </a:srgbClr>
          </a:solidFill>
          <a:ln w="6350">
            <a:solidFill>
              <a:srgbClr val="3DCD58">
                <a:alpha val="60000"/>
              </a:srgbClr>
            </a:solidFill>
            <a:prstDash val="solid"/>
          </a:ln>
        </p:spPr>
      </p:sp>
      <p:sp>
        <p:nvSpPr>
          <p:cNvPr id="76" name="Shape 73"/>
          <p:cNvSpPr/>
          <p:nvPr/>
        </p:nvSpPr>
        <p:spPr>
          <a:xfrm>
            <a:off x="3867645" y="2780690"/>
            <a:ext cx="63423" cy="-63423"/>
          </a:xfrm>
          <a:prstGeom prst="line">
            <a:avLst/>
          </a:prstGeom>
          <a:noFill/>
          <a:ln w="9525">
            <a:solidFill>
              <a:srgbClr val="3DCD58">
                <a:alpha val="84000"/>
              </a:srgbClr>
            </a:solidFill>
            <a:prstDash val="solid"/>
          </a:ln>
        </p:spPr>
      </p:sp>
      <p:sp>
        <p:nvSpPr>
          <p:cNvPr id="77" name="Shape 74"/>
          <p:cNvSpPr/>
          <p:nvPr/>
        </p:nvSpPr>
        <p:spPr>
          <a:xfrm>
            <a:off x="4141965" y="2780690"/>
            <a:ext cx="63423" cy="-63423"/>
          </a:xfrm>
          <a:prstGeom prst="line">
            <a:avLst/>
          </a:prstGeom>
          <a:noFill/>
          <a:ln w="9525">
            <a:solidFill>
              <a:srgbClr val="3DCD58">
                <a:alpha val="84000"/>
              </a:srgbClr>
            </a:solidFill>
            <a:prstDash val="solid"/>
          </a:ln>
        </p:spPr>
      </p:sp>
      <p:sp>
        <p:nvSpPr>
          <p:cNvPr id="78" name="Shape 75"/>
          <p:cNvSpPr/>
          <p:nvPr/>
        </p:nvSpPr>
        <p:spPr>
          <a:xfrm>
            <a:off x="4416285" y="2780690"/>
            <a:ext cx="63423" cy="-63423"/>
          </a:xfrm>
          <a:prstGeom prst="line">
            <a:avLst/>
          </a:prstGeom>
          <a:noFill/>
          <a:ln w="9525">
            <a:solidFill>
              <a:srgbClr val="3DCD58">
                <a:alpha val="84000"/>
              </a:srgbClr>
            </a:solidFill>
            <a:prstDash val="solid"/>
          </a:ln>
        </p:spPr>
      </p:sp>
      <p:sp>
        <p:nvSpPr>
          <p:cNvPr id="79" name="Shape 76"/>
          <p:cNvSpPr/>
          <p:nvPr/>
        </p:nvSpPr>
        <p:spPr>
          <a:xfrm>
            <a:off x="4690605" y="2780690"/>
            <a:ext cx="63423" cy="-63423"/>
          </a:xfrm>
          <a:prstGeom prst="line">
            <a:avLst/>
          </a:prstGeom>
          <a:noFill/>
          <a:ln w="9525">
            <a:solidFill>
              <a:srgbClr val="3DCD58">
                <a:alpha val="84000"/>
              </a:srgbClr>
            </a:solidFill>
            <a:prstDash val="solid"/>
          </a:ln>
        </p:spPr>
      </p:sp>
      <p:sp>
        <p:nvSpPr>
          <p:cNvPr id="80" name="Shape 77"/>
          <p:cNvSpPr/>
          <p:nvPr/>
        </p:nvSpPr>
        <p:spPr>
          <a:xfrm>
            <a:off x="4964925" y="2780690"/>
            <a:ext cx="63423" cy="-63423"/>
          </a:xfrm>
          <a:prstGeom prst="line">
            <a:avLst/>
          </a:prstGeom>
          <a:noFill/>
          <a:ln w="9525">
            <a:solidFill>
              <a:srgbClr val="3DCD58">
                <a:alpha val="84000"/>
              </a:srgbClr>
            </a:solidFill>
            <a:prstDash val="solid"/>
          </a:ln>
        </p:spPr>
      </p:sp>
      <p:sp>
        <p:nvSpPr>
          <p:cNvPr id="81" name="Shape 78"/>
          <p:cNvSpPr/>
          <p:nvPr/>
        </p:nvSpPr>
        <p:spPr>
          <a:xfrm>
            <a:off x="5239245" y="2780690"/>
            <a:ext cx="63423" cy="-63423"/>
          </a:xfrm>
          <a:prstGeom prst="line">
            <a:avLst/>
          </a:prstGeom>
          <a:noFill/>
          <a:ln w="9525">
            <a:solidFill>
              <a:srgbClr val="3DCD58">
                <a:alpha val="84000"/>
              </a:srgbClr>
            </a:solidFill>
            <a:prstDash val="solid"/>
          </a:ln>
        </p:spPr>
      </p:sp>
      <p:sp>
        <p:nvSpPr>
          <p:cNvPr id="82" name="Shape 79"/>
          <p:cNvSpPr/>
          <p:nvPr/>
        </p:nvSpPr>
        <p:spPr>
          <a:xfrm>
            <a:off x="5513565" y="2780690"/>
            <a:ext cx="63423" cy="-63423"/>
          </a:xfrm>
          <a:prstGeom prst="line">
            <a:avLst/>
          </a:prstGeom>
          <a:noFill/>
          <a:ln w="9525">
            <a:solidFill>
              <a:srgbClr val="3DCD58">
                <a:alpha val="84000"/>
              </a:srgbClr>
            </a:solidFill>
            <a:prstDash val="solid"/>
          </a:ln>
        </p:spPr>
      </p:sp>
      <p:sp>
        <p:nvSpPr>
          <p:cNvPr id="83" name="Shape 80"/>
          <p:cNvSpPr/>
          <p:nvPr/>
        </p:nvSpPr>
        <p:spPr>
          <a:xfrm>
            <a:off x="5787885" y="2780690"/>
            <a:ext cx="63423" cy="-63423"/>
          </a:xfrm>
          <a:prstGeom prst="line">
            <a:avLst/>
          </a:prstGeom>
          <a:noFill/>
          <a:ln w="9525">
            <a:solidFill>
              <a:srgbClr val="3DCD58">
                <a:alpha val="84000"/>
              </a:srgbClr>
            </a:solidFill>
            <a:prstDash val="solid"/>
          </a:ln>
        </p:spPr>
      </p:sp>
      <p:sp>
        <p:nvSpPr>
          <p:cNvPr id="84" name="Shape 81"/>
          <p:cNvSpPr/>
          <p:nvPr/>
        </p:nvSpPr>
        <p:spPr>
          <a:xfrm>
            <a:off x="6062205" y="2780690"/>
            <a:ext cx="63423" cy="-63423"/>
          </a:xfrm>
          <a:prstGeom prst="line">
            <a:avLst/>
          </a:prstGeom>
          <a:noFill/>
          <a:ln w="9525">
            <a:solidFill>
              <a:srgbClr val="3DCD58">
                <a:alpha val="84000"/>
              </a:srgbClr>
            </a:solidFill>
            <a:prstDash val="solid"/>
          </a:ln>
        </p:spPr>
      </p:sp>
      <p:sp>
        <p:nvSpPr>
          <p:cNvPr id="85" name="Shape 82"/>
          <p:cNvSpPr/>
          <p:nvPr/>
        </p:nvSpPr>
        <p:spPr>
          <a:xfrm>
            <a:off x="6336525" y="2780690"/>
            <a:ext cx="63423" cy="-63423"/>
          </a:xfrm>
          <a:prstGeom prst="line">
            <a:avLst/>
          </a:prstGeom>
          <a:noFill/>
          <a:ln w="9525">
            <a:solidFill>
              <a:srgbClr val="3DCD58">
                <a:alpha val="84000"/>
              </a:srgbClr>
            </a:solidFill>
            <a:prstDash val="solid"/>
          </a:ln>
        </p:spPr>
      </p:sp>
      <p:sp>
        <p:nvSpPr>
          <p:cNvPr id="86" name="Shape 83"/>
          <p:cNvSpPr/>
          <p:nvPr/>
        </p:nvSpPr>
        <p:spPr>
          <a:xfrm>
            <a:off x="6610845" y="2780690"/>
            <a:ext cx="63423" cy="-63423"/>
          </a:xfrm>
          <a:prstGeom prst="line">
            <a:avLst/>
          </a:prstGeom>
          <a:noFill/>
          <a:ln w="9525">
            <a:solidFill>
              <a:srgbClr val="3DCD58">
                <a:alpha val="84000"/>
              </a:srgbClr>
            </a:solidFill>
            <a:prstDash val="solid"/>
          </a:ln>
        </p:spPr>
      </p:sp>
      <p:sp>
        <p:nvSpPr>
          <p:cNvPr id="87" name="Shape 84"/>
          <p:cNvSpPr/>
          <p:nvPr/>
        </p:nvSpPr>
        <p:spPr>
          <a:xfrm>
            <a:off x="6885165" y="2780690"/>
            <a:ext cx="63423" cy="-63423"/>
          </a:xfrm>
          <a:prstGeom prst="line">
            <a:avLst/>
          </a:prstGeom>
          <a:noFill/>
          <a:ln w="9525">
            <a:solidFill>
              <a:srgbClr val="3DCD58">
                <a:alpha val="84000"/>
              </a:srgbClr>
            </a:solidFill>
            <a:prstDash val="solid"/>
          </a:ln>
        </p:spPr>
      </p:sp>
      <p:sp>
        <p:nvSpPr>
          <p:cNvPr id="88" name="Shape 85"/>
          <p:cNvSpPr/>
          <p:nvPr/>
        </p:nvSpPr>
        <p:spPr>
          <a:xfrm>
            <a:off x="7159485" y="2780690"/>
            <a:ext cx="63423" cy="-63423"/>
          </a:xfrm>
          <a:prstGeom prst="line">
            <a:avLst/>
          </a:prstGeom>
          <a:noFill/>
          <a:ln w="9525">
            <a:solidFill>
              <a:srgbClr val="3DCD58">
                <a:alpha val="84000"/>
              </a:srgbClr>
            </a:solidFill>
            <a:prstDash val="solid"/>
          </a:ln>
        </p:spPr>
      </p:sp>
      <p:sp>
        <p:nvSpPr>
          <p:cNvPr id="89" name="Shape 86"/>
          <p:cNvSpPr/>
          <p:nvPr/>
        </p:nvSpPr>
        <p:spPr>
          <a:xfrm>
            <a:off x="7433805" y="2780690"/>
            <a:ext cx="63423" cy="-63423"/>
          </a:xfrm>
          <a:prstGeom prst="line">
            <a:avLst/>
          </a:prstGeom>
          <a:noFill/>
          <a:ln w="9525">
            <a:solidFill>
              <a:srgbClr val="3DCD58">
                <a:alpha val="84000"/>
              </a:srgbClr>
            </a:solidFill>
            <a:prstDash val="solid"/>
          </a:ln>
        </p:spPr>
      </p:sp>
      <p:sp>
        <p:nvSpPr>
          <p:cNvPr id="90" name="Shape 87"/>
          <p:cNvSpPr/>
          <p:nvPr/>
        </p:nvSpPr>
        <p:spPr>
          <a:xfrm>
            <a:off x="7708125" y="2780690"/>
            <a:ext cx="63423" cy="-63423"/>
          </a:xfrm>
          <a:prstGeom prst="line">
            <a:avLst/>
          </a:prstGeom>
          <a:noFill/>
          <a:ln w="9525">
            <a:solidFill>
              <a:srgbClr val="3DCD58">
                <a:alpha val="84000"/>
              </a:srgbClr>
            </a:solidFill>
            <a:prstDash val="solid"/>
          </a:ln>
        </p:spPr>
      </p:sp>
      <p:sp>
        <p:nvSpPr>
          <p:cNvPr id="91" name="Shape 88"/>
          <p:cNvSpPr/>
          <p:nvPr/>
        </p:nvSpPr>
        <p:spPr>
          <a:xfrm>
            <a:off x="7982445" y="2780690"/>
            <a:ext cx="63423" cy="-63423"/>
          </a:xfrm>
          <a:prstGeom prst="line">
            <a:avLst/>
          </a:prstGeom>
          <a:noFill/>
          <a:ln w="9525">
            <a:solidFill>
              <a:srgbClr val="3DCD58">
                <a:alpha val="84000"/>
              </a:srgbClr>
            </a:solidFill>
            <a:prstDash val="solid"/>
          </a:ln>
        </p:spPr>
      </p:sp>
      <p:sp>
        <p:nvSpPr>
          <p:cNvPr id="92" name="Shape 89"/>
          <p:cNvSpPr/>
          <p:nvPr/>
        </p:nvSpPr>
        <p:spPr>
          <a:xfrm>
            <a:off x="8256765" y="2780690"/>
            <a:ext cx="63423" cy="-63423"/>
          </a:xfrm>
          <a:prstGeom prst="line">
            <a:avLst/>
          </a:prstGeom>
          <a:noFill/>
          <a:ln w="9525">
            <a:solidFill>
              <a:srgbClr val="3DCD58">
                <a:alpha val="84000"/>
              </a:srgbClr>
            </a:solidFill>
            <a:prstDash val="solid"/>
          </a:ln>
        </p:spPr>
      </p:sp>
      <p:sp>
        <p:nvSpPr>
          <p:cNvPr id="93" name="Shape 90"/>
          <p:cNvSpPr/>
          <p:nvPr/>
        </p:nvSpPr>
        <p:spPr>
          <a:xfrm>
            <a:off x="8531085" y="2780690"/>
            <a:ext cx="63423" cy="-63423"/>
          </a:xfrm>
          <a:prstGeom prst="line">
            <a:avLst/>
          </a:prstGeom>
          <a:noFill/>
          <a:ln w="9525">
            <a:solidFill>
              <a:srgbClr val="3DCD58">
                <a:alpha val="84000"/>
              </a:srgbClr>
            </a:solidFill>
            <a:prstDash val="solid"/>
          </a:ln>
        </p:spPr>
      </p:sp>
      <p:sp>
        <p:nvSpPr>
          <p:cNvPr id="94" name="Shape 91"/>
          <p:cNvSpPr/>
          <p:nvPr/>
        </p:nvSpPr>
        <p:spPr>
          <a:xfrm>
            <a:off x="8805405" y="2780690"/>
            <a:ext cx="63423" cy="-63423"/>
          </a:xfrm>
          <a:prstGeom prst="line">
            <a:avLst/>
          </a:prstGeom>
          <a:noFill/>
          <a:ln w="9525">
            <a:solidFill>
              <a:srgbClr val="3DCD58">
                <a:alpha val="84000"/>
              </a:srgbClr>
            </a:solidFill>
            <a:prstDash val="solid"/>
          </a:ln>
        </p:spPr>
      </p:sp>
      <p:sp>
        <p:nvSpPr>
          <p:cNvPr id="95" name="Shape 92"/>
          <p:cNvSpPr/>
          <p:nvPr/>
        </p:nvSpPr>
        <p:spPr>
          <a:xfrm>
            <a:off x="9079725" y="2780690"/>
            <a:ext cx="63423" cy="-63423"/>
          </a:xfrm>
          <a:prstGeom prst="line">
            <a:avLst/>
          </a:prstGeom>
          <a:noFill/>
          <a:ln w="9525">
            <a:solidFill>
              <a:srgbClr val="3DCD58">
                <a:alpha val="84000"/>
              </a:srgbClr>
            </a:solidFill>
            <a:prstDash val="solid"/>
          </a:ln>
        </p:spPr>
      </p:sp>
      <p:sp>
        <p:nvSpPr>
          <p:cNvPr id="96" name="Shape 93"/>
          <p:cNvSpPr/>
          <p:nvPr/>
        </p:nvSpPr>
        <p:spPr>
          <a:xfrm>
            <a:off x="9354045" y="2780690"/>
            <a:ext cx="63423" cy="-63423"/>
          </a:xfrm>
          <a:prstGeom prst="line">
            <a:avLst/>
          </a:prstGeom>
          <a:noFill/>
          <a:ln w="9525">
            <a:solidFill>
              <a:srgbClr val="3DCD58">
                <a:alpha val="84000"/>
              </a:srgbClr>
            </a:solidFill>
            <a:prstDash val="solid"/>
          </a:ln>
        </p:spPr>
      </p:sp>
      <p:sp>
        <p:nvSpPr>
          <p:cNvPr id="97" name="Shape 94"/>
          <p:cNvSpPr/>
          <p:nvPr/>
        </p:nvSpPr>
        <p:spPr>
          <a:xfrm>
            <a:off x="9628365" y="2780690"/>
            <a:ext cx="63423" cy="-63423"/>
          </a:xfrm>
          <a:prstGeom prst="line">
            <a:avLst/>
          </a:prstGeom>
          <a:noFill/>
          <a:ln w="9525">
            <a:solidFill>
              <a:srgbClr val="3DCD58">
                <a:alpha val="84000"/>
              </a:srgbClr>
            </a:solidFill>
            <a:prstDash val="solid"/>
          </a:ln>
        </p:spPr>
      </p:sp>
      <p:sp>
        <p:nvSpPr>
          <p:cNvPr id="98" name="Shape 95"/>
          <p:cNvSpPr/>
          <p:nvPr/>
        </p:nvSpPr>
        <p:spPr>
          <a:xfrm>
            <a:off x="9902685" y="2780690"/>
            <a:ext cx="63423" cy="-63423"/>
          </a:xfrm>
          <a:prstGeom prst="line">
            <a:avLst/>
          </a:prstGeom>
          <a:noFill/>
          <a:ln w="9525">
            <a:solidFill>
              <a:srgbClr val="3DCD58">
                <a:alpha val="84000"/>
              </a:srgbClr>
            </a:solidFill>
            <a:prstDash val="solid"/>
          </a:ln>
        </p:spPr>
      </p:sp>
      <p:sp>
        <p:nvSpPr>
          <p:cNvPr id="99" name="Shape 96"/>
          <p:cNvSpPr/>
          <p:nvPr/>
        </p:nvSpPr>
        <p:spPr>
          <a:xfrm>
            <a:off x="10177005" y="2780690"/>
            <a:ext cx="63423" cy="-63423"/>
          </a:xfrm>
          <a:prstGeom prst="line">
            <a:avLst/>
          </a:prstGeom>
          <a:noFill/>
          <a:ln w="9525">
            <a:solidFill>
              <a:srgbClr val="3DCD58">
                <a:alpha val="84000"/>
              </a:srgbClr>
            </a:solidFill>
            <a:prstDash val="solid"/>
          </a:ln>
        </p:spPr>
      </p:sp>
      <p:sp>
        <p:nvSpPr>
          <p:cNvPr id="100" name="Shape 97"/>
          <p:cNvSpPr/>
          <p:nvPr/>
        </p:nvSpPr>
        <p:spPr>
          <a:xfrm>
            <a:off x="10451325" y="2780690"/>
            <a:ext cx="63423" cy="-63423"/>
          </a:xfrm>
          <a:prstGeom prst="line">
            <a:avLst/>
          </a:prstGeom>
          <a:noFill/>
          <a:ln w="9525">
            <a:solidFill>
              <a:srgbClr val="3DCD58">
                <a:alpha val="84000"/>
              </a:srgbClr>
            </a:solidFill>
            <a:prstDash val="solid"/>
          </a:ln>
        </p:spPr>
      </p:sp>
      <p:sp>
        <p:nvSpPr>
          <p:cNvPr id="101" name="Shape 98"/>
          <p:cNvSpPr/>
          <p:nvPr/>
        </p:nvSpPr>
        <p:spPr>
          <a:xfrm>
            <a:off x="10725645" y="2780690"/>
            <a:ext cx="63423" cy="-63423"/>
          </a:xfrm>
          <a:prstGeom prst="line">
            <a:avLst/>
          </a:prstGeom>
          <a:noFill/>
          <a:ln w="9525">
            <a:solidFill>
              <a:srgbClr val="3DCD58">
                <a:alpha val="84000"/>
              </a:srgbClr>
            </a:solidFill>
            <a:prstDash val="solid"/>
          </a:ln>
        </p:spPr>
      </p:sp>
      <p:sp>
        <p:nvSpPr>
          <p:cNvPr id="102" name="Shape 99"/>
          <p:cNvSpPr/>
          <p:nvPr/>
        </p:nvSpPr>
        <p:spPr>
          <a:xfrm>
            <a:off x="10999965" y="2780690"/>
            <a:ext cx="63423" cy="-63423"/>
          </a:xfrm>
          <a:prstGeom prst="line">
            <a:avLst/>
          </a:prstGeom>
          <a:noFill/>
          <a:ln w="9525">
            <a:solidFill>
              <a:srgbClr val="3DCD58">
                <a:alpha val="84000"/>
              </a:srgbClr>
            </a:solidFill>
            <a:prstDash val="solid"/>
          </a:ln>
        </p:spPr>
      </p:sp>
      <p:sp>
        <p:nvSpPr>
          <p:cNvPr id="103" name="Shape 100"/>
          <p:cNvSpPr/>
          <p:nvPr/>
        </p:nvSpPr>
        <p:spPr>
          <a:xfrm>
            <a:off x="11274285" y="2780690"/>
            <a:ext cx="63423" cy="-63423"/>
          </a:xfrm>
          <a:prstGeom prst="line">
            <a:avLst/>
          </a:prstGeom>
          <a:noFill/>
          <a:ln w="9525">
            <a:solidFill>
              <a:srgbClr val="3DCD58">
                <a:alpha val="84000"/>
              </a:srgbClr>
            </a:solidFill>
            <a:prstDash val="solid"/>
          </a:ln>
        </p:spPr>
      </p:sp>
      <p:sp>
        <p:nvSpPr>
          <p:cNvPr id="104" name="Shape 101"/>
          <p:cNvSpPr/>
          <p:nvPr/>
        </p:nvSpPr>
        <p:spPr>
          <a:xfrm>
            <a:off x="3730485" y="2679192"/>
            <a:ext cx="128016" cy="128016"/>
          </a:xfrm>
          <a:prstGeom prst="ellipse">
            <a:avLst/>
          </a:prstGeom>
          <a:solidFill>
            <a:srgbClr val="007A27"/>
          </a:solidFill>
          <a:ln w="12700">
            <a:solidFill>
              <a:srgbClr val="FFFFFF"/>
            </a:solidFill>
            <a:prstDash val="solid"/>
          </a:ln>
        </p:spPr>
      </p:sp>
      <p:sp>
        <p:nvSpPr>
          <p:cNvPr id="105" name="Shape 102"/>
          <p:cNvSpPr/>
          <p:nvPr/>
        </p:nvSpPr>
        <p:spPr>
          <a:xfrm>
            <a:off x="1033272" y="3154680"/>
            <a:ext cx="10536631" cy="0"/>
          </a:xfrm>
          <a:prstGeom prst="line">
            <a:avLst/>
          </a:prstGeom>
          <a:noFill/>
          <a:ln w="4445">
            <a:solidFill>
              <a:srgbClr val="E2E6E2"/>
            </a:solidFill>
            <a:prstDash val="solid"/>
          </a:ln>
        </p:spPr>
      </p:sp>
      <p:sp>
        <p:nvSpPr>
          <p:cNvPr id="106" name="Shape 103"/>
          <p:cNvSpPr/>
          <p:nvPr/>
        </p:nvSpPr>
        <p:spPr>
          <a:xfrm>
            <a:off x="1143000" y="2907792"/>
            <a:ext cx="45720" cy="219456"/>
          </a:xfrm>
          <a:prstGeom prst="roundRect">
            <a:avLst>
              <a:gd name="adj" fmla="val 60000"/>
            </a:avLst>
          </a:prstGeom>
          <a:solidFill>
            <a:srgbClr val="3DCD58"/>
          </a:solidFill>
          <a:ln w="12700">
            <a:solidFill>
              <a:srgbClr val="3DCD58"/>
            </a:solidFill>
            <a:prstDash val="solid"/>
          </a:ln>
        </p:spPr>
      </p:sp>
      <p:sp>
        <p:nvSpPr>
          <p:cNvPr id="107" name="Text 104"/>
          <p:cNvSpPr/>
          <p:nvPr/>
        </p:nvSpPr>
        <p:spPr>
          <a:xfrm>
            <a:off x="1243584" y="287121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RA+ Climate Risk</a:t>
            </a:r>
            <a:endParaRPr lang="en-US" sz="950" dirty="0"/>
          </a:p>
        </p:txBody>
      </p:sp>
      <p:sp>
        <p:nvSpPr>
          <p:cNvPr id="108" name="Shape 105"/>
          <p:cNvSpPr/>
          <p:nvPr/>
        </p:nvSpPr>
        <p:spPr>
          <a:xfrm>
            <a:off x="3456432" y="2970886"/>
            <a:ext cx="2839715" cy="93269"/>
          </a:xfrm>
          <a:prstGeom prst="roundRect">
            <a:avLst>
              <a:gd name="adj" fmla="val 39216"/>
            </a:avLst>
          </a:prstGeom>
          <a:solidFill>
            <a:srgbClr val="3DCD58"/>
          </a:solidFill>
          <a:ln w="5080">
            <a:solidFill>
              <a:srgbClr val="3DCD58"/>
            </a:solidFill>
            <a:prstDash val="solid"/>
          </a:ln>
        </p:spPr>
      </p:sp>
      <p:sp>
        <p:nvSpPr>
          <p:cNvPr id="109" name="Shape 106"/>
          <p:cNvSpPr/>
          <p:nvPr/>
        </p:nvSpPr>
        <p:spPr>
          <a:xfrm>
            <a:off x="6296147" y="2970886"/>
            <a:ext cx="5273756" cy="93269"/>
          </a:xfrm>
          <a:prstGeom prst="roundRect">
            <a:avLst>
              <a:gd name="adj" fmla="val 24510"/>
            </a:avLst>
          </a:prstGeom>
          <a:solidFill>
            <a:srgbClr val="3DCD58">
              <a:alpha val="6000"/>
            </a:srgbClr>
          </a:solidFill>
          <a:ln w="6350">
            <a:solidFill>
              <a:srgbClr val="3DCD58">
                <a:alpha val="60000"/>
              </a:srgbClr>
            </a:solidFill>
            <a:prstDash val="solid"/>
          </a:ln>
        </p:spPr>
      </p:sp>
      <p:sp>
        <p:nvSpPr>
          <p:cNvPr id="110" name="Shape 107"/>
          <p:cNvSpPr/>
          <p:nvPr/>
        </p:nvSpPr>
        <p:spPr>
          <a:xfrm>
            <a:off x="6369299" y="3055010"/>
            <a:ext cx="63423" cy="-63423"/>
          </a:xfrm>
          <a:prstGeom prst="line">
            <a:avLst/>
          </a:prstGeom>
          <a:noFill/>
          <a:ln w="9525">
            <a:solidFill>
              <a:srgbClr val="3DCD58">
                <a:alpha val="84000"/>
              </a:srgbClr>
            </a:solidFill>
            <a:prstDash val="solid"/>
          </a:ln>
        </p:spPr>
      </p:sp>
      <p:sp>
        <p:nvSpPr>
          <p:cNvPr id="111" name="Shape 108"/>
          <p:cNvSpPr/>
          <p:nvPr/>
        </p:nvSpPr>
        <p:spPr>
          <a:xfrm>
            <a:off x="6643619" y="3055010"/>
            <a:ext cx="63423" cy="-63423"/>
          </a:xfrm>
          <a:prstGeom prst="line">
            <a:avLst/>
          </a:prstGeom>
          <a:noFill/>
          <a:ln w="9525">
            <a:solidFill>
              <a:srgbClr val="3DCD58">
                <a:alpha val="84000"/>
              </a:srgbClr>
            </a:solidFill>
            <a:prstDash val="solid"/>
          </a:ln>
        </p:spPr>
      </p:sp>
      <p:sp>
        <p:nvSpPr>
          <p:cNvPr id="112" name="Shape 109"/>
          <p:cNvSpPr/>
          <p:nvPr/>
        </p:nvSpPr>
        <p:spPr>
          <a:xfrm>
            <a:off x="6917939" y="3055010"/>
            <a:ext cx="63423" cy="-63423"/>
          </a:xfrm>
          <a:prstGeom prst="line">
            <a:avLst/>
          </a:prstGeom>
          <a:noFill/>
          <a:ln w="9525">
            <a:solidFill>
              <a:srgbClr val="3DCD58">
                <a:alpha val="84000"/>
              </a:srgbClr>
            </a:solidFill>
            <a:prstDash val="solid"/>
          </a:ln>
        </p:spPr>
      </p:sp>
      <p:sp>
        <p:nvSpPr>
          <p:cNvPr id="113" name="Shape 110"/>
          <p:cNvSpPr/>
          <p:nvPr/>
        </p:nvSpPr>
        <p:spPr>
          <a:xfrm>
            <a:off x="7192259" y="3055010"/>
            <a:ext cx="63423" cy="-63423"/>
          </a:xfrm>
          <a:prstGeom prst="line">
            <a:avLst/>
          </a:prstGeom>
          <a:noFill/>
          <a:ln w="9525">
            <a:solidFill>
              <a:srgbClr val="3DCD58">
                <a:alpha val="84000"/>
              </a:srgbClr>
            </a:solidFill>
            <a:prstDash val="solid"/>
          </a:ln>
        </p:spPr>
      </p:sp>
      <p:sp>
        <p:nvSpPr>
          <p:cNvPr id="114" name="Shape 111"/>
          <p:cNvSpPr/>
          <p:nvPr/>
        </p:nvSpPr>
        <p:spPr>
          <a:xfrm>
            <a:off x="7466579" y="3055010"/>
            <a:ext cx="63423" cy="-63423"/>
          </a:xfrm>
          <a:prstGeom prst="line">
            <a:avLst/>
          </a:prstGeom>
          <a:noFill/>
          <a:ln w="9525">
            <a:solidFill>
              <a:srgbClr val="3DCD58">
                <a:alpha val="84000"/>
              </a:srgbClr>
            </a:solidFill>
            <a:prstDash val="solid"/>
          </a:ln>
        </p:spPr>
      </p:sp>
      <p:sp>
        <p:nvSpPr>
          <p:cNvPr id="115" name="Shape 112"/>
          <p:cNvSpPr/>
          <p:nvPr/>
        </p:nvSpPr>
        <p:spPr>
          <a:xfrm>
            <a:off x="7740899" y="3055010"/>
            <a:ext cx="63423" cy="-63423"/>
          </a:xfrm>
          <a:prstGeom prst="line">
            <a:avLst/>
          </a:prstGeom>
          <a:noFill/>
          <a:ln w="9525">
            <a:solidFill>
              <a:srgbClr val="3DCD58">
                <a:alpha val="84000"/>
              </a:srgbClr>
            </a:solidFill>
            <a:prstDash val="solid"/>
          </a:ln>
        </p:spPr>
      </p:sp>
      <p:sp>
        <p:nvSpPr>
          <p:cNvPr id="116" name="Shape 113"/>
          <p:cNvSpPr/>
          <p:nvPr/>
        </p:nvSpPr>
        <p:spPr>
          <a:xfrm>
            <a:off x="8015219" y="3055010"/>
            <a:ext cx="63423" cy="-63423"/>
          </a:xfrm>
          <a:prstGeom prst="line">
            <a:avLst/>
          </a:prstGeom>
          <a:noFill/>
          <a:ln w="9525">
            <a:solidFill>
              <a:srgbClr val="3DCD58">
                <a:alpha val="84000"/>
              </a:srgbClr>
            </a:solidFill>
            <a:prstDash val="solid"/>
          </a:ln>
        </p:spPr>
      </p:sp>
      <p:sp>
        <p:nvSpPr>
          <p:cNvPr id="117" name="Shape 114"/>
          <p:cNvSpPr/>
          <p:nvPr/>
        </p:nvSpPr>
        <p:spPr>
          <a:xfrm>
            <a:off x="8289539" y="3055010"/>
            <a:ext cx="63423" cy="-63423"/>
          </a:xfrm>
          <a:prstGeom prst="line">
            <a:avLst/>
          </a:prstGeom>
          <a:noFill/>
          <a:ln w="9525">
            <a:solidFill>
              <a:srgbClr val="3DCD58">
                <a:alpha val="84000"/>
              </a:srgbClr>
            </a:solidFill>
            <a:prstDash val="solid"/>
          </a:ln>
        </p:spPr>
      </p:sp>
      <p:sp>
        <p:nvSpPr>
          <p:cNvPr id="118" name="Shape 115"/>
          <p:cNvSpPr/>
          <p:nvPr/>
        </p:nvSpPr>
        <p:spPr>
          <a:xfrm>
            <a:off x="8563859" y="3055010"/>
            <a:ext cx="63423" cy="-63423"/>
          </a:xfrm>
          <a:prstGeom prst="line">
            <a:avLst/>
          </a:prstGeom>
          <a:noFill/>
          <a:ln w="9525">
            <a:solidFill>
              <a:srgbClr val="3DCD58">
                <a:alpha val="84000"/>
              </a:srgbClr>
            </a:solidFill>
            <a:prstDash val="solid"/>
          </a:ln>
        </p:spPr>
      </p:sp>
      <p:sp>
        <p:nvSpPr>
          <p:cNvPr id="119" name="Shape 116"/>
          <p:cNvSpPr/>
          <p:nvPr/>
        </p:nvSpPr>
        <p:spPr>
          <a:xfrm>
            <a:off x="8838179" y="3055010"/>
            <a:ext cx="63423" cy="-63423"/>
          </a:xfrm>
          <a:prstGeom prst="line">
            <a:avLst/>
          </a:prstGeom>
          <a:noFill/>
          <a:ln w="9525">
            <a:solidFill>
              <a:srgbClr val="3DCD58">
                <a:alpha val="84000"/>
              </a:srgbClr>
            </a:solidFill>
            <a:prstDash val="solid"/>
          </a:ln>
        </p:spPr>
      </p:sp>
      <p:sp>
        <p:nvSpPr>
          <p:cNvPr id="120" name="Shape 117"/>
          <p:cNvSpPr/>
          <p:nvPr/>
        </p:nvSpPr>
        <p:spPr>
          <a:xfrm>
            <a:off x="9112499" y="3055010"/>
            <a:ext cx="63423" cy="-63423"/>
          </a:xfrm>
          <a:prstGeom prst="line">
            <a:avLst/>
          </a:prstGeom>
          <a:noFill/>
          <a:ln w="9525">
            <a:solidFill>
              <a:srgbClr val="3DCD58">
                <a:alpha val="84000"/>
              </a:srgbClr>
            </a:solidFill>
            <a:prstDash val="solid"/>
          </a:ln>
        </p:spPr>
      </p:sp>
      <p:sp>
        <p:nvSpPr>
          <p:cNvPr id="121" name="Shape 118"/>
          <p:cNvSpPr/>
          <p:nvPr/>
        </p:nvSpPr>
        <p:spPr>
          <a:xfrm>
            <a:off x="9386819" y="3055010"/>
            <a:ext cx="63423" cy="-63423"/>
          </a:xfrm>
          <a:prstGeom prst="line">
            <a:avLst/>
          </a:prstGeom>
          <a:noFill/>
          <a:ln w="9525">
            <a:solidFill>
              <a:srgbClr val="3DCD58">
                <a:alpha val="84000"/>
              </a:srgbClr>
            </a:solidFill>
            <a:prstDash val="solid"/>
          </a:ln>
        </p:spPr>
      </p:sp>
      <p:sp>
        <p:nvSpPr>
          <p:cNvPr id="122" name="Shape 119"/>
          <p:cNvSpPr/>
          <p:nvPr/>
        </p:nvSpPr>
        <p:spPr>
          <a:xfrm>
            <a:off x="9661139" y="3055010"/>
            <a:ext cx="63423" cy="-63423"/>
          </a:xfrm>
          <a:prstGeom prst="line">
            <a:avLst/>
          </a:prstGeom>
          <a:noFill/>
          <a:ln w="9525">
            <a:solidFill>
              <a:srgbClr val="3DCD58">
                <a:alpha val="84000"/>
              </a:srgbClr>
            </a:solidFill>
            <a:prstDash val="solid"/>
          </a:ln>
        </p:spPr>
      </p:sp>
      <p:sp>
        <p:nvSpPr>
          <p:cNvPr id="123" name="Shape 120"/>
          <p:cNvSpPr/>
          <p:nvPr/>
        </p:nvSpPr>
        <p:spPr>
          <a:xfrm>
            <a:off x="9935459" y="3055010"/>
            <a:ext cx="63423" cy="-63423"/>
          </a:xfrm>
          <a:prstGeom prst="line">
            <a:avLst/>
          </a:prstGeom>
          <a:noFill/>
          <a:ln w="9525">
            <a:solidFill>
              <a:srgbClr val="3DCD58">
                <a:alpha val="84000"/>
              </a:srgbClr>
            </a:solidFill>
            <a:prstDash val="solid"/>
          </a:ln>
        </p:spPr>
      </p:sp>
      <p:sp>
        <p:nvSpPr>
          <p:cNvPr id="124" name="Shape 121"/>
          <p:cNvSpPr/>
          <p:nvPr/>
        </p:nvSpPr>
        <p:spPr>
          <a:xfrm>
            <a:off x="10209779" y="3055010"/>
            <a:ext cx="63423" cy="-63423"/>
          </a:xfrm>
          <a:prstGeom prst="line">
            <a:avLst/>
          </a:prstGeom>
          <a:noFill/>
          <a:ln w="9525">
            <a:solidFill>
              <a:srgbClr val="3DCD58">
                <a:alpha val="84000"/>
              </a:srgbClr>
            </a:solidFill>
            <a:prstDash val="solid"/>
          </a:ln>
        </p:spPr>
      </p:sp>
      <p:sp>
        <p:nvSpPr>
          <p:cNvPr id="125" name="Shape 122"/>
          <p:cNvSpPr/>
          <p:nvPr/>
        </p:nvSpPr>
        <p:spPr>
          <a:xfrm>
            <a:off x="10484099" y="3055010"/>
            <a:ext cx="63423" cy="-63423"/>
          </a:xfrm>
          <a:prstGeom prst="line">
            <a:avLst/>
          </a:prstGeom>
          <a:noFill/>
          <a:ln w="9525">
            <a:solidFill>
              <a:srgbClr val="3DCD58">
                <a:alpha val="84000"/>
              </a:srgbClr>
            </a:solidFill>
            <a:prstDash val="solid"/>
          </a:ln>
        </p:spPr>
      </p:sp>
      <p:sp>
        <p:nvSpPr>
          <p:cNvPr id="126" name="Shape 123"/>
          <p:cNvSpPr/>
          <p:nvPr/>
        </p:nvSpPr>
        <p:spPr>
          <a:xfrm>
            <a:off x="10758419" y="3055010"/>
            <a:ext cx="63423" cy="-63423"/>
          </a:xfrm>
          <a:prstGeom prst="line">
            <a:avLst/>
          </a:prstGeom>
          <a:noFill/>
          <a:ln w="9525">
            <a:solidFill>
              <a:srgbClr val="3DCD58">
                <a:alpha val="84000"/>
              </a:srgbClr>
            </a:solidFill>
            <a:prstDash val="solid"/>
          </a:ln>
        </p:spPr>
      </p:sp>
      <p:sp>
        <p:nvSpPr>
          <p:cNvPr id="127" name="Shape 124"/>
          <p:cNvSpPr/>
          <p:nvPr/>
        </p:nvSpPr>
        <p:spPr>
          <a:xfrm>
            <a:off x="11032739" y="3055010"/>
            <a:ext cx="63423" cy="-63423"/>
          </a:xfrm>
          <a:prstGeom prst="line">
            <a:avLst/>
          </a:prstGeom>
          <a:noFill/>
          <a:ln w="9525">
            <a:solidFill>
              <a:srgbClr val="3DCD58">
                <a:alpha val="84000"/>
              </a:srgbClr>
            </a:solidFill>
            <a:prstDash val="solid"/>
          </a:ln>
        </p:spPr>
      </p:sp>
      <p:sp>
        <p:nvSpPr>
          <p:cNvPr id="128" name="Shape 125"/>
          <p:cNvSpPr/>
          <p:nvPr/>
        </p:nvSpPr>
        <p:spPr>
          <a:xfrm>
            <a:off x="11307059" y="3055010"/>
            <a:ext cx="63423" cy="-63423"/>
          </a:xfrm>
          <a:prstGeom prst="line">
            <a:avLst/>
          </a:prstGeom>
          <a:noFill/>
          <a:ln w="9525">
            <a:solidFill>
              <a:srgbClr val="3DCD58">
                <a:alpha val="84000"/>
              </a:srgbClr>
            </a:solidFill>
            <a:prstDash val="solid"/>
          </a:ln>
        </p:spPr>
      </p:sp>
      <p:sp>
        <p:nvSpPr>
          <p:cNvPr id="129" name="Shape 126"/>
          <p:cNvSpPr/>
          <p:nvPr/>
        </p:nvSpPr>
        <p:spPr>
          <a:xfrm>
            <a:off x="4338996" y="2953512"/>
            <a:ext cx="128016" cy="128016"/>
          </a:xfrm>
          <a:prstGeom prst="ellipse">
            <a:avLst/>
          </a:prstGeom>
          <a:solidFill>
            <a:srgbClr val="FFB04C"/>
          </a:solidFill>
          <a:ln w="12700">
            <a:solidFill>
              <a:srgbClr val="FFFFFF"/>
            </a:solidFill>
            <a:prstDash val="solid"/>
          </a:ln>
        </p:spPr>
      </p:sp>
      <p:sp>
        <p:nvSpPr>
          <p:cNvPr id="130" name="Shape 127"/>
          <p:cNvSpPr/>
          <p:nvPr/>
        </p:nvSpPr>
        <p:spPr>
          <a:xfrm>
            <a:off x="6232139" y="2953512"/>
            <a:ext cx="128016" cy="128016"/>
          </a:xfrm>
          <a:prstGeom prst="ellipse">
            <a:avLst/>
          </a:prstGeom>
          <a:solidFill>
            <a:srgbClr val="007A27"/>
          </a:solidFill>
          <a:ln w="12700">
            <a:solidFill>
              <a:srgbClr val="FFFFFF"/>
            </a:solidFill>
            <a:prstDash val="solid"/>
          </a:ln>
        </p:spPr>
      </p:sp>
      <p:sp>
        <p:nvSpPr>
          <p:cNvPr id="131" name="Shape 128"/>
          <p:cNvSpPr/>
          <p:nvPr/>
        </p:nvSpPr>
        <p:spPr>
          <a:xfrm>
            <a:off x="1033272" y="3154680"/>
            <a:ext cx="2423160" cy="274320"/>
          </a:xfrm>
          <a:prstGeom prst="rect">
            <a:avLst/>
          </a:prstGeom>
          <a:solidFill>
            <a:srgbClr val="F1F3F2">
              <a:alpha val="55000"/>
            </a:srgbClr>
          </a:solidFill>
          <a:ln w="12700">
            <a:solidFill>
              <a:srgbClr val="F1F3F2">
                <a:alpha val="0"/>
              </a:srgbClr>
            </a:solidFill>
            <a:prstDash val="solid"/>
          </a:ln>
        </p:spPr>
      </p:sp>
      <p:sp>
        <p:nvSpPr>
          <p:cNvPr id="132" name="Shape 129"/>
          <p:cNvSpPr/>
          <p:nvPr/>
        </p:nvSpPr>
        <p:spPr>
          <a:xfrm>
            <a:off x="1033272" y="3429000"/>
            <a:ext cx="10536631" cy="0"/>
          </a:xfrm>
          <a:prstGeom prst="line">
            <a:avLst/>
          </a:prstGeom>
          <a:noFill/>
          <a:ln w="4445">
            <a:solidFill>
              <a:srgbClr val="E2E6E2"/>
            </a:solidFill>
            <a:prstDash val="solid"/>
          </a:ln>
        </p:spPr>
      </p:sp>
      <p:sp>
        <p:nvSpPr>
          <p:cNvPr id="133" name="Shape 130"/>
          <p:cNvSpPr/>
          <p:nvPr/>
        </p:nvSpPr>
        <p:spPr>
          <a:xfrm>
            <a:off x="1143000" y="3182112"/>
            <a:ext cx="45720" cy="219456"/>
          </a:xfrm>
          <a:prstGeom prst="roundRect">
            <a:avLst>
              <a:gd name="adj" fmla="val 60000"/>
            </a:avLst>
          </a:prstGeom>
          <a:solidFill>
            <a:srgbClr val="3DCD58"/>
          </a:solidFill>
          <a:ln w="12700">
            <a:solidFill>
              <a:srgbClr val="3DCD58"/>
            </a:solidFill>
            <a:prstDash val="solid"/>
          </a:ln>
        </p:spPr>
      </p:sp>
      <p:sp>
        <p:nvSpPr>
          <p:cNvPr id="134" name="Text 131"/>
          <p:cNvSpPr/>
          <p:nvPr/>
        </p:nvSpPr>
        <p:spPr>
          <a:xfrm>
            <a:off x="1243584" y="314553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RA+ Reporting &amp; Compliance</a:t>
            </a:r>
            <a:endParaRPr lang="en-US" sz="950" dirty="0"/>
          </a:p>
        </p:txBody>
      </p:sp>
      <p:sp>
        <p:nvSpPr>
          <p:cNvPr id="135" name="Shape 132"/>
          <p:cNvSpPr/>
          <p:nvPr/>
        </p:nvSpPr>
        <p:spPr>
          <a:xfrm>
            <a:off x="4132555" y="3245206"/>
            <a:ext cx="2974939" cy="93269"/>
          </a:xfrm>
          <a:prstGeom prst="roundRect">
            <a:avLst>
              <a:gd name="adj" fmla="val 39216"/>
            </a:avLst>
          </a:prstGeom>
          <a:solidFill>
            <a:srgbClr val="3DCD58"/>
          </a:solidFill>
          <a:ln w="5080">
            <a:solidFill>
              <a:srgbClr val="3DCD58"/>
            </a:solidFill>
            <a:prstDash val="solid"/>
          </a:ln>
        </p:spPr>
      </p:sp>
      <p:sp>
        <p:nvSpPr>
          <p:cNvPr id="136" name="Shape 133"/>
          <p:cNvSpPr/>
          <p:nvPr/>
        </p:nvSpPr>
        <p:spPr>
          <a:xfrm>
            <a:off x="7107494" y="3245206"/>
            <a:ext cx="4462409" cy="93269"/>
          </a:xfrm>
          <a:prstGeom prst="roundRect">
            <a:avLst>
              <a:gd name="adj" fmla="val 24510"/>
            </a:avLst>
          </a:prstGeom>
          <a:solidFill>
            <a:srgbClr val="3DCD58">
              <a:alpha val="6000"/>
            </a:srgbClr>
          </a:solidFill>
          <a:ln w="6350">
            <a:solidFill>
              <a:srgbClr val="3DCD58">
                <a:alpha val="60000"/>
              </a:srgbClr>
            </a:solidFill>
            <a:prstDash val="solid"/>
          </a:ln>
        </p:spPr>
      </p:sp>
      <p:sp>
        <p:nvSpPr>
          <p:cNvPr id="137" name="Shape 134"/>
          <p:cNvSpPr/>
          <p:nvPr/>
        </p:nvSpPr>
        <p:spPr>
          <a:xfrm>
            <a:off x="7180646" y="3329330"/>
            <a:ext cx="63423" cy="-63423"/>
          </a:xfrm>
          <a:prstGeom prst="line">
            <a:avLst/>
          </a:prstGeom>
          <a:noFill/>
          <a:ln w="9525">
            <a:solidFill>
              <a:srgbClr val="3DCD58">
                <a:alpha val="84000"/>
              </a:srgbClr>
            </a:solidFill>
            <a:prstDash val="solid"/>
          </a:ln>
        </p:spPr>
      </p:sp>
      <p:sp>
        <p:nvSpPr>
          <p:cNvPr id="138" name="Shape 135"/>
          <p:cNvSpPr/>
          <p:nvPr/>
        </p:nvSpPr>
        <p:spPr>
          <a:xfrm>
            <a:off x="7454966" y="3329330"/>
            <a:ext cx="63423" cy="-63423"/>
          </a:xfrm>
          <a:prstGeom prst="line">
            <a:avLst/>
          </a:prstGeom>
          <a:noFill/>
          <a:ln w="9525">
            <a:solidFill>
              <a:srgbClr val="3DCD58">
                <a:alpha val="84000"/>
              </a:srgbClr>
            </a:solidFill>
            <a:prstDash val="solid"/>
          </a:ln>
        </p:spPr>
      </p:sp>
      <p:sp>
        <p:nvSpPr>
          <p:cNvPr id="139" name="Shape 136"/>
          <p:cNvSpPr/>
          <p:nvPr/>
        </p:nvSpPr>
        <p:spPr>
          <a:xfrm>
            <a:off x="7729286" y="3329330"/>
            <a:ext cx="63423" cy="-63423"/>
          </a:xfrm>
          <a:prstGeom prst="line">
            <a:avLst/>
          </a:prstGeom>
          <a:noFill/>
          <a:ln w="9525">
            <a:solidFill>
              <a:srgbClr val="3DCD58">
                <a:alpha val="84000"/>
              </a:srgbClr>
            </a:solidFill>
            <a:prstDash val="solid"/>
          </a:ln>
        </p:spPr>
      </p:sp>
      <p:sp>
        <p:nvSpPr>
          <p:cNvPr id="140" name="Shape 137"/>
          <p:cNvSpPr/>
          <p:nvPr/>
        </p:nvSpPr>
        <p:spPr>
          <a:xfrm>
            <a:off x="8003606" y="3329330"/>
            <a:ext cx="63423" cy="-63423"/>
          </a:xfrm>
          <a:prstGeom prst="line">
            <a:avLst/>
          </a:prstGeom>
          <a:noFill/>
          <a:ln w="9525">
            <a:solidFill>
              <a:srgbClr val="3DCD58">
                <a:alpha val="84000"/>
              </a:srgbClr>
            </a:solidFill>
            <a:prstDash val="solid"/>
          </a:ln>
        </p:spPr>
      </p:sp>
      <p:sp>
        <p:nvSpPr>
          <p:cNvPr id="141" name="Shape 138"/>
          <p:cNvSpPr/>
          <p:nvPr/>
        </p:nvSpPr>
        <p:spPr>
          <a:xfrm>
            <a:off x="8277926" y="3329330"/>
            <a:ext cx="63423" cy="-63423"/>
          </a:xfrm>
          <a:prstGeom prst="line">
            <a:avLst/>
          </a:prstGeom>
          <a:noFill/>
          <a:ln w="9525">
            <a:solidFill>
              <a:srgbClr val="3DCD58">
                <a:alpha val="84000"/>
              </a:srgbClr>
            </a:solidFill>
            <a:prstDash val="solid"/>
          </a:ln>
        </p:spPr>
      </p:sp>
      <p:sp>
        <p:nvSpPr>
          <p:cNvPr id="142" name="Shape 139"/>
          <p:cNvSpPr/>
          <p:nvPr/>
        </p:nvSpPr>
        <p:spPr>
          <a:xfrm>
            <a:off x="8552246" y="3329330"/>
            <a:ext cx="63423" cy="-63423"/>
          </a:xfrm>
          <a:prstGeom prst="line">
            <a:avLst/>
          </a:prstGeom>
          <a:noFill/>
          <a:ln w="9525">
            <a:solidFill>
              <a:srgbClr val="3DCD58">
                <a:alpha val="84000"/>
              </a:srgbClr>
            </a:solidFill>
            <a:prstDash val="solid"/>
          </a:ln>
        </p:spPr>
      </p:sp>
      <p:sp>
        <p:nvSpPr>
          <p:cNvPr id="143" name="Shape 140"/>
          <p:cNvSpPr/>
          <p:nvPr/>
        </p:nvSpPr>
        <p:spPr>
          <a:xfrm>
            <a:off x="8826566" y="3329330"/>
            <a:ext cx="63423" cy="-63423"/>
          </a:xfrm>
          <a:prstGeom prst="line">
            <a:avLst/>
          </a:prstGeom>
          <a:noFill/>
          <a:ln w="9525">
            <a:solidFill>
              <a:srgbClr val="3DCD58">
                <a:alpha val="84000"/>
              </a:srgbClr>
            </a:solidFill>
            <a:prstDash val="solid"/>
          </a:ln>
        </p:spPr>
      </p:sp>
      <p:sp>
        <p:nvSpPr>
          <p:cNvPr id="144" name="Shape 141"/>
          <p:cNvSpPr/>
          <p:nvPr/>
        </p:nvSpPr>
        <p:spPr>
          <a:xfrm>
            <a:off x="9100886" y="3329330"/>
            <a:ext cx="63423" cy="-63423"/>
          </a:xfrm>
          <a:prstGeom prst="line">
            <a:avLst/>
          </a:prstGeom>
          <a:noFill/>
          <a:ln w="9525">
            <a:solidFill>
              <a:srgbClr val="3DCD58">
                <a:alpha val="84000"/>
              </a:srgbClr>
            </a:solidFill>
            <a:prstDash val="solid"/>
          </a:ln>
        </p:spPr>
      </p:sp>
      <p:sp>
        <p:nvSpPr>
          <p:cNvPr id="145" name="Shape 142"/>
          <p:cNvSpPr/>
          <p:nvPr/>
        </p:nvSpPr>
        <p:spPr>
          <a:xfrm>
            <a:off x="9375206" y="3329330"/>
            <a:ext cx="63423" cy="-63423"/>
          </a:xfrm>
          <a:prstGeom prst="line">
            <a:avLst/>
          </a:prstGeom>
          <a:noFill/>
          <a:ln w="9525">
            <a:solidFill>
              <a:srgbClr val="3DCD58">
                <a:alpha val="84000"/>
              </a:srgbClr>
            </a:solidFill>
            <a:prstDash val="solid"/>
          </a:ln>
        </p:spPr>
      </p:sp>
      <p:sp>
        <p:nvSpPr>
          <p:cNvPr id="146" name="Shape 143"/>
          <p:cNvSpPr/>
          <p:nvPr/>
        </p:nvSpPr>
        <p:spPr>
          <a:xfrm>
            <a:off x="9649526" y="3329330"/>
            <a:ext cx="63423" cy="-63423"/>
          </a:xfrm>
          <a:prstGeom prst="line">
            <a:avLst/>
          </a:prstGeom>
          <a:noFill/>
          <a:ln w="9525">
            <a:solidFill>
              <a:srgbClr val="3DCD58">
                <a:alpha val="84000"/>
              </a:srgbClr>
            </a:solidFill>
            <a:prstDash val="solid"/>
          </a:ln>
        </p:spPr>
      </p:sp>
      <p:sp>
        <p:nvSpPr>
          <p:cNvPr id="147" name="Shape 144"/>
          <p:cNvSpPr/>
          <p:nvPr/>
        </p:nvSpPr>
        <p:spPr>
          <a:xfrm>
            <a:off x="9923846" y="3329330"/>
            <a:ext cx="63423" cy="-63423"/>
          </a:xfrm>
          <a:prstGeom prst="line">
            <a:avLst/>
          </a:prstGeom>
          <a:noFill/>
          <a:ln w="9525">
            <a:solidFill>
              <a:srgbClr val="3DCD58">
                <a:alpha val="84000"/>
              </a:srgbClr>
            </a:solidFill>
            <a:prstDash val="solid"/>
          </a:ln>
        </p:spPr>
      </p:sp>
      <p:sp>
        <p:nvSpPr>
          <p:cNvPr id="148" name="Shape 145"/>
          <p:cNvSpPr/>
          <p:nvPr/>
        </p:nvSpPr>
        <p:spPr>
          <a:xfrm>
            <a:off x="10198166" y="3329330"/>
            <a:ext cx="63423" cy="-63423"/>
          </a:xfrm>
          <a:prstGeom prst="line">
            <a:avLst/>
          </a:prstGeom>
          <a:noFill/>
          <a:ln w="9525">
            <a:solidFill>
              <a:srgbClr val="3DCD58">
                <a:alpha val="84000"/>
              </a:srgbClr>
            </a:solidFill>
            <a:prstDash val="solid"/>
          </a:ln>
        </p:spPr>
      </p:sp>
      <p:sp>
        <p:nvSpPr>
          <p:cNvPr id="149" name="Shape 146"/>
          <p:cNvSpPr/>
          <p:nvPr/>
        </p:nvSpPr>
        <p:spPr>
          <a:xfrm>
            <a:off x="10472486" y="3329330"/>
            <a:ext cx="63423" cy="-63423"/>
          </a:xfrm>
          <a:prstGeom prst="line">
            <a:avLst/>
          </a:prstGeom>
          <a:noFill/>
          <a:ln w="9525">
            <a:solidFill>
              <a:srgbClr val="3DCD58">
                <a:alpha val="84000"/>
              </a:srgbClr>
            </a:solidFill>
            <a:prstDash val="solid"/>
          </a:ln>
        </p:spPr>
      </p:sp>
      <p:sp>
        <p:nvSpPr>
          <p:cNvPr id="150" name="Shape 147"/>
          <p:cNvSpPr/>
          <p:nvPr/>
        </p:nvSpPr>
        <p:spPr>
          <a:xfrm>
            <a:off x="10746806" y="3329330"/>
            <a:ext cx="63423" cy="-63423"/>
          </a:xfrm>
          <a:prstGeom prst="line">
            <a:avLst/>
          </a:prstGeom>
          <a:noFill/>
          <a:ln w="9525">
            <a:solidFill>
              <a:srgbClr val="3DCD58">
                <a:alpha val="84000"/>
              </a:srgbClr>
            </a:solidFill>
            <a:prstDash val="solid"/>
          </a:ln>
        </p:spPr>
      </p:sp>
      <p:sp>
        <p:nvSpPr>
          <p:cNvPr id="151" name="Shape 148"/>
          <p:cNvSpPr/>
          <p:nvPr/>
        </p:nvSpPr>
        <p:spPr>
          <a:xfrm>
            <a:off x="11021126" y="3329330"/>
            <a:ext cx="63423" cy="-63423"/>
          </a:xfrm>
          <a:prstGeom prst="line">
            <a:avLst/>
          </a:prstGeom>
          <a:noFill/>
          <a:ln w="9525">
            <a:solidFill>
              <a:srgbClr val="3DCD58">
                <a:alpha val="84000"/>
              </a:srgbClr>
            </a:solidFill>
            <a:prstDash val="solid"/>
          </a:ln>
        </p:spPr>
      </p:sp>
      <p:sp>
        <p:nvSpPr>
          <p:cNvPr id="152" name="Shape 149"/>
          <p:cNvSpPr/>
          <p:nvPr/>
        </p:nvSpPr>
        <p:spPr>
          <a:xfrm>
            <a:off x="11295446" y="3329330"/>
            <a:ext cx="63423" cy="-63423"/>
          </a:xfrm>
          <a:prstGeom prst="line">
            <a:avLst/>
          </a:prstGeom>
          <a:noFill/>
          <a:ln w="9525">
            <a:solidFill>
              <a:srgbClr val="3DCD58">
                <a:alpha val="84000"/>
              </a:srgbClr>
            </a:solidFill>
            <a:prstDash val="solid"/>
          </a:ln>
        </p:spPr>
      </p:sp>
      <p:sp>
        <p:nvSpPr>
          <p:cNvPr id="153" name="Shape 150"/>
          <p:cNvSpPr/>
          <p:nvPr/>
        </p:nvSpPr>
        <p:spPr>
          <a:xfrm>
            <a:off x="6232139" y="3227832"/>
            <a:ext cx="128016" cy="128016"/>
          </a:xfrm>
          <a:prstGeom prst="ellipse">
            <a:avLst/>
          </a:prstGeom>
          <a:solidFill>
            <a:srgbClr val="FFB04C"/>
          </a:solidFill>
          <a:ln w="12700">
            <a:solidFill>
              <a:srgbClr val="FFFFFF"/>
            </a:solidFill>
            <a:prstDash val="solid"/>
          </a:ln>
        </p:spPr>
      </p:sp>
      <p:sp>
        <p:nvSpPr>
          <p:cNvPr id="154" name="Shape 151"/>
          <p:cNvSpPr/>
          <p:nvPr/>
        </p:nvSpPr>
        <p:spPr>
          <a:xfrm>
            <a:off x="7043486" y="3227832"/>
            <a:ext cx="128016" cy="128016"/>
          </a:xfrm>
          <a:prstGeom prst="ellipse">
            <a:avLst/>
          </a:prstGeom>
          <a:solidFill>
            <a:srgbClr val="007A27"/>
          </a:solidFill>
          <a:ln w="12700">
            <a:solidFill>
              <a:srgbClr val="FFFFFF"/>
            </a:solidFill>
            <a:prstDash val="solid"/>
          </a:ln>
        </p:spPr>
      </p:sp>
      <p:sp>
        <p:nvSpPr>
          <p:cNvPr id="155" name="Shape 152"/>
          <p:cNvSpPr/>
          <p:nvPr/>
        </p:nvSpPr>
        <p:spPr>
          <a:xfrm>
            <a:off x="621792" y="3429000"/>
            <a:ext cx="411480" cy="2194560"/>
          </a:xfrm>
          <a:prstGeom prst="rect">
            <a:avLst/>
          </a:prstGeom>
          <a:solidFill>
            <a:srgbClr val="275B7F"/>
          </a:solidFill>
          <a:ln w="7620">
            <a:solidFill>
              <a:srgbClr val="FFFFFF"/>
            </a:solidFill>
            <a:prstDash val="solid"/>
          </a:ln>
        </p:spPr>
      </p:sp>
      <p:sp>
        <p:nvSpPr>
          <p:cNvPr id="156" name="Text 153"/>
          <p:cNvSpPr/>
          <p:nvPr/>
        </p:nvSpPr>
        <p:spPr>
          <a:xfrm>
            <a:off x="649224" y="3447288"/>
            <a:ext cx="356616" cy="2157984"/>
          </a:xfrm>
          <a:prstGeom prst="rect">
            <a:avLst/>
          </a:prstGeom>
          <a:noFill/>
          <a:ln/>
        </p:spPr>
        <p:txBody>
          <a:bodyPr wrap="square" lIns="0" tIns="0" rIns="0" bIns="0" rtlCol="0" anchor="ctr" vert="vert270">
            <a:normAutofit/>
          </a:bodyPr>
          <a:lstStyle/>
          <a:p>
            <a:pPr algn="ctr" indent="0" marL="0">
              <a:buNone/>
            </a:pPr>
            <a:r>
              <a:rPr lang="en-US" sz="750" b="1" dirty="0">
                <a:solidFill>
                  <a:srgbClr val="FFFFFF"/>
                </a:solidFill>
                <a:latin typeface="Calibri" pitchFamily="34" charset="0"/>
                <a:ea typeface="Calibri" pitchFamily="34" charset="-122"/>
                <a:cs typeface="Calibri" pitchFamily="34" charset="-120"/>
              </a:rPr>
              <a:t>ENERGY &amp; EFFICIENCY</a:t>
            </a:r>
            <a:endParaRPr lang="en-US" sz="750" dirty="0"/>
          </a:p>
        </p:txBody>
      </p:sp>
      <p:sp>
        <p:nvSpPr>
          <p:cNvPr id="157" name="Shape 154"/>
          <p:cNvSpPr/>
          <p:nvPr/>
        </p:nvSpPr>
        <p:spPr>
          <a:xfrm>
            <a:off x="1033272" y="3703320"/>
            <a:ext cx="10536631" cy="0"/>
          </a:xfrm>
          <a:prstGeom prst="line">
            <a:avLst/>
          </a:prstGeom>
          <a:noFill/>
          <a:ln w="4445">
            <a:solidFill>
              <a:srgbClr val="E2E6E2"/>
            </a:solidFill>
            <a:prstDash val="solid"/>
          </a:ln>
        </p:spPr>
      </p:sp>
      <p:sp>
        <p:nvSpPr>
          <p:cNvPr id="158" name="Shape 155"/>
          <p:cNvSpPr/>
          <p:nvPr/>
        </p:nvSpPr>
        <p:spPr>
          <a:xfrm>
            <a:off x="1143000" y="3456432"/>
            <a:ext cx="45720" cy="219456"/>
          </a:xfrm>
          <a:prstGeom prst="roundRect">
            <a:avLst>
              <a:gd name="adj" fmla="val 60000"/>
            </a:avLst>
          </a:prstGeom>
          <a:solidFill>
            <a:srgbClr val="275B7F"/>
          </a:solidFill>
          <a:ln w="12700">
            <a:solidFill>
              <a:srgbClr val="275B7F"/>
            </a:solidFill>
            <a:prstDash val="solid"/>
          </a:ln>
        </p:spPr>
      </p:sp>
      <p:sp>
        <p:nvSpPr>
          <p:cNvPr id="159" name="Text 156"/>
          <p:cNvSpPr/>
          <p:nvPr/>
        </p:nvSpPr>
        <p:spPr>
          <a:xfrm>
            <a:off x="1243584" y="341985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Energy Efficiency</a:t>
            </a:r>
            <a:endParaRPr lang="en-US" sz="950" dirty="0"/>
          </a:p>
        </p:txBody>
      </p:sp>
      <p:sp>
        <p:nvSpPr>
          <p:cNvPr id="160" name="Shape 157"/>
          <p:cNvSpPr/>
          <p:nvPr/>
        </p:nvSpPr>
        <p:spPr>
          <a:xfrm>
            <a:off x="4808677" y="3519526"/>
            <a:ext cx="4327185" cy="93269"/>
          </a:xfrm>
          <a:prstGeom prst="roundRect">
            <a:avLst>
              <a:gd name="adj" fmla="val 39216"/>
            </a:avLst>
          </a:prstGeom>
          <a:solidFill>
            <a:srgbClr val="275B7F"/>
          </a:solidFill>
          <a:ln w="5080">
            <a:solidFill>
              <a:srgbClr val="275B7F"/>
            </a:solidFill>
            <a:prstDash val="solid"/>
          </a:ln>
        </p:spPr>
      </p:sp>
      <p:sp>
        <p:nvSpPr>
          <p:cNvPr id="161" name="Shape 158"/>
          <p:cNvSpPr/>
          <p:nvPr/>
        </p:nvSpPr>
        <p:spPr>
          <a:xfrm>
            <a:off x="9135862" y="3519526"/>
            <a:ext cx="2434041"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162" name="Shape 159"/>
          <p:cNvSpPr/>
          <p:nvPr/>
        </p:nvSpPr>
        <p:spPr>
          <a:xfrm>
            <a:off x="9209014" y="3603650"/>
            <a:ext cx="63423" cy="-63423"/>
          </a:xfrm>
          <a:prstGeom prst="line">
            <a:avLst/>
          </a:prstGeom>
          <a:noFill/>
          <a:ln w="9525">
            <a:solidFill>
              <a:srgbClr val="275B7F">
                <a:alpha val="84000"/>
              </a:srgbClr>
            </a:solidFill>
            <a:prstDash val="solid"/>
          </a:ln>
        </p:spPr>
      </p:sp>
      <p:sp>
        <p:nvSpPr>
          <p:cNvPr id="163" name="Shape 160"/>
          <p:cNvSpPr/>
          <p:nvPr/>
        </p:nvSpPr>
        <p:spPr>
          <a:xfrm>
            <a:off x="9483334" y="3603650"/>
            <a:ext cx="63423" cy="-63423"/>
          </a:xfrm>
          <a:prstGeom prst="line">
            <a:avLst/>
          </a:prstGeom>
          <a:noFill/>
          <a:ln w="9525">
            <a:solidFill>
              <a:srgbClr val="275B7F">
                <a:alpha val="84000"/>
              </a:srgbClr>
            </a:solidFill>
            <a:prstDash val="solid"/>
          </a:ln>
        </p:spPr>
      </p:sp>
      <p:sp>
        <p:nvSpPr>
          <p:cNvPr id="164" name="Shape 161"/>
          <p:cNvSpPr/>
          <p:nvPr/>
        </p:nvSpPr>
        <p:spPr>
          <a:xfrm>
            <a:off x="9757654" y="3603650"/>
            <a:ext cx="63423" cy="-63423"/>
          </a:xfrm>
          <a:prstGeom prst="line">
            <a:avLst/>
          </a:prstGeom>
          <a:noFill/>
          <a:ln w="9525">
            <a:solidFill>
              <a:srgbClr val="275B7F">
                <a:alpha val="84000"/>
              </a:srgbClr>
            </a:solidFill>
            <a:prstDash val="solid"/>
          </a:ln>
        </p:spPr>
      </p:sp>
      <p:sp>
        <p:nvSpPr>
          <p:cNvPr id="165" name="Shape 162"/>
          <p:cNvSpPr/>
          <p:nvPr/>
        </p:nvSpPr>
        <p:spPr>
          <a:xfrm>
            <a:off x="10031974" y="3603650"/>
            <a:ext cx="63423" cy="-63423"/>
          </a:xfrm>
          <a:prstGeom prst="line">
            <a:avLst/>
          </a:prstGeom>
          <a:noFill/>
          <a:ln w="9525">
            <a:solidFill>
              <a:srgbClr val="275B7F">
                <a:alpha val="84000"/>
              </a:srgbClr>
            </a:solidFill>
            <a:prstDash val="solid"/>
          </a:ln>
        </p:spPr>
      </p:sp>
      <p:sp>
        <p:nvSpPr>
          <p:cNvPr id="166" name="Shape 163"/>
          <p:cNvSpPr/>
          <p:nvPr/>
        </p:nvSpPr>
        <p:spPr>
          <a:xfrm>
            <a:off x="10306294" y="3603650"/>
            <a:ext cx="63423" cy="-63423"/>
          </a:xfrm>
          <a:prstGeom prst="line">
            <a:avLst/>
          </a:prstGeom>
          <a:noFill/>
          <a:ln w="9525">
            <a:solidFill>
              <a:srgbClr val="275B7F">
                <a:alpha val="84000"/>
              </a:srgbClr>
            </a:solidFill>
            <a:prstDash val="solid"/>
          </a:ln>
        </p:spPr>
      </p:sp>
      <p:sp>
        <p:nvSpPr>
          <p:cNvPr id="167" name="Shape 164"/>
          <p:cNvSpPr/>
          <p:nvPr/>
        </p:nvSpPr>
        <p:spPr>
          <a:xfrm>
            <a:off x="10580614" y="3603650"/>
            <a:ext cx="63423" cy="-63423"/>
          </a:xfrm>
          <a:prstGeom prst="line">
            <a:avLst/>
          </a:prstGeom>
          <a:noFill/>
          <a:ln w="9525">
            <a:solidFill>
              <a:srgbClr val="275B7F">
                <a:alpha val="84000"/>
              </a:srgbClr>
            </a:solidFill>
            <a:prstDash val="solid"/>
          </a:ln>
        </p:spPr>
      </p:sp>
      <p:sp>
        <p:nvSpPr>
          <p:cNvPr id="168" name="Shape 165"/>
          <p:cNvSpPr/>
          <p:nvPr/>
        </p:nvSpPr>
        <p:spPr>
          <a:xfrm>
            <a:off x="10854934" y="3603650"/>
            <a:ext cx="63423" cy="-63423"/>
          </a:xfrm>
          <a:prstGeom prst="line">
            <a:avLst/>
          </a:prstGeom>
          <a:noFill/>
          <a:ln w="9525">
            <a:solidFill>
              <a:srgbClr val="275B7F">
                <a:alpha val="84000"/>
              </a:srgbClr>
            </a:solidFill>
            <a:prstDash val="solid"/>
          </a:ln>
        </p:spPr>
      </p:sp>
      <p:sp>
        <p:nvSpPr>
          <p:cNvPr id="169" name="Shape 166"/>
          <p:cNvSpPr/>
          <p:nvPr/>
        </p:nvSpPr>
        <p:spPr>
          <a:xfrm>
            <a:off x="11129254" y="3603650"/>
            <a:ext cx="63423" cy="-63423"/>
          </a:xfrm>
          <a:prstGeom prst="line">
            <a:avLst/>
          </a:prstGeom>
          <a:noFill/>
          <a:ln w="9525">
            <a:solidFill>
              <a:srgbClr val="275B7F">
                <a:alpha val="84000"/>
              </a:srgbClr>
            </a:solidFill>
            <a:prstDash val="solid"/>
          </a:ln>
        </p:spPr>
      </p:sp>
      <p:sp>
        <p:nvSpPr>
          <p:cNvPr id="170" name="Shape 167"/>
          <p:cNvSpPr/>
          <p:nvPr/>
        </p:nvSpPr>
        <p:spPr>
          <a:xfrm>
            <a:off x="11403574" y="3603650"/>
            <a:ext cx="63423" cy="-63423"/>
          </a:xfrm>
          <a:prstGeom prst="line">
            <a:avLst/>
          </a:prstGeom>
          <a:noFill/>
          <a:ln w="9525">
            <a:solidFill>
              <a:srgbClr val="275B7F">
                <a:alpha val="84000"/>
              </a:srgbClr>
            </a:solidFill>
            <a:prstDash val="solid"/>
          </a:ln>
        </p:spPr>
      </p:sp>
      <p:sp>
        <p:nvSpPr>
          <p:cNvPr id="171" name="Shape 168"/>
          <p:cNvSpPr/>
          <p:nvPr/>
        </p:nvSpPr>
        <p:spPr>
          <a:xfrm>
            <a:off x="7043486" y="3502152"/>
            <a:ext cx="128016" cy="128016"/>
          </a:xfrm>
          <a:prstGeom prst="ellipse">
            <a:avLst/>
          </a:prstGeom>
          <a:solidFill>
            <a:srgbClr val="FFB04C"/>
          </a:solidFill>
          <a:ln w="12700">
            <a:solidFill>
              <a:srgbClr val="FFFFFF"/>
            </a:solidFill>
            <a:prstDash val="solid"/>
          </a:ln>
        </p:spPr>
      </p:sp>
      <p:sp>
        <p:nvSpPr>
          <p:cNvPr id="172" name="Shape 169"/>
          <p:cNvSpPr/>
          <p:nvPr/>
        </p:nvSpPr>
        <p:spPr>
          <a:xfrm>
            <a:off x="9071854" y="3502152"/>
            <a:ext cx="128016" cy="128016"/>
          </a:xfrm>
          <a:prstGeom prst="ellipse">
            <a:avLst/>
          </a:prstGeom>
          <a:solidFill>
            <a:srgbClr val="007A27"/>
          </a:solidFill>
          <a:ln w="12700">
            <a:solidFill>
              <a:srgbClr val="FFFFFF"/>
            </a:solidFill>
            <a:prstDash val="solid"/>
          </a:ln>
        </p:spPr>
      </p:sp>
      <p:sp>
        <p:nvSpPr>
          <p:cNvPr id="173" name="Shape 170"/>
          <p:cNvSpPr/>
          <p:nvPr/>
        </p:nvSpPr>
        <p:spPr>
          <a:xfrm>
            <a:off x="1033272" y="3703320"/>
            <a:ext cx="2423160" cy="274320"/>
          </a:xfrm>
          <a:prstGeom prst="rect">
            <a:avLst/>
          </a:prstGeom>
          <a:solidFill>
            <a:srgbClr val="F1F3F2">
              <a:alpha val="55000"/>
            </a:srgbClr>
          </a:solidFill>
          <a:ln w="12700">
            <a:solidFill>
              <a:srgbClr val="F1F3F2">
                <a:alpha val="0"/>
              </a:srgbClr>
            </a:solidFill>
            <a:prstDash val="solid"/>
          </a:ln>
        </p:spPr>
      </p:sp>
      <p:sp>
        <p:nvSpPr>
          <p:cNvPr id="174" name="Shape 171"/>
          <p:cNvSpPr/>
          <p:nvPr/>
        </p:nvSpPr>
        <p:spPr>
          <a:xfrm>
            <a:off x="1033272" y="3977640"/>
            <a:ext cx="10536631" cy="0"/>
          </a:xfrm>
          <a:prstGeom prst="line">
            <a:avLst/>
          </a:prstGeom>
          <a:noFill/>
          <a:ln w="4445">
            <a:solidFill>
              <a:srgbClr val="E2E6E2"/>
            </a:solidFill>
            <a:prstDash val="solid"/>
          </a:ln>
        </p:spPr>
      </p:sp>
      <p:sp>
        <p:nvSpPr>
          <p:cNvPr id="175" name="Shape 172"/>
          <p:cNvSpPr/>
          <p:nvPr/>
        </p:nvSpPr>
        <p:spPr>
          <a:xfrm>
            <a:off x="1143000" y="3730752"/>
            <a:ext cx="45720" cy="219456"/>
          </a:xfrm>
          <a:prstGeom prst="roundRect">
            <a:avLst>
              <a:gd name="adj" fmla="val 60000"/>
            </a:avLst>
          </a:prstGeom>
          <a:solidFill>
            <a:srgbClr val="275B7F"/>
          </a:solidFill>
          <a:ln w="12700">
            <a:solidFill>
              <a:srgbClr val="275B7F"/>
            </a:solidFill>
            <a:prstDash val="solid"/>
          </a:ln>
        </p:spPr>
      </p:sp>
      <p:sp>
        <p:nvSpPr>
          <p:cNvPr id="176" name="Text 173"/>
          <p:cNvSpPr/>
          <p:nvPr/>
        </p:nvSpPr>
        <p:spPr>
          <a:xfrm>
            <a:off x="1243584" y="369417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Capital Asset Planning</a:t>
            </a:r>
            <a:endParaRPr lang="en-US" sz="950" dirty="0"/>
          </a:p>
        </p:txBody>
      </p:sp>
      <p:sp>
        <p:nvSpPr>
          <p:cNvPr id="177" name="Shape 174"/>
          <p:cNvSpPr/>
          <p:nvPr/>
        </p:nvSpPr>
        <p:spPr>
          <a:xfrm>
            <a:off x="6160922" y="3793846"/>
            <a:ext cx="3651062" cy="93269"/>
          </a:xfrm>
          <a:prstGeom prst="roundRect">
            <a:avLst>
              <a:gd name="adj" fmla="val 39216"/>
            </a:avLst>
          </a:prstGeom>
          <a:solidFill>
            <a:srgbClr val="275B7F"/>
          </a:solidFill>
          <a:ln w="5080">
            <a:solidFill>
              <a:srgbClr val="275B7F"/>
            </a:solidFill>
            <a:prstDash val="solid"/>
          </a:ln>
        </p:spPr>
      </p:sp>
      <p:sp>
        <p:nvSpPr>
          <p:cNvPr id="178" name="Shape 175"/>
          <p:cNvSpPr/>
          <p:nvPr/>
        </p:nvSpPr>
        <p:spPr>
          <a:xfrm>
            <a:off x="9811984" y="3793846"/>
            <a:ext cx="1757919"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179" name="Shape 176"/>
          <p:cNvSpPr/>
          <p:nvPr/>
        </p:nvSpPr>
        <p:spPr>
          <a:xfrm>
            <a:off x="9885136" y="3877970"/>
            <a:ext cx="63423" cy="-63423"/>
          </a:xfrm>
          <a:prstGeom prst="line">
            <a:avLst/>
          </a:prstGeom>
          <a:noFill/>
          <a:ln w="9525">
            <a:solidFill>
              <a:srgbClr val="275B7F">
                <a:alpha val="84000"/>
              </a:srgbClr>
            </a:solidFill>
            <a:prstDash val="solid"/>
          </a:ln>
        </p:spPr>
      </p:sp>
      <p:sp>
        <p:nvSpPr>
          <p:cNvPr id="180" name="Shape 177"/>
          <p:cNvSpPr/>
          <p:nvPr/>
        </p:nvSpPr>
        <p:spPr>
          <a:xfrm>
            <a:off x="10159456" y="3877970"/>
            <a:ext cx="63423" cy="-63423"/>
          </a:xfrm>
          <a:prstGeom prst="line">
            <a:avLst/>
          </a:prstGeom>
          <a:noFill/>
          <a:ln w="9525">
            <a:solidFill>
              <a:srgbClr val="275B7F">
                <a:alpha val="84000"/>
              </a:srgbClr>
            </a:solidFill>
            <a:prstDash val="solid"/>
          </a:ln>
        </p:spPr>
      </p:sp>
      <p:sp>
        <p:nvSpPr>
          <p:cNvPr id="181" name="Shape 178"/>
          <p:cNvSpPr/>
          <p:nvPr/>
        </p:nvSpPr>
        <p:spPr>
          <a:xfrm>
            <a:off x="10433776" y="3877970"/>
            <a:ext cx="63423" cy="-63423"/>
          </a:xfrm>
          <a:prstGeom prst="line">
            <a:avLst/>
          </a:prstGeom>
          <a:noFill/>
          <a:ln w="9525">
            <a:solidFill>
              <a:srgbClr val="275B7F">
                <a:alpha val="84000"/>
              </a:srgbClr>
            </a:solidFill>
            <a:prstDash val="solid"/>
          </a:ln>
        </p:spPr>
      </p:sp>
      <p:sp>
        <p:nvSpPr>
          <p:cNvPr id="182" name="Shape 179"/>
          <p:cNvSpPr/>
          <p:nvPr/>
        </p:nvSpPr>
        <p:spPr>
          <a:xfrm>
            <a:off x="10708096" y="3877970"/>
            <a:ext cx="63423" cy="-63423"/>
          </a:xfrm>
          <a:prstGeom prst="line">
            <a:avLst/>
          </a:prstGeom>
          <a:noFill/>
          <a:ln w="9525">
            <a:solidFill>
              <a:srgbClr val="275B7F">
                <a:alpha val="84000"/>
              </a:srgbClr>
            </a:solidFill>
            <a:prstDash val="solid"/>
          </a:ln>
        </p:spPr>
      </p:sp>
      <p:sp>
        <p:nvSpPr>
          <p:cNvPr id="183" name="Shape 180"/>
          <p:cNvSpPr/>
          <p:nvPr/>
        </p:nvSpPr>
        <p:spPr>
          <a:xfrm>
            <a:off x="10982416" y="3877970"/>
            <a:ext cx="63423" cy="-63423"/>
          </a:xfrm>
          <a:prstGeom prst="line">
            <a:avLst/>
          </a:prstGeom>
          <a:noFill/>
          <a:ln w="9525">
            <a:solidFill>
              <a:srgbClr val="275B7F">
                <a:alpha val="84000"/>
              </a:srgbClr>
            </a:solidFill>
            <a:prstDash val="solid"/>
          </a:ln>
        </p:spPr>
      </p:sp>
      <p:sp>
        <p:nvSpPr>
          <p:cNvPr id="184" name="Shape 181"/>
          <p:cNvSpPr/>
          <p:nvPr/>
        </p:nvSpPr>
        <p:spPr>
          <a:xfrm>
            <a:off x="11256736" y="3877970"/>
            <a:ext cx="63423" cy="-63423"/>
          </a:xfrm>
          <a:prstGeom prst="line">
            <a:avLst/>
          </a:prstGeom>
          <a:noFill/>
          <a:ln w="9525">
            <a:solidFill>
              <a:srgbClr val="275B7F">
                <a:alpha val="84000"/>
              </a:srgbClr>
            </a:solidFill>
            <a:prstDash val="solid"/>
          </a:ln>
        </p:spPr>
      </p:sp>
      <p:sp>
        <p:nvSpPr>
          <p:cNvPr id="185" name="Shape 182"/>
          <p:cNvSpPr/>
          <p:nvPr/>
        </p:nvSpPr>
        <p:spPr>
          <a:xfrm>
            <a:off x="11531056" y="3877970"/>
            <a:ext cx="38847" cy="-38847"/>
          </a:xfrm>
          <a:prstGeom prst="line">
            <a:avLst/>
          </a:prstGeom>
          <a:noFill/>
          <a:ln w="9525">
            <a:solidFill>
              <a:srgbClr val="275B7F">
                <a:alpha val="84000"/>
              </a:srgbClr>
            </a:solidFill>
            <a:prstDash val="solid"/>
          </a:ln>
        </p:spPr>
      </p:sp>
      <p:sp>
        <p:nvSpPr>
          <p:cNvPr id="186" name="Shape 183"/>
          <p:cNvSpPr/>
          <p:nvPr/>
        </p:nvSpPr>
        <p:spPr>
          <a:xfrm>
            <a:off x="8395731" y="3776472"/>
            <a:ext cx="128016" cy="128016"/>
          </a:xfrm>
          <a:prstGeom prst="ellipse">
            <a:avLst/>
          </a:prstGeom>
          <a:solidFill>
            <a:srgbClr val="FFB04C"/>
          </a:solidFill>
          <a:ln w="12700">
            <a:solidFill>
              <a:srgbClr val="FFFFFF"/>
            </a:solidFill>
            <a:prstDash val="solid"/>
          </a:ln>
        </p:spPr>
      </p:sp>
      <p:sp>
        <p:nvSpPr>
          <p:cNvPr id="187" name="Shape 184"/>
          <p:cNvSpPr/>
          <p:nvPr/>
        </p:nvSpPr>
        <p:spPr>
          <a:xfrm>
            <a:off x="9747976" y="3776472"/>
            <a:ext cx="128016" cy="128016"/>
          </a:xfrm>
          <a:prstGeom prst="ellipse">
            <a:avLst/>
          </a:prstGeom>
          <a:solidFill>
            <a:srgbClr val="007A27"/>
          </a:solidFill>
          <a:ln w="12700">
            <a:solidFill>
              <a:srgbClr val="FFFFFF"/>
            </a:solidFill>
            <a:prstDash val="solid"/>
          </a:ln>
        </p:spPr>
      </p:sp>
      <p:sp>
        <p:nvSpPr>
          <p:cNvPr id="188" name="Shape 185"/>
          <p:cNvSpPr/>
          <p:nvPr/>
        </p:nvSpPr>
        <p:spPr>
          <a:xfrm>
            <a:off x="1033272" y="4251960"/>
            <a:ext cx="10536631" cy="0"/>
          </a:xfrm>
          <a:prstGeom prst="line">
            <a:avLst/>
          </a:prstGeom>
          <a:noFill/>
          <a:ln w="4445">
            <a:solidFill>
              <a:srgbClr val="E2E6E2"/>
            </a:solidFill>
            <a:prstDash val="solid"/>
          </a:ln>
        </p:spPr>
      </p:sp>
      <p:sp>
        <p:nvSpPr>
          <p:cNvPr id="189" name="Shape 186"/>
          <p:cNvSpPr/>
          <p:nvPr/>
        </p:nvSpPr>
        <p:spPr>
          <a:xfrm>
            <a:off x="1143000" y="4005072"/>
            <a:ext cx="45720" cy="219456"/>
          </a:xfrm>
          <a:prstGeom prst="roundRect">
            <a:avLst>
              <a:gd name="adj" fmla="val 60000"/>
            </a:avLst>
          </a:prstGeom>
          <a:solidFill>
            <a:srgbClr val="275B7F"/>
          </a:solidFill>
          <a:ln w="12700">
            <a:solidFill>
              <a:srgbClr val="275B7F"/>
            </a:solidFill>
            <a:prstDash val="solid"/>
          </a:ln>
        </p:spPr>
      </p:sp>
      <p:sp>
        <p:nvSpPr>
          <p:cNvPr id="190" name="Text 187"/>
          <p:cNvSpPr/>
          <p:nvPr/>
        </p:nvSpPr>
        <p:spPr>
          <a:xfrm>
            <a:off x="1243584" y="396849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Metering &amp; Interval Data</a:t>
            </a:r>
            <a:endParaRPr lang="en-US" sz="950" dirty="0"/>
          </a:p>
        </p:txBody>
      </p:sp>
      <p:sp>
        <p:nvSpPr>
          <p:cNvPr id="191" name="Shape 188"/>
          <p:cNvSpPr/>
          <p:nvPr/>
        </p:nvSpPr>
        <p:spPr>
          <a:xfrm>
            <a:off x="4808677" y="4068166"/>
            <a:ext cx="4327185" cy="93269"/>
          </a:xfrm>
          <a:prstGeom prst="roundRect">
            <a:avLst>
              <a:gd name="adj" fmla="val 39216"/>
            </a:avLst>
          </a:prstGeom>
          <a:solidFill>
            <a:srgbClr val="275B7F"/>
          </a:solidFill>
          <a:ln w="5080">
            <a:solidFill>
              <a:srgbClr val="275B7F"/>
            </a:solidFill>
            <a:prstDash val="solid"/>
          </a:ln>
        </p:spPr>
      </p:sp>
      <p:sp>
        <p:nvSpPr>
          <p:cNvPr id="192" name="Shape 189"/>
          <p:cNvSpPr/>
          <p:nvPr/>
        </p:nvSpPr>
        <p:spPr>
          <a:xfrm>
            <a:off x="9135862" y="4068166"/>
            <a:ext cx="2434041"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193" name="Shape 190"/>
          <p:cNvSpPr/>
          <p:nvPr/>
        </p:nvSpPr>
        <p:spPr>
          <a:xfrm>
            <a:off x="9209014" y="4152290"/>
            <a:ext cx="63423" cy="-63423"/>
          </a:xfrm>
          <a:prstGeom prst="line">
            <a:avLst/>
          </a:prstGeom>
          <a:noFill/>
          <a:ln w="9525">
            <a:solidFill>
              <a:srgbClr val="275B7F">
                <a:alpha val="84000"/>
              </a:srgbClr>
            </a:solidFill>
            <a:prstDash val="solid"/>
          </a:ln>
        </p:spPr>
      </p:sp>
      <p:sp>
        <p:nvSpPr>
          <p:cNvPr id="194" name="Shape 191"/>
          <p:cNvSpPr/>
          <p:nvPr/>
        </p:nvSpPr>
        <p:spPr>
          <a:xfrm>
            <a:off x="9483334" y="4152290"/>
            <a:ext cx="63423" cy="-63423"/>
          </a:xfrm>
          <a:prstGeom prst="line">
            <a:avLst/>
          </a:prstGeom>
          <a:noFill/>
          <a:ln w="9525">
            <a:solidFill>
              <a:srgbClr val="275B7F">
                <a:alpha val="84000"/>
              </a:srgbClr>
            </a:solidFill>
            <a:prstDash val="solid"/>
          </a:ln>
        </p:spPr>
      </p:sp>
      <p:sp>
        <p:nvSpPr>
          <p:cNvPr id="195" name="Shape 192"/>
          <p:cNvSpPr/>
          <p:nvPr/>
        </p:nvSpPr>
        <p:spPr>
          <a:xfrm>
            <a:off x="9757654" y="4152290"/>
            <a:ext cx="63423" cy="-63423"/>
          </a:xfrm>
          <a:prstGeom prst="line">
            <a:avLst/>
          </a:prstGeom>
          <a:noFill/>
          <a:ln w="9525">
            <a:solidFill>
              <a:srgbClr val="275B7F">
                <a:alpha val="84000"/>
              </a:srgbClr>
            </a:solidFill>
            <a:prstDash val="solid"/>
          </a:ln>
        </p:spPr>
      </p:sp>
      <p:sp>
        <p:nvSpPr>
          <p:cNvPr id="196" name="Shape 193"/>
          <p:cNvSpPr/>
          <p:nvPr/>
        </p:nvSpPr>
        <p:spPr>
          <a:xfrm>
            <a:off x="10031974" y="4152290"/>
            <a:ext cx="63423" cy="-63423"/>
          </a:xfrm>
          <a:prstGeom prst="line">
            <a:avLst/>
          </a:prstGeom>
          <a:noFill/>
          <a:ln w="9525">
            <a:solidFill>
              <a:srgbClr val="275B7F">
                <a:alpha val="84000"/>
              </a:srgbClr>
            </a:solidFill>
            <a:prstDash val="solid"/>
          </a:ln>
        </p:spPr>
      </p:sp>
      <p:sp>
        <p:nvSpPr>
          <p:cNvPr id="197" name="Shape 194"/>
          <p:cNvSpPr/>
          <p:nvPr/>
        </p:nvSpPr>
        <p:spPr>
          <a:xfrm>
            <a:off x="10306294" y="4152290"/>
            <a:ext cx="63423" cy="-63423"/>
          </a:xfrm>
          <a:prstGeom prst="line">
            <a:avLst/>
          </a:prstGeom>
          <a:noFill/>
          <a:ln w="9525">
            <a:solidFill>
              <a:srgbClr val="275B7F">
                <a:alpha val="84000"/>
              </a:srgbClr>
            </a:solidFill>
            <a:prstDash val="solid"/>
          </a:ln>
        </p:spPr>
      </p:sp>
      <p:sp>
        <p:nvSpPr>
          <p:cNvPr id="198" name="Shape 195"/>
          <p:cNvSpPr/>
          <p:nvPr/>
        </p:nvSpPr>
        <p:spPr>
          <a:xfrm>
            <a:off x="10580614" y="4152290"/>
            <a:ext cx="63423" cy="-63423"/>
          </a:xfrm>
          <a:prstGeom prst="line">
            <a:avLst/>
          </a:prstGeom>
          <a:noFill/>
          <a:ln w="9525">
            <a:solidFill>
              <a:srgbClr val="275B7F">
                <a:alpha val="84000"/>
              </a:srgbClr>
            </a:solidFill>
            <a:prstDash val="solid"/>
          </a:ln>
        </p:spPr>
      </p:sp>
      <p:sp>
        <p:nvSpPr>
          <p:cNvPr id="199" name="Shape 196"/>
          <p:cNvSpPr/>
          <p:nvPr/>
        </p:nvSpPr>
        <p:spPr>
          <a:xfrm>
            <a:off x="10854934" y="4152290"/>
            <a:ext cx="63423" cy="-63423"/>
          </a:xfrm>
          <a:prstGeom prst="line">
            <a:avLst/>
          </a:prstGeom>
          <a:noFill/>
          <a:ln w="9525">
            <a:solidFill>
              <a:srgbClr val="275B7F">
                <a:alpha val="84000"/>
              </a:srgbClr>
            </a:solidFill>
            <a:prstDash val="solid"/>
          </a:ln>
        </p:spPr>
      </p:sp>
      <p:sp>
        <p:nvSpPr>
          <p:cNvPr id="200" name="Shape 197"/>
          <p:cNvSpPr/>
          <p:nvPr/>
        </p:nvSpPr>
        <p:spPr>
          <a:xfrm>
            <a:off x="11129254" y="4152290"/>
            <a:ext cx="63423" cy="-63423"/>
          </a:xfrm>
          <a:prstGeom prst="line">
            <a:avLst/>
          </a:prstGeom>
          <a:noFill/>
          <a:ln w="9525">
            <a:solidFill>
              <a:srgbClr val="275B7F">
                <a:alpha val="84000"/>
              </a:srgbClr>
            </a:solidFill>
            <a:prstDash val="solid"/>
          </a:ln>
        </p:spPr>
      </p:sp>
      <p:sp>
        <p:nvSpPr>
          <p:cNvPr id="201" name="Shape 198"/>
          <p:cNvSpPr/>
          <p:nvPr/>
        </p:nvSpPr>
        <p:spPr>
          <a:xfrm>
            <a:off x="11403574" y="4152290"/>
            <a:ext cx="63423" cy="-63423"/>
          </a:xfrm>
          <a:prstGeom prst="line">
            <a:avLst/>
          </a:prstGeom>
          <a:noFill/>
          <a:ln w="9525">
            <a:solidFill>
              <a:srgbClr val="275B7F">
                <a:alpha val="84000"/>
              </a:srgbClr>
            </a:solidFill>
            <a:prstDash val="solid"/>
          </a:ln>
        </p:spPr>
      </p:sp>
      <p:sp>
        <p:nvSpPr>
          <p:cNvPr id="202" name="Shape 199"/>
          <p:cNvSpPr/>
          <p:nvPr/>
        </p:nvSpPr>
        <p:spPr>
          <a:xfrm>
            <a:off x="7043486" y="4050792"/>
            <a:ext cx="128016" cy="128016"/>
          </a:xfrm>
          <a:prstGeom prst="ellipse">
            <a:avLst/>
          </a:prstGeom>
          <a:solidFill>
            <a:srgbClr val="FFB04C"/>
          </a:solidFill>
          <a:ln w="12700">
            <a:solidFill>
              <a:srgbClr val="FFFFFF"/>
            </a:solidFill>
            <a:prstDash val="solid"/>
          </a:ln>
        </p:spPr>
      </p:sp>
      <p:sp>
        <p:nvSpPr>
          <p:cNvPr id="203" name="Shape 200"/>
          <p:cNvSpPr/>
          <p:nvPr/>
        </p:nvSpPr>
        <p:spPr>
          <a:xfrm>
            <a:off x="9071854" y="4050792"/>
            <a:ext cx="128016" cy="128016"/>
          </a:xfrm>
          <a:prstGeom prst="ellipse">
            <a:avLst/>
          </a:prstGeom>
          <a:solidFill>
            <a:srgbClr val="007A27"/>
          </a:solidFill>
          <a:ln w="12700">
            <a:solidFill>
              <a:srgbClr val="FFFFFF"/>
            </a:solidFill>
            <a:prstDash val="solid"/>
          </a:ln>
        </p:spPr>
      </p:sp>
      <p:sp>
        <p:nvSpPr>
          <p:cNvPr id="204" name="Shape 201"/>
          <p:cNvSpPr/>
          <p:nvPr/>
        </p:nvSpPr>
        <p:spPr>
          <a:xfrm>
            <a:off x="1033272" y="4251960"/>
            <a:ext cx="2423160" cy="274320"/>
          </a:xfrm>
          <a:prstGeom prst="rect">
            <a:avLst/>
          </a:prstGeom>
          <a:solidFill>
            <a:srgbClr val="F1F3F2">
              <a:alpha val="55000"/>
            </a:srgbClr>
          </a:solidFill>
          <a:ln w="12700">
            <a:solidFill>
              <a:srgbClr val="F1F3F2">
                <a:alpha val="0"/>
              </a:srgbClr>
            </a:solidFill>
            <a:prstDash val="solid"/>
          </a:ln>
        </p:spPr>
      </p:sp>
      <p:sp>
        <p:nvSpPr>
          <p:cNvPr id="205" name="Shape 202"/>
          <p:cNvSpPr/>
          <p:nvPr/>
        </p:nvSpPr>
        <p:spPr>
          <a:xfrm>
            <a:off x="1033272" y="4526280"/>
            <a:ext cx="10536631" cy="0"/>
          </a:xfrm>
          <a:prstGeom prst="line">
            <a:avLst/>
          </a:prstGeom>
          <a:noFill/>
          <a:ln w="4445">
            <a:solidFill>
              <a:srgbClr val="E2E6E2"/>
            </a:solidFill>
            <a:prstDash val="solid"/>
          </a:ln>
        </p:spPr>
      </p:sp>
      <p:sp>
        <p:nvSpPr>
          <p:cNvPr id="206" name="Shape 203"/>
          <p:cNvSpPr/>
          <p:nvPr/>
        </p:nvSpPr>
        <p:spPr>
          <a:xfrm>
            <a:off x="1143000" y="4279392"/>
            <a:ext cx="45720" cy="219456"/>
          </a:xfrm>
          <a:prstGeom prst="roundRect">
            <a:avLst>
              <a:gd name="adj" fmla="val 60000"/>
            </a:avLst>
          </a:prstGeom>
          <a:solidFill>
            <a:srgbClr val="275B7F"/>
          </a:solidFill>
          <a:ln w="12700">
            <a:solidFill>
              <a:srgbClr val="275B7F"/>
            </a:solidFill>
            <a:prstDash val="solid"/>
          </a:ln>
        </p:spPr>
      </p:sp>
      <p:sp>
        <p:nvSpPr>
          <p:cNvPr id="207" name="Text 204"/>
          <p:cNvSpPr/>
          <p:nvPr/>
        </p:nvSpPr>
        <p:spPr>
          <a:xfrm>
            <a:off x="1243584" y="424281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Energy Portfolio Management</a:t>
            </a:r>
            <a:endParaRPr lang="en-US" sz="950" dirty="0"/>
          </a:p>
        </p:txBody>
      </p:sp>
      <p:sp>
        <p:nvSpPr>
          <p:cNvPr id="208" name="Shape 205"/>
          <p:cNvSpPr/>
          <p:nvPr/>
        </p:nvSpPr>
        <p:spPr>
          <a:xfrm>
            <a:off x="5484800" y="4342486"/>
            <a:ext cx="3448225" cy="93269"/>
          </a:xfrm>
          <a:prstGeom prst="roundRect">
            <a:avLst>
              <a:gd name="adj" fmla="val 39216"/>
            </a:avLst>
          </a:prstGeom>
          <a:solidFill>
            <a:srgbClr val="275B7F"/>
          </a:solidFill>
          <a:ln w="5080">
            <a:solidFill>
              <a:srgbClr val="275B7F"/>
            </a:solidFill>
            <a:prstDash val="solid"/>
          </a:ln>
        </p:spPr>
      </p:sp>
      <p:sp>
        <p:nvSpPr>
          <p:cNvPr id="209" name="Shape 206"/>
          <p:cNvSpPr/>
          <p:nvPr/>
        </p:nvSpPr>
        <p:spPr>
          <a:xfrm>
            <a:off x="8933025" y="4342486"/>
            <a:ext cx="2636878"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210" name="Shape 207"/>
          <p:cNvSpPr/>
          <p:nvPr/>
        </p:nvSpPr>
        <p:spPr>
          <a:xfrm>
            <a:off x="9006177" y="4426610"/>
            <a:ext cx="63423" cy="-63423"/>
          </a:xfrm>
          <a:prstGeom prst="line">
            <a:avLst/>
          </a:prstGeom>
          <a:noFill/>
          <a:ln w="9525">
            <a:solidFill>
              <a:srgbClr val="275B7F">
                <a:alpha val="84000"/>
              </a:srgbClr>
            </a:solidFill>
            <a:prstDash val="solid"/>
          </a:ln>
        </p:spPr>
      </p:sp>
      <p:sp>
        <p:nvSpPr>
          <p:cNvPr id="211" name="Shape 208"/>
          <p:cNvSpPr/>
          <p:nvPr/>
        </p:nvSpPr>
        <p:spPr>
          <a:xfrm>
            <a:off x="9280497" y="4426610"/>
            <a:ext cx="63423" cy="-63423"/>
          </a:xfrm>
          <a:prstGeom prst="line">
            <a:avLst/>
          </a:prstGeom>
          <a:noFill/>
          <a:ln w="9525">
            <a:solidFill>
              <a:srgbClr val="275B7F">
                <a:alpha val="84000"/>
              </a:srgbClr>
            </a:solidFill>
            <a:prstDash val="solid"/>
          </a:ln>
        </p:spPr>
      </p:sp>
      <p:sp>
        <p:nvSpPr>
          <p:cNvPr id="212" name="Shape 209"/>
          <p:cNvSpPr/>
          <p:nvPr/>
        </p:nvSpPr>
        <p:spPr>
          <a:xfrm>
            <a:off x="9554817" y="4426610"/>
            <a:ext cx="63423" cy="-63423"/>
          </a:xfrm>
          <a:prstGeom prst="line">
            <a:avLst/>
          </a:prstGeom>
          <a:noFill/>
          <a:ln w="9525">
            <a:solidFill>
              <a:srgbClr val="275B7F">
                <a:alpha val="84000"/>
              </a:srgbClr>
            </a:solidFill>
            <a:prstDash val="solid"/>
          </a:ln>
        </p:spPr>
      </p:sp>
      <p:sp>
        <p:nvSpPr>
          <p:cNvPr id="213" name="Shape 210"/>
          <p:cNvSpPr/>
          <p:nvPr/>
        </p:nvSpPr>
        <p:spPr>
          <a:xfrm>
            <a:off x="9829137" y="4426610"/>
            <a:ext cx="63423" cy="-63423"/>
          </a:xfrm>
          <a:prstGeom prst="line">
            <a:avLst/>
          </a:prstGeom>
          <a:noFill/>
          <a:ln w="9525">
            <a:solidFill>
              <a:srgbClr val="275B7F">
                <a:alpha val="84000"/>
              </a:srgbClr>
            </a:solidFill>
            <a:prstDash val="solid"/>
          </a:ln>
        </p:spPr>
      </p:sp>
      <p:sp>
        <p:nvSpPr>
          <p:cNvPr id="214" name="Shape 211"/>
          <p:cNvSpPr/>
          <p:nvPr/>
        </p:nvSpPr>
        <p:spPr>
          <a:xfrm>
            <a:off x="10103457" y="4426610"/>
            <a:ext cx="63423" cy="-63423"/>
          </a:xfrm>
          <a:prstGeom prst="line">
            <a:avLst/>
          </a:prstGeom>
          <a:noFill/>
          <a:ln w="9525">
            <a:solidFill>
              <a:srgbClr val="275B7F">
                <a:alpha val="84000"/>
              </a:srgbClr>
            </a:solidFill>
            <a:prstDash val="solid"/>
          </a:ln>
        </p:spPr>
      </p:sp>
      <p:sp>
        <p:nvSpPr>
          <p:cNvPr id="215" name="Shape 212"/>
          <p:cNvSpPr/>
          <p:nvPr/>
        </p:nvSpPr>
        <p:spPr>
          <a:xfrm>
            <a:off x="10377777" y="4426610"/>
            <a:ext cx="63423" cy="-63423"/>
          </a:xfrm>
          <a:prstGeom prst="line">
            <a:avLst/>
          </a:prstGeom>
          <a:noFill/>
          <a:ln w="9525">
            <a:solidFill>
              <a:srgbClr val="275B7F">
                <a:alpha val="84000"/>
              </a:srgbClr>
            </a:solidFill>
            <a:prstDash val="solid"/>
          </a:ln>
        </p:spPr>
      </p:sp>
      <p:sp>
        <p:nvSpPr>
          <p:cNvPr id="216" name="Shape 213"/>
          <p:cNvSpPr/>
          <p:nvPr/>
        </p:nvSpPr>
        <p:spPr>
          <a:xfrm>
            <a:off x="10652097" y="4426610"/>
            <a:ext cx="63423" cy="-63423"/>
          </a:xfrm>
          <a:prstGeom prst="line">
            <a:avLst/>
          </a:prstGeom>
          <a:noFill/>
          <a:ln w="9525">
            <a:solidFill>
              <a:srgbClr val="275B7F">
                <a:alpha val="84000"/>
              </a:srgbClr>
            </a:solidFill>
            <a:prstDash val="solid"/>
          </a:ln>
        </p:spPr>
      </p:sp>
      <p:sp>
        <p:nvSpPr>
          <p:cNvPr id="217" name="Shape 214"/>
          <p:cNvSpPr/>
          <p:nvPr/>
        </p:nvSpPr>
        <p:spPr>
          <a:xfrm>
            <a:off x="10926417" y="4426610"/>
            <a:ext cx="63423" cy="-63423"/>
          </a:xfrm>
          <a:prstGeom prst="line">
            <a:avLst/>
          </a:prstGeom>
          <a:noFill/>
          <a:ln w="9525">
            <a:solidFill>
              <a:srgbClr val="275B7F">
                <a:alpha val="84000"/>
              </a:srgbClr>
            </a:solidFill>
            <a:prstDash val="solid"/>
          </a:ln>
        </p:spPr>
      </p:sp>
      <p:sp>
        <p:nvSpPr>
          <p:cNvPr id="218" name="Shape 215"/>
          <p:cNvSpPr/>
          <p:nvPr/>
        </p:nvSpPr>
        <p:spPr>
          <a:xfrm>
            <a:off x="11200737" y="4426610"/>
            <a:ext cx="63423" cy="-63423"/>
          </a:xfrm>
          <a:prstGeom prst="line">
            <a:avLst/>
          </a:prstGeom>
          <a:noFill/>
          <a:ln w="9525">
            <a:solidFill>
              <a:srgbClr val="275B7F">
                <a:alpha val="84000"/>
              </a:srgbClr>
            </a:solidFill>
            <a:prstDash val="solid"/>
          </a:ln>
        </p:spPr>
      </p:sp>
      <p:sp>
        <p:nvSpPr>
          <p:cNvPr id="219" name="Shape 216"/>
          <p:cNvSpPr/>
          <p:nvPr/>
        </p:nvSpPr>
        <p:spPr>
          <a:xfrm>
            <a:off x="11475057" y="4426610"/>
            <a:ext cx="63423" cy="-63423"/>
          </a:xfrm>
          <a:prstGeom prst="line">
            <a:avLst/>
          </a:prstGeom>
          <a:noFill/>
          <a:ln w="9525">
            <a:solidFill>
              <a:srgbClr val="275B7F">
                <a:alpha val="84000"/>
              </a:srgbClr>
            </a:solidFill>
            <a:prstDash val="solid"/>
          </a:ln>
        </p:spPr>
      </p:sp>
      <p:sp>
        <p:nvSpPr>
          <p:cNvPr id="220" name="Shape 217"/>
          <p:cNvSpPr/>
          <p:nvPr/>
        </p:nvSpPr>
        <p:spPr>
          <a:xfrm>
            <a:off x="6773037" y="4325112"/>
            <a:ext cx="128016" cy="128016"/>
          </a:xfrm>
          <a:prstGeom prst="ellipse">
            <a:avLst/>
          </a:prstGeom>
          <a:solidFill>
            <a:srgbClr val="FFB04C"/>
          </a:solidFill>
          <a:ln w="12700">
            <a:solidFill>
              <a:srgbClr val="FFFFFF"/>
            </a:solidFill>
            <a:prstDash val="solid"/>
          </a:ln>
        </p:spPr>
      </p:sp>
      <p:sp>
        <p:nvSpPr>
          <p:cNvPr id="221" name="Shape 218"/>
          <p:cNvSpPr/>
          <p:nvPr/>
        </p:nvSpPr>
        <p:spPr>
          <a:xfrm>
            <a:off x="8869017" y="4325112"/>
            <a:ext cx="128016" cy="128016"/>
          </a:xfrm>
          <a:prstGeom prst="ellipse">
            <a:avLst/>
          </a:prstGeom>
          <a:solidFill>
            <a:srgbClr val="007A27"/>
          </a:solidFill>
          <a:ln w="12700">
            <a:solidFill>
              <a:srgbClr val="FFFFFF"/>
            </a:solidFill>
            <a:prstDash val="solid"/>
          </a:ln>
        </p:spPr>
      </p:sp>
      <p:sp>
        <p:nvSpPr>
          <p:cNvPr id="222" name="Shape 219"/>
          <p:cNvSpPr/>
          <p:nvPr/>
        </p:nvSpPr>
        <p:spPr>
          <a:xfrm>
            <a:off x="1033272" y="4800600"/>
            <a:ext cx="10536631" cy="0"/>
          </a:xfrm>
          <a:prstGeom prst="line">
            <a:avLst/>
          </a:prstGeom>
          <a:noFill/>
          <a:ln w="4445">
            <a:solidFill>
              <a:srgbClr val="E2E6E2"/>
            </a:solidFill>
            <a:prstDash val="solid"/>
          </a:ln>
        </p:spPr>
      </p:sp>
      <p:sp>
        <p:nvSpPr>
          <p:cNvPr id="223" name="Shape 220"/>
          <p:cNvSpPr/>
          <p:nvPr/>
        </p:nvSpPr>
        <p:spPr>
          <a:xfrm>
            <a:off x="1143000" y="4553712"/>
            <a:ext cx="45720" cy="219456"/>
          </a:xfrm>
          <a:prstGeom prst="roundRect">
            <a:avLst>
              <a:gd name="adj" fmla="val 60000"/>
            </a:avLst>
          </a:prstGeom>
          <a:solidFill>
            <a:srgbClr val="275B7F"/>
          </a:solidFill>
          <a:ln w="12700">
            <a:solidFill>
              <a:srgbClr val="275B7F"/>
            </a:solidFill>
            <a:prstDash val="solid"/>
          </a:ln>
        </p:spPr>
      </p:sp>
      <p:sp>
        <p:nvSpPr>
          <p:cNvPr id="224" name="Text 221"/>
          <p:cNvSpPr/>
          <p:nvPr/>
        </p:nvSpPr>
        <p:spPr>
          <a:xfrm>
            <a:off x="1243584" y="451713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Utility Data Management</a:t>
            </a:r>
            <a:endParaRPr lang="en-US" sz="950" dirty="0"/>
          </a:p>
        </p:txBody>
      </p:sp>
      <p:sp>
        <p:nvSpPr>
          <p:cNvPr id="225" name="Shape 222"/>
          <p:cNvSpPr/>
          <p:nvPr/>
        </p:nvSpPr>
        <p:spPr>
          <a:xfrm>
            <a:off x="4808677" y="4616806"/>
            <a:ext cx="3651062" cy="93269"/>
          </a:xfrm>
          <a:prstGeom prst="roundRect">
            <a:avLst>
              <a:gd name="adj" fmla="val 39216"/>
            </a:avLst>
          </a:prstGeom>
          <a:solidFill>
            <a:srgbClr val="275B7F"/>
          </a:solidFill>
          <a:ln w="5080">
            <a:solidFill>
              <a:srgbClr val="275B7F"/>
            </a:solidFill>
            <a:prstDash val="solid"/>
          </a:ln>
        </p:spPr>
      </p:sp>
      <p:sp>
        <p:nvSpPr>
          <p:cNvPr id="226" name="Shape 223"/>
          <p:cNvSpPr/>
          <p:nvPr/>
        </p:nvSpPr>
        <p:spPr>
          <a:xfrm>
            <a:off x="8459739" y="4616806"/>
            <a:ext cx="3110164"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227" name="Shape 224"/>
          <p:cNvSpPr/>
          <p:nvPr/>
        </p:nvSpPr>
        <p:spPr>
          <a:xfrm>
            <a:off x="8532891" y="4700930"/>
            <a:ext cx="63423" cy="-63423"/>
          </a:xfrm>
          <a:prstGeom prst="line">
            <a:avLst/>
          </a:prstGeom>
          <a:noFill/>
          <a:ln w="9525">
            <a:solidFill>
              <a:srgbClr val="275B7F">
                <a:alpha val="84000"/>
              </a:srgbClr>
            </a:solidFill>
            <a:prstDash val="solid"/>
          </a:ln>
        </p:spPr>
      </p:sp>
      <p:sp>
        <p:nvSpPr>
          <p:cNvPr id="228" name="Shape 225"/>
          <p:cNvSpPr/>
          <p:nvPr/>
        </p:nvSpPr>
        <p:spPr>
          <a:xfrm>
            <a:off x="8807211" y="4700930"/>
            <a:ext cx="63423" cy="-63423"/>
          </a:xfrm>
          <a:prstGeom prst="line">
            <a:avLst/>
          </a:prstGeom>
          <a:noFill/>
          <a:ln w="9525">
            <a:solidFill>
              <a:srgbClr val="275B7F">
                <a:alpha val="84000"/>
              </a:srgbClr>
            </a:solidFill>
            <a:prstDash val="solid"/>
          </a:ln>
        </p:spPr>
      </p:sp>
      <p:sp>
        <p:nvSpPr>
          <p:cNvPr id="229" name="Shape 226"/>
          <p:cNvSpPr/>
          <p:nvPr/>
        </p:nvSpPr>
        <p:spPr>
          <a:xfrm>
            <a:off x="9081531" y="4700930"/>
            <a:ext cx="63423" cy="-63423"/>
          </a:xfrm>
          <a:prstGeom prst="line">
            <a:avLst/>
          </a:prstGeom>
          <a:noFill/>
          <a:ln w="9525">
            <a:solidFill>
              <a:srgbClr val="275B7F">
                <a:alpha val="84000"/>
              </a:srgbClr>
            </a:solidFill>
            <a:prstDash val="solid"/>
          </a:ln>
        </p:spPr>
      </p:sp>
      <p:sp>
        <p:nvSpPr>
          <p:cNvPr id="230" name="Shape 227"/>
          <p:cNvSpPr/>
          <p:nvPr/>
        </p:nvSpPr>
        <p:spPr>
          <a:xfrm>
            <a:off x="9355851" y="4700930"/>
            <a:ext cx="63423" cy="-63423"/>
          </a:xfrm>
          <a:prstGeom prst="line">
            <a:avLst/>
          </a:prstGeom>
          <a:noFill/>
          <a:ln w="9525">
            <a:solidFill>
              <a:srgbClr val="275B7F">
                <a:alpha val="84000"/>
              </a:srgbClr>
            </a:solidFill>
            <a:prstDash val="solid"/>
          </a:ln>
        </p:spPr>
      </p:sp>
      <p:sp>
        <p:nvSpPr>
          <p:cNvPr id="231" name="Shape 228"/>
          <p:cNvSpPr/>
          <p:nvPr/>
        </p:nvSpPr>
        <p:spPr>
          <a:xfrm>
            <a:off x="9630171" y="4700930"/>
            <a:ext cx="63423" cy="-63423"/>
          </a:xfrm>
          <a:prstGeom prst="line">
            <a:avLst/>
          </a:prstGeom>
          <a:noFill/>
          <a:ln w="9525">
            <a:solidFill>
              <a:srgbClr val="275B7F">
                <a:alpha val="84000"/>
              </a:srgbClr>
            </a:solidFill>
            <a:prstDash val="solid"/>
          </a:ln>
        </p:spPr>
      </p:sp>
      <p:sp>
        <p:nvSpPr>
          <p:cNvPr id="232" name="Shape 229"/>
          <p:cNvSpPr/>
          <p:nvPr/>
        </p:nvSpPr>
        <p:spPr>
          <a:xfrm>
            <a:off x="9904491" y="4700930"/>
            <a:ext cx="63423" cy="-63423"/>
          </a:xfrm>
          <a:prstGeom prst="line">
            <a:avLst/>
          </a:prstGeom>
          <a:noFill/>
          <a:ln w="9525">
            <a:solidFill>
              <a:srgbClr val="275B7F">
                <a:alpha val="84000"/>
              </a:srgbClr>
            </a:solidFill>
            <a:prstDash val="solid"/>
          </a:ln>
        </p:spPr>
      </p:sp>
      <p:sp>
        <p:nvSpPr>
          <p:cNvPr id="233" name="Shape 230"/>
          <p:cNvSpPr/>
          <p:nvPr/>
        </p:nvSpPr>
        <p:spPr>
          <a:xfrm>
            <a:off x="10178811" y="4700930"/>
            <a:ext cx="63423" cy="-63423"/>
          </a:xfrm>
          <a:prstGeom prst="line">
            <a:avLst/>
          </a:prstGeom>
          <a:noFill/>
          <a:ln w="9525">
            <a:solidFill>
              <a:srgbClr val="275B7F">
                <a:alpha val="84000"/>
              </a:srgbClr>
            </a:solidFill>
            <a:prstDash val="solid"/>
          </a:ln>
        </p:spPr>
      </p:sp>
      <p:sp>
        <p:nvSpPr>
          <p:cNvPr id="234" name="Shape 231"/>
          <p:cNvSpPr/>
          <p:nvPr/>
        </p:nvSpPr>
        <p:spPr>
          <a:xfrm>
            <a:off x="10453131" y="4700930"/>
            <a:ext cx="63423" cy="-63423"/>
          </a:xfrm>
          <a:prstGeom prst="line">
            <a:avLst/>
          </a:prstGeom>
          <a:noFill/>
          <a:ln w="9525">
            <a:solidFill>
              <a:srgbClr val="275B7F">
                <a:alpha val="84000"/>
              </a:srgbClr>
            </a:solidFill>
            <a:prstDash val="solid"/>
          </a:ln>
        </p:spPr>
      </p:sp>
      <p:sp>
        <p:nvSpPr>
          <p:cNvPr id="235" name="Shape 232"/>
          <p:cNvSpPr/>
          <p:nvPr/>
        </p:nvSpPr>
        <p:spPr>
          <a:xfrm>
            <a:off x="10727451" y="4700930"/>
            <a:ext cx="63423" cy="-63423"/>
          </a:xfrm>
          <a:prstGeom prst="line">
            <a:avLst/>
          </a:prstGeom>
          <a:noFill/>
          <a:ln w="9525">
            <a:solidFill>
              <a:srgbClr val="275B7F">
                <a:alpha val="84000"/>
              </a:srgbClr>
            </a:solidFill>
            <a:prstDash val="solid"/>
          </a:ln>
        </p:spPr>
      </p:sp>
      <p:sp>
        <p:nvSpPr>
          <p:cNvPr id="236" name="Shape 233"/>
          <p:cNvSpPr/>
          <p:nvPr/>
        </p:nvSpPr>
        <p:spPr>
          <a:xfrm>
            <a:off x="11001771" y="4700930"/>
            <a:ext cx="63423" cy="-63423"/>
          </a:xfrm>
          <a:prstGeom prst="line">
            <a:avLst/>
          </a:prstGeom>
          <a:noFill/>
          <a:ln w="9525">
            <a:solidFill>
              <a:srgbClr val="275B7F">
                <a:alpha val="84000"/>
              </a:srgbClr>
            </a:solidFill>
            <a:prstDash val="solid"/>
          </a:ln>
        </p:spPr>
      </p:sp>
      <p:sp>
        <p:nvSpPr>
          <p:cNvPr id="237" name="Shape 234"/>
          <p:cNvSpPr/>
          <p:nvPr/>
        </p:nvSpPr>
        <p:spPr>
          <a:xfrm>
            <a:off x="11276091" y="4700930"/>
            <a:ext cx="63423" cy="-63423"/>
          </a:xfrm>
          <a:prstGeom prst="line">
            <a:avLst/>
          </a:prstGeom>
          <a:noFill/>
          <a:ln w="9525">
            <a:solidFill>
              <a:srgbClr val="275B7F">
                <a:alpha val="84000"/>
              </a:srgbClr>
            </a:solidFill>
            <a:prstDash val="solid"/>
          </a:ln>
        </p:spPr>
      </p:sp>
      <p:sp>
        <p:nvSpPr>
          <p:cNvPr id="238" name="Shape 235"/>
          <p:cNvSpPr/>
          <p:nvPr/>
        </p:nvSpPr>
        <p:spPr>
          <a:xfrm>
            <a:off x="7111098" y="4599432"/>
            <a:ext cx="128016" cy="128016"/>
          </a:xfrm>
          <a:prstGeom prst="ellipse">
            <a:avLst/>
          </a:prstGeom>
          <a:solidFill>
            <a:srgbClr val="FFB04C"/>
          </a:solidFill>
          <a:ln w="12700">
            <a:solidFill>
              <a:srgbClr val="FFFFFF"/>
            </a:solidFill>
            <a:prstDash val="solid"/>
          </a:ln>
        </p:spPr>
      </p:sp>
      <p:sp>
        <p:nvSpPr>
          <p:cNvPr id="239" name="Shape 236"/>
          <p:cNvSpPr/>
          <p:nvPr/>
        </p:nvSpPr>
        <p:spPr>
          <a:xfrm>
            <a:off x="8395731" y="4599432"/>
            <a:ext cx="128016" cy="128016"/>
          </a:xfrm>
          <a:prstGeom prst="ellipse">
            <a:avLst/>
          </a:prstGeom>
          <a:solidFill>
            <a:srgbClr val="007A27"/>
          </a:solidFill>
          <a:ln w="12700">
            <a:solidFill>
              <a:srgbClr val="FFFFFF"/>
            </a:solidFill>
            <a:prstDash val="solid"/>
          </a:ln>
        </p:spPr>
      </p:sp>
      <p:sp>
        <p:nvSpPr>
          <p:cNvPr id="240" name="Shape 237"/>
          <p:cNvSpPr/>
          <p:nvPr/>
        </p:nvSpPr>
        <p:spPr>
          <a:xfrm>
            <a:off x="1033272" y="4800600"/>
            <a:ext cx="2423160" cy="274320"/>
          </a:xfrm>
          <a:prstGeom prst="rect">
            <a:avLst/>
          </a:prstGeom>
          <a:solidFill>
            <a:srgbClr val="F1F3F2">
              <a:alpha val="55000"/>
            </a:srgbClr>
          </a:solidFill>
          <a:ln w="12700">
            <a:solidFill>
              <a:srgbClr val="F1F3F2">
                <a:alpha val="0"/>
              </a:srgbClr>
            </a:solidFill>
            <a:prstDash val="solid"/>
          </a:ln>
        </p:spPr>
      </p:sp>
      <p:sp>
        <p:nvSpPr>
          <p:cNvPr id="241" name="Shape 238"/>
          <p:cNvSpPr/>
          <p:nvPr/>
        </p:nvSpPr>
        <p:spPr>
          <a:xfrm>
            <a:off x="1033272" y="5074920"/>
            <a:ext cx="10536631" cy="0"/>
          </a:xfrm>
          <a:prstGeom prst="line">
            <a:avLst/>
          </a:prstGeom>
          <a:noFill/>
          <a:ln w="4445">
            <a:solidFill>
              <a:srgbClr val="E2E6E2"/>
            </a:solidFill>
            <a:prstDash val="solid"/>
          </a:ln>
        </p:spPr>
      </p:sp>
      <p:sp>
        <p:nvSpPr>
          <p:cNvPr id="242" name="Shape 239"/>
          <p:cNvSpPr/>
          <p:nvPr/>
        </p:nvSpPr>
        <p:spPr>
          <a:xfrm>
            <a:off x="1143000" y="4828032"/>
            <a:ext cx="45720" cy="219456"/>
          </a:xfrm>
          <a:prstGeom prst="roundRect">
            <a:avLst>
              <a:gd name="adj" fmla="val 60000"/>
            </a:avLst>
          </a:prstGeom>
          <a:solidFill>
            <a:srgbClr val="275B7F"/>
          </a:solidFill>
          <a:ln w="12700">
            <a:solidFill>
              <a:srgbClr val="275B7F"/>
            </a:solidFill>
            <a:prstDash val="solid"/>
          </a:ln>
        </p:spPr>
      </p:sp>
      <p:sp>
        <p:nvSpPr>
          <p:cNvPr id="243" name="Text 240"/>
          <p:cNvSpPr/>
          <p:nvPr/>
        </p:nvSpPr>
        <p:spPr>
          <a:xfrm>
            <a:off x="1243584" y="479145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Budget &amp; Tariff Intelligence</a:t>
            </a:r>
            <a:endParaRPr lang="en-US" sz="950" dirty="0"/>
          </a:p>
        </p:txBody>
      </p:sp>
      <p:sp>
        <p:nvSpPr>
          <p:cNvPr id="244" name="Shape 241"/>
          <p:cNvSpPr/>
          <p:nvPr/>
        </p:nvSpPr>
        <p:spPr>
          <a:xfrm>
            <a:off x="5484800" y="4891126"/>
            <a:ext cx="3651062" cy="93269"/>
          </a:xfrm>
          <a:prstGeom prst="roundRect">
            <a:avLst>
              <a:gd name="adj" fmla="val 39216"/>
            </a:avLst>
          </a:prstGeom>
          <a:solidFill>
            <a:srgbClr val="275B7F"/>
          </a:solidFill>
          <a:ln w="5080">
            <a:solidFill>
              <a:srgbClr val="275B7F"/>
            </a:solidFill>
            <a:prstDash val="solid"/>
          </a:ln>
        </p:spPr>
      </p:sp>
      <p:sp>
        <p:nvSpPr>
          <p:cNvPr id="245" name="Shape 242"/>
          <p:cNvSpPr/>
          <p:nvPr/>
        </p:nvSpPr>
        <p:spPr>
          <a:xfrm>
            <a:off x="9135862" y="4891126"/>
            <a:ext cx="2434041"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246" name="Shape 243"/>
          <p:cNvSpPr/>
          <p:nvPr/>
        </p:nvSpPr>
        <p:spPr>
          <a:xfrm>
            <a:off x="9209014" y="4975250"/>
            <a:ext cx="63423" cy="-63423"/>
          </a:xfrm>
          <a:prstGeom prst="line">
            <a:avLst/>
          </a:prstGeom>
          <a:noFill/>
          <a:ln w="9525">
            <a:solidFill>
              <a:srgbClr val="275B7F">
                <a:alpha val="84000"/>
              </a:srgbClr>
            </a:solidFill>
            <a:prstDash val="solid"/>
          </a:ln>
        </p:spPr>
      </p:sp>
      <p:sp>
        <p:nvSpPr>
          <p:cNvPr id="247" name="Shape 244"/>
          <p:cNvSpPr/>
          <p:nvPr/>
        </p:nvSpPr>
        <p:spPr>
          <a:xfrm>
            <a:off x="9483334" y="4975250"/>
            <a:ext cx="63423" cy="-63423"/>
          </a:xfrm>
          <a:prstGeom prst="line">
            <a:avLst/>
          </a:prstGeom>
          <a:noFill/>
          <a:ln w="9525">
            <a:solidFill>
              <a:srgbClr val="275B7F">
                <a:alpha val="84000"/>
              </a:srgbClr>
            </a:solidFill>
            <a:prstDash val="solid"/>
          </a:ln>
        </p:spPr>
      </p:sp>
      <p:sp>
        <p:nvSpPr>
          <p:cNvPr id="248" name="Shape 245"/>
          <p:cNvSpPr/>
          <p:nvPr/>
        </p:nvSpPr>
        <p:spPr>
          <a:xfrm>
            <a:off x="9757654" y="4975250"/>
            <a:ext cx="63423" cy="-63423"/>
          </a:xfrm>
          <a:prstGeom prst="line">
            <a:avLst/>
          </a:prstGeom>
          <a:noFill/>
          <a:ln w="9525">
            <a:solidFill>
              <a:srgbClr val="275B7F">
                <a:alpha val="84000"/>
              </a:srgbClr>
            </a:solidFill>
            <a:prstDash val="solid"/>
          </a:ln>
        </p:spPr>
      </p:sp>
      <p:sp>
        <p:nvSpPr>
          <p:cNvPr id="249" name="Shape 246"/>
          <p:cNvSpPr/>
          <p:nvPr/>
        </p:nvSpPr>
        <p:spPr>
          <a:xfrm>
            <a:off x="10031974" y="4975250"/>
            <a:ext cx="63423" cy="-63423"/>
          </a:xfrm>
          <a:prstGeom prst="line">
            <a:avLst/>
          </a:prstGeom>
          <a:noFill/>
          <a:ln w="9525">
            <a:solidFill>
              <a:srgbClr val="275B7F">
                <a:alpha val="84000"/>
              </a:srgbClr>
            </a:solidFill>
            <a:prstDash val="solid"/>
          </a:ln>
        </p:spPr>
      </p:sp>
      <p:sp>
        <p:nvSpPr>
          <p:cNvPr id="250" name="Shape 247"/>
          <p:cNvSpPr/>
          <p:nvPr/>
        </p:nvSpPr>
        <p:spPr>
          <a:xfrm>
            <a:off x="10306294" y="4975250"/>
            <a:ext cx="63423" cy="-63423"/>
          </a:xfrm>
          <a:prstGeom prst="line">
            <a:avLst/>
          </a:prstGeom>
          <a:noFill/>
          <a:ln w="9525">
            <a:solidFill>
              <a:srgbClr val="275B7F">
                <a:alpha val="84000"/>
              </a:srgbClr>
            </a:solidFill>
            <a:prstDash val="solid"/>
          </a:ln>
        </p:spPr>
      </p:sp>
      <p:sp>
        <p:nvSpPr>
          <p:cNvPr id="251" name="Shape 248"/>
          <p:cNvSpPr/>
          <p:nvPr/>
        </p:nvSpPr>
        <p:spPr>
          <a:xfrm>
            <a:off x="10580614" y="4975250"/>
            <a:ext cx="63423" cy="-63423"/>
          </a:xfrm>
          <a:prstGeom prst="line">
            <a:avLst/>
          </a:prstGeom>
          <a:noFill/>
          <a:ln w="9525">
            <a:solidFill>
              <a:srgbClr val="275B7F">
                <a:alpha val="84000"/>
              </a:srgbClr>
            </a:solidFill>
            <a:prstDash val="solid"/>
          </a:ln>
        </p:spPr>
      </p:sp>
      <p:sp>
        <p:nvSpPr>
          <p:cNvPr id="252" name="Shape 249"/>
          <p:cNvSpPr/>
          <p:nvPr/>
        </p:nvSpPr>
        <p:spPr>
          <a:xfrm>
            <a:off x="10854934" y="4975250"/>
            <a:ext cx="63423" cy="-63423"/>
          </a:xfrm>
          <a:prstGeom prst="line">
            <a:avLst/>
          </a:prstGeom>
          <a:noFill/>
          <a:ln w="9525">
            <a:solidFill>
              <a:srgbClr val="275B7F">
                <a:alpha val="84000"/>
              </a:srgbClr>
            </a:solidFill>
            <a:prstDash val="solid"/>
          </a:ln>
        </p:spPr>
      </p:sp>
      <p:sp>
        <p:nvSpPr>
          <p:cNvPr id="253" name="Shape 250"/>
          <p:cNvSpPr/>
          <p:nvPr/>
        </p:nvSpPr>
        <p:spPr>
          <a:xfrm>
            <a:off x="11129254" y="4975250"/>
            <a:ext cx="63423" cy="-63423"/>
          </a:xfrm>
          <a:prstGeom prst="line">
            <a:avLst/>
          </a:prstGeom>
          <a:noFill/>
          <a:ln w="9525">
            <a:solidFill>
              <a:srgbClr val="275B7F">
                <a:alpha val="84000"/>
              </a:srgbClr>
            </a:solidFill>
            <a:prstDash val="solid"/>
          </a:ln>
        </p:spPr>
      </p:sp>
      <p:sp>
        <p:nvSpPr>
          <p:cNvPr id="254" name="Shape 251"/>
          <p:cNvSpPr/>
          <p:nvPr/>
        </p:nvSpPr>
        <p:spPr>
          <a:xfrm>
            <a:off x="11403574" y="4975250"/>
            <a:ext cx="63423" cy="-63423"/>
          </a:xfrm>
          <a:prstGeom prst="line">
            <a:avLst/>
          </a:prstGeom>
          <a:noFill/>
          <a:ln w="9525">
            <a:solidFill>
              <a:srgbClr val="275B7F">
                <a:alpha val="84000"/>
              </a:srgbClr>
            </a:solidFill>
            <a:prstDash val="solid"/>
          </a:ln>
        </p:spPr>
      </p:sp>
      <p:sp>
        <p:nvSpPr>
          <p:cNvPr id="255" name="Shape 252"/>
          <p:cNvSpPr/>
          <p:nvPr/>
        </p:nvSpPr>
        <p:spPr>
          <a:xfrm>
            <a:off x="7719609" y="4873752"/>
            <a:ext cx="128016" cy="128016"/>
          </a:xfrm>
          <a:prstGeom prst="ellipse">
            <a:avLst/>
          </a:prstGeom>
          <a:solidFill>
            <a:srgbClr val="FFB04C"/>
          </a:solidFill>
          <a:ln w="12700">
            <a:solidFill>
              <a:srgbClr val="FFFFFF"/>
            </a:solidFill>
            <a:prstDash val="solid"/>
          </a:ln>
        </p:spPr>
      </p:sp>
      <p:sp>
        <p:nvSpPr>
          <p:cNvPr id="256" name="Shape 253"/>
          <p:cNvSpPr/>
          <p:nvPr/>
        </p:nvSpPr>
        <p:spPr>
          <a:xfrm>
            <a:off x="9071854" y="4873752"/>
            <a:ext cx="128016" cy="128016"/>
          </a:xfrm>
          <a:prstGeom prst="ellipse">
            <a:avLst/>
          </a:prstGeom>
          <a:solidFill>
            <a:srgbClr val="007A27"/>
          </a:solidFill>
          <a:ln w="12700">
            <a:solidFill>
              <a:srgbClr val="FFFFFF"/>
            </a:solidFill>
            <a:prstDash val="solid"/>
          </a:ln>
        </p:spPr>
      </p:sp>
      <p:sp>
        <p:nvSpPr>
          <p:cNvPr id="257" name="Shape 254"/>
          <p:cNvSpPr/>
          <p:nvPr/>
        </p:nvSpPr>
        <p:spPr>
          <a:xfrm>
            <a:off x="1033272" y="5349240"/>
            <a:ext cx="10536631" cy="0"/>
          </a:xfrm>
          <a:prstGeom prst="line">
            <a:avLst/>
          </a:prstGeom>
          <a:noFill/>
          <a:ln w="4445">
            <a:solidFill>
              <a:srgbClr val="E2E6E2"/>
            </a:solidFill>
            <a:prstDash val="solid"/>
          </a:ln>
        </p:spPr>
      </p:sp>
      <p:sp>
        <p:nvSpPr>
          <p:cNvPr id="258" name="Shape 255"/>
          <p:cNvSpPr/>
          <p:nvPr/>
        </p:nvSpPr>
        <p:spPr>
          <a:xfrm>
            <a:off x="1143000" y="5102352"/>
            <a:ext cx="45720" cy="219456"/>
          </a:xfrm>
          <a:prstGeom prst="roundRect">
            <a:avLst>
              <a:gd name="adj" fmla="val 60000"/>
            </a:avLst>
          </a:prstGeom>
          <a:solidFill>
            <a:srgbClr val="275B7F"/>
          </a:solidFill>
          <a:ln w="12700">
            <a:solidFill>
              <a:srgbClr val="275B7F"/>
            </a:solidFill>
            <a:prstDash val="solid"/>
          </a:ln>
        </p:spPr>
      </p:sp>
      <p:sp>
        <p:nvSpPr>
          <p:cNvPr id="259" name="Text 256"/>
          <p:cNvSpPr/>
          <p:nvPr/>
        </p:nvSpPr>
        <p:spPr>
          <a:xfrm>
            <a:off x="1243584" y="506577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Sourcing &amp; Procurement</a:t>
            </a:r>
            <a:endParaRPr lang="en-US" sz="950" dirty="0"/>
          </a:p>
        </p:txBody>
      </p:sp>
      <p:sp>
        <p:nvSpPr>
          <p:cNvPr id="260" name="Shape 257"/>
          <p:cNvSpPr/>
          <p:nvPr/>
        </p:nvSpPr>
        <p:spPr>
          <a:xfrm>
            <a:off x="6160922" y="5165446"/>
            <a:ext cx="4327185" cy="93269"/>
          </a:xfrm>
          <a:prstGeom prst="roundRect">
            <a:avLst>
              <a:gd name="adj" fmla="val 39216"/>
            </a:avLst>
          </a:prstGeom>
          <a:solidFill>
            <a:srgbClr val="275B7F"/>
          </a:solidFill>
          <a:ln w="5080">
            <a:solidFill>
              <a:srgbClr val="275B7F"/>
            </a:solidFill>
            <a:prstDash val="solid"/>
          </a:ln>
        </p:spPr>
      </p:sp>
      <p:sp>
        <p:nvSpPr>
          <p:cNvPr id="261" name="Shape 258"/>
          <p:cNvSpPr/>
          <p:nvPr/>
        </p:nvSpPr>
        <p:spPr>
          <a:xfrm>
            <a:off x="10488107" y="5165446"/>
            <a:ext cx="1081796"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262" name="Shape 259"/>
          <p:cNvSpPr/>
          <p:nvPr/>
        </p:nvSpPr>
        <p:spPr>
          <a:xfrm>
            <a:off x="10561259" y="5249570"/>
            <a:ext cx="63423" cy="-63423"/>
          </a:xfrm>
          <a:prstGeom prst="line">
            <a:avLst/>
          </a:prstGeom>
          <a:noFill/>
          <a:ln w="9525">
            <a:solidFill>
              <a:srgbClr val="275B7F">
                <a:alpha val="84000"/>
              </a:srgbClr>
            </a:solidFill>
            <a:prstDash val="solid"/>
          </a:ln>
        </p:spPr>
      </p:sp>
      <p:sp>
        <p:nvSpPr>
          <p:cNvPr id="263" name="Shape 260"/>
          <p:cNvSpPr/>
          <p:nvPr/>
        </p:nvSpPr>
        <p:spPr>
          <a:xfrm>
            <a:off x="10835579" y="5249570"/>
            <a:ext cx="63423" cy="-63423"/>
          </a:xfrm>
          <a:prstGeom prst="line">
            <a:avLst/>
          </a:prstGeom>
          <a:noFill/>
          <a:ln w="9525">
            <a:solidFill>
              <a:srgbClr val="275B7F">
                <a:alpha val="84000"/>
              </a:srgbClr>
            </a:solidFill>
            <a:prstDash val="solid"/>
          </a:ln>
        </p:spPr>
      </p:sp>
      <p:sp>
        <p:nvSpPr>
          <p:cNvPr id="264" name="Shape 261"/>
          <p:cNvSpPr/>
          <p:nvPr/>
        </p:nvSpPr>
        <p:spPr>
          <a:xfrm>
            <a:off x="11109899" y="5249570"/>
            <a:ext cx="63423" cy="-63423"/>
          </a:xfrm>
          <a:prstGeom prst="line">
            <a:avLst/>
          </a:prstGeom>
          <a:noFill/>
          <a:ln w="9525">
            <a:solidFill>
              <a:srgbClr val="275B7F">
                <a:alpha val="84000"/>
              </a:srgbClr>
            </a:solidFill>
            <a:prstDash val="solid"/>
          </a:ln>
        </p:spPr>
      </p:sp>
      <p:sp>
        <p:nvSpPr>
          <p:cNvPr id="265" name="Shape 262"/>
          <p:cNvSpPr/>
          <p:nvPr/>
        </p:nvSpPr>
        <p:spPr>
          <a:xfrm>
            <a:off x="11384219" y="5249570"/>
            <a:ext cx="63423" cy="-63423"/>
          </a:xfrm>
          <a:prstGeom prst="line">
            <a:avLst/>
          </a:prstGeom>
          <a:noFill/>
          <a:ln w="9525">
            <a:solidFill>
              <a:srgbClr val="275B7F">
                <a:alpha val="84000"/>
              </a:srgbClr>
            </a:solidFill>
            <a:prstDash val="solid"/>
          </a:ln>
        </p:spPr>
      </p:sp>
      <p:sp>
        <p:nvSpPr>
          <p:cNvPr id="266" name="Shape 263"/>
          <p:cNvSpPr/>
          <p:nvPr/>
        </p:nvSpPr>
        <p:spPr>
          <a:xfrm>
            <a:off x="9071854" y="5148072"/>
            <a:ext cx="128016" cy="128016"/>
          </a:xfrm>
          <a:prstGeom prst="ellipse">
            <a:avLst/>
          </a:prstGeom>
          <a:solidFill>
            <a:srgbClr val="FFB04C"/>
          </a:solidFill>
          <a:ln w="12700">
            <a:solidFill>
              <a:srgbClr val="FFFFFF"/>
            </a:solidFill>
            <a:prstDash val="solid"/>
          </a:ln>
        </p:spPr>
      </p:sp>
      <p:sp>
        <p:nvSpPr>
          <p:cNvPr id="267" name="Shape 264"/>
          <p:cNvSpPr/>
          <p:nvPr/>
        </p:nvSpPr>
        <p:spPr>
          <a:xfrm>
            <a:off x="10424099" y="5148072"/>
            <a:ext cx="128016" cy="128016"/>
          </a:xfrm>
          <a:prstGeom prst="ellipse">
            <a:avLst/>
          </a:prstGeom>
          <a:solidFill>
            <a:srgbClr val="007A27"/>
          </a:solidFill>
          <a:ln w="12700">
            <a:solidFill>
              <a:srgbClr val="FFFFFF"/>
            </a:solidFill>
            <a:prstDash val="solid"/>
          </a:ln>
        </p:spPr>
      </p:sp>
      <p:sp>
        <p:nvSpPr>
          <p:cNvPr id="268" name="Shape 265"/>
          <p:cNvSpPr/>
          <p:nvPr/>
        </p:nvSpPr>
        <p:spPr>
          <a:xfrm>
            <a:off x="1033272" y="5349240"/>
            <a:ext cx="2423160" cy="274320"/>
          </a:xfrm>
          <a:prstGeom prst="rect">
            <a:avLst/>
          </a:prstGeom>
          <a:solidFill>
            <a:srgbClr val="F1F3F2">
              <a:alpha val="55000"/>
            </a:srgbClr>
          </a:solidFill>
          <a:ln w="12700">
            <a:solidFill>
              <a:srgbClr val="F1F3F2">
                <a:alpha val="0"/>
              </a:srgbClr>
            </a:solidFill>
            <a:prstDash val="solid"/>
          </a:ln>
        </p:spPr>
      </p:sp>
      <p:sp>
        <p:nvSpPr>
          <p:cNvPr id="269" name="Shape 266"/>
          <p:cNvSpPr/>
          <p:nvPr/>
        </p:nvSpPr>
        <p:spPr>
          <a:xfrm>
            <a:off x="1033272" y="5623560"/>
            <a:ext cx="10536631" cy="0"/>
          </a:xfrm>
          <a:prstGeom prst="line">
            <a:avLst/>
          </a:prstGeom>
          <a:noFill/>
          <a:ln w="4445">
            <a:solidFill>
              <a:srgbClr val="E2E6E2"/>
            </a:solidFill>
            <a:prstDash val="solid"/>
          </a:ln>
        </p:spPr>
      </p:sp>
      <p:sp>
        <p:nvSpPr>
          <p:cNvPr id="270" name="Shape 267"/>
          <p:cNvSpPr/>
          <p:nvPr/>
        </p:nvSpPr>
        <p:spPr>
          <a:xfrm>
            <a:off x="1143000" y="5376672"/>
            <a:ext cx="45720" cy="219456"/>
          </a:xfrm>
          <a:prstGeom prst="roundRect">
            <a:avLst>
              <a:gd name="adj" fmla="val 60000"/>
            </a:avLst>
          </a:prstGeom>
          <a:solidFill>
            <a:srgbClr val="275B7F"/>
          </a:solidFill>
          <a:ln w="12700">
            <a:solidFill>
              <a:srgbClr val="275B7F"/>
            </a:solidFill>
            <a:prstDash val="solid"/>
          </a:ln>
        </p:spPr>
      </p:sp>
      <p:sp>
        <p:nvSpPr>
          <p:cNvPr id="271" name="Text 268"/>
          <p:cNvSpPr/>
          <p:nvPr/>
        </p:nvSpPr>
        <p:spPr>
          <a:xfrm>
            <a:off x="1243584" y="534009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PPAs &amp; EACs</a:t>
            </a:r>
            <a:endParaRPr lang="en-US" sz="950" dirty="0"/>
          </a:p>
        </p:txBody>
      </p:sp>
      <p:sp>
        <p:nvSpPr>
          <p:cNvPr id="272" name="Shape 269"/>
          <p:cNvSpPr/>
          <p:nvPr/>
        </p:nvSpPr>
        <p:spPr>
          <a:xfrm>
            <a:off x="6837045" y="5439766"/>
            <a:ext cx="4327185" cy="93269"/>
          </a:xfrm>
          <a:prstGeom prst="roundRect">
            <a:avLst>
              <a:gd name="adj" fmla="val 39216"/>
            </a:avLst>
          </a:prstGeom>
          <a:solidFill>
            <a:srgbClr val="275B7F"/>
          </a:solidFill>
          <a:ln w="5080">
            <a:solidFill>
              <a:srgbClr val="275B7F"/>
            </a:solidFill>
            <a:prstDash val="solid"/>
          </a:ln>
        </p:spPr>
      </p:sp>
      <p:sp>
        <p:nvSpPr>
          <p:cNvPr id="273" name="Shape 270"/>
          <p:cNvSpPr/>
          <p:nvPr/>
        </p:nvSpPr>
        <p:spPr>
          <a:xfrm>
            <a:off x="11164230" y="5439766"/>
            <a:ext cx="405674"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274" name="Shape 271"/>
          <p:cNvSpPr/>
          <p:nvPr/>
        </p:nvSpPr>
        <p:spPr>
          <a:xfrm>
            <a:off x="11237382" y="5523890"/>
            <a:ext cx="63423" cy="-63423"/>
          </a:xfrm>
          <a:prstGeom prst="line">
            <a:avLst/>
          </a:prstGeom>
          <a:noFill/>
          <a:ln w="9525">
            <a:solidFill>
              <a:srgbClr val="275B7F">
                <a:alpha val="84000"/>
              </a:srgbClr>
            </a:solidFill>
            <a:prstDash val="solid"/>
          </a:ln>
        </p:spPr>
      </p:sp>
      <p:sp>
        <p:nvSpPr>
          <p:cNvPr id="275" name="Shape 272"/>
          <p:cNvSpPr/>
          <p:nvPr/>
        </p:nvSpPr>
        <p:spPr>
          <a:xfrm>
            <a:off x="11511702" y="5523890"/>
            <a:ext cx="58202" cy="-58202"/>
          </a:xfrm>
          <a:prstGeom prst="line">
            <a:avLst/>
          </a:prstGeom>
          <a:noFill/>
          <a:ln w="9525">
            <a:solidFill>
              <a:srgbClr val="275B7F">
                <a:alpha val="84000"/>
              </a:srgbClr>
            </a:solidFill>
            <a:prstDash val="solid"/>
          </a:ln>
        </p:spPr>
      </p:sp>
      <p:sp>
        <p:nvSpPr>
          <p:cNvPr id="276" name="Shape 273"/>
          <p:cNvSpPr/>
          <p:nvPr/>
        </p:nvSpPr>
        <p:spPr>
          <a:xfrm>
            <a:off x="9747976" y="5422392"/>
            <a:ext cx="128016" cy="128016"/>
          </a:xfrm>
          <a:prstGeom prst="ellipse">
            <a:avLst/>
          </a:prstGeom>
          <a:solidFill>
            <a:srgbClr val="FFB04C"/>
          </a:solidFill>
          <a:ln w="12700">
            <a:solidFill>
              <a:srgbClr val="FFFFFF"/>
            </a:solidFill>
            <a:prstDash val="solid"/>
          </a:ln>
        </p:spPr>
      </p:sp>
      <p:sp>
        <p:nvSpPr>
          <p:cNvPr id="277" name="Shape 274"/>
          <p:cNvSpPr/>
          <p:nvPr/>
        </p:nvSpPr>
        <p:spPr>
          <a:xfrm>
            <a:off x="11100222" y="5422392"/>
            <a:ext cx="128016" cy="128016"/>
          </a:xfrm>
          <a:prstGeom prst="ellipse">
            <a:avLst/>
          </a:prstGeom>
          <a:solidFill>
            <a:srgbClr val="007A27"/>
          </a:solidFill>
          <a:ln w="12700">
            <a:solidFill>
              <a:srgbClr val="FFFFFF"/>
            </a:solidFill>
            <a:prstDash val="solid"/>
          </a:ln>
        </p:spPr>
      </p:sp>
      <p:sp>
        <p:nvSpPr>
          <p:cNvPr id="278" name="Shape 275"/>
          <p:cNvSpPr/>
          <p:nvPr/>
        </p:nvSpPr>
        <p:spPr>
          <a:xfrm>
            <a:off x="621792" y="5623560"/>
            <a:ext cx="411480" cy="274320"/>
          </a:xfrm>
          <a:prstGeom prst="rect">
            <a:avLst/>
          </a:prstGeom>
          <a:solidFill>
            <a:srgbClr val="007A27"/>
          </a:solidFill>
          <a:ln w="7620">
            <a:solidFill>
              <a:srgbClr val="FFFFFF"/>
            </a:solidFill>
            <a:prstDash val="solid"/>
          </a:ln>
        </p:spPr>
      </p:sp>
      <p:sp>
        <p:nvSpPr>
          <p:cNvPr id="279" name="Text 276"/>
          <p:cNvSpPr/>
          <p:nvPr/>
        </p:nvSpPr>
        <p:spPr>
          <a:xfrm>
            <a:off x="649224" y="5641848"/>
            <a:ext cx="356616" cy="237744"/>
          </a:xfrm>
          <a:prstGeom prst="rect">
            <a:avLst/>
          </a:prstGeom>
          <a:noFill/>
          <a:ln/>
        </p:spPr>
        <p:txBody>
          <a:bodyPr wrap="square" lIns="0" tIns="0" rIns="0" bIns="0" rtlCol="0" anchor="ctr">
            <a:normAutofit/>
          </a:bodyPr>
          <a:lstStyle/>
          <a:p>
            <a:pPr algn="ctr" indent="0" marL="0">
              <a:buNone/>
            </a:pPr>
            <a:r>
              <a:rPr lang="en-US" sz="550" b="1" dirty="0">
                <a:solidFill>
                  <a:srgbClr val="FFFFFF"/>
                </a:solidFill>
                <a:latin typeface="Calibri" pitchFamily="34" charset="0"/>
                <a:ea typeface="Calibri" pitchFamily="34" charset="-122"/>
                <a:cs typeface="Calibri" pitchFamily="34" charset="-120"/>
              </a:rPr>
              <a:t>PLATFORM</a:t>
            </a:r>
            <a:endParaRPr lang="en-US" sz="550" dirty="0"/>
          </a:p>
        </p:txBody>
      </p:sp>
      <p:sp>
        <p:nvSpPr>
          <p:cNvPr id="280" name="Shape 277"/>
          <p:cNvSpPr/>
          <p:nvPr/>
        </p:nvSpPr>
        <p:spPr>
          <a:xfrm>
            <a:off x="1033272" y="5897880"/>
            <a:ext cx="10536631" cy="0"/>
          </a:xfrm>
          <a:prstGeom prst="line">
            <a:avLst/>
          </a:prstGeom>
          <a:noFill/>
          <a:ln w="4445">
            <a:solidFill>
              <a:srgbClr val="E2E6E2"/>
            </a:solidFill>
            <a:prstDash val="solid"/>
          </a:ln>
        </p:spPr>
      </p:sp>
      <p:sp>
        <p:nvSpPr>
          <p:cNvPr id="281" name="Shape 278"/>
          <p:cNvSpPr/>
          <p:nvPr/>
        </p:nvSpPr>
        <p:spPr>
          <a:xfrm>
            <a:off x="1143000" y="5650992"/>
            <a:ext cx="45720" cy="219456"/>
          </a:xfrm>
          <a:prstGeom prst="roundRect">
            <a:avLst>
              <a:gd name="adj" fmla="val 60000"/>
            </a:avLst>
          </a:prstGeom>
          <a:solidFill>
            <a:srgbClr val="007A27"/>
          </a:solidFill>
          <a:ln w="12700">
            <a:solidFill>
              <a:srgbClr val="007A27"/>
            </a:solidFill>
            <a:prstDash val="solid"/>
          </a:ln>
        </p:spPr>
      </p:sp>
      <p:sp>
        <p:nvSpPr>
          <p:cNvPr id="282" name="Text 279"/>
          <p:cNvSpPr/>
          <p:nvPr/>
        </p:nvSpPr>
        <p:spPr>
          <a:xfrm>
            <a:off x="1243584" y="561441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Shared platform foundations</a:t>
            </a:r>
            <a:endParaRPr lang="en-US" sz="950" dirty="0"/>
          </a:p>
        </p:txBody>
      </p:sp>
      <p:sp>
        <p:nvSpPr>
          <p:cNvPr id="283" name="Shape 280"/>
          <p:cNvSpPr/>
          <p:nvPr/>
        </p:nvSpPr>
        <p:spPr>
          <a:xfrm>
            <a:off x="3456432" y="5714086"/>
            <a:ext cx="8113471" cy="93269"/>
          </a:xfrm>
          <a:prstGeom prst="roundRect">
            <a:avLst>
              <a:gd name="adj" fmla="val 39216"/>
            </a:avLst>
          </a:prstGeom>
          <a:solidFill>
            <a:srgbClr val="007A27"/>
          </a:solidFill>
          <a:ln w="5080">
            <a:solidFill>
              <a:srgbClr val="007A27"/>
            </a:solidFill>
            <a:prstDash val="solid"/>
          </a:ln>
        </p:spPr>
      </p:sp>
      <p:sp>
        <p:nvSpPr>
          <p:cNvPr id="284" name="Shape 281"/>
          <p:cNvSpPr/>
          <p:nvPr/>
        </p:nvSpPr>
        <p:spPr>
          <a:xfrm>
            <a:off x="7315200" y="6080760"/>
            <a:ext cx="146304" cy="146304"/>
          </a:xfrm>
          <a:prstGeom prst="ellipse">
            <a:avLst/>
          </a:prstGeom>
          <a:solidFill>
            <a:srgbClr val="FFB04C"/>
          </a:solidFill>
          <a:ln w="10160">
            <a:solidFill>
              <a:srgbClr val="FFFFFF"/>
            </a:solidFill>
            <a:prstDash val="solid"/>
          </a:ln>
        </p:spPr>
      </p:sp>
      <p:sp>
        <p:nvSpPr>
          <p:cNvPr id="285" name="Text 282"/>
          <p:cNvSpPr/>
          <p:nvPr/>
        </p:nvSpPr>
        <p:spPr>
          <a:xfrm>
            <a:off x="7534656" y="6071616"/>
            <a:ext cx="502920" cy="164592"/>
          </a:xfrm>
          <a:prstGeom prst="rect">
            <a:avLst/>
          </a:prstGeom>
          <a:noFill/>
          <a:ln/>
        </p:spPr>
        <p:txBody>
          <a:bodyPr wrap="square" lIns="0" tIns="0" rIns="0" bIns="0" rtlCol="0" anchor="ctr"/>
          <a:lstStyle/>
          <a:p>
            <a:pPr indent="0" marL="0">
              <a:buNone/>
            </a:pPr>
            <a:r>
              <a:rPr lang="en-US" sz="850" dirty="0">
                <a:solidFill>
                  <a:srgbClr val="5A625C"/>
                </a:solidFill>
                <a:latin typeface="Calibri" pitchFamily="34" charset="0"/>
                <a:ea typeface="Calibri" pitchFamily="34" charset="-122"/>
                <a:cs typeface="Calibri" pitchFamily="34" charset="-120"/>
              </a:rPr>
              <a:t>MVP</a:t>
            </a:r>
            <a:endParaRPr lang="en-US" sz="850" dirty="0"/>
          </a:p>
        </p:txBody>
      </p:sp>
      <p:sp>
        <p:nvSpPr>
          <p:cNvPr id="286" name="Shape 283"/>
          <p:cNvSpPr/>
          <p:nvPr/>
        </p:nvSpPr>
        <p:spPr>
          <a:xfrm>
            <a:off x="8183880" y="6080760"/>
            <a:ext cx="146304" cy="146304"/>
          </a:xfrm>
          <a:prstGeom prst="ellipse">
            <a:avLst/>
          </a:prstGeom>
          <a:solidFill>
            <a:srgbClr val="007A27"/>
          </a:solidFill>
          <a:ln w="10160">
            <a:solidFill>
              <a:srgbClr val="FFFFFF"/>
            </a:solidFill>
            <a:prstDash val="solid"/>
          </a:ln>
        </p:spPr>
      </p:sp>
      <p:sp>
        <p:nvSpPr>
          <p:cNvPr id="287" name="Text 284"/>
          <p:cNvSpPr/>
          <p:nvPr/>
        </p:nvSpPr>
        <p:spPr>
          <a:xfrm>
            <a:off x="8403336" y="6071616"/>
            <a:ext cx="731520" cy="164592"/>
          </a:xfrm>
          <a:prstGeom prst="rect">
            <a:avLst/>
          </a:prstGeom>
          <a:noFill/>
          <a:ln/>
        </p:spPr>
        <p:txBody>
          <a:bodyPr wrap="square" lIns="0" tIns="0" rIns="0" bIns="0" rtlCol="0" anchor="ctr"/>
          <a:lstStyle/>
          <a:p>
            <a:pPr indent="0" marL="0">
              <a:buNone/>
            </a:pPr>
            <a:r>
              <a:rPr lang="en-US" sz="850" dirty="0">
                <a:solidFill>
                  <a:srgbClr val="5A625C"/>
                </a:solidFill>
                <a:latin typeface="Calibri" pitchFamily="34" charset="0"/>
                <a:ea typeface="Calibri" pitchFamily="34" charset="-122"/>
                <a:cs typeface="Calibri" pitchFamily="34" charset="-120"/>
              </a:rPr>
              <a:t>Full GA</a:t>
            </a:r>
            <a:endParaRPr lang="en-US" sz="850" dirty="0"/>
          </a:p>
        </p:txBody>
      </p:sp>
      <p:sp>
        <p:nvSpPr>
          <p:cNvPr id="288" name="Shape 285"/>
          <p:cNvSpPr/>
          <p:nvPr/>
        </p:nvSpPr>
        <p:spPr>
          <a:xfrm>
            <a:off x="9326880" y="6099048"/>
            <a:ext cx="457200" cy="109728"/>
          </a:xfrm>
          <a:prstGeom prst="roundRect">
            <a:avLst>
              <a:gd name="adj" fmla="val 20833"/>
            </a:avLst>
          </a:prstGeom>
          <a:solidFill>
            <a:srgbClr val="3DCD58">
              <a:alpha val="6000"/>
            </a:srgbClr>
          </a:solidFill>
          <a:ln w="6350">
            <a:solidFill>
              <a:srgbClr val="3DCD58">
                <a:alpha val="60000"/>
              </a:srgbClr>
            </a:solidFill>
            <a:prstDash val="solid"/>
          </a:ln>
        </p:spPr>
      </p:sp>
      <p:sp>
        <p:nvSpPr>
          <p:cNvPr id="289" name="Shape 286"/>
          <p:cNvSpPr/>
          <p:nvPr/>
        </p:nvSpPr>
        <p:spPr>
          <a:xfrm>
            <a:off x="9390888" y="6185916"/>
            <a:ext cx="64008" cy="-64008"/>
          </a:xfrm>
          <a:prstGeom prst="line">
            <a:avLst/>
          </a:prstGeom>
          <a:noFill/>
          <a:ln w="9525">
            <a:solidFill>
              <a:srgbClr val="3DCD58">
                <a:alpha val="84000"/>
              </a:srgbClr>
            </a:solidFill>
            <a:prstDash val="solid"/>
          </a:ln>
        </p:spPr>
      </p:sp>
      <p:sp>
        <p:nvSpPr>
          <p:cNvPr id="290" name="Shape 287"/>
          <p:cNvSpPr/>
          <p:nvPr/>
        </p:nvSpPr>
        <p:spPr>
          <a:xfrm>
            <a:off x="9573768" y="6185916"/>
            <a:ext cx="64008" cy="-64008"/>
          </a:xfrm>
          <a:prstGeom prst="line">
            <a:avLst/>
          </a:prstGeom>
          <a:noFill/>
          <a:ln w="9525">
            <a:solidFill>
              <a:srgbClr val="3DCD58">
                <a:alpha val="84000"/>
              </a:srgbClr>
            </a:solidFill>
            <a:prstDash val="solid"/>
          </a:ln>
        </p:spPr>
      </p:sp>
      <p:sp>
        <p:nvSpPr>
          <p:cNvPr id="291" name="Shape 288"/>
          <p:cNvSpPr/>
          <p:nvPr/>
        </p:nvSpPr>
        <p:spPr>
          <a:xfrm>
            <a:off x="9756648" y="6185916"/>
            <a:ext cx="64008" cy="-64008"/>
          </a:xfrm>
          <a:prstGeom prst="line">
            <a:avLst/>
          </a:prstGeom>
          <a:noFill/>
          <a:ln w="9525">
            <a:solidFill>
              <a:srgbClr val="3DCD58">
                <a:alpha val="84000"/>
              </a:srgbClr>
            </a:solidFill>
            <a:prstDash val="solid"/>
          </a:ln>
        </p:spPr>
      </p:sp>
      <p:sp>
        <p:nvSpPr>
          <p:cNvPr id="292" name="Text 289"/>
          <p:cNvSpPr/>
          <p:nvPr/>
        </p:nvSpPr>
        <p:spPr>
          <a:xfrm>
            <a:off x="9857232" y="6071616"/>
            <a:ext cx="1737360" cy="164592"/>
          </a:xfrm>
          <a:prstGeom prst="rect">
            <a:avLst/>
          </a:prstGeom>
          <a:noFill/>
          <a:ln/>
        </p:spPr>
        <p:txBody>
          <a:bodyPr wrap="square" lIns="0" tIns="0" rIns="0" bIns="0" rtlCol="0" anchor="ctr"/>
          <a:lstStyle/>
          <a:p>
            <a:pPr indent="0" marL="0">
              <a:buNone/>
            </a:pPr>
            <a:r>
              <a:rPr lang="en-US" sz="850" dirty="0">
                <a:solidFill>
                  <a:srgbClr val="5A625C"/>
                </a:solidFill>
                <a:latin typeface="Calibri" pitchFamily="34" charset="0"/>
                <a:ea typeface="Calibri" pitchFamily="34" charset="-122"/>
                <a:cs typeface="Calibri" pitchFamily="34" charset="-120"/>
              </a:rPr>
              <a:t>Continuous investment after GA</a:t>
            </a:r>
            <a:endParaRPr lang="en-US" sz="850" dirty="0"/>
          </a:p>
        </p:txBody>
      </p:sp>
      <p:sp>
        <p:nvSpPr>
          <p:cNvPr id="293" name="Shape 290"/>
          <p:cNvSpPr/>
          <p:nvPr/>
        </p:nvSpPr>
        <p:spPr>
          <a:xfrm>
            <a:off x="621792" y="6437376"/>
            <a:ext cx="10948111" cy="0"/>
          </a:xfrm>
          <a:prstGeom prst="line">
            <a:avLst/>
          </a:prstGeom>
          <a:noFill/>
          <a:ln w="9525">
            <a:solidFill>
              <a:srgbClr val="E2E6E2"/>
            </a:solidFill>
            <a:prstDash val="solid"/>
          </a:ln>
        </p:spPr>
      </p:sp>
      <p:sp>
        <p:nvSpPr>
          <p:cNvPr id="294" name="Text 291"/>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295" name="Text 292"/>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96"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98"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2199"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2200" name="Shape 2"/>
          <p:cNvSpPr/>
          <p:nvPr/>
        </p:nvSpPr>
        <p:spPr>
          <a:xfrm>
            <a:off x="621720" y="311040"/>
            <a:ext cx="229032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201" name="Text 3"/>
          <p:cNvSpPr/>
          <p:nvPr/>
        </p:nvSpPr>
        <p:spPr>
          <a:xfrm>
            <a:off x="804600" y="329040"/>
            <a:ext cx="196092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EXECUTIVE SUMMARY</a:t>
            </a:r>
            <a:endParaRPr b="0" lang="en-US" sz="950" strike="noStrike" u="none">
              <a:solidFill>
                <a:srgbClr val="000000"/>
              </a:solidFill>
              <a:effectLst/>
              <a:uFillTx/>
              <a:latin typeface="Arial"/>
            </a:endParaRPr>
          </a:p>
        </p:txBody>
      </p:sp>
      <p:sp>
        <p:nvSpPr>
          <p:cNvPr id="2202"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The full 2026 to 2028 roadmap: Energy &amp; Efficiency</a:t>
            </a:r>
            <a:endParaRPr b="0" lang="en-US" sz="3200" strike="noStrike" u="none">
              <a:solidFill>
                <a:srgbClr val="000000"/>
              </a:solidFill>
              <a:effectLst/>
              <a:uFillTx/>
              <a:latin typeface="Arial"/>
            </a:endParaRPr>
          </a:p>
        </p:txBody>
      </p:sp>
      <p:sp>
        <p:nvSpPr>
          <p:cNvPr id="2203"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fontScale="92500" lnSpcReduction="9999"/>
          </a:bodyPr>
          <a:p>
            <a:pPr defTabSz="914400">
              <a:lnSpc>
                <a:spcPct val="100000"/>
              </a:lnSpc>
              <a:tabLst>
                <a:tab algn="l" pos="0"/>
              </a:tabLst>
            </a:pPr>
            <a:r>
              <a:rPr b="0" lang="en-US" sz="1250" strike="noStrike" u="none">
                <a:solidFill>
                  <a:srgbClr val="5a625c"/>
                </a:solidFill>
                <a:effectLst/>
                <a:uFillTx/>
                <a:latin typeface="Calibri"/>
                <a:ea typeface="Calibri"/>
              </a:rPr>
              <a:t>Energy foundations, portfolio, sourcing, flexibility and electrification on one timeline. Phases follow the approved sequencing: quarters where confirmed, H1 and H2 elsewhere, 2028 directional.</a:t>
            </a:r>
            <a:endParaRPr b="0" lang="en-US" sz="1250" strike="noStrike" u="none">
              <a:solidFill>
                <a:srgbClr val="000000"/>
              </a:solidFill>
              <a:effectLst/>
              <a:uFillTx/>
              <a:latin typeface="Arial"/>
            </a:endParaRPr>
          </a:p>
        </p:txBody>
      </p:sp>
      <p:sp>
        <p:nvSpPr>
          <p:cNvPr id="2204"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205" name="Shape 7"/>
          <p:cNvSpPr/>
          <p:nvPr/>
        </p:nvSpPr>
        <p:spPr>
          <a:xfrm>
            <a:off x="621720" y="1874520"/>
            <a:ext cx="10947600" cy="456840"/>
          </a:xfrm>
          <a:prstGeom prst="rect">
            <a:avLst/>
          </a:prstGeom>
          <a:solidFill>
            <a:srgbClr val="f1f3f2"/>
          </a:solidFill>
          <a:ln w="635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206" name="Text 8"/>
          <p:cNvSpPr/>
          <p:nvPr/>
        </p:nvSpPr>
        <p:spPr>
          <a:xfrm>
            <a:off x="749880" y="2020680"/>
            <a:ext cx="260568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99" strike="noStrike" u="none">
                <a:solidFill>
                  <a:srgbClr val="5a625c"/>
                </a:solidFill>
                <a:effectLst/>
                <a:uFillTx/>
                <a:latin typeface="Calibri"/>
                <a:ea typeface="Calibri"/>
              </a:rPr>
              <a:t>CAPABILITY</a:t>
            </a:r>
            <a:endParaRPr b="0" lang="en-US" sz="850" strike="noStrike" u="none">
              <a:solidFill>
                <a:srgbClr val="000000"/>
              </a:solidFill>
              <a:effectLst/>
              <a:uFillTx/>
              <a:latin typeface="Arial"/>
            </a:endParaRPr>
          </a:p>
        </p:txBody>
      </p:sp>
      <p:sp>
        <p:nvSpPr>
          <p:cNvPr id="2207" name="Text 9"/>
          <p:cNvSpPr/>
          <p:nvPr/>
        </p:nvSpPr>
        <p:spPr>
          <a:xfrm>
            <a:off x="3456360" y="1901880"/>
            <a:ext cx="270396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2026</a:t>
            </a:r>
            <a:endParaRPr b="0" lang="en-US" sz="1200" strike="noStrike" u="none">
              <a:solidFill>
                <a:srgbClr val="000000"/>
              </a:solidFill>
              <a:effectLst/>
              <a:uFillTx/>
              <a:latin typeface="Arial"/>
            </a:endParaRPr>
          </a:p>
        </p:txBody>
      </p:sp>
      <p:sp>
        <p:nvSpPr>
          <p:cNvPr id="2208" name="Text 10"/>
          <p:cNvSpPr/>
          <p:nvPr/>
        </p:nvSpPr>
        <p:spPr>
          <a:xfrm>
            <a:off x="345636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2209" name="Text 11"/>
          <p:cNvSpPr/>
          <p:nvPr/>
        </p:nvSpPr>
        <p:spPr>
          <a:xfrm>
            <a:off x="413244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2210" name="Text 12"/>
          <p:cNvSpPr/>
          <p:nvPr/>
        </p:nvSpPr>
        <p:spPr>
          <a:xfrm>
            <a:off x="480852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2211" name="Text 13"/>
          <p:cNvSpPr/>
          <p:nvPr/>
        </p:nvSpPr>
        <p:spPr>
          <a:xfrm>
            <a:off x="548496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2212" name="Text 14"/>
          <p:cNvSpPr/>
          <p:nvPr/>
        </p:nvSpPr>
        <p:spPr>
          <a:xfrm>
            <a:off x="6161040" y="1901880"/>
            <a:ext cx="270396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2027</a:t>
            </a:r>
            <a:endParaRPr b="0" lang="en-US" sz="1200" strike="noStrike" u="none">
              <a:solidFill>
                <a:srgbClr val="000000"/>
              </a:solidFill>
              <a:effectLst/>
              <a:uFillTx/>
              <a:latin typeface="Arial"/>
            </a:endParaRPr>
          </a:p>
        </p:txBody>
      </p:sp>
      <p:sp>
        <p:nvSpPr>
          <p:cNvPr id="2213" name="Text 15"/>
          <p:cNvSpPr/>
          <p:nvPr/>
        </p:nvSpPr>
        <p:spPr>
          <a:xfrm>
            <a:off x="616104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2214" name="Text 16"/>
          <p:cNvSpPr/>
          <p:nvPr/>
        </p:nvSpPr>
        <p:spPr>
          <a:xfrm>
            <a:off x="683712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2215" name="Text 17"/>
          <p:cNvSpPr/>
          <p:nvPr/>
        </p:nvSpPr>
        <p:spPr>
          <a:xfrm>
            <a:off x="751320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2216" name="Text 18"/>
          <p:cNvSpPr/>
          <p:nvPr/>
        </p:nvSpPr>
        <p:spPr>
          <a:xfrm>
            <a:off x="818928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2217" name="Text 19"/>
          <p:cNvSpPr/>
          <p:nvPr/>
        </p:nvSpPr>
        <p:spPr>
          <a:xfrm>
            <a:off x="8865360" y="1901880"/>
            <a:ext cx="270396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2028</a:t>
            </a:r>
            <a:endParaRPr b="0" lang="en-US" sz="1200" strike="noStrike" u="none">
              <a:solidFill>
                <a:srgbClr val="000000"/>
              </a:solidFill>
              <a:effectLst/>
              <a:uFillTx/>
              <a:latin typeface="Arial"/>
            </a:endParaRPr>
          </a:p>
        </p:txBody>
      </p:sp>
      <p:sp>
        <p:nvSpPr>
          <p:cNvPr id="2218" name="Text 20"/>
          <p:cNvSpPr/>
          <p:nvPr/>
        </p:nvSpPr>
        <p:spPr>
          <a:xfrm>
            <a:off x="886536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2219" name="Text 21"/>
          <p:cNvSpPr/>
          <p:nvPr/>
        </p:nvSpPr>
        <p:spPr>
          <a:xfrm>
            <a:off x="954144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2220" name="Text 22"/>
          <p:cNvSpPr/>
          <p:nvPr/>
        </p:nvSpPr>
        <p:spPr>
          <a:xfrm>
            <a:off x="1021752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2221" name="Text 23"/>
          <p:cNvSpPr/>
          <p:nvPr/>
        </p:nvSpPr>
        <p:spPr>
          <a:xfrm>
            <a:off x="1089396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2222" name="Shape 24"/>
          <p:cNvSpPr/>
          <p:nvPr/>
        </p:nvSpPr>
        <p:spPr>
          <a:xfrm>
            <a:off x="345636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223" name="Shape 25"/>
          <p:cNvSpPr/>
          <p:nvPr/>
        </p:nvSpPr>
        <p:spPr>
          <a:xfrm>
            <a:off x="413244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224" name="Shape 26"/>
          <p:cNvSpPr/>
          <p:nvPr/>
        </p:nvSpPr>
        <p:spPr>
          <a:xfrm>
            <a:off x="480852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225" name="Shape 27"/>
          <p:cNvSpPr/>
          <p:nvPr/>
        </p:nvSpPr>
        <p:spPr>
          <a:xfrm>
            <a:off x="548460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226" name="Shape 28"/>
          <p:cNvSpPr/>
          <p:nvPr/>
        </p:nvSpPr>
        <p:spPr>
          <a:xfrm>
            <a:off x="616068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227" name="Shape 29"/>
          <p:cNvSpPr/>
          <p:nvPr/>
        </p:nvSpPr>
        <p:spPr>
          <a:xfrm>
            <a:off x="683676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228" name="Shape 30"/>
          <p:cNvSpPr/>
          <p:nvPr/>
        </p:nvSpPr>
        <p:spPr>
          <a:xfrm>
            <a:off x="751284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229" name="Shape 31"/>
          <p:cNvSpPr/>
          <p:nvPr/>
        </p:nvSpPr>
        <p:spPr>
          <a:xfrm>
            <a:off x="818928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230" name="Shape 32"/>
          <p:cNvSpPr/>
          <p:nvPr/>
        </p:nvSpPr>
        <p:spPr>
          <a:xfrm>
            <a:off x="886536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231" name="Shape 33"/>
          <p:cNvSpPr/>
          <p:nvPr/>
        </p:nvSpPr>
        <p:spPr>
          <a:xfrm>
            <a:off x="954144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232" name="Shape 34"/>
          <p:cNvSpPr/>
          <p:nvPr/>
        </p:nvSpPr>
        <p:spPr>
          <a:xfrm>
            <a:off x="1021752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233" name="Shape 35"/>
          <p:cNvSpPr/>
          <p:nvPr/>
        </p:nvSpPr>
        <p:spPr>
          <a:xfrm>
            <a:off x="1089360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234" name="Shape 36"/>
          <p:cNvSpPr/>
          <p:nvPr/>
        </p:nvSpPr>
        <p:spPr>
          <a:xfrm>
            <a:off x="1156968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235" name="Shape 37"/>
          <p:cNvSpPr/>
          <p:nvPr/>
        </p:nvSpPr>
        <p:spPr>
          <a:xfrm>
            <a:off x="621720" y="2331720"/>
            <a:ext cx="411120" cy="1188360"/>
          </a:xfrm>
          <a:prstGeom prst="rect">
            <a:avLst/>
          </a:prstGeom>
          <a:solidFill>
            <a:srgbClr val="3dcd58"/>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236" name="Text 38"/>
          <p:cNvSpPr/>
          <p:nvPr/>
        </p:nvSpPr>
        <p:spPr>
          <a:xfrm>
            <a:off x="685800" y="2377440"/>
            <a:ext cx="282960" cy="109692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ENERGY FOUNDATIONS</a:t>
            </a:r>
            <a:endParaRPr b="0" lang="en-US" sz="750" strike="noStrike" u="none">
              <a:solidFill>
                <a:srgbClr val="000000"/>
              </a:solidFill>
              <a:effectLst/>
              <a:uFillTx/>
              <a:latin typeface="Arial"/>
            </a:endParaRPr>
          </a:p>
        </p:txBody>
      </p:sp>
      <p:sp>
        <p:nvSpPr>
          <p:cNvPr id="2237" name="Shape 39"/>
          <p:cNvSpPr/>
          <p:nvPr/>
        </p:nvSpPr>
        <p:spPr>
          <a:xfrm>
            <a:off x="1033200" y="27277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238" name="Shape 40"/>
          <p:cNvSpPr/>
          <p:nvPr/>
        </p:nvSpPr>
        <p:spPr>
          <a:xfrm>
            <a:off x="1143000" y="242028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239" name="Text 41"/>
          <p:cNvSpPr/>
          <p:nvPr/>
        </p:nvSpPr>
        <p:spPr>
          <a:xfrm>
            <a:off x="1243440" y="23835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Metering &amp; Interval Data: hierarchy, baselines, connectors, scale</a:t>
            </a:r>
            <a:endParaRPr b="0" lang="en-US" sz="950" strike="noStrike" u="none">
              <a:solidFill>
                <a:srgbClr val="000000"/>
              </a:solidFill>
              <a:effectLst/>
              <a:uFillTx/>
              <a:latin typeface="Arial"/>
            </a:endParaRPr>
          </a:p>
        </p:txBody>
      </p:sp>
      <p:sp>
        <p:nvSpPr>
          <p:cNvPr id="2240" name="Shape 42"/>
          <p:cNvSpPr/>
          <p:nvPr/>
        </p:nvSpPr>
        <p:spPr>
          <a:xfrm>
            <a:off x="3456360" y="2466000"/>
            <a:ext cx="8112960" cy="127800"/>
          </a:xfrm>
          <a:prstGeom prst="roundRect">
            <a:avLst>
              <a:gd name="adj" fmla="val 28571"/>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241" name="Shape 43"/>
          <p:cNvSpPr/>
          <p:nvPr/>
        </p:nvSpPr>
        <p:spPr>
          <a:xfrm>
            <a:off x="1033200" y="31240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242" name="Shape 44"/>
          <p:cNvSpPr/>
          <p:nvPr/>
        </p:nvSpPr>
        <p:spPr>
          <a:xfrm>
            <a:off x="1143000" y="281628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243" name="Text 45"/>
          <p:cNvSpPr/>
          <p:nvPr/>
        </p:nvSpPr>
        <p:spPr>
          <a:xfrm>
            <a:off x="1243440" y="27799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Utility Data Management: capture, advanced processing, explanation</a:t>
            </a:r>
            <a:endParaRPr b="0" lang="en-US" sz="950" strike="noStrike" u="none">
              <a:solidFill>
                <a:srgbClr val="000000"/>
              </a:solidFill>
              <a:effectLst/>
              <a:uFillTx/>
              <a:latin typeface="Arial"/>
            </a:endParaRPr>
          </a:p>
        </p:txBody>
      </p:sp>
      <p:sp>
        <p:nvSpPr>
          <p:cNvPr id="2244" name="Shape 46"/>
          <p:cNvSpPr/>
          <p:nvPr/>
        </p:nvSpPr>
        <p:spPr>
          <a:xfrm>
            <a:off x="3456360" y="2862000"/>
            <a:ext cx="8112960" cy="127800"/>
          </a:xfrm>
          <a:prstGeom prst="roundRect">
            <a:avLst>
              <a:gd name="adj" fmla="val 28571"/>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245" name="Shape 47"/>
          <p:cNvSpPr/>
          <p:nvPr/>
        </p:nvSpPr>
        <p:spPr>
          <a:xfrm>
            <a:off x="1033200" y="352044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246" name="Shape 48"/>
          <p:cNvSpPr/>
          <p:nvPr/>
        </p:nvSpPr>
        <p:spPr>
          <a:xfrm>
            <a:off x="1143000" y="321264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247" name="Text 49"/>
          <p:cNvSpPr/>
          <p:nvPr/>
        </p:nvSpPr>
        <p:spPr>
          <a:xfrm>
            <a:off x="1243440" y="3175920"/>
            <a:ext cx="2075400" cy="292320"/>
          </a:xfrm>
          <a:prstGeom prst="rect">
            <a:avLst/>
          </a:prstGeom>
          <a:noFill/>
          <a:ln w="0">
            <a:noFill/>
          </a:ln>
        </p:spPr>
        <p:style>
          <a:lnRef idx="0"/>
          <a:fillRef idx="0"/>
          <a:effectRef idx="0"/>
          <a:fontRef idx="minor"/>
        </p:style>
        <p:txBody>
          <a:bodyPr lIns="0" rIns="0" tIns="0" bIns="0" anchor="ctr">
            <a:normAutofit fontScale="92500" lnSpcReduction="9999"/>
          </a:bodyPr>
          <a:p>
            <a:pPr defTabSz="914400">
              <a:lnSpc>
                <a:spcPct val="100000"/>
              </a:lnSpc>
              <a:tabLst>
                <a:tab algn="l" pos="0"/>
              </a:tabLst>
            </a:pPr>
            <a:r>
              <a:rPr b="0" lang="en-US" sz="950" strike="noStrike" u="none">
                <a:solidFill>
                  <a:srgbClr val="1e2420"/>
                </a:solidFill>
                <a:effectLst/>
                <a:uFillTx/>
                <a:latin typeface="Calibri"/>
                <a:ea typeface="Calibri"/>
              </a:rPr>
              <a:t>Energy &amp; Efficiency: recommendations launch, depth, verification</a:t>
            </a:r>
            <a:endParaRPr b="0" lang="en-US" sz="950" strike="noStrike" u="none">
              <a:solidFill>
                <a:srgbClr val="000000"/>
              </a:solidFill>
              <a:effectLst/>
              <a:uFillTx/>
              <a:latin typeface="Arial"/>
            </a:endParaRPr>
          </a:p>
        </p:txBody>
      </p:sp>
      <p:sp>
        <p:nvSpPr>
          <p:cNvPr id="2248" name="Shape 50"/>
          <p:cNvSpPr/>
          <p:nvPr/>
        </p:nvSpPr>
        <p:spPr>
          <a:xfrm>
            <a:off x="4132440" y="3258360"/>
            <a:ext cx="7436880" cy="127800"/>
          </a:xfrm>
          <a:prstGeom prst="roundRect">
            <a:avLst>
              <a:gd name="adj" fmla="val 28571"/>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249" name="Shape 51"/>
          <p:cNvSpPr/>
          <p:nvPr/>
        </p:nvSpPr>
        <p:spPr>
          <a:xfrm>
            <a:off x="621720" y="3520440"/>
            <a:ext cx="411120" cy="1584720"/>
          </a:xfrm>
          <a:prstGeom prst="rect">
            <a:avLst/>
          </a:prstGeom>
          <a:solidFill>
            <a:srgbClr val="007a27"/>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250" name="Text 52"/>
          <p:cNvSpPr/>
          <p:nvPr/>
        </p:nvSpPr>
        <p:spPr>
          <a:xfrm>
            <a:off x="685800" y="3566160"/>
            <a:ext cx="282960" cy="149328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PORTFOLIO &amp; SOURCING</a:t>
            </a:r>
            <a:endParaRPr b="0" lang="en-US" sz="750" strike="noStrike" u="none">
              <a:solidFill>
                <a:srgbClr val="000000"/>
              </a:solidFill>
              <a:effectLst/>
              <a:uFillTx/>
              <a:latin typeface="Arial"/>
            </a:endParaRPr>
          </a:p>
        </p:txBody>
      </p:sp>
      <p:sp>
        <p:nvSpPr>
          <p:cNvPr id="2251" name="Shape 53"/>
          <p:cNvSpPr/>
          <p:nvPr/>
        </p:nvSpPr>
        <p:spPr>
          <a:xfrm>
            <a:off x="1033200" y="391644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252" name="Shape 54"/>
          <p:cNvSpPr/>
          <p:nvPr/>
        </p:nvSpPr>
        <p:spPr>
          <a:xfrm>
            <a:off x="1143000" y="360900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253" name="Text 55"/>
          <p:cNvSpPr/>
          <p:nvPr/>
        </p:nvSpPr>
        <p:spPr>
          <a:xfrm>
            <a:off x="1243440" y="3572280"/>
            <a:ext cx="2075400" cy="292320"/>
          </a:xfrm>
          <a:prstGeom prst="rect">
            <a:avLst/>
          </a:prstGeom>
          <a:noFill/>
          <a:ln w="0">
            <a:noFill/>
          </a:ln>
        </p:spPr>
        <p:style>
          <a:lnRef idx="0"/>
          <a:fillRef idx="0"/>
          <a:effectRef idx="0"/>
          <a:fontRef idx="minor"/>
        </p:style>
        <p:txBody>
          <a:bodyPr lIns="0" rIns="0" tIns="0" bIns="0" anchor="ctr">
            <a:normAutofit fontScale="92500" lnSpcReduction="9999"/>
          </a:bodyPr>
          <a:p>
            <a:pPr defTabSz="914400">
              <a:lnSpc>
                <a:spcPct val="100000"/>
              </a:lnSpc>
              <a:tabLst>
                <a:tab algn="l" pos="0"/>
              </a:tabLst>
            </a:pPr>
            <a:r>
              <a:rPr b="0" lang="en-US" sz="950" strike="noStrike" u="none">
                <a:solidFill>
                  <a:srgbClr val="1e2420"/>
                </a:solidFill>
                <a:effectLst/>
                <a:uFillTx/>
                <a:latin typeface="Calibri"/>
                <a:ea typeface="Calibri"/>
              </a:rPr>
              <a:t>Energy Portfolio Management: contracts and spend, budgets, reforecasting</a:t>
            </a:r>
            <a:endParaRPr b="0" lang="en-US" sz="950" strike="noStrike" u="none">
              <a:solidFill>
                <a:srgbClr val="000000"/>
              </a:solidFill>
              <a:effectLst/>
              <a:uFillTx/>
              <a:latin typeface="Arial"/>
            </a:endParaRPr>
          </a:p>
        </p:txBody>
      </p:sp>
      <p:sp>
        <p:nvSpPr>
          <p:cNvPr id="2254" name="Shape 56"/>
          <p:cNvSpPr/>
          <p:nvPr/>
        </p:nvSpPr>
        <p:spPr>
          <a:xfrm>
            <a:off x="4132440" y="3654720"/>
            <a:ext cx="7436880" cy="127800"/>
          </a:xfrm>
          <a:prstGeom prst="roundRect">
            <a:avLst>
              <a:gd name="adj" fmla="val 28571"/>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255" name="Shape 57"/>
          <p:cNvSpPr/>
          <p:nvPr/>
        </p:nvSpPr>
        <p:spPr>
          <a:xfrm>
            <a:off x="1033200" y="431280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256" name="Shape 58"/>
          <p:cNvSpPr/>
          <p:nvPr/>
        </p:nvSpPr>
        <p:spPr>
          <a:xfrm>
            <a:off x="1143000" y="400500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257" name="Text 59"/>
          <p:cNvSpPr/>
          <p:nvPr/>
        </p:nvSpPr>
        <p:spPr>
          <a:xfrm>
            <a:off x="1243440" y="396864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Capital Asset Planning: register, planning, prioritisation</a:t>
            </a:r>
            <a:endParaRPr b="0" lang="en-US" sz="950" strike="noStrike" u="none">
              <a:solidFill>
                <a:srgbClr val="000000"/>
              </a:solidFill>
              <a:effectLst/>
              <a:uFillTx/>
              <a:latin typeface="Arial"/>
            </a:endParaRPr>
          </a:p>
        </p:txBody>
      </p:sp>
      <p:sp>
        <p:nvSpPr>
          <p:cNvPr id="2258" name="Shape 60"/>
          <p:cNvSpPr/>
          <p:nvPr/>
        </p:nvSpPr>
        <p:spPr>
          <a:xfrm>
            <a:off x="4132440" y="4050720"/>
            <a:ext cx="7436880" cy="127800"/>
          </a:xfrm>
          <a:prstGeom prst="roundRect">
            <a:avLst>
              <a:gd name="adj" fmla="val 28571"/>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259" name="Shape 61"/>
          <p:cNvSpPr/>
          <p:nvPr/>
        </p:nvSpPr>
        <p:spPr>
          <a:xfrm>
            <a:off x="1033200" y="470916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260" name="Shape 62"/>
          <p:cNvSpPr/>
          <p:nvPr/>
        </p:nvSpPr>
        <p:spPr>
          <a:xfrm>
            <a:off x="1143000" y="440136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261" name="Text 63"/>
          <p:cNvSpPr/>
          <p:nvPr/>
        </p:nvSpPr>
        <p:spPr>
          <a:xfrm>
            <a:off x="1243440" y="4364640"/>
            <a:ext cx="2075400" cy="292320"/>
          </a:xfrm>
          <a:prstGeom prst="rect">
            <a:avLst/>
          </a:prstGeom>
          <a:noFill/>
          <a:ln w="0">
            <a:noFill/>
          </a:ln>
        </p:spPr>
        <p:style>
          <a:lnRef idx="0"/>
          <a:fillRef idx="0"/>
          <a:effectRef idx="0"/>
          <a:fontRef idx="minor"/>
        </p:style>
        <p:txBody>
          <a:bodyPr lIns="0" rIns="0" tIns="0" bIns="0" anchor="ctr">
            <a:normAutofit fontScale="92500" lnSpcReduction="9999"/>
          </a:bodyPr>
          <a:p>
            <a:pPr defTabSz="914400">
              <a:lnSpc>
                <a:spcPct val="100000"/>
              </a:lnSpc>
              <a:tabLst>
                <a:tab algn="l" pos="0"/>
              </a:tabLst>
            </a:pPr>
            <a:r>
              <a:rPr b="0" lang="en-US" sz="950" strike="noStrike" u="none">
                <a:solidFill>
                  <a:srgbClr val="1e2420"/>
                </a:solidFill>
                <a:effectLst/>
                <a:uFillTx/>
                <a:latin typeface="Calibri"/>
                <a:ea typeface="Calibri"/>
              </a:rPr>
              <a:t>Energy Sourcing &amp; Procurement: contracts, decision support, integration</a:t>
            </a:r>
            <a:endParaRPr b="0" lang="en-US" sz="950" strike="noStrike" u="none">
              <a:solidFill>
                <a:srgbClr val="000000"/>
              </a:solidFill>
              <a:effectLst/>
              <a:uFillTx/>
              <a:latin typeface="Arial"/>
            </a:endParaRPr>
          </a:p>
        </p:txBody>
      </p:sp>
      <p:sp>
        <p:nvSpPr>
          <p:cNvPr id="2262" name="Shape 64"/>
          <p:cNvSpPr/>
          <p:nvPr/>
        </p:nvSpPr>
        <p:spPr>
          <a:xfrm>
            <a:off x="4132440" y="4447080"/>
            <a:ext cx="7436880" cy="127800"/>
          </a:xfrm>
          <a:prstGeom prst="roundRect">
            <a:avLst>
              <a:gd name="adj" fmla="val 28571"/>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263" name="Shape 65"/>
          <p:cNvSpPr/>
          <p:nvPr/>
        </p:nvSpPr>
        <p:spPr>
          <a:xfrm>
            <a:off x="1033200" y="510516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264" name="Shape 66"/>
          <p:cNvSpPr/>
          <p:nvPr/>
        </p:nvSpPr>
        <p:spPr>
          <a:xfrm>
            <a:off x="1143000" y="479772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265" name="Text 67"/>
          <p:cNvSpPr/>
          <p:nvPr/>
        </p:nvSpPr>
        <p:spPr>
          <a:xfrm>
            <a:off x="1243440" y="476100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Renewables &amp; EACs: instrument register, assurance, matching</a:t>
            </a:r>
            <a:endParaRPr b="0" lang="en-US" sz="950" strike="noStrike" u="none">
              <a:solidFill>
                <a:srgbClr val="000000"/>
              </a:solidFill>
              <a:effectLst/>
              <a:uFillTx/>
              <a:latin typeface="Arial"/>
            </a:endParaRPr>
          </a:p>
        </p:txBody>
      </p:sp>
      <p:sp>
        <p:nvSpPr>
          <p:cNvPr id="2266" name="Shape 68"/>
          <p:cNvSpPr/>
          <p:nvPr/>
        </p:nvSpPr>
        <p:spPr>
          <a:xfrm>
            <a:off x="4132440" y="4843440"/>
            <a:ext cx="7436880" cy="127800"/>
          </a:xfrm>
          <a:prstGeom prst="roundRect">
            <a:avLst>
              <a:gd name="adj" fmla="val 28571"/>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267" name="Shape 69"/>
          <p:cNvSpPr/>
          <p:nvPr/>
        </p:nvSpPr>
        <p:spPr>
          <a:xfrm>
            <a:off x="621720" y="5105520"/>
            <a:ext cx="411120" cy="792000"/>
          </a:xfrm>
          <a:prstGeom prst="rect">
            <a:avLst/>
          </a:prstGeom>
          <a:solidFill>
            <a:srgbClr val="ffb04c"/>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268" name="Text 70"/>
          <p:cNvSpPr/>
          <p:nvPr/>
        </p:nvSpPr>
        <p:spPr>
          <a:xfrm>
            <a:off x="685800" y="5151240"/>
            <a:ext cx="282960" cy="700560"/>
          </a:xfrm>
          <a:prstGeom prst="rect">
            <a:avLst/>
          </a:prstGeom>
          <a:noFill/>
          <a:ln w="0">
            <a:noFill/>
          </a:ln>
        </p:spPr>
        <p:style>
          <a:lnRef idx="0"/>
          <a:fillRef idx="0"/>
          <a:effectRef idx="0"/>
          <a:fontRef idx="minor"/>
        </p:style>
        <p:txBody>
          <a:bodyPr lIns="0" rIns="0" tIns="0" bIns="0" anchor="ctr" vert="vert270">
            <a:normAutofit fontScale="92500" lnSpcReduction="9999"/>
          </a:bodyPr>
          <a:p>
            <a:pPr algn="ctr" defTabSz="914400">
              <a:lnSpc>
                <a:spcPct val="100000"/>
              </a:lnSpc>
              <a:tabLst>
                <a:tab algn="l" pos="0"/>
              </a:tabLst>
            </a:pPr>
            <a:r>
              <a:rPr b="1" lang="en-US" sz="750" strike="noStrike" u="none">
                <a:solidFill>
                  <a:srgbClr val="ffffff"/>
                </a:solidFill>
                <a:effectLst/>
                <a:uFillTx/>
                <a:latin typeface="Calibri"/>
                <a:ea typeface="Calibri"/>
              </a:rPr>
              <a:t>FLEXIBILITY &amp; ELECTRIFICATION</a:t>
            </a:r>
            <a:endParaRPr b="0" lang="en-US" sz="750" strike="noStrike" u="none">
              <a:solidFill>
                <a:srgbClr val="000000"/>
              </a:solidFill>
              <a:effectLst/>
              <a:uFillTx/>
              <a:latin typeface="Arial"/>
            </a:endParaRPr>
          </a:p>
        </p:txBody>
      </p:sp>
      <p:sp>
        <p:nvSpPr>
          <p:cNvPr id="2269" name="Shape 71"/>
          <p:cNvSpPr/>
          <p:nvPr/>
        </p:nvSpPr>
        <p:spPr>
          <a:xfrm>
            <a:off x="1033200" y="55015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270" name="Shape 72"/>
          <p:cNvSpPr/>
          <p:nvPr/>
        </p:nvSpPr>
        <p:spPr>
          <a:xfrm>
            <a:off x="1143000" y="519372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271" name="Text 73"/>
          <p:cNvSpPr/>
          <p:nvPr/>
        </p:nvSpPr>
        <p:spPr>
          <a:xfrm>
            <a:off x="1243440" y="51573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Demand Response &amp; Flexibility: visibility, programmes, monetization</a:t>
            </a:r>
            <a:endParaRPr b="0" lang="en-US" sz="950" strike="noStrike" u="none">
              <a:solidFill>
                <a:srgbClr val="000000"/>
              </a:solidFill>
              <a:effectLst/>
              <a:uFillTx/>
              <a:latin typeface="Arial"/>
            </a:endParaRPr>
          </a:p>
        </p:txBody>
      </p:sp>
      <p:sp>
        <p:nvSpPr>
          <p:cNvPr id="2272" name="Shape 74"/>
          <p:cNvSpPr/>
          <p:nvPr/>
        </p:nvSpPr>
        <p:spPr>
          <a:xfrm>
            <a:off x="4132440" y="5239440"/>
            <a:ext cx="7436880" cy="127800"/>
          </a:xfrm>
          <a:prstGeom prst="roundRect">
            <a:avLst>
              <a:gd name="adj" fmla="val 28571"/>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273" name="Shape 75"/>
          <p:cNvSpPr/>
          <p:nvPr/>
        </p:nvSpPr>
        <p:spPr>
          <a:xfrm>
            <a:off x="1033200" y="58978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274" name="Shape 76"/>
          <p:cNvSpPr/>
          <p:nvPr/>
        </p:nvSpPr>
        <p:spPr>
          <a:xfrm>
            <a:off x="1143000" y="559008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275" name="Text 77"/>
          <p:cNvSpPr/>
          <p:nvPr/>
        </p:nvSpPr>
        <p:spPr>
          <a:xfrm>
            <a:off x="1243440" y="55533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Electrification &amp; DER: inventory, performance, planning</a:t>
            </a:r>
            <a:endParaRPr b="0" lang="en-US" sz="950" strike="noStrike" u="none">
              <a:solidFill>
                <a:srgbClr val="000000"/>
              </a:solidFill>
              <a:effectLst/>
              <a:uFillTx/>
              <a:latin typeface="Arial"/>
            </a:endParaRPr>
          </a:p>
        </p:txBody>
      </p:sp>
      <p:sp>
        <p:nvSpPr>
          <p:cNvPr id="2276" name="Shape 78"/>
          <p:cNvSpPr/>
          <p:nvPr/>
        </p:nvSpPr>
        <p:spPr>
          <a:xfrm>
            <a:off x="4132440" y="5635800"/>
            <a:ext cx="7436880" cy="127800"/>
          </a:xfrm>
          <a:prstGeom prst="roundRect">
            <a:avLst>
              <a:gd name="adj" fmla="val 28571"/>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277" name="Shape 79"/>
          <p:cNvSpPr/>
          <p:nvPr/>
        </p:nvSpPr>
        <p:spPr>
          <a:xfrm>
            <a:off x="7315200" y="6080760"/>
            <a:ext cx="145800" cy="145800"/>
          </a:xfrm>
          <a:prstGeom prst="ellipse">
            <a:avLst/>
          </a:prstGeom>
          <a:solidFill>
            <a:srgbClr val="ffb04c"/>
          </a:solidFill>
          <a:ln w="1016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278" name="Text 80"/>
          <p:cNvSpPr/>
          <p:nvPr/>
        </p:nvSpPr>
        <p:spPr>
          <a:xfrm>
            <a:off x="7534800" y="6071760"/>
            <a:ext cx="50256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850" strike="noStrike" u="none">
                <a:solidFill>
                  <a:srgbClr val="5a625c"/>
                </a:solidFill>
                <a:effectLst/>
                <a:uFillTx/>
                <a:latin typeface="Calibri"/>
                <a:ea typeface="Calibri"/>
              </a:rPr>
              <a:t>MVP</a:t>
            </a:r>
            <a:endParaRPr b="0" lang="en-US" sz="850" strike="noStrike" u="none">
              <a:solidFill>
                <a:srgbClr val="000000"/>
              </a:solidFill>
              <a:effectLst/>
              <a:uFillTx/>
              <a:latin typeface="Arial"/>
            </a:endParaRPr>
          </a:p>
        </p:txBody>
      </p:sp>
      <p:sp>
        <p:nvSpPr>
          <p:cNvPr id="2279" name="Shape 81"/>
          <p:cNvSpPr/>
          <p:nvPr/>
        </p:nvSpPr>
        <p:spPr>
          <a:xfrm>
            <a:off x="8183880" y="6080760"/>
            <a:ext cx="145800" cy="145800"/>
          </a:xfrm>
          <a:prstGeom prst="ellipse">
            <a:avLst/>
          </a:prstGeom>
          <a:solidFill>
            <a:srgbClr val="007a27"/>
          </a:solidFill>
          <a:ln w="1016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280" name="Text 82"/>
          <p:cNvSpPr/>
          <p:nvPr/>
        </p:nvSpPr>
        <p:spPr>
          <a:xfrm>
            <a:off x="8403480" y="6071760"/>
            <a:ext cx="73116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850" strike="noStrike" u="none">
                <a:solidFill>
                  <a:srgbClr val="5a625c"/>
                </a:solidFill>
                <a:effectLst/>
                <a:uFillTx/>
                <a:latin typeface="Calibri"/>
                <a:ea typeface="Calibri"/>
              </a:rPr>
              <a:t>Full GA</a:t>
            </a:r>
            <a:endParaRPr b="0" lang="en-US" sz="850" strike="noStrike" u="none">
              <a:solidFill>
                <a:srgbClr val="000000"/>
              </a:solidFill>
              <a:effectLst/>
              <a:uFillTx/>
              <a:latin typeface="Arial"/>
            </a:endParaRPr>
          </a:p>
        </p:txBody>
      </p:sp>
      <p:sp>
        <p:nvSpPr>
          <p:cNvPr id="2281" name="Shape 83"/>
          <p:cNvSpPr/>
          <p:nvPr/>
        </p:nvSpPr>
        <p:spPr>
          <a:xfrm>
            <a:off x="9326880" y="6099120"/>
            <a:ext cx="456840" cy="109440"/>
          </a:xfrm>
          <a:prstGeom prst="roundRect">
            <a:avLst>
              <a:gd name="adj" fmla="val 25000"/>
            </a:avLst>
          </a:prstGeom>
          <a:solidFill>
            <a:srgbClr val="3dcd58">
              <a:alpha val="22000"/>
            </a:srgbClr>
          </a:solidFill>
          <a:ln w="12700">
            <a:solidFill>
              <a:srgbClr val="3dcd58">
                <a:alpha val="22000"/>
              </a:srgbClr>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282" name="Text 84"/>
          <p:cNvSpPr/>
          <p:nvPr/>
        </p:nvSpPr>
        <p:spPr>
          <a:xfrm>
            <a:off x="9857160" y="6071760"/>
            <a:ext cx="173700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850" strike="noStrike" u="none">
                <a:solidFill>
                  <a:srgbClr val="5a625c"/>
                </a:solidFill>
                <a:effectLst/>
                <a:uFillTx/>
                <a:latin typeface="Calibri"/>
                <a:ea typeface="Calibri"/>
              </a:rPr>
              <a:t>Continuous investment after GA</a:t>
            </a:r>
            <a:endParaRPr b="0" lang="en-US" sz="850" strike="noStrike" u="none">
              <a:solidFill>
                <a:srgbClr val="000000"/>
              </a:solidFill>
              <a:effectLst/>
              <a:uFillTx/>
              <a:latin typeface="Arial"/>
            </a:endParaRPr>
          </a:p>
        </p:txBody>
      </p:sp>
      <p:sp>
        <p:nvSpPr>
          <p:cNvPr id="2283" name="Shape 85"/>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284" name="Text 86"/>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2285" name="Text 87"/>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2286" name="PlaceHolder 1"/>
          <p:cNvSpPr>
            <a:spLocks noGrp="1"/>
          </p:cNvSpPr>
          <p:nvPr>
            <p:ph type="sldNum" idx="53"/>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CC766DF2-3727-4B1D-8A3E-C4F87F01633D}"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287"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2288"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2289" name="Shape 2"/>
          <p:cNvSpPr/>
          <p:nvPr/>
        </p:nvSpPr>
        <p:spPr>
          <a:xfrm>
            <a:off x="621720" y="311040"/>
            <a:ext cx="229032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290" name="Text 3"/>
          <p:cNvSpPr/>
          <p:nvPr/>
        </p:nvSpPr>
        <p:spPr>
          <a:xfrm>
            <a:off x="804600" y="329040"/>
            <a:ext cx="196092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EXECUTIVE SUMMARY</a:t>
            </a:r>
            <a:endParaRPr b="0" lang="en-US" sz="950" strike="noStrike" u="none">
              <a:solidFill>
                <a:srgbClr val="000000"/>
              </a:solidFill>
              <a:effectLst/>
              <a:uFillTx/>
              <a:latin typeface="Arial"/>
            </a:endParaRPr>
          </a:p>
        </p:txBody>
      </p:sp>
      <p:sp>
        <p:nvSpPr>
          <p:cNvPr id="2291"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The full 2026 to 2028 roadmap: Sustainability family</a:t>
            </a:r>
            <a:endParaRPr b="0" lang="en-US" sz="3200" strike="noStrike" u="none">
              <a:solidFill>
                <a:srgbClr val="000000"/>
              </a:solidFill>
              <a:effectLst/>
              <a:uFillTx/>
              <a:latin typeface="Arial"/>
            </a:endParaRPr>
          </a:p>
        </p:txBody>
      </p:sp>
      <p:sp>
        <p:nvSpPr>
          <p:cNvPr id="2292"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fontScale="92500" lnSpcReduction="9999"/>
          </a:bodyPr>
          <a:p>
            <a:pPr defTabSz="914400">
              <a:lnSpc>
                <a:spcPct val="100000"/>
              </a:lnSpc>
              <a:tabLst>
                <a:tab algn="l" pos="0"/>
              </a:tabLst>
            </a:pPr>
            <a:r>
              <a:rPr b="0" lang="en-US" sz="1250" strike="noStrike" u="none">
                <a:solidFill>
                  <a:srgbClr val="5a625c"/>
                </a:solidFill>
                <a:effectLst/>
                <a:uFillTx/>
                <a:latin typeface="Calibri"/>
                <a:ea typeface="Calibri"/>
              </a:rPr>
              <a:t>Carbon, supply chain, disclosure, climate risk and strategy on one timeline. Phases follow the approved sequencing: quarters where confirmed, H1 and H2 elsewhere, 2028 directional.</a:t>
            </a:r>
            <a:endParaRPr b="0" lang="en-US" sz="1250" strike="noStrike" u="none">
              <a:solidFill>
                <a:srgbClr val="000000"/>
              </a:solidFill>
              <a:effectLst/>
              <a:uFillTx/>
              <a:latin typeface="Arial"/>
            </a:endParaRPr>
          </a:p>
        </p:txBody>
      </p:sp>
      <p:sp>
        <p:nvSpPr>
          <p:cNvPr id="2293"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294" name="Shape 7"/>
          <p:cNvSpPr/>
          <p:nvPr/>
        </p:nvSpPr>
        <p:spPr>
          <a:xfrm>
            <a:off x="621720" y="1874520"/>
            <a:ext cx="10947600" cy="456840"/>
          </a:xfrm>
          <a:prstGeom prst="rect">
            <a:avLst/>
          </a:prstGeom>
          <a:solidFill>
            <a:srgbClr val="f1f3f2"/>
          </a:solidFill>
          <a:ln w="635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295" name="Text 8"/>
          <p:cNvSpPr/>
          <p:nvPr/>
        </p:nvSpPr>
        <p:spPr>
          <a:xfrm>
            <a:off x="749880" y="2020680"/>
            <a:ext cx="260568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99" strike="noStrike" u="none">
                <a:solidFill>
                  <a:srgbClr val="5a625c"/>
                </a:solidFill>
                <a:effectLst/>
                <a:uFillTx/>
                <a:latin typeface="Calibri"/>
                <a:ea typeface="Calibri"/>
              </a:rPr>
              <a:t>CAPABILITY</a:t>
            </a:r>
            <a:endParaRPr b="0" lang="en-US" sz="850" strike="noStrike" u="none">
              <a:solidFill>
                <a:srgbClr val="000000"/>
              </a:solidFill>
              <a:effectLst/>
              <a:uFillTx/>
              <a:latin typeface="Arial"/>
            </a:endParaRPr>
          </a:p>
        </p:txBody>
      </p:sp>
      <p:sp>
        <p:nvSpPr>
          <p:cNvPr id="2296" name="Text 9"/>
          <p:cNvSpPr/>
          <p:nvPr/>
        </p:nvSpPr>
        <p:spPr>
          <a:xfrm>
            <a:off x="3456360" y="1901880"/>
            <a:ext cx="270396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2026</a:t>
            </a:r>
            <a:endParaRPr b="0" lang="en-US" sz="1200" strike="noStrike" u="none">
              <a:solidFill>
                <a:srgbClr val="000000"/>
              </a:solidFill>
              <a:effectLst/>
              <a:uFillTx/>
              <a:latin typeface="Arial"/>
            </a:endParaRPr>
          </a:p>
        </p:txBody>
      </p:sp>
      <p:sp>
        <p:nvSpPr>
          <p:cNvPr id="2297" name="Text 10"/>
          <p:cNvSpPr/>
          <p:nvPr/>
        </p:nvSpPr>
        <p:spPr>
          <a:xfrm>
            <a:off x="345636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2298" name="Text 11"/>
          <p:cNvSpPr/>
          <p:nvPr/>
        </p:nvSpPr>
        <p:spPr>
          <a:xfrm>
            <a:off x="413244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2299" name="Text 12"/>
          <p:cNvSpPr/>
          <p:nvPr/>
        </p:nvSpPr>
        <p:spPr>
          <a:xfrm>
            <a:off x="480852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2300" name="Text 13"/>
          <p:cNvSpPr/>
          <p:nvPr/>
        </p:nvSpPr>
        <p:spPr>
          <a:xfrm>
            <a:off x="548496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2301" name="Text 14"/>
          <p:cNvSpPr/>
          <p:nvPr/>
        </p:nvSpPr>
        <p:spPr>
          <a:xfrm>
            <a:off x="6161040" y="1901880"/>
            <a:ext cx="270396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2027</a:t>
            </a:r>
            <a:endParaRPr b="0" lang="en-US" sz="1200" strike="noStrike" u="none">
              <a:solidFill>
                <a:srgbClr val="000000"/>
              </a:solidFill>
              <a:effectLst/>
              <a:uFillTx/>
              <a:latin typeface="Arial"/>
            </a:endParaRPr>
          </a:p>
        </p:txBody>
      </p:sp>
      <p:sp>
        <p:nvSpPr>
          <p:cNvPr id="2302" name="Text 15"/>
          <p:cNvSpPr/>
          <p:nvPr/>
        </p:nvSpPr>
        <p:spPr>
          <a:xfrm>
            <a:off x="616104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2303" name="Text 16"/>
          <p:cNvSpPr/>
          <p:nvPr/>
        </p:nvSpPr>
        <p:spPr>
          <a:xfrm>
            <a:off x="683712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2304" name="Text 17"/>
          <p:cNvSpPr/>
          <p:nvPr/>
        </p:nvSpPr>
        <p:spPr>
          <a:xfrm>
            <a:off x="751320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2305" name="Text 18"/>
          <p:cNvSpPr/>
          <p:nvPr/>
        </p:nvSpPr>
        <p:spPr>
          <a:xfrm>
            <a:off x="818928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2306" name="Text 19"/>
          <p:cNvSpPr/>
          <p:nvPr/>
        </p:nvSpPr>
        <p:spPr>
          <a:xfrm>
            <a:off x="8865360" y="1901880"/>
            <a:ext cx="270396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2028</a:t>
            </a:r>
            <a:endParaRPr b="0" lang="en-US" sz="1200" strike="noStrike" u="none">
              <a:solidFill>
                <a:srgbClr val="000000"/>
              </a:solidFill>
              <a:effectLst/>
              <a:uFillTx/>
              <a:latin typeface="Arial"/>
            </a:endParaRPr>
          </a:p>
        </p:txBody>
      </p:sp>
      <p:sp>
        <p:nvSpPr>
          <p:cNvPr id="2307" name="Text 20"/>
          <p:cNvSpPr/>
          <p:nvPr/>
        </p:nvSpPr>
        <p:spPr>
          <a:xfrm>
            <a:off x="886536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2308" name="Text 21"/>
          <p:cNvSpPr/>
          <p:nvPr/>
        </p:nvSpPr>
        <p:spPr>
          <a:xfrm>
            <a:off x="954144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2309" name="Text 22"/>
          <p:cNvSpPr/>
          <p:nvPr/>
        </p:nvSpPr>
        <p:spPr>
          <a:xfrm>
            <a:off x="1021752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2310" name="Text 23"/>
          <p:cNvSpPr/>
          <p:nvPr/>
        </p:nvSpPr>
        <p:spPr>
          <a:xfrm>
            <a:off x="1089396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2311" name="Shape 24"/>
          <p:cNvSpPr/>
          <p:nvPr/>
        </p:nvSpPr>
        <p:spPr>
          <a:xfrm>
            <a:off x="3456360" y="2103120"/>
            <a:ext cx="360" cy="269748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312" name="Shape 25"/>
          <p:cNvSpPr/>
          <p:nvPr/>
        </p:nvSpPr>
        <p:spPr>
          <a:xfrm>
            <a:off x="4132440" y="2103120"/>
            <a:ext cx="360" cy="269748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313" name="Shape 26"/>
          <p:cNvSpPr/>
          <p:nvPr/>
        </p:nvSpPr>
        <p:spPr>
          <a:xfrm>
            <a:off x="4808520" y="2103120"/>
            <a:ext cx="360" cy="269748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314" name="Shape 27"/>
          <p:cNvSpPr/>
          <p:nvPr/>
        </p:nvSpPr>
        <p:spPr>
          <a:xfrm>
            <a:off x="5484600" y="2103120"/>
            <a:ext cx="360" cy="269748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315" name="Shape 28"/>
          <p:cNvSpPr/>
          <p:nvPr/>
        </p:nvSpPr>
        <p:spPr>
          <a:xfrm>
            <a:off x="6160680" y="2103120"/>
            <a:ext cx="360" cy="269748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316" name="Shape 29"/>
          <p:cNvSpPr/>
          <p:nvPr/>
        </p:nvSpPr>
        <p:spPr>
          <a:xfrm>
            <a:off x="6836760" y="2103120"/>
            <a:ext cx="360" cy="269748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317" name="Shape 30"/>
          <p:cNvSpPr/>
          <p:nvPr/>
        </p:nvSpPr>
        <p:spPr>
          <a:xfrm>
            <a:off x="7512840" y="2103120"/>
            <a:ext cx="360" cy="269748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318" name="Shape 31"/>
          <p:cNvSpPr/>
          <p:nvPr/>
        </p:nvSpPr>
        <p:spPr>
          <a:xfrm>
            <a:off x="8189280" y="2103120"/>
            <a:ext cx="360" cy="269748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319" name="Shape 32"/>
          <p:cNvSpPr/>
          <p:nvPr/>
        </p:nvSpPr>
        <p:spPr>
          <a:xfrm>
            <a:off x="8865360" y="2103120"/>
            <a:ext cx="360" cy="269748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320" name="Shape 33"/>
          <p:cNvSpPr/>
          <p:nvPr/>
        </p:nvSpPr>
        <p:spPr>
          <a:xfrm>
            <a:off x="9541440" y="2103120"/>
            <a:ext cx="360" cy="269748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321" name="Shape 34"/>
          <p:cNvSpPr/>
          <p:nvPr/>
        </p:nvSpPr>
        <p:spPr>
          <a:xfrm>
            <a:off x="10217520" y="2103120"/>
            <a:ext cx="360" cy="269748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322" name="Shape 35"/>
          <p:cNvSpPr/>
          <p:nvPr/>
        </p:nvSpPr>
        <p:spPr>
          <a:xfrm>
            <a:off x="10893600" y="2103120"/>
            <a:ext cx="360" cy="269748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323" name="Shape 36"/>
          <p:cNvSpPr/>
          <p:nvPr/>
        </p:nvSpPr>
        <p:spPr>
          <a:xfrm>
            <a:off x="11569680" y="2103120"/>
            <a:ext cx="360" cy="269748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324" name="Shape 37"/>
          <p:cNvSpPr/>
          <p:nvPr/>
        </p:nvSpPr>
        <p:spPr>
          <a:xfrm>
            <a:off x="621720" y="2331720"/>
            <a:ext cx="411120" cy="2468520"/>
          </a:xfrm>
          <a:prstGeom prst="rect">
            <a:avLst/>
          </a:prstGeom>
          <a:solidFill>
            <a:srgbClr val="275b7f"/>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325" name="Text 38"/>
          <p:cNvSpPr/>
          <p:nvPr/>
        </p:nvSpPr>
        <p:spPr>
          <a:xfrm>
            <a:off x="685800" y="2377440"/>
            <a:ext cx="282960" cy="237708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SUSTAINABILITY FAMILY</a:t>
            </a:r>
            <a:endParaRPr b="0" lang="en-US" sz="750" strike="noStrike" u="none">
              <a:solidFill>
                <a:srgbClr val="000000"/>
              </a:solidFill>
              <a:effectLst/>
              <a:uFillTx/>
              <a:latin typeface="Arial"/>
            </a:endParaRPr>
          </a:p>
        </p:txBody>
      </p:sp>
      <p:sp>
        <p:nvSpPr>
          <p:cNvPr id="2326" name="Shape 39"/>
          <p:cNvSpPr/>
          <p:nvPr/>
        </p:nvSpPr>
        <p:spPr>
          <a:xfrm>
            <a:off x="1033200" y="274320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327" name="Shape 40"/>
          <p:cNvSpPr/>
          <p:nvPr/>
        </p:nvSpPr>
        <p:spPr>
          <a:xfrm>
            <a:off x="1143000" y="2427840"/>
            <a:ext cx="45360" cy="219240"/>
          </a:xfrm>
          <a:prstGeom prst="roundRect">
            <a:avLst>
              <a:gd name="adj" fmla="val 60000"/>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328" name="Text 41"/>
          <p:cNvSpPr/>
          <p:nvPr/>
        </p:nvSpPr>
        <p:spPr>
          <a:xfrm>
            <a:off x="1243440" y="23911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Carbon Inventory: revamp, Scope 1-2 depth, Scope 3 gap closure</a:t>
            </a:r>
            <a:endParaRPr b="0" lang="en-US" sz="950" strike="noStrike" u="none">
              <a:solidFill>
                <a:srgbClr val="000000"/>
              </a:solidFill>
              <a:effectLst/>
              <a:uFillTx/>
              <a:latin typeface="Arial"/>
            </a:endParaRPr>
          </a:p>
        </p:txBody>
      </p:sp>
      <p:sp>
        <p:nvSpPr>
          <p:cNvPr id="2329" name="Shape 42"/>
          <p:cNvSpPr/>
          <p:nvPr/>
        </p:nvSpPr>
        <p:spPr>
          <a:xfrm>
            <a:off x="3456360" y="2473560"/>
            <a:ext cx="8112960" cy="127800"/>
          </a:xfrm>
          <a:prstGeom prst="roundRect">
            <a:avLst>
              <a:gd name="adj" fmla="val 28571"/>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330" name="Shape 43"/>
          <p:cNvSpPr/>
          <p:nvPr/>
        </p:nvSpPr>
        <p:spPr>
          <a:xfrm>
            <a:off x="1033200" y="31546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331" name="Shape 44"/>
          <p:cNvSpPr/>
          <p:nvPr/>
        </p:nvSpPr>
        <p:spPr>
          <a:xfrm>
            <a:off x="1143000" y="2839320"/>
            <a:ext cx="45360" cy="219240"/>
          </a:xfrm>
          <a:prstGeom prst="roundRect">
            <a:avLst>
              <a:gd name="adj" fmla="val 60000"/>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332" name="Text 45"/>
          <p:cNvSpPr/>
          <p:nvPr/>
        </p:nvSpPr>
        <p:spPr>
          <a:xfrm>
            <a:off x="1243440" y="2802600"/>
            <a:ext cx="2075400" cy="292320"/>
          </a:xfrm>
          <a:prstGeom prst="rect">
            <a:avLst/>
          </a:prstGeom>
          <a:noFill/>
          <a:ln w="0">
            <a:noFill/>
          </a:ln>
        </p:spPr>
        <p:style>
          <a:lnRef idx="0"/>
          <a:fillRef idx="0"/>
          <a:effectRef idx="0"/>
          <a:fontRef idx="minor"/>
        </p:style>
        <p:txBody>
          <a:bodyPr lIns="0" rIns="0" tIns="0" bIns="0" anchor="ctr">
            <a:normAutofit fontScale="92500" lnSpcReduction="9999"/>
          </a:bodyPr>
          <a:p>
            <a:pPr defTabSz="914400">
              <a:lnSpc>
                <a:spcPct val="100000"/>
              </a:lnSpc>
              <a:tabLst>
                <a:tab algn="l" pos="0"/>
              </a:tabLst>
            </a:pPr>
            <a:r>
              <a:rPr b="0" lang="en-US" sz="950" strike="noStrike" u="none">
                <a:solidFill>
                  <a:srgbClr val="1e2420"/>
                </a:solidFill>
                <a:effectLst/>
                <a:uFillTx/>
                <a:latin typeface="Calibri"/>
                <a:ea typeface="Calibri"/>
              </a:rPr>
              <a:t>Decarbonization Planning: initiatives, ECM library, scenario analysis</a:t>
            </a:r>
            <a:endParaRPr b="0" lang="en-US" sz="950" strike="noStrike" u="none">
              <a:solidFill>
                <a:srgbClr val="000000"/>
              </a:solidFill>
              <a:effectLst/>
              <a:uFillTx/>
              <a:latin typeface="Arial"/>
            </a:endParaRPr>
          </a:p>
        </p:txBody>
      </p:sp>
      <p:sp>
        <p:nvSpPr>
          <p:cNvPr id="2333" name="Shape 46"/>
          <p:cNvSpPr/>
          <p:nvPr/>
        </p:nvSpPr>
        <p:spPr>
          <a:xfrm>
            <a:off x="4132440" y="2885040"/>
            <a:ext cx="7436880" cy="127800"/>
          </a:xfrm>
          <a:prstGeom prst="roundRect">
            <a:avLst>
              <a:gd name="adj" fmla="val 28571"/>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334" name="Shape 47"/>
          <p:cNvSpPr/>
          <p:nvPr/>
        </p:nvSpPr>
        <p:spPr>
          <a:xfrm>
            <a:off x="1033200" y="356616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335" name="Shape 48"/>
          <p:cNvSpPr/>
          <p:nvPr/>
        </p:nvSpPr>
        <p:spPr>
          <a:xfrm>
            <a:off x="1143000" y="3250800"/>
            <a:ext cx="45360" cy="219240"/>
          </a:xfrm>
          <a:prstGeom prst="roundRect">
            <a:avLst>
              <a:gd name="adj" fmla="val 60000"/>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336" name="Text 49"/>
          <p:cNvSpPr/>
          <p:nvPr/>
        </p:nvSpPr>
        <p:spPr>
          <a:xfrm>
            <a:off x="1243440" y="321408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Supplier Engagement: supplier action, data quality, light PCF</a:t>
            </a:r>
            <a:endParaRPr b="0" lang="en-US" sz="950" strike="noStrike" u="none">
              <a:solidFill>
                <a:srgbClr val="000000"/>
              </a:solidFill>
              <a:effectLst/>
              <a:uFillTx/>
              <a:latin typeface="Arial"/>
            </a:endParaRPr>
          </a:p>
        </p:txBody>
      </p:sp>
      <p:sp>
        <p:nvSpPr>
          <p:cNvPr id="2337" name="Shape 50"/>
          <p:cNvSpPr/>
          <p:nvPr/>
        </p:nvSpPr>
        <p:spPr>
          <a:xfrm>
            <a:off x="3456360" y="3296520"/>
            <a:ext cx="8112960" cy="127800"/>
          </a:xfrm>
          <a:prstGeom prst="roundRect">
            <a:avLst>
              <a:gd name="adj" fmla="val 28571"/>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338" name="Shape 51"/>
          <p:cNvSpPr/>
          <p:nvPr/>
        </p:nvSpPr>
        <p:spPr>
          <a:xfrm>
            <a:off x="1033200" y="397764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339" name="Shape 52"/>
          <p:cNvSpPr/>
          <p:nvPr/>
        </p:nvSpPr>
        <p:spPr>
          <a:xfrm>
            <a:off x="1143000" y="3662280"/>
            <a:ext cx="45360" cy="219240"/>
          </a:xfrm>
          <a:prstGeom prst="roundRect">
            <a:avLst>
              <a:gd name="adj" fmla="val 60000"/>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340" name="Text 53"/>
          <p:cNvSpPr/>
          <p:nvPr/>
        </p:nvSpPr>
        <p:spPr>
          <a:xfrm>
            <a:off x="1243440" y="3625560"/>
            <a:ext cx="2075400" cy="292320"/>
          </a:xfrm>
          <a:prstGeom prst="rect">
            <a:avLst/>
          </a:prstGeom>
          <a:noFill/>
          <a:ln w="0">
            <a:noFill/>
          </a:ln>
        </p:spPr>
        <p:style>
          <a:lnRef idx="0"/>
          <a:fillRef idx="0"/>
          <a:effectRef idx="0"/>
          <a:fontRef idx="minor"/>
        </p:style>
        <p:txBody>
          <a:bodyPr lIns="0" rIns="0" tIns="0" bIns="0" anchor="ctr">
            <a:normAutofit fontScale="92500" lnSpcReduction="9999"/>
          </a:bodyPr>
          <a:p>
            <a:pPr defTabSz="914400">
              <a:lnSpc>
                <a:spcPct val="100000"/>
              </a:lnSpc>
              <a:tabLst>
                <a:tab algn="l" pos="0"/>
              </a:tabLst>
            </a:pPr>
            <a:r>
              <a:rPr b="0" lang="en-US" sz="950" strike="noStrike" u="none">
                <a:solidFill>
                  <a:srgbClr val="1e2420"/>
                </a:solidFill>
                <a:effectLst/>
                <a:uFillTx/>
                <a:latin typeface="Calibri"/>
                <a:ea typeface="Calibri"/>
              </a:rPr>
              <a:t>Disclosure &amp; Indicators: foundations, configure-collect-disclose, SE migration</a:t>
            </a:r>
            <a:endParaRPr b="0" lang="en-US" sz="950" strike="noStrike" u="none">
              <a:solidFill>
                <a:srgbClr val="000000"/>
              </a:solidFill>
              <a:effectLst/>
              <a:uFillTx/>
              <a:latin typeface="Arial"/>
            </a:endParaRPr>
          </a:p>
        </p:txBody>
      </p:sp>
      <p:sp>
        <p:nvSpPr>
          <p:cNvPr id="2341" name="Shape 54"/>
          <p:cNvSpPr/>
          <p:nvPr/>
        </p:nvSpPr>
        <p:spPr>
          <a:xfrm>
            <a:off x="3456360" y="3708000"/>
            <a:ext cx="8112960" cy="127800"/>
          </a:xfrm>
          <a:prstGeom prst="roundRect">
            <a:avLst>
              <a:gd name="adj" fmla="val 28571"/>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342" name="Shape 55"/>
          <p:cNvSpPr/>
          <p:nvPr/>
        </p:nvSpPr>
        <p:spPr>
          <a:xfrm>
            <a:off x="1033200" y="43891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343" name="Shape 56"/>
          <p:cNvSpPr/>
          <p:nvPr/>
        </p:nvSpPr>
        <p:spPr>
          <a:xfrm>
            <a:off x="1143000" y="4073760"/>
            <a:ext cx="45360" cy="219240"/>
          </a:xfrm>
          <a:prstGeom prst="roundRect">
            <a:avLst>
              <a:gd name="adj" fmla="val 60000"/>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344" name="Text 57"/>
          <p:cNvSpPr/>
          <p:nvPr/>
        </p:nvSpPr>
        <p:spPr>
          <a:xfrm>
            <a:off x="1243440" y="4037040"/>
            <a:ext cx="2075400" cy="292320"/>
          </a:xfrm>
          <a:prstGeom prst="rect">
            <a:avLst/>
          </a:prstGeom>
          <a:noFill/>
          <a:ln w="0">
            <a:noFill/>
          </a:ln>
        </p:spPr>
        <p:style>
          <a:lnRef idx="0"/>
          <a:fillRef idx="0"/>
          <a:effectRef idx="0"/>
          <a:fontRef idx="minor"/>
        </p:style>
        <p:txBody>
          <a:bodyPr lIns="0" rIns="0" tIns="0" bIns="0" anchor="ctr">
            <a:normAutofit fontScale="92500" lnSpcReduction="9999"/>
          </a:bodyPr>
          <a:p>
            <a:pPr defTabSz="914400">
              <a:lnSpc>
                <a:spcPct val="100000"/>
              </a:lnSpc>
              <a:tabLst>
                <a:tab algn="l" pos="0"/>
              </a:tabLst>
            </a:pPr>
            <a:r>
              <a:rPr b="0" lang="en-US" sz="950" strike="noStrike" u="none">
                <a:solidFill>
                  <a:srgbClr val="1e2420"/>
                </a:solidFill>
                <a:effectLst/>
                <a:uFillTx/>
                <a:latin typeface="Calibri"/>
                <a:ea typeface="Calibri"/>
              </a:rPr>
              <a:t>Climate Risk: asset register, scenarios and ClimVar, transition plans</a:t>
            </a:r>
            <a:endParaRPr b="0" lang="en-US" sz="950" strike="noStrike" u="none">
              <a:solidFill>
                <a:srgbClr val="000000"/>
              </a:solidFill>
              <a:effectLst/>
              <a:uFillTx/>
              <a:latin typeface="Arial"/>
            </a:endParaRPr>
          </a:p>
        </p:txBody>
      </p:sp>
      <p:sp>
        <p:nvSpPr>
          <p:cNvPr id="2345" name="Shape 58"/>
          <p:cNvSpPr/>
          <p:nvPr/>
        </p:nvSpPr>
        <p:spPr>
          <a:xfrm>
            <a:off x="3456360" y="4119480"/>
            <a:ext cx="8112960" cy="127800"/>
          </a:xfrm>
          <a:prstGeom prst="roundRect">
            <a:avLst>
              <a:gd name="adj" fmla="val 28571"/>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346" name="Shape 59"/>
          <p:cNvSpPr/>
          <p:nvPr/>
        </p:nvSpPr>
        <p:spPr>
          <a:xfrm>
            <a:off x="1033200" y="480060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347" name="Shape 60"/>
          <p:cNvSpPr/>
          <p:nvPr/>
        </p:nvSpPr>
        <p:spPr>
          <a:xfrm>
            <a:off x="1143000" y="4485240"/>
            <a:ext cx="45360" cy="219240"/>
          </a:xfrm>
          <a:prstGeom prst="roundRect">
            <a:avLst>
              <a:gd name="adj" fmla="val 60000"/>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348" name="Text 61"/>
          <p:cNvSpPr/>
          <p:nvPr/>
        </p:nvSpPr>
        <p:spPr>
          <a:xfrm>
            <a:off x="1243440" y="44485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Strategy: targets, portfolio view, board narratives</a:t>
            </a:r>
            <a:endParaRPr b="0" lang="en-US" sz="950" strike="noStrike" u="none">
              <a:solidFill>
                <a:srgbClr val="000000"/>
              </a:solidFill>
              <a:effectLst/>
              <a:uFillTx/>
              <a:latin typeface="Arial"/>
            </a:endParaRPr>
          </a:p>
        </p:txBody>
      </p:sp>
      <p:sp>
        <p:nvSpPr>
          <p:cNvPr id="2349" name="Shape 62"/>
          <p:cNvSpPr/>
          <p:nvPr/>
        </p:nvSpPr>
        <p:spPr>
          <a:xfrm>
            <a:off x="4132440" y="4530960"/>
            <a:ext cx="7436880" cy="127800"/>
          </a:xfrm>
          <a:prstGeom prst="roundRect">
            <a:avLst>
              <a:gd name="adj" fmla="val 28571"/>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350" name="Shape 63"/>
          <p:cNvSpPr/>
          <p:nvPr/>
        </p:nvSpPr>
        <p:spPr>
          <a:xfrm>
            <a:off x="7315200" y="5001840"/>
            <a:ext cx="145800" cy="145800"/>
          </a:xfrm>
          <a:prstGeom prst="ellipse">
            <a:avLst/>
          </a:prstGeom>
          <a:solidFill>
            <a:srgbClr val="ffb04c"/>
          </a:solidFill>
          <a:ln w="1016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351" name="Text 64"/>
          <p:cNvSpPr/>
          <p:nvPr/>
        </p:nvSpPr>
        <p:spPr>
          <a:xfrm>
            <a:off x="7534800" y="4992480"/>
            <a:ext cx="50256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850" strike="noStrike" u="none">
                <a:solidFill>
                  <a:srgbClr val="5a625c"/>
                </a:solidFill>
                <a:effectLst/>
                <a:uFillTx/>
                <a:latin typeface="Calibri"/>
                <a:ea typeface="Calibri"/>
              </a:rPr>
              <a:t>MVP</a:t>
            </a:r>
            <a:endParaRPr b="0" lang="en-US" sz="850" strike="noStrike" u="none">
              <a:solidFill>
                <a:srgbClr val="000000"/>
              </a:solidFill>
              <a:effectLst/>
              <a:uFillTx/>
              <a:latin typeface="Arial"/>
            </a:endParaRPr>
          </a:p>
        </p:txBody>
      </p:sp>
      <p:sp>
        <p:nvSpPr>
          <p:cNvPr id="2352" name="Shape 65"/>
          <p:cNvSpPr/>
          <p:nvPr/>
        </p:nvSpPr>
        <p:spPr>
          <a:xfrm>
            <a:off x="8183880" y="5001840"/>
            <a:ext cx="145800" cy="145800"/>
          </a:xfrm>
          <a:prstGeom prst="ellipse">
            <a:avLst/>
          </a:prstGeom>
          <a:solidFill>
            <a:srgbClr val="007a27"/>
          </a:solidFill>
          <a:ln w="1016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353" name="Text 66"/>
          <p:cNvSpPr/>
          <p:nvPr/>
        </p:nvSpPr>
        <p:spPr>
          <a:xfrm>
            <a:off x="8403480" y="4992480"/>
            <a:ext cx="73116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850" strike="noStrike" u="none">
                <a:solidFill>
                  <a:srgbClr val="5a625c"/>
                </a:solidFill>
                <a:effectLst/>
                <a:uFillTx/>
                <a:latin typeface="Calibri"/>
                <a:ea typeface="Calibri"/>
              </a:rPr>
              <a:t>Full GA</a:t>
            </a:r>
            <a:endParaRPr b="0" lang="en-US" sz="850" strike="noStrike" u="none">
              <a:solidFill>
                <a:srgbClr val="000000"/>
              </a:solidFill>
              <a:effectLst/>
              <a:uFillTx/>
              <a:latin typeface="Arial"/>
            </a:endParaRPr>
          </a:p>
        </p:txBody>
      </p:sp>
      <p:sp>
        <p:nvSpPr>
          <p:cNvPr id="2354" name="Shape 67"/>
          <p:cNvSpPr/>
          <p:nvPr/>
        </p:nvSpPr>
        <p:spPr>
          <a:xfrm>
            <a:off x="9326880" y="5020200"/>
            <a:ext cx="456840" cy="109440"/>
          </a:xfrm>
          <a:prstGeom prst="roundRect">
            <a:avLst>
              <a:gd name="adj" fmla="val 25000"/>
            </a:avLst>
          </a:prstGeom>
          <a:solidFill>
            <a:srgbClr val="3dcd58">
              <a:alpha val="22000"/>
            </a:srgbClr>
          </a:solidFill>
          <a:ln w="12700">
            <a:solidFill>
              <a:srgbClr val="3dcd58">
                <a:alpha val="22000"/>
              </a:srgbClr>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355" name="Text 68"/>
          <p:cNvSpPr/>
          <p:nvPr/>
        </p:nvSpPr>
        <p:spPr>
          <a:xfrm>
            <a:off x="9857160" y="4992480"/>
            <a:ext cx="173700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850" strike="noStrike" u="none">
                <a:solidFill>
                  <a:srgbClr val="5a625c"/>
                </a:solidFill>
                <a:effectLst/>
                <a:uFillTx/>
                <a:latin typeface="Calibri"/>
                <a:ea typeface="Calibri"/>
              </a:rPr>
              <a:t>Continuous investment after GA</a:t>
            </a:r>
            <a:endParaRPr b="0" lang="en-US" sz="850" strike="noStrike" u="none">
              <a:solidFill>
                <a:srgbClr val="000000"/>
              </a:solidFill>
              <a:effectLst/>
              <a:uFillTx/>
              <a:latin typeface="Arial"/>
            </a:endParaRPr>
          </a:p>
        </p:txBody>
      </p:sp>
      <p:sp>
        <p:nvSpPr>
          <p:cNvPr id="2356" name="Shape 69"/>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357" name="Text 70"/>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2358" name="Text 71"/>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2359" name="PlaceHolder 1"/>
          <p:cNvSpPr>
            <a:spLocks noGrp="1"/>
          </p:cNvSpPr>
          <p:nvPr>
            <p:ph type="sldNum" idx="54"/>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5C223696-9DD5-4565-AD39-82B1112664DB}"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5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60"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2361"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2362" name="Shape 2"/>
          <p:cNvSpPr/>
          <p:nvPr/>
        </p:nvSpPr>
        <p:spPr>
          <a:xfrm>
            <a:off x="621720" y="311040"/>
            <a:ext cx="229032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363" name="Text 3"/>
          <p:cNvSpPr/>
          <p:nvPr/>
        </p:nvSpPr>
        <p:spPr>
          <a:xfrm>
            <a:off x="804600" y="329040"/>
            <a:ext cx="196092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EXECUTIVE SUMMARY</a:t>
            </a:r>
            <a:endParaRPr b="0" lang="en-US" sz="950" strike="noStrike" u="none">
              <a:solidFill>
                <a:srgbClr val="000000"/>
              </a:solidFill>
              <a:effectLst/>
              <a:uFillTx/>
              <a:latin typeface="Arial"/>
            </a:endParaRPr>
          </a:p>
        </p:txBody>
      </p:sp>
      <p:sp>
        <p:nvSpPr>
          <p:cNvPr id="2364" name="Text 4"/>
          <p:cNvSpPr/>
          <p:nvPr/>
        </p:nvSpPr>
        <p:spPr>
          <a:xfrm>
            <a:off x="621720" y="768240"/>
            <a:ext cx="10947600" cy="8042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2800" strike="noStrike" u="none">
                <a:solidFill>
                  <a:srgbClr val="1e2420"/>
                </a:solidFill>
                <a:effectLst/>
                <a:uFillTx/>
                <a:latin typeface="Calibri"/>
                <a:ea typeface="Calibri"/>
              </a:rPr>
              <a:t>Sustainability product highlights: Carbon and Supply Chain</a:t>
            </a:r>
            <a:endParaRPr b="0" lang="en-US" sz="2800" strike="noStrike" u="none">
              <a:solidFill>
                <a:srgbClr val="000000"/>
              </a:solidFill>
              <a:effectLst/>
              <a:uFillTx/>
              <a:latin typeface="Arial"/>
            </a:endParaRPr>
          </a:p>
        </p:txBody>
      </p:sp>
      <p:sp>
        <p:nvSpPr>
          <p:cNvPr id="2365" name="Text 5"/>
          <p:cNvSpPr/>
          <p:nvPr/>
        </p:nvSpPr>
        <p:spPr>
          <a:xfrm>
            <a:off x="621720" y="15728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Headline 2026 to 2027 deliveries for Carbon Performance and Supply Chain, on one quarterly timeline.</a:t>
            </a:r>
            <a:endParaRPr b="0" lang="en-US" sz="1250" strike="noStrike" u="none">
              <a:solidFill>
                <a:srgbClr val="000000"/>
              </a:solidFill>
              <a:effectLst/>
              <a:uFillTx/>
              <a:latin typeface="Arial"/>
            </a:endParaRPr>
          </a:p>
        </p:txBody>
      </p:sp>
      <p:sp>
        <p:nvSpPr>
          <p:cNvPr id="2366"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367" name="Shape 7"/>
          <p:cNvSpPr/>
          <p:nvPr/>
        </p:nvSpPr>
        <p:spPr>
          <a:xfrm>
            <a:off x="621720" y="1874520"/>
            <a:ext cx="10947600" cy="456840"/>
          </a:xfrm>
          <a:prstGeom prst="rect">
            <a:avLst/>
          </a:prstGeom>
          <a:solidFill>
            <a:srgbClr val="f1f3f2"/>
          </a:solidFill>
          <a:ln w="635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368" name="Text 8"/>
          <p:cNvSpPr/>
          <p:nvPr/>
        </p:nvSpPr>
        <p:spPr>
          <a:xfrm>
            <a:off x="749880" y="2020680"/>
            <a:ext cx="260568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99" strike="noStrike" u="none">
                <a:solidFill>
                  <a:srgbClr val="5a625c"/>
                </a:solidFill>
                <a:effectLst/>
                <a:uFillTx/>
                <a:latin typeface="Calibri"/>
                <a:ea typeface="Calibri"/>
              </a:rPr>
              <a:t>CAPABILITY</a:t>
            </a:r>
            <a:endParaRPr b="0" lang="en-US" sz="850" strike="noStrike" u="none">
              <a:solidFill>
                <a:srgbClr val="000000"/>
              </a:solidFill>
              <a:effectLst/>
              <a:uFillTx/>
              <a:latin typeface="Arial"/>
            </a:endParaRPr>
          </a:p>
        </p:txBody>
      </p:sp>
      <p:sp>
        <p:nvSpPr>
          <p:cNvPr id="2369" name="Text 9"/>
          <p:cNvSpPr/>
          <p:nvPr/>
        </p:nvSpPr>
        <p:spPr>
          <a:xfrm>
            <a:off x="3456360" y="1901880"/>
            <a:ext cx="405648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2026</a:t>
            </a:r>
            <a:endParaRPr b="0" lang="en-US" sz="1200" strike="noStrike" u="none">
              <a:solidFill>
                <a:srgbClr val="000000"/>
              </a:solidFill>
              <a:effectLst/>
              <a:uFillTx/>
              <a:latin typeface="Arial"/>
            </a:endParaRPr>
          </a:p>
        </p:txBody>
      </p:sp>
      <p:sp>
        <p:nvSpPr>
          <p:cNvPr id="2370" name="Text 10"/>
          <p:cNvSpPr/>
          <p:nvPr/>
        </p:nvSpPr>
        <p:spPr>
          <a:xfrm>
            <a:off x="345636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2371" name="Text 11"/>
          <p:cNvSpPr/>
          <p:nvPr/>
        </p:nvSpPr>
        <p:spPr>
          <a:xfrm>
            <a:off x="447048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2372" name="Text 12"/>
          <p:cNvSpPr/>
          <p:nvPr/>
        </p:nvSpPr>
        <p:spPr>
          <a:xfrm>
            <a:off x="548496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2373" name="Text 13"/>
          <p:cNvSpPr/>
          <p:nvPr/>
        </p:nvSpPr>
        <p:spPr>
          <a:xfrm>
            <a:off x="649908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2374" name="Text 14"/>
          <p:cNvSpPr/>
          <p:nvPr/>
        </p:nvSpPr>
        <p:spPr>
          <a:xfrm>
            <a:off x="7513200" y="1901880"/>
            <a:ext cx="405648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2027</a:t>
            </a:r>
            <a:endParaRPr b="0" lang="en-US" sz="1200" strike="noStrike" u="none">
              <a:solidFill>
                <a:srgbClr val="000000"/>
              </a:solidFill>
              <a:effectLst/>
              <a:uFillTx/>
              <a:latin typeface="Arial"/>
            </a:endParaRPr>
          </a:p>
        </p:txBody>
      </p:sp>
      <p:sp>
        <p:nvSpPr>
          <p:cNvPr id="2375" name="Text 15"/>
          <p:cNvSpPr/>
          <p:nvPr/>
        </p:nvSpPr>
        <p:spPr>
          <a:xfrm>
            <a:off x="751320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2376" name="Text 16"/>
          <p:cNvSpPr/>
          <p:nvPr/>
        </p:nvSpPr>
        <p:spPr>
          <a:xfrm>
            <a:off x="852732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2377" name="Text 17"/>
          <p:cNvSpPr/>
          <p:nvPr/>
        </p:nvSpPr>
        <p:spPr>
          <a:xfrm>
            <a:off x="954144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2378" name="Text 18"/>
          <p:cNvSpPr/>
          <p:nvPr/>
        </p:nvSpPr>
        <p:spPr>
          <a:xfrm>
            <a:off x="1055556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2379" name="Shape 19"/>
          <p:cNvSpPr/>
          <p:nvPr/>
        </p:nvSpPr>
        <p:spPr>
          <a:xfrm>
            <a:off x="3456360" y="2103120"/>
            <a:ext cx="360" cy="269748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380" name="Shape 20"/>
          <p:cNvSpPr/>
          <p:nvPr/>
        </p:nvSpPr>
        <p:spPr>
          <a:xfrm>
            <a:off x="4470480" y="2103120"/>
            <a:ext cx="360" cy="269748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381" name="Shape 21"/>
          <p:cNvSpPr/>
          <p:nvPr/>
        </p:nvSpPr>
        <p:spPr>
          <a:xfrm>
            <a:off x="5484600" y="2103120"/>
            <a:ext cx="360" cy="269748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382" name="Shape 22"/>
          <p:cNvSpPr/>
          <p:nvPr/>
        </p:nvSpPr>
        <p:spPr>
          <a:xfrm>
            <a:off x="6498720" y="2103120"/>
            <a:ext cx="360" cy="269748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383" name="Shape 23"/>
          <p:cNvSpPr/>
          <p:nvPr/>
        </p:nvSpPr>
        <p:spPr>
          <a:xfrm>
            <a:off x="7512840" y="2103120"/>
            <a:ext cx="360" cy="269748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384" name="Shape 24"/>
          <p:cNvSpPr/>
          <p:nvPr/>
        </p:nvSpPr>
        <p:spPr>
          <a:xfrm>
            <a:off x="8527320" y="2103120"/>
            <a:ext cx="360" cy="269748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385" name="Shape 25"/>
          <p:cNvSpPr/>
          <p:nvPr/>
        </p:nvSpPr>
        <p:spPr>
          <a:xfrm>
            <a:off x="9541440" y="2103120"/>
            <a:ext cx="360" cy="269748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386" name="Shape 26"/>
          <p:cNvSpPr/>
          <p:nvPr/>
        </p:nvSpPr>
        <p:spPr>
          <a:xfrm>
            <a:off x="10555560" y="2103120"/>
            <a:ext cx="360" cy="269748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387" name="Shape 27"/>
          <p:cNvSpPr/>
          <p:nvPr/>
        </p:nvSpPr>
        <p:spPr>
          <a:xfrm>
            <a:off x="11569680" y="2103120"/>
            <a:ext cx="360" cy="269748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388" name="Shape 28"/>
          <p:cNvSpPr/>
          <p:nvPr/>
        </p:nvSpPr>
        <p:spPr>
          <a:xfrm>
            <a:off x="621720" y="2331720"/>
            <a:ext cx="411120" cy="1234080"/>
          </a:xfrm>
          <a:prstGeom prst="rect">
            <a:avLst/>
          </a:prstGeom>
          <a:solidFill>
            <a:srgbClr val="3dcd58"/>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389" name="Text 29"/>
          <p:cNvSpPr/>
          <p:nvPr/>
        </p:nvSpPr>
        <p:spPr>
          <a:xfrm>
            <a:off x="685800" y="2377440"/>
            <a:ext cx="282960" cy="114264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CARBON</a:t>
            </a:r>
            <a:endParaRPr b="0" lang="en-US" sz="750" strike="noStrike" u="none">
              <a:solidFill>
                <a:srgbClr val="000000"/>
              </a:solidFill>
              <a:effectLst/>
              <a:uFillTx/>
              <a:latin typeface="Arial"/>
            </a:endParaRPr>
          </a:p>
        </p:txBody>
      </p:sp>
      <p:sp>
        <p:nvSpPr>
          <p:cNvPr id="2390" name="Shape 30"/>
          <p:cNvSpPr/>
          <p:nvPr/>
        </p:nvSpPr>
        <p:spPr>
          <a:xfrm>
            <a:off x="1033200" y="274320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391" name="Shape 31"/>
          <p:cNvSpPr/>
          <p:nvPr/>
        </p:nvSpPr>
        <p:spPr>
          <a:xfrm>
            <a:off x="1143000" y="242784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392" name="Text 32"/>
          <p:cNvSpPr/>
          <p:nvPr/>
        </p:nvSpPr>
        <p:spPr>
          <a:xfrm>
            <a:off x="1243440" y="23911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Inventory revamp, pre-calc import</a:t>
            </a:r>
            <a:endParaRPr b="0" lang="en-US" sz="950" strike="noStrike" u="none">
              <a:solidFill>
                <a:srgbClr val="000000"/>
              </a:solidFill>
              <a:effectLst/>
              <a:uFillTx/>
              <a:latin typeface="Arial"/>
            </a:endParaRPr>
          </a:p>
        </p:txBody>
      </p:sp>
      <p:sp>
        <p:nvSpPr>
          <p:cNvPr id="2393" name="Shape 33"/>
          <p:cNvSpPr/>
          <p:nvPr/>
        </p:nvSpPr>
        <p:spPr>
          <a:xfrm>
            <a:off x="5484960" y="2473560"/>
            <a:ext cx="1013760" cy="127800"/>
          </a:xfrm>
          <a:prstGeom prst="roundRect">
            <a:avLst>
              <a:gd name="adj" fmla="val 28571"/>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394" name="Shape 34"/>
          <p:cNvSpPr/>
          <p:nvPr/>
        </p:nvSpPr>
        <p:spPr>
          <a:xfrm>
            <a:off x="1033200" y="31546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395" name="Shape 35"/>
          <p:cNvSpPr/>
          <p:nvPr/>
        </p:nvSpPr>
        <p:spPr>
          <a:xfrm>
            <a:off x="1143000" y="283932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396" name="Text 36"/>
          <p:cNvSpPr/>
          <p:nvPr/>
        </p:nvSpPr>
        <p:spPr>
          <a:xfrm>
            <a:off x="1243440" y="280260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Scope 1-2: EAC, PPA, thermal</a:t>
            </a:r>
            <a:endParaRPr b="0" lang="en-US" sz="950" strike="noStrike" u="none">
              <a:solidFill>
                <a:srgbClr val="000000"/>
              </a:solidFill>
              <a:effectLst/>
              <a:uFillTx/>
              <a:latin typeface="Arial"/>
            </a:endParaRPr>
          </a:p>
        </p:txBody>
      </p:sp>
      <p:sp>
        <p:nvSpPr>
          <p:cNvPr id="2397" name="Shape 37"/>
          <p:cNvSpPr/>
          <p:nvPr/>
        </p:nvSpPr>
        <p:spPr>
          <a:xfrm>
            <a:off x="6499080" y="2885040"/>
            <a:ext cx="1013760" cy="127800"/>
          </a:xfrm>
          <a:prstGeom prst="roundRect">
            <a:avLst>
              <a:gd name="adj" fmla="val 28571"/>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398" name="Shape 38"/>
          <p:cNvSpPr/>
          <p:nvPr/>
        </p:nvSpPr>
        <p:spPr>
          <a:xfrm>
            <a:off x="1033200" y="356616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399" name="Shape 39"/>
          <p:cNvSpPr/>
          <p:nvPr/>
        </p:nvSpPr>
        <p:spPr>
          <a:xfrm>
            <a:off x="1143000" y="325080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400" name="Text 40"/>
          <p:cNvSpPr/>
          <p:nvPr/>
        </p:nvSpPr>
        <p:spPr>
          <a:xfrm>
            <a:off x="1243440" y="321408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Scope 3 gap closure, Cat 15, FLAG</a:t>
            </a:r>
            <a:endParaRPr b="0" lang="en-US" sz="950" strike="noStrike" u="none">
              <a:solidFill>
                <a:srgbClr val="000000"/>
              </a:solidFill>
              <a:effectLst/>
              <a:uFillTx/>
              <a:latin typeface="Arial"/>
            </a:endParaRPr>
          </a:p>
        </p:txBody>
      </p:sp>
      <p:sp>
        <p:nvSpPr>
          <p:cNvPr id="2401" name="Shape 41"/>
          <p:cNvSpPr/>
          <p:nvPr/>
        </p:nvSpPr>
        <p:spPr>
          <a:xfrm>
            <a:off x="7513200" y="3296520"/>
            <a:ext cx="4056480" cy="127800"/>
          </a:xfrm>
          <a:prstGeom prst="roundRect">
            <a:avLst>
              <a:gd name="adj" fmla="val 28571"/>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402" name="Shape 42"/>
          <p:cNvSpPr/>
          <p:nvPr/>
        </p:nvSpPr>
        <p:spPr>
          <a:xfrm>
            <a:off x="621720" y="3566160"/>
            <a:ext cx="411120" cy="1234080"/>
          </a:xfrm>
          <a:prstGeom prst="rect">
            <a:avLst/>
          </a:prstGeom>
          <a:solidFill>
            <a:srgbClr val="007a27"/>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403" name="Text 43"/>
          <p:cNvSpPr/>
          <p:nvPr/>
        </p:nvSpPr>
        <p:spPr>
          <a:xfrm>
            <a:off x="685800" y="3611880"/>
            <a:ext cx="282960" cy="114264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SUPPLY CHAIN</a:t>
            </a:r>
            <a:endParaRPr b="0" lang="en-US" sz="750" strike="noStrike" u="none">
              <a:solidFill>
                <a:srgbClr val="000000"/>
              </a:solidFill>
              <a:effectLst/>
              <a:uFillTx/>
              <a:latin typeface="Arial"/>
            </a:endParaRPr>
          </a:p>
        </p:txBody>
      </p:sp>
      <p:sp>
        <p:nvSpPr>
          <p:cNvPr id="2404" name="Shape 44"/>
          <p:cNvSpPr/>
          <p:nvPr/>
        </p:nvSpPr>
        <p:spPr>
          <a:xfrm>
            <a:off x="1033200" y="397764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405" name="Shape 45"/>
          <p:cNvSpPr/>
          <p:nvPr/>
        </p:nvSpPr>
        <p:spPr>
          <a:xfrm>
            <a:off x="1143000" y="366228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406" name="Text 46"/>
          <p:cNvSpPr/>
          <p:nvPr/>
        </p:nvSpPr>
        <p:spPr>
          <a:xfrm>
            <a:off x="1243440" y="36255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SC emissions, supplier action</a:t>
            </a:r>
            <a:endParaRPr b="0" lang="en-US" sz="950" strike="noStrike" u="none">
              <a:solidFill>
                <a:srgbClr val="000000"/>
              </a:solidFill>
              <a:effectLst/>
              <a:uFillTx/>
              <a:latin typeface="Arial"/>
            </a:endParaRPr>
          </a:p>
        </p:txBody>
      </p:sp>
      <p:sp>
        <p:nvSpPr>
          <p:cNvPr id="2407" name="Shape 47"/>
          <p:cNvSpPr/>
          <p:nvPr/>
        </p:nvSpPr>
        <p:spPr>
          <a:xfrm>
            <a:off x="5484960" y="3708000"/>
            <a:ext cx="1013760" cy="127800"/>
          </a:xfrm>
          <a:prstGeom prst="roundRect">
            <a:avLst>
              <a:gd name="adj" fmla="val 28571"/>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408" name="Shape 48"/>
          <p:cNvSpPr/>
          <p:nvPr/>
        </p:nvSpPr>
        <p:spPr>
          <a:xfrm>
            <a:off x="1033200" y="43891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409" name="Shape 49"/>
          <p:cNvSpPr/>
          <p:nvPr/>
        </p:nvSpPr>
        <p:spPr>
          <a:xfrm>
            <a:off x="1143000" y="407376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410" name="Text 50"/>
          <p:cNvSpPr/>
          <p:nvPr/>
        </p:nvSpPr>
        <p:spPr>
          <a:xfrm>
            <a:off x="1243440" y="403704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Data quality, sponsors, Zeigo</a:t>
            </a:r>
            <a:endParaRPr b="0" lang="en-US" sz="950" strike="noStrike" u="none">
              <a:solidFill>
                <a:srgbClr val="000000"/>
              </a:solidFill>
              <a:effectLst/>
              <a:uFillTx/>
              <a:latin typeface="Arial"/>
            </a:endParaRPr>
          </a:p>
        </p:txBody>
      </p:sp>
      <p:sp>
        <p:nvSpPr>
          <p:cNvPr id="2411" name="Shape 51"/>
          <p:cNvSpPr/>
          <p:nvPr/>
        </p:nvSpPr>
        <p:spPr>
          <a:xfrm>
            <a:off x="6499080" y="4119480"/>
            <a:ext cx="1013760" cy="127800"/>
          </a:xfrm>
          <a:prstGeom prst="roundRect">
            <a:avLst>
              <a:gd name="adj" fmla="val 28571"/>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412" name="Shape 52"/>
          <p:cNvSpPr/>
          <p:nvPr/>
        </p:nvSpPr>
        <p:spPr>
          <a:xfrm>
            <a:off x="1033200" y="480060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413" name="Shape 53"/>
          <p:cNvSpPr/>
          <p:nvPr/>
        </p:nvSpPr>
        <p:spPr>
          <a:xfrm>
            <a:off x="1143000" y="448524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414" name="Text 54"/>
          <p:cNvSpPr/>
          <p:nvPr/>
        </p:nvSpPr>
        <p:spPr>
          <a:xfrm>
            <a:off x="1243440" y="44485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Light PCF, multi tier, integrations</a:t>
            </a:r>
            <a:endParaRPr b="0" lang="en-US" sz="950" strike="noStrike" u="none">
              <a:solidFill>
                <a:srgbClr val="000000"/>
              </a:solidFill>
              <a:effectLst/>
              <a:uFillTx/>
              <a:latin typeface="Arial"/>
            </a:endParaRPr>
          </a:p>
        </p:txBody>
      </p:sp>
      <p:sp>
        <p:nvSpPr>
          <p:cNvPr id="2415" name="Shape 55"/>
          <p:cNvSpPr/>
          <p:nvPr/>
        </p:nvSpPr>
        <p:spPr>
          <a:xfrm>
            <a:off x="7513200" y="4530960"/>
            <a:ext cx="4056480" cy="127800"/>
          </a:xfrm>
          <a:prstGeom prst="roundRect">
            <a:avLst>
              <a:gd name="adj" fmla="val 28571"/>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416" name="Shape 56"/>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417" name="Text 57"/>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2418" name="Text 58"/>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2419" name="PlaceHolder 1"/>
          <p:cNvSpPr>
            <a:spLocks noGrp="1"/>
          </p:cNvSpPr>
          <p:nvPr>
            <p:ph type="sldNum" idx="55"/>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E572D6F6-C0CC-4B90-A31B-4849225D6B40}"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5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420"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2421"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2422" name="Shape 2"/>
          <p:cNvSpPr/>
          <p:nvPr/>
        </p:nvSpPr>
        <p:spPr>
          <a:xfrm>
            <a:off x="621720" y="311040"/>
            <a:ext cx="229032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423" name="Text 3"/>
          <p:cNvSpPr/>
          <p:nvPr/>
        </p:nvSpPr>
        <p:spPr>
          <a:xfrm>
            <a:off x="804600" y="329040"/>
            <a:ext cx="196092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EXECUTIVE SUMMARY</a:t>
            </a:r>
            <a:endParaRPr b="0" lang="en-US" sz="950" strike="noStrike" u="none">
              <a:solidFill>
                <a:srgbClr val="000000"/>
              </a:solidFill>
              <a:effectLst/>
              <a:uFillTx/>
              <a:latin typeface="Arial"/>
            </a:endParaRPr>
          </a:p>
        </p:txBody>
      </p:sp>
      <p:sp>
        <p:nvSpPr>
          <p:cNvPr id="2424" name="Text 4"/>
          <p:cNvSpPr/>
          <p:nvPr/>
        </p:nvSpPr>
        <p:spPr>
          <a:xfrm>
            <a:off x="621720" y="768240"/>
            <a:ext cx="10947600" cy="804240"/>
          </a:xfrm>
          <a:prstGeom prst="rect">
            <a:avLst/>
          </a:prstGeom>
          <a:noFill/>
          <a:ln w="0">
            <a:noFill/>
          </a:ln>
        </p:spPr>
        <p:style>
          <a:lnRef idx="0"/>
          <a:fillRef idx="0"/>
          <a:effectRef idx="0"/>
          <a:fontRef idx="minor"/>
        </p:style>
        <p:txBody>
          <a:bodyPr lIns="0" rIns="0" tIns="0" bIns="0" anchor="t">
            <a:normAutofit lnSpcReduction="9999"/>
          </a:bodyPr>
          <a:p>
            <a:pPr defTabSz="914400">
              <a:lnSpc>
                <a:spcPct val="100000"/>
              </a:lnSpc>
              <a:tabLst>
                <a:tab algn="l" pos="0"/>
              </a:tabLst>
            </a:pPr>
            <a:r>
              <a:rPr b="1" lang="en-US" sz="2800" strike="noStrike" u="none">
                <a:solidFill>
                  <a:srgbClr val="1e2420"/>
                </a:solidFill>
                <a:effectLst/>
                <a:uFillTx/>
                <a:latin typeface="Calibri"/>
                <a:ea typeface="Calibri"/>
              </a:rPr>
              <a:t>Sustainability product highlights: Climate Risk and Reporting &amp; Compliance</a:t>
            </a:r>
            <a:endParaRPr b="0" lang="en-US" sz="2800" strike="noStrike" u="none">
              <a:solidFill>
                <a:srgbClr val="000000"/>
              </a:solidFill>
              <a:effectLst/>
              <a:uFillTx/>
              <a:latin typeface="Arial"/>
            </a:endParaRPr>
          </a:p>
        </p:txBody>
      </p:sp>
      <p:sp>
        <p:nvSpPr>
          <p:cNvPr id="2425" name="Text 5"/>
          <p:cNvSpPr/>
          <p:nvPr/>
        </p:nvSpPr>
        <p:spPr>
          <a:xfrm>
            <a:off x="621720" y="15728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Headline 2026 to 2027 deliveries for Climate Risk and Reporting &amp; Compliance, on one quarterly timeline.</a:t>
            </a:r>
            <a:endParaRPr b="0" lang="en-US" sz="1250" strike="noStrike" u="none">
              <a:solidFill>
                <a:srgbClr val="000000"/>
              </a:solidFill>
              <a:effectLst/>
              <a:uFillTx/>
              <a:latin typeface="Arial"/>
            </a:endParaRPr>
          </a:p>
        </p:txBody>
      </p:sp>
      <p:sp>
        <p:nvSpPr>
          <p:cNvPr id="2426"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427" name="Shape 7"/>
          <p:cNvSpPr/>
          <p:nvPr/>
        </p:nvSpPr>
        <p:spPr>
          <a:xfrm>
            <a:off x="621720" y="1874520"/>
            <a:ext cx="10947600" cy="456840"/>
          </a:xfrm>
          <a:prstGeom prst="rect">
            <a:avLst/>
          </a:prstGeom>
          <a:solidFill>
            <a:srgbClr val="f1f3f2"/>
          </a:solidFill>
          <a:ln w="635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428" name="Text 8"/>
          <p:cNvSpPr/>
          <p:nvPr/>
        </p:nvSpPr>
        <p:spPr>
          <a:xfrm>
            <a:off x="749880" y="2020680"/>
            <a:ext cx="260568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99" strike="noStrike" u="none">
                <a:solidFill>
                  <a:srgbClr val="5a625c"/>
                </a:solidFill>
                <a:effectLst/>
                <a:uFillTx/>
                <a:latin typeface="Calibri"/>
                <a:ea typeface="Calibri"/>
              </a:rPr>
              <a:t>CAPABILITY</a:t>
            </a:r>
            <a:endParaRPr b="0" lang="en-US" sz="850" strike="noStrike" u="none">
              <a:solidFill>
                <a:srgbClr val="000000"/>
              </a:solidFill>
              <a:effectLst/>
              <a:uFillTx/>
              <a:latin typeface="Arial"/>
            </a:endParaRPr>
          </a:p>
        </p:txBody>
      </p:sp>
      <p:sp>
        <p:nvSpPr>
          <p:cNvPr id="2429" name="Text 9"/>
          <p:cNvSpPr/>
          <p:nvPr/>
        </p:nvSpPr>
        <p:spPr>
          <a:xfrm>
            <a:off x="3456360" y="1901880"/>
            <a:ext cx="405648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2026</a:t>
            </a:r>
            <a:endParaRPr b="0" lang="en-US" sz="1200" strike="noStrike" u="none">
              <a:solidFill>
                <a:srgbClr val="000000"/>
              </a:solidFill>
              <a:effectLst/>
              <a:uFillTx/>
              <a:latin typeface="Arial"/>
            </a:endParaRPr>
          </a:p>
        </p:txBody>
      </p:sp>
      <p:sp>
        <p:nvSpPr>
          <p:cNvPr id="2430" name="Text 10"/>
          <p:cNvSpPr/>
          <p:nvPr/>
        </p:nvSpPr>
        <p:spPr>
          <a:xfrm>
            <a:off x="345636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2431" name="Text 11"/>
          <p:cNvSpPr/>
          <p:nvPr/>
        </p:nvSpPr>
        <p:spPr>
          <a:xfrm>
            <a:off x="447048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2432" name="Text 12"/>
          <p:cNvSpPr/>
          <p:nvPr/>
        </p:nvSpPr>
        <p:spPr>
          <a:xfrm>
            <a:off x="548496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2433" name="Text 13"/>
          <p:cNvSpPr/>
          <p:nvPr/>
        </p:nvSpPr>
        <p:spPr>
          <a:xfrm>
            <a:off x="649908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2434" name="Text 14"/>
          <p:cNvSpPr/>
          <p:nvPr/>
        </p:nvSpPr>
        <p:spPr>
          <a:xfrm>
            <a:off x="7513200" y="1901880"/>
            <a:ext cx="405648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2027</a:t>
            </a:r>
            <a:endParaRPr b="0" lang="en-US" sz="1200" strike="noStrike" u="none">
              <a:solidFill>
                <a:srgbClr val="000000"/>
              </a:solidFill>
              <a:effectLst/>
              <a:uFillTx/>
              <a:latin typeface="Arial"/>
            </a:endParaRPr>
          </a:p>
        </p:txBody>
      </p:sp>
      <p:sp>
        <p:nvSpPr>
          <p:cNvPr id="2435" name="Text 15"/>
          <p:cNvSpPr/>
          <p:nvPr/>
        </p:nvSpPr>
        <p:spPr>
          <a:xfrm>
            <a:off x="751320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2436" name="Text 16"/>
          <p:cNvSpPr/>
          <p:nvPr/>
        </p:nvSpPr>
        <p:spPr>
          <a:xfrm>
            <a:off x="852732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2437" name="Text 17"/>
          <p:cNvSpPr/>
          <p:nvPr/>
        </p:nvSpPr>
        <p:spPr>
          <a:xfrm>
            <a:off x="954144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2438" name="Text 18"/>
          <p:cNvSpPr/>
          <p:nvPr/>
        </p:nvSpPr>
        <p:spPr>
          <a:xfrm>
            <a:off x="1055556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2439" name="Shape 19"/>
          <p:cNvSpPr/>
          <p:nvPr/>
        </p:nvSpPr>
        <p:spPr>
          <a:xfrm>
            <a:off x="3456360" y="2103120"/>
            <a:ext cx="360" cy="269748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440" name="Shape 20"/>
          <p:cNvSpPr/>
          <p:nvPr/>
        </p:nvSpPr>
        <p:spPr>
          <a:xfrm>
            <a:off x="4470480" y="2103120"/>
            <a:ext cx="360" cy="269748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441" name="Shape 21"/>
          <p:cNvSpPr/>
          <p:nvPr/>
        </p:nvSpPr>
        <p:spPr>
          <a:xfrm>
            <a:off x="5484600" y="2103120"/>
            <a:ext cx="360" cy="269748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442" name="Shape 22"/>
          <p:cNvSpPr/>
          <p:nvPr/>
        </p:nvSpPr>
        <p:spPr>
          <a:xfrm>
            <a:off x="6498720" y="2103120"/>
            <a:ext cx="360" cy="269748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443" name="Shape 23"/>
          <p:cNvSpPr/>
          <p:nvPr/>
        </p:nvSpPr>
        <p:spPr>
          <a:xfrm>
            <a:off x="7512840" y="2103120"/>
            <a:ext cx="360" cy="269748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444" name="Shape 24"/>
          <p:cNvSpPr/>
          <p:nvPr/>
        </p:nvSpPr>
        <p:spPr>
          <a:xfrm>
            <a:off x="8527320" y="2103120"/>
            <a:ext cx="360" cy="269748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445" name="Shape 25"/>
          <p:cNvSpPr/>
          <p:nvPr/>
        </p:nvSpPr>
        <p:spPr>
          <a:xfrm>
            <a:off x="9541440" y="2103120"/>
            <a:ext cx="360" cy="269748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446" name="Shape 26"/>
          <p:cNvSpPr/>
          <p:nvPr/>
        </p:nvSpPr>
        <p:spPr>
          <a:xfrm>
            <a:off x="10555560" y="2103120"/>
            <a:ext cx="360" cy="269748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447" name="Shape 27"/>
          <p:cNvSpPr/>
          <p:nvPr/>
        </p:nvSpPr>
        <p:spPr>
          <a:xfrm>
            <a:off x="11569680" y="2103120"/>
            <a:ext cx="360" cy="269748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448" name="Shape 28"/>
          <p:cNvSpPr/>
          <p:nvPr/>
        </p:nvSpPr>
        <p:spPr>
          <a:xfrm>
            <a:off x="621720" y="2331720"/>
            <a:ext cx="411120" cy="1234080"/>
          </a:xfrm>
          <a:prstGeom prst="rect">
            <a:avLst/>
          </a:prstGeom>
          <a:solidFill>
            <a:srgbClr val="ffb04c"/>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449" name="Text 29"/>
          <p:cNvSpPr/>
          <p:nvPr/>
        </p:nvSpPr>
        <p:spPr>
          <a:xfrm>
            <a:off x="685800" y="2377440"/>
            <a:ext cx="282960" cy="114264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CLIMATE RISK</a:t>
            </a:r>
            <a:endParaRPr b="0" lang="en-US" sz="750" strike="noStrike" u="none">
              <a:solidFill>
                <a:srgbClr val="000000"/>
              </a:solidFill>
              <a:effectLst/>
              <a:uFillTx/>
              <a:latin typeface="Arial"/>
            </a:endParaRPr>
          </a:p>
        </p:txBody>
      </p:sp>
      <p:sp>
        <p:nvSpPr>
          <p:cNvPr id="2450" name="Shape 30"/>
          <p:cNvSpPr/>
          <p:nvPr/>
        </p:nvSpPr>
        <p:spPr>
          <a:xfrm>
            <a:off x="1033200" y="274320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451" name="Shape 31"/>
          <p:cNvSpPr/>
          <p:nvPr/>
        </p:nvSpPr>
        <p:spPr>
          <a:xfrm>
            <a:off x="1143000" y="242784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452" name="Text 32"/>
          <p:cNvSpPr/>
          <p:nvPr/>
        </p:nvSpPr>
        <p:spPr>
          <a:xfrm>
            <a:off x="1243440" y="23911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Asset register, Eclr stabilisation</a:t>
            </a:r>
            <a:endParaRPr b="0" lang="en-US" sz="950" strike="noStrike" u="none">
              <a:solidFill>
                <a:srgbClr val="000000"/>
              </a:solidFill>
              <a:effectLst/>
              <a:uFillTx/>
              <a:latin typeface="Arial"/>
            </a:endParaRPr>
          </a:p>
        </p:txBody>
      </p:sp>
      <p:sp>
        <p:nvSpPr>
          <p:cNvPr id="2453" name="Shape 33"/>
          <p:cNvSpPr/>
          <p:nvPr/>
        </p:nvSpPr>
        <p:spPr>
          <a:xfrm>
            <a:off x="5484960" y="2473560"/>
            <a:ext cx="1013760" cy="127800"/>
          </a:xfrm>
          <a:prstGeom prst="roundRect">
            <a:avLst>
              <a:gd name="adj" fmla="val 28571"/>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454" name="Shape 34"/>
          <p:cNvSpPr/>
          <p:nvPr/>
        </p:nvSpPr>
        <p:spPr>
          <a:xfrm>
            <a:off x="1033200" y="31546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455" name="Shape 35"/>
          <p:cNvSpPr/>
          <p:nvPr/>
        </p:nvSpPr>
        <p:spPr>
          <a:xfrm>
            <a:off x="1143000" y="283932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456" name="Text 36"/>
          <p:cNvSpPr/>
          <p:nvPr/>
        </p:nvSpPr>
        <p:spPr>
          <a:xfrm>
            <a:off x="1243440" y="280260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Eclr self serve, hazard exposure</a:t>
            </a:r>
            <a:endParaRPr b="0" lang="en-US" sz="950" strike="noStrike" u="none">
              <a:solidFill>
                <a:srgbClr val="000000"/>
              </a:solidFill>
              <a:effectLst/>
              <a:uFillTx/>
              <a:latin typeface="Arial"/>
            </a:endParaRPr>
          </a:p>
        </p:txBody>
      </p:sp>
      <p:sp>
        <p:nvSpPr>
          <p:cNvPr id="2457" name="Shape 37"/>
          <p:cNvSpPr/>
          <p:nvPr/>
        </p:nvSpPr>
        <p:spPr>
          <a:xfrm>
            <a:off x="6499080" y="2885040"/>
            <a:ext cx="1013760" cy="127800"/>
          </a:xfrm>
          <a:prstGeom prst="roundRect">
            <a:avLst>
              <a:gd name="adj" fmla="val 28571"/>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458" name="Shape 38"/>
          <p:cNvSpPr/>
          <p:nvPr/>
        </p:nvSpPr>
        <p:spPr>
          <a:xfrm>
            <a:off x="1033200" y="356616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459" name="Shape 39"/>
          <p:cNvSpPr/>
          <p:nvPr/>
        </p:nvSpPr>
        <p:spPr>
          <a:xfrm>
            <a:off x="1143000" y="325080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460" name="Text 40"/>
          <p:cNvSpPr/>
          <p:nvPr/>
        </p:nvSpPr>
        <p:spPr>
          <a:xfrm>
            <a:off x="1243440" y="321408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Scenarios, ClimVar, transition plans</a:t>
            </a:r>
            <a:endParaRPr b="0" lang="en-US" sz="950" strike="noStrike" u="none">
              <a:solidFill>
                <a:srgbClr val="000000"/>
              </a:solidFill>
              <a:effectLst/>
              <a:uFillTx/>
              <a:latin typeface="Arial"/>
            </a:endParaRPr>
          </a:p>
        </p:txBody>
      </p:sp>
      <p:sp>
        <p:nvSpPr>
          <p:cNvPr id="2461" name="Shape 41"/>
          <p:cNvSpPr/>
          <p:nvPr/>
        </p:nvSpPr>
        <p:spPr>
          <a:xfrm>
            <a:off x="7513200" y="3296520"/>
            <a:ext cx="4056480" cy="127800"/>
          </a:xfrm>
          <a:prstGeom prst="roundRect">
            <a:avLst>
              <a:gd name="adj" fmla="val 28571"/>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462" name="Shape 42"/>
          <p:cNvSpPr/>
          <p:nvPr/>
        </p:nvSpPr>
        <p:spPr>
          <a:xfrm>
            <a:off x="621720" y="3566160"/>
            <a:ext cx="411120" cy="1234080"/>
          </a:xfrm>
          <a:prstGeom prst="rect">
            <a:avLst/>
          </a:prstGeom>
          <a:solidFill>
            <a:srgbClr val="275b7f"/>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463" name="Text 43"/>
          <p:cNvSpPr/>
          <p:nvPr/>
        </p:nvSpPr>
        <p:spPr>
          <a:xfrm>
            <a:off x="685800" y="3611880"/>
            <a:ext cx="282960" cy="114264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R&amp;C</a:t>
            </a:r>
            <a:endParaRPr b="0" lang="en-US" sz="750" strike="noStrike" u="none">
              <a:solidFill>
                <a:srgbClr val="000000"/>
              </a:solidFill>
              <a:effectLst/>
              <a:uFillTx/>
              <a:latin typeface="Arial"/>
            </a:endParaRPr>
          </a:p>
        </p:txBody>
      </p:sp>
      <p:sp>
        <p:nvSpPr>
          <p:cNvPr id="2464" name="Shape 44"/>
          <p:cNvSpPr/>
          <p:nvPr/>
        </p:nvSpPr>
        <p:spPr>
          <a:xfrm>
            <a:off x="1033200" y="397764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465" name="Shape 45"/>
          <p:cNvSpPr/>
          <p:nvPr/>
        </p:nvSpPr>
        <p:spPr>
          <a:xfrm>
            <a:off x="1143000" y="3662280"/>
            <a:ext cx="45360" cy="219240"/>
          </a:xfrm>
          <a:prstGeom prst="roundRect">
            <a:avLst>
              <a:gd name="adj" fmla="val 60000"/>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466" name="Text 46"/>
          <p:cNvSpPr/>
          <p:nvPr/>
        </p:nvSpPr>
        <p:spPr>
          <a:xfrm>
            <a:off x="1243440" y="36255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Core platform foundations</a:t>
            </a:r>
            <a:endParaRPr b="0" lang="en-US" sz="950" strike="noStrike" u="none">
              <a:solidFill>
                <a:srgbClr val="000000"/>
              </a:solidFill>
              <a:effectLst/>
              <a:uFillTx/>
              <a:latin typeface="Arial"/>
            </a:endParaRPr>
          </a:p>
        </p:txBody>
      </p:sp>
      <p:sp>
        <p:nvSpPr>
          <p:cNvPr id="2467" name="Shape 47"/>
          <p:cNvSpPr/>
          <p:nvPr/>
        </p:nvSpPr>
        <p:spPr>
          <a:xfrm>
            <a:off x="5484960" y="3708000"/>
            <a:ext cx="1013760" cy="127800"/>
          </a:xfrm>
          <a:prstGeom prst="roundRect">
            <a:avLst>
              <a:gd name="adj" fmla="val 28571"/>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468" name="Shape 48"/>
          <p:cNvSpPr/>
          <p:nvPr/>
        </p:nvSpPr>
        <p:spPr>
          <a:xfrm>
            <a:off x="1033200" y="43891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469" name="Shape 49"/>
          <p:cNvSpPr/>
          <p:nvPr/>
        </p:nvSpPr>
        <p:spPr>
          <a:xfrm>
            <a:off x="1143000" y="4073760"/>
            <a:ext cx="45360" cy="219240"/>
          </a:xfrm>
          <a:prstGeom prst="roundRect">
            <a:avLst>
              <a:gd name="adj" fmla="val 60000"/>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470" name="Text 50"/>
          <p:cNvSpPr/>
          <p:nvPr/>
        </p:nvSpPr>
        <p:spPr>
          <a:xfrm>
            <a:off x="1243440" y="403704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Configure, collect, disclose</a:t>
            </a:r>
            <a:endParaRPr b="0" lang="en-US" sz="950" strike="noStrike" u="none">
              <a:solidFill>
                <a:srgbClr val="000000"/>
              </a:solidFill>
              <a:effectLst/>
              <a:uFillTx/>
              <a:latin typeface="Arial"/>
            </a:endParaRPr>
          </a:p>
        </p:txBody>
      </p:sp>
      <p:sp>
        <p:nvSpPr>
          <p:cNvPr id="2471" name="Shape 51"/>
          <p:cNvSpPr/>
          <p:nvPr/>
        </p:nvSpPr>
        <p:spPr>
          <a:xfrm>
            <a:off x="6499080" y="4119480"/>
            <a:ext cx="1013760" cy="127800"/>
          </a:xfrm>
          <a:prstGeom prst="roundRect">
            <a:avLst>
              <a:gd name="adj" fmla="val 28571"/>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472" name="Shape 52"/>
          <p:cNvSpPr/>
          <p:nvPr/>
        </p:nvSpPr>
        <p:spPr>
          <a:xfrm>
            <a:off x="1033200" y="480060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473" name="Shape 53"/>
          <p:cNvSpPr/>
          <p:nvPr/>
        </p:nvSpPr>
        <p:spPr>
          <a:xfrm>
            <a:off x="1143000" y="4485240"/>
            <a:ext cx="45360" cy="219240"/>
          </a:xfrm>
          <a:prstGeom prst="roundRect">
            <a:avLst>
              <a:gd name="adj" fmla="val 60000"/>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474" name="Text 54"/>
          <p:cNvSpPr/>
          <p:nvPr/>
        </p:nvSpPr>
        <p:spPr>
          <a:xfrm>
            <a:off x="1243440" y="44485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SE migration, AI disclosure drafting</a:t>
            </a:r>
            <a:endParaRPr b="0" lang="en-US" sz="950" strike="noStrike" u="none">
              <a:solidFill>
                <a:srgbClr val="000000"/>
              </a:solidFill>
              <a:effectLst/>
              <a:uFillTx/>
              <a:latin typeface="Arial"/>
            </a:endParaRPr>
          </a:p>
        </p:txBody>
      </p:sp>
      <p:sp>
        <p:nvSpPr>
          <p:cNvPr id="2475" name="Shape 55"/>
          <p:cNvSpPr/>
          <p:nvPr/>
        </p:nvSpPr>
        <p:spPr>
          <a:xfrm>
            <a:off x="7513200" y="4530960"/>
            <a:ext cx="4056480" cy="127800"/>
          </a:xfrm>
          <a:prstGeom prst="roundRect">
            <a:avLst>
              <a:gd name="adj" fmla="val 28571"/>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476" name="Shape 56"/>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477" name="Text 57"/>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2478" name="Text 58"/>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2479" name="PlaceHolder 1"/>
          <p:cNvSpPr>
            <a:spLocks noGrp="1"/>
          </p:cNvSpPr>
          <p:nvPr>
            <p:ph type="sldNum" idx="56"/>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B9F8E75C-D63C-485A-A582-72914BF68794}"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6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480"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2481"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2482" name="Shape 2"/>
          <p:cNvSpPr/>
          <p:nvPr/>
        </p:nvSpPr>
        <p:spPr>
          <a:xfrm>
            <a:off x="621720" y="311040"/>
            <a:ext cx="229032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483" name="Text 3"/>
          <p:cNvSpPr/>
          <p:nvPr/>
        </p:nvSpPr>
        <p:spPr>
          <a:xfrm>
            <a:off x="804600" y="329040"/>
            <a:ext cx="196092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EXECUTIVE SUMMARY</a:t>
            </a:r>
            <a:endParaRPr b="0" lang="en-US" sz="950" strike="noStrike" u="none">
              <a:solidFill>
                <a:srgbClr val="000000"/>
              </a:solidFill>
              <a:effectLst/>
              <a:uFillTx/>
              <a:latin typeface="Arial"/>
            </a:endParaRPr>
          </a:p>
        </p:txBody>
      </p:sp>
      <p:sp>
        <p:nvSpPr>
          <p:cNvPr id="2484" name="Text 4"/>
          <p:cNvSpPr/>
          <p:nvPr/>
        </p:nvSpPr>
        <p:spPr>
          <a:xfrm>
            <a:off x="621720" y="768240"/>
            <a:ext cx="10947600" cy="804240"/>
          </a:xfrm>
          <a:prstGeom prst="rect">
            <a:avLst/>
          </a:prstGeom>
          <a:noFill/>
          <a:ln w="0">
            <a:noFill/>
          </a:ln>
        </p:spPr>
        <p:style>
          <a:lnRef idx="0"/>
          <a:fillRef idx="0"/>
          <a:effectRef idx="0"/>
          <a:fontRef idx="minor"/>
        </p:style>
        <p:txBody>
          <a:bodyPr lIns="0" rIns="0" tIns="0" bIns="0" anchor="t">
            <a:normAutofit lnSpcReduction="9999"/>
          </a:bodyPr>
          <a:p>
            <a:pPr defTabSz="914400">
              <a:lnSpc>
                <a:spcPct val="100000"/>
              </a:lnSpc>
              <a:tabLst>
                <a:tab algn="l" pos="0"/>
              </a:tabLst>
            </a:pPr>
            <a:r>
              <a:rPr b="1" lang="en-US" sz="2800" strike="noStrike" u="none">
                <a:solidFill>
                  <a:srgbClr val="1e2420"/>
                </a:solidFill>
                <a:effectLst/>
                <a:uFillTx/>
                <a:latin typeface="Calibri"/>
                <a:ea typeface="Calibri"/>
              </a:rPr>
              <a:t>The full 2027 roadmap across sustainability products, part one</a:t>
            </a:r>
            <a:endParaRPr b="0" lang="en-US" sz="2800" strike="noStrike" u="none">
              <a:solidFill>
                <a:srgbClr val="000000"/>
              </a:solidFill>
              <a:effectLst/>
              <a:uFillTx/>
              <a:latin typeface="Arial"/>
            </a:endParaRPr>
          </a:p>
        </p:txBody>
      </p:sp>
      <p:sp>
        <p:nvSpPr>
          <p:cNvPr id="2485" name="Text 5"/>
          <p:cNvSpPr/>
          <p:nvPr/>
        </p:nvSpPr>
        <p:spPr>
          <a:xfrm>
            <a:off x="621720" y="1572840"/>
            <a:ext cx="10947600" cy="310680"/>
          </a:xfrm>
          <a:prstGeom prst="rect">
            <a:avLst/>
          </a:prstGeom>
          <a:noFill/>
          <a:ln w="0">
            <a:noFill/>
          </a:ln>
        </p:spPr>
        <p:style>
          <a:lnRef idx="0"/>
          <a:fillRef idx="0"/>
          <a:effectRef idx="0"/>
          <a:fontRef idx="minor"/>
        </p:style>
        <p:txBody>
          <a:bodyPr lIns="0" rIns="0" tIns="0" bIns="0" anchor="t">
            <a:normAutofit fontScale="92500" lnSpcReduction="9999"/>
          </a:bodyPr>
          <a:p>
            <a:pPr defTabSz="914400">
              <a:lnSpc>
                <a:spcPct val="100000"/>
              </a:lnSpc>
              <a:tabLst>
                <a:tab algn="l" pos="0"/>
              </a:tabLst>
            </a:pPr>
            <a:r>
              <a:rPr b="0" lang="en-US" sz="1250" strike="noStrike" u="none">
                <a:solidFill>
                  <a:srgbClr val="5a625c"/>
                </a:solidFill>
                <a:effectLst/>
                <a:uFillTx/>
                <a:latin typeface="Calibri"/>
                <a:ea typeface="Calibri"/>
              </a:rPr>
              <a:t>Carbon Performance, Supply Chain, and Reporting &amp; Compliance. Confirmed milestones stay quarter-specific; all other commitments retain their approved H1 or H2 horizon.</a:t>
            </a:r>
            <a:endParaRPr b="0" lang="en-US" sz="1250" strike="noStrike" u="none">
              <a:solidFill>
                <a:srgbClr val="000000"/>
              </a:solidFill>
              <a:effectLst/>
              <a:uFillTx/>
              <a:latin typeface="Arial"/>
            </a:endParaRPr>
          </a:p>
        </p:txBody>
      </p:sp>
      <p:sp>
        <p:nvSpPr>
          <p:cNvPr id="2486"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487" name="Shape 7"/>
          <p:cNvSpPr/>
          <p:nvPr/>
        </p:nvSpPr>
        <p:spPr>
          <a:xfrm>
            <a:off x="621720" y="1874520"/>
            <a:ext cx="10947600" cy="456840"/>
          </a:xfrm>
          <a:prstGeom prst="rect">
            <a:avLst/>
          </a:prstGeom>
          <a:solidFill>
            <a:srgbClr val="f1f3f2"/>
          </a:solidFill>
          <a:ln w="635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488" name="Text 8"/>
          <p:cNvSpPr/>
          <p:nvPr/>
        </p:nvSpPr>
        <p:spPr>
          <a:xfrm>
            <a:off x="749880" y="2020680"/>
            <a:ext cx="260568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99" strike="noStrike" u="none">
                <a:solidFill>
                  <a:srgbClr val="5a625c"/>
                </a:solidFill>
                <a:effectLst/>
                <a:uFillTx/>
                <a:latin typeface="Calibri"/>
                <a:ea typeface="Calibri"/>
              </a:rPr>
              <a:t>CAPABILITY</a:t>
            </a:r>
            <a:endParaRPr b="0" lang="en-US" sz="850" strike="noStrike" u="none">
              <a:solidFill>
                <a:srgbClr val="000000"/>
              </a:solidFill>
              <a:effectLst/>
              <a:uFillTx/>
              <a:latin typeface="Arial"/>
            </a:endParaRPr>
          </a:p>
        </p:txBody>
      </p:sp>
      <p:sp>
        <p:nvSpPr>
          <p:cNvPr id="2489" name="Text 9"/>
          <p:cNvSpPr/>
          <p:nvPr/>
        </p:nvSpPr>
        <p:spPr>
          <a:xfrm>
            <a:off x="3456360" y="1901880"/>
            <a:ext cx="811296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2027</a:t>
            </a:r>
            <a:endParaRPr b="0" lang="en-US" sz="1200" strike="noStrike" u="none">
              <a:solidFill>
                <a:srgbClr val="000000"/>
              </a:solidFill>
              <a:effectLst/>
              <a:uFillTx/>
              <a:latin typeface="Arial"/>
            </a:endParaRPr>
          </a:p>
        </p:txBody>
      </p:sp>
      <p:sp>
        <p:nvSpPr>
          <p:cNvPr id="2490" name="Text 10"/>
          <p:cNvSpPr/>
          <p:nvPr/>
        </p:nvSpPr>
        <p:spPr>
          <a:xfrm>
            <a:off x="3456360" y="2121480"/>
            <a:ext cx="202788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2491" name="Text 11"/>
          <p:cNvSpPr/>
          <p:nvPr/>
        </p:nvSpPr>
        <p:spPr>
          <a:xfrm>
            <a:off x="5484960" y="2121480"/>
            <a:ext cx="202788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2492" name="Text 12"/>
          <p:cNvSpPr/>
          <p:nvPr/>
        </p:nvSpPr>
        <p:spPr>
          <a:xfrm>
            <a:off x="7513200" y="2121480"/>
            <a:ext cx="202788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2493" name="Text 13"/>
          <p:cNvSpPr/>
          <p:nvPr/>
        </p:nvSpPr>
        <p:spPr>
          <a:xfrm>
            <a:off x="9541440" y="2121480"/>
            <a:ext cx="202788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2494" name="Shape 14"/>
          <p:cNvSpPr/>
          <p:nvPr/>
        </p:nvSpPr>
        <p:spPr>
          <a:xfrm>
            <a:off x="3456360" y="2103120"/>
            <a:ext cx="360" cy="352044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495" name="Shape 15"/>
          <p:cNvSpPr/>
          <p:nvPr/>
        </p:nvSpPr>
        <p:spPr>
          <a:xfrm>
            <a:off x="5484600" y="2103120"/>
            <a:ext cx="360" cy="352044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496" name="Shape 16"/>
          <p:cNvSpPr/>
          <p:nvPr/>
        </p:nvSpPr>
        <p:spPr>
          <a:xfrm>
            <a:off x="7512840" y="2103120"/>
            <a:ext cx="360" cy="352044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497" name="Shape 17"/>
          <p:cNvSpPr/>
          <p:nvPr/>
        </p:nvSpPr>
        <p:spPr>
          <a:xfrm>
            <a:off x="9541440" y="2103120"/>
            <a:ext cx="360" cy="352044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498" name="Shape 18"/>
          <p:cNvSpPr/>
          <p:nvPr/>
        </p:nvSpPr>
        <p:spPr>
          <a:xfrm>
            <a:off x="11569680" y="2103120"/>
            <a:ext cx="360" cy="352044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499" name="Shape 19"/>
          <p:cNvSpPr/>
          <p:nvPr/>
        </p:nvSpPr>
        <p:spPr>
          <a:xfrm>
            <a:off x="621720" y="2331720"/>
            <a:ext cx="411120" cy="1234080"/>
          </a:xfrm>
          <a:prstGeom prst="rect">
            <a:avLst/>
          </a:prstGeom>
          <a:solidFill>
            <a:srgbClr val="3dcd58"/>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500" name="Text 20"/>
          <p:cNvSpPr/>
          <p:nvPr/>
        </p:nvSpPr>
        <p:spPr>
          <a:xfrm>
            <a:off x="685800" y="2377440"/>
            <a:ext cx="282960" cy="114264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CARBON PERFORMANCE</a:t>
            </a:r>
            <a:endParaRPr b="0" lang="en-US" sz="750" strike="noStrike" u="none">
              <a:solidFill>
                <a:srgbClr val="000000"/>
              </a:solidFill>
              <a:effectLst/>
              <a:uFillTx/>
              <a:latin typeface="Arial"/>
            </a:endParaRPr>
          </a:p>
        </p:txBody>
      </p:sp>
      <p:sp>
        <p:nvSpPr>
          <p:cNvPr id="2501" name="Shape 21"/>
          <p:cNvSpPr/>
          <p:nvPr/>
        </p:nvSpPr>
        <p:spPr>
          <a:xfrm>
            <a:off x="1033200" y="274320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502" name="Shape 22"/>
          <p:cNvSpPr/>
          <p:nvPr/>
        </p:nvSpPr>
        <p:spPr>
          <a:xfrm>
            <a:off x="1143000" y="242784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503" name="Text 23"/>
          <p:cNvSpPr/>
          <p:nvPr/>
        </p:nvSpPr>
        <p:spPr>
          <a:xfrm>
            <a:off x="1243440" y="23911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Q1: Category 4 and 9 product linked transport</a:t>
            </a:r>
            <a:endParaRPr b="0" lang="en-US" sz="950" strike="noStrike" u="none">
              <a:solidFill>
                <a:srgbClr val="000000"/>
              </a:solidFill>
              <a:effectLst/>
              <a:uFillTx/>
              <a:latin typeface="Arial"/>
            </a:endParaRPr>
          </a:p>
        </p:txBody>
      </p:sp>
      <p:sp>
        <p:nvSpPr>
          <p:cNvPr id="2504" name="Shape 24"/>
          <p:cNvSpPr/>
          <p:nvPr/>
        </p:nvSpPr>
        <p:spPr>
          <a:xfrm>
            <a:off x="3456360" y="2473560"/>
            <a:ext cx="2027880" cy="127800"/>
          </a:xfrm>
          <a:prstGeom prst="roundRect">
            <a:avLst>
              <a:gd name="adj" fmla="val 28571"/>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505" name="Shape 25"/>
          <p:cNvSpPr/>
          <p:nvPr/>
        </p:nvSpPr>
        <p:spPr>
          <a:xfrm>
            <a:off x="1033200" y="31546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506" name="Shape 26"/>
          <p:cNvSpPr/>
          <p:nvPr/>
        </p:nvSpPr>
        <p:spPr>
          <a:xfrm>
            <a:off x="1143000" y="283932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507" name="Text 27"/>
          <p:cNvSpPr/>
          <p:nvPr/>
        </p:nvSpPr>
        <p:spPr>
          <a:xfrm>
            <a:off x="1243440" y="280260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H1: Cat 5, rebaselining, PCF integration</a:t>
            </a:r>
            <a:endParaRPr b="0" lang="en-US" sz="950" strike="noStrike" u="none">
              <a:solidFill>
                <a:srgbClr val="000000"/>
              </a:solidFill>
              <a:effectLst/>
              <a:uFillTx/>
              <a:latin typeface="Arial"/>
            </a:endParaRPr>
          </a:p>
        </p:txBody>
      </p:sp>
      <p:sp>
        <p:nvSpPr>
          <p:cNvPr id="2508" name="Shape 28"/>
          <p:cNvSpPr/>
          <p:nvPr/>
        </p:nvSpPr>
        <p:spPr>
          <a:xfrm>
            <a:off x="3456360" y="2885040"/>
            <a:ext cx="4056480" cy="127800"/>
          </a:xfrm>
          <a:prstGeom prst="roundRect">
            <a:avLst>
              <a:gd name="adj" fmla="val 28571"/>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509" name="Shape 29"/>
          <p:cNvSpPr/>
          <p:nvPr/>
        </p:nvSpPr>
        <p:spPr>
          <a:xfrm>
            <a:off x="1033200" y="356616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510" name="Shape 30"/>
          <p:cNvSpPr/>
          <p:nvPr/>
        </p:nvSpPr>
        <p:spPr>
          <a:xfrm>
            <a:off x="1143000" y="325080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511" name="Text 31"/>
          <p:cNvSpPr/>
          <p:nvPr/>
        </p:nvSpPr>
        <p:spPr>
          <a:xfrm>
            <a:off x="1243440" y="321408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H2: Category 15, FLAG, dedicated auditor experience</a:t>
            </a:r>
            <a:endParaRPr b="0" lang="en-US" sz="950" strike="noStrike" u="none">
              <a:solidFill>
                <a:srgbClr val="000000"/>
              </a:solidFill>
              <a:effectLst/>
              <a:uFillTx/>
              <a:latin typeface="Arial"/>
            </a:endParaRPr>
          </a:p>
        </p:txBody>
      </p:sp>
      <p:sp>
        <p:nvSpPr>
          <p:cNvPr id="2512" name="Shape 32"/>
          <p:cNvSpPr/>
          <p:nvPr/>
        </p:nvSpPr>
        <p:spPr>
          <a:xfrm>
            <a:off x="7513200" y="3296520"/>
            <a:ext cx="4056480" cy="127800"/>
          </a:xfrm>
          <a:prstGeom prst="roundRect">
            <a:avLst>
              <a:gd name="adj" fmla="val 28571"/>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513" name="Shape 33"/>
          <p:cNvSpPr/>
          <p:nvPr/>
        </p:nvSpPr>
        <p:spPr>
          <a:xfrm>
            <a:off x="621720" y="3566160"/>
            <a:ext cx="411120" cy="822600"/>
          </a:xfrm>
          <a:prstGeom prst="rect">
            <a:avLst/>
          </a:prstGeom>
          <a:solidFill>
            <a:srgbClr val="007a27"/>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514" name="Text 34"/>
          <p:cNvSpPr/>
          <p:nvPr/>
        </p:nvSpPr>
        <p:spPr>
          <a:xfrm>
            <a:off x="685800" y="3611880"/>
            <a:ext cx="282960" cy="73116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SUPPLY CHAIN</a:t>
            </a:r>
            <a:endParaRPr b="0" lang="en-US" sz="750" strike="noStrike" u="none">
              <a:solidFill>
                <a:srgbClr val="000000"/>
              </a:solidFill>
              <a:effectLst/>
              <a:uFillTx/>
              <a:latin typeface="Arial"/>
            </a:endParaRPr>
          </a:p>
        </p:txBody>
      </p:sp>
      <p:sp>
        <p:nvSpPr>
          <p:cNvPr id="2515" name="Shape 35"/>
          <p:cNvSpPr/>
          <p:nvPr/>
        </p:nvSpPr>
        <p:spPr>
          <a:xfrm>
            <a:off x="1033200" y="397764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516" name="Shape 36"/>
          <p:cNvSpPr/>
          <p:nvPr/>
        </p:nvSpPr>
        <p:spPr>
          <a:xfrm>
            <a:off x="1143000" y="366228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517" name="Text 37"/>
          <p:cNvSpPr/>
          <p:nvPr/>
        </p:nvSpPr>
        <p:spPr>
          <a:xfrm>
            <a:off x="1243440" y="36255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H1: Light PCF, multi tier visibility, supplier onboarding</a:t>
            </a:r>
            <a:endParaRPr b="0" lang="en-US" sz="950" strike="noStrike" u="none">
              <a:solidFill>
                <a:srgbClr val="000000"/>
              </a:solidFill>
              <a:effectLst/>
              <a:uFillTx/>
              <a:latin typeface="Arial"/>
            </a:endParaRPr>
          </a:p>
        </p:txBody>
      </p:sp>
      <p:sp>
        <p:nvSpPr>
          <p:cNvPr id="2518" name="Shape 38"/>
          <p:cNvSpPr/>
          <p:nvPr/>
        </p:nvSpPr>
        <p:spPr>
          <a:xfrm>
            <a:off x="3456360" y="3708000"/>
            <a:ext cx="4056480" cy="127800"/>
          </a:xfrm>
          <a:prstGeom prst="roundRect">
            <a:avLst>
              <a:gd name="adj" fmla="val 28571"/>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519" name="Shape 39"/>
          <p:cNvSpPr/>
          <p:nvPr/>
        </p:nvSpPr>
        <p:spPr>
          <a:xfrm>
            <a:off x="1033200" y="43891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520" name="Shape 40"/>
          <p:cNvSpPr/>
          <p:nvPr/>
        </p:nvSpPr>
        <p:spPr>
          <a:xfrm>
            <a:off x="1143000" y="407376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521" name="Text 41"/>
          <p:cNvSpPr/>
          <p:nvPr/>
        </p:nvSpPr>
        <p:spPr>
          <a:xfrm>
            <a:off x="1243440" y="403704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H2: Climate risk and R&amp;C integration, supplier discovery</a:t>
            </a:r>
            <a:endParaRPr b="0" lang="en-US" sz="950" strike="noStrike" u="none">
              <a:solidFill>
                <a:srgbClr val="000000"/>
              </a:solidFill>
              <a:effectLst/>
              <a:uFillTx/>
              <a:latin typeface="Arial"/>
            </a:endParaRPr>
          </a:p>
        </p:txBody>
      </p:sp>
      <p:sp>
        <p:nvSpPr>
          <p:cNvPr id="2522" name="Shape 42"/>
          <p:cNvSpPr/>
          <p:nvPr/>
        </p:nvSpPr>
        <p:spPr>
          <a:xfrm>
            <a:off x="7513200" y="4119480"/>
            <a:ext cx="4056480" cy="127800"/>
          </a:xfrm>
          <a:prstGeom prst="roundRect">
            <a:avLst>
              <a:gd name="adj" fmla="val 28571"/>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523" name="Shape 43"/>
          <p:cNvSpPr/>
          <p:nvPr/>
        </p:nvSpPr>
        <p:spPr>
          <a:xfrm>
            <a:off x="621720" y="4389120"/>
            <a:ext cx="411120" cy="1234080"/>
          </a:xfrm>
          <a:prstGeom prst="rect">
            <a:avLst/>
          </a:prstGeom>
          <a:solidFill>
            <a:srgbClr val="275b7f"/>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524" name="Text 44"/>
          <p:cNvSpPr/>
          <p:nvPr/>
        </p:nvSpPr>
        <p:spPr>
          <a:xfrm>
            <a:off x="685800" y="4434840"/>
            <a:ext cx="282960" cy="114264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REPORTING &amp; COMPLIANCE</a:t>
            </a:r>
            <a:endParaRPr b="0" lang="en-US" sz="750" strike="noStrike" u="none">
              <a:solidFill>
                <a:srgbClr val="000000"/>
              </a:solidFill>
              <a:effectLst/>
              <a:uFillTx/>
              <a:latin typeface="Arial"/>
            </a:endParaRPr>
          </a:p>
        </p:txBody>
      </p:sp>
      <p:sp>
        <p:nvSpPr>
          <p:cNvPr id="2525" name="Shape 45"/>
          <p:cNvSpPr/>
          <p:nvPr/>
        </p:nvSpPr>
        <p:spPr>
          <a:xfrm>
            <a:off x="1033200" y="480060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526" name="Shape 46"/>
          <p:cNvSpPr/>
          <p:nvPr/>
        </p:nvSpPr>
        <p:spPr>
          <a:xfrm>
            <a:off x="1143000" y="4485240"/>
            <a:ext cx="45360" cy="219240"/>
          </a:xfrm>
          <a:prstGeom prst="roundRect">
            <a:avLst>
              <a:gd name="adj" fmla="val 60000"/>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527" name="Text 47"/>
          <p:cNvSpPr/>
          <p:nvPr/>
        </p:nvSpPr>
        <p:spPr>
          <a:xfrm>
            <a:off x="1243440" y="44485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Q1: SE migration and CSRD cycle in RA+</a:t>
            </a:r>
            <a:endParaRPr b="0" lang="en-US" sz="950" strike="noStrike" u="none">
              <a:solidFill>
                <a:srgbClr val="000000"/>
              </a:solidFill>
              <a:effectLst/>
              <a:uFillTx/>
              <a:latin typeface="Arial"/>
            </a:endParaRPr>
          </a:p>
        </p:txBody>
      </p:sp>
      <p:sp>
        <p:nvSpPr>
          <p:cNvPr id="2528" name="Shape 48"/>
          <p:cNvSpPr/>
          <p:nvPr/>
        </p:nvSpPr>
        <p:spPr>
          <a:xfrm>
            <a:off x="3456360" y="4530960"/>
            <a:ext cx="2027880" cy="127800"/>
          </a:xfrm>
          <a:prstGeom prst="roundRect">
            <a:avLst>
              <a:gd name="adj" fmla="val 28571"/>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529" name="Shape 49"/>
          <p:cNvSpPr/>
          <p:nvPr/>
        </p:nvSpPr>
        <p:spPr>
          <a:xfrm>
            <a:off x="1033200" y="52120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530" name="Shape 50"/>
          <p:cNvSpPr/>
          <p:nvPr/>
        </p:nvSpPr>
        <p:spPr>
          <a:xfrm>
            <a:off x="1143000" y="4896720"/>
            <a:ext cx="45360" cy="219240"/>
          </a:xfrm>
          <a:prstGeom prst="roundRect">
            <a:avLst>
              <a:gd name="adj" fmla="val 60000"/>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531" name="Text 51"/>
          <p:cNvSpPr/>
          <p:nvPr/>
        </p:nvSpPr>
        <p:spPr>
          <a:xfrm>
            <a:off x="1243440" y="486000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H1: Campaign analytics, AI drafting, audit ready disclosure</a:t>
            </a:r>
            <a:endParaRPr b="0" lang="en-US" sz="950" strike="noStrike" u="none">
              <a:solidFill>
                <a:srgbClr val="000000"/>
              </a:solidFill>
              <a:effectLst/>
              <a:uFillTx/>
              <a:latin typeface="Arial"/>
            </a:endParaRPr>
          </a:p>
        </p:txBody>
      </p:sp>
      <p:sp>
        <p:nvSpPr>
          <p:cNvPr id="2532" name="Shape 52"/>
          <p:cNvSpPr/>
          <p:nvPr/>
        </p:nvSpPr>
        <p:spPr>
          <a:xfrm>
            <a:off x="3456360" y="4942440"/>
            <a:ext cx="4056480" cy="127800"/>
          </a:xfrm>
          <a:prstGeom prst="roundRect">
            <a:avLst>
              <a:gd name="adj" fmla="val 28571"/>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533" name="Shape 53"/>
          <p:cNvSpPr/>
          <p:nvPr/>
        </p:nvSpPr>
        <p:spPr>
          <a:xfrm>
            <a:off x="1033200" y="562356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534" name="Shape 54"/>
          <p:cNvSpPr/>
          <p:nvPr/>
        </p:nvSpPr>
        <p:spPr>
          <a:xfrm>
            <a:off x="1143000" y="5308200"/>
            <a:ext cx="45360" cy="219240"/>
          </a:xfrm>
          <a:prstGeom prst="roundRect">
            <a:avLst>
              <a:gd name="adj" fmla="val 60000"/>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535" name="Text 55"/>
          <p:cNvSpPr/>
          <p:nvPr/>
        </p:nvSpPr>
        <p:spPr>
          <a:xfrm>
            <a:off x="1243440" y="527148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H2: AI compliance, assurance, voluntary frameworks</a:t>
            </a:r>
            <a:endParaRPr b="0" lang="en-US" sz="950" strike="noStrike" u="none">
              <a:solidFill>
                <a:srgbClr val="000000"/>
              </a:solidFill>
              <a:effectLst/>
              <a:uFillTx/>
              <a:latin typeface="Arial"/>
            </a:endParaRPr>
          </a:p>
        </p:txBody>
      </p:sp>
      <p:sp>
        <p:nvSpPr>
          <p:cNvPr id="2536" name="Shape 56"/>
          <p:cNvSpPr/>
          <p:nvPr/>
        </p:nvSpPr>
        <p:spPr>
          <a:xfrm>
            <a:off x="7513200" y="5353920"/>
            <a:ext cx="4056480" cy="127800"/>
          </a:xfrm>
          <a:prstGeom prst="roundRect">
            <a:avLst>
              <a:gd name="adj" fmla="val 28571"/>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537" name="Shape 57"/>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538" name="Text 58"/>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2539" name="Text 59"/>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2540" name="PlaceHolder 1"/>
          <p:cNvSpPr>
            <a:spLocks noGrp="1"/>
          </p:cNvSpPr>
          <p:nvPr>
            <p:ph type="sldNum" idx="57"/>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1090B3A0-5E17-473A-A6CD-D170A09824D8}"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6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41"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2542"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2543" name="Shape 2"/>
          <p:cNvSpPr/>
          <p:nvPr/>
        </p:nvSpPr>
        <p:spPr>
          <a:xfrm>
            <a:off x="621720" y="311040"/>
            <a:ext cx="229032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544" name="Text 3"/>
          <p:cNvSpPr/>
          <p:nvPr/>
        </p:nvSpPr>
        <p:spPr>
          <a:xfrm>
            <a:off x="804600" y="329040"/>
            <a:ext cx="196092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EXECUTIVE SUMMARY</a:t>
            </a:r>
            <a:endParaRPr b="0" lang="en-US" sz="950" strike="noStrike" u="none">
              <a:solidFill>
                <a:srgbClr val="000000"/>
              </a:solidFill>
              <a:effectLst/>
              <a:uFillTx/>
              <a:latin typeface="Arial"/>
            </a:endParaRPr>
          </a:p>
        </p:txBody>
      </p:sp>
      <p:sp>
        <p:nvSpPr>
          <p:cNvPr id="2545" name="Text 4"/>
          <p:cNvSpPr/>
          <p:nvPr/>
        </p:nvSpPr>
        <p:spPr>
          <a:xfrm>
            <a:off x="621720" y="768240"/>
            <a:ext cx="10947600" cy="804240"/>
          </a:xfrm>
          <a:prstGeom prst="rect">
            <a:avLst/>
          </a:prstGeom>
          <a:noFill/>
          <a:ln w="0">
            <a:noFill/>
          </a:ln>
        </p:spPr>
        <p:style>
          <a:lnRef idx="0"/>
          <a:fillRef idx="0"/>
          <a:effectRef idx="0"/>
          <a:fontRef idx="minor"/>
        </p:style>
        <p:txBody>
          <a:bodyPr lIns="0" rIns="0" tIns="0" bIns="0" anchor="t">
            <a:normAutofit lnSpcReduction="9999"/>
          </a:bodyPr>
          <a:p>
            <a:pPr defTabSz="914400">
              <a:lnSpc>
                <a:spcPct val="100000"/>
              </a:lnSpc>
              <a:tabLst>
                <a:tab algn="l" pos="0"/>
              </a:tabLst>
            </a:pPr>
            <a:r>
              <a:rPr b="1" lang="en-US" sz="2800" strike="noStrike" u="none">
                <a:solidFill>
                  <a:srgbClr val="1e2420"/>
                </a:solidFill>
                <a:effectLst/>
                <a:uFillTx/>
                <a:latin typeface="Calibri"/>
                <a:ea typeface="Calibri"/>
              </a:rPr>
              <a:t>The full 2027 roadmap across sustainability products, part two</a:t>
            </a:r>
            <a:endParaRPr b="0" lang="en-US" sz="2800" strike="noStrike" u="none">
              <a:solidFill>
                <a:srgbClr val="000000"/>
              </a:solidFill>
              <a:effectLst/>
              <a:uFillTx/>
              <a:latin typeface="Arial"/>
            </a:endParaRPr>
          </a:p>
        </p:txBody>
      </p:sp>
      <p:sp>
        <p:nvSpPr>
          <p:cNvPr id="2546" name="Text 5"/>
          <p:cNvSpPr/>
          <p:nvPr/>
        </p:nvSpPr>
        <p:spPr>
          <a:xfrm>
            <a:off x="621720" y="1572840"/>
            <a:ext cx="10947600" cy="310680"/>
          </a:xfrm>
          <a:prstGeom prst="rect">
            <a:avLst/>
          </a:prstGeom>
          <a:noFill/>
          <a:ln w="0">
            <a:noFill/>
          </a:ln>
        </p:spPr>
        <p:style>
          <a:lnRef idx="0"/>
          <a:fillRef idx="0"/>
          <a:effectRef idx="0"/>
          <a:fontRef idx="minor"/>
        </p:style>
        <p:txBody>
          <a:bodyPr lIns="0" rIns="0" tIns="0" bIns="0" anchor="t">
            <a:normAutofit fontScale="92500" lnSpcReduction="9999"/>
          </a:bodyPr>
          <a:p>
            <a:pPr defTabSz="914400">
              <a:lnSpc>
                <a:spcPct val="100000"/>
              </a:lnSpc>
              <a:tabLst>
                <a:tab algn="l" pos="0"/>
              </a:tabLst>
            </a:pPr>
            <a:r>
              <a:rPr b="0" lang="en-US" sz="1250" strike="noStrike" u="none">
                <a:solidFill>
                  <a:srgbClr val="5a625c"/>
                </a:solidFill>
                <a:effectLst/>
                <a:uFillTx/>
                <a:latin typeface="Calibri"/>
                <a:ea typeface="Calibri"/>
              </a:rPr>
              <a:t>Climate Risk, Strategy, and Core Platform. Confirmed milestones stay quarter-specific; all other commitments retain their approved H1 or H2 horizon.</a:t>
            </a:r>
            <a:endParaRPr b="0" lang="en-US" sz="1250" strike="noStrike" u="none">
              <a:solidFill>
                <a:srgbClr val="000000"/>
              </a:solidFill>
              <a:effectLst/>
              <a:uFillTx/>
              <a:latin typeface="Arial"/>
            </a:endParaRPr>
          </a:p>
        </p:txBody>
      </p:sp>
      <p:sp>
        <p:nvSpPr>
          <p:cNvPr id="2547"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548" name="Shape 7"/>
          <p:cNvSpPr/>
          <p:nvPr/>
        </p:nvSpPr>
        <p:spPr>
          <a:xfrm>
            <a:off x="621720" y="1874520"/>
            <a:ext cx="10947600" cy="456840"/>
          </a:xfrm>
          <a:prstGeom prst="rect">
            <a:avLst/>
          </a:prstGeom>
          <a:solidFill>
            <a:srgbClr val="f1f3f2"/>
          </a:solidFill>
          <a:ln w="635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549" name="Text 8"/>
          <p:cNvSpPr/>
          <p:nvPr/>
        </p:nvSpPr>
        <p:spPr>
          <a:xfrm>
            <a:off x="749880" y="2020680"/>
            <a:ext cx="260568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99" strike="noStrike" u="none">
                <a:solidFill>
                  <a:srgbClr val="5a625c"/>
                </a:solidFill>
                <a:effectLst/>
                <a:uFillTx/>
                <a:latin typeface="Calibri"/>
                <a:ea typeface="Calibri"/>
              </a:rPr>
              <a:t>CAPABILITY</a:t>
            </a:r>
            <a:endParaRPr b="0" lang="en-US" sz="850" strike="noStrike" u="none">
              <a:solidFill>
                <a:srgbClr val="000000"/>
              </a:solidFill>
              <a:effectLst/>
              <a:uFillTx/>
              <a:latin typeface="Arial"/>
            </a:endParaRPr>
          </a:p>
        </p:txBody>
      </p:sp>
      <p:sp>
        <p:nvSpPr>
          <p:cNvPr id="2550" name="Text 9"/>
          <p:cNvSpPr/>
          <p:nvPr/>
        </p:nvSpPr>
        <p:spPr>
          <a:xfrm>
            <a:off x="3456360" y="1901880"/>
            <a:ext cx="811296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2027</a:t>
            </a:r>
            <a:endParaRPr b="0" lang="en-US" sz="1200" strike="noStrike" u="none">
              <a:solidFill>
                <a:srgbClr val="000000"/>
              </a:solidFill>
              <a:effectLst/>
              <a:uFillTx/>
              <a:latin typeface="Arial"/>
            </a:endParaRPr>
          </a:p>
        </p:txBody>
      </p:sp>
      <p:sp>
        <p:nvSpPr>
          <p:cNvPr id="2551" name="Text 10"/>
          <p:cNvSpPr/>
          <p:nvPr/>
        </p:nvSpPr>
        <p:spPr>
          <a:xfrm>
            <a:off x="3456360" y="2121480"/>
            <a:ext cx="202788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2552" name="Text 11"/>
          <p:cNvSpPr/>
          <p:nvPr/>
        </p:nvSpPr>
        <p:spPr>
          <a:xfrm>
            <a:off x="5484960" y="2121480"/>
            <a:ext cx="202788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2553" name="Text 12"/>
          <p:cNvSpPr/>
          <p:nvPr/>
        </p:nvSpPr>
        <p:spPr>
          <a:xfrm>
            <a:off x="7513200" y="2121480"/>
            <a:ext cx="202788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2554" name="Text 13"/>
          <p:cNvSpPr/>
          <p:nvPr/>
        </p:nvSpPr>
        <p:spPr>
          <a:xfrm>
            <a:off x="9541440" y="2121480"/>
            <a:ext cx="202788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2555" name="Shape 14"/>
          <p:cNvSpPr/>
          <p:nvPr/>
        </p:nvSpPr>
        <p:spPr>
          <a:xfrm>
            <a:off x="3456360" y="2103120"/>
            <a:ext cx="360" cy="269748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556" name="Shape 15"/>
          <p:cNvSpPr/>
          <p:nvPr/>
        </p:nvSpPr>
        <p:spPr>
          <a:xfrm>
            <a:off x="5484600" y="2103120"/>
            <a:ext cx="360" cy="269748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557" name="Shape 16"/>
          <p:cNvSpPr/>
          <p:nvPr/>
        </p:nvSpPr>
        <p:spPr>
          <a:xfrm>
            <a:off x="7512840" y="2103120"/>
            <a:ext cx="360" cy="269748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558" name="Shape 17"/>
          <p:cNvSpPr/>
          <p:nvPr/>
        </p:nvSpPr>
        <p:spPr>
          <a:xfrm>
            <a:off x="9541440" y="2103120"/>
            <a:ext cx="360" cy="269748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559" name="Shape 18"/>
          <p:cNvSpPr/>
          <p:nvPr/>
        </p:nvSpPr>
        <p:spPr>
          <a:xfrm>
            <a:off x="11569680" y="2103120"/>
            <a:ext cx="360" cy="269748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560" name="Shape 19"/>
          <p:cNvSpPr/>
          <p:nvPr/>
        </p:nvSpPr>
        <p:spPr>
          <a:xfrm>
            <a:off x="621720" y="2331720"/>
            <a:ext cx="411120" cy="822600"/>
          </a:xfrm>
          <a:prstGeom prst="rect">
            <a:avLst/>
          </a:prstGeom>
          <a:solidFill>
            <a:srgbClr val="ffb04c"/>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561" name="Text 20"/>
          <p:cNvSpPr/>
          <p:nvPr/>
        </p:nvSpPr>
        <p:spPr>
          <a:xfrm>
            <a:off x="685800" y="2377440"/>
            <a:ext cx="282960" cy="73116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CLIMATE RISK</a:t>
            </a:r>
            <a:endParaRPr b="0" lang="en-US" sz="750" strike="noStrike" u="none">
              <a:solidFill>
                <a:srgbClr val="000000"/>
              </a:solidFill>
              <a:effectLst/>
              <a:uFillTx/>
              <a:latin typeface="Arial"/>
            </a:endParaRPr>
          </a:p>
        </p:txBody>
      </p:sp>
      <p:sp>
        <p:nvSpPr>
          <p:cNvPr id="2562" name="Shape 21"/>
          <p:cNvSpPr/>
          <p:nvPr/>
        </p:nvSpPr>
        <p:spPr>
          <a:xfrm>
            <a:off x="1033200" y="274320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563" name="Shape 22"/>
          <p:cNvSpPr/>
          <p:nvPr/>
        </p:nvSpPr>
        <p:spPr>
          <a:xfrm>
            <a:off x="1143000" y="242784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564" name="Text 23"/>
          <p:cNvSpPr/>
          <p:nvPr/>
        </p:nvSpPr>
        <p:spPr>
          <a:xfrm>
            <a:off x="1243440" y="23911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H1: Scenarios, ClimVar value at risk, adaptation actions</a:t>
            </a:r>
            <a:endParaRPr b="0" lang="en-US" sz="950" strike="noStrike" u="none">
              <a:solidFill>
                <a:srgbClr val="000000"/>
              </a:solidFill>
              <a:effectLst/>
              <a:uFillTx/>
              <a:latin typeface="Arial"/>
            </a:endParaRPr>
          </a:p>
        </p:txBody>
      </p:sp>
      <p:sp>
        <p:nvSpPr>
          <p:cNvPr id="2565" name="Shape 24"/>
          <p:cNvSpPr/>
          <p:nvPr/>
        </p:nvSpPr>
        <p:spPr>
          <a:xfrm>
            <a:off x="3456360" y="2473560"/>
            <a:ext cx="4056480" cy="127800"/>
          </a:xfrm>
          <a:prstGeom prst="roundRect">
            <a:avLst>
              <a:gd name="adj" fmla="val 28571"/>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566" name="Shape 25"/>
          <p:cNvSpPr/>
          <p:nvPr/>
        </p:nvSpPr>
        <p:spPr>
          <a:xfrm>
            <a:off x="1033200" y="31546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567" name="Shape 26"/>
          <p:cNvSpPr/>
          <p:nvPr/>
        </p:nvSpPr>
        <p:spPr>
          <a:xfrm>
            <a:off x="1143000" y="283932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568" name="Text 27"/>
          <p:cNvSpPr/>
          <p:nvPr/>
        </p:nvSpPr>
        <p:spPr>
          <a:xfrm>
            <a:off x="1243440" y="280260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H2: Transition plans, disclosure, extended value chain risk</a:t>
            </a:r>
            <a:endParaRPr b="0" lang="en-US" sz="950" strike="noStrike" u="none">
              <a:solidFill>
                <a:srgbClr val="000000"/>
              </a:solidFill>
              <a:effectLst/>
              <a:uFillTx/>
              <a:latin typeface="Arial"/>
            </a:endParaRPr>
          </a:p>
        </p:txBody>
      </p:sp>
      <p:sp>
        <p:nvSpPr>
          <p:cNvPr id="2569" name="Shape 28"/>
          <p:cNvSpPr/>
          <p:nvPr/>
        </p:nvSpPr>
        <p:spPr>
          <a:xfrm>
            <a:off x="7513200" y="2885040"/>
            <a:ext cx="4056480" cy="127800"/>
          </a:xfrm>
          <a:prstGeom prst="roundRect">
            <a:avLst>
              <a:gd name="adj" fmla="val 28571"/>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570" name="Shape 29"/>
          <p:cNvSpPr/>
          <p:nvPr/>
        </p:nvSpPr>
        <p:spPr>
          <a:xfrm>
            <a:off x="621720" y="3154680"/>
            <a:ext cx="411120" cy="822600"/>
          </a:xfrm>
          <a:prstGeom prst="rect">
            <a:avLst/>
          </a:prstGeom>
          <a:solidFill>
            <a:srgbClr val="3dcd58"/>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571" name="Text 30"/>
          <p:cNvSpPr/>
          <p:nvPr/>
        </p:nvSpPr>
        <p:spPr>
          <a:xfrm>
            <a:off x="685800" y="3200400"/>
            <a:ext cx="282960" cy="73116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STRATEGY</a:t>
            </a:r>
            <a:endParaRPr b="0" lang="en-US" sz="750" strike="noStrike" u="none">
              <a:solidFill>
                <a:srgbClr val="000000"/>
              </a:solidFill>
              <a:effectLst/>
              <a:uFillTx/>
              <a:latin typeface="Arial"/>
            </a:endParaRPr>
          </a:p>
        </p:txBody>
      </p:sp>
      <p:sp>
        <p:nvSpPr>
          <p:cNvPr id="2572" name="Shape 31"/>
          <p:cNvSpPr/>
          <p:nvPr/>
        </p:nvSpPr>
        <p:spPr>
          <a:xfrm>
            <a:off x="1033200" y="356616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573" name="Shape 32"/>
          <p:cNvSpPr/>
          <p:nvPr/>
        </p:nvSpPr>
        <p:spPr>
          <a:xfrm>
            <a:off x="1143000" y="325080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574" name="Text 33"/>
          <p:cNvSpPr/>
          <p:nvPr/>
        </p:nvSpPr>
        <p:spPr>
          <a:xfrm>
            <a:off x="1243440" y="321408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H1: Cascading targets, delivery status, advanced ECM library</a:t>
            </a:r>
            <a:endParaRPr b="0" lang="en-US" sz="950" strike="noStrike" u="none">
              <a:solidFill>
                <a:srgbClr val="000000"/>
              </a:solidFill>
              <a:effectLst/>
              <a:uFillTx/>
              <a:latin typeface="Arial"/>
            </a:endParaRPr>
          </a:p>
        </p:txBody>
      </p:sp>
      <p:sp>
        <p:nvSpPr>
          <p:cNvPr id="2575" name="Shape 34"/>
          <p:cNvSpPr/>
          <p:nvPr/>
        </p:nvSpPr>
        <p:spPr>
          <a:xfrm>
            <a:off x="3456360" y="3296520"/>
            <a:ext cx="4056480" cy="127800"/>
          </a:xfrm>
          <a:prstGeom prst="roundRect">
            <a:avLst>
              <a:gd name="adj" fmla="val 28571"/>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576" name="Shape 35"/>
          <p:cNvSpPr/>
          <p:nvPr/>
        </p:nvSpPr>
        <p:spPr>
          <a:xfrm>
            <a:off x="1033200" y="397764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577" name="Shape 36"/>
          <p:cNvSpPr/>
          <p:nvPr/>
        </p:nvSpPr>
        <p:spPr>
          <a:xfrm>
            <a:off x="1143000" y="366228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578" name="Text 37"/>
          <p:cNvSpPr/>
          <p:nvPr/>
        </p:nvSpPr>
        <p:spPr>
          <a:xfrm>
            <a:off x="1243440" y="36255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H2: Market intelligence, net zero suggestions, multi hierarchy plans</a:t>
            </a:r>
            <a:endParaRPr b="0" lang="en-US" sz="950" strike="noStrike" u="none">
              <a:solidFill>
                <a:srgbClr val="000000"/>
              </a:solidFill>
              <a:effectLst/>
              <a:uFillTx/>
              <a:latin typeface="Arial"/>
            </a:endParaRPr>
          </a:p>
        </p:txBody>
      </p:sp>
      <p:sp>
        <p:nvSpPr>
          <p:cNvPr id="2579" name="Shape 38"/>
          <p:cNvSpPr/>
          <p:nvPr/>
        </p:nvSpPr>
        <p:spPr>
          <a:xfrm>
            <a:off x="7513200" y="3708000"/>
            <a:ext cx="4056480" cy="127800"/>
          </a:xfrm>
          <a:prstGeom prst="roundRect">
            <a:avLst>
              <a:gd name="adj" fmla="val 28571"/>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580" name="Shape 39"/>
          <p:cNvSpPr/>
          <p:nvPr/>
        </p:nvSpPr>
        <p:spPr>
          <a:xfrm>
            <a:off x="621720" y="3977640"/>
            <a:ext cx="411120" cy="822600"/>
          </a:xfrm>
          <a:prstGeom prst="rect">
            <a:avLst/>
          </a:prstGeom>
          <a:solidFill>
            <a:srgbClr val="007a27"/>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581" name="Text 40"/>
          <p:cNvSpPr/>
          <p:nvPr/>
        </p:nvSpPr>
        <p:spPr>
          <a:xfrm>
            <a:off x="685800" y="4023360"/>
            <a:ext cx="282960" cy="73116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CORE PLATFORM</a:t>
            </a:r>
            <a:endParaRPr b="0" lang="en-US" sz="750" strike="noStrike" u="none">
              <a:solidFill>
                <a:srgbClr val="000000"/>
              </a:solidFill>
              <a:effectLst/>
              <a:uFillTx/>
              <a:latin typeface="Arial"/>
            </a:endParaRPr>
          </a:p>
        </p:txBody>
      </p:sp>
      <p:sp>
        <p:nvSpPr>
          <p:cNvPr id="2582" name="Shape 41"/>
          <p:cNvSpPr/>
          <p:nvPr/>
        </p:nvSpPr>
        <p:spPr>
          <a:xfrm>
            <a:off x="1033200" y="43891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583" name="Shape 42"/>
          <p:cNvSpPr/>
          <p:nvPr/>
        </p:nvSpPr>
        <p:spPr>
          <a:xfrm>
            <a:off x="1143000" y="407376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584" name="Text 43"/>
          <p:cNvSpPr/>
          <p:nvPr/>
        </p:nvSpPr>
        <p:spPr>
          <a:xfrm>
            <a:off x="1243440" y="403704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H1: Readiness checks, ontology, calculation governance</a:t>
            </a:r>
            <a:endParaRPr b="0" lang="en-US" sz="950" strike="noStrike" u="none">
              <a:solidFill>
                <a:srgbClr val="000000"/>
              </a:solidFill>
              <a:effectLst/>
              <a:uFillTx/>
              <a:latin typeface="Arial"/>
            </a:endParaRPr>
          </a:p>
        </p:txBody>
      </p:sp>
      <p:sp>
        <p:nvSpPr>
          <p:cNvPr id="2585" name="Shape 44"/>
          <p:cNvSpPr/>
          <p:nvPr/>
        </p:nvSpPr>
        <p:spPr>
          <a:xfrm>
            <a:off x="3456360" y="4119480"/>
            <a:ext cx="4056480" cy="127800"/>
          </a:xfrm>
          <a:prstGeom prst="roundRect">
            <a:avLst>
              <a:gd name="adj" fmla="val 28571"/>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586" name="Shape 45"/>
          <p:cNvSpPr/>
          <p:nvPr/>
        </p:nvSpPr>
        <p:spPr>
          <a:xfrm>
            <a:off x="1033200" y="480060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587" name="Shape 46"/>
          <p:cNvSpPr/>
          <p:nvPr/>
        </p:nvSpPr>
        <p:spPr>
          <a:xfrm>
            <a:off x="1143000" y="448524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588" name="Text 47"/>
          <p:cNvSpPr/>
          <p:nvPr/>
        </p:nvSpPr>
        <p:spPr>
          <a:xfrm>
            <a:off x="1243440" y="44485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H2: Quality scoring, AI checks, Sera agents, enterprise scale</a:t>
            </a:r>
            <a:endParaRPr b="0" lang="en-US" sz="950" strike="noStrike" u="none">
              <a:solidFill>
                <a:srgbClr val="000000"/>
              </a:solidFill>
              <a:effectLst/>
              <a:uFillTx/>
              <a:latin typeface="Arial"/>
            </a:endParaRPr>
          </a:p>
        </p:txBody>
      </p:sp>
      <p:sp>
        <p:nvSpPr>
          <p:cNvPr id="2589" name="Shape 48"/>
          <p:cNvSpPr/>
          <p:nvPr/>
        </p:nvSpPr>
        <p:spPr>
          <a:xfrm>
            <a:off x="7513200" y="4530960"/>
            <a:ext cx="4056480" cy="127800"/>
          </a:xfrm>
          <a:prstGeom prst="roundRect">
            <a:avLst>
              <a:gd name="adj" fmla="val 28571"/>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590" name="Shape 49"/>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591" name="Text 50"/>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2592" name="Text 51"/>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2593" name="PlaceHolder 1"/>
          <p:cNvSpPr>
            <a:spLocks noGrp="1"/>
          </p:cNvSpPr>
          <p:nvPr>
            <p:ph type="sldNum" idx="58"/>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631C9ECB-E167-4E45-8BCA-DCA03AAA1CE9}"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6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94"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2595"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2596" name="Shape 2"/>
          <p:cNvSpPr/>
          <p:nvPr/>
        </p:nvSpPr>
        <p:spPr>
          <a:xfrm>
            <a:off x="621720" y="311040"/>
            <a:ext cx="186948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597" name="Text 3"/>
          <p:cNvSpPr/>
          <p:nvPr/>
        </p:nvSpPr>
        <p:spPr>
          <a:xfrm>
            <a:off x="804600" y="329040"/>
            <a:ext cx="154044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ONE PAGE VIEW</a:t>
            </a:r>
            <a:endParaRPr b="0" lang="en-US" sz="950" strike="noStrike" u="none">
              <a:solidFill>
                <a:srgbClr val="000000"/>
              </a:solidFill>
              <a:effectLst/>
              <a:uFillTx/>
              <a:latin typeface="Arial"/>
            </a:endParaRPr>
          </a:p>
        </p:txBody>
      </p:sp>
      <p:sp>
        <p:nvSpPr>
          <p:cNvPr id="2598"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RA+ 2026 and 2027 at board altitude</a:t>
            </a:r>
            <a:endParaRPr b="0" lang="en-US" sz="3200" strike="noStrike" u="none">
              <a:solidFill>
                <a:srgbClr val="000000"/>
              </a:solidFill>
              <a:effectLst/>
              <a:uFillTx/>
              <a:latin typeface="Arial"/>
            </a:endParaRPr>
          </a:p>
        </p:txBody>
      </p:sp>
      <p:sp>
        <p:nvSpPr>
          <p:cNvPr id="2599"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What each product commits to per half year.</a:t>
            </a:r>
            <a:endParaRPr b="0" lang="en-US" sz="1250" strike="noStrike" u="none">
              <a:solidFill>
                <a:srgbClr val="000000"/>
              </a:solidFill>
              <a:effectLst/>
              <a:uFillTx/>
              <a:latin typeface="Arial"/>
            </a:endParaRPr>
          </a:p>
        </p:txBody>
      </p:sp>
      <p:sp>
        <p:nvSpPr>
          <p:cNvPr id="2600"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graphicFrame>
        <p:nvGraphicFramePr>
          <p:cNvPr id="2601" name="Table 0"/>
          <p:cNvGraphicFramePr/>
          <p:nvPr/>
        </p:nvGraphicFramePr>
        <p:xfrm>
          <a:off x="621720" y="2084760"/>
          <a:ext cx="10947600" cy="3820680"/>
        </p:xfrm>
        <a:graphic>
          <a:graphicData uri="http://schemas.openxmlformats.org/drawingml/2006/table">
            <a:tbl>
              <a:tblPr/>
              <a:tblGrid>
                <a:gridCol w="1005840"/>
                <a:gridCol w="3313800"/>
                <a:gridCol w="3313800"/>
                <a:gridCol w="3313800"/>
              </a:tblGrid>
              <a:tr h="511920">
                <a:tc>
                  <a:txBody>
                    <a:bodyPr lIns="73080" rIns="73080" tIns="73080" bIns="73080" anchor="ctr">
                      <a:noAutofit/>
                    </a:bodyPr>
                    <a:p>
                      <a:pPr defTabSz="914400">
                        <a:lnSpc>
                          <a:spcPct val="100000"/>
                        </a:lnSpc>
                        <a:tabLst>
                          <a:tab algn="l" pos="0"/>
                        </a:tabLst>
                      </a:pPr>
                      <a:r>
                        <a:rPr b="1" lang="en-US" sz="900" strike="noStrike" u="none">
                          <a:solidFill>
                            <a:srgbClr val="ffffff"/>
                          </a:solidFill>
                          <a:effectLst/>
                          <a:uFillTx/>
                          <a:latin typeface="Calibri"/>
                          <a:ea typeface="Calibri"/>
                        </a:rPr>
                        <a:t>PRODUCT</a:t>
                      </a:r>
                      <a:endParaRPr b="0" lang="en-US" sz="900" strike="noStrike" u="none">
                        <a:solidFill>
                          <a:srgbClr val="ffffff"/>
                        </a:solidFill>
                        <a:effectLst/>
                        <a:uFillTx/>
                        <a:latin typeface="Arial"/>
                      </a:endParaRPr>
                    </a:p>
                  </a:txBody>
                  <a:tcPr anchor="ctr" marL="73080" marR="7308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005730"/>
                    </a:solidFill>
                  </a:tcPr>
                </a:tc>
                <a:tc>
                  <a:txBody>
                    <a:bodyPr lIns="73080" rIns="73080" tIns="73080" bIns="73080" anchor="ctr">
                      <a:noAutofit/>
                    </a:bodyPr>
                    <a:p>
                      <a:pPr defTabSz="914400">
                        <a:lnSpc>
                          <a:spcPct val="100000"/>
                        </a:lnSpc>
                        <a:tabLst>
                          <a:tab algn="l" pos="0"/>
                        </a:tabLst>
                      </a:pPr>
                      <a:r>
                        <a:rPr b="1" lang="en-US" sz="900" strike="noStrike" u="none">
                          <a:solidFill>
                            <a:srgbClr val="ffffff"/>
                          </a:solidFill>
                          <a:effectLst/>
                          <a:uFillTx/>
                          <a:latin typeface="Calibri"/>
                          <a:ea typeface="Calibri"/>
                        </a:rPr>
                        <a:t>H2 2026</a:t>
                      </a:r>
                      <a:endParaRPr b="0" lang="en-US" sz="900" strike="noStrike" u="none">
                        <a:solidFill>
                          <a:srgbClr val="ffffff"/>
                        </a:solidFill>
                        <a:effectLst/>
                        <a:uFillTx/>
                        <a:latin typeface="Arial"/>
                      </a:endParaRPr>
                    </a:p>
                  </a:txBody>
                  <a:tcPr anchor="ctr" marL="73080" marR="7308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005730"/>
                    </a:solidFill>
                  </a:tcPr>
                </a:tc>
                <a:tc>
                  <a:txBody>
                    <a:bodyPr lIns="73080" rIns="73080" tIns="73080" bIns="73080" anchor="ctr">
                      <a:noAutofit/>
                    </a:bodyPr>
                    <a:p>
                      <a:pPr defTabSz="914400">
                        <a:lnSpc>
                          <a:spcPct val="100000"/>
                        </a:lnSpc>
                        <a:tabLst>
                          <a:tab algn="l" pos="0"/>
                        </a:tabLst>
                      </a:pPr>
                      <a:r>
                        <a:rPr b="1" lang="en-US" sz="900" strike="noStrike" u="none">
                          <a:solidFill>
                            <a:srgbClr val="ffffff"/>
                          </a:solidFill>
                          <a:effectLst/>
                          <a:uFillTx/>
                          <a:latin typeface="Calibri"/>
                          <a:ea typeface="Calibri"/>
                        </a:rPr>
                        <a:t>H1 2027</a:t>
                      </a:r>
                      <a:endParaRPr b="0" lang="en-US" sz="900" strike="noStrike" u="none">
                        <a:solidFill>
                          <a:srgbClr val="ffffff"/>
                        </a:solidFill>
                        <a:effectLst/>
                        <a:uFillTx/>
                        <a:latin typeface="Arial"/>
                      </a:endParaRPr>
                    </a:p>
                  </a:txBody>
                  <a:tcPr anchor="ctr" marL="73080" marR="7308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005730"/>
                    </a:solidFill>
                  </a:tcPr>
                </a:tc>
                <a:tc>
                  <a:txBody>
                    <a:bodyPr lIns="73080" rIns="73080" tIns="73080" bIns="73080" anchor="ctr">
                      <a:noAutofit/>
                    </a:bodyPr>
                    <a:p>
                      <a:pPr defTabSz="914400">
                        <a:lnSpc>
                          <a:spcPct val="100000"/>
                        </a:lnSpc>
                        <a:tabLst>
                          <a:tab algn="l" pos="0"/>
                        </a:tabLst>
                      </a:pPr>
                      <a:r>
                        <a:rPr b="1" lang="en-US" sz="900" strike="noStrike" u="none">
                          <a:solidFill>
                            <a:srgbClr val="ffffff"/>
                          </a:solidFill>
                          <a:effectLst/>
                          <a:uFillTx/>
                          <a:latin typeface="Calibri"/>
                          <a:ea typeface="Calibri"/>
                        </a:rPr>
                        <a:t>H2 2027</a:t>
                      </a:r>
                      <a:endParaRPr b="0" lang="en-US" sz="900" strike="noStrike" u="none">
                        <a:solidFill>
                          <a:srgbClr val="ffffff"/>
                        </a:solidFill>
                        <a:effectLst/>
                        <a:uFillTx/>
                        <a:latin typeface="Arial"/>
                      </a:endParaRPr>
                    </a:p>
                  </a:txBody>
                  <a:tcPr anchor="ctr" marL="73080" marR="7308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005730"/>
                    </a:solidFill>
                  </a:tcPr>
                </a:tc>
              </a:tr>
              <a:tr h="511920">
                <a:tc>
                  <a:txBody>
                    <a:bodyPr tIns="91440" bIns="91440" anchor="ctr">
                      <a:noAutofit/>
                    </a:bodyPr>
                    <a:p>
                      <a:pPr defTabSz="914400">
                        <a:lnSpc>
                          <a:spcPct val="100000"/>
                        </a:lnSpc>
                        <a:tabLst>
                          <a:tab algn="l" pos="0"/>
                        </a:tabLst>
                      </a:pPr>
                      <a:r>
                        <a:rPr b="1" lang="en-US" sz="1000" strike="noStrike" u="none">
                          <a:solidFill>
                            <a:srgbClr val="007a27"/>
                          </a:solidFill>
                          <a:effectLst/>
                          <a:uFillTx/>
                          <a:latin typeface="Calibri"/>
                          <a:ea typeface="Calibri"/>
                        </a:rPr>
                        <a:t>Carbon Performance</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Factors, market based Scope 2, boundaries</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Category 4 and 9 transport, category 5, consolidation</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Category 15, FLAG</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r>
              <a:tr h="511920">
                <a:tc>
                  <a:txBody>
                    <a:bodyPr tIns="91440" bIns="91440" anchor="ctr">
                      <a:noAutofit/>
                    </a:bodyPr>
                    <a:p>
                      <a:pPr defTabSz="914400">
                        <a:lnSpc>
                          <a:spcPct val="100000"/>
                        </a:lnSpc>
                        <a:tabLst>
                          <a:tab algn="l" pos="0"/>
                        </a:tabLst>
                      </a:pPr>
                      <a:r>
                        <a:rPr b="1" lang="en-US" sz="1000" strike="noStrike" u="none">
                          <a:solidFill>
                            <a:srgbClr val="007a27"/>
                          </a:solidFill>
                          <a:effectLst/>
                          <a:uFillTx/>
                          <a:latin typeface="Calibri"/>
                          <a:ea typeface="Calibri"/>
                        </a:rPr>
                        <a:t>Supply Chain</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SC emissions management, PCF calculator, DQ assurance</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Multi tier visibility, supplier onboarding</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Climate risk and ESG compliance integrations</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r>
              <a:tr h="511920">
                <a:tc>
                  <a:txBody>
                    <a:bodyPr tIns="91440" bIns="91440" anchor="ctr">
                      <a:noAutofit/>
                    </a:bodyPr>
                    <a:p>
                      <a:pPr defTabSz="914400">
                        <a:lnSpc>
                          <a:spcPct val="100000"/>
                        </a:lnSpc>
                        <a:tabLst>
                          <a:tab algn="l" pos="0"/>
                        </a:tabLst>
                      </a:pPr>
                      <a:r>
                        <a:rPr b="1" lang="en-US" sz="1000" strike="noStrike" u="none">
                          <a:solidFill>
                            <a:srgbClr val="007a27"/>
                          </a:solidFill>
                          <a:effectLst/>
                          <a:uFillTx/>
                          <a:latin typeface="Calibri"/>
                          <a:ea typeface="Calibri"/>
                        </a:rPr>
                        <a:t>Reporting and Compliance</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Standalone launch, indicator management, CSRD</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SE migrated, AI assisted disclosure authoring</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Assurance workflow, voluntary frameworks</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r>
              <a:tr h="511920">
                <a:tc>
                  <a:txBody>
                    <a:bodyPr tIns="91440" bIns="91440" anchor="ctr">
                      <a:noAutofit/>
                    </a:bodyPr>
                    <a:p>
                      <a:pPr defTabSz="914400">
                        <a:lnSpc>
                          <a:spcPct val="100000"/>
                        </a:lnSpc>
                        <a:tabLst>
                          <a:tab algn="l" pos="0"/>
                        </a:tabLst>
                      </a:pPr>
                      <a:r>
                        <a:rPr b="1" lang="en-US" sz="1000" strike="noStrike" u="none">
                          <a:solidFill>
                            <a:srgbClr val="007a27"/>
                          </a:solidFill>
                          <a:effectLst/>
                          <a:uFillTx/>
                          <a:latin typeface="Calibri"/>
                          <a:ea typeface="Calibri"/>
                        </a:rPr>
                        <a:t>Climate Risk</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Asset register, physical hazard exposure</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Scenario analysis and adaptation actions</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Transition plan linked to targets</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r>
              <a:tr h="511920">
                <a:tc>
                  <a:txBody>
                    <a:bodyPr tIns="91440" bIns="91440" anchor="ctr">
                      <a:noAutofit/>
                    </a:bodyPr>
                    <a:p>
                      <a:pPr defTabSz="914400">
                        <a:lnSpc>
                          <a:spcPct val="100000"/>
                        </a:lnSpc>
                        <a:tabLst>
                          <a:tab algn="l" pos="0"/>
                        </a:tabLst>
                      </a:pPr>
                      <a:r>
                        <a:rPr b="1" lang="en-US" sz="1000" strike="noStrike" u="none">
                          <a:solidFill>
                            <a:srgbClr val="007a27"/>
                          </a:solidFill>
                          <a:effectLst/>
                          <a:uFillTx/>
                          <a:latin typeface="Calibri"/>
                          <a:ea typeface="Calibri"/>
                        </a:rPr>
                        <a:t>Strategy</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Actions library, ECM and initiative recommendations</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Cascading targets, complex structures, ECM library</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Market intelligence, multi hierarchy plans</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noFill/>
                  </a:tcPr>
                </a:tc>
              </a:tr>
              <a:tr h="511920">
                <a:tc>
                  <a:txBody>
                    <a:bodyPr tIns="91440" bIns="91440" anchor="ctr">
                      <a:noAutofit/>
                    </a:bodyPr>
                    <a:p>
                      <a:pPr defTabSz="914400">
                        <a:lnSpc>
                          <a:spcPct val="100000"/>
                        </a:lnSpc>
                        <a:tabLst>
                          <a:tab algn="l" pos="0"/>
                        </a:tabLst>
                      </a:pPr>
                      <a:r>
                        <a:rPr b="1" lang="en-US" sz="1000" strike="noStrike" u="none">
                          <a:solidFill>
                            <a:srgbClr val="007a27"/>
                          </a:solidFill>
                          <a:effectLst/>
                          <a:uFillTx/>
                          <a:latin typeface="Calibri"/>
                          <a:ea typeface="Calibri"/>
                        </a:rPr>
                        <a:t>Core platform</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Data quality L1 and L2, audit trail, allocations</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Control plane, calculation governance, analytics</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c>
                  <a:txBody>
                    <a:bodyPr tIns="91440" bIns="91440" anchor="ctr">
                      <a:noAutofit/>
                    </a:bodyPr>
                    <a:p>
                      <a:pPr defTabSz="914400">
                        <a:lnSpc>
                          <a:spcPct val="100000"/>
                        </a:lnSpc>
                        <a:tabLst>
                          <a:tab algn="l" pos="0"/>
                        </a:tabLst>
                      </a:pPr>
                      <a:r>
                        <a:rPr b="0" lang="en-US" sz="1000" strike="noStrike" u="none">
                          <a:solidFill>
                            <a:srgbClr val="1e2420"/>
                          </a:solidFill>
                          <a:effectLst/>
                          <a:uFillTx/>
                          <a:latin typeface="Calibri"/>
                          <a:ea typeface="Calibri"/>
                        </a:rPr>
                        <a:t>DQ scoring, Sera agents, EU hosting</a:t>
                      </a:r>
                      <a:endParaRPr b="0" lang="en-US" sz="1000" strike="noStrike" u="none">
                        <a:solidFill>
                          <a:srgbClr val="000000"/>
                        </a:solidFill>
                        <a:effectLst/>
                        <a:uFillTx/>
                        <a:latin typeface="Arial"/>
                      </a:endParaRPr>
                    </a:p>
                  </a:txBody>
                  <a:tcPr anchor="ctr" marL="91440" marR="91440">
                    <a:lnL w="5040">
                      <a:solidFill>
                        <a:srgbClr val="e2e6e2"/>
                      </a:solidFill>
                      <a:prstDash val="solid"/>
                    </a:lnL>
                    <a:lnR w="5040">
                      <a:solidFill>
                        <a:srgbClr val="e2e6e2"/>
                      </a:solidFill>
                      <a:prstDash val="solid"/>
                    </a:lnR>
                    <a:lnT w="5040">
                      <a:solidFill>
                        <a:srgbClr val="e2e6e2"/>
                      </a:solidFill>
                      <a:prstDash val="solid"/>
                    </a:lnT>
                    <a:lnB w="5040">
                      <a:solidFill>
                        <a:srgbClr val="e2e6e2"/>
                      </a:solidFill>
                      <a:prstDash val="solid"/>
                    </a:lnB>
                    <a:solidFill>
                      <a:srgbClr val="f7f8f7"/>
                    </a:solidFill>
                  </a:tcPr>
                </a:tc>
              </a:tr>
            </a:tbl>
          </a:graphicData>
        </a:graphic>
      </p:graphicFrame>
      <p:sp>
        <p:nvSpPr>
          <p:cNvPr id="2602" name="Shape 7"/>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603" name="Text 8"/>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2604" name="Text 9"/>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2605" name="PlaceHolder 1"/>
          <p:cNvSpPr>
            <a:spLocks noGrp="1"/>
          </p:cNvSpPr>
          <p:nvPr>
            <p:ph type="sldNum" idx="59"/>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416D1812-3C51-4C87-822E-989E5A7942B5}"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6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5730"/>
        </a:solidFill>
      </p:bgPr>
    </p:bg>
    <p:spTree>
      <p:nvGrpSpPr>
        <p:cNvPr id="1" name=""/>
        <p:cNvGrpSpPr/>
        <p:nvPr/>
      </p:nvGrpSpPr>
      <p:grpSpPr>
        <a:xfrm>
          <a:off x="0" y="0"/>
          <a:ext cx="0" cy="0"/>
          <a:chOff x="0" y="0"/>
          <a:chExt cx="0" cy="0"/>
        </a:xfrm>
      </p:grpSpPr>
      <p:sp>
        <p:nvSpPr>
          <p:cNvPr id="2606"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2607"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2608" name="Shape 2"/>
          <p:cNvSpPr/>
          <p:nvPr/>
        </p:nvSpPr>
        <p:spPr>
          <a:xfrm>
            <a:off x="8641080" y="822960"/>
            <a:ext cx="360" cy="5212080"/>
          </a:xfrm>
          <a:prstGeom prst="line">
            <a:avLst/>
          </a:prstGeom>
          <a:ln w="12700">
            <a:solidFill>
              <a:srgbClr val="2c8058"/>
            </a:solidFill>
            <a:round/>
          </a:ln>
        </p:spPr>
        <p:style>
          <a:lnRef idx="0"/>
          <a:fillRef idx="0"/>
          <a:effectRef idx="0"/>
          <a:fontRef idx="minor"/>
        </p:style>
        <p:txBody>
          <a:bodyPr lIns="90000" rIns="90000" tIns="45000" bIns="45000" anchor="t" anchorCtr="1">
            <a:noAutofit/>
          </a:bodyPr>
          <a:p>
            <a:endParaRPr b="0" lang="en-US" sz="1800" strike="noStrike" u="none">
              <a:solidFill>
                <a:srgbClr val="ffffff"/>
              </a:solidFill>
              <a:effectLst/>
              <a:uFillTx/>
              <a:latin typeface="Arial"/>
            </a:endParaRPr>
          </a:p>
        </p:txBody>
      </p:sp>
      <p:sp>
        <p:nvSpPr>
          <p:cNvPr id="2609" name="Text 3"/>
          <p:cNvSpPr/>
          <p:nvPr/>
        </p:nvSpPr>
        <p:spPr>
          <a:xfrm>
            <a:off x="9144000" y="841320"/>
            <a:ext cx="2194200" cy="22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81" strike="noStrike" u="none">
                <a:solidFill>
                  <a:srgbClr val="bfe6ce"/>
                </a:solidFill>
                <a:effectLst/>
                <a:uFillTx/>
                <a:latin typeface="Calibri"/>
                <a:ea typeface="Calibri"/>
              </a:rPr>
              <a:t>RA+ ROADMAP</a:t>
            </a:r>
            <a:endParaRPr b="0" lang="en-US" sz="900" strike="noStrike" u="none">
              <a:solidFill>
                <a:srgbClr val="ffffff"/>
              </a:solidFill>
              <a:effectLst/>
              <a:uFillTx/>
              <a:latin typeface="Arial"/>
            </a:endParaRPr>
          </a:p>
        </p:txBody>
      </p:sp>
      <p:sp>
        <p:nvSpPr>
          <p:cNvPr id="2610" name="Text 4"/>
          <p:cNvSpPr/>
          <p:nvPr/>
        </p:nvSpPr>
        <p:spPr>
          <a:xfrm>
            <a:off x="9144000" y="1325880"/>
            <a:ext cx="2194200" cy="1462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3600" strike="noStrike" u="none">
                <a:solidFill>
                  <a:srgbClr val="ffffff"/>
                </a:solidFill>
                <a:effectLst/>
                <a:uFillTx/>
                <a:latin typeface="Calibri"/>
                <a:ea typeface="Calibri"/>
              </a:rPr>
              <a:t>2026</a:t>
            </a:r>
            <a:endParaRPr b="0" lang="en-US" sz="3600" strike="noStrike" u="none">
              <a:solidFill>
                <a:srgbClr val="ffffff"/>
              </a:solidFill>
              <a:effectLst/>
              <a:uFillTx/>
              <a:latin typeface="Arial"/>
            </a:endParaRPr>
          </a:p>
          <a:p>
            <a:pPr defTabSz="914400">
              <a:lnSpc>
                <a:spcPct val="100000"/>
              </a:lnSpc>
              <a:tabLst>
                <a:tab algn="l" pos="0"/>
              </a:tabLst>
            </a:pPr>
            <a:r>
              <a:rPr b="1" lang="en-US" sz="3600" strike="noStrike" u="none">
                <a:solidFill>
                  <a:srgbClr val="ffffff"/>
                </a:solidFill>
                <a:effectLst/>
                <a:uFillTx/>
                <a:latin typeface="Calibri"/>
                <a:ea typeface="Calibri"/>
              </a:rPr>
              <a:t>2027</a:t>
            </a:r>
            <a:endParaRPr b="0" lang="en-US" sz="3600" strike="noStrike" u="none">
              <a:solidFill>
                <a:srgbClr val="ffffff"/>
              </a:solidFill>
              <a:effectLst/>
              <a:uFillTx/>
              <a:latin typeface="Arial"/>
            </a:endParaRPr>
          </a:p>
        </p:txBody>
      </p:sp>
      <p:sp>
        <p:nvSpPr>
          <p:cNvPr id="2611" name="Text 5"/>
          <p:cNvSpPr/>
          <p:nvPr/>
        </p:nvSpPr>
        <p:spPr>
          <a:xfrm>
            <a:off x="621720" y="960120"/>
            <a:ext cx="71319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221" strike="noStrike" u="none">
                <a:solidFill>
                  <a:srgbClr val="bfe6ce"/>
                </a:solidFill>
                <a:effectLst/>
                <a:uFillTx/>
                <a:latin typeface="Calibri"/>
                <a:ea typeface="Calibri"/>
              </a:rPr>
              <a:t>APPENDIX</a:t>
            </a:r>
            <a:endParaRPr b="0" lang="en-US" sz="1100" strike="noStrike" u="none">
              <a:solidFill>
                <a:srgbClr val="ffffff"/>
              </a:solidFill>
              <a:effectLst/>
              <a:uFillTx/>
              <a:latin typeface="Arial"/>
            </a:endParaRPr>
          </a:p>
        </p:txBody>
      </p:sp>
      <p:sp>
        <p:nvSpPr>
          <p:cNvPr id="2612" name="Text 6"/>
          <p:cNvSpPr/>
          <p:nvPr/>
        </p:nvSpPr>
        <p:spPr>
          <a:xfrm>
            <a:off x="621720" y="1508760"/>
            <a:ext cx="191988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5800" strike="noStrike" u="none">
                <a:solidFill>
                  <a:srgbClr val="3dcd58"/>
                </a:solidFill>
                <a:effectLst/>
                <a:uFillTx/>
                <a:latin typeface="Calibri"/>
                <a:ea typeface="Calibri"/>
              </a:rPr>
              <a:t>A</a:t>
            </a:r>
            <a:endParaRPr b="0" lang="en-US" sz="5800" strike="noStrike" u="none">
              <a:solidFill>
                <a:srgbClr val="ffffff"/>
              </a:solidFill>
              <a:effectLst/>
              <a:uFillTx/>
              <a:latin typeface="Arial"/>
            </a:endParaRPr>
          </a:p>
        </p:txBody>
      </p:sp>
      <p:sp>
        <p:nvSpPr>
          <p:cNvPr id="2613" name="Text 7"/>
          <p:cNvSpPr/>
          <p:nvPr/>
        </p:nvSpPr>
        <p:spPr>
          <a:xfrm>
            <a:off x="621720" y="2606040"/>
            <a:ext cx="7406280" cy="11426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ffffff"/>
                </a:solidFill>
                <a:effectLst/>
                <a:uFillTx/>
                <a:latin typeface="Calibri"/>
                <a:ea typeface="Calibri"/>
              </a:rPr>
              <a:t>Appendix: product detail</a:t>
            </a:r>
            <a:endParaRPr b="0" lang="en-US" sz="3200" strike="noStrike" u="none">
              <a:solidFill>
                <a:srgbClr val="ffffff"/>
              </a:solidFill>
              <a:effectLst/>
              <a:uFillTx/>
              <a:latin typeface="Arial"/>
            </a:endParaRPr>
          </a:p>
        </p:txBody>
      </p:sp>
      <p:sp>
        <p:nvSpPr>
          <p:cNvPr id="2614" name="Text 8"/>
          <p:cNvSpPr/>
          <p:nvPr/>
        </p:nvSpPr>
        <p:spPr>
          <a:xfrm>
            <a:off x="621720" y="4005000"/>
            <a:ext cx="704052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400" strike="noStrike" u="none">
                <a:solidFill>
                  <a:srgbClr val="d6eadf"/>
                </a:solidFill>
                <a:effectLst/>
                <a:uFillTx/>
                <a:latin typeface="Calibri"/>
                <a:ea typeface="Calibri"/>
              </a:rPr>
              <a:t>Detailed product by product plans, evidence and sequencing. Available for questions, not required for the decision.</a:t>
            </a:r>
            <a:endParaRPr b="0" lang="en-US" sz="14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6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5730"/>
        </a:solidFill>
      </p:bgPr>
    </p:bg>
    <p:spTree>
      <p:nvGrpSpPr>
        <p:cNvPr id="1" name=""/>
        <p:cNvGrpSpPr/>
        <p:nvPr/>
      </p:nvGrpSpPr>
      <p:grpSpPr>
        <a:xfrm>
          <a:off x="0" y="0"/>
          <a:ext cx="0" cy="0"/>
          <a:chOff x="0" y="0"/>
          <a:chExt cx="0" cy="0"/>
        </a:xfrm>
      </p:grpSpPr>
      <p:sp>
        <p:nvSpPr>
          <p:cNvPr id="2615"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2616"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2617" name="Shape 2"/>
          <p:cNvSpPr/>
          <p:nvPr/>
        </p:nvSpPr>
        <p:spPr>
          <a:xfrm>
            <a:off x="8641080" y="822960"/>
            <a:ext cx="360" cy="5212080"/>
          </a:xfrm>
          <a:prstGeom prst="line">
            <a:avLst/>
          </a:prstGeom>
          <a:ln w="12700">
            <a:solidFill>
              <a:srgbClr val="2c8058"/>
            </a:solidFill>
            <a:round/>
          </a:ln>
        </p:spPr>
        <p:style>
          <a:lnRef idx="0"/>
          <a:fillRef idx="0"/>
          <a:effectRef idx="0"/>
          <a:fontRef idx="minor"/>
        </p:style>
        <p:txBody>
          <a:bodyPr lIns="90000" rIns="90000" tIns="45000" bIns="45000" anchor="t" anchorCtr="1">
            <a:noAutofit/>
          </a:bodyPr>
          <a:p>
            <a:endParaRPr b="0" lang="en-US" sz="1800" strike="noStrike" u="none">
              <a:solidFill>
                <a:srgbClr val="ffffff"/>
              </a:solidFill>
              <a:effectLst/>
              <a:uFillTx/>
              <a:latin typeface="Arial"/>
            </a:endParaRPr>
          </a:p>
        </p:txBody>
      </p:sp>
      <p:sp>
        <p:nvSpPr>
          <p:cNvPr id="2618" name="Text 3"/>
          <p:cNvSpPr/>
          <p:nvPr/>
        </p:nvSpPr>
        <p:spPr>
          <a:xfrm>
            <a:off x="9144000" y="841320"/>
            <a:ext cx="2194200" cy="22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81" strike="noStrike" u="none">
                <a:solidFill>
                  <a:srgbClr val="bfe6ce"/>
                </a:solidFill>
                <a:effectLst/>
                <a:uFillTx/>
                <a:latin typeface="Calibri"/>
                <a:ea typeface="Calibri"/>
              </a:rPr>
              <a:t>RA+ ROADMAP</a:t>
            </a:r>
            <a:endParaRPr b="0" lang="en-US" sz="900" strike="noStrike" u="none">
              <a:solidFill>
                <a:srgbClr val="ffffff"/>
              </a:solidFill>
              <a:effectLst/>
              <a:uFillTx/>
              <a:latin typeface="Arial"/>
            </a:endParaRPr>
          </a:p>
        </p:txBody>
      </p:sp>
      <p:sp>
        <p:nvSpPr>
          <p:cNvPr id="2619" name="Text 4"/>
          <p:cNvSpPr/>
          <p:nvPr/>
        </p:nvSpPr>
        <p:spPr>
          <a:xfrm>
            <a:off x="9144000" y="1325880"/>
            <a:ext cx="2194200" cy="1462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3600" strike="noStrike" u="none">
                <a:solidFill>
                  <a:srgbClr val="ffffff"/>
                </a:solidFill>
                <a:effectLst/>
                <a:uFillTx/>
                <a:latin typeface="Calibri"/>
                <a:ea typeface="Calibri"/>
              </a:rPr>
              <a:t>2026</a:t>
            </a:r>
            <a:endParaRPr b="0" lang="en-US" sz="3600" strike="noStrike" u="none">
              <a:solidFill>
                <a:srgbClr val="ffffff"/>
              </a:solidFill>
              <a:effectLst/>
              <a:uFillTx/>
              <a:latin typeface="Arial"/>
            </a:endParaRPr>
          </a:p>
          <a:p>
            <a:pPr defTabSz="914400">
              <a:lnSpc>
                <a:spcPct val="100000"/>
              </a:lnSpc>
              <a:tabLst>
                <a:tab algn="l" pos="0"/>
              </a:tabLst>
            </a:pPr>
            <a:r>
              <a:rPr b="1" lang="en-US" sz="3600" strike="noStrike" u="none">
                <a:solidFill>
                  <a:srgbClr val="ffffff"/>
                </a:solidFill>
                <a:effectLst/>
                <a:uFillTx/>
                <a:latin typeface="Calibri"/>
                <a:ea typeface="Calibri"/>
              </a:rPr>
              <a:t>2027</a:t>
            </a:r>
            <a:endParaRPr b="0" lang="en-US" sz="3600" strike="noStrike" u="none">
              <a:solidFill>
                <a:srgbClr val="ffffff"/>
              </a:solidFill>
              <a:effectLst/>
              <a:uFillTx/>
              <a:latin typeface="Arial"/>
            </a:endParaRPr>
          </a:p>
        </p:txBody>
      </p:sp>
      <p:sp>
        <p:nvSpPr>
          <p:cNvPr id="2620" name="Text 5"/>
          <p:cNvSpPr/>
          <p:nvPr/>
        </p:nvSpPr>
        <p:spPr>
          <a:xfrm>
            <a:off x="621720" y="960120"/>
            <a:ext cx="71319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221" strike="noStrike" u="none">
                <a:solidFill>
                  <a:srgbClr val="bfe6ce"/>
                </a:solidFill>
                <a:effectLst/>
                <a:uFillTx/>
                <a:latin typeface="Calibri"/>
                <a:ea typeface="Calibri"/>
              </a:rPr>
              <a:t>AGENDA ITEM 1</a:t>
            </a:r>
            <a:endParaRPr b="0" lang="en-US" sz="1100" strike="noStrike" u="none">
              <a:solidFill>
                <a:srgbClr val="ffffff"/>
              </a:solidFill>
              <a:effectLst/>
              <a:uFillTx/>
              <a:latin typeface="Arial"/>
            </a:endParaRPr>
          </a:p>
        </p:txBody>
      </p:sp>
      <p:sp>
        <p:nvSpPr>
          <p:cNvPr id="2621" name="Text 6"/>
          <p:cNvSpPr/>
          <p:nvPr/>
        </p:nvSpPr>
        <p:spPr>
          <a:xfrm>
            <a:off x="621720" y="1508760"/>
            <a:ext cx="191988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5800" strike="noStrike" u="none">
                <a:solidFill>
                  <a:srgbClr val="3dcd58"/>
                </a:solidFill>
                <a:effectLst/>
                <a:uFillTx/>
                <a:latin typeface="Calibri"/>
                <a:ea typeface="Calibri"/>
              </a:rPr>
              <a:t>01</a:t>
            </a:r>
            <a:endParaRPr b="0" lang="en-US" sz="5800" strike="noStrike" u="none">
              <a:solidFill>
                <a:srgbClr val="ffffff"/>
              </a:solidFill>
              <a:effectLst/>
              <a:uFillTx/>
              <a:latin typeface="Arial"/>
            </a:endParaRPr>
          </a:p>
        </p:txBody>
      </p:sp>
      <p:sp>
        <p:nvSpPr>
          <p:cNvPr id="2622" name="Text 7"/>
          <p:cNvSpPr/>
          <p:nvPr/>
        </p:nvSpPr>
        <p:spPr>
          <a:xfrm>
            <a:off x="621720" y="2606040"/>
            <a:ext cx="7406280" cy="11426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ffffff"/>
                </a:solidFill>
                <a:effectLst/>
                <a:uFillTx/>
                <a:latin typeface="Calibri"/>
                <a:ea typeface="Calibri"/>
              </a:rPr>
              <a:t>Where Carbon Performance stands</a:t>
            </a:r>
            <a:endParaRPr b="0" lang="en-US" sz="3200" strike="noStrike" u="none">
              <a:solidFill>
                <a:srgbClr val="ffffff"/>
              </a:solidFill>
              <a:effectLst/>
              <a:uFillTx/>
              <a:latin typeface="Arial"/>
            </a:endParaRPr>
          </a:p>
        </p:txBody>
      </p:sp>
      <p:sp>
        <p:nvSpPr>
          <p:cNvPr id="2623" name="Text 8"/>
          <p:cNvSpPr/>
          <p:nvPr/>
        </p:nvSpPr>
        <p:spPr>
          <a:xfrm>
            <a:off x="621720" y="4005000"/>
            <a:ext cx="704052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400" strike="noStrike" u="none">
                <a:solidFill>
                  <a:srgbClr val="d6eadf"/>
                </a:solidFill>
                <a:effectLst/>
                <a:uFillTx/>
                <a:latin typeface="Calibri"/>
                <a:ea typeface="Calibri"/>
              </a:rPr>
              <a:t>Honest accounting of Q3 before we commit anything for Q4 and 2027.</a:t>
            </a:r>
            <a:endParaRPr b="0" lang="en-US" sz="14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6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624"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2625"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2626" name="Shape 2"/>
          <p:cNvSpPr/>
          <p:nvPr/>
        </p:nvSpPr>
        <p:spPr>
          <a:xfrm>
            <a:off x="621720" y="311040"/>
            <a:ext cx="302616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27" name="Text 3"/>
          <p:cNvSpPr/>
          <p:nvPr/>
        </p:nvSpPr>
        <p:spPr>
          <a:xfrm>
            <a:off x="804600" y="329040"/>
            <a:ext cx="269712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CARBON PERFORMANCE, 2026</a:t>
            </a:r>
            <a:endParaRPr b="0" lang="en-US" sz="950" strike="noStrike" u="none">
              <a:solidFill>
                <a:srgbClr val="000000"/>
              </a:solidFill>
              <a:effectLst/>
              <a:uFillTx/>
              <a:latin typeface="Arial"/>
            </a:endParaRPr>
          </a:p>
        </p:txBody>
      </p:sp>
      <p:sp>
        <p:nvSpPr>
          <p:cNvPr id="2628"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Deepen the inventory in 2026</a:t>
            </a:r>
            <a:endParaRPr b="0" lang="en-US" sz="3200" strike="noStrike" u="none">
              <a:solidFill>
                <a:srgbClr val="000000"/>
              </a:solidFill>
              <a:effectLst/>
              <a:uFillTx/>
              <a:latin typeface="Arial"/>
            </a:endParaRPr>
          </a:p>
        </p:txBody>
      </p:sp>
      <p:sp>
        <p:nvSpPr>
          <p:cNvPr id="2629"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Emission factor and calculation depth first. Sequenced from the ranked theme list and the delivery capacity we actually hold.</a:t>
            </a:r>
            <a:endParaRPr b="0" lang="en-US" sz="1250" strike="noStrike" u="none">
              <a:solidFill>
                <a:srgbClr val="000000"/>
              </a:solidFill>
              <a:effectLst/>
              <a:uFillTx/>
              <a:latin typeface="Arial"/>
            </a:endParaRPr>
          </a:p>
        </p:txBody>
      </p:sp>
      <p:sp>
        <p:nvSpPr>
          <p:cNvPr id="2630"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631" name="Shape 7"/>
          <p:cNvSpPr/>
          <p:nvPr/>
        </p:nvSpPr>
        <p:spPr>
          <a:xfrm>
            <a:off x="621720" y="2084760"/>
            <a:ext cx="5345640" cy="4178520"/>
          </a:xfrm>
          <a:prstGeom prst="roundRect">
            <a:avLst>
              <a:gd name="adj" fmla="val 131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32" name="Shape 8"/>
          <p:cNvSpPr/>
          <p:nvPr/>
        </p:nvSpPr>
        <p:spPr>
          <a:xfrm>
            <a:off x="621720" y="2084760"/>
            <a:ext cx="5345640" cy="712800"/>
          </a:xfrm>
          <a:prstGeom prst="rect">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33" name="Shape 9"/>
          <p:cNvSpPr/>
          <p:nvPr/>
        </p:nvSpPr>
        <p:spPr>
          <a:xfrm>
            <a:off x="621720" y="2084760"/>
            <a:ext cx="54360" cy="41785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34" name="Text 10"/>
          <p:cNvSpPr/>
          <p:nvPr/>
        </p:nvSpPr>
        <p:spPr>
          <a:xfrm>
            <a:off x="804600" y="2176200"/>
            <a:ext cx="501660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3dcd58"/>
                </a:solidFill>
                <a:effectLst/>
                <a:uFillTx/>
                <a:latin typeface="Calibri"/>
                <a:ea typeface="Calibri"/>
              </a:rPr>
              <a:t>NOW</a:t>
            </a:r>
            <a:endParaRPr b="0" lang="en-US" sz="850" strike="noStrike" u="none">
              <a:solidFill>
                <a:srgbClr val="000000"/>
              </a:solidFill>
              <a:effectLst/>
              <a:uFillTx/>
              <a:latin typeface="Arial"/>
            </a:endParaRPr>
          </a:p>
        </p:txBody>
      </p:sp>
      <p:sp>
        <p:nvSpPr>
          <p:cNvPr id="2635" name="Text 11"/>
          <p:cNvSpPr/>
          <p:nvPr/>
        </p:nvSpPr>
        <p:spPr>
          <a:xfrm>
            <a:off x="804600" y="2423160"/>
            <a:ext cx="501660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Q3 2026</a:t>
            </a:r>
            <a:endParaRPr b="0" lang="en-US" sz="1400" strike="noStrike" u="none">
              <a:solidFill>
                <a:srgbClr val="000000"/>
              </a:solidFill>
              <a:effectLst/>
              <a:uFillTx/>
              <a:latin typeface="Arial"/>
            </a:endParaRPr>
          </a:p>
        </p:txBody>
      </p:sp>
      <p:sp>
        <p:nvSpPr>
          <p:cNvPr id="2636" name="Shape 12"/>
          <p:cNvSpPr/>
          <p:nvPr/>
        </p:nvSpPr>
        <p:spPr>
          <a:xfrm>
            <a:off x="758880" y="2953440"/>
            <a:ext cx="5071320" cy="375840"/>
          </a:xfrm>
          <a:prstGeom prst="roundRect">
            <a:avLst>
              <a:gd name="adj" fmla="val 7292"/>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37" name="Text 13"/>
          <p:cNvSpPr/>
          <p:nvPr/>
        </p:nvSpPr>
        <p:spPr>
          <a:xfrm>
            <a:off x="822960" y="2953440"/>
            <a:ext cx="4943520" cy="37584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Sold product emissions</a:t>
            </a:r>
            <a:endParaRPr b="0" lang="en-US" sz="1000" strike="noStrike" u="none">
              <a:solidFill>
                <a:srgbClr val="000000"/>
              </a:solidFill>
              <a:effectLst/>
              <a:uFillTx/>
              <a:latin typeface="Arial"/>
            </a:endParaRPr>
          </a:p>
          <a:p>
            <a:pPr defTabSz="914400">
              <a:lnSpc>
                <a:spcPct val="95000"/>
              </a:lnSpc>
              <a:tabLst>
                <a:tab algn="l" pos="0"/>
              </a:tabLst>
            </a:pPr>
            <a:r>
              <a:rPr b="0" lang="en-US" sz="850" strike="noStrike" u="none">
                <a:solidFill>
                  <a:srgbClr val="5a625c"/>
                </a:solidFill>
                <a:effectLst/>
                <a:uFillTx/>
                <a:latin typeface="Calibri"/>
                <a:ea typeface="Calibri"/>
              </a:rPr>
              <a:t>Scope 3 categories 10, 11, 12</a:t>
            </a:r>
            <a:endParaRPr b="0" lang="en-US" sz="850" strike="noStrike" u="none">
              <a:solidFill>
                <a:srgbClr val="000000"/>
              </a:solidFill>
              <a:effectLst/>
              <a:uFillTx/>
              <a:latin typeface="Arial"/>
            </a:endParaRPr>
          </a:p>
        </p:txBody>
      </p:sp>
      <p:sp>
        <p:nvSpPr>
          <p:cNvPr id="2638" name="Shape 14"/>
          <p:cNvSpPr/>
          <p:nvPr/>
        </p:nvSpPr>
        <p:spPr>
          <a:xfrm>
            <a:off x="758880" y="3402720"/>
            <a:ext cx="5071320" cy="375840"/>
          </a:xfrm>
          <a:prstGeom prst="roundRect">
            <a:avLst>
              <a:gd name="adj" fmla="val 7292"/>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39" name="Text 15"/>
          <p:cNvSpPr/>
          <p:nvPr/>
        </p:nvSpPr>
        <p:spPr>
          <a:xfrm>
            <a:off x="822960" y="3402720"/>
            <a:ext cx="4943520" cy="37584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System admin improvements</a:t>
            </a:r>
            <a:endParaRPr b="0" lang="en-US" sz="1000" strike="noStrike" u="none">
              <a:solidFill>
                <a:srgbClr val="000000"/>
              </a:solidFill>
              <a:effectLst/>
              <a:uFillTx/>
              <a:latin typeface="Arial"/>
            </a:endParaRPr>
          </a:p>
          <a:p>
            <a:pPr defTabSz="914400">
              <a:lnSpc>
                <a:spcPct val="95000"/>
              </a:lnSpc>
              <a:tabLst>
                <a:tab algn="l" pos="0"/>
              </a:tabLst>
            </a:pPr>
            <a:r>
              <a:rPr b="0" lang="en-US" sz="850" strike="noStrike" u="none">
                <a:solidFill>
                  <a:srgbClr val="5a625c"/>
                </a:solidFill>
                <a:effectLst/>
                <a:uFillTx/>
                <a:latin typeface="Calibri"/>
                <a:ea typeface="Calibri"/>
              </a:rPr>
              <a:t>Config engine, calc methods, templates</a:t>
            </a:r>
            <a:endParaRPr b="0" lang="en-US" sz="850" strike="noStrike" u="none">
              <a:solidFill>
                <a:srgbClr val="000000"/>
              </a:solidFill>
              <a:effectLst/>
              <a:uFillTx/>
              <a:latin typeface="Arial"/>
            </a:endParaRPr>
          </a:p>
        </p:txBody>
      </p:sp>
      <p:sp>
        <p:nvSpPr>
          <p:cNvPr id="2640" name="Shape 16"/>
          <p:cNvSpPr/>
          <p:nvPr/>
        </p:nvSpPr>
        <p:spPr>
          <a:xfrm>
            <a:off x="758880" y="3852360"/>
            <a:ext cx="5071320" cy="375840"/>
          </a:xfrm>
          <a:prstGeom prst="roundRect">
            <a:avLst>
              <a:gd name="adj" fmla="val 7292"/>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41" name="Text 17"/>
          <p:cNvSpPr/>
          <p:nvPr/>
        </p:nvSpPr>
        <p:spPr>
          <a:xfrm>
            <a:off x="822960" y="3852360"/>
            <a:ext cx="4943520" cy="37584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Inventory revamp</a:t>
            </a:r>
            <a:endParaRPr b="0" lang="en-US" sz="1000" strike="noStrike" u="none">
              <a:solidFill>
                <a:srgbClr val="000000"/>
              </a:solidFill>
              <a:effectLst/>
              <a:uFillTx/>
              <a:latin typeface="Arial"/>
            </a:endParaRPr>
          </a:p>
          <a:p>
            <a:pPr defTabSz="914400">
              <a:lnSpc>
                <a:spcPct val="95000"/>
              </a:lnSpc>
              <a:tabLst>
                <a:tab algn="l" pos="0"/>
              </a:tabLst>
            </a:pPr>
            <a:r>
              <a:rPr b="0" lang="en-US" sz="850" strike="noStrike" u="none">
                <a:solidFill>
                  <a:srgbClr val="5a625c"/>
                </a:solidFill>
                <a:effectLst/>
                <a:uFillTx/>
                <a:latin typeface="Calibri"/>
                <a:ea typeface="Calibri"/>
              </a:rPr>
              <a:t>Clarity, per gas breakdown</a:t>
            </a:r>
            <a:endParaRPr b="0" lang="en-US" sz="850" strike="noStrike" u="none">
              <a:solidFill>
                <a:srgbClr val="000000"/>
              </a:solidFill>
              <a:effectLst/>
              <a:uFillTx/>
              <a:latin typeface="Arial"/>
            </a:endParaRPr>
          </a:p>
        </p:txBody>
      </p:sp>
      <p:sp>
        <p:nvSpPr>
          <p:cNvPr id="2642" name="Shape 18"/>
          <p:cNvSpPr/>
          <p:nvPr/>
        </p:nvSpPr>
        <p:spPr>
          <a:xfrm>
            <a:off x="758880" y="4301640"/>
            <a:ext cx="5071320" cy="375840"/>
          </a:xfrm>
          <a:prstGeom prst="roundRect">
            <a:avLst>
              <a:gd name="adj" fmla="val 7292"/>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43" name="Text 19"/>
          <p:cNvSpPr/>
          <p:nvPr/>
        </p:nvSpPr>
        <p:spPr>
          <a:xfrm>
            <a:off x="822960" y="4301640"/>
            <a:ext cx="4943520" cy="37584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Pre-calculated emissions import</a:t>
            </a:r>
            <a:endParaRPr b="0" lang="en-US" sz="1000" strike="noStrike" u="none">
              <a:solidFill>
                <a:srgbClr val="000000"/>
              </a:solidFill>
              <a:effectLst/>
              <a:uFillTx/>
              <a:latin typeface="Arial"/>
            </a:endParaRPr>
          </a:p>
          <a:p>
            <a:pPr defTabSz="914400">
              <a:lnSpc>
                <a:spcPct val="95000"/>
              </a:lnSpc>
              <a:tabLst>
                <a:tab algn="l" pos="0"/>
              </a:tabLst>
            </a:pPr>
            <a:r>
              <a:rPr b="0" lang="en-US" sz="850" strike="noStrike" u="none">
                <a:solidFill>
                  <a:srgbClr val="5a625c"/>
                </a:solidFill>
                <a:effectLst/>
                <a:uFillTx/>
                <a:latin typeface="Calibri"/>
                <a:ea typeface="Calibri"/>
              </a:rPr>
              <a:t>Ingestion of client calculated data</a:t>
            </a:r>
            <a:endParaRPr b="0" lang="en-US" sz="850" strike="noStrike" u="none">
              <a:solidFill>
                <a:srgbClr val="000000"/>
              </a:solidFill>
              <a:effectLst/>
              <a:uFillTx/>
              <a:latin typeface="Arial"/>
            </a:endParaRPr>
          </a:p>
        </p:txBody>
      </p:sp>
      <p:sp>
        <p:nvSpPr>
          <p:cNvPr id="2644" name="Shape 20"/>
          <p:cNvSpPr/>
          <p:nvPr/>
        </p:nvSpPr>
        <p:spPr>
          <a:xfrm>
            <a:off x="6224040" y="2084760"/>
            <a:ext cx="5345640" cy="4178520"/>
          </a:xfrm>
          <a:prstGeom prst="roundRect">
            <a:avLst>
              <a:gd name="adj" fmla="val 131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45" name="Shape 21"/>
          <p:cNvSpPr/>
          <p:nvPr/>
        </p:nvSpPr>
        <p:spPr>
          <a:xfrm>
            <a:off x="6224040" y="2084760"/>
            <a:ext cx="5345640" cy="712800"/>
          </a:xfrm>
          <a:prstGeom prst="rect">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46" name="Shape 22"/>
          <p:cNvSpPr/>
          <p:nvPr/>
        </p:nvSpPr>
        <p:spPr>
          <a:xfrm>
            <a:off x="6224040" y="2084760"/>
            <a:ext cx="54360" cy="4178520"/>
          </a:xfrm>
          <a:prstGeom prst="rect">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647" name="Text 23"/>
          <p:cNvSpPr/>
          <p:nvPr/>
        </p:nvSpPr>
        <p:spPr>
          <a:xfrm>
            <a:off x="6406920" y="2176200"/>
            <a:ext cx="501660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007a27"/>
                </a:solidFill>
                <a:effectLst/>
                <a:uFillTx/>
                <a:latin typeface="Calibri"/>
                <a:ea typeface="Calibri"/>
              </a:rPr>
              <a:t>NEXT</a:t>
            </a:r>
            <a:endParaRPr b="0" lang="en-US" sz="850" strike="noStrike" u="none">
              <a:solidFill>
                <a:srgbClr val="000000"/>
              </a:solidFill>
              <a:effectLst/>
              <a:uFillTx/>
              <a:latin typeface="Arial"/>
            </a:endParaRPr>
          </a:p>
        </p:txBody>
      </p:sp>
      <p:sp>
        <p:nvSpPr>
          <p:cNvPr id="2648" name="Text 24"/>
          <p:cNvSpPr/>
          <p:nvPr/>
        </p:nvSpPr>
        <p:spPr>
          <a:xfrm>
            <a:off x="6406920" y="2423160"/>
            <a:ext cx="501660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Q4 2026</a:t>
            </a:r>
            <a:endParaRPr b="0" lang="en-US" sz="1400" strike="noStrike" u="none">
              <a:solidFill>
                <a:srgbClr val="000000"/>
              </a:solidFill>
              <a:effectLst/>
              <a:uFillTx/>
              <a:latin typeface="Arial"/>
            </a:endParaRPr>
          </a:p>
        </p:txBody>
      </p:sp>
      <p:sp>
        <p:nvSpPr>
          <p:cNvPr id="2649" name="Shape 25"/>
          <p:cNvSpPr/>
          <p:nvPr/>
        </p:nvSpPr>
        <p:spPr>
          <a:xfrm>
            <a:off x="6361200" y="2953440"/>
            <a:ext cx="5071320" cy="375840"/>
          </a:xfrm>
          <a:prstGeom prst="roundRect">
            <a:avLst>
              <a:gd name="adj" fmla="val 7292"/>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50" name="Text 26"/>
          <p:cNvSpPr/>
          <p:nvPr/>
        </p:nvSpPr>
        <p:spPr>
          <a:xfrm>
            <a:off x="6424920" y="2953440"/>
            <a:ext cx="4943520" cy="37584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EAC and PPA management</a:t>
            </a:r>
            <a:endParaRPr b="0" lang="en-US" sz="1000" strike="noStrike" u="none">
              <a:solidFill>
                <a:srgbClr val="000000"/>
              </a:solidFill>
              <a:effectLst/>
              <a:uFillTx/>
              <a:latin typeface="Arial"/>
            </a:endParaRPr>
          </a:p>
          <a:p>
            <a:pPr defTabSz="914400">
              <a:lnSpc>
                <a:spcPct val="95000"/>
              </a:lnSpc>
              <a:tabLst>
                <a:tab algn="l" pos="0"/>
              </a:tabLst>
            </a:pPr>
            <a:r>
              <a:rPr b="0" lang="en-US" sz="850" strike="noStrike" u="none">
                <a:solidFill>
                  <a:srgbClr val="5a625c"/>
                </a:solidFill>
                <a:effectLst/>
                <a:uFillTx/>
                <a:latin typeface="Calibri"/>
                <a:ea typeface="Calibri"/>
              </a:rPr>
              <a:t>Market based Scope 2 coverage</a:t>
            </a:r>
            <a:endParaRPr b="0" lang="en-US" sz="850" strike="noStrike" u="none">
              <a:solidFill>
                <a:srgbClr val="000000"/>
              </a:solidFill>
              <a:effectLst/>
              <a:uFillTx/>
              <a:latin typeface="Arial"/>
            </a:endParaRPr>
          </a:p>
        </p:txBody>
      </p:sp>
      <p:sp>
        <p:nvSpPr>
          <p:cNvPr id="2651" name="Shape 27"/>
          <p:cNvSpPr/>
          <p:nvPr/>
        </p:nvSpPr>
        <p:spPr>
          <a:xfrm>
            <a:off x="6361200" y="3402720"/>
            <a:ext cx="5071320" cy="375840"/>
          </a:xfrm>
          <a:prstGeom prst="roundRect">
            <a:avLst>
              <a:gd name="adj" fmla="val 7292"/>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52" name="Text 28"/>
          <p:cNvSpPr/>
          <p:nvPr/>
        </p:nvSpPr>
        <p:spPr>
          <a:xfrm>
            <a:off x="6424920" y="3402720"/>
            <a:ext cx="4943520" cy="37584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Base year, exclusions, materiality</a:t>
            </a:r>
            <a:endParaRPr b="0" lang="en-US" sz="950" strike="noStrike" u="none">
              <a:solidFill>
                <a:srgbClr val="000000"/>
              </a:solidFill>
              <a:effectLst/>
              <a:uFillTx/>
              <a:latin typeface="Arial"/>
            </a:endParaRPr>
          </a:p>
          <a:p>
            <a:pPr defTabSz="914400">
              <a:lnSpc>
                <a:spcPct val="95000"/>
              </a:lnSpc>
              <a:tabLst>
                <a:tab algn="l" pos="0"/>
              </a:tabLst>
            </a:pPr>
            <a:r>
              <a:rPr b="0" lang="en-US" sz="800" strike="noStrike" u="none">
                <a:solidFill>
                  <a:srgbClr val="5a625c"/>
                </a:solidFill>
                <a:effectLst/>
                <a:uFillTx/>
                <a:latin typeface="Calibri"/>
                <a:ea typeface="Calibri"/>
              </a:rPr>
              <a:t>GHGP compliant boundaries</a:t>
            </a:r>
            <a:endParaRPr b="0" lang="en-US" sz="800" strike="noStrike" u="none">
              <a:solidFill>
                <a:srgbClr val="000000"/>
              </a:solidFill>
              <a:effectLst/>
              <a:uFillTx/>
              <a:latin typeface="Arial"/>
            </a:endParaRPr>
          </a:p>
        </p:txBody>
      </p:sp>
      <p:sp>
        <p:nvSpPr>
          <p:cNvPr id="2653" name="Shape 29"/>
          <p:cNvSpPr/>
          <p:nvPr/>
        </p:nvSpPr>
        <p:spPr>
          <a:xfrm>
            <a:off x="6361200" y="3852360"/>
            <a:ext cx="5071320" cy="375840"/>
          </a:xfrm>
          <a:prstGeom prst="roundRect">
            <a:avLst>
              <a:gd name="adj" fmla="val 7292"/>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54" name="Text 30"/>
          <p:cNvSpPr/>
          <p:nvPr/>
        </p:nvSpPr>
        <p:spPr>
          <a:xfrm>
            <a:off x="6424920" y="3852360"/>
            <a:ext cx="4943520" cy="37584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Thermal source attribution</a:t>
            </a:r>
            <a:endParaRPr b="0" lang="en-US" sz="1000" strike="noStrike" u="none">
              <a:solidFill>
                <a:srgbClr val="000000"/>
              </a:solidFill>
              <a:effectLst/>
              <a:uFillTx/>
              <a:latin typeface="Arial"/>
            </a:endParaRPr>
          </a:p>
          <a:p>
            <a:pPr defTabSz="914400">
              <a:lnSpc>
                <a:spcPct val="95000"/>
              </a:lnSpc>
              <a:tabLst>
                <a:tab algn="l" pos="0"/>
              </a:tabLst>
            </a:pPr>
            <a:r>
              <a:rPr b="0" lang="en-US" sz="850" strike="noStrike" u="none">
                <a:solidFill>
                  <a:srgbClr val="5a625c"/>
                </a:solidFill>
                <a:effectLst/>
                <a:uFillTx/>
                <a:latin typeface="Calibri"/>
                <a:ea typeface="Calibri"/>
              </a:rPr>
              <a:t>Defensible Scope 1 and 2 split</a:t>
            </a:r>
            <a:endParaRPr b="0" lang="en-US" sz="850" strike="noStrike" u="none">
              <a:solidFill>
                <a:srgbClr val="000000"/>
              </a:solidFill>
              <a:effectLst/>
              <a:uFillTx/>
              <a:latin typeface="Arial"/>
            </a:endParaRPr>
          </a:p>
        </p:txBody>
      </p:sp>
      <p:sp>
        <p:nvSpPr>
          <p:cNvPr id="2655" name="Shape 31"/>
          <p:cNvSpPr/>
          <p:nvPr/>
        </p:nvSpPr>
        <p:spPr>
          <a:xfrm>
            <a:off x="6361200" y="4301640"/>
            <a:ext cx="5071320" cy="375840"/>
          </a:xfrm>
          <a:prstGeom prst="roundRect">
            <a:avLst>
              <a:gd name="adj" fmla="val 7292"/>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56" name="Text 32"/>
          <p:cNvSpPr/>
          <p:nvPr/>
        </p:nvSpPr>
        <p:spPr>
          <a:xfrm>
            <a:off x="6424920" y="4301640"/>
            <a:ext cx="4943520" cy="37584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Refrigerant leakage to usage</a:t>
            </a:r>
            <a:endParaRPr b="0" lang="en-US" sz="1000" strike="noStrike" u="none">
              <a:solidFill>
                <a:srgbClr val="000000"/>
              </a:solidFill>
              <a:effectLst/>
              <a:uFillTx/>
              <a:latin typeface="Arial"/>
            </a:endParaRPr>
          </a:p>
          <a:p>
            <a:pPr defTabSz="914400">
              <a:lnSpc>
                <a:spcPct val="95000"/>
              </a:lnSpc>
              <a:tabLst>
                <a:tab algn="l" pos="0"/>
              </a:tabLst>
            </a:pPr>
            <a:r>
              <a:rPr b="0" lang="en-US" sz="850" strike="noStrike" u="none">
                <a:solidFill>
                  <a:srgbClr val="5a625c"/>
                </a:solidFill>
                <a:effectLst/>
                <a:uFillTx/>
                <a:latin typeface="Calibri"/>
                <a:ea typeface="Calibri"/>
              </a:rPr>
              <a:t>Scope 1 fugitive emissions</a:t>
            </a:r>
            <a:endParaRPr b="0" lang="en-US" sz="850" strike="noStrike" u="none">
              <a:solidFill>
                <a:srgbClr val="000000"/>
              </a:solidFill>
              <a:effectLst/>
              <a:uFillTx/>
              <a:latin typeface="Arial"/>
            </a:endParaRPr>
          </a:p>
        </p:txBody>
      </p:sp>
      <p:sp>
        <p:nvSpPr>
          <p:cNvPr id="2657" name="Shape 33"/>
          <p:cNvSpPr/>
          <p:nvPr/>
        </p:nvSpPr>
        <p:spPr>
          <a:xfrm>
            <a:off x="6361200" y="4750920"/>
            <a:ext cx="5071320" cy="375840"/>
          </a:xfrm>
          <a:prstGeom prst="roundRect">
            <a:avLst>
              <a:gd name="adj" fmla="val 7292"/>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58" name="Text 34"/>
          <p:cNvSpPr/>
          <p:nvPr/>
        </p:nvSpPr>
        <p:spPr>
          <a:xfrm>
            <a:off x="6424920" y="4750920"/>
            <a:ext cx="4943520" cy="37584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Employee commuting and WFH</a:t>
            </a:r>
            <a:endParaRPr b="0" lang="en-US" sz="1000" strike="noStrike" u="none">
              <a:solidFill>
                <a:srgbClr val="000000"/>
              </a:solidFill>
              <a:effectLst/>
              <a:uFillTx/>
              <a:latin typeface="Arial"/>
            </a:endParaRPr>
          </a:p>
          <a:p>
            <a:pPr defTabSz="914400">
              <a:lnSpc>
                <a:spcPct val="95000"/>
              </a:lnSpc>
              <a:tabLst>
                <a:tab algn="l" pos="0"/>
              </a:tabLst>
            </a:pPr>
            <a:r>
              <a:rPr b="0" lang="en-US" sz="850" strike="noStrike" u="none">
                <a:solidFill>
                  <a:srgbClr val="5a625c"/>
                </a:solidFill>
                <a:effectLst/>
                <a:uFillTx/>
                <a:latin typeface="Calibri"/>
                <a:ea typeface="Calibri"/>
              </a:rPr>
              <a:t>Scope 3 category 7</a:t>
            </a:r>
            <a:endParaRPr b="0" lang="en-US" sz="850" strike="noStrike" u="none">
              <a:solidFill>
                <a:srgbClr val="000000"/>
              </a:solidFill>
              <a:effectLst/>
              <a:uFillTx/>
              <a:latin typeface="Arial"/>
            </a:endParaRPr>
          </a:p>
        </p:txBody>
      </p:sp>
      <p:sp>
        <p:nvSpPr>
          <p:cNvPr id="2659" name="Shape 35"/>
          <p:cNvSpPr/>
          <p:nvPr/>
        </p:nvSpPr>
        <p:spPr>
          <a:xfrm>
            <a:off x="6361200" y="5200200"/>
            <a:ext cx="5071320" cy="375840"/>
          </a:xfrm>
          <a:prstGeom prst="roundRect">
            <a:avLst>
              <a:gd name="adj" fmla="val 7292"/>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60" name="Text 36"/>
          <p:cNvSpPr/>
          <p:nvPr/>
        </p:nvSpPr>
        <p:spPr>
          <a:xfrm>
            <a:off x="6424920" y="5200200"/>
            <a:ext cx="4943520" cy="37584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Sera for carbon inventory</a:t>
            </a:r>
            <a:endParaRPr b="0" lang="en-US" sz="1000" strike="noStrike" u="none">
              <a:solidFill>
                <a:srgbClr val="000000"/>
              </a:solidFill>
              <a:effectLst/>
              <a:uFillTx/>
              <a:latin typeface="Arial"/>
            </a:endParaRPr>
          </a:p>
          <a:p>
            <a:pPr defTabSz="914400">
              <a:lnSpc>
                <a:spcPct val="95000"/>
              </a:lnSpc>
              <a:tabLst>
                <a:tab algn="l" pos="0"/>
              </a:tabLst>
            </a:pPr>
            <a:r>
              <a:rPr b="0" lang="en-US" sz="850" strike="noStrike" u="none">
                <a:solidFill>
                  <a:srgbClr val="5a625c"/>
                </a:solidFill>
                <a:effectLst/>
                <a:uFillTx/>
                <a:latin typeface="Calibri"/>
                <a:ea typeface="Calibri"/>
              </a:rPr>
              <a:t>AI guided troubleshooting</a:t>
            </a:r>
            <a:endParaRPr b="0" lang="en-US" sz="850" strike="noStrike" u="none">
              <a:solidFill>
                <a:srgbClr val="000000"/>
              </a:solidFill>
              <a:effectLst/>
              <a:uFillTx/>
              <a:latin typeface="Arial"/>
            </a:endParaRPr>
          </a:p>
        </p:txBody>
      </p:sp>
      <p:sp>
        <p:nvSpPr>
          <p:cNvPr id="2661" name="Shape 37"/>
          <p:cNvSpPr/>
          <p:nvPr/>
        </p:nvSpPr>
        <p:spPr>
          <a:xfrm>
            <a:off x="6361200" y="5649840"/>
            <a:ext cx="5071320" cy="375840"/>
          </a:xfrm>
          <a:prstGeom prst="roundRect">
            <a:avLst>
              <a:gd name="adj" fmla="val 7292"/>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62" name="Text 38"/>
          <p:cNvSpPr/>
          <p:nvPr/>
        </p:nvSpPr>
        <p:spPr>
          <a:xfrm>
            <a:off x="6424920" y="5649840"/>
            <a:ext cx="4943520" cy="37584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00" strike="noStrike" u="none">
                <a:solidFill>
                  <a:srgbClr val="1e2420"/>
                </a:solidFill>
                <a:effectLst/>
                <a:uFillTx/>
                <a:latin typeface="Calibri"/>
                <a:ea typeface="Calibri"/>
              </a:rPr>
              <a:t>Advanced scenario analysis and decarbonization planning</a:t>
            </a:r>
            <a:endParaRPr b="0" lang="en-US" sz="900" strike="noStrike" u="none">
              <a:solidFill>
                <a:srgbClr val="000000"/>
              </a:solidFill>
              <a:effectLst/>
              <a:uFillTx/>
              <a:latin typeface="Arial"/>
            </a:endParaRPr>
          </a:p>
          <a:p>
            <a:pPr defTabSz="914400">
              <a:lnSpc>
                <a:spcPct val="95000"/>
              </a:lnSpc>
              <a:tabLst>
                <a:tab algn="l" pos="0"/>
              </a:tabLst>
            </a:pPr>
            <a:r>
              <a:rPr b="0" lang="en-US" sz="750" strike="noStrike" u="none">
                <a:solidFill>
                  <a:srgbClr val="5a625c"/>
                </a:solidFill>
                <a:effectLst/>
                <a:uFillTx/>
                <a:latin typeface="Calibri"/>
                <a:ea typeface="Calibri"/>
              </a:rPr>
              <a:t>Initiatives and actions management</a:t>
            </a:r>
            <a:endParaRPr b="0" lang="en-US" sz="750" strike="noStrike" u="none">
              <a:solidFill>
                <a:srgbClr val="000000"/>
              </a:solidFill>
              <a:effectLst/>
              <a:uFillTx/>
              <a:latin typeface="Arial"/>
            </a:endParaRPr>
          </a:p>
        </p:txBody>
      </p:sp>
      <p:sp>
        <p:nvSpPr>
          <p:cNvPr id="2663" name="Shape 39"/>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664" name="Text 40"/>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2665" name="Text 41"/>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2666" name="PlaceHolder 1"/>
          <p:cNvSpPr>
            <a:spLocks noGrp="1"/>
          </p:cNvSpPr>
          <p:nvPr>
            <p:ph type="sldNum" idx="60"/>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1266FE74-BDA5-44BD-ABB0-ACA2A37FA69E}"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6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667"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2668"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2669" name="Shape 2"/>
          <p:cNvSpPr/>
          <p:nvPr/>
        </p:nvSpPr>
        <p:spPr>
          <a:xfrm>
            <a:off x="621720" y="311040"/>
            <a:ext cx="302616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70" name="Text 3"/>
          <p:cNvSpPr/>
          <p:nvPr/>
        </p:nvSpPr>
        <p:spPr>
          <a:xfrm>
            <a:off x="804600" y="329040"/>
            <a:ext cx="269712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CARBON PERFORMANCE, 2027</a:t>
            </a:r>
            <a:endParaRPr b="0" lang="en-US" sz="950" strike="noStrike" u="none">
              <a:solidFill>
                <a:srgbClr val="000000"/>
              </a:solidFill>
              <a:effectLst/>
              <a:uFillTx/>
              <a:latin typeface="Arial"/>
            </a:endParaRPr>
          </a:p>
        </p:txBody>
      </p:sp>
      <p:sp>
        <p:nvSpPr>
          <p:cNvPr id="2671"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Close the remaining categories in 2027</a:t>
            </a:r>
            <a:endParaRPr b="0" lang="en-US" sz="3200" strike="noStrike" u="none">
              <a:solidFill>
                <a:srgbClr val="000000"/>
              </a:solidFill>
              <a:effectLst/>
              <a:uFillTx/>
              <a:latin typeface="Arial"/>
            </a:endParaRPr>
          </a:p>
        </p:txBody>
      </p:sp>
      <p:sp>
        <p:nvSpPr>
          <p:cNvPr id="2672"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Coverage, governance and assurance, building on the 2026 inventory depth.</a:t>
            </a:r>
            <a:endParaRPr b="0" lang="en-US" sz="1250" strike="noStrike" u="none">
              <a:solidFill>
                <a:srgbClr val="000000"/>
              </a:solidFill>
              <a:effectLst/>
              <a:uFillTx/>
              <a:latin typeface="Arial"/>
            </a:endParaRPr>
          </a:p>
        </p:txBody>
      </p:sp>
      <p:sp>
        <p:nvSpPr>
          <p:cNvPr id="2673"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674" name="Shape 7"/>
          <p:cNvSpPr/>
          <p:nvPr/>
        </p:nvSpPr>
        <p:spPr>
          <a:xfrm>
            <a:off x="621720" y="2084760"/>
            <a:ext cx="5345640" cy="4178520"/>
          </a:xfrm>
          <a:prstGeom prst="roundRect">
            <a:avLst>
              <a:gd name="adj" fmla="val 131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75" name="Shape 8"/>
          <p:cNvSpPr/>
          <p:nvPr/>
        </p:nvSpPr>
        <p:spPr>
          <a:xfrm>
            <a:off x="621720" y="2084760"/>
            <a:ext cx="5345640" cy="712800"/>
          </a:xfrm>
          <a:prstGeom prst="rect">
            <a:avLst/>
          </a:prstGeom>
          <a:solidFill>
            <a:srgbClr val="fff4e3"/>
          </a:solidFill>
          <a:ln w="12700">
            <a:solidFill>
              <a:srgbClr val="fff4e3"/>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76" name="Shape 9"/>
          <p:cNvSpPr/>
          <p:nvPr/>
        </p:nvSpPr>
        <p:spPr>
          <a:xfrm>
            <a:off x="621720" y="2084760"/>
            <a:ext cx="54360" cy="4178520"/>
          </a:xfrm>
          <a:prstGeom prst="rect">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77" name="Text 10"/>
          <p:cNvSpPr/>
          <p:nvPr/>
        </p:nvSpPr>
        <p:spPr>
          <a:xfrm>
            <a:off x="804600" y="2176200"/>
            <a:ext cx="501660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ffb04c"/>
                </a:solidFill>
                <a:effectLst/>
                <a:uFillTx/>
                <a:latin typeface="Calibri"/>
                <a:ea typeface="Calibri"/>
              </a:rPr>
              <a:t>LATER</a:t>
            </a:r>
            <a:endParaRPr b="0" lang="en-US" sz="850" strike="noStrike" u="none">
              <a:solidFill>
                <a:srgbClr val="000000"/>
              </a:solidFill>
              <a:effectLst/>
              <a:uFillTx/>
              <a:latin typeface="Arial"/>
            </a:endParaRPr>
          </a:p>
        </p:txBody>
      </p:sp>
      <p:sp>
        <p:nvSpPr>
          <p:cNvPr id="2678" name="Text 11"/>
          <p:cNvSpPr/>
          <p:nvPr/>
        </p:nvSpPr>
        <p:spPr>
          <a:xfrm>
            <a:off x="804600" y="2423160"/>
            <a:ext cx="501660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2027 H1</a:t>
            </a:r>
            <a:endParaRPr b="0" lang="en-US" sz="1400" strike="noStrike" u="none">
              <a:solidFill>
                <a:srgbClr val="000000"/>
              </a:solidFill>
              <a:effectLst/>
              <a:uFillTx/>
              <a:latin typeface="Arial"/>
            </a:endParaRPr>
          </a:p>
        </p:txBody>
      </p:sp>
      <p:sp>
        <p:nvSpPr>
          <p:cNvPr id="2679" name="Shape 12"/>
          <p:cNvSpPr/>
          <p:nvPr/>
        </p:nvSpPr>
        <p:spPr>
          <a:xfrm>
            <a:off x="758880" y="2953440"/>
            <a:ext cx="5071320" cy="375840"/>
          </a:xfrm>
          <a:prstGeom prst="roundRect">
            <a:avLst>
              <a:gd name="adj" fmla="val 7292"/>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80" name="Text 13"/>
          <p:cNvSpPr/>
          <p:nvPr/>
        </p:nvSpPr>
        <p:spPr>
          <a:xfrm>
            <a:off x="822960" y="2953440"/>
            <a:ext cx="4943520" cy="37584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Category 4 and 9 product linked transport</a:t>
            </a:r>
            <a:endParaRPr b="0" lang="en-US" sz="950" strike="noStrike" u="none">
              <a:solidFill>
                <a:srgbClr val="000000"/>
              </a:solidFill>
              <a:effectLst/>
              <a:uFillTx/>
              <a:latin typeface="Arial"/>
            </a:endParaRPr>
          </a:p>
          <a:p>
            <a:pPr defTabSz="914400">
              <a:lnSpc>
                <a:spcPct val="95000"/>
              </a:lnSpc>
              <a:tabLst>
                <a:tab algn="l" pos="0"/>
              </a:tabLst>
            </a:pPr>
            <a:r>
              <a:rPr b="0" lang="en-US" sz="800" strike="noStrike" u="none">
                <a:solidFill>
                  <a:srgbClr val="5a625c"/>
                </a:solidFill>
                <a:effectLst/>
                <a:uFillTx/>
                <a:latin typeface="Calibri"/>
                <a:ea typeface="Calibri"/>
              </a:rPr>
              <a:t>Upstream and downstream transport</a:t>
            </a:r>
            <a:endParaRPr b="0" lang="en-US" sz="800" strike="noStrike" u="none">
              <a:solidFill>
                <a:srgbClr val="000000"/>
              </a:solidFill>
              <a:effectLst/>
              <a:uFillTx/>
              <a:latin typeface="Arial"/>
            </a:endParaRPr>
          </a:p>
        </p:txBody>
      </p:sp>
      <p:sp>
        <p:nvSpPr>
          <p:cNvPr id="2681" name="Shape 14"/>
          <p:cNvSpPr/>
          <p:nvPr/>
        </p:nvSpPr>
        <p:spPr>
          <a:xfrm>
            <a:off x="758880" y="3402720"/>
            <a:ext cx="5071320" cy="375840"/>
          </a:xfrm>
          <a:prstGeom prst="roundRect">
            <a:avLst>
              <a:gd name="adj" fmla="val 7292"/>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82" name="Text 15"/>
          <p:cNvSpPr/>
          <p:nvPr/>
        </p:nvSpPr>
        <p:spPr>
          <a:xfrm>
            <a:off x="822960" y="3402720"/>
            <a:ext cx="4943520" cy="37584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Financial and equity consolidation</a:t>
            </a:r>
            <a:endParaRPr b="0" lang="en-US" sz="950" strike="noStrike" u="none">
              <a:solidFill>
                <a:srgbClr val="000000"/>
              </a:solidFill>
              <a:effectLst/>
              <a:uFillTx/>
              <a:latin typeface="Arial"/>
            </a:endParaRPr>
          </a:p>
          <a:p>
            <a:pPr defTabSz="914400">
              <a:lnSpc>
                <a:spcPct val="95000"/>
              </a:lnSpc>
              <a:tabLst>
                <a:tab algn="l" pos="0"/>
              </a:tabLst>
            </a:pPr>
            <a:r>
              <a:rPr b="0" lang="en-US" sz="800" strike="noStrike" u="none">
                <a:solidFill>
                  <a:srgbClr val="5a625c"/>
                </a:solidFill>
                <a:effectLst/>
                <a:uFillTx/>
                <a:latin typeface="Calibri"/>
                <a:ea typeface="Calibri"/>
              </a:rPr>
              <a:t>Ownership boundary roll up</a:t>
            </a:r>
            <a:endParaRPr b="0" lang="en-US" sz="800" strike="noStrike" u="none">
              <a:solidFill>
                <a:srgbClr val="000000"/>
              </a:solidFill>
              <a:effectLst/>
              <a:uFillTx/>
              <a:latin typeface="Arial"/>
            </a:endParaRPr>
          </a:p>
        </p:txBody>
      </p:sp>
      <p:sp>
        <p:nvSpPr>
          <p:cNvPr id="2683" name="Shape 16"/>
          <p:cNvSpPr/>
          <p:nvPr/>
        </p:nvSpPr>
        <p:spPr>
          <a:xfrm>
            <a:off x="758880" y="3852360"/>
            <a:ext cx="5071320" cy="375840"/>
          </a:xfrm>
          <a:prstGeom prst="roundRect">
            <a:avLst>
              <a:gd name="adj" fmla="val 7292"/>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84" name="Text 17"/>
          <p:cNvSpPr/>
          <p:nvPr/>
        </p:nvSpPr>
        <p:spPr>
          <a:xfrm>
            <a:off x="822960" y="3852360"/>
            <a:ext cx="4943520" cy="37584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Waste emission estimation</a:t>
            </a:r>
            <a:endParaRPr b="0" lang="en-US" sz="1000" strike="noStrike" u="none">
              <a:solidFill>
                <a:srgbClr val="000000"/>
              </a:solidFill>
              <a:effectLst/>
              <a:uFillTx/>
              <a:latin typeface="Arial"/>
            </a:endParaRPr>
          </a:p>
          <a:p>
            <a:pPr defTabSz="914400">
              <a:lnSpc>
                <a:spcPct val="95000"/>
              </a:lnSpc>
              <a:tabLst>
                <a:tab algn="l" pos="0"/>
              </a:tabLst>
            </a:pPr>
            <a:r>
              <a:rPr b="0" lang="en-US" sz="850" strike="noStrike" u="none">
                <a:solidFill>
                  <a:srgbClr val="5a625c"/>
                </a:solidFill>
                <a:effectLst/>
                <a:uFillTx/>
                <a:latin typeface="Calibri"/>
                <a:ea typeface="Calibri"/>
              </a:rPr>
              <a:t>Scope 3 category 5</a:t>
            </a:r>
            <a:endParaRPr b="0" lang="en-US" sz="850" strike="noStrike" u="none">
              <a:solidFill>
                <a:srgbClr val="000000"/>
              </a:solidFill>
              <a:effectLst/>
              <a:uFillTx/>
              <a:latin typeface="Arial"/>
            </a:endParaRPr>
          </a:p>
        </p:txBody>
      </p:sp>
      <p:sp>
        <p:nvSpPr>
          <p:cNvPr id="2685" name="Shape 18"/>
          <p:cNvSpPr/>
          <p:nvPr/>
        </p:nvSpPr>
        <p:spPr>
          <a:xfrm>
            <a:off x="758880" y="4301640"/>
            <a:ext cx="5071320" cy="375840"/>
          </a:xfrm>
          <a:prstGeom prst="roundRect">
            <a:avLst>
              <a:gd name="adj" fmla="val 7292"/>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86" name="Text 19"/>
          <p:cNvSpPr/>
          <p:nvPr/>
        </p:nvSpPr>
        <p:spPr>
          <a:xfrm>
            <a:off x="822960" y="4301640"/>
            <a:ext cx="4943520" cy="37584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Improved method transparency per data point</a:t>
            </a:r>
            <a:endParaRPr b="0" lang="en-US" sz="950" strike="noStrike" u="none">
              <a:solidFill>
                <a:srgbClr val="000000"/>
              </a:solidFill>
              <a:effectLst/>
              <a:uFillTx/>
              <a:latin typeface="Arial"/>
            </a:endParaRPr>
          </a:p>
          <a:p>
            <a:pPr defTabSz="914400">
              <a:lnSpc>
                <a:spcPct val="95000"/>
              </a:lnSpc>
              <a:tabLst>
                <a:tab algn="l" pos="0"/>
              </a:tabLst>
            </a:pPr>
            <a:r>
              <a:rPr b="0" lang="en-US" sz="800" strike="noStrike" u="none">
                <a:solidFill>
                  <a:srgbClr val="5a625c"/>
                </a:solidFill>
                <a:effectLst/>
                <a:uFillTx/>
                <a:latin typeface="Calibri"/>
                <a:ea typeface="Calibri"/>
              </a:rPr>
              <a:t>Methodology transparency</a:t>
            </a:r>
            <a:endParaRPr b="0" lang="en-US" sz="800" strike="noStrike" u="none">
              <a:solidFill>
                <a:srgbClr val="000000"/>
              </a:solidFill>
              <a:effectLst/>
              <a:uFillTx/>
              <a:latin typeface="Arial"/>
            </a:endParaRPr>
          </a:p>
        </p:txBody>
      </p:sp>
      <p:sp>
        <p:nvSpPr>
          <p:cNvPr id="2687" name="Shape 20"/>
          <p:cNvSpPr/>
          <p:nvPr/>
        </p:nvSpPr>
        <p:spPr>
          <a:xfrm>
            <a:off x="758880" y="4750920"/>
            <a:ext cx="5071320" cy="375840"/>
          </a:xfrm>
          <a:prstGeom prst="roundRect">
            <a:avLst>
              <a:gd name="adj" fmla="val 7292"/>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88" name="Text 21"/>
          <p:cNvSpPr/>
          <p:nvPr/>
        </p:nvSpPr>
        <p:spPr>
          <a:xfrm>
            <a:off x="822960" y="4750920"/>
            <a:ext cx="4943520" cy="37584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Rebaselining</a:t>
            </a:r>
            <a:endParaRPr b="0" lang="en-US" sz="1000" strike="noStrike" u="none">
              <a:solidFill>
                <a:srgbClr val="000000"/>
              </a:solidFill>
              <a:effectLst/>
              <a:uFillTx/>
              <a:latin typeface="Arial"/>
            </a:endParaRPr>
          </a:p>
          <a:p>
            <a:pPr defTabSz="914400">
              <a:lnSpc>
                <a:spcPct val="95000"/>
              </a:lnSpc>
              <a:tabLst>
                <a:tab algn="l" pos="0"/>
              </a:tabLst>
            </a:pPr>
            <a:r>
              <a:rPr b="0" lang="en-US" sz="850" strike="noStrike" u="none">
                <a:solidFill>
                  <a:srgbClr val="5a625c"/>
                </a:solidFill>
                <a:effectLst/>
                <a:uFillTx/>
                <a:latin typeface="Calibri"/>
                <a:ea typeface="Calibri"/>
              </a:rPr>
              <a:t>Base year recalculation workflows</a:t>
            </a:r>
            <a:endParaRPr b="0" lang="en-US" sz="850" strike="noStrike" u="none">
              <a:solidFill>
                <a:srgbClr val="000000"/>
              </a:solidFill>
              <a:effectLst/>
              <a:uFillTx/>
              <a:latin typeface="Arial"/>
            </a:endParaRPr>
          </a:p>
        </p:txBody>
      </p:sp>
      <p:sp>
        <p:nvSpPr>
          <p:cNvPr id="2689" name="Shape 22"/>
          <p:cNvSpPr/>
          <p:nvPr/>
        </p:nvSpPr>
        <p:spPr>
          <a:xfrm>
            <a:off x="758880" y="5200200"/>
            <a:ext cx="5071320" cy="375840"/>
          </a:xfrm>
          <a:prstGeom prst="roundRect">
            <a:avLst>
              <a:gd name="adj" fmla="val 7292"/>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90" name="Text 23"/>
          <p:cNvSpPr/>
          <p:nvPr/>
        </p:nvSpPr>
        <p:spPr>
          <a:xfrm>
            <a:off x="822960" y="5200200"/>
            <a:ext cx="4943520" cy="37584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Supply chain PCF integration</a:t>
            </a:r>
            <a:endParaRPr b="0" lang="en-US" sz="1000" strike="noStrike" u="none">
              <a:solidFill>
                <a:srgbClr val="000000"/>
              </a:solidFill>
              <a:effectLst/>
              <a:uFillTx/>
              <a:latin typeface="Arial"/>
            </a:endParaRPr>
          </a:p>
          <a:p>
            <a:pPr defTabSz="914400">
              <a:lnSpc>
                <a:spcPct val="95000"/>
              </a:lnSpc>
              <a:tabLst>
                <a:tab algn="l" pos="0"/>
              </a:tabLst>
            </a:pPr>
            <a:r>
              <a:rPr b="0" lang="en-US" sz="850" strike="noStrike" u="none">
                <a:solidFill>
                  <a:srgbClr val="5a625c"/>
                </a:solidFill>
                <a:effectLst/>
                <a:uFillTx/>
                <a:latin typeface="Calibri"/>
                <a:ea typeface="Calibri"/>
              </a:rPr>
              <a:t>Supplier specific factors</a:t>
            </a:r>
            <a:endParaRPr b="0" lang="en-US" sz="850" strike="noStrike" u="none">
              <a:solidFill>
                <a:srgbClr val="000000"/>
              </a:solidFill>
              <a:effectLst/>
              <a:uFillTx/>
              <a:latin typeface="Arial"/>
            </a:endParaRPr>
          </a:p>
        </p:txBody>
      </p:sp>
      <p:sp>
        <p:nvSpPr>
          <p:cNvPr id="2691" name="Shape 24"/>
          <p:cNvSpPr/>
          <p:nvPr/>
        </p:nvSpPr>
        <p:spPr>
          <a:xfrm>
            <a:off x="758880" y="5649840"/>
            <a:ext cx="5071320" cy="375840"/>
          </a:xfrm>
          <a:prstGeom prst="roundRect">
            <a:avLst>
              <a:gd name="adj" fmla="val 7292"/>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92" name="Text 25"/>
          <p:cNvSpPr/>
          <p:nvPr/>
        </p:nvSpPr>
        <p:spPr>
          <a:xfrm>
            <a:off x="822960" y="5649840"/>
            <a:ext cx="4943520" cy="37584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Advanced ECM library</a:t>
            </a:r>
            <a:endParaRPr b="0" lang="en-US" sz="1000" strike="noStrike" u="none">
              <a:solidFill>
                <a:srgbClr val="000000"/>
              </a:solidFill>
              <a:effectLst/>
              <a:uFillTx/>
              <a:latin typeface="Arial"/>
            </a:endParaRPr>
          </a:p>
          <a:p>
            <a:pPr defTabSz="914400">
              <a:lnSpc>
                <a:spcPct val="95000"/>
              </a:lnSpc>
              <a:tabLst>
                <a:tab algn="l" pos="0"/>
              </a:tabLst>
            </a:pPr>
            <a:r>
              <a:rPr b="0" lang="en-US" sz="850" strike="noStrike" u="none">
                <a:solidFill>
                  <a:srgbClr val="5a625c"/>
                </a:solidFill>
                <a:effectLst/>
                <a:uFillTx/>
                <a:latin typeface="Calibri"/>
                <a:ea typeface="Calibri"/>
              </a:rPr>
              <a:t>Energy and carbon cobenefits</a:t>
            </a:r>
            <a:endParaRPr b="0" lang="en-US" sz="850" strike="noStrike" u="none">
              <a:solidFill>
                <a:srgbClr val="000000"/>
              </a:solidFill>
              <a:effectLst/>
              <a:uFillTx/>
              <a:latin typeface="Arial"/>
            </a:endParaRPr>
          </a:p>
        </p:txBody>
      </p:sp>
      <p:sp>
        <p:nvSpPr>
          <p:cNvPr id="2693" name="Shape 26"/>
          <p:cNvSpPr/>
          <p:nvPr/>
        </p:nvSpPr>
        <p:spPr>
          <a:xfrm>
            <a:off x="6224040" y="2084760"/>
            <a:ext cx="5345640" cy="4178520"/>
          </a:xfrm>
          <a:prstGeom prst="roundRect">
            <a:avLst>
              <a:gd name="adj" fmla="val 131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94" name="Shape 27"/>
          <p:cNvSpPr/>
          <p:nvPr/>
        </p:nvSpPr>
        <p:spPr>
          <a:xfrm>
            <a:off x="6224040" y="2084760"/>
            <a:ext cx="5345640" cy="712800"/>
          </a:xfrm>
          <a:prstGeom prst="rect">
            <a:avLst/>
          </a:prstGeom>
          <a:solidFill>
            <a:srgbClr val="eaf1f5"/>
          </a:solidFill>
          <a:ln w="12700">
            <a:solidFill>
              <a:srgbClr val="eaf1f5"/>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95" name="Shape 28"/>
          <p:cNvSpPr/>
          <p:nvPr/>
        </p:nvSpPr>
        <p:spPr>
          <a:xfrm>
            <a:off x="6224040" y="2084760"/>
            <a:ext cx="54360" cy="4178520"/>
          </a:xfrm>
          <a:prstGeom prst="rect">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696" name="Text 29"/>
          <p:cNvSpPr/>
          <p:nvPr/>
        </p:nvSpPr>
        <p:spPr>
          <a:xfrm>
            <a:off x="6406920" y="2176200"/>
            <a:ext cx="501660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275b7f"/>
                </a:solidFill>
                <a:effectLst/>
                <a:uFillTx/>
                <a:latin typeface="Calibri"/>
                <a:ea typeface="Calibri"/>
              </a:rPr>
              <a:t>LATER</a:t>
            </a:r>
            <a:endParaRPr b="0" lang="en-US" sz="850" strike="noStrike" u="none">
              <a:solidFill>
                <a:srgbClr val="000000"/>
              </a:solidFill>
              <a:effectLst/>
              <a:uFillTx/>
              <a:latin typeface="Arial"/>
            </a:endParaRPr>
          </a:p>
        </p:txBody>
      </p:sp>
      <p:sp>
        <p:nvSpPr>
          <p:cNvPr id="2697" name="Text 30"/>
          <p:cNvSpPr/>
          <p:nvPr/>
        </p:nvSpPr>
        <p:spPr>
          <a:xfrm>
            <a:off x="6406920" y="2423160"/>
            <a:ext cx="501660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2027 H2</a:t>
            </a:r>
            <a:endParaRPr b="0" lang="en-US" sz="1400" strike="noStrike" u="none">
              <a:solidFill>
                <a:srgbClr val="000000"/>
              </a:solidFill>
              <a:effectLst/>
              <a:uFillTx/>
              <a:latin typeface="Arial"/>
            </a:endParaRPr>
          </a:p>
        </p:txBody>
      </p:sp>
      <p:sp>
        <p:nvSpPr>
          <p:cNvPr id="2698" name="Shape 31"/>
          <p:cNvSpPr/>
          <p:nvPr/>
        </p:nvSpPr>
        <p:spPr>
          <a:xfrm>
            <a:off x="6361200" y="2953440"/>
            <a:ext cx="5071320" cy="375840"/>
          </a:xfrm>
          <a:prstGeom prst="roundRect">
            <a:avLst>
              <a:gd name="adj" fmla="val 7292"/>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699" name="Text 32"/>
          <p:cNvSpPr/>
          <p:nvPr/>
        </p:nvSpPr>
        <p:spPr>
          <a:xfrm>
            <a:off x="6424920" y="2953440"/>
            <a:ext cx="4943520" cy="37584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Category 15 investments</a:t>
            </a:r>
            <a:endParaRPr b="0" lang="en-US" sz="1000" strike="noStrike" u="none">
              <a:solidFill>
                <a:srgbClr val="000000"/>
              </a:solidFill>
              <a:effectLst/>
              <a:uFillTx/>
              <a:latin typeface="Arial"/>
            </a:endParaRPr>
          </a:p>
          <a:p>
            <a:pPr defTabSz="914400">
              <a:lnSpc>
                <a:spcPct val="95000"/>
              </a:lnSpc>
              <a:tabLst>
                <a:tab algn="l" pos="0"/>
              </a:tabLst>
            </a:pPr>
            <a:r>
              <a:rPr b="0" lang="en-US" sz="850" strike="noStrike" u="none">
                <a:solidFill>
                  <a:srgbClr val="5a625c"/>
                </a:solidFill>
                <a:effectLst/>
                <a:uFillTx/>
                <a:latin typeface="Calibri"/>
                <a:ea typeface="Calibri"/>
              </a:rPr>
              <a:t>PCAF aligned financed emissions</a:t>
            </a:r>
            <a:endParaRPr b="0" lang="en-US" sz="850" strike="noStrike" u="none">
              <a:solidFill>
                <a:srgbClr val="000000"/>
              </a:solidFill>
              <a:effectLst/>
              <a:uFillTx/>
              <a:latin typeface="Arial"/>
            </a:endParaRPr>
          </a:p>
        </p:txBody>
      </p:sp>
      <p:sp>
        <p:nvSpPr>
          <p:cNvPr id="2700" name="Shape 33"/>
          <p:cNvSpPr/>
          <p:nvPr/>
        </p:nvSpPr>
        <p:spPr>
          <a:xfrm>
            <a:off x="6361200" y="3402720"/>
            <a:ext cx="5071320" cy="375840"/>
          </a:xfrm>
          <a:prstGeom prst="roundRect">
            <a:avLst>
              <a:gd name="adj" fmla="val 7292"/>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701" name="Text 34"/>
          <p:cNvSpPr/>
          <p:nvPr/>
        </p:nvSpPr>
        <p:spPr>
          <a:xfrm>
            <a:off x="6424920" y="3402720"/>
            <a:ext cx="4943520" cy="37584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FLAG segmentation</a:t>
            </a:r>
            <a:endParaRPr b="0" lang="en-US" sz="1000" strike="noStrike" u="none">
              <a:solidFill>
                <a:srgbClr val="000000"/>
              </a:solidFill>
              <a:effectLst/>
              <a:uFillTx/>
              <a:latin typeface="Arial"/>
            </a:endParaRPr>
          </a:p>
          <a:p>
            <a:pPr defTabSz="914400">
              <a:lnSpc>
                <a:spcPct val="95000"/>
              </a:lnSpc>
              <a:tabLst>
                <a:tab algn="l" pos="0"/>
              </a:tabLst>
            </a:pPr>
            <a:r>
              <a:rPr b="0" lang="en-US" sz="850" strike="noStrike" u="none">
                <a:solidFill>
                  <a:srgbClr val="5a625c"/>
                </a:solidFill>
                <a:effectLst/>
                <a:uFillTx/>
                <a:latin typeface="Calibri"/>
                <a:ea typeface="Calibri"/>
              </a:rPr>
              <a:t>Specialised standards</a:t>
            </a:r>
            <a:endParaRPr b="0" lang="en-US" sz="850" strike="noStrike" u="none">
              <a:solidFill>
                <a:srgbClr val="000000"/>
              </a:solidFill>
              <a:effectLst/>
              <a:uFillTx/>
              <a:latin typeface="Arial"/>
            </a:endParaRPr>
          </a:p>
        </p:txBody>
      </p:sp>
      <p:sp>
        <p:nvSpPr>
          <p:cNvPr id="2702" name="Shape 35"/>
          <p:cNvSpPr/>
          <p:nvPr/>
        </p:nvSpPr>
        <p:spPr>
          <a:xfrm>
            <a:off x="6361200" y="3852360"/>
            <a:ext cx="5071320" cy="375840"/>
          </a:xfrm>
          <a:prstGeom prst="roundRect">
            <a:avLst>
              <a:gd name="adj" fmla="val 7292"/>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703" name="Text 36"/>
          <p:cNvSpPr/>
          <p:nvPr/>
        </p:nvSpPr>
        <p:spPr>
          <a:xfrm>
            <a:off x="6424920" y="3852360"/>
            <a:ext cx="4943520" cy="37584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Dedicated auditor experience</a:t>
            </a:r>
            <a:endParaRPr b="0" lang="en-US" sz="1000" strike="noStrike" u="none">
              <a:solidFill>
                <a:srgbClr val="000000"/>
              </a:solidFill>
              <a:effectLst/>
              <a:uFillTx/>
              <a:latin typeface="Arial"/>
            </a:endParaRPr>
          </a:p>
          <a:p>
            <a:pPr defTabSz="914400">
              <a:lnSpc>
                <a:spcPct val="95000"/>
              </a:lnSpc>
              <a:tabLst>
                <a:tab algn="l" pos="0"/>
              </a:tabLst>
            </a:pPr>
            <a:r>
              <a:rPr b="0" lang="en-US" sz="850" strike="noStrike" u="none">
                <a:solidFill>
                  <a:srgbClr val="5a625c"/>
                </a:solidFill>
                <a:effectLst/>
                <a:uFillTx/>
                <a:latin typeface="Calibri"/>
                <a:ea typeface="Calibri"/>
              </a:rPr>
              <a:t>Variance checks, reports, status</a:t>
            </a:r>
            <a:endParaRPr b="0" lang="en-US" sz="850" strike="noStrike" u="none">
              <a:solidFill>
                <a:srgbClr val="000000"/>
              </a:solidFill>
              <a:effectLst/>
              <a:uFillTx/>
              <a:latin typeface="Arial"/>
            </a:endParaRPr>
          </a:p>
        </p:txBody>
      </p:sp>
      <p:sp>
        <p:nvSpPr>
          <p:cNvPr id="2704" name="Shape 37"/>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705" name="Text 38"/>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2706" name="Text 39"/>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2707" name="PlaceHolder 1"/>
          <p:cNvSpPr>
            <a:spLocks noGrp="1"/>
          </p:cNvSpPr>
          <p:nvPr>
            <p:ph type="sldNum" idx="61"/>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4C667573-1E6A-406F-9BFB-2F30196020B8}"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6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708"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2709"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2710" name="Shape 2"/>
          <p:cNvSpPr/>
          <p:nvPr/>
        </p:nvSpPr>
        <p:spPr>
          <a:xfrm>
            <a:off x="621720" y="311040"/>
            <a:ext cx="239544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711" name="Text 3"/>
          <p:cNvSpPr/>
          <p:nvPr/>
        </p:nvSpPr>
        <p:spPr>
          <a:xfrm>
            <a:off x="804600" y="329040"/>
            <a:ext cx="206604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CARBON PERFORMANCE</a:t>
            </a:r>
            <a:endParaRPr b="0" lang="en-US" sz="950" strike="noStrike" u="none">
              <a:solidFill>
                <a:srgbClr val="000000"/>
              </a:solidFill>
              <a:effectLst/>
              <a:uFillTx/>
              <a:latin typeface="Arial"/>
            </a:endParaRPr>
          </a:p>
        </p:txBody>
      </p:sp>
      <p:sp>
        <p:nvSpPr>
          <p:cNvPr id="2712" name="Text 4"/>
          <p:cNvSpPr/>
          <p:nvPr/>
        </p:nvSpPr>
        <p:spPr>
          <a:xfrm>
            <a:off x="621720" y="768240"/>
            <a:ext cx="10947600" cy="8042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2800" strike="noStrike" u="none">
                <a:solidFill>
                  <a:srgbClr val="1e2420"/>
                </a:solidFill>
                <a:effectLst/>
                <a:uFillTx/>
                <a:latin typeface="Calibri"/>
                <a:ea typeface="Calibri"/>
              </a:rPr>
              <a:t>The Carbon Performance plan on a timeline: scope coverage</a:t>
            </a:r>
            <a:endParaRPr b="0" lang="en-US" sz="2800" strike="noStrike" u="none">
              <a:solidFill>
                <a:srgbClr val="000000"/>
              </a:solidFill>
              <a:effectLst/>
              <a:uFillTx/>
              <a:latin typeface="Arial"/>
            </a:endParaRPr>
          </a:p>
        </p:txBody>
      </p:sp>
      <p:sp>
        <p:nvSpPr>
          <p:cNvPr id="2713" name="Text 5"/>
          <p:cNvSpPr/>
          <p:nvPr/>
        </p:nvSpPr>
        <p:spPr>
          <a:xfrm>
            <a:off x="621720" y="15728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Scope 1, 2 and 3 commitments laid over 2026 and 2027 quarters.</a:t>
            </a:r>
            <a:endParaRPr b="0" lang="en-US" sz="1250" strike="noStrike" u="none">
              <a:solidFill>
                <a:srgbClr val="000000"/>
              </a:solidFill>
              <a:effectLst/>
              <a:uFillTx/>
              <a:latin typeface="Arial"/>
            </a:endParaRPr>
          </a:p>
        </p:txBody>
      </p:sp>
      <p:sp>
        <p:nvSpPr>
          <p:cNvPr id="2714"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715" name="Shape 7"/>
          <p:cNvSpPr/>
          <p:nvPr/>
        </p:nvSpPr>
        <p:spPr>
          <a:xfrm>
            <a:off x="621720" y="1874520"/>
            <a:ext cx="10947600" cy="456840"/>
          </a:xfrm>
          <a:prstGeom prst="rect">
            <a:avLst/>
          </a:prstGeom>
          <a:solidFill>
            <a:srgbClr val="f1f3f2"/>
          </a:solidFill>
          <a:ln w="635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716" name="Text 8"/>
          <p:cNvSpPr/>
          <p:nvPr/>
        </p:nvSpPr>
        <p:spPr>
          <a:xfrm>
            <a:off x="749880" y="2020680"/>
            <a:ext cx="260568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99" strike="noStrike" u="none">
                <a:solidFill>
                  <a:srgbClr val="5a625c"/>
                </a:solidFill>
                <a:effectLst/>
                <a:uFillTx/>
                <a:latin typeface="Calibri"/>
                <a:ea typeface="Calibri"/>
              </a:rPr>
              <a:t>CAPABILITY</a:t>
            </a:r>
            <a:endParaRPr b="0" lang="en-US" sz="850" strike="noStrike" u="none">
              <a:solidFill>
                <a:srgbClr val="000000"/>
              </a:solidFill>
              <a:effectLst/>
              <a:uFillTx/>
              <a:latin typeface="Arial"/>
            </a:endParaRPr>
          </a:p>
        </p:txBody>
      </p:sp>
      <p:sp>
        <p:nvSpPr>
          <p:cNvPr id="2717" name="Text 9"/>
          <p:cNvSpPr/>
          <p:nvPr/>
        </p:nvSpPr>
        <p:spPr>
          <a:xfrm>
            <a:off x="3456360" y="1901880"/>
            <a:ext cx="405648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2026</a:t>
            </a:r>
            <a:endParaRPr b="0" lang="en-US" sz="1200" strike="noStrike" u="none">
              <a:solidFill>
                <a:srgbClr val="000000"/>
              </a:solidFill>
              <a:effectLst/>
              <a:uFillTx/>
              <a:latin typeface="Arial"/>
            </a:endParaRPr>
          </a:p>
        </p:txBody>
      </p:sp>
      <p:sp>
        <p:nvSpPr>
          <p:cNvPr id="2718" name="Text 10"/>
          <p:cNvSpPr/>
          <p:nvPr/>
        </p:nvSpPr>
        <p:spPr>
          <a:xfrm>
            <a:off x="345636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2719" name="Text 11"/>
          <p:cNvSpPr/>
          <p:nvPr/>
        </p:nvSpPr>
        <p:spPr>
          <a:xfrm>
            <a:off x="447048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2720" name="Text 12"/>
          <p:cNvSpPr/>
          <p:nvPr/>
        </p:nvSpPr>
        <p:spPr>
          <a:xfrm>
            <a:off x="548496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2721" name="Text 13"/>
          <p:cNvSpPr/>
          <p:nvPr/>
        </p:nvSpPr>
        <p:spPr>
          <a:xfrm>
            <a:off x="649908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2722" name="Text 14"/>
          <p:cNvSpPr/>
          <p:nvPr/>
        </p:nvSpPr>
        <p:spPr>
          <a:xfrm>
            <a:off x="7513200" y="1901880"/>
            <a:ext cx="405648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2027</a:t>
            </a:r>
            <a:endParaRPr b="0" lang="en-US" sz="1200" strike="noStrike" u="none">
              <a:solidFill>
                <a:srgbClr val="000000"/>
              </a:solidFill>
              <a:effectLst/>
              <a:uFillTx/>
              <a:latin typeface="Arial"/>
            </a:endParaRPr>
          </a:p>
        </p:txBody>
      </p:sp>
      <p:sp>
        <p:nvSpPr>
          <p:cNvPr id="2723" name="Text 15"/>
          <p:cNvSpPr/>
          <p:nvPr/>
        </p:nvSpPr>
        <p:spPr>
          <a:xfrm>
            <a:off x="751320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2724" name="Text 16"/>
          <p:cNvSpPr/>
          <p:nvPr/>
        </p:nvSpPr>
        <p:spPr>
          <a:xfrm>
            <a:off x="852732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2725" name="Text 17"/>
          <p:cNvSpPr/>
          <p:nvPr/>
        </p:nvSpPr>
        <p:spPr>
          <a:xfrm>
            <a:off x="954144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2726" name="Text 18"/>
          <p:cNvSpPr/>
          <p:nvPr/>
        </p:nvSpPr>
        <p:spPr>
          <a:xfrm>
            <a:off x="1055556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2727" name="Shape 19"/>
          <p:cNvSpPr/>
          <p:nvPr/>
        </p:nvSpPr>
        <p:spPr>
          <a:xfrm>
            <a:off x="345636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728" name="Shape 20"/>
          <p:cNvSpPr/>
          <p:nvPr/>
        </p:nvSpPr>
        <p:spPr>
          <a:xfrm>
            <a:off x="447048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729" name="Shape 21"/>
          <p:cNvSpPr/>
          <p:nvPr/>
        </p:nvSpPr>
        <p:spPr>
          <a:xfrm>
            <a:off x="548460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730" name="Shape 22"/>
          <p:cNvSpPr/>
          <p:nvPr/>
        </p:nvSpPr>
        <p:spPr>
          <a:xfrm>
            <a:off x="649872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731" name="Shape 23"/>
          <p:cNvSpPr/>
          <p:nvPr/>
        </p:nvSpPr>
        <p:spPr>
          <a:xfrm>
            <a:off x="751284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732" name="Shape 24"/>
          <p:cNvSpPr/>
          <p:nvPr/>
        </p:nvSpPr>
        <p:spPr>
          <a:xfrm>
            <a:off x="852732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733" name="Shape 25"/>
          <p:cNvSpPr/>
          <p:nvPr/>
        </p:nvSpPr>
        <p:spPr>
          <a:xfrm>
            <a:off x="954144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734" name="Shape 26"/>
          <p:cNvSpPr/>
          <p:nvPr/>
        </p:nvSpPr>
        <p:spPr>
          <a:xfrm>
            <a:off x="1055556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735" name="Shape 27"/>
          <p:cNvSpPr/>
          <p:nvPr/>
        </p:nvSpPr>
        <p:spPr>
          <a:xfrm>
            <a:off x="1156968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736" name="Shape 28"/>
          <p:cNvSpPr/>
          <p:nvPr/>
        </p:nvSpPr>
        <p:spPr>
          <a:xfrm>
            <a:off x="621720" y="2331720"/>
            <a:ext cx="411120" cy="1188360"/>
          </a:xfrm>
          <a:prstGeom prst="rect">
            <a:avLst/>
          </a:prstGeom>
          <a:solidFill>
            <a:srgbClr val="3dcd58"/>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737" name="Text 29"/>
          <p:cNvSpPr/>
          <p:nvPr/>
        </p:nvSpPr>
        <p:spPr>
          <a:xfrm>
            <a:off x="685800" y="2377440"/>
            <a:ext cx="282960" cy="109692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SCOPE 1 &amp; 2</a:t>
            </a:r>
            <a:endParaRPr b="0" lang="en-US" sz="750" strike="noStrike" u="none">
              <a:solidFill>
                <a:srgbClr val="000000"/>
              </a:solidFill>
              <a:effectLst/>
              <a:uFillTx/>
              <a:latin typeface="Arial"/>
            </a:endParaRPr>
          </a:p>
        </p:txBody>
      </p:sp>
      <p:sp>
        <p:nvSpPr>
          <p:cNvPr id="2738" name="Shape 30"/>
          <p:cNvSpPr/>
          <p:nvPr/>
        </p:nvSpPr>
        <p:spPr>
          <a:xfrm>
            <a:off x="1033200" y="27277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739" name="Shape 31"/>
          <p:cNvSpPr/>
          <p:nvPr/>
        </p:nvSpPr>
        <p:spPr>
          <a:xfrm>
            <a:off x="1143000" y="242028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740" name="Text 32"/>
          <p:cNvSpPr/>
          <p:nvPr/>
        </p:nvSpPr>
        <p:spPr>
          <a:xfrm>
            <a:off x="1243440" y="23835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EAC and PPA management</a:t>
            </a:r>
            <a:endParaRPr b="0" lang="en-US" sz="950" strike="noStrike" u="none">
              <a:solidFill>
                <a:srgbClr val="000000"/>
              </a:solidFill>
              <a:effectLst/>
              <a:uFillTx/>
              <a:latin typeface="Arial"/>
            </a:endParaRPr>
          </a:p>
        </p:txBody>
      </p:sp>
      <p:sp>
        <p:nvSpPr>
          <p:cNvPr id="2741" name="Shape 33"/>
          <p:cNvSpPr/>
          <p:nvPr/>
        </p:nvSpPr>
        <p:spPr>
          <a:xfrm>
            <a:off x="6499080" y="2466000"/>
            <a:ext cx="1013760" cy="127800"/>
          </a:xfrm>
          <a:prstGeom prst="roundRect">
            <a:avLst>
              <a:gd name="adj" fmla="val 28571"/>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742" name="Shape 34"/>
          <p:cNvSpPr/>
          <p:nvPr/>
        </p:nvSpPr>
        <p:spPr>
          <a:xfrm>
            <a:off x="1033200" y="31240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743" name="Shape 35"/>
          <p:cNvSpPr/>
          <p:nvPr/>
        </p:nvSpPr>
        <p:spPr>
          <a:xfrm>
            <a:off x="1143000" y="281628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744" name="Text 36"/>
          <p:cNvSpPr/>
          <p:nvPr/>
        </p:nvSpPr>
        <p:spPr>
          <a:xfrm>
            <a:off x="1243440" y="27799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Thermal source attribution</a:t>
            </a:r>
            <a:endParaRPr b="0" lang="en-US" sz="950" strike="noStrike" u="none">
              <a:solidFill>
                <a:srgbClr val="000000"/>
              </a:solidFill>
              <a:effectLst/>
              <a:uFillTx/>
              <a:latin typeface="Arial"/>
            </a:endParaRPr>
          </a:p>
        </p:txBody>
      </p:sp>
      <p:sp>
        <p:nvSpPr>
          <p:cNvPr id="2745" name="Shape 37"/>
          <p:cNvSpPr/>
          <p:nvPr/>
        </p:nvSpPr>
        <p:spPr>
          <a:xfrm>
            <a:off x="6499080" y="2862000"/>
            <a:ext cx="1013760" cy="127800"/>
          </a:xfrm>
          <a:prstGeom prst="roundRect">
            <a:avLst>
              <a:gd name="adj" fmla="val 28571"/>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746" name="Shape 38"/>
          <p:cNvSpPr/>
          <p:nvPr/>
        </p:nvSpPr>
        <p:spPr>
          <a:xfrm>
            <a:off x="1033200" y="352044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747" name="Shape 39"/>
          <p:cNvSpPr/>
          <p:nvPr/>
        </p:nvSpPr>
        <p:spPr>
          <a:xfrm>
            <a:off x="1143000" y="321264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748" name="Text 40"/>
          <p:cNvSpPr/>
          <p:nvPr/>
        </p:nvSpPr>
        <p:spPr>
          <a:xfrm>
            <a:off x="1243440" y="31759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Refrigerant leakage to usage</a:t>
            </a:r>
            <a:endParaRPr b="0" lang="en-US" sz="950" strike="noStrike" u="none">
              <a:solidFill>
                <a:srgbClr val="000000"/>
              </a:solidFill>
              <a:effectLst/>
              <a:uFillTx/>
              <a:latin typeface="Arial"/>
            </a:endParaRPr>
          </a:p>
        </p:txBody>
      </p:sp>
      <p:sp>
        <p:nvSpPr>
          <p:cNvPr id="2749" name="Shape 41"/>
          <p:cNvSpPr/>
          <p:nvPr/>
        </p:nvSpPr>
        <p:spPr>
          <a:xfrm>
            <a:off x="6499080" y="3258360"/>
            <a:ext cx="1013760" cy="127800"/>
          </a:xfrm>
          <a:prstGeom prst="roundRect">
            <a:avLst>
              <a:gd name="adj" fmla="val 28571"/>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750" name="Shape 42"/>
          <p:cNvSpPr/>
          <p:nvPr/>
        </p:nvSpPr>
        <p:spPr>
          <a:xfrm>
            <a:off x="621720" y="3520440"/>
            <a:ext cx="411120" cy="2377080"/>
          </a:xfrm>
          <a:prstGeom prst="rect">
            <a:avLst/>
          </a:prstGeom>
          <a:solidFill>
            <a:srgbClr val="007a27"/>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751" name="Text 43"/>
          <p:cNvSpPr/>
          <p:nvPr/>
        </p:nvSpPr>
        <p:spPr>
          <a:xfrm>
            <a:off x="685800" y="3566160"/>
            <a:ext cx="282960" cy="228564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SCOPE 3</a:t>
            </a:r>
            <a:endParaRPr b="0" lang="en-US" sz="750" strike="noStrike" u="none">
              <a:solidFill>
                <a:srgbClr val="000000"/>
              </a:solidFill>
              <a:effectLst/>
              <a:uFillTx/>
              <a:latin typeface="Arial"/>
            </a:endParaRPr>
          </a:p>
        </p:txBody>
      </p:sp>
      <p:sp>
        <p:nvSpPr>
          <p:cNvPr id="2752" name="Shape 44"/>
          <p:cNvSpPr/>
          <p:nvPr/>
        </p:nvSpPr>
        <p:spPr>
          <a:xfrm>
            <a:off x="1033200" y="391644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753" name="Shape 45"/>
          <p:cNvSpPr/>
          <p:nvPr/>
        </p:nvSpPr>
        <p:spPr>
          <a:xfrm>
            <a:off x="1143000" y="360900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754" name="Text 46"/>
          <p:cNvSpPr/>
          <p:nvPr/>
        </p:nvSpPr>
        <p:spPr>
          <a:xfrm>
            <a:off x="1243440" y="357228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Sold product emissions, cat 10, 11, 12</a:t>
            </a:r>
            <a:endParaRPr b="0" lang="en-US" sz="950" strike="noStrike" u="none">
              <a:solidFill>
                <a:srgbClr val="000000"/>
              </a:solidFill>
              <a:effectLst/>
              <a:uFillTx/>
              <a:latin typeface="Arial"/>
            </a:endParaRPr>
          </a:p>
        </p:txBody>
      </p:sp>
      <p:sp>
        <p:nvSpPr>
          <p:cNvPr id="2755" name="Shape 47"/>
          <p:cNvSpPr/>
          <p:nvPr/>
        </p:nvSpPr>
        <p:spPr>
          <a:xfrm>
            <a:off x="5484960" y="3654720"/>
            <a:ext cx="1013760" cy="127800"/>
          </a:xfrm>
          <a:prstGeom prst="roundRect">
            <a:avLst>
              <a:gd name="adj" fmla="val 28571"/>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756" name="Shape 48"/>
          <p:cNvSpPr/>
          <p:nvPr/>
        </p:nvSpPr>
        <p:spPr>
          <a:xfrm>
            <a:off x="1033200" y="431280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757" name="Shape 49"/>
          <p:cNvSpPr/>
          <p:nvPr/>
        </p:nvSpPr>
        <p:spPr>
          <a:xfrm>
            <a:off x="1143000" y="400500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758" name="Text 50"/>
          <p:cNvSpPr/>
          <p:nvPr/>
        </p:nvSpPr>
        <p:spPr>
          <a:xfrm>
            <a:off x="1243440" y="396864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Employee commuting and WFH, cat 7</a:t>
            </a:r>
            <a:endParaRPr b="0" lang="en-US" sz="950" strike="noStrike" u="none">
              <a:solidFill>
                <a:srgbClr val="000000"/>
              </a:solidFill>
              <a:effectLst/>
              <a:uFillTx/>
              <a:latin typeface="Arial"/>
            </a:endParaRPr>
          </a:p>
        </p:txBody>
      </p:sp>
      <p:sp>
        <p:nvSpPr>
          <p:cNvPr id="2759" name="Shape 51"/>
          <p:cNvSpPr/>
          <p:nvPr/>
        </p:nvSpPr>
        <p:spPr>
          <a:xfrm>
            <a:off x="6499080" y="4050720"/>
            <a:ext cx="1013760" cy="127800"/>
          </a:xfrm>
          <a:prstGeom prst="roundRect">
            <a:avLst>
              <a:gd name="adj" fmla="val 28571"/>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760" name="Shape 52"/>
          <p:cNvSpPr/>
          <p:nvPr/>
        </p:nvSpPr>
        <p:spPr>
          <a:xfrm>
            <a:off x="1033200" y="470916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761" name="Shape 53"/>
          <p:cNvSpPr/>
          <p:nvPr/>
        </p:nvSpPr>
        <p:spPr>
          <a:xfrm>
            <a:off x="1143000" y="440136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762" name="Text 54"/>
          <p:cNvSpPr/>
          <p:nvPr/>
        </p:nvSpPr>
        <p:spPr>
          <a:xfrm>
            <a:off x="1243440" y="436464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Q1: Category 4 and 9 product linked transport</a:t>
            </a:r>
            <a:endParaRPr b="0" lang="en-US" sz="950" strike="noStrike" u="none">
              <a:solidFill>
                <a:srgbClr val="000000"/>
              </a:solidFill>
              <a:effectLst/>
              <a:uFillTx/>
              <a:latin typeface="Arial"/>
            </a:endParaRPr>
          </a:p>
        </p:txBody>
      </p:sp>
      <p:sp>
        <p:nvSpPr>
          <p:cNvPr id="2763" name="Shape 55"/>
          <p:cNvSpPr/>
          <p:nvPr/>
        </p:nvSpPr>
        <p:spPr>
          <a:xfrm>
            <a:off x="7513200" y="4447080"/>
            <a:ext cx="1013760" cy="127800"/>
          </a:xfrm>
          <a:prstGeom prst="roundRect">
            <a:avLst>
              <a:gd name="adj" fmla="val 28571"/>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764" name="Shape 56"/>
          <p:cNvSpPr/>
          <p:nvPr/>
        </p:nvSpPr>
        <p:spPr>
          <a:xfrm>
            <a:off x="1033200" y="510516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765" name="Shape 57"/>
          <p:cNvSpPr/>
          <p:nvPr/>
        </p:nvSpPr>
        <p:spPr>
          <a:xfrm>
            <a:off x="1143000" y="479772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766" name="Text 58"/>
          <p:cNvSpPr/>
          <p:nvPr/>
        </p:nvSpPr>
        <p:spPr>
          <a:xfrm>
            <a:off x="1243440" y="476100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Waste emission estimation, cat 5</a:t>
            </a:r>
            <a:endParaRPr b="0" lang="en-US" sz="950" strike="noStrike" u="none">
              <a:solidFill>
                <a:srgbClr val="000000"/>
              </a:solidFill>
              <a:effectLst/>
              <a:uFillTx/>
              <a:latin typeface="Arial"/>
            </a:endParaRPr>
          </a:p>
        </p:txBody>
      </p:sp>
      <p:sp>
        <p:nvSpPr>
          <p:cNvPr id="2767" name="Shape 59"/>
          <p:cNvSpPr/>
          <p:nvPr/>
        </p:nvSpPr>
        <p:spPr>
          <a:xfrm>
            <a:off x="7513200" y="4843440"/>
            <a:ext cx="2027880" cy="127800"/>
          </a:xfrm>
          <a:prstGeom prst="roundRect">
            <a:avLst>
              <a:gd name="adj" fmla="val 28571"/>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768" name="Shape 60"/>
          <p:cNvSpPr/>
          <p:nvPr/>
        </p:nvSpPr>
        <p:spPr>
          <a:xfrm>
            <a:off x="1033200" y="55015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769" name="Shape 61"/>
          <p:cNvSpPr/>
          <p:nvPr/>
        </p:nvSpPr>
        <p:spPr>
          <a:xfrm>
            <a:off x="1143000" y="519372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770" name="Text 62"/>
          <p:cNvSpPr/>
          <p:nvPr/>
        </p:nvSpPr>
        <p:spPr>
          <a:xfrm>
            <a:off x="1243440" y="51573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Category 15 investments</a:t>
            </a:r>
            <a:endParaRPr b="0" lang="en-US" sz="950" strike="noStrike" u="none">
              <a:solidFill>
                <a:srgbClr val="000000"/>
              </a:solidFill>
              <a:effectLst/>
              <a:uFillTx/>
              <a:latin typeface="Arial"/>
            </a:endParaRPr>
          </a:p>
        </p:txBody>
      </p:sp>
      <p:sp>
        <p:nvSpPr>
          <p:cNvPr id="2771" name="Shape 63"/>
          <p:cNvSpPr/>
          <p:nvPr/>
        </p:nvSpPr>
        <p:spPr>
          <a:xfrm>
            <a:off x="9541440" y="5239440"/>
            <a:ext cx="2027880" cy="127800"/>
          </a:xfrm>
          <a:prstGeom prst="roundRect">
            <a:avLst>
              <a:gd name="adj" fmla="val 28571"/>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772" name="Shape 64"/>
          <p:cNvSpPr/>
          <p:nvPr/>
        </p:nvSpPr>
        <p:spPr>
          <a:xfrm>
            <a:off x="1033200" y="58978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773" name="Shape 65"/>
          <p:cNvSpPr/>
          <p:nvPr/>
        </p:nvSpPr>
        <p:spPr>
          <a:xfrm>
            <a:off x="1143000" y="559008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774" name="Text 66"/>
          <p:cNvSpPr/>
          <p:nvPr/>
        </p:nvSpPr>
        <p:spPr>
          <a:xfrm>
            <a:off x="1243440" y="55533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FLAG segmentation</a:t>
            </a:r>
            <a:endParaRPr b="0" lang="en-US" sz="950" strike="noStrike" u="none">
              <a:solidFill>
                <a:srgbClr val="000000"/>
              </a:solidFill>
              <a:effectLst/>
              <a:uFillTx/>
              <a:latin typeface="Arial"/>
            </a:endParaRPr>
          </a:p>
        </p:txBody>
      </p:sp>
      <p:sp>
        <p:nvSpPr>
          <p:cNvPr id="2775" name="Shape 67"/>
          <p:cNvSpPr/>
          <p:nvPr/>
        </p:nvSpPr>
        <p:spPr>
          <a:xfrm>
            <a:off x="9541440" y="5635800"/>
            <a:ext cx="2027880" cy="127800"/>
          </a:xfrm>
          <a:prstGeom prst="roundRect">
            <a:avLst>
              <a:gd name="adj" fmla="val 28571"/>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776" name="Shape 68"/>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777" name="Text 69"/>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2778" name="Text 70"/>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2779" name="PlaceHolder 1"/>
          <p:cNvSpPr>
            <a:spLocks noGrp="1"/>
          </p:cNvSpPr>
          <p:nvPr>
            <p:ph type="sldNum" idx="62"/>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84D7558B-F56C-48CD-A70F-13CD0E077CFB}"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6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780"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2781"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2782" name="Shape 2"/>
          <p:cNvSpPr/>
          <p:nvPr/>
        </p:nvSpPr>
        <p:spPr>
          <a:xfrm>
            <a:off x="621720" y="311040"/>
            <a:ext cx="239544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783" name="Text 3"/>
          <p:cNvSpPr/>
          <p:nvPr/>
        </p:nvSpPr>
        <p:spPr>
          <a:xfrm>
            <a:off x="804600" y="329040"/>
            <a:ext cx="206604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CARBON PERFORMANCE</a:t>
            </a:r>
            <a:endParaRPr b="0" lang="en-US" sz="950" strike="noStrike" u="none">
              <a:solidFill>
                <a:srgbClr val="000000"/>
              </a:solidFill>
              <a:effectLst/>
              <a:uFillTx/>
              <a:latin typeface="Arial"/>
            </a:endParaRPr>
          </a:p>
        </p:txBody>
      </p:sp>
      <p:sp>
        <p:nvSpPr>
          <p:cNvPr id="2784" name="Text 4"/>
          <p:cNvSpPr/>
          <p:nvPr/>
        </p:nvSpPr>
        <p:spPr>
          <a:xfrm>
            <a:off x="621720" y="768240"/>
            <a:ext cx="10947600" cy="804240"/>
          </a:xfrm>
          <a:prstGeom prst="rect">
            <a:avLst/>
          </a:prstGeom>
          <a:noFill/>
          <a:ln w="0">
            <a:noFill/>
          </a:ln>
        </p:spPr>
        <p:style>
          <a:lnRef idx="0"/>
          <a:fillRef idx="0"/>
          <a:effectRef idx="0"/>
          <a:fontRef idx="minor"/>
        </p:style>
        <p:txBody>
          <a:bodyPr lIns="0" rIns="0" tIns="0" bIns="0" anchor="t">
            <a:normAutofit lnSpcReduction="9999"/>
          </a:bodyPr>
          <a:p>
            <a:pPr defTabSz="914400">
              <a:lnSpc>
                <a:spcPct val="100000"/>
              </a:lnSpc>
              <a:tabLst>
                <a:tab algn="l" pos="0"/>
              </a:tabLst>
            </a:pPr>
            <a:r>
              <a:rPr b="1" lang="en-US" sz="2800" strike="noStrike" u="none">
                <a:solidFill>
                  <a:srgbClr val="1e2420"/>
                </a:solidFill>
                <a:effectLst/>
                <a:uFillTx/>
                <a:latin typeface="Calibri"/>
                <a:ea typeface="Calibri"/>
              </a:rPr>
              <a:t>The Carbon Performance plan on a timeline: inventory and intelligence</a:t>
            </a:r>
            <a:endParaRPr b="0" lang="en-US" sz="2800" strike="noStrike" u="none">
              <a:solidFill>
                <a:srgbClr val="000000"/>
              </a:solidFill>
              <a:effectLst/>
              <a:uFillTx/>
              <a:latin typeface="Arial"/>
            </a:endParaRPr>
          </a:p>
        </p:txBody>
      </p:sp>
      <p:sp>
        <p:nvSpPr>
          <p:cNvPr id="2785" name="Text 5"/>
          <p:cNvSpPr/>
          <p:nvPr/>
        </p:nvSpPr>
        <p:spPr>
          <a:xfrm>
            <a:off x="621720" y="15728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Inventory governance and intelligence commitments laid over 2026 and 2027 quarters.</a:t>
            </a:r>
            <a:endParaRPr b="0" lang="en-US" sz="1250" strike="noStrike" u="none">
              <a:solidFill>
                <a:srgbClr val="000000"/>
              </a:solidFill>
              <a:effectLst/>
              <a:uFillTx/>
              <a:latin typeface="Arial"/>
            </a:endParaRPr>
          </a:p>
        </p:txBody>
      </p:sp>
      <p:sp>
        <p:nvSpPr>
          <p:cNvPr id="2786"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787" name="Shape 7"/>
          <p:cNvSpPr/>
          <p:nvPr/>
        </p:nvSpPr>
        <p:spPr>
          <a:xfrm>
            <a:off x="621720" y="1874520"/>
            <a:ext cx="10947600" cy="456840"/>
          </a:xfrm>
          <a:prstGeom prst="rect">
            <a:avLst/>
          </a:prstGeom>
          <a:solidFill>
            <a:srgbClr val="f1f3f2"/>
          </a:solidFill>
          <a:ln w="635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788" name="Text 8"/>
          <p:cNvSpPr/>
          <p:nvPr/>
        </p:nvSpPr>
        <p:spPr>
          <a:xfrm>
            <a:off x="749880" y="2020680"/>
            <a:ext cx="260568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99" strike="noStrike" u="none">
                <a:solidFill>
                  <a:srgbClr val="5a625c"/>
                </a:solidFill>
                <a:effectLst/>
                <a:uFillTx/>
                <a:latin typeface="Calibri"/>
                <a:ea typeface="Calibri"/>
              </a:rPr>
              <a:t>CAPABILITY</a:t>
            </a:r>
            <a:endParaRPr b="0" lang="en-US" sz="850" strike="noStrike" u="none">
              <a:solidFill>
                <a:srgbClr val="000000"/>
              </a:solidFill>
              <a:effectLst/>
              <a:uFillTx/>
              <a:latin typeface="Arial"/>
            </a:endParaRPr>
          </a:p>
        </p:txBody>
      </p:sp>
      <p:sp>
        <p:nvSpPr>
          <p:cNvPr id="2789" name="Text 9"/>
          <p:cNvSpPr/>
          <p:nvPr/>
        </p:nvSpPr>
        <p:spPr>
          <a:xfrm>
            <a:off x="3456360" y="1901880"/>
            <a:ext cx="405648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2026</a:t>
            </a:r>
            <a:endParaRPr b="0" lang="en-US" sz="1200" strike="noStrike" u="none">
              <a:solidFill>
                <a:srgbClr val="000000"/>
              </a:solidFill>
              <a:effectLst/>
              <a:uFillTx/>
              <a:latin typeface="Arial"/>
            </a:endParaRPr>
          </a:p>
        </p:txBody>
      </p:sp>
      <p:sp>
        <p:nvSpPr>
          <p:cNvPr id="2790" name="Text 10"/>
          <p:cNvSpPr/>
          <p:nvPr/>
        </p:nvSpPr>
        <p:spPr>
          <a:xfrm>
            <a:off x="345636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2791" name="Text 11"/>
          <p:cNvSpPr/>
          <p:nvPr/>
        </p:nvSpPr>
        <p:spPr>
          <a:xfrm>
            <a:off x="447048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2792" name="Text 12"/>
          <p:cNvSpPr/>
          <p:nvPr/>
        </p:nvSpPr>
        <p:spPr>
          <a:xfrm>
            <a:off x="548496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2793" name="Text 13"/>
          <p:cNvSpPr/>
          <p:nvPr/>
        </p:nvSpPr>
        <p:spPr>
          <a:xfrm>
            <a:off x="649908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2794" name="Text 14"/>
          <p:cNvSpPr/>
          <p:nvPr/>
        </p:nvSpPr>
        <p:spPr>
          <a:xfrm>
            <a:off x="7513200" y="1901880"/>
            <a:ext cx="405648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2027</a:t>
            </a:r>
            <a:endParaRPr b="0" lang="en-US" sz="1200" strike="noStrike" u="none">
              <a:solidFill>
                <a:srgbClr val="000000"/>
              </a:solidFill>
              <a:effectLst/>
              <a:uFillTx/>
              <a:latin typeface="Arial"/>
            </a:endParaRPr>
          </a:p>
        </p:txBody>
      </p:sp>
      <p:sp>
        <p:nvSpPr>
          <p:cNvPr id="2795" name="Text 15"/>
          <p:cNvSpPr/>
          <p:nvPr/>
        </p:nvSpPr>
        <p:spPr>
          <a:xfrm>
            <a:off x="751320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2796" name="Text 16"/>
          <p:cNvSpPr/>
          <p:nvPr/>
        </p:nvSpPr>
        <p:spPr>
          <a:xfrm>
            <a:off x="852732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2797" name="Text 17"/>
          <p:cNvSpPr/>
          <p:nvPr/>
        </p:nvSpPr>
        <p:spPr>
          <a:xfrm>
            <a:off x="954144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2798" name="Text 18"/>
          <p:cNvSpPr/>
          <p:nvPr/>
        </p:nvSpPr>
        <p:spPr>
          <a:xfrm>
            <a:off x="1055556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2799" name="Shape 19"/>
          <p:cNvSpPr/>
          <p:nvPr/>
        </p:nvSpPr>
        <p:spPr>
          <a:xfrm>
            <a:off x="345636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800" name="Shape 20"/>
          <p:cNvSpPr/>
          <p:nvPr/>
        </p:nvSpPr>
        <p:spPr>
          <a:xfrm>
            <a:off x="447048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801" name="Shape 21"/>
          <p:cNvSpPr/>
          <p:nvPr/>
        </p:nvSpPr>
        <p:spPr>
          <a:xfrm>
            <a:off x="548460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802" name="Shape 22"/>
          <p:cNvSpPr/>
          <p:nvPr/>
        </p:nvSpPr>
        <p:spPr>
          <a:xfrm>
            <a:off x="649872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803" name="Shape 23"/>
          <p:cNvSpPr/>
          <p:nvPr/>
        </p:nvSpPr>
        <p:spPr>
          <a:xfrm>
            <a:off x="751284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804" name="Shape 24"/>
          <p:cNvSpPr/>
          <p:nvPr/>
        </p:nvSpPr>
        <p:spPr>
          <a:xfrm>
            <a:off x="852732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805" name="Shape 25"/>
          <p:cNvSpPr/>
          <p:nvPr/>
        </p:nvSpPr>
        <p:spPr>
          <a:xfrm>
            <a:off x="954144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806" name="Shape 26"/>
          <p:cNvSpPr/>
          <p:nvPr/>
        </p:nvSpPr>
        <p:spPr>
          <a:xfrm>
            <a:off x="1055556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807" name="Shape 27"/>
          <p:cNvSpPr/>
          <p:nvPr/>
        </p:nvSpPr>
        <p:spPr>
          <a:xfrm>
            <a:off x="1156968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2808" name="Shape 28"/>
          <p:cNvSpPr/>
          <p:nvPr/>
        </p:nvSpPr>
        <p:spPr>
          <a:xfrm>
            <a:off x="621720" y="2331720"/>
            <a:ext cx="411120" cy="2080080"/>
          </a:xfrm>
          <a:prstGeom prst="rect">
            <a:avLst/>
          </a:prstGeom>
          <a:solidFill>
            <a:srgbClr val="ffb04c"/>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809" name="Text 29"/>
          <p:cNvSpPr/>
          <p:nvPr/>
        </p:nvSpPr>
        <p:spPr>
          <a:xfrm>
            <a:off x="685800" y="2377440"/>
            <a:ext cx="282960" cy="198864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INVENTORY</a:t>
            </a:r>
            <a:endParaRPr b="0" lang="en-US" sz="750" strike="noStrike" u="none">
              <a:solidFill>
                <a:srgbClr val="000000"/>
              </a:solidFill>
              <a:effectLst/>
              <a:uFillTx/>
              <a:latin typeface="Arial"/>
            </a:endParaRPr>
          </a:p>
        </p:txBody>
      </p:sp>
      <p:sp>
        <p:nvSpPr>
          <p:cNvPr id="2810" name="Shape 30"/>
          <p:cNvSpPr/>
          <p:nvPr/>
        </p:nvSpPr>
        <p:spPr>
          <a:xfrm>
            <a:off x="1033200" y="26287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811" name="Shape 31"/>
          <p:cNvSpPr/>
          <p:nvPr/>
        </p:nvSpPr>
        <p:spPr>
          <a:xfrm>
            <a:off x="1143000" y="237060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812" name="Text 32"/>
          <p:cNvSpPr/>
          <p:nvPr/>
        </p:nvSpPr>
        <p:spPr>
          <a:xfrm>
            <a:off x="1243440" y="233388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System admin improvements</a:t>
            </a:r>
            <a:endParaRPr b="0" lang="en-US" sz="950" strike="noStrike" u="none">
              <a:solidFill>
                <a:srgbClr val="000000"/>
              </a:solidFill>
              <a:effectLst/>
              <a:uFillTx/>
              <a:latin typeface="Arial"/>
            </a:endParaRPr>
          </a:p>
        </p:txBody>
      </p:sp>
      <p:sp>
        <p:nvSpPr>
          <p:cNvPr id="2813" name="Shape 33"/>
          <p:cNvSpPr/>
          <p:nvPr/>
        </p:nvSpPr>
        <p:spPr>
          <a:xfrm>
            <a:off x="5484960" y="2429640"/>
            <a:ext cx="1013760" cy="100800"/>
          </a:xfrm>
          <a:prstGeom prst="roundRect">
            <a:avLst>
              <a:gd name="adj" fmla="val 36199"/>
            </a:avLst>
          </a:prstGeom>
          <a:solidFill>
            <a:srgbClr val="ffb04c"/>
          </a:solidFill>
          <a:ln w="12700">
            <a:solidFill>
              <a:srgbClr val="ffb04c"/>
            </a:solidFill>
            <a:round/>
          </a:ln>
        </p:spPr>
        <p:style>
          <a:lnRef idx="0"/>
          <a:fillRef idx="0"/>
          <a:effectRef idx="0"/>
          <a:fontRef idx="minor"/>
        </p:style>
        <p:txBody>
          <a:bodyPr lIns="90000" rIns="90000" tIns="34920" bIns="34920" anchor="t">
            <a:noAutofit/>
          </a:bodyPr>
          <a:p>
            <a:endParaRPr b="0" lang="en-US" sz="1800" strike="noStrike" u="none">
              <a:solidFill>
                <a:srgbClr val="000000"/>
              </a:solidFill>
              <a:effectLst/>
              <a:uFillTx/>
              <a:latin typeface="Arial"/>
            </a:endParaRPr>
          </a:p>
        </p:txBody>
      </p:sp>
      <p:sp>
        <p:nvSpPr>
          <p:cNvPr id="2814" name="Shape 34"/>
          <p:cNvSpPr/>
          <p:nvPr/>
        </p:nvSpPr>
        <p:spPr>
          <a:xfrm>
            <a:off x="1033200" y="29260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815" name="Shape 35"/>
          <p:cNvSpPr/>
          <p:nvPr/>
        </p:nvSpPr>
        <p:spPr>
          <a:xfrm>
            <a:off x="1143000" y="266760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816" name="Text 36"/>
          <p:cNvSpPr/>
          <p:nvPr/>
        </p:nvSpPr>
        <p:spPr>
          <a:xfrm>
            <a:off x="1243440" y="263124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Inventory revamp</a:t>
            </a:r>
            <a:endParaRPr b="0" lang="en-US" sz="950" strike="noStrike" u="none">
              <a:solidFill>
                <a:srgbClr val="000000"/>
              </a:solidFill>
              <a:effectLst/>
              <a:uFillTx/>
              <a:latin typeface="Arial"/>
            </a:endParaRPr>
          </a:p>
        </p:txBody>
      </p:sp>
      <p:sp>
        <p:nvSpPr>
          <p:cNvPr id="2817" name="Shape 37"/>
          <p:cNvSpPr/>
          <p:nvPr/>
        </p:nvSpPr>
        <p:spPr>
          <a:xfrm>
            <a:off x="5484960" y="2727000"/>
            <a:ext cx="1013760" cy="100800"/>
          </a:xfrm>
          <a:prstGeom prst="roundRect">
            <a:avLst>
              <a:gd name="adj" fmla="val 36199"/>
            </a:avLst>
          </a:prstGeom>
          <a:solidFill>
            <a:srgbClr val="ffb04c"/>
          </a:solidFill>
          <a:ln w="12700">
            <a:solidFill>
              <a:srgbClr val="ffb04c"/>
            </a:solidFill>
            <a:round/>
          </a:ln>
        </p:spPr>
        <p:style>
          <a:lnRef idx="0"/>
          <a:fillRef idx="0"/>
          <a:effectRef idx="0"/>
          <a:fontRef idx="minor"/>
        </p:style>
        <p:txBody>
          <a:bodyPr lIns="90000" rIns="90000" tIns="34920" bIns="34920" anchor="t">
            <a:noAutofit/>
          </a:bodyPr>
          <a:p>
            <a:endParaRPr b="0" lang="en-US" sz="1800" strike="noStrike" u="none">
              <a:solidFill>
                <a:srgbClr val="000000"/>
              </a:solidFill>
              <a:effectLst/>
              <a:uFillTx/>
              <a:latin typeface="Arial"/>
            </a:endParaRPr>
          </a:p>
        </p:txBody>
      </p:sp>
      <p:sp>
        <p:nvSpPr>
          <p:cNvPr id="2818" name="Shape 38"/>
          <p:cNvSpPr/>
          <p:nvPr/>
        </p:nvSpPr>
        <p:spPr>
          <a:xfrm>
            <a:off x="1033200" y="32230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819" name="Shape 39"/>
          <p:cNvSpPr/>
          <p:nvPr/>
        </p:nvSpPr>
        <p:spPr>
          <a:xfrm>
            <a:off x="1143000" y="296496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820" name="Text 40"/>
          <p:cNvSpPr/>
          <p:nvPr/>
        </p:nvSpPr>
        <p:spPr>
          <a:xfrm>
            <a:off x="1243440" y="292824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Pre-calculated emissions import</a:t>
            </a:r>
            <a:endParaRPr b="0" lang="en-US" sz="950" strike="noStrike" u="none">
              <a:solidFill>
                <a:srgbClr val="000000"/>
              </a:solidFill>
              <a:effectLst/>
              <a:uFillTx/>
              <a:latin typeface="Arial"/>
            </a:endParaRPr>
          </a:p>
        </p:txBody>
      </p:sp>
      <p:sp>
        <p:nvSpPr>
          <p:cNvPr id="2821" name="Shape 41"/>
          <p:cNvSpPr/>
          <p:nvPr/>
        </p:nvSpPr>
        <p:spPr>
          <a:xfrm>
            <a:off x="5484960" y="3024000"/>
            <a:ext cx="1013760" cy="100800"/>
          </a:xfrm>
          <a:prstGeom prst="roundRect">
            <a:avLst>
              <a:gd name="adj" fmla="val 36199"/>
            </a:avLst>
          </a:prstGeom>
          <a:solidFill>
            <a:srgbClr val="ffb04c"/>
          </a:solidFill>
          <a:ln w="12700">
            <a:solidFill>
              <a:srgbClr val="ffb04c"/>
            </a:solidFill>
            <a:round/>
          </a:ln>
        </p:spPr>
        <p:style>
          <a:lnRef idx="0"/>
          <a:fillRef idx="0"/>
          <a:effectRef idx="0"/>
          <a:fontRef idx="minor"/>
        </p:style>
        <p:txBody>
          <a:bodyPr lIns="90000" rIns="90000" tIns="34920" bIns="34920" anchor="t">
            <a:noAutofit/>
          </a:bodyPr>
          <a:p>
            <a:endParaRPr b="0" lang="en-US" sz="1800" strike="noStrike" u="none">
              <a:solidFill>
                <a:srgbClr val="000000"/>
              </a:solidFill>
              <a:effectLst/>
              <a:uFillTx/>
              <a:latin typeface="Arial"/>
            </a:endParaRPr>
          </a:p>
        </p:txBody>
      </p:sp>
      <p:sp>
        <p:nvSpPr>
          <p:cNvPr id="2822" name="Shape 42"/>
          <p:cNvSpPr/>
          <p:nvPr/>
        </p:nvSpPr>
        <p:spPr>
          <a:xfrm>
            <a:off x="1033200" y="352044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823" name="Shape 43"/>
          <p:cNvSpPr/>
          <p:nvPr/>
        </p:nvSpPr>
        <p:spPr>
          <a:xfrm>
            <a:off x="1143000" y="326196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824" name="Text 44"/>
          <p:cNvSpPr/>
          <p:nvPr/>
        </p:nvSpPr>
        <p:spPr>
          <a:xfrm>
            <a:off x="1243440" y="322560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Base year, exclusions, materiality</a:t>
            </a:r>
            <a:endParaRPr b="0" lang="en-US" sz="950" strike="noStrike" u="none">
              <a:solidFill>
                <a:srgbClr val="000000"/>
              </a:solidFill>
              <a:effectLst/>
              <a:uFillTx/>
              <a:latin typeface="Arial"/>
            </a:endParaRPr>
          </a:p>
        </p:txBody>
      </p:sp>
      <p:sp>
        <p:nvSpPr>
          <p:cNvPr id="2825" name="Shape 45"/>
          <p:cNvSpPr/>
          <p:nvPr/>
        </p:nvSpPr>
        <p:spPr>
          <a:xfrm>
            <a:off x="6499080" y="3321360"/>
            <a:ext cx="1013760" cy="100800"/>
          </a:xfrm>
          <a:prstGeom prst="roundRect">
            <a:avLst>
              <a:gd name="adj" fmla="val 36199"/>
            </a:avLst>
          </a:prstGeom>
          <a:solidFill>
            <a:srgbClr val="ffb04c"/>
          </a:solidFill>
          <a:ln w="12700">
            <a:solidFill>
              <a:srgbClr val="ffb04c"/>
            </a:solidFill>
            <a:round/>
          </a:ln>
        </p:spPr>
        <p:style>
          <a:lnRef idx="0"/>
          <a:fillRef idx="0"/>
          <a:effectRef idx="0"/>
          <a:fontRef idx="minor"/>
        </p:style>
        <p:txBody>
          <a:bodyPr lIns="90000" rIns="90000" tIns="34920" bIns="34920" anchor="t">
            <a:noAutofit/>
          </a:bodyPr>
          <a:p>
            <a:endParaRPr b="0" lang="en-US" sz="1800" strike="noStrike" u="none">
              <a:solidFill>
                <a:srgbClr val="000000"/>
              </a:solidFill>
              <a:effectLst/>
              <a:uFillTx/>
              <a:latin typeface="Arial"/>
            </a:endParaRPr>
          </a:p>
        </p:txBody>
      </p:sp>
      <p:sp>
        <p:nvSpPr>
          <p:cNvPr id="2826" name="Shape 46"/>
          <p:cNvSpPr/>
          <p:nvPr/>
        </p:nvSpPr>
        <p:spPr>
          <a:xfrm>
            <a:off x="1033200" y="381744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827" name="Shape 47"/>
          <p:cNvSpPr/>
          <p:nvPr/>
        </p:nvSpPr>
        <p:spPr>
          <a:xfrm>
            <a:off x="1143000" y="355932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828" name="Text 48"/>
          <p:cNvSpPr/>
          <p:nvPr/>
        </p:nvSpPr>
        <p:spPr>
          <a:xfrm>
            <a:off x="1243440" y="352260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Financial and equity consolidation</a:t>
            </a:r>
            <a:endParaRPr b="0" lang="en-US" sz="950" strike="noStrike" u="none">
              <a:solidFill>
                <a:srgbClr val="000000"/>
              </a:solidFill>
              <a:effectLst/>
              <a:uFillTx/>
              <a:latin typeface="Arial"/>
            </a:endParaRPr>
          </a:p>
        </p:txBody>
      </p:sp>
      <p:sp>
        <p:nvSpPr>
          <p:cNvPr id="2829" name="Shape 49"/>
          <p:cNvSpPr/>
          <p:nvPr/>
        </p:nvSpPr>
        <p:spPr>
          <a:xfrm>
            <a:off x="7513200" y="3618360"/>
            <a:ext cx="2027880" cy="100800"/>
          </a:xfrm>
          <a:prstGeom prst="roundRect">
            <a:avLst>
              <a:gd name="adj" fmla="val 36199"/>
            </a:avLst>
          </a:prstGeom>
          <a:solidFill>
            <a:srgbClr val="ffb04c"/>
          </a:solidFill>
          <a:ln w="12700">
            <a:solidFill>
              <a:srgbClr val="ffb04c"/>
            </a:solidFill>
            <a:round/>
          </a:ln>
        </p:spPr>
        <p:style>
          <a:lnRef idx="0"/>
          <a:fillRef idx="0"/>
          <a:effectRef idx="0"/>
          <a:fontRef idx="minor"/>
        </p:style>
        <p:txBody>
          <a:bodyPr lIns="90000" rIns="90000" tIns="34920" bIns="34920" anchor="t">
            <a:noAutofit/>
          </a:bodyPr>
          <a:p>
            <a:endParaRPr b="0" lang="en-US" sz="1800" strike="noStrike" u="none">
              <a:solidFill>
                <a:srgbClr val="000000"/>
              </a:solidFill>
              <a:effectLst/>
              <a:uFillTx/>
              <a:latin typeface="Arial"/>
            </a:endParaRPr>
          </a:p>
        </p:txBody>
      </p:sp>
      <p:sp>
        <p:nvSpPr>
          <p:cNvPr id="2830" name="Shape 50"/>
          <p:cNvSpPr/>
          <p:nvPr/>
        </p:nvSpPr>
        <p:spPr>
          <a:xfrm>
            <a:off x="1033200" y="411480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831" name="Shape 51"/>
          <p:cNvSpPr/>
          <p:nvPr/>
        </p:nvSpPr>
        <p:spPr>
          <a:xfrm>
            <a:off x="1143000" y="385632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832" name="Text 52"/>
          <p:cNvSpPr/>
          <p:nvPr/>
        </p:nvSpPr>
        <p:spPr>
          <a:xfrm>
            <a:off x="1243440" y="38199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Rebaselining</a:t>
            </a:r>
            <a:endParaRPr b="0" lang="en-US" sz="950" strike="noStrike" u="none">
              <a:solidFill>
                <a:srgbClr val="000000"/>
              </a:solidFill>
              <a:effectLst/>
              <a:uFillTx/>
              <a:latin typeface="Arial"/>
            </a:endParaRPr>
          </a:p>
        </p:txBody>
      </p:sp>
      <p:sp>
        <p:nvSpPr>
          <p:cNvPr id="2833" name="Shape 53"/>
          <p:cNvSpPr/>
          <p:nvPr/>
        </p:nvSpPr>
        <p:spPr>
          <a:xfrm>
            <a:off x="7513200" y="3915720"/>
            <a:ext cx="2027880" cy="100800"/>
          </a:xfrm>
          <a:prstGeom prst="roundRect">
            <a:avLst>
              <a:gd name="adj" fmla="val 36199"/>
            </a:avLst>
          </a:prstGeom>
          <a:solidFill>
            <a:srgbClr val="ffb04c"/>
          </a:solidFill>
          <a:ln w="12700">
            <a:solidFill>
              <a:srgbClr val="ffb04c"/>
            </a:solidFill>
            <a:round/>
          </a:ln>
        </p:spPr>
        <p:style>
          <a:lnRef idx="0"/>
          <a:fillRef idx="0"/>
          <a:effectRef idx="0"/>
          <a:fontRef idx="minor"/>
        </p:style>
        <p:txBody>
          <a:bodyPr lIns="90000" rIns="90000" tIns="34920" bIns="34920" anchor="t">
            <a:noAutofit/>
          </a:bodyPr>
          <a:p>
            <a:endParaRPr b="0" lang="en-US" sz="1800" strike="noStrike" u="none">
              <a:solidFill>
                <a:srgbClr val="000000"/>
              </a:solidFill>
              <a:effectLst/>
              <a:uFillTx/>
              <a:latin typeface="Arial"/>
            </a:endParaRPr>
          </a:p>
        </p:txBody>
      </p:sp>
      <p:sp>
        <p:nvSpPr>
          <p:cNvPr id="2834" name="Shape 54"/>
          <p:cNvSpPr/>
          <p:nvPr/>
        </p:nvSpPr>
        <p:spPr>
          <a:xfrm>
            <a:off x="1033200" y="441180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835" name="Shape 55"/>
          <p:cNvSpPr/>
          <p:nvPr/>
        </p:nvSpPr>
        <p:spPr>
          <a:xfrm>
            <a:off x="1143000" y="415368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836" name="Text 56"/>
          <p:cNvSpPr/>
          <p:nvPr/>
        </p:nvSpPr>
        <p:spPr>
          <a:xfrm>
            <a:off x="1243440" y="41169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Dedicated auditor experience</a:t>
            </a:r>
            <a:endParaRPr b="0" lang="en-US" sz="950" strike="noStrike" u="none">
              <a:solidFill>
                <a:srgbClr val="000000"/>
              </a:solidFill>
              <a:effectLst/>
              <a:uFillTx/>
              <a:latin typeface="Arial"/>
            </a:endParaRPr>
          </a:p>
        </p:txBody>
      </p:sp>
      <p:sp>
        <p:nvSpPr>
          <p:cNvPr id="2837" name="Shape 57"/>
          <p:cNvSpPr/>
          <p:nvPr/>
        </p:nvSpPr>
        <p:spPr>
          <a:xfrm>
            <a:off x="9541440" y="4212720"/>
            <a:ext cx="2027880" cy="100800"/>
          </a:xfrm>
          <a:prstGeom prst="roundRect">
            <a:avLst>
              <a:gd name="adj" fmla="val 36199"/>
            </a:avLst>
          </a:prstGeom>
          <a:solidFill>
            <a:srgbClr val="ffb04c"/>
          </a:solidFill>
          <a:ln w="12700">
            <a:solidFill>
              <a:srgbClr val="ffb04c"/>
            </a:solidFill>
            <a:round/>
          </a:ln>
        </p:spPr>
        <p:style>
          <a:lnRef idx="0"/>
          <a:fillRef idx="0"/>
          <a:effectRef idx="0"/>
          <a:fontRef idx="minor"/>
        </p:style>
        <p:txBody>
          <a:bodyPr lIns="90000" rIns="90000" tIns="34920" bIns="34920" anchor="t">
            <a:noAutofit/>
          </a:bodyPr>
          <a:p>
            <a:endParaRPr b="0" lang="en-US" sz="1800" strike="noStrike" u="none">
              <a:solidFill>
                <a:srgbClr val="000000"/>
              </a:solidFill>
              <a:effectLst/>
              <a:uFillTx/>
              <a:latin typeface="Arial"/>
            </a:endParaRPr>
          </a:p>
        </p:txBody>
      </p:sp>
      <p:sp>
        <p:nvSpPr>
          <p:cNvPr id="2838" name="Shape 58"/>
          <p:cNvSpPr/>
          <p:nvPr/>
        </p:nvSpPr>
        <p:spPr>
          <a:xfrm>
            <a:off x="621720" y="4412160"/>
            <a:ext cx="411120" cy="1485720"/>
          </a:xfrm>
          <a:prstGeom prst="rect">
            <a:avLst/>
          </a:prstGeom>
          <a:solidFill>
            <a:srgbClr val="275b7f"/>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839" name="Text 59"/>
          <p:cNvSpPr/>
          <p:nvPr/>
        </p:nvSpPr>
        <p:spPr>
          <a:xfrm>
            <a:off x="685800" y="4457880"/>
            <a:ext cx="282960" cy="139428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INTELLIGENCE</a:t>
            </a:r>
            <a:endParaRPr b="0" lang="en-US" sz="750" strike="noStrike" u="none">
              <a:solidFill>
                <a:srgbClr val="000000"/>
              </a:solidFill>
              <a:effectLst/>
              <a:uFillTx/>
              <a:latin typeface="Arial"/>
            </a:endParaRPr>
          </a:p>
        </p:txBody>
      </p:sp>
      <p:sp>
        <p:nvSpPr>
          <p:cNvPr id="2840" name="Shape 60"/>
          <p:cNvSpPr/>
          <p:nvPr/>
        </p:nvSpPr>
        <p:spPr>
          <a:xfrm>
            <a:off x="1033200" y="470916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841" name="Shape 61"/>
          <p:cNvSpPr/>
          <p:nvPr/>
        </p:nvSpPr>
        <p:spPr>
          <a:xfrm>
            <a:off x="1143000" y="4450680"/>
            <a:ext cx="45360" cy="219240"/>
          </a:xfrm>
          <a:prstGeom prst="roundRect">
            <a:avLst>
              <a:gd name="adj" fmla="val 60000"/>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842" name="Text 62"/>
          <p:cNvSpPr/>
          <p:nvPr/>
        </p:nvSpPr>
        <p:spPr>
          <a:xfrm>
            <a:off x="1243440" y="44143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Sera for carbon inventory</a:t>
            </a:r>
            <a:endParaRPr b="0" lang="en-US" sz="950" strike="noStrike" u="none">
              <a:solidFill>
                <a:srgbClr val="000000"/>
              </a:solidFill>
              <a:effectLst/>
              <a:uFillTx/>
              <a:latin typeface="Arial"/>
            </a:endParaRPr>
          </a:p>
        </p:txBody>
      </p:sp>
      <p:sp>
        <p:nvSpPr>
          <p:cNvPr id="2843" name="Shape 63"/>
          <p:cNvSpPr/>
          <p:nvPr/>
        </p:nvSpPr>
        <p:spPr>
          <a:xfrm>
            <a:off x="6499080" y="4510080"/>
            <a:ext cx="1013760" cy="100800"/>
          </a:xfrm>
          <a:prstGeom prst="roundRect">
            <a:avLst>
              <a:gd name="adj" fmla="val 36199"/>
            </a:avLst>
          </a:prstGeom>
          <a:solidFill>
            <a:srgbClr val="275b7f"/>
          </a:solidFill>
          <a:ln w="12700">
            <a:solidFill>
              <a:srgbClr val="275b7f"/>
            </a:solidFill>
            <a:round/>
          </a:ln>
        </p:spPr>
        <p:style>
          <a:lnRef idx="0"/>
          <a:fillRef idx="0"/>
          <a:effectRef idx="0"/>
          <a:fontRef idx="minor"/>
        </p:style>
        <p:txBody>
          <a:bodyPr lIns="90000" rIns="90000" tIns="34920" bIns="34920" anchor="t">
            <a:noAutofit/>
          </a:bodyPr>
          <a:p>
            <a:endParaRPr b="0" lang="en-US" sz="1800" strike="noStrike" u="none">
              <a:solidFill>
                <a:srgbClr val="ffffff"/>
              </a:solidFill>
              <a:effectLst/>
              <a:uFillTx/>
              <a:latin typeface="Arial"/>
            </a:endParaRPr>
          </a:p>
        </p:txBody>
      </p:sp>
      <p:sp>
        <p:nvSpPr>
          <p:cNvPr id="2844" name="Shape 64"/>
          <p:cNvSpPr/>
          <p:nvPr/>
        </p:nvSpPr>
        <p:spPr>
          <a:xfrm>
            <a:off x="1033200" y="500616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845" name="Shape 65"/>
          <p:cNvSpPr/>
          <p:nvPr/>
        </p:nvSpPr>
        <p:spPr>
          <a:xfrm>
            <a:off x="1143000" y="4748040"/>
            <a:ext cx="45360" cy="219240"/>
          </a:xfrm>
          <a:prstGeom prst="roundRect">
            <a:avLst>
              <a:gd name="adj" fmla="val 60000"/>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846" name="Text 66"/>
          <p:cNvSpPr/>
          <p:nvPr/>
        </p:nvSpPr>
        <p:spPr>
          <a:xfrm>
            <a:off x="1243440" y="47113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Scenario analysis and decarbonization planning</a:t>
            </a:r>
            <a:endParaRPr b="0" lang="en-US" sz="950" strike="noStrike" u="none">
              <a:solidFill>
                <a:srgbClr val="000000"/>
              </a:solidFill>
              <a:effectLst/>
              <a:uFillTx/>
              <a:latin typeface="Arial"/>
            </a:endParaRPr>
          </a:p>
        </p:txBody>
      </p:sp>
      <p:sp>
        <p:nvSpPr>
          <p:cNvPr id="2847" name="Shape 67"/>
          <p:cNvSpPr/>
          <p:nvPr/>
        </p:nvSpPr>
        <p:spPr>
          <a:xfrm>
            <a:off x="6499080" y="4807080"/>
            <a:ext cx="1013760" cy="100800"/>
          </a:xfrm>
          <a:prstGeom prst="roundRect">
            <a:avLst>
              <a:gd name="adj" fmla="val 36199"/>
            </a:avLst>
          </a:prstGeom>
          <a:solidFill>
            <a:srgbClr val="275b7f"/>
          </a:solidFill>
          <a:ln w="12700">
            <a:solidFill>
              <a:srgbClr val="275b7f"/>
            </a:solidFill>
            <a:round/>
          </a:ln>
        </p:spPr>
        <p:style>
          <a:lnRef idx="0"/>
          <a:fillRef idx="0"/>
          <a:effectRef idx="0"/>
          <a:fontRef idx="minor"/>
        </p:style>
        <p:txBody>
          <a:bodyPr lIns="90000" rIns="90000" tIns="34920" bIns="34920" anchor="t">
            <a:noAutofit/>
          </a:bodyPr>
          <a:p>
            <a:endParaRPr b="0" lang="en-US" sz="1800" strike="noStrike" u="none">
              <a:solidFill>
                <a:srgbClr val="ffffff"/>
              </a:solidFill>
              <a:effectLst/>
              <a:uFillTx/>
              <a:latin typeface="Arial"/>
            </a:endParaRPr>
          </a:p>
        </p:txBody>
      </p:sp>
      <p:sp>
        <p:nvSpPr>
          <p:cNvPr id="2848" name="Shape 68"/>
          <p:cNvSpPr/>
          <p:nvPr/>
        </p:nvSpPr>
        <p:spPr>
          <a:xfrm>
            <a:off x="1033200" y="53035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849" name="Shape 69"/>
          <p:cNvSpPr/>
          <p:nvPr/>
        </p:nvSpPr>
        <p:spPr>
          <a:xfrm>
            <a:off x="1143000" y="5045040"/>
            <a:ext cx="45360" cy="219240"/>
          </a:xfrm>
          <a:prstGeom prst="roundRect">
            <a:avLst>
              <a:gd name="adj" fmla="val 60000"/>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850" name="Text 70"/>
          <p:cNvSpPr/>
          <p:nvPr/>
        </p:nvSpPr>
        <p:spPr>
          <a:xfrm>
            <a:off x="1243440" y="500868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Improved method transparency per data point</a:t>
            </a:r>
            <a:endParaRPr b="0" lang="en-US" sz="950" strike="noStrike" u="none">
              <a:solidFill>
                <a:srgbClr val="000000"/>
              </a:solidFill>
              <a:effectLst/>
              <a:uFillTx/>
              <a:latin typeface="Arial"/>
            </a:endParaRPr>
          </a:p>
        </p:txBody>
      </p:sp>
      <p:sp>
        <p:nvSpPr>
          <p:cNvPr id="2851" name="Shape 71"/>
          <p:cNvSpPr/>
          <p:nvPr/>
        </p:nvSpPr>
        <p:spPr>
          <a:xfrm>
            <a:off x="7513200" y="5104440"/>
            <a:ext cx="2027880" cy="100800"/>
          </a:xfrm>
          <a:prstGeom prst="roundRect">
            <a:avLst>
              <a:gd name="adj" fmla="val 36199"/>
            </a:avLst>
          </a:prstGeom>
          <a:solidFill>
            <a:srgbClr val="275b7f"/>
          </a:solidFill>
          <a:ln w="12700">
            <a:solidFill>
              <a:srgbClr val="275b7f"/>
            </a:solidFill>
            <a:round/>
          </a:ln>
        </p:spPr>
        <p:style>
          <a:lnRef idx="0"/>
          <a:fillRef idx="0"/>
          <a:effectRef idx="0"/>
          <a:fontRef idx="minor"/>
        </p:style>
        <p:txBody>
          <a:bodyPr lIns="90000" rIns="90000" tIns="34920" bIns="34920" anchor="t">
            <a:noAutofit/>
          </a:bodyPr>
          <a:p>
            <a:endParaRPr b="0" lang="en-US" sz="1800" strike="noStrike" u="none">
              <a:solidFill>
                <a:srgbClr val="ffffff"/>
              </a:solidFill>
              <a:effectLst/>
              <a:uFillTx/>
              <a:latin typeface="Arial"/>
            </a:endParaRPr>
          </a:p>
        </p:txBody>
      </p:sp>
      <p:sp>
        <p:nvSpPr>
          <p:cNvPr id="2852" name="Shape 72"/>
          <p:cNvSpPr/>
          <p:nvPr/>
        </p:nvSpPr>
        <p:spPr>
          <a:xfrm>
            <a:off x="1033200" y="56005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853" name="Shape 73"/>
          <p:cNvSpPr/>
          <p:nvPr/>
        </p:nvSpPr>
        <p:spPr>
          <a:xfrm>
            <a:off x="1143000" y="5342400"/>
            <a:ext cx="45360" cy="219240"/>
          </a:xfrm>
          <a:prstGeom prst="roundRect">
            <a:avLst>
              <a:gd name="adj" fmla="val 60000"/>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854" name="Text 74"/>
          <p:cNvSpPr/>
          <p:nvPr/>
        </p:nvSpPr>
        <p:spPr>
          <a:xfrm>
            <a:off x="1243440" y="530568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Supply chain PCF integration</a:t>
            </a:r>
            <a:endParaRPr b="0" lang="en-US" sz="950" strike="noStrike" u="none">
              <a:solidFill>
                <a:srgbClr val="000000"/>
              </a:solidFill>
              <a:effectLst/>
              <a:uFillTx/>
              <a:latin typeface="Arial"/>
            </a:endParaRPr>
          </a:p>
        </p:txBody>
      </p:sp>
      <p:sp>
        <p:nvSpPr>
          <p:cNvPr id="2855" name="Shape 75"/>
          <p:cNvSpPr/>
          <p:nvPr/>
        </p:nvSpPr>
        <p:spPr>
          <a:xfrm>
            <a:off x="7513200" y="5401440"/>
            <a:ext cx="2027880" cy="100800"/>
          </a:xfrm>
          <a:prstGeom prst="roundRect">
            <a:avLst>
              <a:gd name="adj" fmla="val 36199"/>
            </a:avLst>
          </a:prstGeom>
          <a:solidFill>
            <a:srgbClr val="275b7f"/>
          </a:solidFill>
          <a:ln w="12700">
            <a:solidFill>
              <a:srgbClr val="275b7f"/>
            </a:solidFill>
            <a:round/>
          </a:ln>
        </p:spPr>
        <p:style>
          <a:lnRef idx="0"/>
          <a:fillRef idx="0"/>
          <a:effectRef idx="0"/>
          <a:fontRef idx="minor"/>
        </p:style>
        <p:txBody>
          <a:bodyPr lIns="90000" rIns="90000" tIns="34920" bIns="34920" anchor="t">
            <a:noAutofit/>
          </a:bodyPr>
          <a:p>
            <a:endParaRPr b="0" lang="en-US" sz="1800" strike="noStrike" u="none">
              <a:solidFill>
                <a:srgbClr val="ffffff"/>
              </a:solidFill>
              <a:effectLst/>
              <a:uFillTx/>
              <a:latin typeface="Arial"/>
            </a:endParaRPr>
          </a:p>
        </p:txBody>
      </p:sp>
      <p:sp>
        <p:nvSpPr>
          <p:cNvPr id="2856" name="Shape 76"/>
          <p:cNvSpPr/>
          <p:nvPr/>
        </p:nvSpPr>
        <p:spPr>
          <a:xfrm>
            <a:off x="1033200" y="58978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857" name="Shape 77"/>
          <p:cNvSpPr/>
          <p:nvPr/>
        </p:nvSpPr>
        <p:spPr>
          <a:xfrm>
            <a:off x="1143000" y="5639400"/>
            <a:ext cx="45360" cy="219240"/>
          </a:xfrm>
          <a:prstGeom prst="roundRect">
            <a:avLst>
              <a:gd name="adj" fmla="val 60000"/>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2858" name="Text 78"/>
          <p:cNvSpPr/>
          <p:nvPr/>
        </p:nvSpPr>
        <p:spPr>
          <a:xfrm>
            <a:off x="1243440" y="560304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Advanced ECM library</a:t>
            </a:r>
            <a:endParaRPr b="0" lang="en-US" sz="950" strike="noStrike" u="none">
              <a:solidFill>
                <a:srgbClr val="000000"/>
              </a:solidFill>
              <a:effectLst/>
              <a:uFillTx/>
              <a:latin typeface="Arial"/>
            </a:endParaRPr>
          </a:p>
        </p:txBody>
      </p:sp>
      <p:sp>
        <p:nvSpPr>
          <p:cNvPr id="2859" name="Shape 79"/>
          <p:cNvSpPr/>
          <p:nvPr/>
        </p:nvSpPr>
        <p:spPr>
          <a:xfrm>
            <a:off x="7513200" y="5698800"/>
            <a:ext cx="2027880" cy="100800"/>
          </a:xfrm>
          <a:prstGeom prst="roundRect">
            <a:avLst>
              <a:gd name="adj" fmla="val 36199"/>
            </a:avLst>
          </a:prstGeom>
          <a:solidFill>
            <a:srgbClr val="275b7f"/>
          </a:solidFill>
          <a:ln w="12700">
            <a:solidFill>
              <a:srgbClr val="275b7f"/>
            </a:solidFill>
            <a:round/>
          </a:ln>
        </p:spPr>
        <p:style>
          <a:lnRef idx="0"/>
          <a:fillRef idx="0"/>
          <a:effectRef idx="0"/>
          <a:fontRef idx="minor"/>
        </p:style>
        <p:txBody>
          <a:bodyPr lIns="90000" rIns="90000" tIns="34920" bIns="34920" anchor="t">
            <a:noAutofit/>
          </a:bodyPr>
          <a:p>
            <a:endParaRPr b="0" lang="en-US" sz="1800" strike="noStrike" u="none">
              <a:solidFill>
                <a:srgbClr val="ffffff"/>
              </a:solidFill>
              <a:effectLst/>
              <a:uFillTx/>
              <a:latin typeface="Arial"/>
            </a:endParaRPr>
          </a:p>
        </p:txBody>
      </p:sp>
      <p:sp>
        <p:nvSpPr>
          <p:cNvPr id="2860" name="Shape 80"/>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861" name="Text 81"/>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2862" name="Text 82"/>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2863" name="PlaceHolder 1"/>
          <p:cNvSpPr>
            <a:spLocks noGrp="1"/>
          </p:cNvSpPr>
          <p:nvPr>
            <p:ph type="sldNum" idx="63"/>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5D0F66CB-D38C-4318-8B80-7E2377A0EEDC}"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6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64"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2865"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2866" name="Shape 2"/>
          <p:cNvSpPr/>
          <p:nvPr/>
        </p:nvSpPr>
        <p:spPr>
          <a:xfrm>
            <a:off x="621720" y="311040"/>
            <a:ext cx="239544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867" name="Text 3"/>
          <p:cNvSpPr/>
          <p:nvPr/>
        </p:nvSpPr>
        <p:spPr>
          <a:xfrm>
            <a:off x="804600" y="329040"/>
            <a:ext cx="206604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CARBON PERFORMANCE</a:t>
            </a:r>
            <a:endParaRPr b="0" lang="en-US" sz="950" strike="noStrike" u="none">
              <a:solidFill>
                <a:srgbClr val="000000"/>
              </a:solidFill>
              <a:effectLst/>
              <a:uFillTx/>
              <a:latin typeface="Arial"/>
            </a:endParaRPr>
          </a:p>
        </p:txBody>
      </p:sp>
      <p:sp>
        <p:nvSpPr>
          <p:cNvPr id="2868"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What ships inside the Carbon Performance goals</a:t>
            </a:r>
            <a:endParaRPr b="0" lang="en-US" sz="3200" strike="noStrike" u="none">
              <a:solidFill>
                <a:srgbClr val="000000"/>
              </a:solidFill>
              <a:effectLst/>
              <a:uFillTx/>
              <a:latin typeface="Arial"/>
            </a:endParaRPr>
          </a:p>
        </p:txBody>
      </p:sp>
      <p:sp>
        <p:nvSpPr>
          <p:cNvPr id="2869"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Factors and calculation depth first, then coverage, then the governance that makes it auditable.</a:t>
            </a:r>
            <a:endParaRPr b="0" lang="en-US" sz="1250" strike="noStrike" u="none">
              <a:solidFill>
                <a:srgbClr val="000000"/>
              </a:solidFill>
              <a:effectLst/>
              <a:uFillTx/>
              <a:latin typeface="Arial"/>
            </a:endParaRPr>
          </a:p>
        </p:txBody>
      </p:sp>
      <p:sp>
        <p:nvSpPr>
          <p:cNvPr id="2870"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871" name="Shape 7"/>
          <p:cNvSpPr/>
          <p:nvPr/>
        </p:nvSpPr>
        <p:spPr>
          <a:xfrm>
            <a:off x="6217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872"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2873"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GOAL 1</a:t>
            </a:r>
            <a:endParaRPr b="0" lang="en-US" sz="900" strike="noStrike" u="none">
              <a:solidFill>
                <a:srgbClr val="000000"/>
              </a:solidFill>
              <a:effectLst/>
              <a:uFillTx/>
              <a:latin typeface="Arial"/>
            </a:endParaRPr>
          </a:p>
        </p:txBody>
      </p:sp>
      <p:sp>
        <p:nvSpPr>
          <p:cNvPr id="2874"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400" strike="noStrike" u="none">
                <a:solidFill>
                  <a:srgbClr val="1e2420"/>
                </a:solidFill>
                <a:effectLst/>
                <a:uFillTx/>
                <a:latin typeface="Calibri"/>
                <a:ea typeface="Calibri"/>
              </a:rPr>
              <a:t>Factors and calculation depth</a:t>
            </a:r>
            <a:endParaRPr b="0" lang="en-US" sz="1400" strike="noStrike" u="none">
              <a:solidFill>
                <a:srgbClr val="000000"/>
              </a:solidFill>
              <a:effectLst/>
              <a:uFillTx/>
              <a:latin typeface="Arial"/>
            </a:endParaRPr>
          </a:p>
        </p:txBody>
      </p:sp>
      <p:sp>
        <p:nvSpPr>
          <p:cNvPr id="2875" name="Text 11"/>
          <p:cNvSpPr/>
          <p:nvPr/>
        </p:nvSpPr>
        <p:spPr>
          <a:xfrm>
            <a:off x="80460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Make the number defensible.</a:t>
            </a:r>
            <a:endParaRPr b="0" lang="en-US" sz="1100" strike="noStrike" u="none">
              <a:solidFill>
                <a:srgbClr val="000000"/>
              </a:solidFill>
              <a:effectLst/>
              <a:uFillTx/>
              <a:latin typeface="Arial"/>
            </a:endParaRPr>
          </a:p>
        </p:txBody>
      </p:sp>
      <p:sp>
        <p:nvSpPr>
          <p:cNvPr id="2876" name="Text 12"/>
          <p:cNvSpPr/>
          <p:nvPr/>
        </p:nvSpPr>
        <p:spPr>
          <a:xfrm>
            <a:off x="82296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EAC and PPA management for market based Scope 2</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Thermal source attribution across Scope 1 and 2</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Refrigerant leakage to usage based fugitive emissions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Supplier specific and standard factor datasets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Improved method transparency per data point</a:t>
            </a:r>
            <a:endParaRPr b="0" lang="en-US" sz="1100" strike="noStrike" u="none">
              <a:solidFill>
                <a:srgbClr val="000000"/>
              </a:solidFill>
              <a:effectLst/>
              <a:uFillTx/>
              <a:latin typeface="Arial"/>
            </a:endParaRPr>
          </a:p>
        </p:txBody>
      </p:sp>
      <p:sp>
        <p:nvSpPr>
          <p:cNvPr id="2877" name="Shape 13"/>
          <p:cNvSpPr/>
          <p:nvPr/>
        </p:nvSpPr>
        <p:spPr>
          <a:xfrm>
            <a:off x="342756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878" name="Shape 14"/>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2879" name="Text 15"/>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GOAL 2</a:t>
            </a:r>
            <a:endParaRPr b="0" lang="en-US" sz="900" strike="noStrike" u="none">
              <a:solidFill>
                <a:srgbClr val="000000"/>
              </a:solidFill>
              <a:effectLst/>
              <a:uFillTx/>
              <a:latin typeface="Arial"/>
            </a:endParaRPr>
          </a:p>
        </p:txBody>
      </p:sp>
      <p:sp>
        <p:nvSpPr>
          <p:cNvPr id="2880" name="Text 16"/>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Inventory coverage</a:t>
            </a:r>
            <a:endParaRPr b="0" lang="en-US" sz="1600" strike="noStrike" u="none">
              <a:solidFill>
                <a:srgbClr val="000000"/>
              </a:solidFill>
              <a:effectLst/>
              <a:uFillTx/>
              <a:latin typeface="Arial"/>
            </a:endParaRPr>
          </a:p>
        </p:txBody>
      </p:sp>
      <p:sp>
        <p:nvSpPr>
          <p:cNvPr id="2881" name="Text 17"/>
          <p:cNvSpPr/>
          <p:nvPr/>
        </p:nvSpPr>
        <p:spPr>
          <a:xfrm>
            <a:off x="361044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Close the Scope 3 gaps.</a:t>
            </a:r>
            <a:endParaRPr b="0" lang="en-US" sz="1100" strike="noStrike" u="none">
              <a:solidFill>
                <a:srgbClr val="000000"/>
              </a:solidFill>
              <a:effectLst/>
              <a:uFillTx/>
              <a:latin typeface="Arial"/>
            </a:endParaRPr>
          </a:p>
        </p:txBody>
      </p:sp>
      <p:sp>
        <p:nvSpPr>
          <p:cNvPr id="2882" name="Text 18"/>
          <p:cNvSpPr/>
          <p:nvPr/>
        </p:nvSpPr>
        <p:spPr>
          <a:xfrm>
            <a:off x="362844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Sold product emissions, categories 10, 11 and 12</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Employee commuting and working from home, category 7</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Category 4 and 9 product linked transport</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Waste emission estimation, category 5</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Category 15 investments and FLAG segmentation</a:t>
            </a:r>
            <a:endParaRPr b="0" lang="en-US" sz="1100" strike="noStrike" u="none">
              <a:solidFill>
                <a:srgbClr val="000000"/>
              </a:solidFill>
              <a:effectLst/>
              <a:uFillTx/>
              <a:latin typeface="Arial"/>
            </a:endParaRPr>
          </a:p>
        </p:txBody>
      </p:sp>
      <p:sp>
        <p:nvSpPr>
          <p:cNvPr id="2883" name="Shape 19"/>
          <p:cNvSpPr/>
          <p:nvPr/>
        </p:nvSpPr>
        <p:spPr>
          <a:xfrm>
            <a:off x="623304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884" name="Shape 20"/>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2885" name="Text 21"/>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GOAL 3</a:t>
            </a:r>
            <a:endParaRPr b="0" lang="en-US" sz="900" strike="noStrike" u="none">
              <a:solidFill>
                <a:srgbClr val="000000"/>
              </a:solidFill>
              <a:effectLst/>
              <a:uFillTx/>
              <a:latin typeface="Arial"/>
            </a:endParaRPr>
          </a:p>
        </p:txBody>
      </p:sp>
      <p:sp>
        <p:nvSpPr>
          <p:cNvPr id="2886" name="Text 22"/>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Boundaries and governance</a:t>
            </a:r>
            <a:endParaRPr b="0" lang="en-US" sz="1600" strike="noStrike" u="none">
              <a:solidFill>
                <a:srgbClr val="000000"/>
              </a:solidFill>
              <a:effectLst/>
              <a:uFillTx/>
              <a:latin typeface="Arial"/>
            </a:endParaRPr>
          </a:p>
        </p:txBody>
      </p:sp>
      <p:sp>
        <p:nvSpPr>
          <p:cNvPr id="2887" name="Text 23"/>
          <p:cNvSpPr/>
          <p:nvPr/>
        </p:nvSpPr>
        <p:spPr>
          <a:xfrm>
            <a:off x="641592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Consultant grade control.</a:t>
            </a:r>
            <a:endParaRPr b="0" lang="en-US" sz="1100" strike="noStrike" u="none">
              <a:solidFill>
                <a:srgbClr val="000000"/>
              </a:solidFill>
              <a:effectLst/>
              <a:uFillTx/>
              <a:latin typeface="Arial"/>
            </a:endParaRPr>
          </a:p>
        </p:txBody>
      </p:sp>
      <p:sp>
        <p:nvSpPr>
          <p:cNvPr id="2888" name="Text 24"/>
          <p:cNvSpPr/>
          <p:nvPr/>
        </p:nvSpPr>
        <p:spPr>
          <a:xfrm>
            <a:off x="643428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Base year, exclusions and materiality settings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Financial and equity consolidation of ownership</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Rebaselining and base year recalculation workflows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Inventory revamp with per gas breakdown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Dedicated auditor experience</a:t>
            </a:r>
            <a:endParaRPr b="0" lang="en-US" sz="1100" strike="noStrike" u="none">
              <a:solidFill>
                <a:srgbClr val="000000"/>
              </a:solidFill>
              <a:effectLst/>
              <a:uFillTx/>
              <a:latin typeface="Arial"/>
            </a:endParaRPr>
          </a:p>
        </p:txBody>
      </p:sp>
      <p:sp>
        <p:nvSpPr>
          <p:cNvPr id="2889" name="Shape 25"/>
          <p:cNvSpPr/>
          <p:nvPr/>
        </p:nvSpPr>
        <p:spPr>
          <a:xfrm>
            <a:off x="90385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890" name="Shape 26"/>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2891" name="Text 27"/>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GOAL 4</a:t>
            </a:r>
            <a:endParaRPr b="0" lang="en-US" sz="900" strike="noStrike" u="none">
              <a:solidFill>
                <a:srgbClr val="000000"/>
              </a:solidFill>
              <a:effectLst/>
              <a:uFillTx/>
              <a:latin typeface="Arial"/>
            </a:endParaRPr>
          </a:p>
        </p:txBody>
      </p:sp>
      <p:sp>
        <p:nvSpPr>
          <p:cNvPr id="2892" name="Text 28"/>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AI and decision support</a:t>
            </a:r>
            <a:endParaRPr b="0" lang="en-US" sz="1600" strike="noStrike" u="none">
              <a:solidFill>
                <a:srgbClr val="000000"/>
              </a:solidFill>
              <a:effectLst/>
              <a:uFillTx/>
              <a:latin typeface="Arial"/>
            </a:endParaRPr>
          </a:p>
        </p:txBody>
      </p:sp>
      <p:sp>
        <p:nvSpPr>
          <p:cNvPr id="2893" name="Text 29"/>
          <p:cNvSpPr/>
          <p:nvPr/>
        </p:nvSpPr>
        <p:spPr>
          <a:xfrm>
            <a:off x="922140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From inventory to action.</a:t>
            </a:r>
            <a:endParaRPr b="0" lang="en-US" sz="1100" strike="noStrike" u="none">
              <a:solidFill>
                <a:srgbClr val="000000"/>
              </a:solidFill>
              <a:effectLst/>
              <a:uFillTx/>
              <a:latin typeface="Arial"/>
            </a:endParaRPr>
          </a:p>
        </p:txBody>
      </p:sp>
      <p:sp>
        <p:nvSpPr>
          <p:cNvPr id="2894" name="Text 30"/>
          <p:cNvSpPr/>
          <p:nvPr/>
        </p:nvSpPr>
        <p:spPr>
          <a:xfrm>
            <a:off x="923976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Sera for carbon inventory, AI guided troubleshooting</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Advanced scenario analysis and decarbonization planning</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Initiatives and actions management</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Advanced ECM library with energy and carbon cobenefits</a:t>
            </a:r>
            <a:endParaRPr b="0" lang="en-US" sz="1100" strike="noStrike" u="none">
              <a:solidFill>
                <a:srgbClr val="000000"/>
              </a:solidFill>
              <a:effectLst/>
              <a:uFillTx/>
              <a:latin typeface="Arial"/>
            </a:endParaRPr>
          </a:p>
        </p:txBody>
      </p:sp>
      <p:sp>
        <p:nvSpPr>
          <p:cNvPr id="2895" name="Shape 31"/>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896" name="Text 32"/>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2897" name="Text 33"/>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2898" name="PlaceHolder 1"/>
          <p:cNvSpPr>
            <a:spLocks noGrp="1"/>
          </p:cNvSpPr>
          <p:nvPr>
            <p:ph type="sldNum" idx="64"/>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1A6E7312-F3A4-4025-A929-4D7F3F1F94A3}"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7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99"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2900"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2901" name="Shape 2"/>
          <p:cNvSpPr/>
          <p:nvPr/>
        </p:nvSpPr>
        <p:spPr>
          <a:xfrm>
            <a:off x="621720" y="311040"/>
            <a:ext cx="239544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902" name="Text 3"/>
          <p:cNvSpPr/>
          <p:nvPr/>
        </p:nvSpPr>
        <p:spPr>
          <a:xfrm>
            <a:off x="804600" y="329040"/>
            <a:ext cx="206604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CARBON PERFORMANCE</a:t>
            </a:r>
            <a:endParaRPr b="0" lang="en-US" sz="950" strike="noStrike" u="none">
              <a:solidFill>
                <a:srgbClr val="000000"/>
              </a:solidFill>
              <a:effectLst/>
              <a:uFillTx/>
              <a:latin typeface="Arial"/>
            </a:endParaRPr>
          </a:p>
        </p:txBody>
      </p:sp>
      <p:sp>
        <p:nvSpPr>
          <p:cNvPr id="2903" name="Text 4"/>
          <p:cNvSpPr/>
          <p:nvPr/>
        </p:nvSpPr>
        <p:spPr>
          <a:xfrm>
            <a:off x="621720" y="768240"/>
            <a:ext cx="10947600" cy="804240"/>
          </a:xfrm>
          <a:prstGeom prst="rect">
            <a:avLst/>
          </a:prstGeom>
          <a:noFill/>
          <a:ln w="0">
            <a:noFill/>
          </a:ln>
        </p:spPr>
        <p:style>
          <a:lnRef idx="0"/>
          <a:fillRef idx="0"/>
          <a:effectRef idx="0"/>
          <a:fontRef idx="minor"/>
        </p:style>
        <p:txBody>
          <a:bodyPr lIns="0" rIns="0" tIns="0" bIns="0" anchor="t">
            <a:normAutofit lnSpcReduction="9999"/>
          </a:bodyPr>
          <a:p>
            <a:pPr defTabSz="914400">
              <a:lnSpc>
                <a:spcPct val="100000"/>
              </a:lnSpc>
              <a:tabLst>
                <a:tab algn="l" pos="0"/>
              </a:tabLst>
            </a:pPr>
            <a:r>
              <a:rPr b="1" lang="en-US" sz="2800" strike="noStrike" u="none">
                <a:solidFill>
                  <a:srgbClr val="1e2420"/>
                </a:solidFill>
                <a:effectLst/>
                <a:uFillTx/>
                <a:latin typeface="Calibri"/>
                <a:ea typeface="Calibri"/>
              </a:rPr>
              <a:t>Carbon Performance owns the inventory every product consumes</a:t>
            </a:r>
            <a:endParaRPr b="0" lang="en-US" sz="2800" strike="noStrike" u="none">
              <a:solidFill>
                <a:srgbClr val="000000"/>
              </a:solidFill>
              <a:effectLst/>
              <a:uFillTx/>
              <a:latin typeface="Arial"/>
            </a:endParaRPr>
          </a:p>
        </p:txBody>
      </p:sp>
      <p:sp>
        <p:nvSpPr>
          <p:cNvPr id="2904" name="Text 5"/>
          <p:cNvSpPr/>
          <p:nvPr/>
        </p:nvSpPr>
        <p:spPr>
          <a:xfrm>
            <a:off x="621720" y="15728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It is the producer of record, so its data model decisions constrain the other three products.</a:t>
            </a:r>
            <a:endParaRPr b="0" lang="en-US" sz="1250" strike="noStrike" u="none">
              <a:solidFill>
                <a:srgbClr val="000000"/>
              </a:solidFill>
              <a:effectLst/>
              <a:uFillTx/>
              <a:latin typeface="Arial"/>
            </a:endParaRPr>
          </a:p>
        </p:txBody>
      </p:sp>
      <p:sp>
        <p:nvSpPr>
          <p:cNvPr id="2905"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906" name="Shape 7"/>
          <p:cNvSpPr/>
          <p:nvPr/>
        </p:nvSpPr>
        <p:spPr>
          <a:xfrm>
            <a:off x="6217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907"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2908"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PLATFORM</a:t>
            </a:r>
            <a:endParaRPr b="0" lang="en-US" sz="900" strike="noStrike" u="none">
              <a:solidFill>
                <a:srgbClr val="000000"/>
              </a:solidFill>
              <a:effectLst/>
              <a:uFillTx/>
              <a:latin typeface="Arial"/>
            </a:endParaRPr>
          </a:p>
        </p:txBody>
      </p:sp>
      <p:sp>
        <p:nvSpPr>
          <p:cNvPr id="2909"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Ingestion and quality</a:t>
            </a:r>
            <a:endParaRPr b="0" lang="en-US" sz="1600" strike="noStrike" u="none">
              <a:solidFill>
                <a:srgbClr val="000000"/>
              </a:solidFill>
              <a:effectLst/>
              <a:uFillTx/>
              <a:latin typeface="Arial"/>
            </a:endParaRPr>
          </a:p>
        </p:txBody>
      </p:sp>
      <p:sp>
        <p:nvSpPr>
          <p:cNvPr id="2910" name="Text 11"/>
          <p:cNvSpPr/>
          <p:nvPr/>
        </p:nvSpPr>
        <p:spPr>
          <a:xfrm>
            <a:off x="80460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Prerequisites for depth.</a:t>
            </a:r>
            <a:endParaRPr b="0" lang="en-US" sz="1100" strike="noStrike" u="none">
              <a:solidFill>
                <a:srgbClr val="000000"/>
              </a:solidFill>
              <a:effectLst/>
              <a:uFillTx/>
              <a:latin typeface="Arial"/>
            </a:endParaRPr>
          </a:p>
        </p:txBody>
      </p:sp>
      <p:sp>
        <p:nvSpPr>
          <p:cNvPr id="2911" name="Text 12"/>
          <p:cNvSpPr/>
          <p:nvPr/>
        </p:nvSpPr>
        <p:spPr>
          <a:xfrm>
            <a:off x="82296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Pipeline and transformation foundation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Automated data quality checks, L1 and L2</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Programmatic connectors for activity data</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Allocations foundation</a:t>
            </a:r>
            <a:endParaRPr b="0" lang="en-US" sz="1100" strike="noStrike" u="none">
              <a:solidFill>
                <a:srgbClr val="000000"/>
              </a:solidFill>
              <a:effectLst/>
              <a:uFillTx/>
              <a:latin typeface="Arial"/>
            </a:endParaRPr>
          </a:p>
        </p:txBody>
      </p:sp>
      <p:sp>
        <p:nvSpPr>
          <p:cNvPr id="2912" name="Shape 13"/>
          <p:cNvSpPr/>
          <p:nvPr/>
        </p:nvSpPr>
        <p:spPr>
          <a:xfrm>
            <a:off x="342756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913" name="Shape 14"/>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2914" name="Text 15"/>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ONTOLOGY</a:t>
            </a:r>
            <a:endParaRPr b="0" lang="en-US" sz="900" strike="noStrike" u="none">
              <a:solidFill>
                <a:srgbClr val="000000"/>
              </a:solidFill>
              <a:effectLst/>
              <a:uFillTx/>
              <a:latin typeface="Arial"/>
            </a:endParaRPr>
          </a:p>
        </p:txBody>
      </p:sp>
      <p:sp>
        <p:nvSpPr>
          <p:cNvPr id="2915" name="Text 16"/>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Hierarchy and calculation</a:t>
            </a:r>
            <a:endParaRPr b="0" lang="en-US" sz="1600" strike="noStrike" u="none">
              <a:solidFill>
                <a:srgbClr val="000000"/>
              </a:solidFill>
              <a:effectLst/>
              <a:uFillTx/>
              <a:latin typeface="Arial"/>
            </a:endParaRPr>
          </a:p>
        </p:txBody>
      </p:sp>
      <p:sp>
        <p:nvSpPr>
          <p:cNvPr id="2916" name="Text 17"/>
          <p:cNvSpPr/>
          <p:nvPr/>
        </p:nvSpPr>
        <p:spPr>
          <a:xfrm>
            <a:off x="361044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Inherited, not rebuilt.</a:t>
            </a:r>
            <a:endParaRPr b="0" lang="en-US" sz="1100" strike="noStrike" u="none">
              <a:solidFill>
                <a:srgbClr val="000000"/>
              </a:solidFill>
              <a:effectLst/>
              <a:uFillTx/>
              <a:latin typeface="Arial"/>
            </a:endParaRPr>
          </a:p>
        </p:txBody>
      </p:sp>
      <p:sp>
        <p:nvSpPr>
          <p:cNvPr id="2917" name="Text 18"/>
          <p:cNvSpPr/>
          <p:nvPr/>
        </p:nvSpPr>
        <p:spPr>
          <a:xfrm>
            <a:off x="362844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Shared entity hierarchy and organisational boundary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Calculation governance and versioning</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Emission factor library owned by core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Audit trail and lineage on key values</a:t>
            </a:r>
            <a:endParaRPr b="0" lang="en-US" sz="1100" strike="noStrike" u="none">
              <a:solidFill>
                <a:srgbClr val="000000"/>
              </a:solidFill>
              <a:effectLst/>
              <a:uFillTx/>
              <a:latin typeface="Arial"/>
            </a:endParaRPr>
          </a:p>
        </p:txBody>
      </p:sp>
      <p:sp>
        <p:nvSpPr>
          <p:cNvPr id="2918" name="Shape 19"/>
          <p:cNvSpPr/>
          <p:nvPr/>
        </p:nvSpPr>
        <p:spPr>
          <a:xfrm>
            <a:off x="623304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919" name="Shape 20"/>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2920" name="Text 21"/>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CROSS PRODUCT</a:t>
            </a:r>
            <a:endParaRPr b="0" lang="en-US" sz="900" strike="noStrike" u="none">
              <a:solidFill>
                <a:srgbClr val="000000"/>
              </a:solidFill>
              <a:effectLst/>
              <a:uFillTx/>
              <a:latin typeface="Arial"/>
            </a:endParaRPr>
          </a:p>
        </p:txBody>
      </p:sp>
      <p:sp>
        <p:nvSpPr>
          <p:cNvPr id="2921" name="Text 22"/>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Who consumes the inventory</a:t>
            </a:r>
            <a:endParaRPr b="0" lang="en-US" sz="1600" strike="noStrike" u="none">
              <a:solidFill>
                <a:srgbClr val="000000"/>
              </a:solidFill>
              <a:effectLst/>
              <a:uFillTx/>
              <a:latin typeface="Arial"/>
            </a:endParaRPr>
          </a:p>
        </p:txBody>
      </p:sp>
      <p:sp>
        <p:nvSpPr>
          <p:cNvPr id="2922" name="Text 23"/>
          <p:cNvSpPr/>
          <p:nvPr/>
        </p:nvSpPr>
        <p:spPr>
          <a:xfrm>
            <a:off x="641592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One baseline, four experiences.</a:t>
            </a:r>
            <a:endParaRPr b="0" lang="en-US" sz="1100" strike="noStrike" u="none">
              <a:solidFill>
                <a:srgbClr val="000000"/>
              </a:solidFill>
              <a:effectLst/>
              <a:uFillTx/>
              <a:latin typeface="Arial"/>
            </a:endParaRPr>
          </a:p>
        </p:txBody>
      </p:sp>
      <p:sp>
        <p:nvSpPr>
          <p:cNvPr id="2923" name="Text 24"/>
          <p:cNvSpPr/>
          <p:nvPr/>
        </p:nvSpPr>
        <p:spPr>
          <a:xfrm>
            <a:off x="643428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Supply Chain feeds categories 1 and 4 into the inventory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Reporting and Compliance discloses emissions from Collect</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Strategy plans reductions against the same baseline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Climate Risk reads transition exposure from it</a:t>
            </a:r>
            <a:endParaRPr b="0" lang="en-US" sz="1100" strike="noStrike" u="none">
              <a:solidFill>
                <a:srgbClr val="000000"/>
              </a:solidFill>
              <a:effectLst/>
              <a:uFillTx/>
              <a:latin typeface="Arial"/>
            </a:endParaRPr>
          </a:p>
        </p:txBody>
      </p:sp>
      <p:sp>
        <p:nvSpPr>
          <p:cNvPr id="2924" name="Shape 25"/>
          <p:cNvSpPr/>
          <p:nvPr/>
        </p:nvSpPr>
        <p:spPr>
          <a:xfrm>
            <a:off x="90385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925" name="Shape 26"/>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2926" name="Text 27"/>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SERA</a:t>
            </a:r>
            <a:endParaRPr b="0" lang="en-US" sz="900" strike="noStrike" u="none">
              <a:solidFill>
                <a:srgbClr val="000000"/>
              </a:solidFill>
              <a:effectLst/>
              <a:uFillTx/>
              <a:latin typeface="Arial"/>
            </a:endParaRPr>
          </a:p>
        </p:txBody>
      </p:sp>
      <p:sp>
        <p:nvSpPr>
          <p:cNvPr id="2927" name="Text 28"/>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AI capabilities</a:t>
            </a:r>
            <a:endParaRPr b="0" lang="en-US" sz="1600" strike="noStrike" u="none">
              <a:solidFill>
                <a:srgbClr val="000000"/>
              </a:solidFill>
              <a:effectLst/>
              <a:uFillTx/>
              <a:latin typeface="Arial"/>
            </a:endParaRPr>
          </a:p>
        </p:txBody>
      </p:sp>
      <p:sp>
        <p:nvSpPr>
          <p:cNvPr id="2928" name="Text 29"/>
          <p:cNvSpPr/>
          <p:nvPr/>
        </p:nvSpPr>
        <p:spPr>
          <a:xfrm>
            <a:off x="922140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Where the differentiation sits.</a:t>
            </a:r>
            <a:endParaRPr b="0" lang="en-US" sz="1100" strike="noStrike" u="none">
              <a:solidFill>
                <a:srgbClr val="000000"/>
              </a:solidFill>
              <a:effectLst/>
              <a:uFillTx/>
              <a:latin typeface="Arial"/>
            </a:endParaRPr>
          </a:p>
        </p:txBody>
      </p:sp>
      <p:sp>
        <p:nvSpPr>
          <p:cNvPr id="2929" name="Text 30"/>
          <p:cNvSpPr/>
          <p:nvPr/>
        </p:nvSpPr>
        <p:spPr>
          <a:xfrm>
            <a:off x="923976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AI guided inventory troubleshooting</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Anomaly explanation and discrepancy management</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Mapping memory and smart mapping suggestions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AI assisted method selection guidance</a:t>
            </a:r>
            <a:endParaRPr b="0" lang="en-US" sz="1100" strike="noStrike" u="none">
              <a:solidFill>
                <a:srgbClr val="000000"/>
              </a:solidFill>
              <a:effectLst/>
              <a:uFillTx/>
              <a:latin typeface="Arial"/>
            </a:endParaRPr>
          </a:p>
        </p:txBody>
      </p:sp>
      <p:sp>
        <p:nvSpPr>
          <p:cNvPr id="2930" name="Shape 31"/>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931" name="Text 32"/>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2932" name="Text 33"/>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2933" name="PlaceHolder 1"/>
          <p:cNvSpPr>
            <a:spLocks noGrp="1"/>
          </p:cNvSpPr>
          <p:nvPr>
            <p:ph type="sldNum" idx="65"/>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80F3C289-E0B3-4355-991E-3909A9B201A2}"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7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5730"/>
        </a:solidFill>
      </p:bgPr>
    </p:bg>
    <p:spTree>
      <p:nvGrpSpPr>
        <p:cNvPr id="1" name=""/>
        <p:cNvGrpSpPr/>
        <p:nvPr/>
      </p:nvGrpSpPr>
      <p:grpSpPr>
        <a:xfrm>
          <a:off x="0" y="0"/>
          <a:ext cx="0" cy="0"/>
          <a:chOff x="0" y="0"/>
          <a:chExt cx="0" cy="0"/>
        </a:xfrm>
      </p:grpSpPr>
      <p:sp>
        <p:nvSpPr>
          <p:cNvPr id="2934"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2935"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2936" name="Shape 2"/>
          <p:cNvSpPr/>
          <p:nvPr/>
        </p:nvSpPr>
        <p:spPr>
          <a:xfrm>
            <a:off x="8641080" y="822960"/>
            <a:ext cx="360" cy="5212080"/>
          </a:xfrm>
          <a:prstGeom prst="line">
            <a:avLst/>
          </a:prstGeom>
          <a:ln w="12700">
            <a:solidFill>
              <a:srgbClr val="2c8058"/>
            </a:solidFill>
            <a:round/>
          </a:ln>
        </p:spPr>
        <p:style>
          <a:lnRef idx="0"/>
          <a:fillRef idx="0"/>
          <a:effectRef idx="0"/>
          <a:fontRef idx="minor"/>
        </p:style>
        <p:txBody>
          <a:bodyPr lIns="90000" rIns="90000" tIns="45000" bIns="45000" anchor="t" anchorCtr="1">
            <a:noAutofit/>
          </a:bodyPr>
          <a:p>
            <a:endParaRPr b="0" lang="en-US" sz="1800" strike="noStrike" u="none">
              <a:solidFill>
                <a:srgbClr val="ffffff"/>
              </a:solidFill>
              <a:effectLst/>
              <a:uFillTx/>
              <a:latin typeface="Arial"/>
            </a:endParaRPr>
          </a:p>
        </p:txBody>
      </p:sp>
      <p:sp>
        <p:nvSpPr>
          <p:cNvPr id="2937" name="Text 3"/>
          <p:cNvSpPr/>
          <p:nvPr/>
        </p:nvSpPr>
        <p:spPr>
          <a:xfrm>
            <a:off x="9144000" y="841320"/>
            <a:ext cx="2194200" cy="22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81" strike="noStrike" u="none">
                <a:solidFill>
                  <a:srgbClr val="bfe6ce"/>
                </a:solidFill>
                <a:effectLst/>
                <a:uFillTx/>
                <a:latin typeface="Calibri"/>
                <a:ea typeface="Calibri"/>
              </a:rPr>
              <a:t>RA+ ROADMAP</a:t>
            </a:r>
            <a:endParaRPr b="0" lang="en-US" sz="900" strike="noStrike" u="none">
              <a:solidFill>
                <a:srgbClr val="ffffff"/>
              </a:solidFill>
              <a:effectLst/>
              <a:uFillTx/>
              <a:latin typeface="Arial"/>
            </a:endParaRPr>
          </a:p>
        </p:txBody>
      </p:sp>
      <p:sp>
        <p:nvSpPr>
          <p:cNvPr id="2938" name="Text 4"/>
          <p:cNvSpPr/>
          <p:nvPr/>
        </p:nvSpPr>
        <p:spPr>
          <a:xfrm>
            <a:off x="9144000" y="1325880"/>
            <a:ext cx="2194200" cy="1462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3600" strike="noStrike" u="none">
                <a:solidFill>
                  <a:srgbClr val="ffffff"/>
                </a:solidFill>
                <a:effectLst/>
                <a:uFillTx/>
                <a:latin typeface="Calibri"/>
                <a:ea typeface="Calibri"/>
              </a:rPr>
              <a:t>2026</a:t>
            </a:r>
            <a:endParaRPr b="0" lang="en-US" sz="3600" strike="noStrike" u="none">
              <a:solidFill>
                <a:srgbClr val="ffffff"/>
              </a:solidFill>
              <a:effectLst/>
              <a:uFillTx/>
              <a:latin typeface="Arial"/>
            </a:endParaRPr>
          </a:p>
          <a:p>
            <a:pPr defTabSz="914400">
              <a:lnSpc>
                <a:spcPct val="100000"/>
              </a:lnSpc>
              <a:tabLst>
                <a:tab algn="l" pos="0"/>
              </a:tabLst>
            </a:pPr>
            <a:r>
              <a:rPr b="1" lang="en-US" sz="3600" strike="noStrike" u="none">
                <a:solidFill>
                  <a:srgbClr val="ffffff"/>
                </a:solidFill>
                <a:effectLst/>
                <a:uFillTx/>
                <a:latin typeface="Calibri"/>
                <a:ea typeface="Calibri"/>
              </a:rPr>
              <a:t>2027</a:t>
            </a:r>
            <a:endParaRPr b="0" lang="en-US" sz="3600" strike="noStrike" u="none">
              <a:solidFill>
                <a:srgbClr val="ffffff"/>
              </a:solidFill>
              <a:effectLst/>
              <a:uFillTx/>
              <a:latin typeface="Arial"/>
            </a:endParaRPr>
          </a:p>
        </p:txBody>
      </p:sp>
      <p:sp>
        <p:nvSpPr>
          <p:cNvPr id="2939" name="Text 5"/>
          <p:cNvSpPr/>
          <p:nvPr/>
        </p:nvSpPr>
        <p:spPr>
          <a:xfrm>
            <a:off x="621720" y="960120"/>
            <a:ext cx="71319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221" strike="noStrike" u="none">
                <a:solidFill>
                  <a:srgbClr val="bfe6ce"/>
                </a:solidFill>
                <a:effectLst/>
                <a:uFillTx/>
                <a:latin typeface="Calibri"/>
                <a:ea typeface="Calibri"/>
              </a:rPr>
              <a:t>AGENDA ITEM 4</a:t>
            </a:r>
            <a:endParaRPr b="0" lang="en-US" sz="1100" strike="noStrike" u="none">
              <a:solidFill>
                <a:srgbClr val="ffffff"/>
              </a:solidFill>
              <a:effectLst/>
              <a:uFillTx/>
              <a:latin typeface="Arial"/>
            </a:endParaRPr>
          </a:p>
        </p:txBody>
      </p:sp>
      <p:sp>
        <p:nvSpPr>
          <p:cNvPr id="2940" name="Text 6"/>
          <p:cNvSpPr/>
          <p:nvPr/>
        </p:nvSpPr>
        <p:spPr>
          <a:xfrm>
            <a:off x="621720" y="1508760"/>
            <a:ext cx="191988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5800" strike="noStrike" u="none">
                <a:solidFill>
                  <a:srgbClr val="3dcd58"/>
                </a:solidFill>
                <a:effectLst/>
                <a:uFillTx/>
                <a:latin typeface="Calibri"/>
                <a:ea typeface="Calibri"/>
              </a:rPr>
              <a:t>04</a:t>
            </a:r>
            <a:endParaRPr b="0" lang="en-US" sz="5800" strike="noStrike" u="none">
              <a:solidFill>
                <a:srgbClr val="ffffff"/>
              </a:solidFill>
              <a:effectLst/>
              <a:uFillTx/>
              <a:latin typeface="Arial"/>
            </a:endParaRPr>
          </a:p>
        </p:txBody>
      </p:sp>
      <p:sp>
        <p:nvSpPr>
          <p:cNvPr id="2941" name="Text 7"/>
          <p:cNvSpPr/>
          <p:nvPr/>
        </p:nvSpPr>
        <p:spPr>
          <a:xfrm>
            <a:off x="621720" y="2606040"/>
            <a:ext cx="7406280" cy="11426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ffffff"/>
                </a:solidFill>
                <a:effectLst/>
                <a:uFillTx/>
                <a:latin typeface="Calibri"/>
                <a:ea typeface="Calibri"/>
              </a:rPr>
              <a:t>Q4 2026 in detail</a:t>
            </a:r>
            <a:endParaRPr b="0" lang="en-US" sz="3200" strike="noStrike" u="none">
              <a:solidFill>
                <a:srgbClr val="ffffff"/>
              </a:solidFill>
              <a:effectLst/>
              <a:uFillTx/>
              <a:latin typeface="Arial"/>
            </a:endParaRPr>
          </a:p>
        </p:txBody>
      </p:sp>
      <p:sp>
        <p:nvSpPr>
          <p:cNvPr id="2942" name="Text 8"/>
          <p:cNvSpPr/>
          <p:nvPr/>
        </p:nvSpPr>
        <p:spPr>
          <a:xfrm>
            <a:off x="621720" y="4005000"/>
            <a:ext cx="704052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400" strike="noStrike" u="none">
                <a:solidFill>
                  <a:srgbClr val="d6eadf"/>
                </a:solidFill>
                <a:effectLst/>
                <a:uFillTx/>
                <a:latin typeface="Calibri"/>
                <a:ea typeface="Calibri"/>
              </a:rPr>
              <a:t>Carbon Performance, Supply Chain, Reporting and Compliance, Climate Risk, Strategy, and Core Platform: the wedge, the capacity math, and the ranked plan for each.</a:t>
            </a:r>
            <a:endParaRPr b="0" lang="en-US" sz="14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7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5730"/>
        </a:solidFill>
      </p:bgPr>
    </p:bg>
    <p:spTree>
      <p:nvGrpSpPr>
        <p:cNvPr id="1" name=""/>
        <p:cNvGrpSpPr/>
        <p:nvPr/>
      </p:nvGrpSpPr>
      <p:grpSpPr>
        <a:xfrm>
          <a:off x="0" y="0"/>
          <a:ext cx="0" cy="0"/>
          <a:chOff x="0" y="0"/>
          <a:chExt cx="0" cy="0"/>
        </a:xfrm>
      </p:grpSpPr>
      <p:sp>
        <p:nvSpPr>
          <p:cNvPr id="2943"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2944"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2945" name="Shape 2"/>
          <p:cNvSpPr/>
          <p:nvPr/>
        </p:nvSpPr>
        <p:spPr>
          <a:xfrm>
            <a:off x="8641080" y="822960"/>
            <a:ext cx="360" cy="5212080"/>
          </a:xfrm>
          <a:prstGeom prst="line">
            <a:avLst/>
          </a:prstGeom>
          <a:ln w="12700">
            <a:solidFill>
              <a:srgbClr val="2c8058"/>
            </a:solidFill>
            <a:round/>
          </a:ln>
        </p:spPr>
        <p:style>
          <a:lnRef idx="0"/>
          <a:fillRef idx="0"/>
          <a:effectRef idx="0"/>
          <a:fontRef idx="minor"/>
        </p:style>
        <p:txBody>
          <a:bodyPr lIns="90000" rIns="90000" tIns="45000" bIns="45000" anchor="t" anchorCtr="1">
            <a:noAutofit/>
          </a:bodyPr>
          <a:p>
            <a:endParaRPr b="0" lang="en-US" sz="1800" strike="noStrike" u="none">
              <a:solidFill>
                <a:srgbClr val="ffffff"/>
              </a:solidFill>
              <a:effectLst/>
              <a:uFillTx/>
              <a:latin typeface="Arial"/>
            </a:endParaRPr>
          </a:p>
        </p:txBody>
      </p:sp>
      <p:sp>
        <p:nvSpPr>
          <p:cNvPr id="2946" name="Text 3"/>
          <p:cNvSpPr/>
          <p:nvPr/>
        </p:nvSpPr>
        <p:spPr>
          <a:xfrm>
            <a:off x="9144000" y="841320"/>
            <a:ext cx="2194200" cy="22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81" strike="noStrike" u="none">
                <a:solidFill>
                  <a:srgbClr val="bfe6ce"/>
                </a:solidFill>
                <a:effectLst/>
                <a:uFillTx/>
                <a:latin typeface="Calibri"/>
                <a:ea typeface="Calibri"/>
              </a:rPr>
              <a:t>RA+ ROADMAP</a:t>
            </a:r>
            <a:endParaRPr b="0" lang="en-US" sz="900" strike="noStrike" u="none">
              <a:solidFill>
                <a:srgbClr val="ffffff"/>
              </a:solidFill>
              <a:effectLst/>
              <a:uFillTx/>
              <a:latin typeface="Arial"/>
            </a:endParaRPr>
          </a:p>
        </p:txBody>
      </p:sp>
      <p:sp>
        <p:nvSpPr>
          <p:cNvPr id="2947" name="Text 4"/>
          <p:cNvSpPr/>
          <p:nvPr/>
        </p:nvSpPr>
        <p:spPr>
          <a:xfrm>
            <a:off x="9144000" y="1325880"/>
            <a:ext cx="2194200" cy="1462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3600" strike="noStrike" u="none">
                <a:solidFill>
                  <a:srgbClr val="ffffff"/>
                </a:solidFill>
                <a:effectLst/>
                <a:uFillTx/>
                <a:latin typeface="Calibri"/>
                <a:ea typeface="Calibri"/>
              </a:rPr>
              <a:t>2026</a:t>
            </a:r>
            <a:endParaRPr b="0" lang="en-US" sz="3600" strike="noStrike" u="none">
              <a:solidFill>
                <a:srgbClr val="ffffff"/>
              </a:solidFill>
              <a:effectLst/>
              <a:uFillTx/>
              <a:latin typeface="Arial"/>
            </a:endParaRPr>
          </a:p>
          <a:p>
            <a:pPr defTabSz="914400">
              <a:lnSpc>
                <a:spcPct val="100000"/>
              </a:lnSpc>
              <a:tabLst>
                <a:tab algn="l" pos="0"/>
              </a:tabLst>
            </a:pPr>
            <a:r>
              <a:rPr b="1" lang="en-US" sz="3600" strike="noStrike" u="none">
                <a:solidFill>
                  <a:srgbClr val="ffffff"/>
                </a:solidFill>
                <a:effectLst/>
                <a:uFillTx/>
                <a:latin typeface="Calibri"/>
                <a:ea typeface="Calibri"/>
              </a:rPr>
              <a:t>2027</a:t>
            </a:r>
            <a:endParaRPr b="0" lang="en-US" sz="3600" strike="noStrike" u="none">
              <a:solidFill>
                <a:srgbClr val="ffffff"/>
              </a:solidFill>
              <a:effectLst/>
              <a:uFillTx/>
              <a:latin typeface="Arial"/>
            </a:endParaRPr>
          </a:p>
        </p:txBody>
      </p:sp>
      <p:sp>
        <p:nvSpPr>
          <p:cNvPr id="2948" name="Text 5"/>
          <p:cNvSpPr/>
          <p:nvPr/>
        </p:nvSpPr>
        <p:spPr>
          <a:xfrm>
            <a:off x="621720" y="960120"/>
            <a:ext cx="71319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221" strike="noStrike" u="none">
                <a:solidFill>
                  <a:srgbClr val="bfe6ce"/>
                </a:solidFill>
                <a:effectLst/>
                <a:uFillTx/>
                <a:latin typeface="Calibri"/>
                <a:ea typeface="Calibri"/>
              </a:rPr>
              <a:t>AGENDA ITEM 4.1</a:t>
            </a:r>
            <a:endParaRPr b="0" lang="en-US" sz="1100" strike="noStrike" u="none">
              <a:solidFill>
                <a:srgbClr val="ffffff"/>
              </a:solidFill>
              <a:effectLst/>
              <a:uFillTx/>
              <a:latin typeface="Arial"/>
            </a:endParaRPr>
          </a:p>
        </p:txBody>
      </p:sp>
      <p:sp>
        <p:nvSpPr>
          <p:cNvPr id="2949" name="Text 6"/>
          <p:cNvSpPr/>
          <p:nvPr/>
        </p:nvSpPr>
        <p:spPr>
          <a:xfrm>
            <a:off x="621720" y="1508760"/>
            <a:ext cx="191988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5800" strike="noStrike" u="none">
                <a:solidFill>
                  <a:srgbClr val="3dcd58"/>
                </a:solidFill>
                <a:effectLst/>
                <a:uFillTx/>
                <a:latin typeface="Calibri"/>
                <a:ea typeface="Calibri"/>
              </a:rPr>
              <a:t>4.1</a:t>
            </a:r>
            <a:endParaRPr b="0" lang="en-US" sz="5800" strike="noStrike" u="none">
              <a:solidFill>
                <a:srgbClr val="ffffff"/>
              </a:solidFill>
              <a:effectLst/>
              <a:uFillTx/>
              <a:latin typeface="Arial"/>
            </a:endParaRPr>
          </a:p>
        </p:txBody>
      </p:sp>
      <p:sp>
        <p:nvSpPr>
          <p:cNvPr id="2950" name="Text 7"/>
          <p:cNvSpPr/>
          <p:nvPr/>
        </p:nvSpPr>
        <p:spPr>
          <a:xfrm>
            <a:off x="621720" y="2606040"/>
            <a:ext cx="7406280" cy="11426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ffffff"/>
                </a:solidFill>
                <a:effectLst/>
                <a:uFillTx/>
                <a:latin typeface="Calibri"/>
                <a:ea typeface="Calibri"/>
              </a:rPr>
              <a:t>Carbon Performance</a:t>
            </a:r>
            <a:endParaRPr b="0" lang="en-US" sz="3200" strike="noStrike" u="none">
              <a:solidFill>
                <a:srgbClr val="ffffff"/>
              </a:solidFill>
              <a:effectLst/>
              <a:uFillTx/>
              <a:latin typeface="Arial"/>
            </a:endParaRPr>
          </a:p>
        </p:txBody>
      </p:sp>
      <p:sp>
        <p:nvSpPr>
          <p:cNvPr id="2951" name="Text 8"/>
          <p:cNvSpPr/>
          <p:nvPr/>
        </p:nvSpPr>
        <p:spPr>
          <a:xfrm>
            <a:off x="621720" y="4005000"/>
            <a:ext cx="704052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400" strike="noStrike" u="none">
                <a:solidFill>
                  <a:srgbClr val="d6eadf"/>
                </a:solidFill>
                <a:effectLst/>
                <a:uFillTx/>
                <a:latin typeface="Calibri"/>
                <a:ea typeface="Calibri"/>
              </a:rPr>
              <a:t>Q4 closes emission factor and calculation depth.</a:t>
            </a:r>
            <a:endParaRPr b="0" lang="en-US" sz="14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7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952"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2953"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2954" name="Shape 2"/>
          <p:cNvSpPr/>
          <p:nvPr/>
        </p:nvSpPr>
        <p:spPr>
          <a:xfrm>
            <a:off x="621720" y="311040"/>
            <a:ext cx="218520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955" name="Text 3"/>
          <p:cNvSpPr/>
          <p:nvPr/>
        </p:nvSpPr>
        <p:spPr>
          <a:xfrm>
            <a:off x="804600" y="329040"/>
            <a:ext cx="185580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Q4 POINT OF VIEW</a:t>
            </a:r>
            <a:endParaRPr b="0" lang="en-US" sz="950" strike="noStrike" u="none">
              <a:solidFill>
                <a:srgbClr val="000000"/>
              </a:solidFill>
              <a:effectLst/>
              <a:uFillTx/>
              <a:latin typeface="Arial"/>
            </a:endParaRPr>
          </a:p>
        </p:txBody>
      </p:sp>
      <p:sp>
        <p:nvSpPr>
          <p:cNvPr id="2956" name="Text 4"/>
          <p:cNvSpPr/>
          <p:nvPr/>
        </p:nvSpPr>
        <p:spPr>
          <a:xfrm>
            <a:off x="621720" y="768240"/>
            <a:ext cx="10947600" cy="804240"/>
          </a:xfrm>
          <a:prstGeom prst="rect">
            <a:avLst/>
          </a:prstGeom>
          <a:noFill/>
          <a:ln w="0">
            <a:noFill/>
          </a:ln>
        </p:spPr>
        <p:style>
          <a:lnRef idx="0"/>
          <a:fillRef idx="0"/>
          <a:effectRef idx="0"/>
          <a:fontRef idx="minor"/>
        </p:style>
        <p:txBody>
          <a:bodyPr lIns="0" rIns="0" tIns="0" bIns="0" anchor="t">
            <a:normAutofit lnSpcReduction="9999"/>
          </a:bodyPr>
          <a:p>
            <a:pPr defTabSz="914400">
              <a:lnSpc>
                <a:spcPct val="100000"/>
              </a:lnSpc>
              <a:tabLst>
                <a:tab algn="l" pos="0"/>
              </a:tabLst>
            </a:pPr>
            <a:r>
              <a:rPr b="1" lang="en-US" sz="2800" strike="noStrike" u="none">
                <a:solidFill>
                  <a:srgbClr val="1e2420"/>
                </a:solidFill>
                <a:effectLst/>
                <a:uFillTx/>
                <a:latin typeface="Calibri"/>
                <a:ea typeface="Calibri"/>
              </a:rPr>
              <a:t>Q3 landed ingestion, Q4 closes emission factor and calculation depth</a:t>
            </a:r>
            <a:endParaRPr b="0" lang="en-US" sz="2800" strike="noStrike" u="none">
              <a:solidFill>
                <a:srgbClr val="000000"/>
              </a:solidFill>
              <a:effectLst/>
              <a:uFillTx/>
              <a:latin typeface="Arial"/>
            </a:endParaRPr>
          </a:p>
        </p:txBody>
      </p:sp>
      <p:sp>
        <p:nvSpPr>
          <p:cNvPr id="2957" name="Text 5"/>
          <p:cNvSpPr/>
          <p:nvPr/>
        </p:nvSpPr>
        <p:spPr>
          <a:xfrm>
            <a:off x="621720" y="15728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Protect what is in flight, sequence the wedge themes, defer the rest with a clear reason.</a:t>
            </a:r>
            <a:endParaRPr b="0" lang="en-US" sz="1250" strike="noStrike" u="none">
              <a:solidFill>
                <a:srgbClr val="000000"/>
              </a:solidFill>
              <a:effectLst/>
              <a:uFillTx/>
              <a:latin typeface="Arial"/>
            </a:endParaRPr>
          </a:p>
        </p:txBody>
      </p:sp>
      <p:sp>
        <p:nvSpPr>
          <p:cNvPr id="2958"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959" name="Shape 7"/>
          <p:cNvSpPr/>
          <p:nvPr/>
        </p:nvSpPr>
        <p:spPr>
          <a:xfrm>
            <a:off x="62172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960" name="Shape 8"/>
          <p:cNvSpPr/>
          <p:nvPr/>
        </p:nvSpPr>
        <p:spPr>
          <a:xfrm>
            <a:off x="621720" y="2084760"/>
            <a:ext cx="346608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2961" name="Text 9"/>
          <p:cNvSpPr/>
          <p:nvPr/>
        </p:nvSpPr>
        <p:spPr>
          <a:xfrm>
            <a:off x="82296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PROTECT</a:t>
            </a:r>
            <a:endParaRPr b="0" lang="en-US" sz="900" strike="noStrike" u="none">
              <a:solidFill>
                <a:srgbClr val="000000"/>
              </a:solidFill>
              <a:effectLst/>
              <a:uFillTx/>
              <a:latin typeface="Arial"/>
            </a:endParaRPr>
          </a:p>
        </p:txBody>
      </p:sp>
      <p:sp>
        <p:nvSpPr>
          <p:cNvPr id="2962" name="Text 10"/>
          <p:cNvSpPr/>
          <p:nvPr/>
        </p:nvSpPr>
        <p:spPr>
          <a:xfrm>
            <a:off x="82296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400" strike="noStrike" u="none">
                <a:solidFill>
                  <a:srgbClr val="1e2420"/>
                </a:solidFill>
                <a:effectLst/>
                <a:uFillTx/>
                <a:latin typeface="Calibri"/>
                <a:ea typeface="Calibri"/>
              </a:rPr>
              <a:t>Carry over that must finish</a:t>
            </a:r>
            <a:endParaRPr b="0" lang="en-US" sz="1400" strike="noStrike" u="none">
              <a:solidFill>
                <a:srgbClr val="000000"/>
              </a:solidFill>
              <a:effectLst/>
              <a:uFillTx/>
              <a:latin typeface="Arial"/>
            </a:endParaRPr>
          </a:p>
        </p:txBody>
      </p:sp>
      <p:sp>
        <p:nvSpPr>
          <p:cNvPr id="2963" name="Text 11"/>
          <p:cNvSpPr/>
          <p:nvPr/>
        </p:nvSpPr>
        <p:spPr>
          <a:xfrm>
            <a:off x="80460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These are already funded and partly built. Slipping them costs more than starting anything new.</a:t>
            </a:r>
            <a:endParaRPr b="0" lang="en-US" sz="1100" strike="noStrike" u="none">
              <a:solidFill>
                <a:srgbClr val="000000"/>
              </a:solidFill>
              <a:effectLst/>
              <a:uFillTx/>
              <a:latin typeface="Arial"/>
            </a:endParaRPr>
          </a:p>
        </p:txBody>
      </p:sp>
      <p:sp>
        <p:nvSpPr>
          <p:cNvPr id="2964" name="Text 12"/>
          <p:cNvSpPr/>
          <p:nvPr/>
        </p:nvSpPr>
        <p:spPr>
          <a:xfrm>
            <a:off x="822960" y="3776400"/>
            <a:ext cx="310032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Automated data quality and overview</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Scope 3 product emissions, categories 10, 11, 12</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Pre-calculated emissions import</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Inventory revamp, scoped</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Accor portfolio experience</a:t>
            </a:r>
            <a:endParaRPr b="0" lang="en-US" sz="1100" strike="noStrike" u="none">
              <a:solidFill>
                <a:srgbClr val="000000"/>
              </a:solidFill>
              <a:effectLst/>
              <a:uFillTx/>
              <a:latin typeface="Arial"/>
            </a:endParaRPr>
          </a:p>
        </p:txBody>
      </p:sp>
      <p:sp>
        <p:nvSpPr>
          <p:cNvPr id="2965" name="Shape 13"/>
          <p:cNvSpPr/>
          <p:nvPr/>
        </p:nvSpPr>
        <p:spPr>
          <a:xfrm>
            <a:off x="436248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966" name="Shape 14"/>
          <p:cNvSpPr/>
          <p:nvPr/>
        </p:nvSpPr>
        <p:spPr>
          <a:xfrm>
            <a:off x="4362480" y="2084760"/>
            <a:ext cx="346608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2967" name="Text 15"/>
          <p:cNvSpPr/>
          <p:nvPr/>
        </p:nvSpPr>
        <p:spPr>
          <a:xfrm>
            <a:off x="456372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SEQUENCE</a:t>
            </a:r>
            <a:endParaRPr b="0" lang="en-US" sz="900" strike="noStrike" u="none">
              <a:solidFill>
                <a:srgbClr val="000000"/>
              </a:solidFill>
              <a:effectLst/>
              <a:uFillTx/>
              <a:latin typeface="Arial"/>
            </a:endParaRPr>
          </a:p>
        </p:txBody>
      </p:sp>
      <p:sp>
        <p:nvSpPr>
          <p:cNvPr id="2968" name="Text 16"/>
          <p:cNvSpPr/>
          <p:nvPr/>
        </p:nvSpPr>
        <p:spPr>
          <a:xfrm>
            <a:off x="456372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The Q4 wedge</a:t>
            </a:r>
            <a:endParaRPr b="0" lang="en-US" sz="1600" strike="noStrike" u="none">
              <a:solidFill>
                <a:srgbClr val="000000"/>
              </a:solidFill>
              <a:effectLst/>
              <a:uFillTx/>
              <a:latin typeface="Arial"/>
            </a:endParaRPr>
          </a:p>
        </p:txBody>
      </p:sp>
      <p:sp>
        <p:nvSpPr>
          <p:cNvPr id="2969" name="Text 17"/>
          <p:cNvSpPr/>
          <p:nvPr/>
        </p:nvSpPr>
        <p:spPr>
          <a:xfrm>
            <a:off x="454536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Emission factors and calculation depth: the gaps that still force hypercare on every enterprise deal.</a:t>
            </a:r>
            <a:endParaRPr b="0" lang="en-US" sz="1100" strike="noStrike" u="none">
              <a:solidFill>
                <a:srgbClr val="000000"/>
              </a:solidFill>
              <a:effectLst/>
              <a:uFillTx/>
              <a:latin typeface="Arial"/>
            </a:endParaRPr>
          </a:p>
        </p:txBody>
      </p:sp>
      <p:sp>
        <p:nvSpPr>
          <p:cNvPr id="2970" name="Text 18"/>
          <p:cNvSpPr/>
          <p:nvPr/>
        </p:nvSpPr>
        <p:spPr>
          <a:xfrm>
            <a:off x="4563720" y="3776400"/>
            <a:ext cx="310032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Custom and supplier specific emission factors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Standard EF datasets: EcoInvent, Exiobase, FLAG, EEA, Base Carbone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Deterministic emission factor configuration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Renewable energy and market based Scope 2, RECs and EACs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Inventory statements and extended classification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Sera contextual intelligence</a:t>
            </a:r>
            <a:endParaRPr b="0" lang="en-US" sz="1100" strike="noStrike" u="none">
              <a:solidFill>
                <a:srgbClr val="000000"/>
              </a:solidFill>
              <a:effectLst/>
              <a:uFillTx/>
              <a:latin typeface="Arial"/>
            </a:endParaRPr>
          </a:p>
        </p:txBody>
      </p:sp>
      <p:sp>
        <p:nvSpPr>
          <p:cNvPr id="2971" name="Shape 19"/>
          <p:cNvSpPr/>
          <p:nvPr/>
        </p:nvSpPr>
        <p:spPr>
          <a:xfrm>
            <a:off x="810324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972" name="Shape 20"/>
          <p:cNvSpPr/>
          <p:nvPr/>
        </p:nvSpPr>
        <p:spPr>
          <a:xfrm>
            <a:off x="8103240" y="2084760"/>
            <a:ext cx="346608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2973" name="Text 21"/>
          <p:cNvSpPr/>
          <p:nvPr/>
        </p:nvSpPr>
        <p:spPr>
          <a:xfrm>
            <a:off x="830448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DEFER</a:t>
            </a:r>
            <a:endParaRPr b="0" lang="en-US" sz="900" strike="noStrike" u="none">
              <a:solidFill>
                <a:srgbClr val="000000"/>
              </a:solidFill>
              <a:effectLst/>
              <a:uFillTx/>
              <a:latin typeface="Arial"/>
            </a:endParaRPr>
          </a:p>
        </p:txBody>
      </p:sp>
      <p:sp>
        <p:nvSpPr>
          <p:cNvPr id="2974" name="Text 22"/>
          <p:cNvSpPr/>
          <p:nvPr/>
        </p:nvSpPr>
        <p:spPr>
          <a:xfrm>
            <a:off x="830448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Real, but not Q4</a:t>
            </a:r>
            <a:endParaRPr b="0" lang="en-US" sz="1600" strike="noStrike" u="none">
              <a:solidFill>
                <a:srgbClr val="000000"/>
              </a:solidFill>
              <a:effectLst/>
              <a:uFillTx/>
              <a:latin typeface="Arial"/>
            </a:endParaRPr>
          </a:p>
        </p:txBody>
      </p:sp>
      <p:sp>
        <p:nvSpPr>
          <p:cNvPr id="2975" name="Text 23"/>
          <p:cNvSpPr/>
          <p:nvPr/>
        </p:nvSpPr>
        <p:spPr>
          <a:xfrm>
            <a:off x="828612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Named explicitly so the room knows what is being traded away and when it returns.</a:t>
            </a:r>
            <a:endParaRPr b="0" lang="en-US" sz="1100" strike="noStrike" u="none">
              <a:solidFill>
                <a:srgbClr val="000000"/>
              </a:solidFill>
              <a:effectLst/>
              <a:uFillTx/>
              <a:latin typeface="Arial"/>
            </a:endParaRPr>
          </a:p>
        </p:txBody>
      </p:sp>
      <p:sp>
        <p:nvSpPr>
          <p:cNvPr id="2976" name="Text 24"/>
          <p:cNvSpPr/>
          <p:nvPr/>
        </p:nvSpPr>
        <p:spPr>
          <a:xfrm>
            <a:off x="8304480" y="3776400"/>
            <a:ext cx="310032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Self serve decarbonization planning and execution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Dedicated auditor experience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Category 15 investments and FLAG depth, 2027</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Languages and EU hosting, out of Q4 scope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Full PCF inside CP, rides supply chain</a:t>
            </a:r>
            <a:endParaRPr b="0" lang="en-US" sz="1100" strike="noStrike" u="none">
              <a:solidFill>
                <a:srgbClr val="000000"/>
              </a:solidFill>
              <a:effectLst/>
              <a:uFillTx/>
              <a:latin typeface="Arial"/>
            </a:endParaRPr>
          </a:p>
        </p:txBody>
      </p:sp>
      <p:sp>
        <p:nvSpPr>
          <p:cNvPr id="2977" name="Shape 25"/>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978" name="Text 26"/>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2979" name="Text 27"/>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2980" name="PlaceHolder 1"/>
          <p:cNvSpPr>
            <a:spLocks noGrp="1"/>
          </p:cNvSpPr>
          <p:nvPr>
            <p:ph type="sldNum" idx="66"/>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CE5B42E5-1055-493F-A3BC-0B13F6F2D5F5}"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7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981"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2982"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2983" name="Shape 2"/>
          <p:cNvSpPr/>
          <p:nvPr/>
        </p:nvSpPr>
        <p:spPr>
          <a:xfrm>
            <a:off x="621720" y="311040"/>
            <a:ext cx="176436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984" name="Text 3"/>
          <p:cNvSpPr/>
          <p:nvPr/>
        </p:nvSpPr>
        <p:spPr>
          <a:xfrm>
            <a:off x="804600" y="329040"/>
            <a:ext cx="143532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DEPENDENCIES</a:t>
            </a:r>
            <a:endParaRPr b="0" lang="en-US" sz="950" strike="noStrike" u="none">
              <a:solidFill>
                <a:srgbClr val="000000"/>
              </a:solidFill>
              <a:effectLst/>
              <a:uFillTx/>
              <a:latin typeface="Arial"/>
            </a:endParaRPr>
          </a:p>
        </p:txBody>
      </p:sp>
      <p:sp>
        <p:nvSpPr>
          <p:cNvPr id="2985"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fontScale="92500" lnSpcReduction="9999"/>
          </a:bodyPr>
          <a:p>
            <a:pPr defTabSz="914400">
              <a:lnSpc>
                <a:spcPct val="100000"/>
              </a:lnSpc>
              <a:tabLst>
                <a:tab algn="l" pos="0"/>
              </a:tabLst>
            </a:pPr>
            <a:r>
              <a:rPr b="1" lang="en-US" sz="3200" strike="noStrike" u="none">
                <a:solidFill>
                  <a:srgbClr val="1e2420"/>
                </a:solidFill>
                <a:effectLst/>
                <a:uFillTx/>
                <a:latin typeface="Calibri"/>
                <a:ea typeface="Calibri"/>
              </a:rPr>
              <a:t>What Carbon Performance needs from platform teams</a:t>
            </a:r>
            <a:endParaRPr b="0" lang="en-US" sz="3200" strike="noStrike" u="none">
              <a:solidFill>
                <a:srgbClr val="000000"/>
              </a:solidFill>
              <a:effectLst/>
              <a:uFillTx/>
              <a:latin typeface="Arial"/>
            </a:endParaRPr>
          </a:p>
        </p:txBody>
      </p:sp>
      <p:sp>
        <p:nvSpPr>
          <p:cNvPr id="2986"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The Q4 plan is not executable without these commitments. Platform PMs confirm delivery, not theme rank.</a:t>
            </a:r>
            <a:endParaRPr b="0" lang="en-US" sz="1250" strike="noStrike" u="none">
              <a:solidFill>
                <a:srgbClr val="000000"/>
              </a:solidFill>
              <a:effectLst/>
              <a:uFillTx/>
              <a:latin typeface="Arial"/>
            </a:endParaRPr>
          </a:p>
        </p:txBody>
      </p:sp>
      <p:sp>
        <p:nvSpPr>
          <p:cNvPr id="2987"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2988" name="Shape 7"/>
          <p:cNvSpPr/>
          <p:nvPr/>
        </p:nvSpPr>
        <p:spPr>
          <a:xfrm>
            <a:off x="6217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989"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2990"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ATLAS DATA</a:t>
            </a:r>
            <a:endParaRPr b="0" lang="en-US" sz="900" strike="noStrike" u="none">
              <a:solidFill>
                <a:srgbClr val="000000"/>
              </a:solidFill>
              <a:effectLst/>
              <a:uFillTx/>
              <a:latin typeface="Arial"/>
            </a:endParaRPr>
          </a:p>
        </p:txBody>
      </p:sp>
      <p:sp>
        <p:nvSpPr>
          <p:cNvPr id="2991"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Ingestion and pipelines</a:t>
            </a:r>
            <a:endParaRPr b="0" lang="en-US" sz="1600" strike="noStrike" u="none">
              <a:solidFill>
                <a:srgbClr val="000000"/>
              </a:solidFill>
              <a:effectLst/>
              <a:uFillTx/>
              <a:latin typeface="Arial"/>
            </a:endParaRPr>
          </a:p>
        </p:txBody>
      </p:sp>
      <p:sp>
        <p:nvSpPr>
          <p:cNvPr id="2992" name="Text 11"/>
          <p:cNvSpPr/>
          <p:nvPr/>
        </p:nvSpPr>
        <p:spPr>
          <a:xfrm>
            <a:off x="822960" y="3044880"/>
            <a:ext cx="2165040" cy="299880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Pipeline and transformation foundation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CP data collection setup</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Programmatic connectors and APIs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Data collection lifecycle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Bulk rollback and overwrite</a:t>
            </a:r>
            <a:endParaRPr b="0" lang="en-US" sz="1100" strike="noStrike" u="none">
              <a:solidFill>
                <a:srgbClr val="000000"/>
              </a:solidFill>
              <a:effectLst/>
              <a:uFillTx/>
              <a:latin typeface="Arial"/>
            </a:endParaRPr>
          </a:p>
        </p:txBody>
      </p:sp>
      <p:sp>
        <p:nvSpPr>
          <p:cNvPr id="2993" name="Shape 12"/>
          <p:cNvSpPr/>
          <p:nvPr/>
        </p:nvSpPr>
        <p:spPr>
          <a:xfrm>
            <a:off x="342756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994" name="Shape 13"/>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2995" name="Text 14"/>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DATA QUALITY AND SERVICES</a:t>
            </a:r>
            <a:endParaRPr b="0" lang="en-US" sz="900" strike="noStrike" u="none">
              <a:solidFill>
                <a:srgbClr val="000000"/>
              </a:solidFill>
              <a:effectLst/>
              <a:uFillTx/>
              <a:latin typeface="Arial"/>
            </a:endParaRPr>
          </a:p>
        </p:txBody>
      </p:sp>
      <p:sp>
        <p:nvSpPr>
          <p:cNvPr id="2996" name="Text 15"/>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Checks and validation</a:t>
            </a:r>
            <a:endParaRPr b="0" lang="en-US" sz="1600" strike="noStrike" u="none">
              <a:solidFill>
                <a:srgbClr val="000000"/>
              </a:solidFill>
              <a:effectLst/>
              <a:uFillTx/>
              <a:latin typeface="Arial"/>
            </a:endParaRPr>
          </a:p>
        </p:txBody>
      </p:sp>
      <p:sp>
        <p:nvSpPr>
          <p:cNvPr id="2997" name="Text 16"/>
          <p:cNvSpPr/>
          <p:nvPr/>
        </p:nvSpPr>
        <p:spPr>
          <a:xfrm>
            <a:off x="3628440" y="3044880"/>
            <a:ext cx="2165040" cy="299880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Automated DQ checks and overview (rank 1)</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Entity and overview DQ pages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Validation at ingestion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Discrepancy management</a:t>
            </a:r>
            <a:endParaRPr b="0" lang="en-US" sz="1100" strike="noStrike" u="none">
              <a:solidFill>
                <a:srgbClr val="000000"/>
              </a:solidFill>
              <a:effectLst/>
              <a:uFillTx/>
              <a:latin typeface="Arial"/>
            </a:endParaRPr>
          </a:p>
        </p:txBody>
      </p:sp>
      <p:sp>
        <p:nvSpPr>
          <p:cNvPr id="2998" name="Shape 17"/>
          <p:cNvSpPr/>
          <p:nvPr/>
        </p:nvSpPr>
        <p:spPr>
          <a:xfrm>
            <a:off x="623304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999" name="Shape 18"/>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3000" name="Text 19"/>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MEASUREMENT AND EF LIBRARY</a:t>
            </a:r>
            <a:endParaRPr b="0" lang="en-US" sz="900" strike="noStrike" u="none">
              <a:solidFill>
                <a:srgbClr val="000000"/>
              </a:solidFill>
              <a:effectLst/>
              <a:uFillTx/>
              <a:latin typeface="Arial"/>
            </a:endParaRPr>
          </a:p>
        </p:txBody>
      </p:sp>
      <p:sp>
        <p:nvSpPr>
          <p:cNvPr id="3001" name="Text 20"/>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Emission factors</a:t>
            </a:r>
            <a:endParaRPr b="0" lang="en-US" sz="1600" strike="noStrike" u="none">
              <a:solidFill>
                <a:srgbClr val="000000"/>
              </a:solidFill>
              <a:effectLst/>
              <a:uFillTx/>
              <a:latin typeface="Arial"/>
            </a:endParaRPr>
          </a:p>
        </p:txBody>
      </p:sp>
      <p:sp>
        <p:nvSpPr>
          <p:cNvPr id="3002" name="Text 21"/>
          <p:cNvSpPr/>
          <p:nvPr/>
        </p:nvSpPr>
        <p:spPr>
          <a:xfrm>
            <a:off x="6434280" y="3044880"/>
            <a:ext cx="2165040" cy="299880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Custom and supplier specific EFs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Standard EF datasets (rank 26)</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Deterministic EF configuration (rank 14)</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Vendor and industry EFs</a:t>
            </a:r>
            <a:endParaRPr b="0" lang="en-US" sz="1100" strike="noStrike" u="none">
              <a:solidFill>
                <a:srgbClr val="000000"/>
              </a:solidFill>
              <a:effectLst/>
              <a:uFillTx/>
              <a:latin typeface="Arial"/>
            </a:endParaRPr>
          </a:p>
        </p:txBody>
      </p:sp>
      <p:sp>
        <p:nvSpPr>
          <p:cNvPr id="3003" name="Shape 22"/>
          <p:cNvSpPr/>
          <p:nvPr/>
        </p:nvSpPr>
        <p:spPr>
          <a:xfrm>
            <a:off x="90385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004" name="Shape 23"/>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3005" name="Text 24"/>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ONTOLOGY, SERA, ANALYTICS</a:t>
            </a:r>
            <a:endParaRPr b="0" lang="en-US" sz="900" strike="noStrike" u="none">
              <a:solidFill>
                <a:srgbClr val="000000"/>
              </a:solidFill>
              <a:effectLst/>
              <a:uFillTx/>
              <a:latin typeface="Arial"/>
            </a:endParaRPr>
          </a:p>
        </p:txBody>
      </p:sp>
      <p:sp>
        <p:nvSpPr>
          <p:cNvPr id="3006" name="Text 25"/>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Hierarchies and experience</a:t>
            </a:r>
            <a:endParaRPr b="0" lang="en-US" sz="1600" strike="noStrike" u="none">
              <a:solidFill>
                <a:srgbClr val="000000"/>
              </a:solidFill>
              <a:effectLst/>
              <a:uFillTx/>
              <a:latin typeface="Arial"/>
            </a:endParaRPr>
          </a:p>
        </p:txBody>
      </p:sp>
      <p:sp>
        <p:nvSpPr>
          <p:cNvPr id="3007" name="Text 26"/>
          <p:cNvSpPr/>
          <p:nvPr/>
        </p:nvSpPr>
        <p:spPr>
          <a:xfrm>
            <a:off x="9239760" y="3044880"/>
            <a:ext cx="2165040" cy="299880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Multi-hierarchy access, allocations foundation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Financial and equity consolidation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Sera contextual intelligence, Accor portfolio experience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Navigate, Slice and Analyze, Quick Charts and Data Explorer</a:t>
            </a:r>
            <a:endParaRPr b="0" lang="en-US" sz="1100" strike="noStrike" u="none">
              <a:solidFill>
                <a:srgbClr val="000000"/>
              </a:solidFill>
              <a:effectLst/>
              <a:uFillTx/>
              <a:latin typeface="Arial"/>
            </a:endParaRPr>
          </a:p>
        </p:txBody>
      </p:sp>
      <p:sp>
        <p:nvSpPr>
          <p:cNvPr id="3008" name="Shape 27"/>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009" name="Text 28"/>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3010" name="Text 29"/>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3011" name="PlaceHolder 1"/>
          <p:cNvSpPr>
            <a:spLocks noGrp="1"/>
          </p:cNvSpPr>
          <p:nvPr>
            <p:ph type="sldNum" idx="67"/>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8B7B9C35-58D3-4E6A-9FDF-9127630B1CCF}"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7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5730"/>
        </a:solidFill>
      </p:bgPr>
    </p:bg>
    <p:spTree>
      <p:nvGrpSpPr>
        <p:cNvPr id="1" name=""/>
        <p:cNvGrpSpPr/>
        <p:nvPr/>
      </p:nvGrpSpPr>
      <p:grpSpPr>
        <a:xfrm>
          <a:off x="0" y="0"/>
          <a:ext cx="0" cy="0"/>
          <a:chOff x="0" y="0"/>
          <a:chExt cx="0" cy="0"/>
        </a:xfrm>
      </p:grpSpPr>
      <p:sp>
        <p:nvSpPr>
          <p:cNvPr id="3012"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3013"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3014" name="Shape 2"/>
          <p:cNvSpPr/>
          <p:nvPr/>
        </p:nvSpPr>
        <p:spPr>
          <a:xfrm>
            <a:off x="8641080" y="822960"/>
            <a:ext cx="360" cy="5212080"/>
          </a:xfrm>
          <a:prstGeom prst="line">
            <a:avLst/>
          </a:prstGeom>
          <a:ln w="12700">
            <a:solidFill>
              <a:srgbClr val="2c8058"/>
            </a:solidFill>
            <a:round/>
          </a:ln>
        </p:spPr>
        <p:style>
          <a:lnRef idx="0"/>
          <a:fillRef idx="0"/>
          <a:effectRef idx="0"/>
          <a:fontRef idx="minor"/>
        </p:style>
        <p:txBody>
          <a:bodyPr lIns="90000" rIns="90000" tIns="45000" bIns="45000" anchor="t" anchorCtr="1">
            <a:noAutofit/>
          </a:bodyPr>
          <a:p>
            <a:endParaRPr b="0" lang="en-US" sz="1800" strike="noStrike" u="none">
              <a:solidFill>
                <a:srgbClr val="ffffff"/>
              </a:solidFill>
              <a:effectLst/>
              <a:uFillTx/>
              <a:latin typeface="Arial"/>
            </a:endParaRPr>
          </a:p>
        </p:txBody>
      </p:sp>
      <p:sp>
        <p:nvSpPr>
          <p:cNvPr id="3015" name="Text 3"/>
          <p:cNvSpPr/>
          <p:nvPr/>
        </p:nvSpPr>
        <p:spPr>
          <a:xfrm>
            <a:off x="9144000" y="841320"/>
            <a:ext cx="2194200" cy="22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81" strike="noStrike" u="none">
                <a:solidFill>
                  <a:srgbClr val="bfe6ce"/>
                </a:solidFill>
                <a:effectLst/>
                <a:uFillTx/>
                <a:latin typeface="Calibri"/>
                <a:ea typeface="Calibri"/>
              </a:rPr>
              <a:t>RA+ ROADMAP</a:t>
            </a:r>
            <a:endParaRPr b="0" lang="en-US" sz="900" strike="noStrike" u="none">
              <a:solidFill>
                <a:srgbClr val="ffffff"/>
              </a:solidFill>
              <a:effectLst/>
              <a:uFillTx/>
              <a:latin typeface="Arial"/>
            </a:endParaRPr>
          </a:p>
        </p:txBody>
      </p:sp>
      <p:sp>
        <p:nvSpPr>
          <p:cNvPr id="3016" name="Text 4"/>
          <p:cNvSpPr/>
          <p:nvPr/>
        </p:nvSpPr>
        <p:spPr>
          <a:xfrm>
            <a:off x="9144000" y="1325880"/>
            <a:ext cx="2194200" cy="1462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3600" strike="noStrike" u="none">
                <a:solidFill>
                  <a:srgbClr val="ffffff"/>
                </a:solidFill>
                <a:effectLst/>
                <a:uFillTx/>
                <a:latin typeface="Calibri"/>
                <a:ea typeface="Calibri"/>
              </a:rPr>
              <a:t>2026</a:t>
            </a:r>
            <a:endParaRPr b="0" lang="en-US" sz="3600" strike="noStrike" u="none">
              <a:solidFill>
                <a:srgbClr val="ffffff"/>
              </a:solidFill>
              <a:effectLst/>
              <a:uFillTx/>
              <a:latin typeface="Arial"/>
            </a:endParaRPr>
          </a:p>
          <a:p>
            <a:pPr defTabSz="914400">
              <a:lnSpc>
                <a:spcPct val="100000"/>
              </a:lnSpc>
              <a:tabLst>
                <a:tab algn="l" pos="0"/>
              </a:tabLst>
            </a:pPr>
            <a:r>
              <a:rPr b="1" lang="en-US" sz="3600" strike="noStrike" u="none">
                <a:solidFill>
                  <a:srgbClr val="ffffff"/>
                </a:solidFill>
                <a:effectLst/>
                <a:uFillTx/>
                <a:latin typeface="Calibri"/>
                <a:ea typeface="Calibri"/>
              </a:rPr>
              <a:t>2027</a:t>
            </a:r>
            <a:endParaRPr b="0" lang="en-US" sz="3600" strike="noStrike" u="none">
              <a:solidFill>
                <a:srgbClr val="ffffff"/>
              </a:solidFill>
              <a:effectLst/>
              <a:uFillTx/>
              <a:latin typeface="Arial"/>
            </a:endParaRPr>
          </a:p>
        </p:txBody>
      </p:sp>
      <p:sp>
        <p:nvSpPr>
          <p:cNvPr id="3017" name="Text 5"/>
          <p:cNvSpPr/>
          <p:nvPr/>
        </p:nvSpPr>
        <p:spPr>
          <a:xfrm>
            <a:off x="621720" y="960120"/>
            <a:ext cx="71319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221" strike="noStrike" u="none">
                <a:solidFill>
                  <a:srgbClr val="bfe6ce"/>
                </a:solidFill>
                <a:effectLst/>
                <a:uFillTx/>
                <a:latin typeface="Calibri"/>
                <a:ea typeface="Calibri"/>
              </a:rPr>
              <a:t>AGENDA ITEM 4.2</a:t>
            </a:r>
            <a:endParaRPr b="0" lang="en-US" sz="1100" strike="noStrike" u="none">
              <a:solidFill>
                <a:srgbClr val="ffffff"/>
              </a:solidFill>
              <a:effectLst/>
              <a:uFillTx/>
              <a:latin typeface="Arial"/>
            </a:endParaRPr>
          </a:p>
        </p:txBody>
      </p:sp>
      <p:sp>
        <p:nvSpPr>
          <p:cNvPr id="3018" name="Text 6"/>
          <p:cNvSpPr/>
          <p:nvPr/>
        </p:nvSpPr>
        <p:spPr>
          <a:xfrm>
            <a:off x="621720" y="1508760"/>
            <a:ext cx="191988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5800" strike="noStrike" u="none">
                <a:solidFill>
                  <a:srgbClr val="3dcd58"/>
                </a:solidFill>
                <a:effectLst/>
                <a:uFillTx/>
                <a:latin typeface="Calibri"/>
                <a:ea typeface="Calibri"/>
              </a:rPr>
              <a:t>4.2</a:t>
            </a:r>
            <a:endParaRPr b="0" lang="en-US" sz="5800" strike="noStrike" u="none">
              <a:solidFill>
                <a:srgbClr val="ffffff"/>
              </a:solidFill>
              <a:effectLst/>
              <a:uFillTx/>
              <a:latin typeface="Arial"/>
            </a:endParaRPr>
          </a:p>
        </p:txBody>
      </p:sp>
      <p:sp>
        <p:nvSpPr>
          <p:cNvPr id="3019" name="Text 7"/>
          <p:cNvSpPr/>
          <p:nvPr/>
        </p:nvSpPr>
        <p:spPr>
          <a:xfrm>
            <a:off x="621720" y="2606040"/>
            <a:ext cx="7406280" cy="11426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ffffff"/>
                </a:solidFill>
                <a:effectLst/>
                <a:uFillTx/>
                <a:latin typeface="Calibri"/>
                <a:ea typeface="Calibri"/>
              </a:rPr>
              <a:t>Supply Chain</a:t>
            </a:r>
            <a:endParaRPr b="0" lang="en-US" sz="3200" strike="noStrike" u="none">
              <a:solidFill>
                <a:srgbClr val="ffffff"/>
              </a:solidFill>
              <a:effectLst/>
              <a:uFillTx/>
              <a:latin typeface="Arial"/>
            </a:endParaRPr>
          </a:p>
        </p:txBody>
      </p:sp>
      <p:sp>
        <p:nvSpPr>
          <p:cNvPr id="3020" name="Text 8"/>
          <p:cNvSpPr/>
          <p:nvPr/>
        </p:nvSpPr>
        <p:spPr>
          <a:xfrm>
            <a:off x="621720" y="4005000"/>
            <a:ext cx="704052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400" strike="noStrike" u="none">
                <a:solidFill>
                  <a:srgbClr val="d6eadf"/>
                </a:solidFill>
                <a:effectLst/>
                <a:uFillTx/>
                <a:latin typeface="Calibri"/>
                <a:ea typeface="Calibri"/>
              </a:rPr>
              <a:t>Migrate and close the competitive gap, then drive supplier action.</a:t>
            </a:r>
            <a:endParaRPr b="0" lang="en-US" sz="14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7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021"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3022"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3023" name="Shape 2"/>
          <p:cNvSpPr/>
          <p:nvPr/>
        </p:nvSpPr>
        <p:spPr>
          <a:xfrm>
            <a:off x="621720" y="311040"/>
            <a:ext cx="239544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024" name="Text 3"/>
          <p:cNvSpPr/>
          <p:nvPr/>
        </p:nvSpPr>
        <p:spPr>
          <a:xfrm>
            <a:off x="804600" y="329040"/>
            <a:ext cx="206604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SUPPLY CHAIN, 2026</a:t>
            </a:r>
            <a:endParaRPr b="0" lang="en-US" sz="950" strike="noStrike" u="none">
              <a:solidFill>
                <a:srgbClr val="000000"/>
              </a:solidFill>
              <a:effectLst/>
              <a:uFillTx/>
              <a:latin typeface="Arial"/>
            </a:endParaRPr>
          </a:p>
        </p:txBody>
      </p:sp>
      <p:sp>
        <p:nvSpPr>
          <p:cNvPr id="3025"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Migrate and close the competitive gap in 2026</a:t>
            </a:r>
            <a:endParaRPr b="0" lang="en-US" sz="3200" strike="noStrike" u="none">
              <a:solidFill>
                <a:srgbClr val="000000"/>
              </a:solidFill>
              <a:effectLst/>
              <a:uFillTx/>
              <a:latin typeface="Arial"/>
            </a:endParaRPr>
          </a:p>
        </p:txBody>
      </p:sp>
      <p:sp>
        <p:nvSpPr>
          <p:cNvPr id="3026"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The 2026 goals, sequenced against the RA+ migration.</a:t>
            </a:r>
            <a:endParaRPr b="0" lang="en-US" sz="1250" strike="noStrike" u="none">
              <a:solidFill>
                <a:srgbClr val="000000"/>
              </a:solidFill>
              <a:effectLst/>
              <a:uFillTx/>
              <a:latin typeface="Arial"/>
            </a:endParaRPr>
          </a:p>
        </p:txBody>
      </p:sp>
      <p:sp>
        <p:nvSpPr>
          <p:cNvPr id="3027"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028" name="Shape 7"/>
          <p:cNvSpPr/>
          <p:nvPr/>
        </p:nvSpPr>
        <p:spPr>
          <a:xfrm>
            <a:off x="621720" y="2084760"/>
            <a:ext cx="5345640" cy="4178520"/>
          </a:xfrm>
          <a:prstGeom prst="roundRect">
            <a:avLst>
              <a:gd name="adj" fmla="val 131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029" name="Shape 8"/>
          <p:cNvSpPr/>
          <p:nvPr/>
        </p:nvSpPr>
        <p:spPr>
          <a:xfrm>
            <a:off x="621720" y="2084760"/>
            <a:ext cx="5345640" cy="712800"/>
          </a:xfrm>
          <a:prstGeom prst="rect">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030" name="Shape 9"/>
          <p:cNvSpPr/>
          <p:nvPr/>
        </p:nvSpPr>
        <p:spPr>
          <a:xfrm>
            <a:off x="621720" y="2084760"/>
            <a:ext cx="54360" cy="41785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031" name="Text 10"/>
          <p:cNvSpPr/>
          <p:nvPr/>
        </p:nvSpPr>
        <p:spPr>
          <a:xfrm>
            <a:off x="804600" y="2176200"/>
            <a:ext cx="501660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3dcd58"/>
                </a:solidFill>
                <a:effectLst/>
                <a:uFillTx/>
                <a:latin typeface="Calibri"/>
                <a:ea typeface="Calibri"/>
              </a:rPr>
              <a:t>NOW</a:t>
            </a:r>
            <a:endParaRPr b="0" lang="en-US" sz="850" strike="noStrike" u="none">
              <a:solidFill>
                <a:srgbClr val="000000"/>
              </a:solidFill>
              <a:effectLst/>
              <a:uFillTx/>
              <a:latin typeface="Arial"/>
            </a:endParaRPr>
          </a:p>
        </p:txBody>
      </p:sp>
      <p:sp>
        <p:nvSpPr>
          <p:cNvPr id="3032" name="Text 11"/>
          <p:cNvSpPr/>
          <p:nvPr/>
        </p:nvSpPr>
        <p:spPr>
          <a:xfrm>
            <a:off x="804600" y="2423160"/>
            <a:ext cx="501660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Q3 2026</a:t>
            </a:r>
            <a:endParaRPr b="0" lang="en-US" sz="1400" strike="noStrike" u="none">
              <a:solidFill>
                <a:srgbClr val="000000"/>
              </a:solidFill>
              <a:effectLst/>
              <a:uFillTx/>
              <a:latin typeface="Arial"/>
            </a:endParaRPr>
          </a:p>
        </p:txBody>
      </p:sp>
      <p:sp>
        <p:nvSpPr>
          <p:cNvPr id="3033" name="Shape 12"/>
          <p:cNvSpPr/>
          <p:nvPr/>
        </p:nvSpPr>
        <p:spPr>
          <a:xfrm>
            <a:off x="758880" y="295344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034" name="Text 13"/>
          <p:cNvSpPr/>
          <p:nvPr/>
        </p:nvSpPr>
        <p:spPr>
          <a:xfrm>
            <a:off x="822960" y="295344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RA+ tech integrations and shared UI</a:t>
            </a:r>
            <a:endParaRPr b="0" lang="en-US" sz="950" strike="noStrike" u="none">
              <a:solidFill>
                <a:srgbClr val="000000"/>
              </a:solidFill>
              <a:effectLst/>
              <a:uFillTx/>
              <a:latin typeface="Arial"/>
            </a:endParaRPr>
          </a:p>
          <a:p>
            <a:pPr defTabSz="914400">
              <a:lnSpc>
                <a:spcPct val="95000"/>
              </a:lnSpc>
              <a:tabLst>
                <a:tab algn="l" pos="0"/>
              </a:tabLst>
            </a:pPr>
            <a:r>
              <a:rPr b="0" lang="en-US" sz="800" strike="noStrike" u="none">
                <a:solidFill>
                  <a:srgbClr val="5a625c"/>
                </a:solidFill>
                <a:effectLst/>
                <a:uFillTx/>
                <a:latin typeface="Calibri"/>
                <a:ea typeface="Calibri"/>
              </a:rPr>
              <a:t>Navigation, layouts, database</a:t>
            </a:r>
            <a:endParaRPr b="0" lang="en-US" sz="800" strike="noStrike" u="none">
              <a:solidFill>
                <a:srgbClr val="000000"/>
              </a:solidFill>
              <a:effectLst/>
              <a:uFillTx/>
              <a:latin typeface="Arial"/>
            </a:endParaRPr>
          </a:p>
        </p:txBody>
      </p:sp>
      <p:sp>
        <p:nvSpPr>
          <p:cNvPr id="3035" name="Shape 14"/>
          <p:cNvSpPr/>
          <p:nvPr/>
        </p:nvSpPr>
        <p:spPr>
          <a:xfrm>
            <a:off x="758880" y="374004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036" name="Text 15"/>
          <p:cNvSpPr/>
          <p:nvPr/>
        </p:nvSpPr>
        <p:spPr>
          <a:xfrm>
            <a:off x="822960" y="374004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End to end supply chain emissions management</a:t>
            </a:r>
            <a:endParaRPr b="0" lang="en-US" sz="950" strike="noStrike" u="none">
              <a:solidFill>
                <a:srgbClr val="000000"/>
              </a:solidFill>
              <a:effectLst/>
              <a:uFillTx/>
              <a:latin typeface="Arial"/>
            </a:endParaRPr>
          </a:p>
        </p:txBody>
      </p:sp>
      <p:sp>
        <p:nvSpPr>
          <p:cNvPr id="3037" name="Shape 16"/>
          <p:cNvSpPr/>
          <p:nvPr/>
        </p:nvSpPr>
        <p:spPr>
          <a:xfrm>
            <a:off x="758880" y="452628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038" name="Text 17"/>
          <p:cNvSpPr/>
          <p:nvPr/>
        </p:nvSpPr>
        <p:spPr>
          <a:xfrm>
            <a:off x="822960" y="452628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Custom questionnaires</a:t>
            </a:r>
            <a:endParaRPr b="0" lang="en-US" sz="1000" strike="noStrike" u="none">
              <a:solidFill>
                <a:srgbClr val="000000"/>
              </a:solidFill>
              <a:effectLst/>
              <a:uFillTx/>
              <a:latin typeface="Arial"/>
            </a:endParaRPr>
          </a:p>
        </p:txBody>
      </p:sp>
      <p:sp>
        <p:nvSpPr>
          <p:cNvPr id="3039" name="Shape 18"/>
          <p:cNvSpPr/>
          <p:nvPr/>
        </p:nvSpPr>
        <p:spPr>
          <a:xfrm>
            <a:off x="758880" y="531252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040" name="Text 19"/>
          <p:cNvSpPr/>
          <p:nvPr/>
        </p:nvSpPr>
        <p:spPr>
          <a:xfrm>
            <a:off x="822960" y="531252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Guided supplier decarbonisation actions</a:t>
            </a:r>
            <a:endParaRPr b="0" lang="en-US" sz="950" strike="noStrike" u="none">
              <a:solidFill>
                <a:srgbClr val="000000"/>
              </a:solidFill>
              <a:effectLst/>
              <a:uFillTx/>
              <a:latin typeface="Arial"/>
            </a:endParaRPr>
          </a:p>
        </p:txBody>
      </p:sp>
      <p:sp>
        <p:nvSpPr>
          <p:cNvPr id="3041" name="Shape 20"/>
          <p:cNvSpPr/>
          <p:nvPr/>
        </p:nvSpPr>
        <p:spPr>
          <a:xfrm>
            <a:off x="6224040" y="2084760"/>
            <a:ext cx="5345640" cy="4178520"/>
          </a:xfrm>
          <a:prstGeom prst="roundRect">
            <a:avLst>
              <a:gd name="adj" fmla="val 131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042" name="Shape 21"/>
          <p:cNvSpPr/>
          <p:nvPr/>
        </p:nvSpPr>
        <p:spPr>
          <a:xfrm>
            <a:off x="6224040" y="2084760"/>
            <a:ext cx="5345640" cy="712800"/>
          </a:xfrm>
          <a:prstGeom prst="rect">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043" name="Shape 22"/>
          <p:cNvSpPr/>
          <p:nvPr/>
        </p:nvSpPr>
        <p:spPr>
          <a:xfrm>
            <a:off x="6224040" y="2084760"/>
            <a:ext cx="54360" cy="4178520"/>
          </a:xfrm>
          <a:prstGeom prst="rect">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044" name="Text 23"/>
          <p:cNvSpPr/>
          <p:nvPr/>
        </p:nvSpPr>
        <p:spPr>
          <a:xfrm>
            <a:off x="6406920" y="2176200"/>
            <a:ext cx="501660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007a27"/>
                </a:solidFill>
                <a:effectLst/>
                <a:uFillTx/>
                <a:latin typeface="Calibri"/>
                <a:ea typeface="Calibri"/>
              </a:rPr>
              <a:t>NEXT</a:t>
            </a:r>
            <a:endParaRPr b="0" lang="en-US" sz="850" strike="noStrike" u="none">
              <a:solidFill>
                <a:srgbClr val="000000"/>
              </a:solidFill>
              <a:effectLst/>
              <a:uFillTx/>
              <a:latin typeface="Arial"/>
            </a:endParaRPr>
          </a:p>
        </p:txBody>
      </p:sp>
      <p:sp>
        <p:nvSpPr>
          <p:cNvPr id="3045" name="Text 24"/>
          <p:cNvSpPr/>
          <p:nvPr/>
        </p:nvSpPr>
        <p:spPr>
          <a:xfrm>
            <a:off x="6406920" y="2423160"/>
            <a:ext cx="501660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Q4 2026</a:t>
            </a:r>
            <a:endParaRPr b="0" lang="en-US" sz="1400" strike="noStrike" u="none">
              <a:solidFill>
                <a:srgbClr val="000000"/>
              </a:solidFill>
              <a:effectLst/>
              <a:uFillTx/>
              <a:latin typeface="Arial"/>
            </a:endParaRPr>
          </a:p>
        </p:txBody>
      </p:sp>
      <p:sp>
        <p:nvSpPr>
          <p:cNvPr id="3046" name="Shape 25"/>
          <p:cNvSpPr/>
          <p:nvPr/>
        </p:nvSpPr>
        <p:spPr>
          <a:xfrm>
            <a:off x="6361200" y="295344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047" name="Text 26"/>
          <p:cNvSpPr/>
          <p:nvPr/>
        </p:nvSpPr>
        <p:spPr>
          <a:xfrm>
            <a:off x="6424920" y="295344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00" strike="noStrike" u="none">
                <a:solidFill>
                  <a:srgbClr val="1e2420"/>
                </a:solidFill>
                <a:effectLst/>
                <a:uFillTx/>
                <a:latin typeface="Calibri"/>
                <a:ea typeface="Calibri"/>
              </a:rPr>
              <a:t>Rebranding completion to a stronger RA+ experience</a:t>
            </a:r>
            <a:endParaRPr b="0" lang="en-US" sz="900" strike="noStrike" u="none">
              <a:solidFill>
                <a:srgbClr val="000000"/>
              </a:solidFill>
              <a:effectLst/>
              <a:uFillTx/>
              <a:latin typeface="Arial"/>
            </a:endParaRPr>
          </a:p>
        </p:txBody>
      </p:sp>
      <p:sp>
        <p:nvSpPr>
          <p:cNvPr id="3048" name="Shape 27"/>
          <p:cNvSpPr/>
          <p:nvPr/>
        </p:nvSpPr>
        <p:spPr>
          <a:xfrm>
            <a:off x="6361200" y="374004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049" name="Text 28"/>
          <p:cNvSpPr/>
          <p:nvPr/>
        </p:nvSpPr>
        <p:spPr>
          <a:xfrm>
            <a:off x="6424920" y="374004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Improve data quality assurance</a:t>
            </a:r>
            <a:endParaRPr b="0" lang="en-US" sz="1000" strike="noStrike" u="none">
              <a:solidFill>
                <a:srgbClr val="000000"/>
              </a:solidFill>
              <a:effectLst/>
              <a:uFillTx/>
              <a:latin typeface="Arial"/>
            </a:endParaRPr>
          </a:p>
        </p:txBody>
      </p:sp>
      <p:sp>
        <p:nvSpPr>
          <p:cNvPr id="3050" name="Shape 29"/>
          <p:cNvSpPr/>
          <p:nvPr/>
        </p:nvSpPr>
        <p:spPr>
          <a:xfrm>
            <a:off x="6361200" y="452628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051" name="Text 30"/>
          <p:cNvSpPr/>
          <p:nvPr/>
        </p:nvSpPr>
        <p:spPr>
          <a:xfrm>
            <a:off x="6424920" y="452628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00" strike="noStrike" u="none">
                <a:solidFill>
                  <a:srgbClr val="1e2420"/>
                </a:solidFill>
                <a:effectLst/>
                <a:uFillTx/>
                <a:latin typeface="Calibri"/>
                <a:ea typeface="Calibri"/>
              </a:rPr>
              <a:t>Sponsor decision support and supplier transparency</a:t>
            </a:r>
            <a:endParaRPr b="0" lang="en-US" sz="900" strike="noStrike" u="none">
              <a:solidFill>
                <a:srgbClr val="000000"/>
              </a:solidFill>
              <a:effectLst/>
              <a:uFillTx/>
              <a:latin typeface="Arial"/>
            </a:endParaRPr>
          </a:p>
        </p:txBody>
      </p:sp>
      <p:sp>
        <p:nvSpPr>
          <p:cNvPr id="3052" name="Shape 31"/>
          <p:cNvSpPr/>
          <p:nvPr/>
        </p:nvSpPr>
        <p:spPr>
          <a:xfrm>
            <a:off x="6361200" y="531252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053" name="Text 32"/>
          <p:cNvSpPr/>
          <p:nvPr/>
        </p:nvSpPr>
        <p:spPr>
          <a:xfrm>
            <a:off x="6424920" y="531252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Zeigo network integration</a:t>
            </a:r>
            <a:endParaRPr b="0" lang="en-US" sz="1000" strike="noStrike" u="none">
              <a:solidFill>
                <a:srgbClr val="000000"/>
              </a:solidFill>
              <a:effectLst/>
              <a:uFillTx/>
              <a:latin typeface="Arial"/>
            </a:endParaRPr>
          </a:p>
        </p:txBody>
      </p:sp>
      <p:sp>
        <p:nvSpPr>
          <p:cNvPr id="3054" name="Shape 33"/>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055" name="Text 34"/>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3056" name="Text 35"/>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3057" name="PlaceHolder 1"/>
          <p:cNvSpPr>
            <a:spLocks noGrp="1"/>
          </p:cNvSpPr>
          <p:nvPr>
            <p:ph type="sldNum" idx="68"/>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FE504EE5-4509-4D16-80C1-33FE275267CF}"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7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058"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3059"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3060" name="Shape 2"/>
          <p:cNvSpPr/>
          <p:nvPr/>
        </p:nvSpPr>
        <p:spPr>
          <a:xfrm>
            <a:off x="621720" y="311040"/>
            <a:ext cx="239544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061" name="Text 3"/>
          <p:cNvSpPr/>
          <p:nvPr/>
        </p:nvSpPr>
        <p:spPr>
          <a:xfrm>
            <a:off x="804600" y="329040"/>
            <a:ext cx="206604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SUPPLY CHAIN, 2027</a:t>
            </a:r>
            <a:endParaRPr b="0" lang="en-US" sz="950" strike="noStrike" u="none">
              <a:solidFill>
                <a:srgbClr val="000000"/>
              </a:solidFill>
              <a:effectLst/>
              <a:uFillTx/>
              <a:latin typeface="Arial"/>
            </a:endParaRPr>
          </a:p>
        </p:txBody>
      </p:sp>
      <p:sp>
        <p:nvSpPr>
          <p:cNvPr id="3062"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Drive supplier action in 2027</a:t>
            </a:r>
            <a:endParaRPr b="0" lang="en-US" sz="3200" strike="noStrike" u="none">
              <a:solidFill>
                <a:srgbClr val="000000"/>
              </a:solidFill>
              <a:effectLst/>
              <a:uFillTx/>
              <a:latin typeface="Arial"/>
            </a:endParaRPr>
          </a:p>
        </p:txBody>
      </p:sp>
      <p:sp>
        <p:nvSpPr>
          <p:cNvPr id="3063"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From measurement to supplier engagement, integration and discovery.</a:t>
            </a:r>
            <a:endParaRPr b="0" lang="en-US" sz="1250" strike="noStrike" u="none">
              <a:solidFill>
                <a:srgbClr val="000000"/>
              </a:solidFill>
              <a:effectLst/>
              <a:uFillTx/>
              <a:latin typeface="Arial"/>
            </a:endParaRPr>
          </a:p>
        </p:txBody>
      </p:sp>
      <p:sp>
        <p:nvSpPr>
          <p:cNvPr id="3064"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065" name="Shape 7"/>
          <p:cNvSpPr/>
          <p:nvPr/>
        </p:nvSpPr>
        <p:spPr>
          <a:xfrm>
            <a:off x="621720" y="2084760"/>
            <a:ext cx="5345640" cy="4178520"/>
          </a:xfrm>
          <a:prstGeom prst="roundRect">
            <a:avLst>
              <a:gd name="adj" fmla="val 131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066" name="Shape 8"/>
          <p:cNvSpPr/>
          <p:nvPr/>
        </p:nvSpPr>
        <p:spPr>
          <a:xfrm>
            <a:off x="621720" y="2084760"/>
            <a:ext cx="5345640" cy="712800"/>
          </a:xfrm>
          <a:prstGeom prst="rect">
            <a:avLst/>
          </a:prstGeom>
          <a:solidFill>
            <a:srgbClr val="fff4e3"/>
          </a:solidFill>
          <a:ln w="12700">
            <a:solidFill>
              <a:srgbClr val="fff4e3"/>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067" name="Shape 9"/>
          <p:cNvSpPr/>
          <p:nvPr/>
        </p:nvSpPr>
        <p:spPr>
          <a:xfrm>
            <a:off x="621720" y="2084760"/>
            <a:ext cx="54360" cy="4178520"/>
          </a:xfrm>
          <a:prstGeom prst="rect">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068" name="Text 10"/>
          <p:cNvSpPr/>
          <p:nvPr/>
        </p:nvSpPr>
        <p:spPr>
          <a:xfrm>
            <a:off x="804600" y="2176200"/>
            <a:ext cx="501660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ffb04c"/>
                </a:solidFill>
                <a:effectLst/>
                <a:uFillTx/>
                <a:latin typeface="Calibri"/>
                <a:ea typeface="Calibri"/>
              </a:rPr>
              <a:t>LATER</a:t>
            </a:r>
            <a:endParaRPr b="0" lang="en-US" sz="850" strike="noStrike" u="none">
              <a:solidFill>
                <a:srgbClr val="000000"/>
              </a:solidFill>
              <a:effectLst/>
              <a:uFillTx/>
              <a:latin typeface="Arial"/>
            </a:endParaRPr>
          </a:p>
        </p:txBody>
      </p:sp>
      <p:sp>
        <p:nvSpPr>
          <p:cNvPr id="3069" name="Text 11"/>
          <p:cNvSpPr/>
          <p:nvPr/>
        </p:nvSpPr>
        <p:spPr>
          <a:xfrm>
            <a:off x="804600" y="2423160"/>
            <a:ext cx="501660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2027 H1</a:t>
            </a:r>
            <a:endParaRPr b="0" lang="en-US" sz="1400" strike="noStrike" u="none">
              <a:solidFill>
                <a:srgbClr val="000000"/>
              </a:solidFill>
              <a:effectLst/>
              <a:uFillTx/>
              <a:latin typeface="Arial"/>
            </a:endParaRPr>
          </a:p>
        </p:txBody>
      </p:sp>
      <p:sp>
        <p:nvSpPr>
          <p:cNvPr id="3070" name="Shape 12"/>
          <p:cNvSpPr/>
          <p:nvPr/>
        </p:nvSpPr>
        <p:spPr>
          <a:xfrm>
            <a:off x="758880" y="295344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071" name="Text 13"/>
          <p:cNvSpPr/>
          <p:nvPr/>
        </p:nvSpPr>
        <p:spPr>
          <a:xfrm>
            <a:off x="822960" y="295344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Light PCF calculator, SEED integrations</a:t>
            </a:r>
            <a:endParaRPr b="0" lang="en-US" sz="950" strike="noStrike" u="none">
              <a:solidFill>
                <a:srgbClr val="000000"/>
              </a:solidFill>
              <a:effectLst/>
              <a:uFillTx/>
              <a:latin typeface="Arial"/>
            </a:endParaRPr>
          </a:p>
        </p:txBody>
      </p:sp>
      <p:sp>
        <p:nvSpPr>
          <p:cNvPr id="3072" name="Shape 14"/>
          <p:cNvSpPr/>
          <p:nvPr/>
        </p:nvSpPr>
        <p:spPr>
          <a:xfrm>
            <a:off x="758880" y="358272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073" name="Text 15"/>
          <p:cNvSpPr/>
          <p:nvPr/>
        </p:nvSpPr>
        <p:spPr>
          <a:xfrm>
            <a:off x="822960" y="358272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Advanced tier level subscription</a:t>
            </a:r>
            <a:endParaRPr b="0" lang="en-US" sz="1000" strike="noStrike" u="none">
              <a:solidFill>
                <a:srgbClr val="000000"/>
              </a:solidFill>
              <a:effectLst/>
              <a:uFillTx/>
              <a:latin typeface="Arial"/>
            </a:endParaRPr>
          </a:p>
        </p:txBody>
      </p:sp>
      <p:sp>
        <p:nvSpPr>
          <p:cNvPr id="3074" name="Shape 16"/>
          <p:cNvSpPr/>
          <p:nvPr/>
        </p:nvSpPr>
        <p:spPr>
          <a:xfrm>
            <a:off x="758880" y="421164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075" name="Text 17"/>
          <p:cNvSpPr/>
          <p:nvPr/>
        </p:nvSpPr>
        <p:spPr>
          <a:xfrm>
            <a:off x="822960" y="421164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Multi tier supplier visibility</a:t>
            </a:r>
            <a:endParaRPr b="0" lang="en-US" sz="1000" strike="noStrike" u="none">
              <a:solidFill>
                <a:srgbClr val="000000"/>
              </a:solidFill>
              <a:effectLst/>
              <a:uFillTx/>
              <a:latin typeface="Arial"/>
            </a:endParaRPr>
          </a:p>
        </p:txBody>
      </p:sp>
      <p:sp>
        <p:nvSpPr>
          <p:cNvPr id="3076" name="Shape 18"/>
          <p:cNvSpPr/>
          <p:nvPr/>
        </p:nvSpPr>
        <p:spPr>
          <a:xfrm>
            <a:off x="758880" y="484092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077" name="Text 19"/>
          <p:cNvSpPr/>
          <p:nvPr/>
        </p:nvSpPr>
        <p:spPr>
          <a:xfrm>
            <a:off x="822960" y="484092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00" strike="noStrike" u="none">
                <a:solidFill>
                  <a:srgbClr val="1e2420"/>
                </a:solidFill>
                <a:effectLst/>
                <a:uFillTx/>
                <a:latin typeface="Calibri"/>
                <a:ea typeface="Calibri"/>
              </a:rPr>
              <a:t>Supplier onboarding and programme participation</a:t>
            </a:r>
            <a:endParaRPr b="0" lang="en-US" sz="900" strike="noStrike" u="none">
              <a:solidFill>
                <a:srgbClr val="000000"/>
              </a:solidFill>
              <a:effectLst/>
              <a:uFillTx/>
              <a:latin typeface="Arial"/>
            </a:endParaRPr>
          </a:p>
        </p:txBody>
      </p:sp>
      <p:sp>
        <p:nvSpPr>
          <p:cNvPr id="3078" name="Shape 20"/>
          <p:cNvSpPr/>
          <p:nvPr/>
        </p:nvSpPr>
        <p:spPr>
          <a:xfrm>
            <a:off x="758880" y="546984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079" name="Text 21"/>
          <p:cNvSpPr/>
          <p:nvPr/>
        </p:nvSpPr>
        <p:spPr>
          <a:xfrm>
            <a:off x="822960" y="546984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00" strike="noStrike" u="none">
                <a:solidFill>
                  <a:srgbClr val="1e2420"/>
                </a:solidFill>
                <a:effectLst/>
                <a:uFillTx/>
                <a:latin typeface="Calibri"/>
                <a:ea typeface="Calibri"/>
              </a:rPr>
              <a:t>Zeigo Activate sunset to be replaced by a light CP calculator</a:t>
            </a:r>
            <a:endParaRPr b="0" lang="en-US" sz="900" strike="noStrike" u="none">
              <a:solidFill>
                <a:srgbClr val="000000"/>
              </a:solidFill>
              <a:effectLst/>
              <a:uFillTx/>
              <a:latin typeface="Arial"/>
            </a:endParaRPr>
          </a:p>
        </p:txBody>
      </p:sp>
      <p:sp>
        <p:nvSpPr>
          <p:cNvPr id="3080" name="Shape 22"/>
          <p:cNvSpPr/>
          <p:nvPr/>
        </p:nvSpPr>
        <p:spPr>
          <a:xfrm>
            <a:off x="6224040" y="2084760"/>
            <a:ext cx="5345640" cy="4178520"/>
          </a:xfrm>
          <a:prstGeom prst="roundRect">
            <a:avLst>
              <a:gd name="adj" fmla="val 131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081" name="Shape 23"/>
          <p:cNvSpPr/>
          <p:nvPr/>
        </p:nvSpPr>
        <p:spPr>
          <a:xfrm>
            <a:off x="6224040" y="2084760"/>
            <a:ext cx="5345640" cy="712800"/>
          </a:xfrm>
          <a:prstGeom prst="rect">
            <a:avLst/>
          </a:prstGeom>
          <a:solidFill>
            <a:srgbClr val="eaf1f5"/>
          </a:solidFill>
          <a:ln w="12700">
            <a:solidFill>
              <a:srgbClr val="eaf1f5"/>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082" name="Shape 24"/>
          <p:cNvSpPr/>
          <p:nvPr/>
        </p:nvSpPr>
        <p:spPr>
          <a:xfrm>
            <a:off x="6224040" y="2084760"/>
            <a:ext cx="54360" cy="4178520"/>
          </a:xfrm>
          <a:prstGeom prst="rect">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083" name="Text 25"/>
          <p:cNvSpPr/>
          <p:nvPr/>
        </p:nvSpPr>
        <p:spPr>
          <a:xfrm>
            <a:off x="6406920" y="2176200"/>
            <a:ext cx="501660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275b7f"/>
                </a:solidFill>
                <a:effectLst/>
                <a:uFillTx/>
                <a:latin typeface="Calibri"/>
                <a:ea typeface="Calibri"/>
              </a:rPr>
              <a:t>LATER</a:t>
            </a:r>
            <a:endParaRPr b="0" lang="en-US" sz="850" strike="noStrike" u="none">
              <a:solidFill>
                <a:srgbClr val="000000"/>
              </a:solidFill>
              <a:effectLst/>
              <a:uFillTx/>
              <a:latin typeface="Arial"/>
            </a:endParaRPr>
          </a:p>
        </p:txBody>
      </p:sp>
      <p:sp>
        <p:nvSpPr>
          <p:cNvPr id="3084" name="Text 26"/>
          <p:cNvSpPr/>
          <p:nvPr/>
        </p:nvSpPr>
        <p:spPr>
          <a:xfrm>
            <a:off x="6406920" y="2423160"/>
            <a:ext cx="501660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2027 H2</a:t>
            </a:r>
            <a:endParaRPr b="0" lang="en-US" sz="1400" strike="noStrike" u="none">
              <a:solidFill>
                <a:srgbClr val="000000"/>
              </a:solidFill>
              <a:effectLst/>
              <a:uFillTx/>
              <a:latin typeface="Arial"/>
            </a:endParaRPr>
          </a:p>
        </p:txBody>
      </p:sp>
      <p:sp>
        <p:nvSpPr>
          <p:cNvPr id="3085" name="Shape 27"/>
          <p:cNvSpPr/>
          <p:nvPr/>
        </p:nvSpPr>
        <p:spPr>
          <a:xfrm>
            <a:off x="6361200" y="295344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086" name="Text 28"/>
          <p:cNvSpPr/>
          <p:nvPr/>
        </p:nvSpPr>
        <p:spPr>
          <a:xfrm>
            <a:off x="6424920" y="295344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Supply chain and climate risk integration</a:t>
            </a:r>
            <a:endParaRPr b="0" lang="en-US" sz="950" strike="noStrike" u="none">
              <a:solidFill>
                <a:srgbClr val="000000"/>
              </a:solidFill>
              <a:effectLst/>
              <a:uFillTx/>
              <a:latin typeface="Arial"/>
            </a:endParaRPr>
          </a:p>
        </p:txBody>
      </p:sp>
      <p:sp>
        <p:nvSpPr>
          <p:cNvPr id="3087" name="Shape 29"/>
          <p:cNvSpPr/>
          <p:nvPr/>
        </p:nvSpPr>
        <p:spPr>
          <a:xfrm>
            <a:off x="6361200" y="358272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088" name="Text 30"/>
          <p:cNvSpPr/>
          <p:nvPr/>
        </p:nvSpPr>
        <p:spPr>
          <a:xfrm>
            <a:off x="6424920" y="358272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ESG reporting and compliance integration</a:t>
            </a:r>
            <a:endParaRPr b="0" lang="en-US" sz="950" strike="noStrike" u="none">
              <a:solidFill>
                <a:srgbClr val="000000"/>
              </a:solidFill>
              <a:effectLst/>
              <a:uFillTx/>
              <a:latin typeface="Arial"/>
            </a:endParaRPr>
          </a:p>
        </p:txBody>
      </p:sp>
      <p:sp>
        <p:nvSpPr>
          <p:cNvPr id="3089" name="Shape 31"/>
          <p:cNvSpPr/>
          <p:nvPr/>
        </p:nvSpPr>
        <p:spPr>
          <a:xfrm>
            <a:off x="6361200" y="421164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090" name="Text 32"/>
          <p:cNvSpPr/>
          <p:nvPr/>
        </p:nvSpPr>
        <p:spPr>
          <a:xfrm>
            <a:off x="6424920" y="421164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Engagement gamification and leaderboards</a:t>
            </a:r>
            <a:endParaRPr b="0" lang="en-US" sz="950" strike="noStrike" u="none">
              <a:solidFill>
                <a:srgbClr val="000000"/>
              </a:solidFill>
              <a:effectLst/>
              <a:uFillTx/>
              <a:latin typeface="Arial"/>
            </a:endParaRPr>
          </a:p>
        </p:txBody>
      </p:sp>
      <p:sp>
        <p:nvSpPr>
          <p:cNvPr id="3091" name="Shape 33"/>
          <p:cNvSpPr/>
          <p:nvPr/>
        </p:nvSpPr>
        <p:spPr>
          <a:xfrm>
            <a:off x="6361200" y="484092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092" name="Text 34"/>
          <p:cNvSpPr/>
          <p:nvPr/>
        </p:nvSpPr>
        <p:spPr>
          <a:xfrm>
            <a:off x="6424920" y="484092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Cross programme supplier discovery</a:t>
            </a:r>
            <a:endParaRPr b="0" lang="en-US" sz="950" strike="noStrike" u="none">
              <a:solidFill>
                <a:srgbClr val="000000"/>
              </a:solidFill>
              <a:effectLst/>
              <a:uFillTx/>
              <a:latin typeface="Arial"/>
            </a:endParaRPr>
          </a:p>
        </p:txBody>
      </p:sp>
      <p:sp>
        <p:nvSpPr>
          <p:cNvPr id="3093" name="Shape 35"/>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094" name="Text 36"/>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3095" name="Text 37"/>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3096" name="PlaceHolder 1"/>
          <p:cNvSpPr>
            <a:spLocks noGrp="1"/>
          </p:cNvSpPr>
          <p:nvPr>
            <p:ph type="sldNum" idx="69"/>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40A9A678-4DD9-47BD-BDA4-20CD78A9D761}"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7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097"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3098"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3099" name="Shape 2"/>
          <p:cNvSpPr/>
          <p:nvPr/>
        </p:nvSpPr>
        <p:spPr>
          <a:xfrm>
            <a:off x="621720" y="311040"/>
            <a:ext cx="176436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100" name="Text 3"/>
          <p:cNvSpPr/>
          <p:nvPr/>
        </p:nvSpPr>
        <p:spPr>
          <a:xfrm>
            <a:off x="804600" y="329040"/>
            <a:ext cx="143532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SUPPLY CHAIN</a:t>
            </a:r>
            <a:endParaRPr b="0" lang="en-US" sz="950" strike="noStrike" u="none">
              <a:solidFill>
                <a:srgbClr val="000000"/>
              </a:solidFill>
              <a:effectLst/>
              <a:uFillTx/>
              <a:latin typeface="Arial"/>
            </a:endParaRPr>
          </a:p>
        </p:txBody>
      </p:sp>
      <p:sp>
        <p:nvSpPr>
          <p:cNvPr id="3101"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The Supply Chain plan on a timeline</a:t>
            </a:r>
            <a:endParaRPr b="0" lang="en-US" sz="3200" strike="noStrike" u="none">
              <a:solidFill>
                <a:srgbClr val="000000"/>
              </a:solidFill>
              <a:effectLst/>
              <a:uFillTx/>
              <a:latin typeface="Arial"/>
            </a:endParaRPr>
          </a:p>
        </p:txBody>
      </p:sp>
      <p:sp>
        <p:nvSpPr>
          <p:cNvPr id="3102"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Migration and supplier engagement in 2026, then product carbon footprint and connected action in 2027.</a:t>
            </a:r>
            <a:endParaRPr b="0" lang="en-US" sz="1250" strike="noStrike" u="none">
              <a:solidFill>
                <a:srgbClr val="000000"/>
              </a:solidFill>
              <a:effectLst/>
              <a:uFillTx/>
              <a:latin typeface="Arial"/>
            </a:endParaRPr>
          </a:p>
        </p:txBody>
      </p:sp>
      <p:sp>
        <p:nvSpPr>
          <p:cNvPr id="3103"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104" name="Shape 7"/>
          <p:cNvSpPr/>
          <p:nvPr/>
        </p:nvSpPr>
        <p:spPr>
          <a:xfrm>
            <a:off x="621720" y="1874520"/>
            <a:ext cx="10947600" cy="456840"/>
          </a:xfrm>
          <a:prstGeom prst="rect">
            <a:avLst/>
          </a:prstGeom>
          <a:solidFill>
            <a:srgbClr val="f1f3f2"/>
          </a:solidFill>
          <a:ln w="635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105" name="Text 8"/>
          <p:cNvSpPr/>
          <p:nvPr/>
        </p:nvSpPr>
        <p:spPr>
          <a:xfrm>
            <a:off x="749880" y="2020680"/>
            <a:ext cx="260568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99" strike="noStrike" u="none">
                <a:solidFill>
                  <a:srgbClr val="5a625c"/>
                </a:solidFill>
                <a:effectLst/>
                <a:uFillTx/>
                <a:latin typeface="Calibri"/>
                <a:ea typeface="Calibri"/>
              </a:rPr>
              <a:t>CAPABILITY</a:t>
            </a:r>
            <a:endParaRPr b="0" lang="en-US" sz="850" strike="noStrike" u="none">
              <a:solidFill>
                <a:srgbClr val="000000"/>
              </a:solidFill>
              <a:effectLst/>
              <a:uFillTx/>
              <a:latin typeface="Arial"/>
            </a:endParaRPr>
          </a:p>
        </p:txBody>
      </p:sp>
      <p:sp>
        <p:nvSpPr>
          <p:cNvPr id="3106" name="Text 9"/>
          <p:cNvSpPr/>
          <p:nvPr/>
        </p:nvSpPr>
        <p:spPr>
          <a:xfrm>
            <a:off x="3456360" y="1901880"/>
            <a:ext cx="405648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2026</a:t>
            </a:r>
            <a:endParaRPr b="0" lang="en-US" sz="1200" strike="noStrike" u="none">
              <a:solidFill>
                <a:srgbClr val="000000"/>
              </a:solidFill>
              <a:effectLst/>
              <a:uFillTx/>
              <a:latin typeface="Arial"/>
            </a:endParaRPr>
          </a:p>
        </p:txBody>
      </p:sp>
      <p:sp>
        <p:nvSpPr>
          <p:cNvPr id="3107" name="Text 10"/>
          <p:cNvSpPr/>
          <p:nvPr/>
        </p:nvSpPr>
        <p:spPr>
          <a:xfrm>
            <a:off x="345636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3108" name="Text 11"/>
          <p:cNvSpPr/>
          <p:nvPr/>
        </p:nvSpPr>
        <p:spPr>
          <a:xfrm>
            <a:off x="447048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3109" name="Text 12"/>
          <p:cNvSpPr/>
          <p:nvPr/>
        </p:nvSpPr>
        <p:spPr>
          <a:xfrm>
            <a:off x="548496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3110" name="Text 13"/>
          <p:cNvSpPr/>
          <p:nvPr/>
        </p:nvSpPr>
        <p:spPr>
          <a:xfrm>
            <a:off x="649908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3111" name="Text 14"/>
          <p:cNvSpPr/>
          <p:nvPr/>
        </p:nvSpPr>
        <p:spPr>
          <a:xfrm>
            <a:off x="7513200" y="1901880"/>
            <a:ext cx="405648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2027</a:t>
            </a:r>
            <a:endParaRPr b="0" lang="en-US" sz="1200" strike="noStrike" u="none">
              <a:solidFill>
                <a:srgbClr val="000000"/>
              </a:solidFill>
              <a:effectLst/>
              <a:uFillTx/>
              <a:latin typeface="Arial"/>
            </a:endParaRPr>
          </a:p>
        </p:txBody>
      </p:sp>
      <p:sp>
        <p:nvSpPr>
          <p:cNvPr id="3112" name="Text 15"/>
          <p:cNvSpPr/>
          <p:nvPr/>
        </p:nvSpPr>
        <p:spPr>
          <a:xfrm>
            <a:off x="751320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3113" name="Text 16"/>
          <p:cNvSpPr/>
          <p:nvPr/>
        </p:nvSpPr>
        <p:spPr>
          <a:xfrm>
            <a:off x="852732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3114" name="Text 17"/>
          <p:cNvSpPr/>
          <p:nvPr/>
        </p:nvSpPr>
        <p:spPr>
          <a:xfrm>
            <a:off x="954144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3115" name="Text 18"/>
          <p:cNvSpPr/>
          <p:nvPr/>
        </p:nvSpPr>
        <p:spPr>
          <a:xfrm>
            <a:off x="1055556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3116" name="Shape 19"/>
          <p:cNvSpPr/>
          <p:nvPr/>
        </p:nvSpPr>
        <p:spPr>
          <a:xfrm>
            <a:off x="345636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117" name="Shape 20"/>
          <p:cNvSpPr/>
          <p:nvPr/>
        </p:nvSpPr>
        <p:spPr>
          <a:xfrm>
            <a:off x="447048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118" name="Shape 21"/>
          <p:cNvSpPr/>
          <p:nvPr/>
        </p:nvSpPr>
        <p:spPr>
          <a:xfrm>
            <a:off x="548460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119" name="Shape 22"/>
          <p:cNvSpPr/>
          <p:nvPr/>
        </p:nvSpPr>
        <p:spPr>
          <a:xfrm>
            <a:off x="649872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120" name="Shape 23"/>
          <p:cNvSpPr/>
          <p:nvPr/>
        </p:nvSpPr>
        <p:spPr>
          <a:xfrm>
            <a:off x="751284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121" name="Shape 24"/>
          <p:cNvSpPr/>
          <p:nvPr/>
        </p:nvSpPr>
        <p:spPr>
          <a:xfrm>
            <a:off x="852732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122" name="Shape 25"/>
          <p:cNvSpPr/>
          <p:nvPr/>
        </p:nvSpPr>
        <p:spPr>
          <a:xfrm>
            <a:off x="954144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123" name="Shape 26"/>
          <p:cNvSpPr/>
          <p:nvPr/>
        </p:nvSpPr>
        <p:spPr>
          <a:xfrm>
            <a:off x="1055556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124" name="Shape 27"/>
          <p:cNvSpPr/>
          <p:nvPr/>
        </p:nvSpPr>
        <p:spPr>
          <a:xfrm>
            <a:off x="1156968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125" name="Shape 28"/>
          <p:cNvSpPr/>
          <p:nvPr/>
        </p:nvSpPr>
        <p:spPr>
          <a:xfrm>
            <a:off x="621720" y="2331720"/>
            <a:ext cx="411120" cy="763920"/>
          </a:xfrm>
          <a:prstGeom prst="rect">
            <a:avLst/>
          </a:prstGeom>
          <a:solidFill>
            <a:srgbClr val="3dcd58"/>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126" name="Text 29"/>
          <p:cNvSpPr/>
          <p:nvPr/>
        </p:nvSpPr>
        <p:spPr>
          <a:xfrm>
            <a:off x="685800" y="2377440"/>
            <a:ext cx="282960" cy="67248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EXPERIENCE</a:t>
            </a:r>
            <a:endParaRPr b="0" lang="en-US" sz="750" strike="noStrike" u="none">
              <a:solidFill>
                <a:srgbClr val="000000"/>
              </a:solidFill>
              <a:effectLst/>
              <a:uFillTx/>
              <a:latin typeface="Arial"/>
            </a:endParaRPr>
          </a:p>
        </p:txBody>
      </p:sp>
      <p:sp>
        <p:nvSpPr>
          <p:cNvPr id="3127" name="Shape 30"/>
          <p:cNvSpPr/>
          <p:nvPr/>
        </p:nvSpPr>
        <p:spPr>
          <a:xfrm>
            <a:off x="1033200" y="258624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128" name="Shape 31"/>
          <p:cNvSpPr/>
          <p:nvPr/>
        </p:nvSpPr>
        <p:spPr>
          <a:xfrm>
            <a:off x="1143000" y="234936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129" name="Text 32"/>
          <p:cNvSpPr/>
          <p:nvPr/>
        </p:nvSpPr>
        <p:spPr>
          <a:xfrm>
            <a:off x="1243440" y="231264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RA+ integrations and shared experience</a:t>
            </a:r>
            <a:endParaRPr b="0" lang="en-US" sz="950" strike="noStrike" u="none">
              <a:solidFill>
                <a:srgbClr val="000000"/>
              </a:solidFill>
              <a:effectLst/>
              <a:uFillTx/>
              <a:latin typeface="Arial"/>
            </a:endParaRPr>
          </a:p>
        </p:txBody>
      </p:sp>
      <p:sp>
        <p:nvSpPr>
          <p:cNvPr id="3130" name="Shape 33"/>
          <p:cNvSpPr/>
          <p:nvPr/>
        </p:nvSpPr>
        <p:spPr>
          <a:xfrm>
            <a:off x="5484960" y="2415600"/>
            <a:ext cx="1013760" cy="86400"/>
          </a:xfrm>
          <a:prstGeom prst="roundRect">
            <a:avLst>
              <a:gd name="adj" fmla="val 42232"/>
            </a:avLst>
          </a:prstGeom>
          <a:solidFill>
            <a:srgbClr val="3dcd58"/>
          </a:solidFill>
          <a:ln w="12700">
            <a:solidFill>
              <a:srgbClr val="3dcd58"/>
            </a:solidFill>
            <a:round/>
          </a:ln>
        </p:spPr>
        <p:style>
          <a:lnRef idx="0"/>
          <a:fillRef idx="0"/>
          <a:effectRef idx="0"/>
          <a:fontRef idx="minor"/>
        </p:style>
        <p:txBody>
          <a:bodyPr lIns="90000" rIns="90000" tIns="20520" bIns="20520" anchor="t">
            <a:noAutofit/>
          </a:bodyPr>
          <a:p>
            <a:endParaRPr b="0" lang="en-US" sz="1800" strike="noStrike" u="none">
              <a:solidFill>
                <a:srgbClr val="000000"/>
              </a:solidFill>
              <a:effectLst/>
              <a:uFillTx/>
              <a:latin typeface="Arial"/>
            </a:endParaRPr>
          </a:p>
        </p:txBody>
      </p:sp>
      <p:sp>
        <p:nvSpPr>
          <p:cNvPr id="3131" name="Shape 34"/>
          <p:cNvSpPr/>
          <p:nvPr/>
        </p:nvSpPr>
        <p:spPr>
          <a:xfrm>
            <a:off x="1033200" y="28411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132" name="Shape 35"/>
          <p:cNvSpPr/>
          <p:nvPr/>
        </p:nvSpPr>
        <p:spPr>
          <a:xfrm>
            <a:off x="1143000" y="260424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133" name="Text 36"/>
          <p:cNvSpPr/>
          <p:nvPr/>
        </p:nvSpPr>
        <p:spPr>
          <a:xfrm>
            <a:off x="1243440" y="25675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Rebranding completion</a:t>
            </a:r>
            <a:endParaRPr b="0" lang="en-US" sz="950" strike="noStrike" u="none">
              <a:solidFill>
                <a:srgbClr val="000000"/>
              </a:solidFill>
              <a:effectLst/>
              <a:uFillTx/>
              <a:latin typeface="Arial"/>
            </a:endParaRPr>
          </a:p>
        </p:txBody>
      </p:sp>
      <p:sp>
        <p:nvSpPr>
          <p:cNvPr id="3134" name="Shape 37"/>
          <p:cNvSpPr/>
          <p:nvPr/>
        </p:nvSpPr>
        <p:spPr>
          <a:xfrm>
            <a:off x="6499080" y="2670480"/>
            <a:ext cx="1013760" cy="86400"/>
          </a:xfrm>
          <a:prstGeom prst="roundRect">
            <a:avLst>
              <a:gd name="adj" fmla="val 42232"/>
            </a:avLst>
          </a:prstGeom>
          <a:solidFill>
            <a:srgbClr val="3dcd58"/>
          </a:solidFill>
          <a:ln w="12700">
            <a:solidFill>
              <a:srgbClr val="3dcd58"/>
            </a:solidFill>
            <a:round/>
          </a:ln>
        </p:spPr>
        <p:style>
          <a:lnRef idx="0"/>
          <a:fillRef idx="0"/>
          <a:effectRef idx="0"/>
          <a:fontRef idx="minor"/>
        </p:style>
        <p:txBody>
          <a:bodyPr lIns="90000" rIns="90000" tIns="20520" bIns="20520" anchor="t">
            <a:noAutofit/>
          </a:bodyPr>
          <a:p>
            <a:endParaRPr b="0" lang="en-US" sz="1800" strike="noStrike" u="none">
              <a:solidFill>
                <a:srgbClr val="000000"/>
              </a:solidFill>
              <a:effectLst/>
              <a:uFillTx/>
              <a:latin typeface="Arial"/>
            </a:endParaRPr>
          </a:p>
        </p:txBody>
      </p:sp>
      <p:sp>
        <p:nvSpPr>
          <p:cNvPr id="3135" name="Shape 38"/>
          <p:cNvSpPr/>
          <p:nvPr/>
        </p:nvSpPr>
        <p:spPr>
          <a:xfrm>
            <a:off x="1033200" y="309564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136" name="Shape 39"/>
          <p:cNvSpPr/>
          <p:nvPr/>
        </p:nvSpPr>
        <p:spPr>
          <a:xfrm>
            <a:off x="1143000" y="285876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137" name="Text 40"/>
          <p:cNvSpPr/>
          <p:nvPr/>
        </p:nvSpPr>
        <p:spPr>
          <a:xfrm>
            <a:off x="1243440" y="282240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Supplier onboarding and participation</a:t>
            </a:r>
            <a:endParaRPr b="0" lang="en-US" sz="950" strike="noStrike" u="none">
              <a:solidFill>
                <a:srgbClr val="000000"/>
              </a:solidFill>
              <a:effectLst/>
              <a:uFillTx/>
              <a:latin typeface="Arial"/>
            </a:endParaRPr>
          </a:p>
        </p:txBody>
      </p:sp>
      <p:sp>
        <p:nvSpPr>
          <p:cNvPr id="3138" name="Shape 41"/>
          <p:cNvSpPr/>
          <p:nvPr/>
        </p:nvSpPr>
        <p:spPr>
          <a:xfrm>
            <a:off x="7513200" y="2925360"/>
            <a:ext cx="2027880" cy="86400"/>
          </a:xfrm>
          <a:prstGeom prst="roundRect">
            <a:avLst>
              <a:gd name="adj" fmla="val 42232"/>
            </a:avLst>
          </a:prstGeom>
          <a:solidFill>
            <a:srgbClr val="3dcd58"/>
          </a:solidFill>
          <a:ln w="12700">
            <a:solidFill>
              <a:srgbClr val="3dcd58"/>
            </a:solidFill>
            <a:round/>
          </a:ln>
        </p:spPr>
        <p:style>
          <a:lnRef idx="0"/>
          <a:fillRef idx="0"/>
          <a:effectRef idx="0"/>
          <a:fontRef idx="minor"/>
        </p:style>
        <p:txBody>
          <a:bodyPr lIns="90000" rIns="90000" tIns="20520" bIns="20520" anchor="t">
            <a:noAutofit/>
          </a:bodyPr>
          <a:p>
            <a:endParaRPr b="0" lang="en-US" sz="1800" strike="noStrike" u="none">
              <a:solidFill>
                <a:srgbClr val="000000"/>
              </a:solidFill>
              <a:effectLst/>
              <a:uFillTx/>
              <a:latin typeface="Arial"/>
            </a:endParaRPr>
          </a:p>
        </p:txBody>
      </p:sp>
      <p:sp>
        <p:nvSpPr>
          <p:cNvPr id="3139" name="Shape 42"/>
          <p:cNvSpPr/>
          <p:nvPr/>
        </p:nvSpPr>
        <p:spPr>
          <a:xfrm>
            <a:off x="621720" y="3096000"/>
            <a:ext cx="411120" cy="1018440"/>
          </a:xfrm>
          <a:prstGeom prst="rect">
            <a:avLst/>
          </a:prstGeom>
          <a:solidFill>
            <a:srgbClr val="007a27"/>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140" name="Text 43"/>
          <p:cNvSpPr/>
          <p:nvPr/>
        </p:nvSpPr>
        <p:spPr>
          <a:xfrm>
            <a:off x="685800" y="3141720"/>
            <a:ext cx="282960" cy="92700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MEASUREMENT</a:t>
            </a:r>
            <a:endParaRPr b="0" lang="en-US" sz="750" strike="noStrike" u="none">
              <a:solidFill>
                <a:srgbClr val="000000"/>
              </a:solidFill>
              <a:effectLst/>
              <a:uFillTx/>
              <a:latin typeface="Arial"/>
            </a:endParaRPr>
          </a:p>
        </p:txBody>
      </p:sp>
      <p:sp>
        <p:nvSpPr>
          <p:cNvPr id="3141" name="Shape 44"/>
          <p:cNvSpPr/>
          <p:nvPr/>
        </p:nvSpPr>
        <p:spPr>
          <a:xfrm>
            <a:off x="1033200" y="33505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142" name="Shape 45"/>
          <p:cNvSpPr/>
          <p:nvPr/>
        </p:nvSpPr>
        <p:spPr>
          <a:xfrm>
            <a:off x="1143000" y="311364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143" name="Text 46"/>
          <p:cNvSpPr/>
          <p:nvPr/>
        </p:nvSpPr>
        <p:spPr>
          <a:xfrm>
            <a:off x="1243440" y="30769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End to end supply chain emissions</a:t>
            </a:r>
            <a:endParaRPr b="0" lang="en-US" sz="950" strike="noStrike" u="none">
              <a:solidFill>
                <a:srgbClr val="000000"/>
              </a:solidFill>
              <a:effectLst/>
              <a:uFillTx/>
              <a:latin typeface="Arial"/>
            </a:endParaRPr>
          </a:p>
        </p:txBody>
      </p:sp>
      <p:sp>
        <p:nvSpPr>
          <p:cNvPr id="3144" name="Shape 47"/>
          <p:cNvSpPr/>
          <p:nvPr/>
        </p:nvSpPr>
        <p:spPr>
          <a:xfrm>
            <a:off x="5484960" y="3179880"/>
            <a:ext cx="1013760" cy="86400"/>
          </a:xfrm>
          <a:prstGeom prst="roundRect">
            <a:avLst>
              <a:gd name="adj" fmla="val 42232"/>
            </a:avLst>
          </a:prstGeom>
          <a:solidFill>
            <a:srgbClr val="007a27"/>
          </a:solidFill>
          <a:ln w="12700">
            <a:solidFill>
              <a:srgbClr val="007a27"/>
            </a:solidFill>
            <a:round/>
          </a:ln>
        </p:spPr>
        <p:style>
          <a:lnRef idx="0"/>
          <a:fillRef idx="0"/>
          <a:effectRef idx="0"/>
          <a:fontRef idx="minor"/>
        </p:style>
        <p:txBody>
          <a:bodyPr lIns="90000" rIns="90000" tIns="20520" bIns="20520" anchor="t">
            <a:noAutofit/>
          </a:bodyPr>
          <a:p>
            <a:endParaRPr b="0" lang="en-US" sz="1800" strike="noStrike" u="none">
              <a:solidFill>
                <a:srgbClr val="ffffff"/>
              </a:solidFill>
              <a:effectLst/>
              <a:uFillTx/>
              <a:latin typeface="Arial"/>
            </a:endParaRPr>
          </a:p>
        </p:txBody>
      </p:sp>
      <p:sp>
        <p:nvSpPr>
          <p:cNvPr id="3145" name="Shape 48"/>
          <p:cNvSpPr/>
          <p:nvPr/>
        </p:nvSpPr>
        <p:spPr>
          <a:xfrm>
            <a:off x="1033200" y="360504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146" name="Shape 49"/>
          <p:cNvSpPr/>
          <p:nvPr/>
        </p:nvSpPr>
        <p:spPr>
          <a:xfrm>
            <a:off x="1143000" y="336816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147" name="Text 50"/>
          <p:cNvSpPr/>
          <p:nvPr/>
        </p:nvSpPr>
        <p:spPr>
          <a:xfrm>
            <a:off x="1243440" y="333180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Improved data quality assurance</a:t>
            </a:r>
            <a:endParaRPr b="0" lang="en-US" sz="950" strike="noStrike" u="none">
              <a:solidFill>
                <a:srgbClr val="000000"/>
              </a:solidFill>
              <a:effectLst/>
              <a:uFillTx/>
              <a:latin typeface="Arial"/>
            </a:endParaRPr>
          </a:p>
        </p:txBody>
      </p:sp>
      <p:sp>
        <p:nvSpPr>
          <p:cNvPr id="3148" name="Shape 51"/>
          <p:cNvSpPr/>
          <p:nvPr/>
        </p:nvSpPr>
        <p:spPr>
          <a:xfrm>
            <a:off x="6499080" y="3434760"/>
            <a:ext cx="1013760" cy="86400"/>
          </a:xfrm>
          <a:prstGeom prst="roundRect">
            <a:avLst>
              <a:gd name="adj" fmla="val 42232"/>
            </a:avLst>
          </a:prstGeom>
          <a:solidFill>
            <a:srgbClr val="007a27"/>
          </a:solidFill>
          <a:ln w="12700">
            <a:solidFill>
              <a:srgbClr val="007a27"/>
            </a:solidFill>
            <a:round/>
          </a:ln>
        </p:spPr>
        <p:style>
          <a:lnRef idx="0"/>
          <a:fillRef idx="0"/>
          <a:effectRef idx="0"/>
          <a:fontRef idx="minor"/>
        </p:style>
        <p:txBody>
          <a:bodyPr lIns="90000" rIns="90000" tIns="20520" bIns="20520" anchor="t">
            <a:noAutofit/>
          </a:bodyPr>
          <a:p>
            <a:endParaRPr b="0" lang="en-US" sz="1800" strike="noStrike" u="none">
              <a:solidFill>
                <a:srgbClr val="ffffff"/>
              </a:solidFill>
              <a:effectLst/>
              <a:uFillTx/>
              <a:latin typeface="Arial"/>
            </a:endParaRPr>
          </a:p>
        </p:txBody>
      </p:sp>
      <p:sp>
        <p:nvSpPr>
          <p:cNvPr id="3149" name="Shape 52"/>
          <p:cNvSpPr/>
          <p:nvPr/>
        </p:nvSpPr>
        <p:spPr>
          <a:xfrm>
            <a:off x="1033200" y="38599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150" name="Shape 53"/>
          <p:cNvSpPr/>
          <p:nvPr/>
        </p:nvSpPr>
        <p:spPr>
          <a:xfrm>
            <a:off x="1143000" y="362304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151" name="Text 54"/>
          <p:cNvSpPr/>
          <p:nvPr/>
        </p:nvSpPr>
        <p:spPr>
          <a:xfrm>
            <a:off x="1243440" y="35863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Light PCF calculator and SEED</a:t>
            </a:r>
            <a:endParaRPr b="0" lang="en-US" sz="950" strike="noStrike" u="none">
              <a:solidFill>
                <a:srgbClr val="000000"/>
              </a:solidFill>
              <a:effectLst/>
              <a:uFillTx/>
              <a:latin typeface="Arial"/>
            </a:endParaRPr>
          </a:p>
        </p:txBody>
      </p:sp>
      <p:sp>
        <p:nvSpPr>
          <p:cNvPr id="3152" name="Shape 55"/>
          <p:cNvSpPr/>
          <p:nvPr/>
        </p:nvSpPr>
        <p:spPr>
          <a:xfrm>
            <a:off x="7513200" y="3689280"/>
            <a:ext cx="2027880" cy="86400"/>
          </a:xfrm>
          <a:prstGeom prst="roundRect">
            <a:avLst>
              <a:gd name="adj" fmla="val 42232"/>
            </a:avLst>
          </a:prstGeom>
          <a:solidFill>
            <a:srgbClr val="007a27"/>
          </a:solidFill>
          <a:ln w="12700">
            <a:solidFill>
              <a:srgbClr val="007a27"/>
            </a:solidFill>
            <a:round/>
          </a:ln>
        </p:spPr>
        <p:style>
          <a:lnRef idx="0"/>
          <a:fillRef idx="0"/>
          <a:effectRef idx="0"/>
          <a:fontRef idx="minor"/>
        </p:style>
        <p:txBody>
          <a:bodyPr lIns="90000" rIns="90000" tIns="20520" bIns="20520" anchor="t">
            <a:noAutofit/>
          </a:bodyPr>
          <a:p>
            <a:endParaRPr b="0" lang="en-US" sz="1800" strike="noStrike" u="none">
              <a:solidFill>
                <a:srgbClr val="ffffff"/>
              </a:solidFill>
              <a:effectLst/>
              <a:uFillTx/>
              <a:latin typeface="Arial"/>
            </a:endParaRPr>
          </a:p>
        </p:txBody>
      </p:sp>
      <p:sp>
        <p:nvSpPr>
          <p:cNvPr id="3153" name="Shape 56"/>
          <p:cNvSpPr/>
          <p:nvPr/>
        </p:nvSpPr>
        <p:spPr>
          <a:xfrm>
            <a:off x="1033200" y="411480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154" name="Shape 57"/>
          <p:cNvSpPr/>
          <p:nvPr/>
        </p:nvSpPr>
        <p:spPr>
          <a:xfrm>
            <a:off x="1143000" y="387756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155" name="Text 58"/>
          <p:cNvSpPr/>
          <p:nvPr/>
        </p:nvSpPr>
        <p:spPr>
          <a:xfrm>
            <a:off x="1243440" y="384120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Multi tier supplier visibility</a:t>
            </a:r>
            <a:endParaRPr b="0" lang="en-US" sz="950" strike="noStrike" u="none">
              <a:solidFill>
                <a:srgbClr val="000000"/>
              </a:solidFill>
              <a:effectLst/>
              <a:uFillTx/>
              <a:latin typeface="Arial"/>
            </a:endParaRPr>
          </a:p>
        </p:txBody>
      </p:sp>
      <p:sp>
        <p:nvSpPr>
          <p:cNvPr id="3156" name="Shape 59"/>
          <p:cNvSpPr/>
          <p:nvPr/>
        </p:nvSpPr>
        <p:spPr>
          <a:xfrm>
            <a:off x="7513200" y="3944160"/>
            <a:ext cx="2027880" cy="86400"/>
          </a:xfrm>
          <a:prstGeom prst="roundRect">
            <a:avLst>
              <a:gd name="adj" fmla="val 42232"/>
            </a:avLst>
          </a:prstGeom>
          <a:solidFill>
            <a:srgbClr val="007a27"/>
          </a:solidFill>
          <a:ln w="12700">
            <a:solidFill>
              <a:srgbClr val="007a27"/>
            </a:solidFill>
            <a:round/>
          </a:ln>
        </p:spPr>
        <p:style>
          <a:lnRef idx="0"/>
          <a:fillRef idx="0"/>
          <a:effectRef idx="0"/>
          <a:fontRef idx="minor"/>
        </p:style>
        <p:txBody>
          <a:bodyPr lIns="90000" rIns="90000" tIns="20520" bIns="20520" anchor="t">
            <a:noAutofit/>
          </a:bodyPr>
          <a:p>
            <a:endParaRPr b="0" lang="en-US" sz="1800" strike="noStrike" u="none">
              <a:solidFill>
                <a:srgbClr val="ffffff"/>
              </a:solidFill>
              <a:effectLst/>
              <a:uFillTx/>
              <a:latin typeface="Arial"/>
            </a:endParaRPr>
          </a:p>
        </p:txBody>
      </p:sp>
      <p:sp>
        <p:nvSpPr>
          <p:cNvPr id="3157" name="Shape 60"/>
          <p:cNvSpPr/>
          <p:nvPr/>
        </p:nvSpPr>
        <p:spPr>
          <a:xfrm>
            <a:off x="621720" y="4114800"/>
            <a:ext cx="411120" cy="1018440"/>
          </a:xfrm>
          <a:prstGeom prst="rect">
            <a:avLst/>
          </a:prstGeom>
          <a:solidFill>
            <a:srgbClr val="ffb04c"/>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158" name="Text 61"/>
          <p:cNvSpPr/>
          <p:nvPr/>
        </p:nvSpPr>
        <p:spPr>
          <a:xfrm>
            <a:off x="685800" y="4160520"/>
            <a:ext cx="282960" cy="92700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ENGAGEMENT</a:t>
            </a:r>
            <a:endParaRPr b="0" lang="en-US" sz="750" strike="noStrike" u="none">
              <a:solidFill>
                <a:srgbClr val="000000"/>
              </a:solidFill>
              <a:effectLst/>
              <a:uFillTx/>
              <a:latin typeface="Arial"/>
            </a:endParaRPr>
          </a:p>
        </p:txBody>
      </p:sp>
      <p:sp>
        <p:nvSpPr>
          <p:cNvPr id="3159" name="Shape 62"/>
          <p:cNvSpPr/>
          <p:nvPr/>
        </p:nvSpPr>
        <p:spPr>
          <a:xfrm>
            <a:off x="1033200" y="43693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160" name="Shape 63"/>
          <p:cNvSpPr/>
          <p:nvPr/>
        </p:nvSpPr>
        <p:spPr>
          <a:xfrm>
            <a:off x="1143000" y="413244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161" name="Text 64"/>
          <p:cNvSpPr/>
          <p:nvPr/>
        </p:nvSpPr>
        <p:spPr>
          <a:xfrm>
            <a:off x="1243440" y="40957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Custom questionnaires and guided action</a:t>
            </a:r>
            <a:endParaRPr b="0" lang="en-US" sz="950" strike="noStrike" u="none">
              <a:solidFill>
                <a:srgbClr val="000000"/>
              </a:solidFill>
              <a:effectLst/>
              <a:uFillTx/>
              <a:latin typeface="Arial"/>
            </a:endParaRPr>
          </a:p>
        </p:txBody>
      </p:sp>
      <p:sp>
        <p:nvSpPr>
          <p:cNvPr id="3162" name="Shape 65"/>
          <p:cNvSpPr/>
          <p:nvPr/>
        </p:nvSpPr>
        <p:spPr>
          <a:xfrm>
            <a:off x="5484960" y="4198680"/>
            <a:ext cx="1013760" cy="86400"/>
          </a:xfrm>
          <a:prstGeom prst="roundRect">
            <a:avLst>
              <a:gd name="adj" fmla="val 42232"/>
            </a:avLst>
          </a:prstGeom>
          <a:solidFill>
            <a:srgbClr val="ffb04c"/>
          </a:solidFill>
          <a:ln w="12700">
            <a:solidFill>
              <a:srgbClr val="ffb04c"/>
            </a:solidFill>
            <a:round/>
          </a:ln>
        </p:spPr>
        <p:style>
          <a:lnRef idx="0"/>
          <a:fillRef idx="0"/>
          <a:effectRef idx="0"/>
          <a:fontRef idx="minor"/>
        </p:style>
        <p:txBody>
          <a:bodyPr lIns="90000" rIns="90000" tIns="20520" bIns="20520" anchor="t">
            <a:noAutofit/>
          </a:bodyPr>
          <a:p>
            <a:endParaRPr b="0" lang="en-US" sz="1800" strike="noStrike" u="none">
              <a:solidFill>
                <a:srgbClr val="000000"/>
              </a:solidFill>
              <a:effectLst/>
              <a:uFillTx/>
              <a:latin typeface="Arial"/>
            </a:endParaRPr>
          </a:p>
        </p:txBody>
      </p:sp>
      <p:sp>
        <p:nvSpPr>
          <p:cNvPr id="3163" name="Shape 66"/>
          <p:cNvSpPr/>
          <p:nvPr/>
        </p:nvSpPr>
        <p:spPr>
          <a:xfrm>
            <a:off x="1033200" y="462420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164" name="Shape 67"/>
          <p:cNvSpPr/>
          <p:nvPr/>
        </p:nvSpPr>
        <p:spPr>
          <a:xfrm>
            <a:off x="1143000" y="438732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165" name="Text 68"/>
          <p:cNvSpPr/>
          <p:nvPr/>
        </p:nvSpPr>
        <p:spPr>
          <a:xfrm>
            <a:off x="1243440" y="435060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Sponsor decision support and transparency</a:t>
            </a:r>
            <a:endParaRPr b="0" lang="en-US" sz="950" strike="noStrike" u="none">
              <a:solidFill>
                <a:srgbClr val="000000"/>
              </a:solidFill>
              <a:effectLst/>
              <a:uFillTx/>
              <a:latin typeface="Arial"/>
            </a:endParaRPr>
          </a:p>
        </p:txBody>
      </p:sp>
      <p:sp>
        <p:nvSpPr>
          <p:cNvPr id="3166" name="Shape 69"/>
          <p:cNvSpPr/>
          <p:nvPr/>
        </p:nvSpPr>
        <p:spPr>
          <a:xfrm>
            <a:off x="6499080" y="4453560"/>
            <a:ext cx="1013760" cy="86400"/>
          </a:xfrm>
          <a:prstGeom prst="roundRect">
            <a:avLst>
              <a:gd name="adj" fmla="val 42232"/>
            </a:avLst>
          </a:prstGeom>
          <a:solidFill>
            <a:srgbClr val="ffb04c"/>
          </a:solidFill>
          <a:ln w="12700">
            <a:solidFill>
              <a:srgbClr val="ffb04c"/>
            </a:solidFill>
            <a:round/>
          </a:ln>
        </p:spPr>
        <p:style>
          <a:lnRef idx="0"/>
          <a:fillRef idx="0"/>
          <a:effectRef idx="0"/>
          <a:fontRef idx="minor"/>
        </p:style>
        <p:txBody>
          <a:bodyPr lIns="90000" rIns="90000" tIns="20520" bIns="20520" anchor="t">
            <a:noAutofit/>
          </a:bodyPr>
          <a:p>
            <a:endParaRPr b="0" lang="en-US" sz="1800" strike="noStrike" u="none">
              <a:solidFill>
                <a:srgbClr val="000000"/>
              </a:solidFill>
              <a:effectLst/>
              <a:uFillTx/>
              <a:latin typeface="Arial"/>
            </a:endParaRPr>
          </a:p>
        </p:txBody>
      </p:sp>
      <p:sp>
        <p:nvSpPr>
          <p:cNvPr id="3167" name="Shape 70"/>
          <p:cNvSpPr/>
          <p:nvPr/>
        </p:nvSpPr>
        <p:spPr>
          <a:xfrm>
            <a:off x="1033200" y="48787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168" name="Shape 71"/>
          <p:cNvSpPr/>
          <p:nvPr/>
        </p:nvSpPr>
        <p:spPr>
          <a:xfrm>
            <a:off x="1143000" y="464184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169" name="Text 72"/>
          <p:cNvSpPr/>
          <p:nvPr/>
        </p:nvSpPr>
        <p:spPr>
          <a:xfrm>
            <a:off x="1243440" y="460548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Zeigo network integration</a:t>
            </a:r>
            <a:endParaRPr b="0" lang="en-US" sz="950" strike="noStrike" u="none">
              <a:solidFill>
                <a:srgbClr val="000000"/>
              </a:solidFill>
              <a:effectLst/>
              <a:uFillTx/>
              <a:latin typeface="Arial"/>
            </a:endParaRPr>
          </a:p>
        </p:txBody>
      </p:sp>
      <p:sp>
        <p:nvSpPr>
          <p:cNvPr id="3170" name="Shape 73"/>
          <p:cNvSpPr/>
          <p:nvPr/>
        </p:nvSpPr>
        <p:spPr>
          <a:xfrm>
            <a:off x="6499080" y="4708440"/>
            <a:ext cx="1013760" cy="86400"/>
          </a:xfrm>
          <a:prstGeom prst="roundRect">
            <a:avLst>
              <a:gd name="adj" fmla="val 42232"/>
            </a:avLst>
          </a:prstGeom>
          <a:solidFill>
            <a:srgbClr val="ffb04c"/>
          </a:solidFill>
          <a:ln w="12700">
            <a:solidFill>
              <a:srgbClr val="ffb04c"/>
            </a:solidFill>
            <a:round/>
          </a:ln>
        </p:spPr>
        <p:style>
          <a:lnRef idx="0"/>
          <a:fillRef idx="0"/>
          <a:effectRef idx="0"/>
          <a:fontRef idx="minor"/>
        </p:style>
        <p:txBody>
          <a:bodyPr lIns="90000" rIns="90000" tIns="20520" bIns="20520" anchor="t">
            <a:noAutofit/>
          </a:bodyPr>
          <a:p>
            <a:endParaRPr b="0" lang="en-US" sz="1800" strike="noStrike" u="none">
              <a:solidFill>
                <a:srgbClr val="000000"/>
              </a:solidFill>
              <a:effectLst/>
              <a:uFillTx/>
              <a:latin typeface="Arial"/>
            </a:endParaRPr>
          </a:p>
        </p:txBody>
      </p:sp>
      <p:sp>
        <p:nvSpPr>
          <p:cNvPr id="3171" name="Shape 74"/>
          <p:cNvSpPr/>
          <p:nvPr/>
        </p:nvSpPr>
        <p:spPr>
          <a:xfrm>
            <a:off x="1033200" y="513360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172" name="Shape 75"/>
          <p:cNvSpPr/>
          <p:nvPr/>
        </p:nvSpPr>
        <p:spPr>
          <a:xfrm>
            <a:off x="1143000" y="489672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173" name="Text 76"/>
          <p:cNvSpPr/>
          <p:nvPr/>
        </p:nvSpPr>
        <p:spPr>
          <a:xfrm>
            <a:off x="1243440" y="486000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Gamification and supplier discovery</a:t>
            </a:r>
            <a:endParaRPr b="0" lang="en-US" sz="950" strike="noStrike" u="none">
              <a:solidFill>
                <a:srgbClr val="000000"/>
              </a:solidFill>
              <a:effectLst/>
              <a:uFillTx/>
              <a:latin typeface="Arial"/>
            </a:endParaRPr>
          </a:p>
        </p:txBody>
      </p:sp>
      <p:sp>
        <p:nvSpPr>
          <p:cNvPr id="3174" name="Shape 77"/>
          <p:cNvSpPr/>
          <p:nvPr/>
        </p:nvSpPr>
        <p:spPr>
          <a:xfrm>
            <a:off x="9541440" y="4962960"/>
            <a:ext cx="2027880" cy="86400"/>
          </a:xfrm>
          <a:prstGeom prst="roundRect">
            <a:avLst>
              <a:gd name="adj" fmla="val 42232"/>
            </a:avLst>
          </a:prstGeom>
          <a:solidFill>
            <a:srgbClr val="ffb04c"/>
          </a:solidFill>
          <a:ln w="12700">
            <a:solidFill>
              <a:srgbClr val="ffb04c"/>
            </a:solidFill>
            <a:round/>
          </a:ln>
        </p:spPr>
        <p:style>
          <a:lnRef idx="0"/>
          <a:fillRef idx="0"/>
          <a:effectRef idx="0"/>
          <a:fontRef idx="minor"/>
        </p:style>
        <p:txBody>
          <a:bodyPr lIns="90000" rIns="90000" tIns="20520" bIns="20520" anchor="t">
            <a:noAutofit/>
          </a:bodyPr>
          <a:p>
            <a:endParaRPr b="0" lang="en-US" sz="1800" strike="noStrike" u="none">
              <a:solidFill>
                <a:srgbClr val="000000"/>
              </a:solidFill>
              <a:effectLst/>
              <a:uFillTx/>
              <a:latin typeface="Arial"/>
            </a:endParaRPr>
          </a:p>
        </p:txBody>
      </p:sp>
      <p:sp>
        <p:nvSpPr>
          <p:cNvPr id="3175" name="Shape 78"/>
          <p:cNvSpPr/>
          <p:nvPr/>
        </p:nvSpPr>
        <p:spPr>
          <a:xfrm>
            <a:off x="621720" y="5133600"/>
            <a:ext cx="411120" cy="763920"/>
          </a:xfrm>
          <a:prstGeom prst="rect">
            <a:avLst/>
          </a:prstGeom>
          <a:solidFill>
            <a:srgbClr val="275b7f"/>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176" name="Text 79"/>
          <p:cNvSpPr/>
          <p:nvPr/>
        </p:nvSpPr>
        <p:spPr>
          <a:xfrm>
            <a:off x="685800" y="5179320"/>
            <a:ext cx="282960" cy="67248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INTEGRATION</a:t>
            </a:r>
            <a:endParaRPr b="0" lang="en-US" sz="750" strike="noStrike" u="none">
              <a:solidFill>
                <a:srgbClr val="000000"/>
              </a:solidFill>
              <a:effectLst/>
              <a:uFillTx/>
              <a:latin typeface="Arial"/>
            </a:endParaRPr>
          </a:p>
        </p:txBody>
      </p:sp>
      <p:sp>
        <p:nvSpPr>
          <p:cNvPr id="3177" name="Shape 80"/>
          <p:cNvSpPr/>
          <p:nvPr/>
        </p:nvSpPr>
        <p:spPr>
          <a:xfrm>
            <a:off x="1033200" y="53881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178" name="Shape 81"/>
          <p:cNvSpPr/>
          <p:nvPr/>
        </p:nvSpPr>
        <p:spPr>
          <a:xfrm>
            <a:off x="1143000" y="5151240"/>
            <a:ext cx="45360" cy="219240"/>
          </a:xfrm>
          <a:prstGeom prst="roundRect">
            <a:avLst>
              <a:gd name="adj" fmla="val 60000"/>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179" name="Text 82"/>
          <p:cNvSpPr/>
          <p:nvPr/>
        </p:nvSpPr>
        <p:spPr>
          <a:xfrm>
            <a:off x="1243440" y="511488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Advanced tier level subscription</a:t>
            </a:r>
            <a:endParaRPr b="0" lang="en-US" sz="950" strike="noStrike" u="none">
              <a:solidFill>
                <a:srgbClr val="000000"/>
              </a:solidFill>
              <a:effectLst/>
              <a:uFillTx/>
              <a:latin typeface="Arial"/>
            </a:endParaRPr>
          </a:p>
        </p:txBody>
      </p:sp>
      <p:sp>
        <p:nvSpPr>
          <p:cNvPr id="3180" name="Shape 83"/>
          <p:cNvSpPr/>
          <p:nvPr/>
        </p:nvSpPr>
        <p:spPr>
          <a:xfrm>
            <a:off x="7513200" y="5217840"/>
            <a:ext cx="2027880" cy="86400"/>
          </a:xfrm>
          <a:prstGeom prst="roundRect">
            <a:avLst>
              <a:gd name="adj" fmla="val 42232"/>
            </a:avLst>
          </a:prstGeom>
          <a:solidFill>
            <a:srgbClr val="275b7f"/>
          </a:solidFill>
          <a:ln w="12700">
            <a:solidFill>
              <a:srgbClr val="275b7f"/>
            </a:solidFill>
            <a:round/>
          </a:ln>
        </p:spPr>
        <p:style>
          <a:lnRef idx="0"/>
          <a:fillRef idx="0"/>
          <a:effectRef idx="0"/>
          <a:fontRef idx="minor"/>
        </p:style>
        <p:txBody>
          <a:bodyPr lIns="90000" rIns="90000" tIns="20520" bIns="20520" anchor="t">
            <a:noAutofit/>
          </a:bodyPr>
          <a:p>
            <a:endParaRPr b="0" lang="en-US" sz="1800" strike="noStrike" u="none">
              <a:solidFill>
                <a:srgbClr val="ffffff"/>
              </a:solidFill>
              <a:effectLst/>
              <a:uFillTx/>
              <a:latin typeface="Arial"/>
            </a:endParaRPr>
          </a:p>
        </p:txBody>
      </p:sp>
      <p:sp>
        <p:nvSpPr>
          <p:cNvPr id="3181" name="Shape 84"/>
          <p:cNvSpPr/>
          <p:nvPr/>
        </p:nvSpPr>
        <p:spPr>
          <a:xfrm>
            <a:off x="1033200" y="564300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182" name="Shape 85"/>
          <p:cNvSpPr/>
          <p:nvPr/>
        </p:nvSpPr>
        <p:spPr>
          <a:xfrm>
            <a:off x="1143000" y="5406120"/>
            <a:ext cx="45360" cy="219240"/>
          </a:xfrm>
          <a:prstGeom prst="roundRect">
            <a:avLst>
              <a:gd name="adj" fmla="val 60000"/>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183" name="Text 86"/>
          <p:cNvSpPr/>
          <p:nvPr/>
        </p:nvSpPr>
        <p:spPr>
          <a:xfrm>
            <a:off x="1243440" y="536940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Climate Risk integration</a:t>
            </a:r>
            <a:endParaRPr b="0" lang="en-US" sz="950" strike="noStrike" u="none">
              <a:solidFill>
                <a:srgbClr val="000000"/>
              </a:solidFill>
              <a:effectLst/>
              <a:uFillTx/>
              <a:latin typeface="Arial"/>
            </a:endParaRPr>
          </a:p>
        </p:txBody>
      </p:sp>
      <p:sp>
        <p:nvSpPr>
          <p:cNvPr id="3184" name="Shape 87"/>
          <p:cNvSpPr/>
          <p:nvPr/>
        </p:nvSpPr>
        <p:spPr>
          <a:xfrm>
            <a:off x="9541440" y="5472360"/>
            <a:ext cx="2027880" cy="86400"/>
          </a:xfrm>
          <a:prstGeom prst="roundRect">
            <a:avLst>
              <a:gd name="adj" fmla="val 42232"/>
            </a:avLst>
          </a:prstGeom>
          <a:solidFill>
            <a:srgbClr val="275b7f"/>
          </a:solidFill>
          <a:ln w="12700">
            <a:solidFill>
              <a:srgbClr val="275b7f"/>
            </a:solidFill>
            <a:round/>
          </a:ln>
        </p:spPr>
        <p:style>
          <a:lnRef idx="0"/>
          <a:fillRef idx="0"/>
          <a:effectRef idx="0"/>
          <a:fontRef idx="minor"/>
        </p:style>
        <p:txBody>
          <a:bodyPr lIns="90000" rIns="90000" tIns="20520" bIns="20520" anchor="t">
            <a:noAutofit/>
          </a:bodyPr>
          <a:p>
            <a:endParaRPr b="0" lang="en-US" sz="1800" strike="noStrike" u="none">
              <a:solidFill>
                <a:srgbClr val="ffffff"/>
              </a:solidFill>
              <a:effectLst/>
              <a:uFillTx/>
              <a:latin typeface="Arial"/>
            </a:endParaRPr>
          </a:p>
        </p:txBody>
      </p:sp>
      <p:sp>
        <p:nvSpPr>
          <p:cNvPr id="3185" name="Shape 88"/>
          <p:cNvSpPr/>
          <p:nvPr/>
        </p:nvSpPr>
        <p:spPr>
          <a:xfrm>
            <a:off x="1033200" y="58978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186" name="Shape 89"/>
          <p:cNvSpPr/>
          <p:nvPr/>
        </p:nvSpPr>
        <p:spPr>
          <a:xfrm>
            <a:off x="1143000" y="5660640"/>
            <a:ext cx="45360" cy="219240"/>
          </a:xfrm>
          <a:prstGeom prst="roundRect">
            <a:avLst>
              <a:gd name="adj" fmla="val 60000"/>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187" name="Text 90"/>
          <p:cNvSpPr/>
          <p:nvPr/>
        </p:nvSpPr>
        <p:spPr>
          <a:xfrm>
            <a:off x="1243440" y="562428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Reporting and Compliance integration</a:t>
            </a:r>
            <a:endParaRPr b="0" lang="en-US" sz="950" strike="noStrike" u="none">
              <a:solidFill>
                <a:srgbClr val="000000"/>
              </a:solidFill>
              <a:effectLst/>
              <a:uFillTx/>
              <a:latin typeface="Arial"/>
            </a:endParaRPr>
          </a:p>
        </p:txBody>
      </p:sp>
      <p:sp>
        <p:nvSpPr>
          <p:cNvPr id="3188" name="Shape 91"/>
          <p:cNvSpPr/>
          <p:nvPr/>
        </p:nvSpPr>
        <p:spPr>
          <a:xfrm>
            <a:off x="9541440" y="5727240"/>
            <a:ext cx="2027880" cy="86400"/>
          </a:xfrm>
          <a:prstGeom prst="roundRect">
            <a:avLst>
              <a:gd name="adj" fmla="val 42232"/>
            </a:avLst>
          </a:prstGeom>
          <a:solidFill>
            <a:srgbClr val="275b7f"/>
          </a:solidFill>
          <a:ln w="12700">
            <a:solidFill>
              <a:srgbClr val="275b7f"/>
            </a:solidFill>
            <a:round/>
          </a:ln>
        </p:spPr>
        <p:style>
          <a:lnRef idx="0"/>
          <a:fillRef idx="0"/>
          <a:effectRef idx="0"/>
          <a:fontRef idx="minor"/>
        </p:style>
        <p:txBody>
          <a:bodyPr lIns="90000" rIns="90000" tIns="20520" bIns="20520" anchor="t">
            <a:noAutofit/>
          </a:bodyPr>
          <a:p>
            <a:endParaRPr b="0" lang="en-US" sz="1800" strike="noStrike" u="none">
              <a:solidFill>
                <a:srgbClr val="ffffff"/>
              </a:solidFill>
              <a:effectLst/>
              <a:uFillTx/>
              <a:latin typeface="Arial"/>
            </a:endParaRPr>
          </a:p>
        </p:txBody>
      </p:sp>
      <p:sp>
        <p:nvSpPr>
          <p:cNvPr id="3189" name="Shape 92"/>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190" name="Text 93"/>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3191" name="Text 94"/>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3192" name="PlaceHolder 1"/>
          <p:cNvSpPr>
            <a:spLocks noGrp="1"/>
          </p:cNvSpPr>
          <p:nvPr>
            <p:ph type="sldNum" idx="70"/>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503DE1FC-1CE2-4BF5-8B22-A6CBB323B2B2}"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7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193"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3194"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3195" name="Shape 2"/>
          <p:cNvSpPr/>
          <p:nvPr/>
        </p:nvSpPr>
        <p:spPr>
          <a:xfrm>
            <a:off x="621720" y="311040"/>
            <a:ext cx="176436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196" name="Text 3"/>
          <p:cNvSpPr/>
          <p:nvPr/>
        </p:nvSpPr>
        <p:spPr>
          <a:xfrm>
            <a:off x="804600" y="329040"/>
            <a:ext cx="143532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SUPPLY CHAIN</a:t>
            </a:r>
            <a:endParaRPr b="0" lang="en-US" sz="950" strike="noStrike" u="none">
              <a:solidFill>
                <a:srgbClr val="000000"/>
              </a:solidFill>
              <a:effectLst/>
              <a:uFillTx/>
              <a:latin typeface="Arial"/>
            </a:endParaRPr>
          </a:p>
        </p:txBody>
      </p:sp>
      <p:sp>
        <p:nvSpPr>
          <p:cNvPr id="3197"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What ships inside the supply chain goals</a:t>
            </a:r>
            <a:endParaRPr b="0" lang="en-US" sz="3200" strike="noStrike" u="none">
              <a:solidFill>
                <a:srgbClr val="000000"/>
              </a:solidFill>
              <a:effectLst/>
              <a:uFillTx/>
              <a:latin typeface="Arial"/>
            </a:endParaRPr>
          </a:p>
        </p:txBody>
      </p:sp>
      <p:sp>
        <p:nvSpPr>
          <p:cNvPr id="3198"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Migration and shared experience first, then the capabilities that close the competitive gap.</a:t>
            </a:r>
            <a:endParaRPr b="0" lang="en-US" sz="1250" strike="noStrike" u="none">
              <a:solidFill>
                <a:srgbClr val="000000"/>
              </a:solidFill>
              <a:effectLst/>
              <a:uFillTx/>
              <a:latin typeface="Arial"/>
            </a:endParaRPr>
          </a:p>
        </p:txBody>
      </p:sp>
      <p:sp>
        <p:nvSpPr>
          <p:cNvPr id="3199"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200" name="Shape 7"/>
          <p:cNvSpPr/>
          <p:nvPr/>
        </p:nvSpPr>
        <p:spPr>
          <a:xfrm>
            <a:off x="6217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201"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3202"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GOAL 1</a:t>
            </a:r>
            <a:endParaRPr b="0" lang="en-US" sz="900" strike="noStrike" u="none">
              <a:solidFill>
                <a:srgbClr val="000000"/>
              </a:solidFill>
              <a:effectLst/>
              <a:uFillTx/>
              <a:latin typeface="Arial"/>
            </a:endParaRPr>
          </a:p>
        </p:txBody>
      </p:sp>
      <p:sp>
        <p:nvSpPr>
          <p:cNvPr id="3203"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400" strike="noStrike" u="none">
                <a:solidFill>
                  <a:srgbClr val="1e2420"/>
                </a:solidFill>
                <a:effectLst/>
                <a:uFillTx/>
                <a:latin typeface="Calibri"/>
                <a:ea typeface="Calibri"/>
              </a:rPr>
              <a:t>Migration and core experience</a:t>
            </a:r>
            <a:endParaRPr b="0" lang="en-US" sz="1400" strike="noStrike" u="none">
              <a:solidFill>
                <a:srgbClr val="000000"/>
              </a:solidFill>
              <a:effectLst/>
              <a:uFillTx/>
              <a:latin typeface="Arial"/>
            </a:endParaRPr>
          </a:p>
        </p:txBody>
      </p:sp>
      <p:sp>
        <p:nvSpPr>
          <p:cNvPr id="3204" name="Text 11"/>
          <p:cNvSpPr/>
          <p:nvPr/>
        </p:nvSpPr>
        <p:spPr>
          <a:xfrm>
            <a:off x="80460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Land in RA+ properly.</a:t>
            </a:r>
            <a:endParaRPr b="0" lang="en-US" sz="1100" strike="noStrike" u="none">
              <a:solidFill>
                <a:srgbClr val="000000"/>
              </a:solidFill>
              <a:effectLst/>
              <a:uFillTx/>
              <a:latin typeface="Arial"/>
            </a:endParaRPr>
          </a:p>
        </p:txBody>
      </p:sp>
      <p:sp>
        <p:nvSpPr>
          <p:cNvPr id="3205" name="Text 12"/>
          <p:cNvSpPr/>
          <p:nvPr/>
        </p:nvSpPr>
        <p:spPr>
          <a:xfrm>
            <a:off x="82296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Platform stabilisation and core experience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Shared navigation, page layouts and responsive design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Sera embedded onboarding and recommendations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Additional languages: Chinese, French, Spanish, Portuguese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Notification centre and in product reminders</a:t>
            </a:r>
            <a:endParaRPr b="0" lang="en-US" sz="1100" strike="noStrike" u="none">
              <a:solidFill>
                <a:srgbClr val="000000"/>
              </a:solidFill>
              <a:effectLst/>
              <a:uFillTx/>
              <a:latin typeface="Arial"/>
            </a:endParaRPr>
          </a:p>
        </p:txBody>
      </p:sp>
      <p:sp>
        <p:nvSpPr>
          <p:cNvPr id="3206" name="Shape 13"/>
          <p:cNvSpPr/>
          <p:nvPr/>
        </p:nvSpPr>
        <p:spPr>
          <a:xfrm>
            <a:off x="342756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207" name="Shape 14"/>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3208" name="Text 15"/>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GOAL 2</a:t>
            </a:r>
            <a:endParaRPr b="0" lang="en-US" sz="900" strike="noStrike" u="none">
              <a:solidFill>
                <a:srgbClr val="000000"/>
              </a:solidFill>
              <a:effectLst/>
              <a:uFillTx/>
              <a:latin typeface="Arial"/>
            </a:endParaRPr>
          </a:p>
        </p:txBody>
      </p:sp>
      <p:sp>
        <p:nvSpPr>
          <p:cNvPr id="3209" name="Text 16"/>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Product carbon footprint</a:t>
            </a:r>
            <a:endParaRPr b="0" lang="en-US" sz="1600" strike="noStrike" u="none">
              <a:solidFill>
                <a:srgbClr val="000000"/>
              </a:solidFill>
              <a:effectLst/>
              <a:uFillTx/>
              <a:latin typeface="Arial"/>
            </a:endParaRPr>
          </a:p>
        </p:txBody>
      </p:sp>
      <p:sp>
        <p:nvSpPr>
          <p:cNvPr id="3210" name="Text 17"/>
          <p:cNvSpPr/>
          <p:nvPr/>
        </p:nvSpPr>
        <p:spPr>
          <a:xfrm>
            <a:off x="361044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The commercial gap closer.</a:t>
            </a:r>
            <a:endParaRPr b="0" lang="en-US" sz="1100" strike="noStrike" u="none">
              <a:solidFill>
                <a:srgbClr val="000000"/>
              </a:solidFill>
              <a:effectLst/>
              <a:uFillTx/>
              <a:latin typeface="Arial"/>
            </a:endParaRPr>
          </a:p>
        </p:txBody>
      </p:sp>
      <p:sp>
        <p:nvSpPr>
          <p:cNvPr id="3211" name="Text 18"/>
          <p:cNvSpPr/>
          <p:nvPr/>
        </p:nvSpPr>
        <p:spPr>
          <a:xfrm>
            <a:off x="3628440" y="3776400"/>
            <a:ext cx="2165040" cy="2267280"/>
          </a:xfrm>
          <a:prstGeom prst="rect">
            <a:avLst/>
          </a:prstGeom>
          <a:noFill/>
          <a:ln w="0">
            <a:noFill/>
          </a:ln>
        </p:spPr>
        <p:style>
          <a:lnRef idx="0"/>
          <a:fillRef idx="0"/>
          <a:effectRef idx="0"/>
          <a:fontRef idx="minor"/>
        </p:style>
        <p:txBody>
          <a:bodyPr lIns="0" rIns="0" tIns="0" bIns="0" anchor="t">
            <a:normAutofit lnSpcReduction="9999"/>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Product level PCF tables with CSV download</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Light PCF calculator, SEED and AI scraping integrations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Supplier risk overview, emissions heatmap, top ten hotspots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Category and material footprint charts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PACT compliance targets, action alerts and KPI strip</a:t>
            </a:r>
            <a:endParaRPr b="0" lang="en-US" sz="1100" strike="noStrike" u="none">
              <a:solidFill>
                <a:srgbClr val="000000"/>
              </a:solidFill>
              <a:effectLst/>
              <a:uFillTx/>
              <a:latin typeface="Arial"/>
            </a:endParaRPr>
          </a:p>
        </p:txBody>
      </p:sp>
      <p:sp>
        <p:nvSpPr>
          <p:cNvPr id="3212" name="Shape 19"/>
          <p:cNvSpPr/>
          <p:nvPr/>
        </p:nvSpPr>
        <p:spPr>
          <a:xfrm>
            <a:off x="623304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213" name="Shape 20"/>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3214" name="Text 21"/>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GOAL 3</a:t>
            </a:r>
            <a:endParaRPr b="0" lang="en-US" sz="900" strike="noStrike" u="none">
              <a:solidFill>
                <a:srgbClr val="000000"/>
              </a:solidFill>
              <a:effectLst/>
              <a:uFillTx/>
              <a:latin typeface="Arial"/>
            </a:endParaRPr>
          </a:p>
        </p:txBody>
      </p:sp>
      <p:sp>
        <p:nvSpPr>
          <p:cNvPr id="3215" name="Text 22"/>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Data collection campaigns</a:t>
            </a:r>
            <a:endParaRPr b="0" lang="en-US" sz="1600" strike="noStrike" u="none">
              <a:solidFill>
                <a:srgbClr val="000000"/>
              </a:solidFill>
              <a:effectLst/>
              <a:uFillTx/>
              <a:latin typeface="Arial"/>
            </a:endParaRPr>
          </a:p>
        </p:txBody>
      </p:sp>
      <p:sp>
        <p:nvSpPr>
          <p:cNvPr id="3216" name="Text 23"/>
          <p:cNvSpPr/>
          <p:nvPr/>
        </p:nvSpPr>
        <p:spPr>
          <a:xfrm>
            <a:off x="641592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Ask suppliers the right questions.</a:t>
            </a:r>
            <a:endParaRPr b="0" lang="en-US" sz="1100" strike="noStrike" u="none">
              <a:solidFill>
                <a:srgbClr val="000000"/>
              </a:solidFill>
              <a:effectLst/>
              <a:uFillTx/>
              <a:latin typeface="Arial"/>
            </a:endParaRPr>
          </a:p>
        </p:txBody>
      </p:sp>
      <p:sp>
        <p:nvSpPr>
          <p:cNvPr id="3217" name="Text 24"/>
          <p:cNvSpPr/>
          <p:nvPr/>
        </p:nvSpPr>
        <p:spPr>
          <a:xfrm>
            <a:off x="643428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Custom questionnaires with a guided builder wizard</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Drag and drop ordering and conditional logic</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Evidence upload against responses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Response tracking, evidence preview and export</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Simplified participant forms for suppliers</a:t>
            </a:r>
            <a:endParaRPr b="0" lang="en-US" sz="1100" strike="noStrike" u="none">
              <a:solidFill>
                <a:srgbClr val="000000"/>
              </a:solidFill>
              <a:effectLst/>
              <a:uFillTx/>
              <a:latin typeface="Arial"/>
            </a:endParaRPr>
          </a:p>
        </p:txBody>
      </p:sp>
      <p:sp>
        <p:nvSpPr>
          <p:cNvPr id="3218" name="Shape 25"/>
          <p:cNvSpPr/>
          <p:nvPr/>
        </p:nvSpPr>
        <p:spPr>
          <a:xfrm>
            <a:off x="90385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219" name="Shape 26"/>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3220" name="Text 27"/>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GOAL 4</a:t>
            </a:r>
            <a:endParaRPr b="0" lang="en-US" sz="900" strike="noStrike" u="none">
              <a:solidFill>
                <a:srgbClr val="000000"/>
              </a:solidFill>
              <a:effectLst/>
              <a:uFillTx/>
              <a:latin typeface="Arial"/>
            </a:endParaRPr>
          </a:p>
        </p:txBody>
      </p:sp>
      <p:sp>
        <p:nvSpPr>
          <p:cNvPr id="3221" name="Text 28"/>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Data quality assurance</a:t>
            </a:r>
            <a:endParaRPr b="0" lang="en-US" sz="1600" strike="noStrike" u="none">
              <a:solidFill>
                <a:srgbClr val="000000"/>
              </a:solidFill>
              <a:effectLst/>
              <a:uFillTx/>
              <a:latin typeface="Arial"/>
            </a:endParaRPr>
          </a:p>
        </p:txBody>
      </p:sp>
      <p:sp>
        <p:nvSpPr>
          <p:cNvPr id="3222" name="Text 29"/>
          <p:cNvSpPr/>
          <p:nvPr/>
        </p:nvSpPr>
        <p:spPr>
          <a:xfrm>
            <a:off x="922140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Numbers that survive review.</a:t>
            </a:r>
            <a:endParaRPr b="0" lang="en-US" sz="1100" strike="noStrike" u="none">
              <a:solidFill>
                <a:srgbClr val="000000"/>
              </a:solidFill>
              <a:effectLst/>
              <a:uFillTx/>
              <a:latin typeface="Arial"/>
            </a:endParaRPr>
          </a:p>
        </p:txBody>
      </p:sp>
      <p:sp>
        <p:nvSpPr>
          <p:cNvPr id="3223" name="Text 30"/>
          <p:cNvSpPr/>
          <p:nvPr/>
        </p:nvSpPr>
        <p:spPr>
          <a:xfrm>
            <a:off x="923976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Outlier detection and peer benchmarking</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Evidence upload with AI validation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Composite supplier data quality score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Cross product validation against CP inventories</a:t>
            </a:r>
            <a:endParaRPr b="0" lang="en-US" sz="1100" strike="noStrike" u="none">
              <a:solidFill>
                <a:srgbClr val="000000"/>
              </a:solidFill>
              <a:effectLst/>
              <a:uFillTx/>
              <a:latin typeface="Arial"/>
            </a:endParaRPr>
          </a:p>
        </p:txBody>
      </p:sp>
      <p:sp>
        <p:nvSpPr>
          <p:cNvPr id="3224" name="Shape 31"/>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225" name="Text 32"/>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3226" name="Text 33"/>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3227" name="PlaceHolder 1"/>
          <p:cNvSpPr>
            <a:spLocks noGrp="1"/>
          </p:cNvSpPr>
          <p:nvPr>
            <p:ph type="sldNum" idx="71"/>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1AD2D4CA-C045-4C2F-A7EA-BF779AFC4933}"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8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228"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3229"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3230" name="Shape 2"/>
          <p:cNvSpPr/>
          <p:nvPr/>
        </p:nvSpPr>
        <p:spPr>
          <a:xfrm>
            <a:off x="621720" y="311040"/>
            <a:ext cx="176436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231" name="Text 3"/>
          <p:cNvSpPr/>
          <p:nvPr/>
        </p:nvSpPr>
        <p:spPr>
          <a:xfrm>
            <a:off x="804600" y="329040"/>
            <a:ext cx="143532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SUPPLY CHAIN</a:t>
            </a:r>
            <a:endParaRPr b="0" lang="en-US" sz="950" strike="noStrike" u="none">
              <a:solidFill>
                <a:srgbClr val="000000"/>
              </a:solidFill>
              <a:effectLst/>
              <a:uFillTx/>
              <a:latin typeface="Arial"/>
            </a:endParaRPr>
          </a:p>
        </p:txBody>
      </p:sp>
      <p:sp>
        <p:nvSpPr>
          <p:cNvPr id="3232"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From measurement to supplier action</a:t>
            </a:r>
            <a:endParaRPr b="0" lang="en-US" sz="3200" strike="noStrike" u="none">
              <a:solidFill>
                <a:srgbClr val="000000"/>
              </a:solidFill>
              <a:effectLst/>
              <a:uFillTx/>
              <a:latin typeface="Arial"/>
            </a:endParaRPr>
          </a:p>
        </p:txBody>
      </p:sp>
      <p:sp>
        <p:nvSpPr>
          <p:cNvPr id="3233"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Supplier data becomes decarbonisation the sponsor can evidence.</a:t>
            </a:r>
            <a:endParaRPr b="0" lang="en-US" sz="1250" strike="noStrike" u="none">
              <a:solidFill>
                <a:srgbClr val="000000"/>
              </a:solidFill>
              <a:effectLst/>
              <a:uFillTx/>
              <a:latin typeface="Arial"/>
            </a:endParaRPr>
          </a:p>
        </p:txBody>
      </p:sp>
      <p:sp>
        <p:nvSpPr>
          <p:cNvPr id="3234"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235" name="Shape 7"/>
          <p:cNvSpPr/>
          <p:nvPr/>
        </p:nvSpPr>
        <p:spPr>
          <a:xfrm>
            <a:off x="6217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236"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3237"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TAKE ACTION</a:t>
            </a:r>
            <a:endParaRPr b="0" lang="en-US" sz="900" strike="noStrike" u="none">
              <a:solidFill>
                <a:srgbClr val="000000"/>
              </a:solidFill>
              <a:effectLst/>
              <a:uFillTx/>
              <a:latin typeface="Arial"/>
            </a:endParaRPr>
          </a:p>
        </p:txBody>
      </p:sp>
      <p:sp>
        <p:nvSpPr>
          <p:cNvPr id="3238"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Guided decarbonisation</a:t>
            </a:r>
            <a:endParaRPr b="0" lang="en-US" sz="1600" strike="noStrike" u="none">
              <a:solidFill>
                <a:srgbClr val="000000"/>
              </a:solidFill>
              <a:effectLst/>
              <a:uFillTx/>
              <a:latin typeface="Arial"/>
            </a:endParaRPr>
          </a:p>
        </p:txBody>
      </p:sp>
      <p:sp>
        <p:nvSpPr>
          <p:cNvPr id="3239" name="Text 11"/>
          <p:cNvSpPr/>
          <p:nvPr/>
        </p:nvSpPr>
        <p:spPr>
          <a:xfrm>
            <a:off x="80460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Sera powered recommendations.</a:t>
            </a:r>
            <a:endParaRPr b="0" lang="en-US" sz="1100" strike="noStrike" u="none">
              <a:solidFill>
                <a:srgbClr val="000000"/>
              </a:solidFill>
              <a:effectLst/>
              <a:uFillTx/>
              <a:latin typeface="Arial"/>
            </a:endParaRPr>
          </a:p>
        </p:txBody>
      </p:sp>
      <p:sp>
        <p:nvSpPr>
          <p:cNvPr id="3240" name="Text 12"/>
          <p:cNvSpPr/>
          <p:nvPr/>
        </p:nvSpPr>
        <p:spPr>
          <a:xfrm>
            <a:off x="82296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Project recommendations with regional and category filters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Sponsor highlighted projects and project discovery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Supplier learning content and delivery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Role based participant, sponsor and admin views</a:t>
            </a:r>
            <a:endParaRPr b="0" lang="en-US" sz="1100" strike="noStrike" u="none">
              <a:solidFill>
                <a:srgbClr val="000000"/>
              </a:solidFill>
              <a:effectLst/>
              <a:uFillTx/>
              <a:latin typeface="Arial"/>
            </a:endParaRPr>
          </a:p>
        </p:txBody>
      </p:sp>
      <p:sp>
        <p:nvSpPr>
          <p:cNvPr id="3241" name="Shape 13"/>
          <p:cNvSpPr/>
          <p:nvPr/>
        </p:nvSpPr>
        <p:spPr>
          <a:xfrm>
            <a:off x="342756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242" name="Shape 14"/>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3243" name="Text 15"/>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SPONSOR</a:t>
            </a:r>
            <a:endParaRPr b="0" lang="en-US" sz="900" strike="noStrike" u="none">
              <a:solidFill>
                <a:srgbClr val="000000"/>
              </a:solidFill>
              <a:effectLst/>
              <a:uFillTx/>
              <a:latin typeface="Arial"/>
            </a:endParaRPr>
          </a:p>
        </p:txBody>
      </p:sp>
      <p:sp>
        <p:nvSpPr>
          <p:cNvPr id="3244" name="Text 16"/>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Decision support</a:t>
            </a:r>
            <a:endParaRPr b="0" lang="en-US" sz="1600" strike="noStrike" u="none">
              <a:solidFill>
                <a:srgbClr val="000000"/>
              </a:solidFill>
              <a:effectLst/>
              <a:uFillTx/>
              <a:latin typeface="Arial"/>
            </a:endParaRPr>
          </a:p>
        </p:txBody>
      </p:sp>
      <p:sp>
        <p:nvSpPr>
          <p:cNvPr id="3245" name="Text 17"/>
          <p:cNvSpPr/>
          <p:nvPr/>
        </p:nvSpPr>
        <p:spPr>
          <a:xfrm>
            <a:off x="361044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Prove the programme works.</a:t>
            </a:r>
            <a:endParaRPr b="0" lang="en-US" sz="1100" strike="noStrike" u="none">
              <a:solidFill>
                <a:srgbClr val="000000"/>
              </a:solidFill>
              <a:effectLst/>
              <a:uFillTx/>
              <a:latin typeface="Arial"/>
            </a:endParaRPr>
          </a:p>
        </p:txBody>
      </p:sp>
      <p:sp>
        <p:nvSpPr>
          <p:cNvPr id="3246" name="Text 18"/>
          <p:cNvSpPr/>
          <p:nvPr/>
        </p:nvSpPr>
        <p:spPr>
          <a:xfrm>
            <a:off x="362844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Enhanced sponsor dashboards and reporting</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Sponsor planning and supplier transparency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Programme analytics and engagement tracking</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Zeigo network integration</a:t>
            </a:r>
            <a:endParaRPr b="0" lang="en-US" sz="1100" strike="noStrike" u="none">
              <a:solidFill>
                <a:srgbClr val="000000"/>
              </a:solidFill>
              <a:effectLst/>
              <a:uFillTx/>
              <a:latin typeface="Arial"/>
            </a:endParaRPr>
          </a:p>
        </p:txBody>
      </p:sp>
      <p:sp>
        <p:nvSpPr>
          <p:cNvPr id="3247" name="Shape 19"/>
          <p:cNvSpPr/>
          <p:nvPr/>
        </p:nvSpPr>
        <p:spPr>
          <a:xfrm>
            <a:off x="623304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248" name="Shape 20"/>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3249" name="Text 21"/>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2027 H1</a:t>
            </a:r>
            <a:endParaRPr b="0" lang="en-US" sz="900" strike="noStrike" u="none">
              <a:solidFill>
                <a:srgbClr val="000000"/>
              </a:solidFill>
              <a:effectLst/>
              <a:uFillTx/>
              <a:latin typeface="Arial"/>
            </a:endParaRPr>
          </a:p>
        </p:txBody>
      </p:sp>
      <p:sp>
        <p:nvSpPr>
          <p:cNvPr id="3250" name="Text 22"/>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Reach and scale</a:t>
            </a:r>
            <a:endParaRPr b="0" lang="en-US" sz="1600" strike="noStrike" u="none">
              <a:solidFill>
                <a:srgbClr val="000000"/>
              </a:solidFill>
              <a:effectLst/>
              <a:uFillTx/>
              <a:latin typeface="Arial"/>
            </a:endParaRPr>
          </a:p>
        </p:txBody>
      </p:sp>
      <p:sp>
        <p:nvSpPr>
          <p:cNvPr id="3251" name="Text 23"/>
          <p:cNvSpPr/>
          <p:nvPr/>
        </p:nvSpPr>
        <p:spPr>
          <a:xfrm>
            <a:off x="641592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Beyond tier one.</a:t>
            </a:r>
            <a:endParaRPr b="0" lang="en-US" sz="1100" strike="noStrike" u="none">
              <a:solidFill>
                <a:srgbClr val="000000"/>
              </a:solidFill>
              <a:effectLst/>
              <a:uFillTx/>
              <a:latin typeface="Arial"/>
            </a:endParaRPr>
          </a:p>
        </p:txBody>
      </p:sp>
      <p:sp>
        <p:nvSpPr>
          <p:cNvPr id="3252" name="Text 24"/>
          <p:cNvSpPr/>
          <p:nvPr/>
        </p:nvSpPr>
        <p:spPr>
          <a:xfrm>
            <a:off x="643428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Multi tier supplier visibility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Supplier onboarding and programme participation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Advanced tier level subscription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Zeigo Activate sunset replaced by a light CP calculator</a:t>
            </a:r>
            <a:endParaRPr b="0" lang="en-US" sz="1100" strike="noStrike" u="none">
              <a:solidFill>
                <a:srgbClr val="000000"/>
              </a:solidFill>
              <a:effectLst/>
              <a:uFillTx/>
              <a:latin typeface="Arial"/>
            </a:endParaRPr>
          </a:p>
        </p:txBody>
      </p:sp>
      <p:sp>
        <p:nvSpPr>
          <p:cNvPr id="3253" name="Shape 25"/>
          <p:cNvSpPr/>
          <p:nvPr/>
        </p:nvSpPr>
        <p:spPr>
          <a:xfrm>
            <a:off x="90385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254" name="Shape 26"/>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3255" name="Text 27"/>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2027 H2</a:t>
            </a:r>
            <a:endParaRPr b="0" lang="en-US" sz="900" strike="noStrike" u="none">
              <a:solidFill>
                <a:srgbClr val="000000"/>
              </a:solidFill>
              <a:effectLst/>
              <a:uFillTx/>
              <a:latin typeface="Arial"/>
            </a:endParaRPr>
          </a:p>
        </p:txBody>
      </p:sp>
      <p:sp>
        <p:nvSpPr>
          <p:cNvPr id="3256" name="Text 28"/>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Resilience and reuse</a:t>
            </a:r>
            <a:endParaRPr b="0" lang="en-US" sz="1600" strike="noStrike" u="none">
              <a:solidFill>
                <a:srgbClr val="000000"/>
              </a:solidFill>
              <a:effectLst/>
              <a:uFillTx/>
              <a:latin typeface="Arial"/>
            </a:endParaRPr>
          </a:p>
        </p:txBody>
      </p:sp>
      <p:sp>
        <p:nvSpPr>
          <p:cNvPr id="3257" name="Text 29"/>
          <p:cNvSpPr/>
          <p:nvPr/>
        </p:nvSpPr>
        <p:spPr>
          <a:xfrm>
            <a:off x="922140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Connect the products.</a:t>
            </a:r>
            <a:endParaRPr b="0" lang="en-US" sz="1100" strike="noStrike" u="none">
              <a:solidFill>
                <a:srgbClr val="000000"/>
              </a:solidFill>
              <a:effectLst/>
              <a:uFillTx/>
              <a:latin typeface="Arial"/>
            </a:endParaRPr>
          </a:p>
        </p:txBody>
      </p:sp>
      <p:sp>
        <p:nvSpPr>
          <p:cNvPr id="3258" name="Text 30"/>
          <p:cNvSpPr/>
          <p:nvPr/>
        </p:nvSpPr>
        <p:spPr>
          <a:xfrm>
            <a:off x="923976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Supply chain and climate risk integration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ESG reporting and compliance integration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Gamification, leaderboards and custom nudges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Cross programme supplier discovery</a:t>
            </a:r>
            <a:endParaRPr b="0" lang="en-US" sz="1100" strike="noStrike" u="none">
              <a:solidFill>
                <a:srgbClr val="000000"/>
              </a:solidFill>
              <a:effectLst/>
              <a:uFillTx/>
              <a:latin typeface="Arial"/>
            </a:endParaRPr>
          </a:p>
        </p:txBody>
      </p:sp>
      <p:sp>
        <p:nvSpPr>
          <p:cNvPr id="3259" name="Shape 31"/>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260" name="Text 32"/>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3261" name="Text 33"/>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3262" name="PlaceHolder 1"/>
          <p:cNvSpPr>
            <a:spLocks noGrp="1"/>
          </p:cNvSpPr>
          <p:nvPr>
            <p:ph type="sldNum" idx="72"/>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13266BB6-5668-40B6-A899-4A3E7AEF3E70}"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8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5730"/>
        </a:solidFill>
      </p:bgPr>
    </p:bg>
    <p:spTree>
      <p:nvGrpSpPr>
        <p:cNvPr id="1" name=""/>
        <p:cNvGrpSpPr/>
        <p:nvPr/>
      </p:nvGrpSpPr>
      <p:grpSpPr>
        <a:xfrm>
          <a:off x="0" y="0"/>
          <a:ext cx="0" cy="0"/>
          <a:chOff x="0" y="0"/>
          <a:chExt cx="0" cy="0"/>
        </a:xfrm>
      </p:grpSpPr>
      <p:sp>
        <p:nvSpPr>
          <p:cNvPr id="3263"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3264"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3265" name="Shape 2"/>
          <p:cNvSpPr/>
          <p:nvPr/>
        </p:nvSpPr>
        <p:spPr>
          <a:xfrm>
            <a:off x="8641080" y="822960"/>
            <a:ext cx="360" cy="5212080"/>
          </a:xfrm>
          <a:prstGeom prst="line">
            <a:avLst/>
          </a:prstGeom>
          <a:ln w="12700">
            <a:solidFill>
              <a:srgbClr val="2c8058"/>
            </a:solidFill>
            <a:round/>
          </a:ln>
        </p:spPr>
        <p:style>
          <a:lnRef idx="0"/>
          <a:fillRef idx="0"/>
          <a:effectRef idx="0"/>
          <a:fontRef idx="minor"/>
        </p:style>
        <p:txBody>
          <a:bodyPr lIns="90000" rIns="90000" tIns="45000" bIns="45000" anchor="t" anchorCtr="1">
            <a:noAutofit/>
          </a:bodyPr>
          <a:p>
            <a:endParaRPr b="0" lang="en-US" sz="1800" strike="noStrike" u="none">
              <a:solidFill>
                <a:srgbClr val="ffffff"/>
              </a:solidFill>
              <a:effectLst/>
              <a:uFillTx/>
              <a:latin typeface="Arial"/>
            </a:endParaRPr>
          </a:p>
        </p:txBody>
      </p:sp>
      <p:sp>
        <p:nvSpPr>
          <p:cNvPr id="3266" name="Text 3"/>
          <p:cNvSpPr/>
          <p:nvPr/>
        </p:nvSpPr>
        <p:spPr>
          <a:xfrm>
            <a:off x="9144000" y="841320"/>
            <a:ext cx="2194200" cy="22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81" strike="noStrike" u="none">
                <a:solidFill>
                  <a:srgbClr val="bfe6ce"/>
                </a:solidFill>
                <a:effectLst/>
                <a:uFillTx/>
                <a:latin typeface="Calibri"/>
                <a:ea typeface="Calibri"/>
              </a:rPr>
              <a:t>RA+ ROADMAP</a:t>
            </a:r>
            <a:endParaRPr b="0" lang="en-US" sz="900" strike="noStrike" u="none">
              <a:solidFill>
                <a:srgbClr val="ffffff"/>
              </a:solidFill>
              <a:effectLst/>
              <a:uFillTx/>
              <a:latin typeface="Arial"/>
            </a:endParaRPr>
          </a:p>
        </p:txBody>
      </p:sp>
      <p:sp>
        <p:nvSpPr>
          <p:cNvPr id="3267" name="Text 4"/>
          <p:cNvSpPr/>
          <p:nvPr/>
        </p:nvSpPr>
        <p:spPr>
          <a:xfrm>
            <a:off x="9144000" y="1325880"/>
            <a:ext cx="2194200" cy="1462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3600" strike="noStrike" u="none">
                <a:solidFill>
                  <a:srgbClr val="ffffff"/>
                </a:solidFill>
                <a:effectLst/>
                <a:uFillTx/>
                <a:latin typeface="Calibri"/>
                <a:ea typeface="Calibri"/>
              </a:rPr>
              <a:t>2026</a:t>
            </a:r>
            <a:endParaRPr b="0" lang="en-US" sz="3600" strike="noStrike" u="none">
              <a:solidFill>
                <a:srgbClr val="ffffff"/>
              </a:solidFill>
              <a:effectLst/>
              <a:uFillTx/>
              <a:latin typeface="Arial"/>
            </a:endParaRPr>
          </a:p>
          <a:p>
            <a:pPr defTabSz="914400">
              <a:lnSpc>
                <a:spcPct val="100000"/>
              </a:lnSpc>
              <a:tabLst>
                <a:tab algn="l" pos="0"/>
              </a:tabLst>
            </a:pPr>
            <a:r>
              <a:rPr b="1" lang="en-US" sz="3600" strike="noStrike" u="none">
                <a:solidFill>
                  <a:srgbClr val="ffffff"/>
                </a:solidFill>
                <a:effectLst/>
                <a:uFillTx/>
                <a:latin typeface="Calibri"/>
                <a:ea typeface="Calibri"/>
              </a:rPr>
              <a:t>2027</a:t>
            </a:r>
            <a:endParaRPr b="0" lang="en-US" sz="3600" strike="noStrike" u="none">
              <a:solidFill>
                <a:srgbClr val="ffffff"/>
              </a:solidFill>
              <a:effectLst/>
              <a:uFillTx/>
              <a:latin typeface="Arial"/>
            </a:endParaRPr>
          </a:p>
        </p:txBody>
      </p:sp>
      <p:sp>
        <p:nvSpPr>
          <p:cNvPr id="3268" name="Text 5"/>
          <p:cNvSpPr/>
          <p:nvPr/>
        </p:nvSpPr>
        <p:spPr>
          <a:xfrm>
            <a:off x="621720" y="960120"/>
            <a:ext cx="71319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221" strike="noStrike" u="none">
                <a:solidFill>
                  <a:srgbClr val="bfe6ce"/>
                </a:solidFill>
                <a:effectLst/>
                <a:uFillTx/>
                <a:latin typeface="Calibri"/>
                <a:ea typeface="Calibri"/>
              </a:rPr>
              <a:t>AGENDA ITEM 4.3</a:t>
            </a:r>
            <a:endParaRPr b="0" lang="en-US" sz="1100" strike="noStrike" u="none">
              <a:solidFill>
                <a:srgbClr val="ffffff"/>
              </a:solidFill>
              <a:effectLst/>
              <a:uFillTx/>
              <a:latin typeface="Arial"/>
            </a:endParaRPr>
          </a:p>
        </p:txBody>
      </p:sp>
      <p:sp>
        <p:nvSpPr>
          <p:cNvPr id="3269" name="Text 6"/>
          <p:cNvSpPr/>
          <p:nvPr/>
        </p:nvSpPr>
        <p:spPr>
          <a:xfrm>
            <a:off x="621720" y="1508760"/>
            <a:ext cx="191988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5800" strike="noStrike" u="none">
                <a:solidFill>
                  <a:srgbClr val="3dcd58"/>
                </a:solidFill>
                <a:effectLst/>
                <a:uFillTx/>
                <a:latin typeface="Calibri"/>
                <a:ea typeface="Calibri"/>
              </a:rPr>
              <a:t>4.3</a:t>
            </a:r>
            <a:endParaRPr b="0" lang="en-US" sz="5800" strike="noStrike" u="none">
              <a:solidFill>
                <a:srgbClr val="ffffff"/>
              </a:solidFill>
              <a:effectLst/>
              <a:uFillTx/>
              <a:latin typeface="Arial"/>
            </a:endParaRPr>
          </a:p>
        </p:txBody>
      </p:sp>
      <p:sp>
        <p:nvSpPr>
          <p:cNvPr id="3270" name="Text 7"/>
          <p:cNvSpPr/>
          <p:nvPr/>
        </p:nvSpPr>
        <p:spPr>
          <a:xfrm>
            <a:off x="621720" y="2606040"/>
            <a:ext cx="7406280" cy="11426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ffffff"/>
                </a:solidFill>
                <a:effectLst/>
                <a:uFillTx/>
                <a:latin typeface="Calibri"/>
                <a:ea typeface="Calibri"/>
              </a:rPr>
              <a:t>Reporting and Compliance</a:t>
            </a:r>
            <a:endParaRPr b="0" lang="en-US" sz="3200" strike="noStrike" u="none">
              <a:solidFill>
                <a:srgbClr val="ffffff"/>
              </a:solidFill>
              <a:effectLst/>
              <a:uFillTx/>
              <a:latin typeface="Arial"/>
            </a:endParaRPr>
          </a:p>
        </p:txBody>
      </p:sp>
      <p:sp>
        <p:nvSpPr>
          <p:cNvPr id="3271" name="Text 8"/>
          <p:cNvSpPr/>
          <p:nvPr/>
        </p:nvSpPr>
        <p:spPr>
          <a:xfrm>
            <a:off x="621720" y="4005000"/>
            <a:ext cx="704052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400" strike="noStrike" u="none">
                <a:solidFill>
                  <a:srgbClr val="d6eadf"/>
                </a:solidFill>
                <a:effectLst/>
                <a:uFillTx/>
                <a:latin typeface="Calibri"/>
                <a:ea typeface="Calibri"/>
              </a:rPr>
              <a:t>Stand the product up on core platform foundations.</a:t>
            </a:r>
            <a:endParaRPr b="0" lang="en-US" sz="14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8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272"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3273"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3274" name="Shape 2"/>
          <p:cNvSpPr/>
          <p:nvPr/>
        </p:nvSpPr>
        <p:spPr>
          <a:xfrm>
            <a:off x="621720" y="311040"/>
            <a:ext cx="365724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275" name="Text 3"/>
          <p:cNvSpPr/>
          <p:nvPr/>
        </p:nvSpPr>
        <p:spPr>
          <a:xfrm>
            <a:off x="804600" y="329040"/>
            <a:ext cx="332820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REPORTING AND COMPLIANCE, 2026</a:t>
            </a:r>
            <a:endParaRPr b="0" lang="en-US" sz="950" strike="noStrike" u="none">
              <a:solidFill>
                <a:srgbClr val="000000"/>
              </a:solidFill>
              <a:effectLst/>
              <a:uFillTx/>
              <a:latin typeface="Arial"/>
            </a:endParaRPr>
          </a:p>
        </p:txBody>
      </p:sp>
      <p:sp>
        <p:nvSpPr>
          <p:cNvPr id="3276"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Stand the product up in 2026</a:t>
            </a:r>
            <a:endParaRPr b="0" lang="en-US" sz="3200" strike="noStrike" u="none">
              <a:solidFill>
                <a:srgbClr val="000000"/>
              </a:solidFill>
              <a:effectLst/>
              <a:uFillTx/>
              <a:latin typeface="Arial"/>
            </a:endParaRPr>
          </a:p>
        </p:txBody>
      </p:sp>
      <p:sp>
        <p:nvSpPr>
          <p:cNvPr id="3277"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Core platform foundations first, then Framework Library, Indicator Management and Disclosure Management, in that order.</a:t>
            </a:r>
            <a:endParaRPr b="0" lang="en-US" sz="1250" strike="noStrike" u="none">
              <a:solidFill>
                <a:srgbClr val="000000"/>
              </a:solidFill>
              <a:effectLst/>
              <a:uFillTx/>
              <a:latin typeface="Arial"/>
            </a:endParaRPr>
          </a:p>
        </p:txBody>
      </p:sp>
      <p:sp>
        <p:nvSpPr>
          <p:cNvPr id="3278"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279" name="Shape 7"/>
          <p:cNvSpPr/>
          <p:nvPr/>
        </p:nvSpPr>
        <p:spPr>
          <a:xfrm>
            <a:off x="621720" y="2084760"/>
            <a:ext cx="5345640" cy="4178520"/>
          </a:xfrm>
          <a:prstGeom prst="roundRect">
            <a:avLst>
              <a:gd name="adj" fmla="val 131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280" name="Shape 8"/>
          <p:cNvSpPr/>
          <p:nvPr/>
        </p:nvSpPr>
        <p:spPr>
          <a:xfrm>
            <a:off x="621720" y="2084760"/>
            <a:ext cx="5345640" cy="712800"/>
          </a:xfrm>
          <a:prstGeom prst="rect">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281" name="Shape 9"/>
          <p:cNvSpPr/>
          <p:nvPr/>
        </p:nvSpPr>
        <p:spPr>
          <a:xfrm>
            <a:off x="621720" y="2084760"/>
            <a:ext cx="54360" cy="41785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282" name="Text 10"/>
          <p:cNvSpPr/>
          <p:nvPr/>
        </p:nvSpPr>
        <p:spPr>
          <a:xfrm>
            <a:off x="804600" y="2176200"/>
            <a:ext cx="501660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3dcd58"/>
                </a:solidFill>
                <a:effectLst/>
                <a:uFillTx/>
                <a:latin typeface="Calibri"/>
                <a:ea typeface="Calibri"/>
              </a:rPr>
              <a:t>NOW</a:t>
            </a:r>
            <a:endParaRPr b="0" lang="en-US" sz="850" strike="noStrike" u="none">
              <a:solidFill>
                <a:srgbClr val="000000"/>
              </a:solidFill>
              <a:effectLst/>
              <a:uFillTx/>
              <a:latin typeface="Arial"/>
            </a:endParaRPr>
          </a:p>
        </p:txBody>
      </p:sp>
      <p:sp>
        <p:nvSpPr>
          <p:cNvPr id="3283" name="Text 11"/>
          <p:cNvSpPr/>
          <p:nvPr/>
        </p:nvSpPr>
        <p:spPr>
          <a:xfrm>
            <a:off x="804600" y="2423160"/>
            <a:ext cx="501660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Q3 2026</a:t>
            </a:r>
            <a:endParaRPr b="0" lang="en-US" sz="1400" strike="noStrike" u="none">
              <a:solidFill>
                <a:srgbClr val="000000"/>
              </a:solidFill>
              <a:effectLst/>
              <a:uFillTx/>
              <a:latin typeface="Arial"/>
            </a:endParaRPr>
          </a:p>
        </p:txBody>
      </p:sp>
      <p:sp>
        <p:nvSpPr>
          <p:cNvPr id="3284" name="Shape 12"/>
          <p:cNvSpPr/>
          <p:nvPr/>
        </p:nvSpPr>
        <p:spPr>
          <a:xfrm>
            <a:off x="758880" y="2953440"/>
            <a:ext cx="5071320" cy="375840"/>
          </a:xfrm>
          <a:prstGeom prst="roundRect">
            <a:avLst>
              <a:gd name="adj" fmla="val 7292"/>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285" name="Text 13"/>
          <p:cNvSpPr/>
          <p:nvPr/>
        </p:nvSpPr>
        <p:spPr>
          <a:xfrm>
            <a:off x="822960" y="2953440"/>
            <a:ext cx="4943520" cy="37584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00" strike="noStrike" u="none">
                <a:solidFill>
                  <a:srgbClr val="1e2420"/>
                </a:solidFill>
                <a:effectLst/>
                <a:uFillTx/>
                <a:latin typeface="Calibri"/>
                <a:ea typeface="Calibri"/>
              </a:rPr>
              <a:t>Core platform foundations built and current time spent on the planning for everything to build on the top of the core.</a:t>
            </a:r>
            <a:endParaRPr b="0" lang="en-US" sz="900" strike="noStrike" u="none">
              <a:solidFill>
                <a:srgbClr val="000000"/>
              </a:solidFill>
              <a:effectLst/>
              <a:uFillTx/>
              <a:latin typeface="Arial"/>
            </a:endParaRPr>
          </a:p>
        </p:txBody>
      </p:sp>
      <p:sp>
        <p:nvSpPr>
          <p:cNvPr id="3286" name="Shape 14"/>
          <p:cNvSpPr/>
          <p:nvPr/>
        </p:nvSpPr>
        <p:spPr>
          <a:xfrm>
            <a:off x="6224040" y="2084760"/>
            <a:ext cx="5345640" cy="4178520"/>
          </a:xfrm>
          <a:prstGeom prst="roundRect">
            <a:avLst>
              <a:gd name="adj" fmla="val 131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287" name="Shape 15"/>
          <p:cNvSpPr/>
          <p:nvPr/>
        </p:nvSpPr>
        <p:spPr>
          <a:xfrm>
            <a:off x="6224040" y="2084760"/>
            <a:ext cx="5345640" cy="712800"/>
          </a:xfrm>
          <a:prstGeom prst="rect">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288" name="Shape 16"/>
          <p:cNvSpPr/>
          <p:nvPr/>
        </p:nvSpPr>
        <p:spPr>
          <a:xfrm>
            <a:off x="6224040" y="2084760"/>
            <a:ext cx="54360" cy="4178520"/>
          </a:xfrm>
          <a:prstGeom prst="rect">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289" name="Text 17"/>
          <p:cNvSpPr/>
          <p:nvPr/>
        </p:nvSpPr>
        <p:spPr>
          <a:xfrm>
            <a:off x="6406920" y="2176200"/>
            <a:ext cx="501660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007a27"/>
                </a:solidFill>
                <a:effectLst/>
                <a:uFillTx/>
                <a:latin typeface="Calibri"/>
                <a:ea typeface="Calibri"/>
              </a:rPr>
              <a:t>NEXT</a:t>
            </a:r>
            <a:endParaRPr b="0" lang="en-US" sz="850" strike="noStrike" u="none">
              <a:solidFill>
                <a:srgbClr val="000000"/>
              </a:solidFill>
              <a:effectLst/>
              <a:uFillTx/>
              <a:latin typeface="Arial"/>
            </a:endParaRPr>
          </a:p>
        </p:txBody>
      </p:sp>
      <p:sp>
        <p:nvSpPr>
          <p:cNvPr id="3290" name="Text 18"/>
          <p:cNvSpPr/>
          <p:nvPr/>
        </p:nvSpPr>
        <p:spPr>
          <a:xfrm>
            <a:off x="6406920" y="2423160"/>
            <a:ext cx="501660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Q4 2026</a:t>
            </a:r>
            <a:endParaRPr b="0" lang="en-US" sz="1400" strike="noStrike" u="none">
              <a:solidFill>
                <a:srgbClr val="000000"/>
              </a:solidFill>
              <a:effectLst/>
              <a:uFillTx/>
              <a:latin typeface="Arial"/>
            </a:endParaRPr>
          </a:p>
        </p:txBody>
      </p:sp>
      <p:sp>
        <p:nvSpPr>
          <p:cNvPr id="3291" name="Shape 19"/>
          <p:cNvSpPr/>
          <p:nvPr/>
        </p:nvSpPr>
        <p:spPr>
          <a:xfrm>
            <a:off x="6361200" y="2953440"/>
            <a:ext cx="5071320" cy="375840"/>
          </a:xfrm>
          <a:prstGeom prst="roundRect">
            <a:avLst>
              <a:gd name="adj" fmla="val 7292"/>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292" name="Text 20"/>
          <p:cNvSpPr/>
          <p:nvPr/>
        </p:nvSpPr>
        <p:spPr>
          <a:xfrm>
            <a:off x="6424920" y="2953440"/>
            <a:ext cx="4943520" cy="37584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Build indicator library foundation</a:t>
            </a:r>
            <a:endParaRPr b="0" lang="en-US" sz="950" strike="noStrike" u="none">
              <a:solidFill>
                <a:srgbClr val="000000"/>
              </a:solidFill>
              <a:effectLst/>
              <a:uFillTx/>
              <a:latin typeface="Arial"/>
            </a:endParaRPr>
          </a:p>
        </p:txBody>
      </p:sp>
      <p:sp>
        <p:nvSpPr>
          <p:cNvPr id="3293" name="Shape 21"/>
          <p:cNvSpPr/>
          <p:nvPr/>
        </p:nvSpPr>
        <p:spPr>
          <a:xfrm>
            <a:off x="6361200" y="3402720"/>
            <a:ext cx="5071320" cy="375840"/>
          </a:xfrm>
          <a:prstGeom prst="roundRect">
            <a:avLst>
              <a:gd name="adj" fmla="val 7292"/>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294" name="Text 22"/>
          <p:cNvSpPr/>
          <p:nvPr/>
        </p:nvSpPr>
        <p:spPr>
          <a:xfrm>
            <a:off x="6424920" y="3402720"/>
            <a:ext cx="4943520" cy="37584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Approval hierarchies and bulk assignment</a:t>
            </a:r>
            <a:endParaRPr b="0" lang="en-US" sz="950" strike="noStrike" u="none">
              <a:solidFill>
                <a:srgbClr val="000000"/>
              </a:solidFill>
              <a:effectLst/>
              <a:uFillTx/>
              <a:latin typeface="Arial"/>
            </a:endParaRPr>
          </a:p>
        </p:txBody>
      </p:sp>
      <p:sp>
        <p:nvSpPr>
          <p:cNvPr id="3295" name="Shape 23"/>
          <p:cNvSpPr/>
          <p:nvPr/>
        </p:nvSpPr>
        <p:spPr>
          <a:xfrm>
            <a:off x="6361200" y="3852360"/>
            <a:ext cx="5071320" cy="375840"/>
          </a:xfrm>
          <a:prstGeom prst="roundRect">
            <a:avLst>
              <a:gd name="adj" fmla="val 7292"/>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296" name="Text 24"/>
          <p:cNvSpPr/>
          <p:nvPr/>
        </p:nvSpPr>
        <p:spPr>
          <a:xfrm>
            <a:off x="6424920" y="3852360"/>
            <a:ext cx="4943520" cy="37584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Reporting cycles and reporting workspace</a:t>
            </a:r>
            <a:endParaRPr b="0" lang="en-US" sz="950" strike="noStrike" u="none">
              <a:solidFill>
                <a:srgbClr val="000000"/>
              </a:solidFill>
              <a:effectLst/>
              <a:uFillTx/>
              <a:latin typeface="Arial"/>
            </a:endParaRPr>
          </a:p>
        </p:txBody>
      </p:sp>
      <p:sp>
        <p:nvSpPr>
          <p:cNvPr id="3297" name="Shape 25"/>
          <p:cNvSpPr/>
          <p:nvPr/>
        </p:nvSpPr>
        <p:spPr>
          <a:xfrm>
            <a:off x="6361200" y="4301640"/>
            <a:ext cx="5071320" cy="375840"/>
          </a:xfrm>
          <a:prstGeom prst="roundRect">
            <a:avLst>
              <a:gd name="adj" fmla="val 7292"/>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298" name="Text 26"/>
          <p:cNvSpPr/>
          <p:nvPr/>
        </p:nvSpPr>
        <p:spPr>
          <a:xfrm>
            <a:off x="6424920" y="4301640"/>
            <a:ext cx="4943520" cy="37584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Governed data collection campaigns</a:t>
            </a:r>
            <a:endParaRPr b="0" lang="en-US" sz="950" strike="noStrike" u="none">
              <a:solidFill>
                <a:srgbClr val="000000"/>
              </a:solidFill>
              <a:effectLst/>
              <a:uFillTx/>
              <a:latin typeface="Arial"/>
            </a:endParaRPr>
          </a:p>
        </p:txBody>
      </p:sp>
      <p:sp>
        <p:nvSpPr>
          <p:cNvPr id="3299" name="Shape 27"/>
          <p:cNvSpPr/>
          <p:nvPr/>
        </p:nvSpPr>
        <p:spPr>
          <a:xfrm>
            <a:off x="6361200" y="4750920"/>
            <a:ext cx="5071320" cy="375840"/>
          </a:xfrm>
          <a:prstGeom prst="roundRect">
            <a:avLst>
              <a:gd name="adj" fmla="val 7292"/>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300" name="Text 28"/>
          <p:cNvSpPr/>
          <p:nvPr/>
        </p:nvSpPr>
        <p:spPr>
          <a:xfrm>
            <a:off x="6424920" y="4750920"/>
            <a:ext cx="4943520" cy="37584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Regulated frameworks and templates</a:t>
            </a:r>
            <a:endParaRPr b="0" lang="en-US" sz="950" strike="noStrike" u="none">
              <a:solidFill>
                <a:srgbClr val="000000"/>
              </a:solidFill>
              <a:effectLst/>
              <a:uFillTx/>
              <a:latin typeface="Arial"/>
            </a:endParaRPr>
          </a:p>
          <a:p>
            <a:pPr defTabSz="914400">
              <a:lnSpc>
                <a:spcPct val="95000"/>
              </a:lnSpc>
              <a:tabLst>
                <a:tab algn="l" pos="0"/>
              </a:tabLst>
            </a:pPr>
            <a:r>
              <a:rPr b="0" lang="en-US" sz="800" strike="noStrike" u="none">
                <a:solidFill>
                  <a:srgbClr val="5a625c"/>
                </a:solidFill>
                <a:effectLst/>
                <a:uFillTx/>
                <a:latin typeface="Calibri"/>
                <a:ea typeface="Calibri"/>
              </a:rPr>
              <a:t>CSRD, ESRS, EU Taxonomy, IFRS S1 and S2</a:t>
            </a:r>
            <a:endParaRPr b="0" lang="en-US" sz="800" strike="noStrike" u="none">
              <a:solidFill>
                <a:srgbClr val="000000"/>
              </a:solidFill>
              <a:effectLst/>
              <a:uFillTx/>
              <a:latin typeface="Arial"/>
            </a:endParaRPr>
          </a:p>
        </p:txBody>
      </p:sp>
      <p:sp>
        <p:nvSpPr>
          <p:cNvPr id="3301" name="Shape 29"/>
          <p:cNvSpPr/>
          <p:nvPr/>
        </p:nvSpPr>
        <p:spPr>
          <a:xfrm>
            <a:off x="6361200" y="5200200"/>
            <a:ext cx="5071320" cy="375840"/>
          </a:xfrm>
          <a:prstGeom prst="roundRect">
            <a:avLst>
              <a:gd name="adj" fmla="val 7292"/>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302" name="Text 30"/>
          <p:cNvSpPr/>
          <p:nvPr/>
        </p:nvSpPr>
        <p:spPr>
          <a:xfrm>
            <a:off x="6424920" y="5200200"/>
            <a:ext cx="4943520" cy="37584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00" strike="noStrike" u="none">
                <a:solidFill>
                  <a:srgbClr val="1e2420"/>
                </a:solidFill>
                <a:effectLst/>
                <a:uFillTx/>
                <a:latin typeface="Calibri"/>
                <a:ea typeface="Calibri"/>
              </a:rPr>
              <a:t>Set foundations: configure, collect, disclose end to end</a:t>
            </a:r>
            <a:endParaRPr b="0" lang="en-US" sz="900" strike="noStrike" u="none">
              <a:solidFill>
                <a:srgbClr val="000000"/>
              </a:solidFill>
              <a:effectLst/>
              <a:uFillTx/>
              <a:latin typeface="Arial"/>
            </a:endParaRPr>
          </a:p>
        </p:txBody>
      </p:sp>
      <p:sp>
        <p:nvSpPr>
          <p:cNvPr id="3303" name="Shape 31"/>
          <p:cNvSpPr/>
          <p:nvPr/>
        </p:nvSpPr>
        <p:spPr>
          <a:xfrm>
            <a:off x="6361200" y="5649840"/>
            <a:ext cx="5071320" cy="375840"/>
          </a:xfrm>
          <a:prstGeom prst="roundRect">
            <a:avLst>
              <a:gd name="adj" fmla="val 7292"/>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304" name="Text 32"/>
          <p:cNvSpPr/>
          <p:nvPr/>
        </p:nvSpPr>
        <p:spPr>
          <a:xfrm>
            <a:off x="6424920" y="5649840"/>
            <a:ext cx="4943520" cy="37584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00" strike="noStrike" u="none">
                <a:solidFill>
                  <a:srgbClr val="1e2420"/>
                </a:solidFill>
                <a:effectLst/>
                <a:uFillTx/>
                <a:latin typeface="Calibri"/>
                <a:ea typeface="Calibri"/>
              </a:rPr>
              <a:t>Set foundations: Advanced data ingestion and transformation rules</a:t>
            </a:r>
            <a:endParaRPr b="0" lang="en-US" sz="900" strike="noStrike" u="none">
              <a:solidFill>
                <a:srgbClr val="000000"/>
              </a:solidFill>
              <a:effectLst/>
              <a:uFillTx/>
              <a:latin typeface="Arial"/>
            </a:endParaRPr>
          </a:p>
        </p:txBody>
      </p:sp>
      <p:sp>
        <p:nvSpPr>
          <p:cNvPr id="3305" name="Shape 33"/>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306" name="Text 34"/>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3307" name="Text 35"/>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3308" name="PlaceHolder 1"/>
          <p:cNvSpPr>
            <a:spLocks noGrp="1"/>
          </p:cNvSpPr>
          <p:nvPr>
            <p:ph type="sldNum" idx="73"/>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CD6036B0-EFE1-4A38-8433-6953EEE041F6}"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8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309"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3310"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3311" name="Shape 2"/>
          <p:cNvSpPr/>
          <p:nvPr/>
        </p:nvSpPr>
        <p:spPr>
          <a:xfrm>
            <a:off x="621720" y="311040"/>
            <a:ext cx="365724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312" name="Text 3"/>
          <p:cNvSpPr/>
          <p:nvPr/>
        </p:nvSpPr>
        <p:spPr>
          <a:xfrm>
            <a:off x="804600" y="329040"/>
            <a:ext cx="332820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REPORTING AND COMPLIANCE, 2027</a:t>
            </a:r>
            <a:endParaRPr b="0" lang="en-US" sz="950" strike="noStrike" u="none">
              <a:solidFill>
                <a:srgbClr val="000000"/>
              </a:solidFill>
              <a:effectLst/>
              <a:uFillTx/>
              <a:latin typeface="Arial"/>
            </a:endParaRPr>
          </a:p>
        </p:txBody>
      </p:sp>
      <p:sp>
        <p:nvSpPr>
          <p:cNvPr id="3313"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Migrate SE and automate in 2027</a:t>
            </a:r>
            <a:endParaRPr b="0" lang="en-US" sz="3200" strike="noStrike" u="none">
              <a:solidFill>
                <a:srgbClr val="000000"/>
              </a:solidFill>
              <a:effectLst/>
              <a:uFillTx/>
              <a:latin typeface="Arial"/>
            </a:endParaRPr>
          </a:p>
        </p:txBody>
      </p:sp>
      <p:sp>
        <p:nvSpPr>
          <p:cNvPr id="3314"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Migration, AI assisted authoring and assurance once the 2026 foundations hold.</a:t>
            </a:r>
            <a:endParaRPr b="0" lang="en-US" sz="1250" strike="noStrike" u="none">
              <a:solidFill>
                <a:srgbClr val="000000"/>
              </a:solidFill>
              <a:effectLst/>
              <a:uFillTx/>
              <a:latin typeface="Arial"/>
            </a:endParaRPr>
          </a:p>
        </p:txBody>
      </p:sp>
      <p:sp>
        <p:nvSpPr>
          <p:cNvPr id="3315"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316" name="Shape 7"/>
          <p:cNvSpPr/>
          <p:nvPr/>
        </p:nvSpPr>
        <p:spPr>
          <a:xfrm>
            <a:off x="621720" y="2084760"/>
            <a:ext cx="5345640" cy="4178520"/>
          </a:xfrm>
          <a:prstGeom prst="roundRect">
            <a:avLst>
              <a:gd name="adj" fmla="val 131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317" name="Shape 8"/>
          <p:cNvSpPr/>
          <p:nvPr/>
        </p:nvSpPr>
        <p:spPr>
          <a:xfrm>
            <a:off x="621720" y="2084760"/>
            <a:ext cx="5345640" cy="712800"/>
          </a:xfrm>
          <a:prstGeom prst="rect">
            <a:avLst/>
          </a:prstGeom>
          <a:solidFill>
            <a:srgbClr val="fff4e3"/>
          </a:solidFill>
          <a:ln w="12700">
            <a:solidFill>
              <a:srgbClr val="fff4e3"/>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318" name="Shape 9"/>
          <p:cNvSpPr/>
          <p:nvPr/>
        </p:nvSpPr>
        <p:spPr>
          <a:xfrm>
            <a:off x="621720" y="2084760"/>
            <a:ext cx="54360" cy="4178520"/>
          </a:xfrm>
          <a:prstGeom prst="rect">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319" name="Text 10"/>
          <p:cNvSpPr/>
          <p:nvPr/>
        </p:nvSpPr>
        <p:spPr>
          <a:xfrm>
            <a:off x="804600" y="2176200"/>
            <a:ext cx="501660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ffb04c"/>
                </a:solidFill>
                <a:effectLst/>
                <a:uFillTx/>
                <a:latin typeface="Calibri"/>
                <a:ea typeface="Calibri"/>
              </a:rPr>
              <a:t>LATER</a:t>
            </a:r>
            <a:endParaRPr b="0" lang="en-US" sz="850" strike="noStrike" u="none">
              <a:solidFill>
                <a:srgbClr val="000000"/>
              </a:solidFill>
              <a:effectLst/>
              <a:uFillTx/>
              <a:latin typeface="Arial"/>
            </a:endParaRPr>
          </a:p>
        </p:txBody>
      </p:sp>
      <p:sp>
        <p:nvSpPr>
          <p:cNvPr id="3320" name="Text 11"/>
          <p:cNvSpPr/>
          <p:nvPr/>
        </p:nvSpPr>
        <p:spPr>
          <a:xfrm>
            <a:off x="804600" y="2423160"/>
            <a:ext cx="501660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2027 H1</a:t>
            </a:r>
            <a:endParaRPr b="0" lang="en-US" sz="1400" strike="noStrike" u="none">
              <a:solidFill>
                <a:srgbClr val="000000"/>
              </a:solidFill>
              <a:effectLst/>
              <a:uFillTx/>
              <a:latin typeface="Arial"/>
            </a:endParaRPr>
          </a:p>
        </p:txBody>
      </p:sp>
      <p:sp>
        <p:nvSpPr>
          <p:cNvPr id="3321" name="Shape 12"/>
          <p:cNvSpPr/>
          <p:nvPr/>
        </p:nvSpPr>
        <p:spPr>
          <a:xfrm>
            <a:off x="758880" y="295344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322" name="Text 13"/>
          <p:cNvSpPr/>
          <p:nvPr/>
        </p:nvSpPr>
        <p:spPr>
          <a:xfrm>
            <a:off x="822960" y="295344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Advanced campaign management</a:t>
            </a:r>
            <a:endParaRPr b="0" lang="en-US" sz="1000" strike="noStrike" u="none">
              <a:solidFill>
                <a:srgbClr val="000000"/>
              </a:solidFill>
              <a:effectLst/>
              <a:uFillTx/>
              <a:latin typeface="Arial"/>
            </a:endParaRPr>
          </a:p>
        </p:txBody>
      </p:sp>
      <p:sp>
        <p:nvSpPr>
          <p:cNvPr id="3323" name="Shape 14"/>
          <p:cNvSpPr/>
          <p:nvPr/>
        </p:nvSpPr>
        <p:spPr>
          <a:xfrm>
            <a:off x="758880" y="358272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324" name="Text 15"/>
          <p:cNvSpPr/>
          <p:nvPr/>
        </p:nvSpPr>
        <p:spPr>
          <a:xfrm>
            <a:off x="822960" y="358272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Indicator performance analytics</a:t>
            </a:r>
            <a:endParaRPr b="0" lang="en-US" sz="1000" strike="noStrike" u="none">
              <a:solidFill>
                <a:srgbClr val="000000"/>
              </a:solidFill>
              <a:effectLst/>
              <a:uFillTx/>
              <a:latin typeface="Arial"/>
            </a:endParaRPr>
          </a:p>
        </p:txBody>
      </p:sp>
      <p:sp>
        <p:nvSpPr>
          <p:cNvPr id="3325" name="Shape 16"/>
          <p:cNvSpPr/>
          <p:nvPr/>
        </p:nvSpPr>
        <p:spPr>
          <a:xfrm>
            <a:off x="758880" y="421164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326" name="Text 17"/>
          <p:cNvSpPr/>
          <p:nvPr/>
        </p:nvSpPr>
        <p:spPr>
          <a:xfrm>
            <a:off x="822960" y="421164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Governed disclosure authoring with AI drafting</a:t>
            </a:r>
            <a:endParaRPr b="0" lang="en-US" sz="950" strike="noStrike" u="none">
              <a:solidFill>
                <a:srgbClr val="000000"/>
              </a:solidFill>
              <a:effectLst/>
              <a:uFillTx/>
              <a:latin typeface="Arial"/>
            </a:endParaRPr>
          </a:p>
        </p:txBody>
      </p:sp>
      <p:sp>
        <p:nvSpPr>
          <p:cNvPr id="3327" name="Shape 18"/>
          <p:cNvSpPr/>
          <p:nvPr/>
        </p:nvSpPr>
        <p:spPr>
          <a:xfrm>
            <a:off x="758880" y="484092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328" name="Text 19"/>
          <p:cNvSpPr/>
          <p:nvPr/>
        </p:nvSpPr>
        <p:spPr>
          <a:xfrm>
            <a:off x="822960" y="484092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Corporate SE fully migrated off RA Classic</a:t>
            </a:r>
            <a:endParaRPr b="0" lang="en-US" sz="950" strike="noStrike" u="none">
              <a:solidFill>
                <a:srgbClr val="000000"/>
              </a:solidFill>
              <a:effectLst/>
              <a:uFillTx/>
              <a:latin typeface="Arial"/>
            </a:endParaRPr>
          </a:p>
          <a:p>
            <a:pPr defTabSz="914400">
              <a:lnSpc>
                <a:spcPct val="95000"/>
              </a:lnSpc>
              <a:tabLst>
                <a:tab algn="l" pos="0"/>
              </a:tabLst>
            </a:pPr>
            <a:r>
              <a:rPr b="0" lang="en-US" sz="800" strike="noStrike" u="none">
                <a:solidFill>
                  <a:srgbClr val="5a625c"/>
                </a:solidFill>
                <a:effectLst/>
                <a:uFillTx/>
                <a:latin typeface="Calibri"/>
                <a:ea typeface="Calibri"/>
              </a:rPr>
              <a:t>Historical data migrated, Q1 2027 CSRD cycle run in RA+</a:t>
            </a:r>
            <a:endParaRPr b="0" lang="en-US" sz="800" strike="noStrike" u="none">
              <a:solidFill>
                <a:srgbClr val="000000"/>
              </a:solidFill>
              <a:effectLst/>
              <a:uFillTx/>
              <a:latin typeface="Arial"/>
            </a:endParaRPr>
          </a:p>
        </p:txBody>
      </p:sp>
      <p:sp>
        <p:nvSpPr>
          <p:cNvPr id="3329" name="Shape 20"/>
          <p:cNvSpPr/>
          <p:nvPr/>
        </p:nvSpPr>
        <p:spPr>
          <a:xfrm>
            <a:off x="758880" y="546984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330" name="Text 21"/>
          <p:cNvSpPr/>
          <p:nvPr/>
        </p:nvSpPr>
        <p:spPr>
          <a:xfrm>
            <a:off x="822960" y="546984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Audit ready disclosures produced in product</a:t>
            </a:r>
            <a:endParaRPr b="0" lang="en-US" sz="950" strike="noStrike" u="none">
              <a:solidFill>
                <a:srgbClr val="000000"/>
              </a:solidFill>
              <a:effectLst/>
              <a:uFillTx/>
              <a:latin typeface="Arial"/>
            </a:endParaRPr>
          </a:p>
        </p:txBody>
      </p:sp>
      <p:sp>
        <p:nvSpPr>
          <p:cNvPr id="3331" name="Shape 22"/>
          <p:cNvSpPr/>
          <p:nvPr/>
        </p:nvSpPr>
        <p:spPr>
          <a:xfrm>
            <a:off x="6224040" y="2084760"/>
            <a:ext cx="5345640" cy="4178520"/>
          </a:xfrm>
          <a:prstGeom prst="roundRect">
            <a:avLst>
              <a:gd name="adj" fmla="val 131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332" name="Shape 23"/>
          <p:cNvSpPr/>
          <p:nvPr/>
        </p:nvSpPr>
        <p:spPr>
          <a:xfrm>
            <a:off x="6224040" y="2084760"/>
            <a:ext cx="5345640" cy="712800"/>
          </a:xfrm>
          <a:prstGeom prst="rect">
            <a:avLst/>
          </a:prstGeom>
          <a:solidFill>
            <a:srgbClr val="eaf1f5"/>
          </a:solidFill>
          <a:ln w="12700">
            <a:solidFill>
              <a:srgbClr val="eaf1f5"/>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333" name="Shape 24"/>
          <p:cNvSpPr/>
          <p:nvPr/>
        </p:nvSpPr>
        <p:spPr>
          <a:xfrm>
            <a:off x="6224040" y="2084760"/>
            <a:ext cx="54360" cy="4178520"/>
          </a:xfrm>
          <a:prstGeom prst="rect">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334" name="Text 25"/>
          <p:cNvSpPr/>
          <p:nvPr/>
        </p:nvSpPr>
        <p:spPr>
          <a:xfrm>
            <a:off x="6406920" y="2176200"/>
            <a:ext cx="501660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275b7f"/>
                </a:solidFill>
                <a:effectLst/>
                <a:uFillTx/>
                <a:latin typeface="Calibri"/>
                <a:ea typeface="Calibri"/>
              </a:rPr>
              <a:t>LATER</a:t>
            </a:r>
            <a:endParaRPr b="0" lang="en-US" sz="850" strike="noStrike" u="none">
              <a:solidFill>
                <a:srgbClr val="000000"/>
              </a:solidFill>
              <a:effectLst/>
              <a:uFillTx/>
              <a:latin typeface="Arial"/>
            </a:endParaRPr>
          </a:p>
        </p:txBody>
      </p:sp>
      <p:sp>
        <p:nvSpPr>
          <p:cNvPr id="3335" name="Text 26"/>
          <p:cNvSpPr/>
          <p:nvPr/>
        </p:nvSpPr>
        <p:spPr>
          <a:xfrm>
            <a:off x="6406920" y="2423160"/>
            <a:ext cx="501660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2027 H2</a:t>
            </a:r>
            <a:endParaRPr b="0" lang="en-US" sz="1400" strike="noStrike" u="none">
              <a:solidFill>
                <a:srgbClr val="000000"/>
              </a:solidFill>
              <a:effectLst/>
              <a:uFillTx/>
              <a:latin typeface="Arial"/>
            </a:endParaRPr>
          </a:p>
        </p:txBody>
      </p:sp>
      <p:sp>
        <p:nvSpPr>
          <p:cNvPr id="3336" name="Shape 27"/>
          <p:cNvSpPr/>
          <p:nvPr/>
        </p:nvSpPr>
        <p:spPr>
          <a:xfrm>
            <a:off x="6361200" y="295344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337" name="Text 28"/>
          <p:cNvSpPr/>
          <p:nvPr/>
        </p:nvSpPr>
        <p:spPr>
          <a:xfrm>
            <a:off x="6424920" y="295344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00" strike="noStrike" u="none">
                <a:solidFill>
                  <a:srgbClr val="1e2420"/>
                </a:solidFill>
                <a:effectLst/>
                <a:uFillTx/>
                <a:latin typeface="Calibri"/>
                <a:ea typeface="Calibri"/>
              </a:rPr>
              <a:t>AI compliance intelligence and mapping suggestions</a:t>
            </a:r>
            <a:endParaRPr b="0" lang="en-US" sz="900" strike="noStrike" u="none">
              <a:solidFill>
                <a:srgbClr val="000000"/>
              </a:solidFill>
              <a:effectLst/>
              <a:uFillTx/>
              <a:latin typeface="Arial"/>
            </a:endParaRPr>
          </a:p>
        </p:txBody>
      </p:sp>
      <p:sp>
        <p:nvSpPr>
          <p:cNvPr id="3338" name="Shape 29"/>
          <p:cNvSpPr/>
          <p:nvPr/>
        </p:nvSpPr>
        <p:spPr>
          <a:xfrm>
            <a:off x="6361200" y="358272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339" name="Text 30"/>
          <p:cNvSpPr/>
          <p:nvPr/>
        </p:nvSpPr>
        <p:spPr>
          <a:xfrm>
            <a:off x="6424920" y="358272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External assurance and auditor experience</a:t>
            </a:r>
            <a:endParaRPr b="0" lang="en-US" sz="950" strike="noStrike" u="none">
              <a:solidFill>
                <a:srgbClr val="000000"/>
              </a:solidFill>
              <a:effectLst/>
              <a:uFillTx/>
              <a:latin typeface="Arial"/>
            </a:endParaRPr>
          </a:p>
        </p:txBody>
      </p:sp>
      <p:sp>
        <p:nvSpPr>
          <p:cNvPr id="3340" name="Shape 31"/>
          <p:cNvSpPr/>
          <p:nvPr/>
        </p:nvSpPr>
        <p:spPr>
          <a:xfrm>
            <a:off x="6361200" y="421164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341" name="Text 32"/>
          <p:cNvSpPr/>
          <p:nvPr/>
        </p:nvSpPr>
        <p:spPr>
          <a:xfrm>
            <a:off x="6424920" y="421164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00" strike="noStrike" u="none">
                <a:solidFill>
                  <a:srgbClr val="1e2420"/>
                </a:solidFill>
                <a:effectLst/>
                <a:uFillTx/>
                <a:latin typeface="Calibri"/>
                <a:ea typeface="Calibri"/>
              </a:rPr>
              <a:t>Voluntary frameworks: GRI, SASB, GRESB, EcoVadis</a:t>
            </a:r>
            <a:endParaRPr b="0" lang="en-US" sz="900" strike="noStrike" u="none">
              <a:solidFill>
                <a:srgbClr val="000000"/>
              </a:solidFill>
              <a:effectLst/>
              <a:uFillTx/>
              <a:latin typeface="Arial"/>
            </a:endParaRPr>
          </a:p>
        </p:txBody>
      </p:sp>
      <p:sp>
        <p:nvSpPr>
          <p:cNvPr id="3342" name="Shape 33"/>
          <p:cNvSpPr/>
          <p:nvPr/>
        </p:nvSpPr>
        <p:spPr>
          <a:xfrm>
            <a:off x="6361200" y="484092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343" name="Text 34"/>
          <p:cNvSpPr/>
          <p:nvPr/>
        </p:nvSpPr>
        <p:spPr>
          <a:xfrm>
            <a:off x="6424920" y="484092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CP emissions and CR risk feeding disclosures</a:t>
            </a:r>
            <a:endParaRPr b="0" lang="en-US" sz="950" strike="noStrike" u="none">
              <a:solidFill>
                <a:srgbClr val="000000"/>
              </a:solidFill>
              <a:effectLst/>
              <a:uFillTx/>
              <a:latin typeface="Arial"/>
            </a:endParaRPr>
          </a:p>
        </p:txBody>
      </p:sp>
      <p:sp>
        <p:nvSpPr>
          <p:cNvPr id="3344" name="Shape 35"/>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345" name="Text 36"/>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3346" name="Text 37"/>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3347" name="PlaceHolder 1"/>
          <p:cNvSpPr>
            <a:spLocks noGrp="1"/>
          </p:cNvSpPr>
          <p:nvPr>
            <p:ph type="sldNum" idx="74"/>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7C89983D-548F-43D4-91AD-33DE264E5D31}"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8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348"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3349"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3350" name="Shape 2"/>
          <p:cNvSpPr/>
          <p:nvPr/>
        </p:nvSpPr>
        <p:spPr>
          <a:xfrm>
            <a:off x="621720" y="311040"/>
            <a:ext cx="302616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351" name="Text 3"/>
          <p:cNvSpPr/>
          <p:nvPr/>
        </p:nvSpPr>
        <p:spPr>
          <a:xfrm>
            <a:off x="804600" y="329040"/>
            <a:ext cx="269712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REPORTING AND COMPLIANCE</a:t>
            </a:r>
            <a:endParaRPr b="0" lang="en-US" sz="950" strike="noStrike" u="none">
              <a:solidFill>
                <a:srgbClr val="000000"/>
              </a:solidFill>
              <a:effectLst/>
              <a:uFillTx/>
              <a:latin typeface="Arial"/>
            </a:endParaRPr>
          </a:p>
        </p:txBody>
      </p:sp>
      <p:sp>
        <p:nvSpPr>
          <p:cNvPr id="3352"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The Reporting and Compliance plan on a timeline</a:t>
            </a:r>
            <a:endParaRPr b="0" lang="en-US" sz="3200" strike="noStrike" u="none">
              <a:solidFill>
                <a:srgbClr val="000000"/>
              </a:solidFill>
              <a:effectLst/>
              <a:uFillTx/>
              <a:latin typeface="Arial"/>
            </a:endParaRPr>
          </a:p>
        </p:txBody>
      </p:sp>
      <p:sp>
        <p:nvSpPr>
          <p:cNvPr id="3353"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Build the governed foundation in 2026, prove it through the SE migration, then automate disclosure and assurance.</a:t>
            </a:r>
            <a:endParaRPr b="0" lang="en-US" sz="1250" strike="noStrike" u="none">
              <a:solidFill>
                <a:srgbClr val="000000"/>
              </a:solidFill>
              <a:effectLst/>
              <a:uFillTx/>
              <a:latin typeface="Arial"/>
            </a:endParaRPr>
          </a:p>
        </p:txBody>
      </p:sp>
      <p:sp>
        <p:nvSpPr>
          <p:cNvPr id="3354"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355" name="Shape 7"/>
          <p:cNvSpPr/>
          <p:nvPr/>
        </p:nvSpPr>
        <p:spPr>
          <a:xfrm>
            <a:off x="621720" y="1874520"/>
            <a:ext cx="10947600" cy="456840"/>
          </a:xfrm>
          <a:prstGeom prst="rect">
            <a:avLst/>
          </a:prstGeom>
          <a:solidFill>
            <a:srgbClr val="f1f3f2"/>
          </a:solidFill>
          <a:ln w="635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356" name="Text 8"/>
          <p:cNvSpPr/>
          <p:nvPr/>
        </p:nvSpPr>
        <p:spPr>
          <a:xfrm>
            <a:off x="749880" y="2020680"/>
            <a:ext cx="260568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99" strike="noStrike" u="none">
                <a:solidFill>
                  <a:srgbClr val="5a625c"/>
                </a:solidFill>
                <a:effectLst/>
                <a:uFillTx/>
                <a:latin typeface="Calibri"/>
                <a:ea typeface="Calibri"/>
              </a:rPr>
              <a:t>CAPABILITY</a:t>
            </a:r>
            <a:endParaRPr b="0" lang="en-US" sz="850" strike="noStrike" u="none">
              <a:solidFill>
                <a:srgbClr val="000000"/>
              </a:solidFill>
              <a:effectLst/>
              <a:uFillTx/>
              <a:latin typeface="Arial"/>
            </a:endParaRPr>
          </a:p>
        </p:txBody>
      </p:sp>
      <p:sp>
        <p:nvSpPr>
          <p:cNvPr id="3357" name="Text 9"/>
          <p:cNvSpPr/>
          <p:nvPr/>
        </p:nvSpPr>
        <p:spPr>
          <a:xfrm>
            <a:off x="3456360" y="1901880"/>
            <a:ext cx="405648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2026</a:t>
            </a:r>
            <a:endParaRPr b="0" lang="en-US" sz="1200" strike="noStrike" u="none">
              <a:solidFill>
                <a:srgbClr val="000000"/>
              </a:solidFill>
              <a:effectLst/>
              <a:uFillTx/>
              <a:latin typeface="Arial"/>
            </a:endParaRPr>
          </a:p>
        </p:txBody>
      </p:sp>
      <p:sp>
        <p:nvSpPr>
          <p:cNvPr id="3358" name="Text 10"/>
          <p:cNvSpPr/>
          <p:nvPr/>
        </p:nvSpPr>
        <p:spPr>
          <a:xfrm>
            <a:off x="345636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3359" name="Text 11"/>
          <p:cNvSpPr/>
          <p:nvPr/>
        </p:nvSpPr>
        <p:spPr>
          <a:xfrm>
            <a:off x="447048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3360" name="Text 12"/>
          <p:cNvSpPr/>
          <p:nvPr/>
        </p:nvSpPr>
        <p:spPr>
          <a:xfrm>
            <a:off x="548496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3361" name="Text 13"/>
          <p:cNvSpPr/>
          <p:nvPr/>
        </p:nvSpPr>
        <p:spPr>
          <a:xfrm>
            <a:off x="649908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3362" name="Text 14"/>
          <p:cNvSpPr/>
          <p:nvPr/>
        </p:nvSpPr>
        <p:spPr>
          <a:xfrm>
            <a:off x="7513200" y="1901880"/>
            <a:ext cx="405648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2027</a:t>
            </a:r>
            <a:endParaRPr b="0" lang="en-US" sz="1200" strike="noStrike" u="none">
              <a:solidFill>
                <a:srgbClr val="000000"/>
              </a:solidFill>
              <a:effectLst/>
              <a:uFillTx/>
              <a:latin typeface="Arial"/>
            </a:endParaRPr>
          </a:p>
        </p:txBody>
      </p:sp>
      <p:sp>
        <p:nvSpPr>
          <p:cNvPr id="3363" name="Text 15"/>
          <p:cNvSpPr/>
          <p:nvPr/>
        </p:nvSpPr>
        <p:spPr>
          <a:xfrm>
            <a:off x="751320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3364" name="Text 16"/>
          <p:cNvSpPr/>
          <p:nvPr/>
        </p:nvSpPr>
        <p:spPr>
          <a:xfrm>
            <a:off x="852732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3365" name="Text 17"/>
          <p:cNvSpPr/>
          <p:nvPr/>
        </p:nvSpPr>
        <p:spPr>
          <a:xfrm>
            <a:off x="954144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3366" name="Text 18"/>
          <p:cNvSpPr/>
          <p:nvPr/>
        </p:nvSpPr>
        <p:spPr>
          <a:xfrm>
            <a:off x="1055556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3367" name="Shape 19"/>
          <p:cNvSpPr/>
          <p:nvPr/>
        </p:nvSpPr>
        <p:spPr>
          <a:xfrm>
            <a:off x="345636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368" name="Shape 20"/>
          <p:cNvSpPr/>
          <p:nvPr/>
        </p:nvSpPr>
        <p:spPr>
          <a:xfrm>
            <a:off x="447048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369" name="Shape 21"/>
          <p:cNvSpPr/>
          <p:nvPr/>
        </p:nvSpPr>
        <p:spPr>
          <a:xfrm>
            <a:off x="548460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370" name="Shape 22"/>
          <p:cNvSpPr/>
          <p:nvPr/>
        </p:nvSpPr>
        <p:spPr>
          <a:xfrm>
            <a:off x="649872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371" name="Shape 23"/>
          <p:cNvSpPr/>
          <p:nvPr/>
        </p:nvSpPr>
        <p:spPr>
          <a:xfrm>
            <a:off x="751284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372" name="Shape 24"/>
          <p:cNvSpPr/>
          <p:nvPr/>
        </p:nvSpPr>
        <p:spPr>
          <a:xfrm>
            <a:off x="852732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373" name="Shape 25"/>
          <p:cNvSpPr/>
          <p:nvPr/>
        </p:nvSpPr>
        <p:spPr>
          <a:xfrm>
            <a:off x="954144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374" name="Shape 26"/>
          <p:cNvSpPr/>
          <p:nvPr/>
        </p:nvSpPr>
        <p:spPr>
          <a:xfrm>
            <a:off x="1055556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375" name="Shape 27"/>
          <p:cNvSpPr/>
          <p:nvPr/>
        </p:nvSpPr>
        <p:spPr>
          <a:xfrm>
            <a:off x="1156968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376" name="Shape 28"/>
          <p:cNvSpPr/>
          <p:nvPr/>
        </p:nvSpPr>
        <p:spPr>
          <a:xfrm>
            <a:off x="621720" y="2331720"/>
            <a:ext cx="411120" cy="822600"/>
          </a:xfrm>
          <a:prstGeom prst="rect">
            <a:avLst/>
          </a:prstGeom>
          <a:solidFill>
            <a:srgbClr val="3dcd58"/>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377" name="Text 29"/>
          <p:cNvSpPr/>
          <p:nvPr/>
        </p:nvSpPr>
        <p:spPr>
          <a:xfrm>
            <a:off x="685800" y="2377440"/>
            <a:ext cx="282960" cy="73116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FOUNDATION</a:t>
            </a:r>
            <a:endParaRPr b="0" lang="en-US" sz="750" strike="noStrike" u="none">
              <a:solidFill>
                <a:srgbClr val="000000"/>
              </a:solidFill>
              <a:effectLst/>
              <a:uFillTx/>
              <a:latin typeface="Arial"/>
            </a:endParaRPr>
          </a:p>
        </p:txBody>
      </p:sp>
      <p:sp>
        <p:nvSpPr>
          <p:cNvPr id="3378" name="Shape 30"/>
          <p:cNvSpPr/>
          <p:nvPr/>
        </p:nvSpPr>
        <p:spPr>
          <a:xfrm>
            <a:off x="1033200" y="260604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379" name="Shape 31"/>
          <p:cNvSpPr/>
          <p:nvPr/>
        </p:nvSpPr>
        <p:spPr>
          <a:xfrm>
            <a:off x="1143000" y="235908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380" name="Text 32"/>
          <p:cNvSpPr/>
          <p:nvPr/>
        </p:nvSpPr>
        <p:spPr>
          <a:xfrm>
            <a:off x="1243440" y="23227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Core platform foundations and planning</a:t>
            </a:r>
            <a:endParaRPr b="0" lang="en-US" sz="950" strike="noStrike" u="none">
              <a:solidFill>
                <a:srgbClr val="000000"/>
              </a:solidFill>
              <a:effectLst/>
              <a:uFillTx/>
              <a:latin typeface="Arial"/>
            </a:endParaRPr>
          </a:p>
        </p:txBody>
      </p:sp>
      <p:sp>
        <p:nvSpPr>
          <p:cNvPr id="3381" name="Shape 33"/>
          <p:cNvSpPr/>
          <p:nvPr/>
        </p:nvSpPr>
        <p:spPr>
          <a:xfrm>
            <a:off x="5484960" y="2422080"/>
            <a:ext cx="1013760" cy="92880"/>
          </a:xfrm>
          <a:prstGeom prst="roundRect">
            <a:avLst>
              <a:gd name="adj" fmla="val 39216"/>
            </a:avLst>
          </a:prstGeom>
          <a:solidFill>
            <a:srgbClr val="3dcd58"/>
          </a:solidFill>
          <a:ln w="12700">
            <a:solidFill>
              <a:srgbClr val="3dcd58"/>
            </a:solidFill>
            <a:round/>
          </a:ln>
        </p:spPr>
        <p:style>
          <a:lnRef idx="0"/>
          <a:fillRef idx="0"/>
          <a:effectRef idx="0"/>
          <a:fontRef idx="minor"/>
        </p:style>
        <p:txBody>
          <a:bodyPr lIns="90000" rIns="90000" tIns="27000" bIns="27000" anchor="t">
            <a:noAutofit/>
          </a:bodyPr>
          <a:p>
            <a:endParaRPr b="0" lang="en-US" sz="1800" strike="noStrike" u="none">
              <a:solidFill>
                <a:srgbClr val="000000"/>
              </a:solidFill>
              <a:effectLst/>
              <a:uFillTx/>
              <a:latin typeface="Arial"/>
            </a:endParaRPr>
          </a:p>
        </p:txBody>
      </p:sp>
      <p:sp>
        <p:nvSpPr>
          <p:cNvPr id="3382" name="Shape 34"/>
          <p:cNvSpPr/>
          <p:nvPr/>
        </p:nvSpPr>
        <p:spPr>
          <a:xfrm>
            <a:off x="1033200" y="288036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383" name="Shape 35"/>
          <p:cNvSpPr/>
          <p:nvPr/>
        </p:nvSpPr>
        <p:spPr>
          <a:xfrm>
            <a:off x="1143000" y="263340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384" name="Text 36"/>
          <p:cNvSpPr/>
          <p:nvPr/>
        </p:nvSpPr>
        <p:spPr>
          <a:xfrm>
            <a:off x="1243440" y="259704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Indicator library and approval hierarchy</a:t>
            </a:r>
            <a:endParaRPr b="0" lang="en-US" sz="950" strike="noStrike" u="none">
              <a:solidFill>
                <a:srgbClr val="000000"/>
              </a:solidFill>
              <a:effectLst/>
              <a:uFillTx/>
              <a:latin typeface="Arial"/>
            </a:endParaRPr>
          </a:p>
        </p:txBody>
      </p:sp>
      <p:sp>
        <p:nvSpPr>
          <p:cNvPr id="3385" name="Shape 37"/>
          <p:cNvSpPr/>
          <p:nvPr/>
        </p:nvSpPr>
        <p:spPr>
          <a:xfrm>
            <a:off x="6499080" y="2696400"/>
            <a:ext cx="1013760" cy="92880"/>
          </a:xfrm>
          <a:prstGeom prst="roundRect">
            <a:avLst>
              <a:gd name="adj" fmla="val 39216"/>
            </a:avLst>
          </a:prstGeom>
          <a:solidFill>
            <a:srgbClr val="3dcd58"/>
          </a:solidFill>
          <a:ln w="12700">
            <a:solidFill>
              <a:srgbClr val="3dcd58"/>
            </a:solidFill>
            <a:round/>
          </a:ln>
        </p:spPr>
        <p:style>
          <a:lnRef idx="0"/>
          <a:fillRef idx="0"/>
          <a:effectRef idx="0"/>
          <a:fontRef idx="minor"/>
        </p:style>
        <p:txBody>
          <a:bodyPr lIns="90000" rIns="90000" tIns="27000" bIns="27000" anchor="t">
            <a:noAutofit/>
          </a:bodyPr>
          <a:p>
            <a:endParaRPr b="0" lang="en-US" sz="1800" strike="noStrike" u="none">
              <a:solidFill>
                <a:srgbClr val="000000"/>
              </a:solidFill>
              <a:effectLst/>
              <a:uFillTx/>
              <a:latin typeface="Arial"/>
            </a:endParaRPr>
          </a:p>
        </p:txBody>
      </p:sp>
      <p:sp>
        <p:nvSpPr>
          <p:cNvPr id="3386" name="Shape 38"/>
          <p:cNvSpPr/>
          <p:nvPr/>
        </p:nvSpPr>
        <p:spPr>
          <a:xfrm>
            <a:off x="1033200" y="31546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387" name="Shape 39"/>
          <p:cNvSpPr/>
          <p:nvPr/>
        </p:nvSpPr>
        <p:spPr>
          <a:xfrm>
            <a:off x="1143000" y="290772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388" name="Text 40"/>
          <p:cNvSpPr/>
          <p:nvPr/>
        </p:nvSpPr>
        <p:spPr>
          <a:xfrm>
            <a:off x="1243440" y="28713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Advanced ingestion and transformation</a:t>
            </a:r>
            <a:endParaRPr b="0" lang="en-US" sz="950" strike="noStrike" u="none">
              <a:solidFill>
                <a:srgbClr val="000000"/>
              </a:solidFill>
              <a:effectLst/>
              <a:uFillTx/>
              <a:latin typeface="Arial"/>
            </a:endParaRPr>
          </a:p>
        </p:txBody>
      </p:sp>
      <p:sp>
        <p:nvSpPr>
          <p:cNvPr id="3389" name="Shape 41"/>
          <p:cNvSpPr/>
          <p:nvPr/>
        </p:nvSpPr>
        <p:spPr>
          <a:xfrm>
            <a:off x="6499080" y="2970720"/>
            <a:ext cx="1013760" cy="92880"/>
          </a:xfrm>
          <a:prstGeom prst="roundRect">
            <a:avLst>
              <a:gd name="adj" fmla="val 39216"/>
            </a:avLst>
          </a:prstGeom>
          <a:solidFill>
            <a:srgbClr val="3dcd58"/>
          </a:solidFill>
          <a:ln w="12700">
            <a:solidFill>
              <a:srgbClr val="3dcd58"/>
            </a:solidFill>
            <a:round/>
          </a:ln>
        </p:spPr>
        <p:style>
          <a:lnRef idx="0"/>
          <a:fillRef idx="0"/>
          <a:effectRef idx="0"/>
          <a:fontRef idx="minor"/>
        </p:style>
        <p:txBody>
          <a:bodyPr lIns="90000" rIns="90000" tIns="27000" bIns="27000" anchor="t">
            <a:noAutofit/>
          </a:bodyPr>
          <a:p>
            <a:endParaRPr b="0" lang="en-US" sz="1800" strike="noStrike" u="none">
              <a:solidFill>
                <a:srgbClr val="000000"/>
              </a:solidFill>
              <a:effectLst/>
              <a:uFillTx/>
              <a:latin typeface="Arial"/>
            </a:endParaRPr>
          </a:p>
        </p:txBody>
      </p:sp>
      <p:sp>
        <p:nvSpPr>
          <p:cNvPr id="3390" name="Shape 42"/>
          <p:cNvSpPr/>
          <p:nvPr/>
        </p:nvSpPr>
        <p:spPr>
          <a:xfrm>
            <a:off x="621720" y="3154680"/>
            <a:ext cx="411120" cy="822600"/>
          </a:xfrm>
          <a:prstGeom prst="rect">
            <a:avLst/>
          </a:prstGeom>
          <a:solidFill>
            <a:srgbClr val="007a27"/>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391" name="Text 43"/>
          <p:cNvSpPr/>
          <p:nvPr/>
        </p:nvSpPr>
        <p:spPr>
          <a:xfrm>
            <a:off x="685800" y="3200400"/>
            <a:ext cx="282960" cy="73116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COLLECT</a:t>
            </a:r>
            <a:endParaRPr b="0" lang="en-US" sz="750" strike="noStrike" u="none">
              <a:solidFill>
                <a:srgbClr val="000000"/>
              </a:solidFill>
              <a:effectLst/>
              <a:uFillTx/>
              <a:latin typeface="Arial"/>
            </a:endParaRPr>
          </a:p>
        </p:txBody>
      </p:sp>
      <p:sp>
        <p:nvSpPr>
          <p:cNvPr id="3392" name="Shape 44"/>
          <p:cNvSpPr/>
          <p:nvPr/>
        </p:nvSpPr>
        <p:spPr>
          <a:xfrm>
            <a:off x="1033200" y="342900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393" name="Shape 45"/>
          <p:cNvSpPr/>
          <p:nvPr/>
        </p:nvSpPr>
        <p:spPr>
          <a:xfrm>
            <a:off x="1143000" y="318204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394" name="Text 46"/>
          <p:cNvSpPr/>
          <p:nvPr/>
        </p:nvSpPr>
        <p:spPr>
          <a:xfrm>
            <a:off x="1243440" y="314568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Reporting cycles and workspace</a:t>
            </a:r>
            <a:endParaRPr b="0" lang="en-US" sz="950" strike="noStrike" u="none">
              <a:solidFill>
                <a:srgbClr val="000000"/>
              </a:solidFill>
              <a:effectLst/>
              <a:uFillTx/>
              <a:latin typeface="Arial"/>
            </a:endParaRPr>
          </a:p>
        </p:txBody>
      </p:sp>
      <p:sp>
        <p:nvSpPr>
          <p:cNvPr id="3395" name="Shape 47"/>
          <p:cNvSpPr/>
          <p:nvPr/>
        </p:nvSpPr>
        <p:spPr>
          <a:xfrm>
            <a:off x="6499080" y="3245040"/>
            <a:ext cx="1013760" cy="92880"/>
          </a:xfrm>
          <a:prstGeom prst="roundRect">
            <a:avLst>
              <a:gd name="adj" fmla="val 39216"/>
            </a:avLst>
          </a:prstGeom>
          <a:solidFill>
            <a:srgbClr val="007a27"/>
          </a:solidFill>
          <a:ln w="12700">
            <a:solidFill>
              <a:srgbClr val="007a27"/>
            </a:solidFill>
            <a:round/>
          </a:ln>
        </p:spPr>
        <p:style>
          <a:lnRef idx="0"/>
          <a:fillRef idx="0"/>
          <a:effectRef idx="0"/>
          <a:fontRef idx="minor"/>
        </p:style>
        <p:txBody>
          <a:bodyPr lIns="90000" rIns="90000" tIns="27000" bIns="27000" anchor="t">
            <a:noAutofit/>
          </a:bodyPr>
          <a:p>
            <a:endParaRPr b="0" lang="en-US" sz="1800" strike="noStrike" u="none">
              <a:solidFill>
                <a:srgbClr val="ffffff"/>
              </a:solidFill>
              <a:effectLst/>
              <a:uFillTx/>
              <a:latin typeface="Arial"/>
            </a:endParaRPr>
          </a:p>
        </p:txBody>
      </p:sp>
      <p:sp>
        <p:nvSpPr>
          <p:cNvPr id="3396" name="Shape 48"/>
          <p:cNvSpPr/>
          <p:nvPr/>
        </p:nvSpPr>
        <p:spPr>
          <a:xfrm>
            <a:off x="1033200" y="37033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397" name="Shape 49"/>
          <p:cNvSpPr/>
          <p:nvPr/>
        </p:nvSpPr>
        <p:spPr>
          <a:xfrm>
            <a:off x="1143000" y="345636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398" name="Text 50"/>
          <p:cNvSpPr/>
          <p:nvPr/>
        </p:nvSpPr>
        <p:spPr>
          <a:xfrm>
            <a:off x="1243440" y="342000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Governed data collection campaigns</a:t>
            </a:r>
            <a:endParaRPr b="0" lang="en-US" sz="950" strike="noStrike" u="none">
              <a:solidFill>
                <a:srgbClr val="000000"/>
              </a:solidFill>
              <a:effectLst/>
              <a:uFillTx/>
              <a:latin typeface="Arial"/>
            </a:endParaRPr>
          </a:p>
        </p:txBody>
      </p:sp>
      <p:sp>
        <p:nvSpPr>
          <p:cNvPr id="3399" name="Shape 51"/>
          <p:cNvSpPr/>
          <p:nvPr/>
        </p:nvSpPr>
        <p:spPr>
          <a:xfrm>
            <a:off x="6499080" y="3519360"/>
            <a:ext cx="1013760" cy="92880"/>
          </a:xfrm>
          <a:prstGeom prst="roundRect">
            <a:avLst>
              <a:gd name="adj" fmla="val 39216"/>
            </a:avLst>
          </a:prstGeom>
          <a:solidFill>
            <a:srgbClr val="007a27"/>
          </a:solidFill>
          <a:ln w="12700">
            <a:solidFill>
              <a:srgbClr val="007a27"/>
            </a:solidFill>
            <a:round/>
          </a:ln>
        </p:spPr>
        <p:style>
          <a:lnRef idx="0"/>
          <a:fillRef idx="0"/>
          <a:effectRef idx="0"/>
          <a:fontRef idx="minor"/>
        </p:style>
        <p:txBody>
          <a:bodyPr lIns="90000" rIns="90000" tIns="27000" bIns="27000" anchor="t">
            <a:noAutofit/>
          </a:bodyPr>
          <a:p>
            <a:endParaRPr b="0" lang="en-US" sz="1800" strike="noStrike" u="none">
              <a:solidFill>
                <a:srgbClr val="ffffff"/>
              </a:solidFill>
              <a:effectLst/>
              <a:uFillTx/>
              <a:latin typeface="Arial"/>
            </a:endParaRPr>
          </a:p>
        </p:txBody>
      </p:sp>
      <p:sp>
        <p:nvSpPr>
          <p:cNvPr id="3400" name="Shape 52"/>
          <p:cNvSpPr/>
          <p:nvPr/>
        </p:nvSpPr>
        <p:spPr>
          <a:xfrm>
            <a:off x="1033200" y="397764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401" name="Shape 53"/>
          <p:cNvSpPr/>
          <p:nvPr/>
        </p:nvSpPr>
        <p:spPr>
          <a:xfrm>
            <a:off x="1143000" y="373068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402" name="Text 54"/>
          <p:cNvSpPr/>
          <p:nvPr/>
        </p:nvSpPr>
        <p:spPr>
          <a:xfrm>
            <a:off x="1243440" y="36943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Advanced campaign management and analytics</a:t>
            </a:r>
            <a:endParaRPr b="0" lang="en-US" sz="950" strike="noStrike" u="none">
              <a:solidFill>
                <a:srgbClr val="000000"/>
              </a:solidFill>
              <a:effectLst/>
              <a:uFillTx/>
              <a:latin typeface="Arial"/>
            </a:endParaRPr>
          </a:p>
        </p:txBody>
      </p:sp>
      <p:sp>
        <p:nvSpPr>
          <p:cNvPr id="3403" name="Shape 55"/>
          <p:cNvSpPr/>
          <p:nvPr/>
        </p:nvSpPr>
        <p:spPr>
          <a:xfrm>
            <a:off x="7513200" y="3793680"/>
            <a:ext cx="2027880" cy="92880"/>
          </a:xfrm>
          <a:prstGeom prst="roundRect">
            <a:avLst>
              <a:gd name="adj" fmla="val 39216"/>
            </a:avLst>
          </a:prstGeom>
          <a:solidFill>
            <a:srgbClr val="007a27"/>
          </a:solidFill>
          <a:ln w="12700">
            <a:solidFill>
              <a:srgbClr val="007a27"/>
            </a:solidFill>
            <a:round/>
          </a:ln>
        </p:spPr>
        <p:style>
          <a:lnRef idx="0"/>
          <a:fillRef idx="0"/>
          <a:effectRef idx="0"/>
          <a:fontRef idx="minor"/>
        </p:style>
        <p:txBody>
          <a:bodyPr lIns="90000" rIns="90000" tIns="27000" bIns="27000" anchor="t">
            <a:noAutofit/>
          </a:bodyPr>
          <a:p>
            <a:endParaRPr b="0" lang="en-US" sz="1800" strike="noStrike" u="none">
              <a:solidFill>
                <a:srgbClr val="ffffff"/>
              </a:solidFill>
              <a:effectLst/>
              <a:uFillTx/>
              <a:latin typeface="Arial"/>
            </a:endParaRPr>
          </a:p>
        </p:txBody>
      </p:sp>
      <p:sp>
        <p:nvSpPr>
          <p:cNvPr id="3404" name="Shape 56"/>
          <p:cNvSpPr/>
          <p:nvPr/>
        </p:nvSpPr>
        <p:spPr>
          <a:xfrm>
            <a:off x="621720" y="3977640"/>
            <a:ext cx="411120" cy="822600"/>
          </a:xfrm>
          <a:prstGeom prst="rect">
            <a:avLst/>
          </a:prstGeom>
          <a:solidFill>
            <a:srgbClr val="ffb04c"/>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405" name="Text 57"/>
          <p:cNvSpPr/>
          <p:nvPr/>
        </p:nvSpPr>
        <p:spPr>
          <a:xfrm>
            <a:off x="685800" y="4023360"/>
            <a:ext cx="282960" cy="73116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DISCLOSE</a:t>
            </a:r>
            <a:endParaRPr b="0" lang="en-US" sz="750" strike="noStrike" u="none">
              <a:solidFill>
                <a:srgbClr val="000000"/>
              </a:solidFill>
              <a:effectLst/>
              <a:uFillTx/>
              <a:latin typeface="Arial"/>
            </a:endParaRPr>
          </a:p>
        </p:txBody>
      </p:sp>
      <p:sp>
        <p:nvSpPr>
          <p:cNvPr id="3406" name="Shape 58"/>
          <p:cNvSpPr/>
          <p:nvPr/>
        </p:nvSpPr>
        <p:spPr>
          <a:xfrm>
            <a:off x="1033200" y="425196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407" name="Shape 59"/>
          <p:cNvSpPr/>
          <p:nvPr/>
        </p:nvSpPr>
        <p:spPr>
          <a:xfrm>
            <a:off x="1143000" y="400500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408" name="Text 60"/>
          <p:cNvSpPr/>
          <p:nvPr/>
        </p:nvSpPr>
        <p:spPr>
          <a:xfrm>
            <a:off x="1243440" y="396864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Regulated frameworks and templates</a:t>
            </a:r>
            <a:endParaRPr b="0" lang="en-US" sz="950" strike="noStrike" u="none">
              <a:solidFill>
                <a:srgbClr val="000000"/>
              </a:solidFill>
              <a:effectLst/>
              <a:uFillTx/>
              <a:latin typeface="Arial"/>
            </a:endParaRPr>
          </a:p>
        </p:txBody>
      </p:sp>
      <p:sp>
        <p:nvSpPr>
          <p:cNvPr id="3409" name="Shape 61"/>
          <p:cNvSpPr/>
          <p:nvPr/>
        </p:nvSpPr>
        <p:spPr>
          <a:xfrm>
            <a:off x="6499080" y="4068000"/>
            <a:ext cx="1013760" cy="92880"/>
          </a:xfrm>
          <a:prstGeom prst="roundRect">
            <a:avLst>
              <a:gd name="adj" fmla="val 39216"/>
            </a:avLst>
          </a:prstGeom>
          <a:solidFill>
            <a:srgbClr val="ffb04c"/>
          </a:solidFill>
          <a:ln w="12700">
            <a:solidFill>
              <a:srgbClr val="ffb04c"/>
            </a:solidFill>
            <a:round/>
          </a:ln>
        </p:spPr>
        <p:style>
          <a:lnRef idx="0"/>
          <a:fillRef idx="0"/>
          <a:effectRef idx="0"/>
          <a:fontRef idx="minor"/>
        </p:style>
        <p:txBody>
          <a:bodyPr lIns="90000" rIns="90000" tIns="27000" bIns="27000" anchor="t">
            <a:noAutofit/>
          </a:bodyPr>
          <a:p>
            <a:endParaRPr b="0" lang="en-US" sz="1800" strike="noStrike" u="none">
              <a:solidFill>
                <a:srgbClr val="000000"/>
              </a:solidFill>
              <a:effectLst/>
              <a:uFillTx/>
              <a:latin typeface="Arial"/>
            </a:endParaRPr>
          </a:p>
        </p:txBody>
      </p:sp>
      <p:sp>
        <p:nvSpPr>
          <p:cNvPr id="3410" name="Shape 62"/>
          <p:cNvSpPr/>
          <p:nvPr/>
        </p:nvSpPr>
        <p:spPr>
          <a:xfrm>
            <a:off x="1033200" y="45262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411" name="Shape 63"/>
          <p:cNvSpPr/>
          <p:nvPr/>
        </p:nvSpPr>
        <p:spPr>
          <a:xfrm>
            <a:off x="1143000" y="427932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412" name="Text 64"/>
          <p:cNvSpPr/>
          <p:nvPr/>
        </p:nvSpPr>
        <p:spPr>
          <a:xfrm>
            <a:off x="1243440" y="42429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AI drafting and audit ready disclosure</a:t>
            </a:r>
            <a:endParaRPr b="0" lang="en-US" sz="950" strike="noStrike" u="none">
              <a:solidFill>
                <a:srgbClr val="000000"/>
              </a:solidFill>
              <a:effectLst/>
              <a:uFillTx/>
              <a:latin typeface="Arial"/>
            </a:endParaRPr>
          </a:p>
        </p:txBody>
      </p:sp>
      <p:sp>
        <p:nvSpPr>
          <p:cNvPr id="3413" name="Shape 65"/>
          <p:cNvSpPr/>
          <p:nvPr/>
        </p:nvSpPr>
        <p:spPr>
          <a:xfrm>
            <a:off x="7513200" y="4342320"/>
            <a:ext cx="2027880" cy="92880"/>
          </a:xfrm>
          <a:prstGeom prst="roundRect">
            <a:avLst>
              <a:gd name="adj" fmla="val 39216"/>
            </a:avLst>
          </a:prstGeom>
          <a:solidFill>
            <a:srgbClr val="ffb04c"/>
          </a:solidFill>
          <a:ln w="12700">
            <a:solidFill>
              <a:srgbClr val="ffb04c"/>
            </a:solidFill>
            <a:round/>
          </a:ln>
        </p:spPr>
        <p:style>
          <a:lnRef idx="0"/>
          <a:fillRef idx="0"/>
          <a:effectRef idx="0"/>
          <a:fontRef idx="minor"/>
        </p:style>
        <p:txBody>
          <a:bodyPr lIns="90000" rIns="90000" tIns="27000" bIns="27000" anchor="t">
            <a:noAutofit/>
          </a:bodyPr>
          <a:p>
            <a:endParaRPr b="0" lang="en-US" sz="1800" strike="noStrike" u="none">
              <a:solidFill>
                <a:srgbClr val="000000"/>
              </a:solidFill>
              <a:effectLst/>
              <a:uFillTx/>
              <a:latin typeface="Arial"/>
            </a:endParaRPr>
          </a:p>
        </p:txBody>
      </p:sp>
      <p:sp>
        <p:nvSpPr>
          <p:cNvPr id="3414" name="Shape 66"/>
          <p:cNvSpPr/>
          <p:nvPr/>
        </p:nvSpPr>
        <p:spPr>
          <a:xfrm>
            <a:off x="1033200" y="480060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415" name="Shape 67"/>
          <p:cNvSpPr/>
          <p:nvPr/>
        </p:nvSpPr>
        <p:spPr>
          <a:xfrm>
            <a:off x="1143000" y="455364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416" name="Text 68"/>
          <p:cNvSpPr/>
          <p:nvPr/>
        </p:nvSpPr>
        <p:spPr>
          <a:xfrm>
            <a:off x="1243440" y="451728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Voluntary frameworks</a:t>
            </a:r>
            <a:endParaRPr b="0" lang="en-US" sz="950" strike="noStrike" u="none">
              <a:solidFill>
                <a:srgbClr val="000000"/>
              </a:solidFill>
              <a:effectLst/>
              <a:uFillTx/>
              <a:latin typeface="Arial"/>
            </a:endParaRPr>
          </a:p>
        </p:txBody>
      </p:sp>
      <p:sp>
        <p:nvSpPr>
          <p:cNvPr id="3417" name="Shape 69"/>
          <p:cNvSpPr/>
          <p:nvPr/>
        </p:nvSpPr>
        <p:spPr>
          <a:xfrm>
            <a:off x="9541440" y="4616640"/>
            <a:ext cx="2027880" cy="92880"/>
          </a:xfrm>
          <a:prstGeom prst="roundRect">
            <a:avLst>
              <a:gd name="adj" fmla="val 39216"/>
            </a:avLst>
          </a:prstGeom>
          <a:solidFill>
            <a:srgbClr val="ffb04c"/>
          </a:solidFill>
          <a:ln w="12700">
            <a:solidFill>
              <a:srgbClr val="ffb04c"/>
            </a:solidFill>
            <a:round/>
          </a:ln>
        </p:spPr>
        <p:style>
          <a:lnRef idx="0"/>
          <a:fillRef idx="0"/>
          <a:effectRef idx="0"/>
          <a:fontRef idx="minor"/>
        </p:style>
        <p:txBody>
          <a:bodyPr lIns="90000" rIns="90000" tIns="27000" bIns="27000" anchor="t">
            <a:noAutofit/>
          </a:bodyPr>
          <a:p>
            <a:endParaRPr b="0" lang="en-US" sz="1800" strike="noStrike" u="none">
              <a:solidFill>
                <a:srgbClr val="000000"/>
              </a:solidFill>
              <a:effectLst/>
              <a:uFillTx/>
              <a:latin typeface="Arial"/>
            </a:endParaRPr>
          </a:p>
        </p:txBody>
      </p:sp>
      <p:sp>
        <p:nvSpPr>
          <p:cNvPr id="3418" name="Shape 70"/>
          <p:cNvSpPr/>
          <p:nvPr/>
        </p:nvSpPr>
        <p:spPr>
          <a:xfrm>
            <a:off x="621720" y="4800600"/>
            <a:ext cx="411120" cy="1096920"/>
          </a:xfrm>
          <a:prstGeom prst="rect">
            <a:avLst/>
          </a:prstGeom>
          <a:solidFill>
            <a:srgbClr val="275b7f"/>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419" name="Text 71"/>
          <p:cNvSpPr/>
          <p:nvPr/>
        </p:nvSpPr>
        <p:spPr>
          <a:xfrm>
            <a:off x="685800" y="4846320"/>
            <a:ext cx="282960" cy="100548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ASSURANCE</a:t>
            </a:r>
            <a:endParaRPr b="0" lang="en-US" sz="750" strike="noStrike" u="none">
              <a:solidFill>
                <a:srgbClr val="000000"/>
              </a:solidFill>
              <a:effectLst/>
              <a:uFillTx/>
              <a:latin typeface="Arial"/>
            </a:endParaRPr>
          </a:p>
        </p:txBody>
      </p:sp>
      <p:sp>
        <p:nvSpPr>
          <p:cNvPr id="3420" name="Shape 72"/>
          <p:cNvSpPr/>
          <p:nvPr/>
        </p:nvSpPr>
        <p:spPr>
          <a:xfrm>
            <a:off x="1033200" y="50749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421" name="Shape 73"/>
          <p:cNvSpPr/>
          <p:nvPr/>
        </p:nvSpPr>
        <p:spPr>
          <a:xfrm>
            <a:off x="1143000" y="4827960"/>
            <a:ext cx="45360" cy="219240"/>
          </a:xfrm>
          <a:prstGeom prst="roundRect">
            <a:avLst>
              <a:gd name="adj" fmla="val 60000"/>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422" name="Text 74"/>
          <p:cNvSpPr/>
          <p:nvPr/>
        </p:nvSpPr>
        <p:spPr>
          <a:xfrm>
            <a:off x="1243440" y="479160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Q1: SE migration and CSRD cycle in RA+</a:t>
            </a:r>
            <a:endParaRPr b="0" lang="en-US" sz="950" strike="noStrike" u="none">
              <a:solidFill>
                <a:srgbClr val="000000"/>
              </a:solidFill>
              <a:effectLst/>
              <a:uFillTx/>
              <a:latin typeface="Arial"/>
            </a:endParaRPr>
          </a:p>
        </p:txBody>
      </p:sp>
      <p:sp>
        <p:nvSpPr>
          <p:cNvPr id="3423" name="Shape 75"/>
          <p:cNvSpPr/>
          <p:nvPr/>
        </p:nvSpPr>
        <p:spPr>
          <a:xfrm>
            <a:off x="7513200" y="4890960"/>
            <a:ext cx="1013760" cy="92880"/>
          </a:xfrm>
          <a:prstGeom prst="roundRect">
            <a:avLst>
              <a:gd name="adj" fmla="val 39216"/>
            </a:avLst>
          </a:prstGeom>
          <a:solidFill>
            <a:srgbClr val="275b7f"/>
          </a:solidFill>
          <a:ln w="12700">
            <a:solidFill>
              <a:srgbClr val="275b7f"/>
            </a:solidFill>
            <a:round/>
          </a:ln>
        </p:spPr>
        <p:style>
          <a:lnRef idx="0"/>
          <a:fillRef idx="0"/>
          <a:effectRef idx="0"/>
          <a:fontRef idx="minor"/>
        </p:style>
        <p:txBody>
          <a:bodyPr lIns="90000" rIns="90000" tIns="27000" bIns="27000" anchor="t">
            <a:noAutofit/>
          </a:bodyPr>
          <a:p>
            <a:endParaRPr b="0" lang="en-US" sz="1800" strike="noStrike" u="none">
              <a:solidFill>
                <a:srgbClr val="ffffff"/>
              </a:solidFill>
              <a:effectLst/>
              <a:uFillTx/>
              <a:latin typeface="Arial"/>
            </a:endParaRPr>
          </a:p>
        </p:txBody>
      </p:sp>
      <p:sp>
        <p:nvSpPr>
          <p:cNvPr id="3424" name="Shape 76"/>
          <p:cNvSpPr/>
          <p:nvPr/>
        </p:nvSpPr>
        <p:spPr>
          <a:xfrm>
            <a:off x="1033200" y="534924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425" name="Shape 77"/>
          <p:cNvSpPr/>
          <p:nvPr/>
        </p:nvSpPr>
        <p:spPr>
          <a:xfrm>
            <a:off x="1143000" y="5102280"/>
            <a:ext cx="45360" cy="219240"/>
          </a:xfrm>
          <a:prstGeom prst="roundRect">
            <a:avLst>
              <a:gd name="adj" fmla="val 60000"/>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426" name="Text 78"/>
          <p:cNvSpPr/>
          <p:nvPr/>
        </p:nvSpPr>
        <p:spPr>
          <a:xfrm>
            <a:off x="1243440" y="50659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AI compliance intelligence</a:t>
            </a:r>
            <a:endParaRPr b="0" lang="en-US" sz="950" strike="noStrike" u="none">
              <a:solidFill>
                <a:srgbClr val="000000"/>
              </a:solidFill>
              <a:effectLst/>
              <a:uFillTx/>
              <a:latin typeface="Arial"/>
            </a:endParaRPr>
          </a:p>
        </p:txBody>
      </p:sp>
      <p:sp>
        <p:nvSpPr>
          <p:cNvPr id="3427" name="Shape 79"/>
          <p:cNvSpPr/>
          <p:nvPr/>
        </p:nvSpPr>
        <p:spPr>
          <a:xfrm>
            <a:off x="9541440" y="5165280"/>
            <a:ext cx="2027880" cy="92880"/>
          </a:xfrm>
          <a:prstGeom prst="roundRect">
            <a:avLst>
              <a:gd name="adj" fmla="val 39216"/>
            </a:avLst>
          </a:prstGeom>
          <a:solidFill>
            <a:srgbClr val="275b7f"/>
          </a:solidFill>
          <a:ln w="12700">
            <a:solidFill>
              <a:srgbClr val="275b7f"/>
            </a:solidFill>
            <a:round/>
          </a:ln>
        </p:spPr>
        <p:style>
          <a:lnRef idx="0"/>
          <a:fillRef idx="0"/>
          <a:effectRef idx="0"/>
          <a:fontRef idx="minor"/>
        </p:style>
        <p:txBody>
          <a:bodyPr lIns="90000" rIns="90000" tIns="27000" bIns="27000" anchor="t">
            <a:noAutofit/>
          </a:bodyPr>
          <a:p>
            <a:endParaRPr b="0" lang="en-US" sz="1800" strike="noStrike" u="none">
              <a:solidFill>
                <a:srgbClr val="ffffff"/>
              </a:solidFill>
              <a:effectLst/>
              <a:uFillTx/>
              <a:latin typeface="Arial"/>
            </a:endParaRPr>
          </a:p>
        </p:txBody>
      </p:sp>
      <p:sp>
        <p:nvSpPr>
          <p:cNvPr id="3428" name="Shape 80"/>
          <p:cNvSpPr/>
          <p:nvPr/>
        </p:nvSpPr>
        <p:spPr>
          <a:xfrm>
            <a:off x="1033200" y="562356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429" name="Shape 81"/>
          <p:cNvSpPr/>
          <p:nvPr/>
        </p:nvSpPr>
        <p:spPr>
          <a:xfrm>
            <a:off x="1143000" y="5376600"/>
            <a:ext cx="45360" cy="219240"/>
          </a:xfrm>
          <a:prstGeom prst="roundRect">
            <a:avLst>
              <a:gd name="adj" fmla="val 60000"/>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430" name="Text 82"/>
          <p:cNvSpPr/>
          <p:nvPr/>
        </p:nvSpPr>
        <p:spPr>
          <a:xfrm>
            <a:off x="1243440" y="534024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External assurance and auditor experience</a:t>
            </a:r>
            <a:endParaRPr b="0" lang="en-US" sz="950" strike="noStrike" u="none">
              <a:solidFill>
                <a:srgbClr val="000000"/>
              </a:solidFill>
              <a:effectLst/>
              <a:uFillTx/>
              <a:latin typeface="Arial"/>
            </a:endParaRPr>
          </a:p>
        </p:txBody>
      </p:sp>
      <p:sp>
        <p:nvSpPr>
          <p:cNvPr id="3431" name="Shape 83"/>
          <p:cNvSpPr/>
          <p:nvPr/>
        </p:nvSpPr>
        <p:spPr>
          <a:xfrm>
            <a:off x="9541440" y="5439600"/>
            <a:ext cx="2027880" cy="92880"/>
          </a:xfrm>
          <a:prstGeom prst="roundRect">
            <a:avLst>
              <a:gd name="adj" fmla="val 39216"/>
            </a:avLst>
          </a:prstGeom>
          <a:solidFill>
            <a:srgbClr val="275b7f"/>
          </a:solidFill>
          <a:ln w="12700">
            <a:solidFill>
              <a:srgbClr val="275b7f"/>
            </a:solidFill>
            <a:round/>
          </a:ln>
        </p:spPr>
        <p:style>
          <a:lnRef idx="0"/>
          <a:fillRef idx="0"/>
          <a:effectRef idx="0"/>
          <a:fontRef idx="minor"/>
        </p:style>
        <p:txBody>
          <a:bodyPr lIns="90000" rIns="90000" tIns="27000" bIns="27000" anchor="t">
            <a:noAutofit/>
          </a:bodyPr>
          <a:p>
            <a:endParaRPr b="0" lang="en-US" sz="1800" strike="noStrike" u="none">
              <a:solidFill>
                <a:srgbClr val="ffffff"/>
              </a:solidFill>
              <a:effectLst/>
              <a:uFillTx/>
              <a:latin typeface="Arial"/>
            </a:endParaRPr>
          </a:p>
        </p:txBody>
      </p:sp>
      <p:sp>
        <p:nvSpPr>
          <p:cNvPr id="3432" name="Shape 84"/>
          <p:cNvSpPr/>
          <p:nvPr/>
        </p:nvSpPr>
        <p:spPr>
          <a:xfrm>
            <a:off x="1033200" y="58978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433" name="Shape 85"/>
          <p:cNvSpPr/>
          <p:nvPr/>
        </p:nvSpPr>
        <p:spPr>
          <a:xfrm>
            <a:off x="1143000" y="5650920"/>
            <a:ext cx="45360" cy="219240"/>
          </a:xfrm>
          <a:prstGeom prst="roundRect">
            <a:avLst>
              <a:gd name="adj" fmla="val 60000"/>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434" name="Text 86"/>
          <p:cNvSpPr/>
          <p:nvPr/>
        </p:nvSpPr>
        <p:spPr>
          <a:xfrm>
            <a:off x="1243440" y="56145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CP and Climate Risk disclosure feeds</a:t>
            </a:r>
            <a:endParaRPr b="0" lang="en-US" sz="950" strike="noStrike" u="none">
              <a:solidFill>
                <a:srgbClr val="000000"/>
              </a:solidFill>
              <a:effectLst/>
              <a:uFillTx/>
              <a:latin typeface="Arial"/>
            </a:endParaRPr>
          </a:p>
        </p:txBody>
      </p:sp>
      <p:sp>
        <p:nvSpPr>
          <p:cNvPr id="3435" name="Shape 87"/>
          <p:cNvSpPr/>
          <p:nvPr/>
        </p:nvSpPr>
        <p:spPr>
          <a:xfrm>
            <a:off x="9541440" y="5713920"/>
            <a:ext cx="2027880" cy="92880"/>
          </a:xfrm>
          <a:prstGeom prst="roundRect">
            <a:avLst>
              <a:gd name="adj" fmla="val 39216"/>
            </a:avLst>
          </a:prstGeom>
          <a:solidFill>
            <a:srgbClr val="275b7f"/>
          </a:solidFill>
          <a:ln w="12700">
            <a:solidFill>
              <a:srgbClr val="275b7f"/>
            </a:solidFill>
            <a:round/>
          </a:ln>
        </p:spPr>
        <p:style>
          <a:lnRef idx="0"/>
          <a:fillRef idx="0"/>
          <a:effectRef idx="0"/>
          <a:fontRef idx="minor"/>
        </p:style>
        <p:txBody>
          <a:bodyPr lIns="90000" rIns="90000" tIns="27000" bIns="27000" anchor="t">
            <a:noAutofit/>
          </a:bodyPr>
          <a:p>
            <a:endParaRPr b="0" lang="en-US" sz="1800" strike="noStrike" u="none">
              <a:solidFill>
                <a:srgbClr val="ffffff"/>
              </a:solidFill>
              <a:effectLst/>
              <a:uFillTx/>
              <a:latin typeface="Arial"/>
            </a:endParaRPr>
          </a:p>
        </p:txBody>
      </p:sp>
      <p:sp>
        <p:nvSpPr>
          <p:cNvPr id="3436" name="Shape 88"/>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437" name="Text 89"/>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3438" name="Text 90"/>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3439" name="PlaceHolder 1"/>
          <p:cNvSpPr>
            <a:spLocks noGrp="1"/>
          </p:cNvSpPr>
          <p:nvPr>
            <p:ph type="sldNum" idx="75"/>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D370CEAE-37E6-4CD7-A03B-B5632E95C8A1}"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8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440"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3441"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3442" name="Shape 2"/>
          <p:cNvSpPr/>
          <p:nvPr/>
        </p:nvSpPr>
        <p:spPr>
          <a:xfrm>
            <a:off x="621720" y="311040"/>
            <a:ext cx="176436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443" name="Text 3"/>
          <p:cNvSpPr/>
          <p:nvPr/>
        </p:nvSpPr>
        <p:spPr>
          <a:xfrm>
            <a:off x="804600" y="329040"/>
            <a:ext cx="143532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RA+ PLATFORM</a:t>
            </a:r>
            <a:endParaRPr b="0" lang="en-US" sz="950" strike="noStrike" u="none">
              <a:solidFill>
                <a:srgbClr val="000000"/>
              </a:solidFill>
              <a:effectLst/>
              <a:uFillTx/>
              <a:latin typeface="Arial"/>
            </a:endParaRPr>
          </a:p>
        </p:txBody>
      </p:sp>
      <p:sp>
        <p:nvSpPr>
          <p:cNvPr id="3444" name="Text 4"/>
          <p:cNvSpPr/>
          <p:nvPr/>
        </p:nvSpPr>
        <p:spPr>
          <a:xfrm>
            <a:off x="621720" y="768240"/>
            <a:ext cx="10947600" cy="804240"/>
          </a:xfrm>
          <a:prstGeom prst="rect">
            <a:avLst/>
          </a:prstGeom>
          <a:noFill/>
          <a:ln w="0">
            <a:noFill/>
          </a:ln>
        </p:spPr>
        <p:style>
          <a:lnRef idx="0"/>
          <a:fillRef idx="0"/>
          <a:effectRef idx="0"/>
          <a:fontRef idx="minor"/>
        </p:style>
        <p:txBody>
          <a:bodyPr lIns="0" rIns="0" tIns="0" bIns="0" anchor="t">
            <a:normAutofit lnSpcReduction="9999"/>
          </a:bodyPr>
          <a:p>
            <a:pPr defTabSz="914400">
              <a:lnSpc>
                <a:spcPct val="100000"/>
              </a:lnSpc>
              <a:tabLst>
                <a:tab algn="l" pos="0"/>
              </a:tabLst>
            </a:pPr>
            <a:r>
              <a:rPr b="1" lang="en-US" sz="2800" strike="noStrike" u="none">
                <a:solidFill>
                  <a:srgbClr val="1e2420"/>
                </a:solidFill>
                <a:effectLst/>
                <a:uFillTx/>
                <a:latin typeface="Calibri"/>
                <a:ea typeface="Calibri"/>
              </a:rPr>
              <a:t>Core platform foundations: configure, collect, disclose end to end</a:t>
            </a:r>
            <a:endParaRPr b="0" lang="en-US" sz="2800" strike="noStrike" u="none">
              <a:solidFill>
                <a:srgbClr val="000000"/>
              </a:solidFill>
              <a:effectLst/>
              <a:uFillTx/>
              <a:latin typeface="Arial"/>
            </a:endParaRPr>
          </a:p>
        </p:txBody>
      </p:sp>
      <p:sp>
        <p:nvSpPr>
          <p:cNvPr id="3445" name="Text 5"/>
          <p:cNvSpPr/>
          <p:nvPr/>
        </p:nvSpPr>
        <p:spPr>
          <a:xfrm>
            <a:off x="621720" y="15728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Built once in the core, consumed by every product on top.</a:t>
            </a:r>
            <a:endParaRPr b="0" lang="en-US" sz="1250" strike="noStrike" u="none">
              <a:solidFill>
                <a:srgbClr val="000000"/>
              </a:solidFill>
              <a:effectLst/>
              <a:uFillTx/>
              <a:latin typeface="Arial"/>
            </a:endParaRPr>
          </a:p>
        </p:txBody>
      </p:sp>
      <p:sp>
        <p:nvSpPr>
          <p:cNvPr id="3446"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447" name="Shape 7"/>
          <p:cNvSpPr/>
          <p:nvPr/>
        </p:nvSpPr>
        <p:spPr>
          <a:xfrm>
            <a:off x="62172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448" name="Shape 8"/>
          <p:cNvSpPr/>
          <p:nvPr/>
        </p:nvSpPr>
        <p:spPr>
          <a:xfrm>
            <a:off x="621720" y="2084760"/>
            <a:ext cx="346608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3449" name="Text 9"/>
          <p:cNvSpPr/>
          <p:nvPr/>
        </p:nvSpPr>
        <p:spPr>
          <a:xfrm>
            <a:off x="82296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STEP 1</a:t>
            </a:r>
            <a:endParaRPr b="0" lang="en-US" sz="900" strike="noStrike" u="none">
              <a:solidFill>
                <a:srgbClr val="000000"/>
              </a:solidFill>
              <a:effectLst/>
              <a:uFillTx/>
              <a:latin typeface="Arial"/>
            </a:endParaRPr>
          </a:p>
        </p:txBody>
      </p:sp>
      <p:sp>
        <p:nvSpPr>
          <p:cNvPr id="3450" name="Text 10"/>
          <p:cNvSpPr/>
          <p:nvPr/>
        </p:nvSpPr>
        <p:spPr>
          <a:xfrm>
            <a:off x="82296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Configure</a:t>
            </a:r>
            <a:endParaRPr b="0" lang="en-US" sz="1600" strike="noStrike" u="none">
              <a:solidFill>
                <a:srgbClr val="000000"/>
              </a:solidFill>
              <a:effectLst/>
              <a:uFillTx/>
              <a:latin typeface="Arial"/>
            </a:endParaRPr>
          </a:p>
        </p:txBody>
      </p:sp>
      <p:sp>
        <p:nvSpPr>
          <p:cNvPr id="3451" name="Text 11"/>
          <p:cNvSpPr/>
          <p:nvPr/>
        </p:nvSpPr>
        <p:spPr>
          <a:xfrm>
            <a:off x="80460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Set the structure once.</a:t>
            </a:r>
            <a:endParaRPr b="0" lang="en-US" sz="1100" strike="noStrike" u="none">
              <a:solidFill>
                <a:srgbClr val="000000"/>
              </a:solidFill>
              <a:effectLst/>
              <a:uFillTx/>
              <a:latin typeface="Arial"/>
            </a:endParaRPr>
          </a:p>
        </p:txBody>
      </p:sp>
      <p:sp>
        <p:nvSpPr>
          <p:cNvPr id="3452" name="Text 12"/>
          <p:cNvSpPr/>
          <p:nvPr/>
        </p:nvSpPr>
        <p:spPr>
          <a:xfrm>
            <a:off x="822960" y="3776400"/>
            <a:ext cx="310032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Shared hierarchy and emission factors, owned by the core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Config engine, calc methods and templates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Framework and disclosure definitions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Approval hierarchies and bulk assignment</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Permissions, roles and workspace setup</a:t>
            </a:r>
            <a:endParaRPr b="0" lang="en-US" sz="1100" strike="noStrike" u="none">
              <a:solidFill>
                <a:srgbClr val="000000"/>
              </a:solidFill>
              <a:effectLst/>
              <a:uFillTx/>
              <a:latin typeface="Arial"/>
            </a:endParaRPr>
          </a:p>
        </p:txBody>
      </p:sp>
      <p:sp>
        <p:nvSpPr>
          <p:cNvPr id="3453" name="Shape 13"/>
          <p:cNvSpPr/>
          <p:nvPr/>
        </p:nvSpPr>
        <p:spPr>
          <a:xfrm>
            <a:off x="436248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454" name="Shape 14"/>
          <p:cNvSpPr/>
          <p:nvPr/>
        </p:nvSpPr>
        <p:spPr>
          <a:xfrm>
            <a:off x="4362480" y="2084760"/>
            <a:ext cx="346608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3455" name="Text 15"/>
          <p:cNvSpPr/>
          <p:nvPr/>
        </p:nvSpPr>
        <p:spPr>
          <a:xfrm>
            <a:off x="456372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STEP 2</a:t>
            </a:r>
            <a:endParaRPr b="0" lang="en-US" sz="900" strike="noStrike" u="none">
              <a:solidFill>
                <a:srgbClr val="000000"/>
              </a:solidFill>
              <a:effectLst/>
              <a:uFillTx/>
              <a:latin typeface="Arial"/>
            </a:endParaRPr>
          </a:p>
        </p:txBody>
      </p:sp>
      <p:sp>
        <p:nvSpPr>
          <p:cNvPr id="3456" name="Text 16"/>
          <p:cNvSpPr/>
          <p:nvPr/>
        </p:nvSpPr>
        <p:spPr>
          <a:xfrm>
            <a:off x="456372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Collect</a:t>
            </a:r>
            <a:endParaRPr b="0" lang="en-US" sz="1600" strike="noStrike" u="none">
              <a:solidFill>
                <a:srgbClr val="000000"/>
              </a:solidFill>
              <a:effectLst/>
              <a:uFillTx/>
              <a:latin typeface="Arial"/>
            </a:endParaRPr>
          </a:p>
        </p:txBody>
      </p:sp>
      <p:sp>
        <p:nvSpPr>
          <p:cNvPr id="3457" name="Text 17"/>
          <p:cNvSpPr/>
          <p:nvPr/>
        </p:nvSpPr>
        <p:spPr>
          <a:xfrm>
            <a:off x="454536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Get the data in, governed.</a:t>
            </a:r>
            <a:endParaRPr b="0" lang="en-US" sz="1100" strike="noStrike" u="none">
              <a:solidFill>
                <a:srgbClr val="000000"/>
              </a:solidFill>
              <a:effectLst/>
              <a:uFillTx/>
              <a:latin typeface="Arial"/>
            </a:endParaRPr>
          </a:p>
        </p:txBody>
      </p:sp>
      <p:sp>
        <p:nvSpPr>
          <p:cNvPr id="3458" name="Text 18"/>
          <p:cNvSpPr/>
          <p:nvPr/>
        </p:nvSpPr>
        <p:spPr>
          <a:xfrm>
            <a:off x="4563720" y="3776400"/>
            <a:ext cx="310032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Advanced data ingestion and transformation rules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Governed data collection campaigns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Reporting cycles and reporting workspace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Data quality assurance and validation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Bulk uploads, integrations and connectors</a:t>
            </a:r>
            <a:endParaRPr b="0" lang="en-US" sz="1100" strike="noStrike" u="none">
              <a:solidFill>
                <a:srgbClr val="000000"/>
              </a:solidFill>
              <a:effectLst/>
              <a:uFillTx/>
              <a:latin typeface="Arial"/>
            </a:endParaRPr>
          </a:p>
        </p:txBody>
      </p:sp>
      <p:sp>
        <p:nvSpPr>
          <p:cNvPr id="3459" name="Shape 19"/>
          <p:cNvSpPr/>
          <p:nvPr/>
        </p:nvSpPr>
        <p:spPr>
          <a:xfrm>
            <a:off x="810324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460" name="Shape 20"/>
          <p:cNvSpPr/>
          <p:nvPr/>
        </p:nvSpPr>
        <p:spPr>
          <a:xfrm>
            <a:off x="8103240" y="2084760"/>
            <a:ext cx="346608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3461" name="Text 21"/>
          <p:cNvSpPr/>
          <p:nvPr/>
        </p:nvSpPr>
        <p:spPr>
          <a:xfrm>
            <a:off x="830448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STEP 3</a:t>
            </a:r>
            <a:endParaRPr b="0" lang="en-US" sz="900" strike="noStrike" u="none">
              <a:solidFill>
                <a:srgbClr val="000000"/>
              </a:solidFill>
              <a:effectLst/>
              <a:uFillTx/>
              <a:latin typeface="Arial"/>
            </a:endParaRPr>
          </a:p>
        </p:txBody>
      </p:sp>
      <p:sp>
        <p:nvSpPr>
          <p:cNvPr id="3462" name="Text 22"/>
          <p:cNvSpPr/>
          <p:nvPr/>
        </p:nvSpPr>
        <p:spPr>
          <a:xfrm>
            <a:off x="830448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Disclose</a:t>
            </a:r>
            <a:endParaRPr b="0" lang="en-US" sz="1600" strike="noStrike" u="none">
              <a:solidFill>
                <a:srgbClr val="000000"/>
              </a:solidFill>
              <a:effectLst/>
              <a:uFillTx/>
              <a:latin typeface="Arial"/>
            </a:endParaRPr>
          </a:p>
        </p:txBody>
      </p:sp>
      <p:sp>
        <p:nvSpPr>
          <p:cNvPr id="3463" name="Text 23"/>
          <p:cNvSpPr/>
          <p:nvPr/>
        </p:nvSpPr>
        <p:spPr>
          <a:xfrm>
            <a:off x="828612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Produce the output, audit ready.</a:t>
            </a:r>
            <a:endParaRPr b="0" lang="en-US" sz="1100" strike="noStrike" u="none">
              <a:solidFill>
                <a:srgbClr val="000000"/>
              </a:solidFill>
              <a:effectLst/>
              <a:uFillTx/>
              <a:latin typeface="Arial"/>
            </a:endParaRPr>
          </a:p>
        </p:txBody>
      </p:sp>
      <p:sp>
        <p:nvSpPr>
          <p:cNvPr id="3464" name="Text 24"/>
          <p:cNvSpPr/>
          <p:nvPr/>
        </p:nvSpPr>
        <p:spPr>
          <a:xfrm>
            <a:off x="8304480" y="3776400"/>
            <a:ext cx="310032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Disclosure management on the shared indicator library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Full traceability from disclosure back to source data</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Evidence and audit trail by design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Regulated framework output: CSRD, ESRS, IFRS S1 and S2</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Every product consumes the same foundation</a:t>
            </a:r>
            <a:endParaRPr b="0" lang="en-US" sz="1100" strike="noStrike" u="none">
              <a:solidFill>
                <a:srgbClr val="000000"/>
              </a:solidFill>
              <a:effectLst/>
              <a:uFillTx/>
              <a:latin typeface="Arial"/>
            </a:endParaRPr>
          </a:p>
        </p:txBody>
      </p:sp>
      <p:sp>
        <p:nvSpPr>
          <p:cNvPr id="3465" name="Shape 25"/>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466" name="Text 26"/>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3467" name="Text 27"/>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3468" name="PlaceHolder 1"/>
          <p:cNvSpPr>
            <a:spLocks noGrp="1"/>
          </p:cNvSpPr>
          <p:nvPr>
            <p:ph type="sldNum" idx="76"/>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5EDD3B5F-FC5E-48B5-84CF-34F07121A900}"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8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469"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3470"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3471" name="Shape 2"/>
          <p:cNvSpPr/>
          <p:nvPr/>
        </p:nvSpPr>
        <p:spPr>
          <a:xfrm>
            <a:off x="621720" y="311040"/>
            <a:ext cx="250056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472" name="Text 3"/>
          <p:cNvSpPr/>
          <p:nvPr/>
        </p:nvSpPr>
        <p:spPr>
          <a:xfrm>
            <a:off x="804600" y="329040"/>
            <a:ext cx="217152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RA+ SHARED PLATFORM</a:t>
            </a:r>
            <a:endParaRPr b="0" lang="en-US" sz="950" strike="noStrike" u="none">
              <a:solidFill>
                <a:srgbClr val="000000"/>
              </a:solidFill>
              <a:effectLst/>
              <a:uFillTx/>
              <a:latin typeface="Arial"/>
            </a:endParaRPr>
          </a:p>
        </p:txBody>
      </p:sp>
      <p:sp>
        <p:nvSpPr>
          <p:cNvPr id="3473"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fontScale="92500" lnSpcReduction="9999"/>
          </a:bodyPr>
          <a:p>
            <a:pPr defTabSz="914400">
              <a:lnSpc>
                <a:spcPct val="100000"/>
              </a:lnSpc>
              <a:tabLst>
                <a:tab algn="l" pos="0"/>
              </a:tabLst>
            </a:pPr>
            <a:r>
              <a:rPr b="1" lang="en-US" sz="3200" strike="noStrike" u="none">
                <a:solidFill>
                  <a:srgbClr val="1e2420"/>
                </a:solidFill>
                <a:effectLst/>
                <a:uFillTx/>
                <a:latin typeface="Calibri"/>
                <a:ea typeface="Calibri"/>
              </a:rPr>
              <a:t>One hierarchy. One user workflow. One analytics engine.</a:t>
            </a:r>
            <a:endParaRPr b="0" lang="en-US" sz="3200" strike="noStrike" u="none">
              <a:solidFill>
                <a:srgbClr val="000000"/>
              </a:solidFill>
              <a:effectLst/>
              <a:uFillTx/>
              <a:latin typeface="Arial"/>
            </a:endParaRPr>
          </a:p>
        </p:txBody>
      </p:sp>
      <p:sp>
        <p:nvSpPr>
          <p:cNvPr id="3474"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Built once in the shared platform, inherited by every sustainability and energy product.</a:t>
            </a:r>
            <a:endParaRPr b="0" lang="en-US" sz="1250" strike="noStrike" u="none">
              <a:solidFill>
                <a:srgbClr val="000000"/>
              </a:solidFill>
              <a:effectLst/>
              <a:uFillTx/>
              <a:latin typeface="Arial"/>
            </a:endParaRPr>
          </a:p>
        </p:txBody>
      </p:sp>
      <p:sp>
        <p:nvSpPr>
          <p:cNvPr id="3475"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476" name="Shape 7"/>
          <p:cNvSpPr/>
          <p:nvPr/>
        </p:nvSpPr>
        <p:spPr>
          <a:xfrm>
            <a:off x="62172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477" name="Shape 8"/>
          <p:cNvSpPr/>
          <p:nvPr/>
        </p:nvSpPr>
        <p:spPr>
          <a:xfrm>
            <a:off x="621720" y="2084760"/>
            <a:ext cx="346608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3478" name="Text 9"/>
          <p:cNvSpPr/>
          <p:nvPr/>
        </p:nvSpPr>
        <p:spPr>
          <a:xfrm>
            <a:off x="82296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SHARED STRUCTURE</a:t>
            </a:r>
            <a:endParaRPr b="0" lang="en-US" sz="900" strike="noStrike" u="none">
              <a:solidFill>
                <a:srgbClr val="000000"/>
              </a:solidFill>
              <a:effectLst/>
              <a:uFillTx/>
              <a:latin typeface="Arial"/>
            </a:endParaRPr>
          </a:p>
        </p:txBody>
      </p:sp>
      <p:sp>
        <p:nvSpPr>
          <p:cNvPr id="3479" name="Text 10"/>
          <p:cNvSpPr/>
          <p:nvPr/>
        </p:nvSpPr>
        <p:spPr>
          <a:xfrm>
            <a:off x="82296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Hierarchy</a:t>
            </a:r>
            <a:endParaRPr b="0" lang="en-US" sz="1600" strike="noStrike" u="none">
              <a:solidFill>
                <a:srgbClr val="000000"/>
              </a:solidFill>
              <a:effectLst/>
              <a:uFillTx/>
              <a:latin typeface="Arial"/>
            </a:endParaRPr>
          </a:p>
        </p:txBody>
      </p:sp>
      <p:sp>
        <p:nvSpPr>
          <p:cNvPr id="3480" name="Text 11"/>
          <p:cNvSpPr/>
          <p:nvPr/>
        </p:nvSpPr>
        <p:spPr>
          <a:xfrm>
            <a:off x="80460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Organise once, inherit everywhere.</a:t>
            </a:r>
            <a:endParaRPr b="0" lang="en-US" sz="1100" strike="noStrike" u="none">
              <a:solidFill>
                <a:srgbClr val="000000"/>
              </a:solidFill>
              <a:effectLst/>
              <a:uFillTx/>
              <a:latin typeface="Arial"/>
            </a:endParaRPr>
          </a:p>
        </p:txBody>
      </p:sp>
      <p:sp>
        <p:nvSpPr>
          <p:cNvPr id="3481" name="Text 12"/>
          <p:cNvSpPr/>
          <p:nvPr/>
        </p:nvSpPr>
        <p:spPr>
          <a:xfrm>
            <a:off x="822960" y="3776400"/>
            <a:ext cx="310032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Entity, site, asset, supplier and product relationships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Organisational boundaries and multi-hierarchy views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Role-based access aligned to operating responsibility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Consistent allocation across carbon, energy, risk and disclosure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One trusted structure for every reporting cycle</a:t>
            </a:r>
            <a:endParaRPr b="0" lang="en-US" sz="1100" strike="noStrike" u="none">
              <a:solidFill>
                <a:srgbClr val="000000"/>
              </a:solidFill>
              <a:effectLst/>
              <a:uFillTx/>
              <a:latin typeface="Arial"/>
            </a:endParaRPr>
          </a:p>
        </p:txBody>
      </p:sp>
      <p:sp>
        <p:nvSpPr>
          <p:cNvPr id="3482" name="Shape 13"/>
          <p:cNvSpPr/>
          <p:nvPr/>
        </p:nvSpPr>
        <p:spPr>
          <a:xfrm>
            <a:off x="436248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483" name="Shape 14"/>
          <p:cNvSpPr/>
          <p:nvPr/>
        </p:nvSpPr>
        <p:spPr>
          <a:xfrm>
            <a:off x="4362480" y="2084760"/>
            <a:ext cx="346608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3484" name="Text 15"/>
          <p:cNvSpPr/>
          <p:nvPr/>
        </p:nvSpPr>
        <p:spPr>
          <a:xfrm>
            <a:off x="456372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SHARED EXPERIENCE</a:t>
            </a:r>
            <a:endParaRPr b="0" lang="en-US" sz="900" strike="noStrike" u="none">
              <a:solidFill>
                <a:srgbClr val="000000"/>
              </a:solidFill>
              <a:effectLst/>
              <a:uFillTx/>
              <a:latin typeface="Arial"/>
            </a:endParaRPr>
          </a:p>
        </p:txBody>
      </p:sp>
      <p:sp>
        <p:nvSpPr>
          <p:cNvPr id="3485" name="Text 16"/>
          <p:cNvSpPr/>
          <p:nvPr/>
        </p:nvSpPr>
        <p:spPr>
          <a:xfrm>
            <a:off x="456372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User workflow</a:t>
            </a:r>
            <a:endParaRPr b="0" lang="en-US" sz="1600" strike="noStrike" u="none">
              <a:solidFill>
                <a:srgbClr val="000000"/>
              </a:solidFill>
              <a:effectLst/>
              <a:uFillTx/>
              <a:latin typeface="Arial"/>
            </a:endParaRPr>
          </a:p>
        </p:txBody>
      </p:sp>
      <p:sp>
        <p:nvSpPr>
          <p:cNvPr id="3486" name="Text 17"/>
          <p:cNvSpPr/>
          <p:nvPr/>
        </p:nvSpPr>
        <p:spPr>
          <a:xfrm>
            <a:off x="454536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Configure, collect, review and act once.</a:t>
            </a:r>
            <a:endParaRPr b="0" lang="en-US" sz="1100" strike="noStrike" u="none">
              <a:solidFill>
                <a:srgbClr val="000000"/>
              </a:solidFill>
              <a:effectLst/>
              <a:uFillTx/>
              <a:latin typeface="Arial"/>
            </a:endParaRPr>
          </a:p>
        </p:txBody>
      </p:sp>
      <p:sp>
        <p:nvSpPr>
          <p:cNvPr id="3487" name="Text 18"/>
          <p:cNvSpPr/>
          <p:nvPr/>
        </p:nvSpPr>
        <p:spPr>
          <a:xfrm>
            <a:off x="4563720" y="3776400"/>
            <a:ext cx="310032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Configurable campaigns, assignments and approvals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Data quality checks, exceptions and remediation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Evidence, lineage and audit trail by design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Initiatives and actions connected to accountable owners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One repeatable way of working across products</a:t>
            </a:r>
            <a:endParaRPr b="0" lang="en-US" sz="1100" strike="noStrike" u="none">
              <a:solidFill>
                <a:srgbClr val="000000"/>
              </a:solidFill>
              <a:effectLst/>
              <a:uFillTx/>
              <a:latin typeface="Arial"/>
            </a:endParaRPr>
          </a:p>
        </p:txBody>
      </p:sp>
      <p:sp>
        <p:nvSpPr>
          <p:cNvPr id="3488" name="Shape 19"/>
          <p:cNvSpPr/>
          <p:nvPr/>
        </p:nvSpPr>
        <p:spPr>
          <a:xfrm>
            <a:off x="810324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489" name="Shape 20"/>
          <p:cNvSpPr/>
          <p:nvPr/>
        </p:nvSpPr>
        <p:spPr>
          <a:xfrm>
            <a:off x="8103240" y="2084760"/>
            <a:ext cx="346608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3490" name="Text 21"/>
          <p:cNvSpPr/>
          <p:nvPr/>
        </p:nvSpPr>
        <p:spPr>
          <a:xfrm>
            <a:off x="830448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SHARED INTELLIGENCE</a:t>
            </a:r>
            <a:endParaRPr b="0" lang="en-US" sz="900" strike="noStrike" u="none">
              <a:solidFill>
                <a:srgbClr val="000000"/>
              </a:solidFill>
              <a:effectLst/>
              <a:uFillTx/>
              <a:latin typeface="Arial"/>
            </a:endParaRPr>
          </a:p>
        </p:txBody>
      </p:sp>
      <p:sp>
        <p:nvSpPr>
          <p:cNvPr id="3491" name="Text 22"/>
          <p:cNvSpPr/>
          <p:nvPr/>
        </p:nvSpPr>
        <p:spPr>
          <a:xfrm>
            <a:off x="830448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Analytics engine</a:t>
            </a:r>
            <a:endParaRPr b="0" lang="en-US" sz="1600" strike="noStrike" u="none">
              <a:solidFill>
                <a:srgbClr val="000000"/>
              </a:solidFill>
              <a:effectLst/>
              <a:uFillTx/>
              <a:latin typeface="Arial"/>
            </a:endParaRPr>
          </a:p>
        </p:txBody>
      </p:sp>
      <p:sp>
        <p:nvSpPr>
          <p:cNvPr id="3492" name="Text 23"/>
          <p:cNvSpPr/>
          <p:nvPr/>
        </p:nvSpPr>
        <p:spPr>
          <a:xfrm>
            <a:off x="828612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Turn governed data into decisions.</a:t>
            </a:r>
            <a:endParaRPr b="0" lang="en-US" sz="1100" strike="noStrike" u="none">
              <a:solidFill>
                <a:srgbClr val="000000"/>
              </a:solidFill>
              <a:effectLst/>
              <a:uFillTx/>
              <a:latin typeface="Arial"/>
            </a:endParaRPr>
          </a:p>
        </p:txBody>
      </p:sp>
      <p:sp>
        <p:nvSpPr>
          <p:cNvPr id="3493" name="Text 24"/>
          <p:cNvSpPr/>
          <p:nvPr/>
        </p:nvSpPr>
        <p:spPr>
          <a:xfrm>
            <a:off x="8304480" y="3776400"/>
            <a:ext cx="310032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Reusable metrics, calculations and comparison logic</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Dashboards from portfolio to source data</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Scenario analysis, forecasting and value at risk</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AI-assisted insight grounded in governed platform data</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One decision layer from operations to leadership</a:t>
            </a:r>
            <a:endParaRPr b="0" lang="en-US" sz="1100" strike="noStrike" u="none">
              <a:solidFill>
                <a:srgbClr val="000000"/>
              </a:solidFill>
              <a:effectLst/>
              <a:uFillTx/>
              <a:latin typeface="Arial"/>
            </a:endParaRPr>
          </a:p>
        </p:txBody>
      </p:sp>
      <p:sp>
        <p:nvSpPr>
          <p:cNvPr id="3494" name="Shape 25"/>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495" name="Text 26"/>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3496" name="Text 27"/>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3497" name="PlaceHolder 1"/>
          <p:cNvSpPr>
            <a:spLocks noGrp="1"/>
          </p:cNvSpPr>
          <p:nvPr>
            <p:ph type="sldNum" idx="77"/>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B9359704-203A-4DA3-A30D-B95BAE2642BE}"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8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498"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3499"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3500" name="Shape 2"/>
          <p:cNvSpPr/>
          <p:nvPr/>
        </p:nvSpPr>
        <p:spPr>
          <a:xfrm>
            <a:off x="621720" y="311040"/>
            <a:ext cx="355212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501" name="Text 3"/>
          <p:cNvSpPr/>
          <p:nvPr/>
        </p:nvSpPr>
        <p:spPr>
          <a:xfrm>
            <a:off x="804600" y="329040"/>
            <a:ext cx="322308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RA+ SHARED PLATFORM DASHBOARD</a:t>
            </a:r>
            <a:endParaRPr b="0" lang="en-US" sz="950" strike="noStrike" u="none">
              <a:solidFill>
                <a:srgbClr val="000000"/>
              </a:solidFill>
              <a:effectLst/>
              <a:uFillTx/>
              <a:latin typeface="Arial"/>
            </a:endParaRPr>
          </a:p>
        </p:txBody>
      </p:sp>
      <p:sp>
        <p:nvSpPr>
          <p:cNvPr id="3502" name="Text 4"/>
          <p:cNvSpPr/>
          <p:nvPr/>
        </p:nvSpPr>
        <p:spPr>
          <a:xfrm>
            <a:off x="621720" y="768240"/>
            <a:ext cx="10947600" cy="804240"/>
          </a:xfrm>
          <a:prstGeom prst="rect">
            <a:avLst/>
          </a:prstGeom>
          <a:noFill/>
          <a:ln w="0">
            <a:noFill/>
          </a:ln>
        </p:spPr>
        <p:style>
          <a:lnRef idx="0"/>
          <a:fillRef idx="0"/>
          <a:effectRef idx="0"/>
          <a:fontRef idx="minor"/>
        </p:style>
        <p:txBody>
          <a:bodyPr lIns="0" rIns="0" tIns="0" bIns="0" anchor="t">
            <a:normAutofit lnSpcReduction="9999"/>
          </a:bodyPr>
          <a:p>
            <a:pPr defTabSz="914400">
              <a:lnSpc>
                <a:spcPct val="100000"/>
              </a:lnSpc>
              <a:tabLst>
                <a:tab algn="l" pos="0"/>
              </a:tabLst>
            </a:pPr>
            <a:r>
              <a:rPr b="1" lang="en-US" sz="2800" strike="noStrike" u="none">
                <a:solidFill>
                  <a:srgbClr val="1e2420"/>
                </a:solidFill>
                <a:effectLst/>
                <a:uFillTx/>
                <a:latin typeface="Calibri"/>
                <a:ea typeface="Calibri"/>
              </a:rPr>
              <a:t>Turn the shared platform roadmap into an owned delivery model</a:t>
            </a:r>
            <a:endParaRPr b="0" lang="en-US" sz="2800" strike="noStrike" u="none">
              <a:solidFill>
                <a:srgbClr val="000000"/>
              </a:solidFill>
              <a:effectLst/>
              <a:uFillTx/>
              <a:latin typeface="Arial"/>
            </a:endParaRPr>
          </a:p>
        </p:txBody>
      </p:sp>
      <p:sp>
        <p:nvSpPr>
          <p:cNvPr id="3503" name="Text 5"/>
          <p:cNvSpPr/>
          <p:nvPr/>
        </p:nvSpPr>
        <p:spPr>
          <a:xfrm>
            <a:off x="621720" y="15728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A live dashboard makes progress, ownership, timing and risk visible across the foundations every product consumes.</a:t>
            </a:r>
            <a:endParaRPr b="0" lang="en-US" sz="1250" strike="noStrike" u="none">
              <a:solidFill>
                <a:srgbClr val="000000"/>
              </a:solidFill>
              <a:effectLst/>
              <a:uFillTx/>
              <a:latin typeface="Arial"/>
            </a:endParaRPr>
          </a:p>
        </p:txBody>
      </p:sp>
      <p:sp>
        <p:nvSpPr>
          <p:cNvPr id="3504"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505" name="Shape 7"/>
          <p:cNvSpPr/>
          <p:nvPr/>
        </p:nvSpPr>
        <p:spPr>
          <a:xfrm>
            <a:off x="62172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506" name="Shape 8"/>
          <p:cNvSpPr/>
          <p:nvPr/>
        </p:nvSpPr>
        <p:spPr>
          <a:xfrm>
            <a:off x="621720" y="2084760"/>
            <a:ext cx="346608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3507" name="Text 9"/>
          <p:cNvSpPr/>
          <p:nvPr/>
        </p:nvSpPr>
        <p:spPr>
          <a:xfrm>
            <a:off x="82296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TRACK THE WORK</a:t>
            </a:r>
            <a:endParaRPr b="0" lang="en-US" sz="900" strike="noStrike" u="none">
              <a:solidFill>
                <a:srgbClr val="000000"/>
              </a:solidFill>
              <a:effectLst/>
              <a:uFillTx/>
              <a:latin typeface="Arial"/>
            </a:endParaRPr>
          </a:p>
        </p:txBody>
      </p:sp>
      <p:sp>
        <p:nvSpPr>
          <p:cNvPr id="3508" name="Text 10"/>
          <p:cNvSpPr/>
          <p:nvPr/>
        </p:nvSpPr>
        <p:spPr>
          <a:xfrm>
            <a:off x="82296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Capability register</a:t>
            </a:r>
            <a:endParaRPr b="0" lang="en-US" sz="1600" strike="noStrike" u="none">
              <a:solidFill>
                <a:srgbClr val="000000"/>
              </a:solidFill>
              <a:effectLst/>
              <a:uFillTx/>
              <a:latin typeface="Arial"/>
            </a:endParaRPr>
          </a:p>
        </p:txBody>
      </p:sp>
      <p:sp>
        <p:nvSpPr>
          <p:cNvPr id="3509" name="Text 11"/>
          <p:cNvSpPr/>
          <p:nvPr/>
        </p:nvSpPr>
        <p:spPr>
          <a:xfrm>
            <a:off x="80460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One record for every shared capability.</a:t>
            </a:r>
            <a:endParaRPr b="0" lang="en-US" sz="1100" strike="noStrike" u="none">
              <a:solidFill>
                <a:srgbClr val="000000"/>
              </a:solidFill>
              <a:effectLst/>
              <a:uFillTx/>
              <a:latin typeface="Arial"/>
            </a:endParaRPr>
          </a:p>
        </p:txBody>
      </p:sp>
      <p:sp>
        <p:nvSpPr>
          <p:cNvPr id="3510" name="Text 12"/>
          <p:cNvSpPr/>
          <p:nvPr/>
        </p:nvSpPr>
        <p:spPr>
          <a:xfrm>
            <a:off x="822960" y="3776400"/>
            <a:ext cx="310032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Hierarchy, workflow and analytics grouped as three foundations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Named owner and target period for every capability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Planned, in progress, at risk and complete states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Progress and latest update stored in the shared data model</a:t>
            </a:r>
            <a:endParaRPr b="0" lang="en-US" sz="1100" strike="noStrike" u="none">
              <a:solidFill>
                <a:srgbClr val="000000"/>
              </a:solidFill>
              <a:effectLst/>
              <a:uFillTx/>
              <a:latin typeface="Arial"/>
            </a:endParaRPr>
          </a:p>
        </p:txBody>
      </p:sp>
      <p:sp>
        <p:nvSpPr>
          <p:cNvPr id="3511" name="Shape 13"/>
          <p:cNvSpPr/>
          <p:nvPr/>
        </p:nvSpPr>
        <p:spPr>
          <a:xfrm>
            <a:off x="436248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512" name="Shape 14"/>
          <p:cNvSpPr/>
          <p:nvPr/>
        </p:nvSpPr>
        <p:spPr>
          <a:xfrm>
            <a:off x="4362480" y="2084760"/>
            <a:ext cx="346608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3513" name="Text 15"/>
          <p:cNvSpPr/>
          <p:nvPr/>
        </p:nvSpPr>
        <p:spPr>
          <a:xfrm>
            <a:off x="456372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RUN THE PORTFOLIO</a:t>
            </a:r>
            <a:endParaRPr b="0" lang="en-US" sz="900" strike="noStrike" u="none">
              <a:solidFill>
                <a:srgbClr val="000000"/>
              </a:solidFill>
              <a:effectLst/>
              <a:uFillTx/>
              <a:latin typeface="Arial"/>
            </a:endParaRPr>
          </a:p>
        </p:txBody>
      </p:sp>
      <p:sp>
        <p:nvSpPr>
          <p:cNvPr id="3514" name="Text 16"/>
          <p:cNvSpPr/>
          <p:nvPr/>
        </p:nvSpPr>
        <p:spPr>
          <a:xfrm>
            <a:off x="456372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Leadership dashboard</a:t>
            </a:r>
            <a:endParaRPr b="0" lang="en-US" sz="1600" strike="noStrike" u="none">
              <a:solidFill>
                <a:srgbClr val="000000"/>
              </a:solidFill>
              <a:effectLst/>
              <a:uFillTx/>
              <a:latin typeface="Arial"/>
            </a:endParaRPr>
          </a:p>
        </p:txBody>
      </p:sp>
      <p:sp>
        <p:nvSpPr>
          <p:cNvPr id="3515" name="Text 17"/>
          <p:cNvSpPr/>
          <p:nvPr/>
        </p:nvSpPr>
        <p:spPr>
          <a:xfrm>
            <a:off x="454536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See the portfolio signal, then inspect the detail.</a:t>
            </a:r>
            <a:endParaRPr b="0" lang="en-US" sz="1100" strike="noStrike" u="none">
              <a:solidFill>
                <a:srgbClr val="000000"/>
              </a:solidFill>
              <a:effectLst/>
              <a:uFillTx/>
              <a:latin typeface="Arial"/>
            </a:endParaRPr>
          </a:p>
        </p:txBody>
      </p:sp>
      <p:sp>
        <p:nvSpPr>
          <p:cNvPr id="3516" name="Text 18"/>
          <p:cNvSpPr/>
          <p:nvPr/>
        </p:nvSpPr>
        <p:spPr>
          <a:xfrm>
            <a:off x="4563720" y="3776400"/>
            <a:ext cx="310032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Overall and pillar-level progress at a glance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Visible completion, activity and at-risk counts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Filters by foundation and delivery status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Editable updates without rebuilding the roadmap deck</a:t>
            </a:r>
            <a:endParaRPr b="0" lang="en-US" sz="1100" strike="noStrike" u="none">
              <a:solidFill>
                <a:srgbClr val="000000"/>
              </a:solidFill>
              <a:effectLst/>
              <a:uFillTx/>
              <a:latin typeface="Arial"/>
            </a:endParaRPr>
          </a:p>
        </p:txBody>
      </p:sp>
      <p:sp>
        <p:nvSpPr>
          <p:cNvPr id="3517" name="Shape 19"/>
          <p:cNvSpPr/>
          <p:nvPr/>
        </p:nvSpPr>
        <p:spPr>
          <a:xfrm>
            <a:off x="810324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518" name="Shape 20"/>
          <p:cNvSpPr/>
          <p:nvPr/>
        </p:nvSpPr>
        <p:spPr>
          <a:xfrm>
            <a:off x="8103240" y="2084760"/>
            <a:ext cx="346608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3519" name="Text 21"/>
          <p:cNvSpPr/>
          <p:nvPr/>
        </p:nvSpPr>
        <p:spPr>
          <a:xfrm>
            <a:off x="830448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CREATE ACCOUNTABILITY</a:t>
            </a:r>
            <a:endParaRPr b="0" lang="en-US" sz="900" strike="noStrike" u="none">
              <a:solidFill>
                <a:srgbClr val="000000"/>
              </a:solidFill>
              <a:effectLst/>
              <a:uFillTx/>
              <a:latin typeface="Arial"/>
            </a:endParaRPr>
          </a:p>
        </p:txBody>
      </p:sp>
      <p:sp>
        <p:nvSpPr>
          <p:cNvPr id="3520" name="Text 22"/>
          <p:cNvSpPr/>
          <p:nvPr/>
        </p:nvSpPr>
        <p:spPr>
          <a:xfrm>
            <a:off x="830448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Operating cadence</a:t>
            </a:r>
            <a:endParaRPr b="0" lang="en-US" sz="1600" strike="noStrike" u="none">
              <a:solidFill>
                <a:srgbClr val="000000"/>
              </a:solidFill>
              <a:effectLst/>
              <a:uFillTx/>
              <a:latin typeface="Arial"/>
            </a:endParaRPr>
          </a:p>
        </p:txBody>
      </p:sp>
      <p:sp>
        <p:nvSpPr>
          <p:cNvPr id="3521" name="Text 23"/>
          <p:cNvSpPr/>
          <p:nvPr/>
        </p:nvSpPr>
        <p:spPr>
          <a:xfrm>
            <a:off x="828612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Use the same facts in product and leadership reviews.</a:t>
            </a:r>
            <a:endParaRPr b="0" lang="en-US" sz="1100" strike="noStrike" u="none">
              <a:solidFill>
                <a:srgbClr val="000000"/>
              </a:solidFill>
              <a:effectLst/>
              <a:uFillTx/>
              <a:latin typeface="Arial"/>
            </a:endParaRPr>
          </a:p>
        </p:txBody>
      </p:sp>
      <p:sp>
        <p:nvSpPr>
          <p:cNvPr id="3522" name="Text 24"/>
          <p:cNvSpPr/>
          <p:nvPr/>
        </p:nvSpPr>
        <p:spPr>
          <a:xfrm>
            <a:off x="8304480" y="3776400"/>
            <a:ext cx="310032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Owners update progress and evidence before reviews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At-risk capabilities become explicit decisions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Shared dependencies stay visible across products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The dashboard becomes the source for roadmap reporting</a:t>
            </a:r>
            <a:endParaRPr b="0" lang="en-US" sz="1100" strike="noStrike" u="none">
              <a:solidFill>
                <a:srgbClr val="000000"/>
              </a:solidFill>
              <a:effectLst/>
              <a:uFillTx/>
              <a:latin typeface="Arial"/>
            </a:endParaRPr>
          </a:p>
        </p:txBody>
      </p:sp>
      <p:sp>
        <p:nvSpPr>
          <p:cNvPr id="3523" name="Shape 25"/>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524" name="Text 26"/>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3525" name="Text 27"/>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3526" name="PlaceHolder 1"/>
          <p:cNvSpPr>
            <a:spLocks noGrp="1"/>
          </p:cNvSpPr>
          <p:nvPr>
            <p:ph type="sldNum" idx="78"/>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84C3EA16-68A5-4CFE-8812-45E2FE85A7BA}"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8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527"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3528"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3529" name="Shape 2"/>
          <p:cNvSpPr/>
          <p:nvPr/>
        </p:nvSpPr>
        <p:spPr>
          <a:xfrm>
            <a:off x="621720" y="311040"/>
            <a:ext cx="250056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530" name="Text 3"/>
          <p:cNvSpPr/>
          <p:nvPr/>
        </p:nvSpPr>
        <p:spPr>
          <a:xfrm>
            <a:off x="804600" y="329040"/>
            <a:ext cx="217152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RA+ DATA GOVERNANCE</a:t>
            </a:r>
            <a:endParaRPr b="0" lang="en-US" sz="950" strike="noStrike" u="none">
              <a:solidFill>
                <a:srgbClr val="000000"/>
              </a:solidFill>
              <a:effectLst/>
              <a:uFillTx/>
              <a:latin typeface="Arial"/>
            </a:endParaRPr>
          </a:p>
        </p:txBody>
      </p:sp>
      <p:sp>
        <p:nvSpPr>
          <p:cNvPr id="3531" name="Text 4"/>
          <p:cNvSpPr/>
          <p:nvPr/>
        </p:nvSpPr>
        <p:spPr>
          <a:xfrm>
            <a:off x="621720" y="768240"/>
            <a:ext cx="10947600" cy="804240"/>
          </a:xfrm>
          <a:prstGeom prst="rect">
            <a:avLst/>
          </a:prstGeom>
          <a:noFill/>
          <a:ln w="0">
            <a:noFill/>
          </a:ln>
        </p:spPr>
        <p:style>
          <a:lnRef idx="0"/>
          <a:fillRef idx="0"/>
          <a:effectRef idx="0"/>
          <a:fontRef idx="minor"/>
        </p:style>
        <p:txBody>
          <a:bodyPr lIns="0" rIns="0" tIns="0" bIns="0" anchor="t">
            <a:normAutofit lnSpcReduction="9999"/>
          </a:bodyPr>
          <a:p>
            <a:pPr defTabSz="914400">
              <a:lnSpc>
                <a:spcPct val="100000"/>
              </a:lnSpc>
              <a:tabLst>
                <a:tab algn="l" pos="0"/>
              </a:tabLst>
            </a:pPr>
            <a:r>
              <a:rPr b="1" lang="en-US" sz="2800" strike="noStrike" u="none">
                <a:solidFill>
                  <a:srgbClr val="1e2420"/>
                </a:solidFill>
                <a:effectLst/>
                <a:uFillTx/>
                <a:latin typeface="Calibri"/>
                <a:ea typeface="Calibri"/>
              </a:rPr>
              <a:t>Shared data definitions and controls, applied consistently across products</a:t>
            </a:r>
            <a:endParaRPr b="0" lang="en-US" sz="2800" strike="noStrike" u="none">
              <a:solidFill>
                <a:srgbClr val="000000"/>
              </a:solidFill>
              <a:effectLst/>
              <a:uFillTx/>
              <a:latin typeface="Arial"/>
            </a:endParaRPr>
          </a:p>
        </p:txBody>
      </p:sp>
      <p:sp>
        <p:nvSpPr>
          <p:cNvPr id="3532" name="Text 5"/>
          <p:cNvSpPr/>
          <p:nvPr/>
        </p:nvSpPr>
        <p:spPr>
          <a:xfrm>
            <a:off x="621720" y="15728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Governance lives in the platform: one glossary, one set of access and quality controls, one audit trail. Products inherit it instead of rebuilding it.</a:t>
            </a:r>
            <a:endParaRPr b="0" lang="en-US" sz="1250" strike="noStrike" u="none">
              <a:solidFill>
                <a:srgbClr val="000000"/>
              </a:solidFill>
              <a:effectLst/>
              <a:uFillTx/>
              <a:latin typeface="Arial"/>
            </a:endParaRPr>
          </a:p>
        </p:txBody>
      </p:sp>
      <p:sp>
        <p:nvSpPr>
          <p:cNvPr id="3533"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534" name="Shape 7"/>
          <p:cNvSpPr/>
          <p:nvPr/>
        </p:nvSpPr>
        <p:spPr>
          <a:xfrm>
            <a:off x="62172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535" name="Shape 8"/>
          <p:cNvSpPr/>
          <p:nvPr/>
        </p:nvSpPr>
        <p:spPr>
          <a:xfrm>
            <a:off x="621720" y="2084760"/>
            <a:ext cx="346608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3536" name="Text 9"/>
          <p:cNvSpPr/>
          <p:nvPr/>
        </p:nvSpPr>
        <p:spPr>
          <a:xfrm>
            <a:off x="82296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DEFINE ONCE</a:t>
            </a:r>
            <a:endParaRPr b="0" lang="en-US" sz="900" strike="noStrike" u="none">
              <a:solidFill>
                <a:srgbClr val="000000"/>
              </a:solidFill>
              <a:effectLst/>
              <a:uFillTx/>
              <a:latin typeface="Arial"/>
            </a:endParaRPr>
          </a:p>
        </p:txBody>
      </p:sp>
      <p:sp>
        <p:nvSpPr>
          <p:cNvPr id="3537" name="Text 10"/>
          <p:cNvSpPr/>
          <p:nvPr/>
        </p:nvSpPr>
        <p:spPr>
          <a:xfrm>
            <a:off x="82296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Shared definitions</a:t>
            </a:r>
            <a:endParaRPr b="0" lang="en-US" sz="1600" strike="noStrike" u="none">
              <a:solidFill>
                <a:srgbClr val="000000"/>
              </a:solidFill>
              <a:effectLst/>
              <a:uFillTx/>
              <a:latin typeface="Arial"/>
            </a:endParaRPr>
          </a:p>
        </p:txBody>
      </p:sp>
      <p:sp>
        <p:nvSpPr>
          <p:cNvPr id="3538" name="Text 11"/>
          <p:cNvSpPr/>
          <p:nvPr/>
        </p:nvSpPr>
        <p:spPr>
          <a:xfrm>
            <a:off x="80460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Every product speaks the same language.</a:t>
            </a:r>
            <a:endParaRPr b="0" lang="en-US" sz="1100" strike="noStrike" u="none">
              <a:solidFill>
                <a:srgbClr val="000000"/>
              </a:solidFill>
              <a:effectLst/>
              <a:uFillTx/>
              <a:latin typeface="Arial"/>
            </a:endParaRPr>
          </a:p>
        </p:txBody>
      </p:sp>
      <p:sp>
        <p:nvSpPr>
          <p:cNvPr id="3539" name="Text 12"/>
          <p:cNvSpPr/>
          <p:nvPr/>
        </p:nvSpPr>
        <p:spPr>
          <a:xfrm>
            <a:off x="822960" y="3776400"/>
            <a:ext cx="310032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One entity, site, asset and supplier model</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One metric and KPI glossary across dashboards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Unit, conversion and factor rules in one layer</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Named owner and status for every definition</a:t>
            </a:r>
            <a:endParaRPr b="0" lang="en-US" sz="1100" strike="noStrike" u="none">
              <a:solidFill>
                <a:srgbClr val="000000"/>
              </a:solidFill>
              <a:effectLst/>
              <a:uFillTx/>
              <a:latin typeface="Arial"/>
            </a:endParaRPr>
          </a:p>
        </p:txBody>
      </p:sp>
      <p:sp>
        <p:nvSpPr>
          <p:cNvPr id="3540" name="Shape 13"/>
          <p:cNvSpPr/>
          <p:nvPr/>
        </p:nvSpPr>
        <p:spPr>
          <a:xfrm>
            <a:off x="436248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541" name="Shape 14"/>
          <p:cNvSpPr/>
          <p:nvPr/>
        </p:nvSpPr>
        <p:spPr>
          <a:xfrm>
            <a:off x="4362480" y="2084760"/>
            <a:ext cx="346608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3542" name="Text 15"/>
          <p:cNvSpPr/>
          <p:nvPr/>
        </p:nvSpPr>
        <p:spPr>
          <a:xfrm>
            <a:off x="456372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CONTROL ONCE</a:t>
            </a:r>
            <a:endParaRPr b="0" lang="en-US" sz="900" strike="noStrike" u="none">
              <a:solidFill>
                <a:srgbClr val="000000"/>
              </a:solidFill>
              <a:effectLst/>
              <a:uFillTx/>
              <a:latin typeface="Arial"/>
            </a:endParaRPr>
          </a:p>
        </p:txBody>
      </p:sp>
      <p:sp>
        <p:nvSpPr>
          <p:cNvPr id="3543" name="Text 16"/>
          <p:cNvSpPr/>
          <p:nvPr/>
        </p:nvSpPr>
        <p:spPr>
          <a:xfrm>
            <a:off x="456372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Platform controls</a:t>
            </a:r>
            <a:endParaRPr b="0" lang="en-US" sz="1600" strike="noStrike" u="none">
              <a:solidFill>
                <a:srgbClr val="000000"/>
              </a:solidFill>
              <a:effectLst/>
              <a:uFillTx/>
              <a:latin typeface="Arial"/>
            </a:endParaRPr>
          </a:p>
        </p:txBody>
      </p:sp>
      <p:sp>
        <p:nvSpPr>
          <p:cNvPr id="3544" name="Text 17"/>
          <p:cNvSpPr/>
          <p:nvPr/>
        </p:nvSpPr>
        <p:spPr>
          <a:xfrm>
            <a:off x="454536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Rules enforced in the platform, not per product.</a:t>
            </a:r>
            <a:endParaRPr b="0" lang="en-US" sz="1100" strike="noStrike" u="none">
              <a:solidFill>
                <a:srgbClr val="000000"/>
              </a:solidFill>
              <a:effectLst/>
              <a:uFillTx/>
              <a:latin typeface="Arial"/>
            </a:endParaRPr>
          </a:p>
        </p:txBody>
      </p:sp>
      <p:sp>
        <p:nvSpPr>
          <p:cNvPr id="3545" name="Text 18"/>
          <p:cNvSpPr/>
          <p:nvPr/>
        </p:nvSpPr>
        <p:spPr>
          <a:xfrm>
            <a:off x="4563720" y="3776400"/>
            <a:ext cx="310032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Role-based access aligned to the hierarchy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Validation and quality rules at ingestion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Approval hierarchies with evidence capture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Method transparency per data point</a:t>
            </a:r>
            <a:endParaRPr b="0" lang="en-US" sz="1100" strike="noStrike" u="none">
              <a:solidFill>
                <a:srgbClr val="000000"/>
              </a:solidFill>
              <a:effectLst/>
              <a:uFillTx/>
              <a:latin typeface="Arial"/>
            </a:endParaRPr>
          </a:p>
        </p:txBody>
      </p:sp>
      <p:sp>
        <p:nvSpPr>
          <p:cNvPr id="3546" name="Shape 19"/>
          <p:cNvSpPr/>
          <p:nvPr/>
        </p:nvSpPr>
        <p:spPr>
          <a:xfrm>
            <a:off x="810324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547" name="Shape 20"/>
          <p:cNvSpPr/>
          <p:nvPr/>
        </p:nvSpPr>
        <p:spPr>
          <a:xfrm>
            <a:off x="8103240" y="2084760"/>
            <a:ext cx="346608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3548" name="Text 21"/>
          <p:cNvSpPr/>
          <p:nvPr/>
        </p:nvSpPr>
        <p:spPr>
          <a:xfrm>
            <a:off x="8304480" y="2286000"/>
            <a:ext cx="310032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PROVE ALWAYS</a:t>
            </a:r>
            <a:endParaRPr b="0" lang="en-US" sz="900" strike="noStrike" u="none">
              <a:solidFill>
                <a:srgbClr val="000000"/>
              </a:solidFill>
              <a:effectLst/>
              <a:uFillTx/>
              <a:latin typeface="Arial"/>
            </a:endParaRPr>
          </a:p>
        </p:txBody>
      </p:sp>
      <p:sp>
        <p:nvSpPr>
          <p:cNvPr id="3549" name="Text 22"/>
          <p:cNvSpPr/>
          <p:nvPr/>
        </p:nvSpPr>
        <p:spPr>
          <a:xfrm>
            <a:off x="8304480" y="2569320"/>
            <a:ext cx="310032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Lineage and audit trail</a:t>
            </a:r>
            <a:endParaRPr b="0" lang="en-US" sz="1600" strike="noStrike" u="none">
              <a:solidFill>
                <a:srgbClr val="000000"/>
              </a:solidFill>
              <a:effectLst/>
              <a:uFillTx/>
              <a:latin typeface="Arial"/>
            </a:endParaRPr>
          </a:p>
        </p:txBody>
      </p:sp>
      <p:sp>
        <p:nvSpPr>
          <p:cNvPr id="3550" name="Text 23"/>
          <p:cNvSpPr/>
          <p:nvPr/>
        </p:nvSpPr>
        <p:spPr>
          <a:xfrm>
            <a:off x="8286120" y="3044880"/>
            <a:ext cx="310032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Decision and disclosure grade by default.</a:t>
            </a:r>
            <a:endParaRPr b="0" lang="en-US" sz="1100" strike="noStrike" u="none">
              <a:solidFill>
                <a:srgbClr val="000000"/>
              </a:solidFill>
              <a:effectLst/>
              <a:uFillTx/>
              <a:latin typeface="Arial"/>
            </a:endParaRPr>
          </a:p>
        </p:txBody>
      </p:sp>
      <p:sp>
        <p:nvSpPr>
          <p:cNvPr id="3551" name="Text 24"/>
          <p:cNvSpPr/>
          <p:nvPr/>
        </p:nvSpPr>
        <p:spPr>
          <a:xfrm>
            <a:off x="8304480" y="3776400"/>
            <a:ext cx="310032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Source to disclosed figure traceability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Change history and versioning on every edit</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Governed data ready for AI-assisted insight</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Rivals must rebuild this product by product</a:t>
            </a:r>
            <a:endParaRPr b="0" lang="en-US" sz="1100" strike="noStrike" u="none">
              <a:solidFill>
                <a:srgbClr val="000000"/>
              </a:solidFill>
              <a:effectLst/>
              <a:uFillTx/>
              <a:latin typeface="Arial"/>
            </a:endParaRPr>
          </a:p>
        </p:txBody>
      </p:sp>
      <p:sp>
        <p:nvSpPr>
          <p:cNvPr id="3552" name="Shape 25"/>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553" name="Text 26"/>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3554" name="Text 27"/>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3555" name="PlaceHolder 1"/>
          <p:cNvSpPr>
            <a:spLocks noGrp="1"/>
          </p:cNvSpPr>
          <p:nvPr>
            <p:ph type="sldNum" idx="79"/>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616CB9B7-604E-4166-9D18-C35F52336931}"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8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556"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3557"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3558" name="Shape 2"/>
          <p:cNvSpPr/>
          <p:nvPr/>
        </p:nvSpPr>
        <p:spPr>
          <a:xfrm>
            <a:off x="621720" y="311040"/>
            <a:ext cx="292104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559" name="Text 3"/>
          <p:cNvSpPr/>
          <p:nvPr/>
        </p:nvSpPr>
        <p:spPr>
          <a:xfrm>
            <a:off x="804600" y="329040"/>
            <a:ext cx="259200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SHARED PLATFORM ROADMAP</a:t>
            </a:r>
            <a:endParaRPr b="0" lang="en-US" sz="950" strike="noStrike" u="none">
              <a:solidFill>
                <a:srgbClr val="000000"/>
              </a:solidFill>
              <a:effectLst/>
              <a:uFillTx/>
              <a:latin typeface="Arial"/>
            </a:endParaRPr>
          </a:p>
        </p:txBody>
      </p:sp>
      <p:sp>
        <p:nvSpPr>
          <p:cNvPr id="3560" name="Text 4"/>
          <p:cNvSpPr/>
          <p:nvPr/>
        </p:nvSpPr>
        <p:spPr>
          <a:xfrm>
            <a:off x="621720" y="768240"/>
            <a:ext cx="10947600" cy="804240"/>
          </a:xfrm>
          <a:prstGeom prst="rect">
            <a:avLst/>
          </a:prstGeom>
          <a:noFill/>
          <a:ln w="0">
            <a:noFill/>
          </a:ln>
        </p:spPr>
        <p:style>
          <a:lnRef idx="0"/>
          <a:fillRef idx="0"/>
          <a:effectRef idx="0"/>
          <a:fontRef idx="minor"/>
        </p:style>
        <p:txBody>
          <a:bodyPr lIns="0" rIns="0" tIns="0" bIns="0" anchor="t">
            <a:normAutofit lnSpcReduction="9999"/>
          </a:bodyPr>
          <a:p>
            <a:pPr defTabSz="914400">
              <a:lnSpc>
                <a:spcPct val="100000"/>
              </a:lnSpc>
              <a:tabLst>
                <a:tab algn="l" pos="0"/>
              </a:tabLst>
            </a:pPr>
            <a:r>
              <a:rPr b="1" lang="en-US" sz="2800" strike="noStrike" u="none">
                <a:solidFill>
                  <a:srgbClr val="1e2420"/>
                </a:solidFill>
                <a:effectLst/>
                <a:uFillTx/>
                <a:latin typeface="Calibri"/>
                <a:ea typeface="Calibri"/>
              </a:rPr>
              <a:t>The shared platform roadmap: milestones every product inherits</a:t>
            </a:r>
            <a:endParaRPr b="0" lang="en-US" sz="2800" strike="noStrike" u="none">
              <a:solidFill>
                <a:srgbClr val="000000"/>
              </a:solidFill>
              <a:effectLst/>
              <a:uFillTx/>
              <a:latin typeface="Arial"/>
            </a:endParaRPr>
          </a:p>
        </p:txBody>
      </p:sp>
      <p:sp>
        <p:nvSpPr>
          <p:cNvPr id="3561" name="Text 5"/>
          <p:cNvSpPr/>
          <p:nvPr/>
        </p:nvSpPr>
        <p:spPr>
          <a:xfrm>
            <a:off x="621720" y="15728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Dates are firm through 2026. 2027 and beyond are directional, released as the foundations mature.</a:t>
            </a:r>
            <a:endParaRPr b="0" lang="en-US" sz="1250" strike="noStrike" u="none">
              <a:solidFill>
                <a:srgbClr val="000000"/>
              </a:solidFill>
              <a:effectLst/>
              <a:uFillTx/>
              <a:latin typeface="Arial"/>
            </a:endParaRPr>
          </a:p>
        </p:txBody>
      </p:sp>
      <p:sp>
        <p:nvSpPr>
          <p:cNvPr id="3562"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563" name="Shape 7"/>
          <p:cNvSpPr/>
          <p:nvPr/>
        </p:nvSpPr>
        <p:spPr>
          <a:xfrm>
            <a:off x="621720" y="1874520"/>
            <a:ext cx="10947600" cy="456840"/>
          </a:xfrm>
          <a:prstGeom prst="rect">
            <a:avLst/>
          </a:prstGeom>
          <a:solidFill>
            <a:srgbClr val="f1f3f2"/>
          </a:solidFill>
          <a:ln w="635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564" name="Text 8"/>
          <p:cNvSpPr/>
          <p:nvPr/>
        </p:nvSpPr>
        <p:spPr>
          <a:xfrm>
            <a:off x="749880" y="2020680"/>
            <a:ext cx="260568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99" strike="noStrike" u="none">
                <a:solidFill>
                  <a:srgbClr val="5a625c"/>
                </a:solidFill>
                <a:effectLst/>
                <a:uFillTx/>
                <a:latin typeface="Calibri"/>
                <a:ea typeface="Calibri"/>
              </a:rPr>
              <a:t>CAPABILITY</a:t>
            </a:r>
            <a:endParaRPr b="0" lang="en-US" sz="850" strike="noStrike" u="none">
              <a:solidFill>
                <a:srgbClr val="000000"/>
              </a:solidFill>
              <a:effectLst/>
              <a:uFillTx/>
              <a:latin typeface="Arial"/>
            </a:endParaRPr>
          </a:p>
        </p:txBody>
      </p:sp>
      <p:sp>
        <p:nvSpPr>
          <p:cNvPr id="3565" name="Text 9"/>
          <p:cNvSpPr/>
          <p:nvPr/>
        </p:nvSpPr>
        <p:spPr>
          <a:xfrm>
            <a:off x="3456360" y="1901880"/>
            <a:ext cx="270396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2026</a:t>
            </a:r>
            <a:endParaRPr b="0" lang="en-US" sz="1200" strike="noStrike" u="none">
              <a:solidFill>
                <a:srgbClr val="000000"/>
              </a:solidFill>
              <a:effectLst/>
              <a:uFillTx/>
              <a:latin typeface="Arial"/>
            </a:endParaRPr>
          </a:p>
        </p:txBody>
      </p:sp>
      <p:sp>
        <p:nvSpPr>
          <p:cNvPr id="3566" name="Text 10"/>
          <p:cNvSpPr/>
          <p:nvPr/>
        </p:nvSpPr>
        <p:spPr>
          <a:xfrm>
            <a:off x="345636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3567" name="Text 11"/>
          <p:cNvSpPr/>
          <p:nvPr/>
        </p:nvSpPr>
        <p:spPr>
          <a:xfrm>
            <a:off x="413244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3568" name="Text 12"/>
          <p:cNvSpPr/>
          <p:nvPr/>
        </p:nvSpPr>
        <p:spPr>
          <a:xfrm>
            <a:off x="480852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3569" name="Text 13"/>
          <p:cNvSpPr/>
          <p:nvPr/>
        </p:nvSpPr>
        <p:spPr>
          <a:xfrm>
            <a:off x="548496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3570" name="Text 14"/>
          <p:cNvSpPr/>
          <p:nvPr/>
        </p:nvSpPr>
        <p:spPr>
          <a:xfrm>
            <a:off x="6161040" y="1901880"/>
            <a:ext cx="270396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2027</a:t>
            </a:r>
            <a:endParaRPr b="0" lang="en-US" sz="1200" strike="noStrike" u="none">
              <a:solidFill>
                <a:srgbClr val="000000"/>
              </a:solidFill>
              <a:effectLst/>
              <a:uFillTx/>
              <a:latin typeface="Arial"/>
            </a:endParaRPr>
          </a:p>
        </p:txBody>
      </p:sp>
      <p:sp>
        <p:nvSpPr>
          <p:cNvPr id="3571" name="Text 15"/>
          <p:cNvSpPr/>
          <p:nvPr/>
        </p:nvSpPr>
        <p:spPr>
          <a:xfrm>
            <a:off x="616104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3572" name="Text 16"/>
          <p:cNvSpPr/>
          <p:nvPr/>
        </p:nvSpPr>
        <p:spPr>
          <a:xfrm>
            <a:off x="683712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3573" name="Text 17"/>
          <p:cNvSpPr/>
          <p:nvPr/>
        </p:nvSpPr>
        <p:spPr>
          <a:xfrm>
            <a:off x="751320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3574" name="Text 18"/>
          <p:cNvSpPr/>
          <p:nvPr/>
        </p:nvSpPr>
        <p:spPr>
          <a:xfrm>
            <a:off x="818928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3575" name="Text 19"/>
          <p:cNvSpPr/>
          <p:nvPr/>
        </p:nvSpPr>
        <p:spPr>
          <a:xfrm>
            <a:off x="8865360" y="1901880"/>
            <a:ext cx="270396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2028</a:t>
            </a:r>
            <a:endParaRPr b="0" lang="en-US" sz="1200" strike="noStrike" u="none">
              <a:solidFill>
                <a:srgbClr val="000000"/>
              </a:solidFill>
              <a:effectLst/>
              <a:uFillTx/>
              <a:latin typeface="Arial"/>
            </a:endParaRPr>
          </a:p>
        </p:txBody>
      </p:sp>
      <p:sp>
        <p:nvSpPr>
          <p:cNvPr id="3576" name="Text 20"/>
          <p:cNvSpPr/>
          <p:nvPr/>
        </p:nvSpPr>
        <p:spPr>
          <a:xfrm>
            <a:off x="886536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3577" name="Text 21"/>
          <p:cNvSpPr/>
          <p:nvPr/>
        </p:nvSpPr>
        <p:spPr>
          <a:xfrm>
            <a:off x="954144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3578" name="Text 22"/>
          <p:cNvSpPr/>
          <p:nvPr/>
        </p:nvSpPr>
        <p:spPr>
          <a:xfrm>
            <a:off x="1021752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3579" name="Text 23"/>
          <p:cNvSpPr/>
          <p:nvPr/>
        </p:nvSpPr>
        <p:spPr>
          <a:xfrm>
            <a:off x="1089396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3580" name="Shape 24"/>
          <p:cNvSpPr/>
          <p:nvPr/>
        </p:nvSpPr>
        <p:spPr>
          <a:xfrm>
            <a:off x="345636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581" name="Shape 25"/>
          <p:cNvSpPr/>
          <p:nvPr/>
        </p:nvSpPr>
        <p:spPr>
          <a:xfrm>
            <a:off x="413244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582" name="Shape 26"/>
          <p:cNvSpPr/>
          <p:nvPr/>
        </p:nvSpPr>
        <p:spPr>
          <a:xfrm>
            <a:off x="480852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583" name="Shape 27"/>
          <p:cNvSpPr/>
          <p:nvPr/>
        </p:nvSpPr>
        <p:spPr>
          <a:xfrm>
            <a:off x="548460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584" name="Shape 28"/>
          <p:cNvSpPr/>
          <p:nvPr/>
        </p:nvSpPr>
        <p:spPr>
          <a:xfrm>
            <a:off x="616068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585" name="Shape 29"/>
          <p:cNvSpPr/>
          <p:nvPr/>
        </p:nvSpPr>
        <p:spPr>
          <a:xfrm>
            <a:off x="683676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586" name="Shape 30"/>
          <p:cNvSpPr/>
          <p:nvPr/>
        </p:nvSpPr>
        <p:spPr>
          <a:xfrm>
            <a:off x="751284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587" name="Shape 31"/>
          <p:cNvSpPr/>
          <p:nvPr/>
        </p:nvSpPr>
        <p:spPr>
          <a:xfrm>
            <a:off x="818928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588" name="Shape 32"/>
          <p:cNvSpPr/>
          <p:nvPr/>
        </p:nvSpPr>
        <p:spPr>
          <a:xfrm>
            <a:off x="886536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589" name="Shape 33"/>
          <p:cNvSpPr/>
          <p:nvPr/>
        </p:nvSpPr>
        <p:spPr>
          <a:xfrm>
            <a:off x="954144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590" name="Shape 34"/>
          <p:cNvSpPr/>
          <p:nvPr/>
        </p:nvSpPr>
        <p:spPr>
          <a:xfrm>
            <a:off x="1021752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591" name="Shape 35"/>
          <p:cNvSpPr/>
          <p:nvPr/>
        </p:nvSpPr>
        <p:spPr>
          <a:xfrm>
            <a:off x="1089360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592" name="Shape 36"/>
          <p:cNvSpPr/>
          <p:nvPr/>
        </p:nvSpPr>
        <p:spPr>
          <a:xfrm>
            <a:off x="1156968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593" name="Shape 37"/>
          <p:cNvSpPr/>
          <p:nvPr/>
        </p:nvSpPr>
        <p:spPr>
          <a:xfrm>
            <a:off x="621720" y="2331720"/>
            <a:ext cx="411120" cy="891360"/>
          </a:xfrm>
          <a:prstGeom prst="rect">
            <a:avLst/>
          </a:prstGeom>
          <a:solidFill>
            <a:srgbClr val="3dcd58"/>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594" name="Text 38"/>
          <p:cNvSpPr/>
          <p:nvPr/>
        </p:nvSpPr>
        <p:spPr>
          <a:xfrm>
            <a:off x="685800" y="2377440"/>
            <a:ext cx="282960" cy="79992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HIERARCHY</a:t>
            </a:r>
            <a:endParaRPr b="0" lang="en-US" sz="750" strike="noStrike" u="none">
              <a:solidFill>
                <a:srgbClr val="000000"/>
              </a:solidFill>
              <a:effectLst/>
              <a:uFillTx/>
              <a:latin typeface="Arial"/>
            </a:endParaRPr>
          </a:p>
        </p:txBody>
      </p:sp>
      <p:sp>
        <p:nvSpPr>
          <p:cNvPr id="3595" name="Shape 39"/>
          <p:cNvSpPr/>
          <p:nvPr/>
        </p:nvSpPr>
        <p:spPr>
          <a:xfrm>
            <a:off x="1033200" y="26287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596" name="Shape 40"/>
          <p:cNvSpPr/>
          <p:nvPr/>
        </p:nvSpPr>
        <p:spPr>
          <a:xfrm>
            <a:off x="1143000" y="237060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597" name="Text 41"/>
          <p:cNvSpPr/>
          <p:nvPr/>
        </p:nvSpPr>
        <p:spPr>
          <a:xfrm>
            <a:off x="1243440" y="233388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Entity, site, asset and supplier model</a:t>
            </a:r>
            <a:endParaRPr b="0" lang="en-US" sz="950" strike="noStrike" u="none">
              <a:solidFill>
                <a:srgbClr val="000000"/>
              </a:solidFill>
              <a:effectLst/>
              <a:uFillTx/>
              <a:latin typeface="Arial"/>
            </a:endParaRPr>
          </a:p>
        </p:txBody>
      </p:sp>
      <p:sp>
        <p:nvSpPr>
          <p:cNvPr id="3598" name="Shape 42"/>
          <p:cNvSpPr/>
          <p:nvPr/>
        </p:nvSpPr>
        <p:spPr>
          <a:xfrm>
            <a:off x="4808520" y="2429640"/>
            <a:ext cx="2027880" cy="100800"/>
          </a:xfrm>
          <a:prstGeom prst="roundRect">
            <a:avLst>
              <a:gd name="adj" fmla="val 36199"/>
            </a:avLst>
          </a:prstGeom>
          <a:solidFill>
            <a:srgbClr val="3dcd58"/>
          </a:solidFill>
          <a:ln w="12700">
            <a:solidFill>
              <a:srgbClr val="3dcd58"/>
            </a:solidFill>
            <a:round/>
          </a:ln>
        </p:spPr>
        <p:style>
          <a:lnRef idx="0"/>
          <a:fillRef idx="0"/>
          <a:effectRef idx="0"/>
          <a:fontRef idx="minor"/>
        </p:style>
        <p:txBody>
          <a:bodyPr lIns="90000" rIns="90000" tIns="34920" bIns="34920" anchor="t">
            <a:noAutofit/>
          </a:bodyPr>
          <a:p>
            <a:endParaRPr b="0" lang="en-US" sz="1800" strike="noStrike" u="none">
              <a:solidFill>
                <a:srgbClr val="000000"/>
              </a:solidFill>
              <a:effectLst/>
              <a:uFillTx/>
              <a:latin typeface="Arial"/>
            </a:endParaRPr>
          </a:p>
        </p:txBody>
      </p:sp>
      <p:sp>
        <p:nvSpPr>
          <p:cNvPr id="3599" name="Shape 43"/>
          <p:cNvSpPr/>
          <p:nvPr/>
        </p:nvSpPr>
        <p:spPr>
          <a:xfrm>
            <a:off x="6837120" y="2429640"/>
            <a:ext cx="4732560" cy="100800"/>
          </a:xfrm>
          <a:prstGeom prst="roundRect">
            <a:avLst>
              <a:gd name="adj" fmla="val 36199"/>
            </a:avLst>
          </a:prstGeom>
          <a:solidFill>
            <a:srgbClr val="3dcd58">
              <a:alpha val="22000"/>
            </a:srgbClr>
          </a:solidFill>
          <a:ln w="12700">
            <a:solidFill>
              <a:srgbClr val="3dcd58">
                <a:alpha val="22000"/>
              </a:srgbClr>
            </a:solidFill>
            <a:round/>
          </a:ln>
        </p:spPr>
        <p:style>
          <a:lnRef idx="0"/>
          <a:fillRef idx="0"/>
          <a:effectRef idx="0"/>
          <a:fontRef idx="minor"/>
        </p:style>
        <p:txBody>
          <a:bodyPr lIns="90000" rIns="90000" tIns="34920" bIns="34920" anchor="t">
            <a:noAutofit/>
          </a:bodyPr>
          <a:p>
            <a:endParaRPr b="0" lang="en-US" sz="1800" strike="noStrike" u="none">
              <a:solidFill>
                <a:srgbClr val="000000"/>
              </a:solidFill>
              <a:effectLst/>
              <a:uFillTx/>
              <a:latin typeface="Arial"/>
            </a:endParaRPr>
          </a:p>
        </p:txBody>
      </p:sp>
      <p:sp>
        <p:nvSpPr>
          <p:cNvPr id="3600" name="Shape 44"/>
          <p:cNvSpPr/>
          <p:nvPr/>
        </p:nvSpPr>
        <p:spPr>
          <a:xfrm>
            <a:off x="6764040" y="2407320"/>
            <a:ext cx="145800" cy="145800"/>
          </a:xfrm>
          <a:prstGeom prst="ellipse">
            <a:avLst/>
          </a:prstGeom>
          <a:solidFill>
            <a:srgbClr val="007a27"/>
          </a:solidFill>
          <a:ln w="1524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601" name="Shape 45"/>
          <p:cNvSpPr/>
          <p:nvPr/>
        </p:nvSpPr>
        <p:spPr>
          <a:xfrm>
            <a:off x="1033200" y="29260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602" name="Shape 46"/>
          <p:cNvSpPr/>
          <p:nvPr/>
        </p:nvSpPr>
        <p:spPr>
          <a:xfrm>
            <a:off x="1143000" y="266760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603" name="Text 47"/>
          <p:cNvSpPr/>
          <p:nvPr/>
        </p:nvSpPr>
        <p:spPr>
          <a:xfrm>
            <a:off x="1243440" y="263124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Multi-hierarchy views and boundaries</a:t>
            </a:r>
            <a:endParaRPr b="0" lang="en-US" sz="950" strike="noStrike" u="none">
              <a:solidFill>
                <a:srgbClr val="000000"/>
              </a:solidFill>
              <a:effectLst/>
              <a:uFillTx/>
              <a:latin typeface="Arial"/>
            </a:endParaRPr>
          </a:p>
        </p:txBody>
      </p:sp>
      <p:sp>
        <p:nvSpPr>
          <p:cNvPr id="3604" name="Shape 48"/>
          <p:cNvSpPr/>
          <p:nvPr/>
        </p:nvSpPr>
        <p:spPr>
          <a:xfrm>
            <a:off x="6161040" y="2727000"/>
            <a:ext cx="2027880" cy="100800"/>
          </a:xfrm>
          <a:prstGeom prst="roundRect">
            <a:avLst>
              <a:gd name="adj" fmla="val 36199"/>
            </a:avLst>
          </a:prstGeom>
          <a:solidFill>
            <a:srgbClr val="3dcd58"/>
          </a:solidFill>
          <a:ln w="12700">
            <a:solidFill>
              <a:srgbClr val="3dcd58"/>
            </a:solidFill>
            <a:round/>
          </a:ln>
        </p:spPr>
        <p:style>
          <a:lnRef idx="0"/>
          <a:fillRef idx="0"/>
          <a:effectRef idx="0"/>
          <a:fontRef idx="minor"/>
        </p:style>
        <p:txBody>
          <a:bodyPr lIns="90000" rIns="90000" tIns="34920" bIns="34920" anchor="t">
            <a:noAutofit/>
          </a:bodyPr>
          <a:p>
            <a:endParaRPr b="0" lang="en-US" sz="1800" strike="noStrike" u="none">
              <a:solidFill>
                <a:srgbClr val="000000"/>
              </a:solidFill>
              <a:effectLst/>
              <a:uFillTx/>
              <a:latin typeface="Arial"/>
            </a:endParaRPr>
          </a:p>
        </p:txBody>
      </p:sp>
      <p:sp>
        <p:nvSpPr>
          <p:cNvPr id="3605" name="Shape 49"/>
          <p:cNvSpPr/>
          <p:nvPr/>
        </p:nvSpPr>
        <p:spPr>
          <a:xfrm>
            <a:off x="8189280" y="2727000"/>
            <a:ext cx="3380400" cy="100800"/>
          </a:xfrm>
          <a:prstGeom prst="roundRect">
            <a:avLst>
              <a:gd name="adj" fmla="val 36199"/>
            </a:avLst>
          </a:prstGeom>
          <a:solidFill>
            <a:srgbClr val="3dcd58">
              <a:alpha val="22000"/>
            </a:srgbClr>
          </a:solidFill>
          <a:ln w="12700">
            <a:solidFill>
              <a:srgbClr val="3dcd58">
                <a:alpha val="22000"/>
              </a:srgbClr>
            </a:solidFill>
            <a:round/>
          </a:ln>
        </p:spPr>
        <p:style>
          <a:lnRef idx="0"/>
          <a:fillRef idx="0"/>
          <a:effectRef idx="0"/>
          <a:fontRef idx="minor"/>
        </p:style>
        <p:txBody>
          <a:bodyPr lIns="90000" rIns="90000" tIns="34920" bIns="34920" anchor="t">
            <a:noAutofit/>
          </a:bodyPr>
          <a:p>
            <a:endParaRPr b="0" lang="en-US" sz="1800" strike="noStrike" u="none">
              <a:solidFill>
                <a:srgbClr val="000000"/>
              </a:solidFill>
              <a:effectLst/>
              <a:uFillTx/>
              <a:latin typeface="Arial"/>
            </a:endParaRPr>
          </a:p>
        </p:txBody>
      </p:sp>
      <p:sp>
        <p:nvSpPr>
          <p:cNvPr id="3606" name="Shape 50"/>
          <p:cNvSpPr/>
          <p:nvPr/>
        </p:nvSpPr>
        <p:spPr>
          <a:xfrm>
            <a:off x="6764040" y="2704320"/>
            <a:ext cx="145800" cy="145800"/>
          </a:xfrm>
          <a:prstGeom prst="ellipse">
            <a:avLst/>
          </a:prstGeom>
          <a:solidFill>
            <a:srgbClr val="ffb04c"/>
          </a:solidFill>
          <a:ln w="1524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607" name="Shape 51"/>
          <p:cNvSpPr/>
          <p:nvPr/>
        </p:nvSpPr>
        <p:spPr>
          <a:xfrm>
            <a:off x="1033200" y="32230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608" name="Shape 52"/>
          <p:cNvSpPr/>
          <p:nvPr/>
        </p:nvSpPr>
        <p:spPr>
          <a:xfrm>
            <a:off x="1143000" y="296496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609" name="Text 53"/>
          <p:cNvSpPr/>
          <p:nvPr/>
        </p:nvSpPr>
        <p:spPr>
          <a:xfrm>
            <a:off x="1243440" y="292824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Role-based access aligned to responsibility</a:t>
            </a:r>
            <a:endParaRPr b="0" lang="en-US" sz="950" strike="noStrike" u="none">
              <a:solidFill>
                <a:srgbClr val="000000"/>
              </a:solidFill>
              <a:effectLst/>
              <a:uFillTx/>
              <a:latin typeface="Arial"/>
            </a:endParaRPr>
          </a:p>
        </p:txBody>
      </p:sp>
      <p:sp>
        <p:nvSpPr>
          <p:cNvPr id="3610" name="Shape 54"/>
          <p:cNvSpPr/>
          <p:nvPr/>
        </p:nvSpPr>
        <p:spPr>
          <a:xfrm>
            <a:off x="6837120" y="3024000"/>
            <a:ext cx="2027880" cy="100800"/>
          </a:xfrm>
          <a:prstGeom prst="roundRect">
            <a:avLst>
              <a:gd name="adj" fmla="val 36199"/>
            </a:avLst>
          </a:prstGeom>
          <a:solidFill>
            <a:srgbClr val="3dcd58"/>
          </a:solidFill>
          <a:ln w="12700">
            <a:solidFill>
              <a:srgbClr val="3dcd58"/>
            </a:solidFill>
            <a:round/>
          </a:ln>
        </p:spPr>
        <p:style>
          <a:lnRef idx="0"/>
          <a:fillRef idx="0"/>
          <a:effectRef idx="0"/>
          <a:fontRef idx="minor"/>
        </p:style>
        <p:txBody>
          <a:bodyPr lIns="90000" rIns="90000" tIns="34920" bIns="34920" anchor="t">
            <a:noAutofit/>
          </a:bodyPr>
          <a:p>
            <a:endParaRPr b="0" lang="en-US" sz="1800" strike="noStrike" u="none">
              <a:solidFill>
                <a:srgbClr val="000000"/>
              </a:solidFill>
              <a:effectLst/>
              <a:uFillTx/>
              <a:latin typeface="Arial"/>
            </a:endParaRPr>
          </a:p>
        </p:txBody>
      </p:sp>
      <p:sp>
        <p:nvSpPr>
          <p:cNvPr id="3611" name="Shape 55"/>
          <p:cNvSpPr/>
          <p:nvPr/>
        </p:nvSpPr>
        <p:spPr>
          <a:xfrm>
            <a:off x="8865360" y="3024000"/>
            <a:ext cx="2703960" cy="100800"/>
          </a:xfrm>
          <a:prstGeom prst="roundRect">
            <a:avLst>
              <a:gd name="adj" fmla="val 36199"/>
            </a:avLst>
          </a:prstGeom>
          <a:solidFill>
            <a:srgbClr val="3dcd58">
              <a:alpha val="22000"/>
            </a:srgbClr>
          </a:solidFill>
          <a:ln w="12700">
            <a:solidFill>
              <a:srgbClr val="3dcd58">
                <a:alpha val="22000"/>
              </a:srgbClr>
            </a:solidFill>
            <a:round/>
          </a:ln>
        </p:spPr>
        <p:style>
          <a:lnRef idx="0"/>
          <a:fillRef idx="0"/>
          <a:effectRef idx="0"/>
          <a:fontRef idx="minor"/>
        </p:style>
        <p:txBody>
          <a:bodyPr lIns="90000" rIns="90000" tIns="34920" bIns="34920" anchor="t">
            <a:noAutofit/>
          </a:bodyPr>
          <a:p>
            <a:endParaRPr b="0" lang="en-US" sz="1800" strike="noStrike" u="none">
              <a:solidFill>
                <a:srgbClr val="000000"/>
              </a:solidFill>
              <a:effectLst/>
              <a:uFillTx/>
              <a:latin typeface="Arial"/>
            </a:endParaRPr>
          </a:p>
        </p:txBody>
      </p:sp>
      <p:sp>
        <p:nvSpPr>
          <p:cNvPr id="3612" name="Shape 56"/>
          <p:cNvSpPr/>
          <p:nvPr/>
        </p:nvSpPr>
        <p:spPr>
          <a:xfrm>
            <a:off x="621720" y="3223440"/>
            <a:ext cx="411120" cy="1485720"/>
          </a:xfrm>
          <a:prstGeom prst="rect">
            <a:avLst/>
          </a:prstGeom>
          <a:solidFill>
            <a:srgbClr val="007a27"/>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613" name="Text 57"/>
          <p:cNvSpPr/>
          <p:nvPr/>
        </p:nvSpPr>
        <p:spPr>
          <a:xfrm>
            <a:off x="685800" y="3269160"/>
            <a:ext cx="282960" cy="139428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USER WORKFLOW</a:t>
            </a:r>
            <a:endParaRPr b="0" lang="en-US" sz="750" strike="noStrike" u="none">
              <a:solidFill>
                <a:srgbClr val="000000"/>
              </a:solidFill>
              <a:effectLst/>
              <a:uFillTx/>
              <a:latin typeface="Arial"/>
            </a:endParaRPr>
          </a:p>
        </p:txBody>
      </p:sp>
      <p:sp>
        <p:nvSpPr>
          <p:cNvPr id="3614" name="Shape 58"/>
          <p:cNvSpPr/>
          <p:nvPr/>
        </p:nvSpPr>
        <p:spPr>
          <a:xfrm>
            <a:off x="1033200" y="352044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615" name="Shape 59"/>
          <p:cNvSpPr/>
          <p:nvPr/>
        </p:nvSpPr>
        <p:spPr>
          <a:xfrm>
            <a:off x="1143000" y="326196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616" name="Text 60"/>
          <p:cNvSpPr/>
          <p:nvPr/>
        </p:nvSpPr>
        <p:spPr>
          <a:xfrm>
            <a:off x="1243440" y="322560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Config engine, calc methods, templates</a:t>
            </a:r>
            <a:endParaRPr b="0" lang="en-US" sz="950" strike="noStrike" u="none">
              <a:solidFill>
                <a:srgbClr val="000000"/>
              </a:solidFill>
              <a:effectLst/>
              <a:uFillTx/>
              <a:latin typeface="Arial"/>
            </a:endParaRPr>
          </a:p>
        </p:txBody>
      </p:sp>
      <p:sp>
        <p:nvSpPr>
          <p:cNvPr id="3617" name="Shape 61"/>
          <p:cNvSpPr/>
          <p:nvPr/>
        </p:nvSpPr>
        <p:spPr>
          <a:xfrm>
            <a:off x="4808520" y="3321360"/>
            <a:ext cx="2703960" cy="100800"/>
          </a:xfrm>
          <a:prstGeom prst="roundRect">
            <a:avLst>
              <a:gd name="adj" fmla="val 36199"/>
            </a:avLst>
          </a:prstGeom>
          <a:solidFill>
            <a:srgbClr val="007a27"/>
          </a:solidFill>
          <a:ln w="12700">
            <a:solidFill>
              <a:srgbClr val="007a27"/>
            </a:solidFill>
            <a:round/>
          </a:ln>
        </p:spPr>
        <p:style>
          <a:lnRef idx="0"/>
          <a:fillRef idx="0"/>
          <a:effectRef idx="0"/>
          <a:fontRef idx="minor"/>
        </p:style>
        <p:txBody>
          <a:bodyPr lIns="90000" rIns="90000" tIns="34920" bIns="34920" anchor="t">
            <a:noAutofit/>
          </a:bodyPr>
          <a:p>
            <a:endParaRPr b="0" lang="en-US" sz="1800" strike="noStrike" u="none">
              <a:solidFill>
                <a:srgbClr val="ffffff"/>
              </a:solidFill>
              <a:effectLst/>
              <a:uFillTx/>
              <a:latin typeface="Arial"/>
            </a:endParaRPr>
          </a:p>
        </p:txBody>
      </p:sp>
      <p:sp>
        <p:nvSpPr>
          <p:cNvPr id="3618" name="Shape 62"/>
          <p:cNvSpPr/>
          <p:nvPr/>
        </p:nvSpPr>
        <p:spPr>
          <a:xfrm>
            <a:off x="7513200" y="3321360"/>
            <a:ext cx="4056480" cy="100800"/>
          </a:xfrm>
          <a:prstGeom prst="roundRect">
            <a:avLst>
              <a:gd name="adj" fmla="val 36199"/>
            </a:avLst>
          </a:prstGeom>
          <a:solidFill>
            <a:srgbClr val="007a27">
              <a:alpha val="22000"/>
            </a:srgbClr>
          </a:solidFill>
          <a:ln w="12700">
            <a:solidFill>
              <a:srgbClr val="007a27">
                <a:alpha val="22000"/>
              </a:srgbClr>
            </a:solidFill>
            <a:round/>
          </a:ln>
        </p:spPr>
        <p:style>
          <a:lnRef idx="0"/>
          <a:fillRef idx="0"/>
          <a:effectRef idx="0"/>
          <a:fontRef idx="minor"/>
        </p:style>
        <p:txBody>
          <a:bodyPr lIns="90000" rIns="90000" tIns="34920" bIns="34920" anchor="t">
            <a:noAutofit/>
          </a:bodyPr>
          <a:p>
            <a:endParaRPr b="0" lang="en-US" sz="1800" strike="noStrike" u="none">
              <a:solidFill>
                <a:srgbClr val="ffffff"/>
              </a:solidFill>
              <a:effectLst/>
              <a:uFillTx/>
              <a:latin typeface="Arial"/>
            </a:endParaRPr>
          </a:p>
        </p:txBody>
      </p:sp>
      <p:sp>
        <p:nvSpPr>
          <p:cNvPr id="3619" name="Shape 63"/>
          <p:cNvSpPr/>
          <p:nvPr/>
        </p:nvSpPr>
        <p:spPr>
          <a:xfrm>
            <a:off x="5411520" y="3298680"/>
            <a:ext cx="145800" cy="145800"/>
          </a:xfrm>
          <a:prstGeom prst="ellipse">
            <a:avLst/>
          </a:prstGeom>
          <a:solidFill>
            <a:srgbClr val="ffb04c"/>
          </a:solidFill>
          <a:ln w="1524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620" name="Shape 64"/>
          <p:cNvSpPr/>
          <p:nvPr/>
        </p:nvSpPr>
        <p:spPr>
          <a:xfrm>
            <a:off x="7440120" y="3298680"/>
            <a:ext cx="145800" cy="145800"/>
          </a:xfrm>
          <a:prstGeom prst="ellipse">
            <a:avLst/>
          </a:prstGeom>
          <a:solidFill>
            <a:srgbClr val="007a27"/>
          </a:solidFill>
          <a:ln w="1524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621" name="Shape 65"/>
          <p:cNvSpPr/>
          <p:nvPr/>
        </p:nvSpPr>
        <p:spPr>
          <a:xfrm>
            <a:off x="1033200" y="381744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622" name="Shape 66"/>
          <p:cNvSpPr/>
          <p:nvPr/>
        </p:nvSpPr>
        <p:spPr>
          <a:xfrm>
            <a:off x="1143000" y="355932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623" name="Text 67"/>
          <p:cNvSpPr/>
          <p:nvPr/>
        </p:nvSpPr>
        <p:spPr>
          <a:xfrm>
            <a:off x="1243440" y="352260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Ingestion and transformation rules</a:t>
            </a:r>
            <a:endParaRPr b="0" lang="en-US" sz="950" strike="noStrike" u="none">
              <a:solidFill>
                <a:srgbClr val="000000"/>
              </a:solidFill>
              <a:effectLst/>
              <a:uFillTx/>
              <a:latin typeface="Arial"/>
            </a:endParaRPr>
          </a:p>
        </p:txBody>
      </p:sp>
      <p:sp>
        <p:nvSpPr>
          <p:cNvPr id="3624" name="Shape 68"/>
          <p:cNvSpPr/>
          <p:nvPr/>
        </p:nvSpPr>
        <p:spPr>
          <a:xfrm>
            <a:off x="5484960" y="3618360"/>
            <a:ext cx="2703960" cy="100800"/>
          </a:xfrm>
          <a:prstGeom prst="roundRect">
            <a:avLst>
              <a:gd name="adj" fmla="val 36199"/>
            </a:avLst>
          </a:prstGeom>
          <a:solidFill>
            <a:srgbClr val="007a27"/>
          </a:solidFill>
          <a:ln w="12700">
            <a:solidFill>
              <a:srgbClr val="007a27"/>
            </a:solidFill>
            <a:round/>
          </a:ln>
        </p:spPr>
        <p:style>
          <a:lnRef idx="0"/>
          <a:fillRef idx="0"/>
          <a:effectRef idx="0"/>
          <a:fontRef idx="minor"/>
        </p:style>
        <p:txBody>
          <a:bodyPr lIns="90000" rIns="90000" tIns="34920" bIns="34920" anchor="t">
            <a:noAutofit/>
          </a:bodyPr>
          <a:p>
            <a:endParaRPr b="0" lang="en-US" sz="1800" strike="noStrike" u="none">
              <a:solidFill>
                <a:srgbClr val="ffffff"/>
              </a:solidFill>
              <a:effectLst/>
              <a:uFillTx/>
              <a:latin typeface="Arial"/>
            </a:endParaRPr>
          </a:p>
        </p:txBody>
      </p:sp>
      <p:sp>
        <p:nvSpPr>
          <p:cNvPr id="3625" name="Shape 69"/>
          <p:cNvSpPr/>
          <p:nvPr/>
        </p:nvSpPr>
        <p:spPr>
          <a:xfrm>
            <a:off x="8189280" y="3618360"/>
            <a:ext cx="3380400" cy="100800"/>
          </a:xfrm>
          <a:prstGeom prst="roundRect">
            <a:avLst>
              <a:gd name="adj" fmla="val 36199"/>
            </a:avLst>
          </a:prstGeom>
          <a:solidFill>
            <a:srgbClr val="007a27">
              <a:alpha val="22000"/>
            </a:srgbClr>
          </a:solidFill>
          <a:ln w="12700">
            <a:solidFill>
              <a:srgbClr val="007a27">
                <a:alpha val="22000"/>
              </a:srgbClr>
            </a:solidFill>
            <a:round/>
          </a:ln>
        </p:spPr>
        <p:style>
          <a:lnRef idx="0"/>
          <a:fillRef idx="0"/>
          <a:effectRef idx="0"/>
          <a:fontRef idx="minor"/>
        </p:style>
        <p:txBody>
          <a:bodyPr lIns="90000" rIns="90000" tIns="34920" bIns="34920" anchor="t">
            <a:noAutofit/>
          </a:bodyPr>
          <a:p>
            <a:endParaRPr b="0" lang="en-US" sz="1800" strike="noStrike" u="none">
              <a:solidFill>
                <a:srgbClr val="ffffff"/>
              </a:solidFill>
              <a:effectLst/>
              <a:uFillTx/>
              <a:latin typeface="Arial"/>
            </a:endParaRPr>
          </a:p>
        </p:txBody>
      </p:sp>
      <p:sp>
        <p:nvSpPr>
          <p:cNvPr id="3626" name="Shape 70"/>
          <p:cNvSpPr/>
          <p:nvPr/>
        </p:nvSpPr>
        <p:spPr>
          <a:xfrm>
            <a:off x="6087600" y="3596040"/>
            <a:ext cx="145800" cy="145800"/>
          </a:xfrm>
          <a:prstGeom prst="ellipse">
            <a:avLst/>
          </a:prstGeom>
          <a:solidFill>
            <a:srgbClr val="ffb04c"/>
          </a:solidFill>
          <a:ln w="1524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627" name="Shape 71"/>
          <p:cNvSpPr/>
          <p:nvPr/>
        </p:nvSpPr>
        <p:spPr>
          <a:xfrm>
            <a:off x="1033200" y="411480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628" name="Shape 72"/>
          <p:cNvSpPr/>
          <p:nvPr/>
        </p:nvSpPr>
        <p:spPr>
          <a:xfrm>
            <a:off x="1143000" y="385632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629" name="Text 73"/>
          <p:cNvSpPr/>
          <p:nvPr/>
        </p:nvSpPr>
        <p:spPr>
          <a:xfrm>
            <a:off x="1243440" y="38199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Campaigns, assignments and approvals</a:t>
            </a:r>
            <a:endParaRPr b="0" lang="en-US" sz="950" strike="noStrike" u="none">
              <a:solidFill>
                <a:srgbClr val="000000"/>
              </a:solidFill>
              <a:effectLst/>
              <a:uFillTx/>
              <a:latin typeface="Arial"/>
            </a:endParaRPr>
          </a:p>
        </p:txBody>
      </p:sp>
      <p:sp>
        <p:nvSpPr>
          <p:cNvPr id="3630" name="Shape 74"/>
          <p:cNvSpPr/>
          <p:nvPr/>
        </p:nvSpPr>
        <p:spPr>
          <a:xfrm>
            <a:off x="6161040" y="3915720"/>
            <a:ext cx="2703960" cy="100800"/>
          </a:xfrm>
          <a:prstGeom prst="roundRect">
            <a:avLst>
              <a:gd name="adj" fmla="val 36199"/>
            </a:avLst>
          </a:prstGeom>
          <a:solidFill>
            <a:srgbClr val="007a27"/>
          </a:solidFill>
          <a:ln w="12700">
            <a:solidFill>
              <a:srgbClr val="007a27"/>
            </a:solidFill>
            <a:round/>
          </a:ln>
        </p:spPr>
        <p:style>
          <a:lnRef idx="0"/>
          <a:fillRef idx="0"/>
          <a:effectRef idx="0"/>
          <a:fontRef idx="minor"/>
        </p:style>
        <p:txBody>
          <a:bodyPr lIns="90000" rIns="90000" tIns="34920" bIns="34920" anchor="t">
            <a:noAutofit/>
          </a:bodyPr>
          <a:p>
            <a:endParaRPr b="0" lang="en-US" sz="1800" strike="noStrike" u="none">
              <a:solidFill>
                <a:srgbClr val="ffffff"/>
              </a:solidFill>
              <a:effectLst/>
              <a:uFillTx/>
              <a:latin typeface="Arial"/>
            </a:endParaRPr>
          </a:p>
        </p:txBody>
      </p:sp>
      <p:sp>
        <p:nvSpPr>
          <p:cNvPr id="3631" name="Shape 75"/>
          <p:cNvSpPr/>
          <p:nvPr/>
        </p:nvSpPr>
        <p:spPr>
          <a:xfrm>
            <a:off x="8865360" y="3915720"/>
            <a:ext cx="2703960" cy="100800"/>
          </a:xfrm>
          <a:prstGeom prst="roundRect">
            <a:avLst>
              <a:gd name="adj" fmla="val 36199"/>
            </a:avLst>
          </a:prstGeom>
          <a:solidFill>
            <a:srgbClr val="007a27">
              <a:alpha val="22000"/>
            </a:srgbClr>
          </a:solidFill>
          <a:ln w="12700">
            <a:solidFill>
              <a:srgbClr val="007a27">
                <a:alpha val="22000"/>
              </a:srgbClr>
            </a:solidFill>
            <a:round/>
          </a:ln>
        </p:spPr>
        <p:style>
          <a:lnRef idx="0"/>
          <a:fillRef idx="0"/>
          <a:effectRef idx="0"/>
          <a:fontRef idx="minor"/>
        </p:style>
        <p:txBody>
          <a:bodyPr lIns="90000" rIns="90000" tIns="34920" bIns="34920" anchor="t">
            <a:noAutofit/>
          </a:bodyPr>
          <a:p>
            <a:endParaRPr b="0" lang="en-US" sz="1800" strike="noStrike" u="none">
              <a:solidFill>
                <a:srgbClr val="ffffff"/>
              </a:solidFill>
              <a:effectLst/>
              <a:uFillTx/>
              <a:latin typeface="Arial"/>
            </a:endParaRPr>
          </a:p>
        </p:txBody>
      </p:sp>
      <p:sp>
        <p:nvSpPr>
          <p:cNvPr id="3632" name="Shape 76"/>
          <p:cNvSpPr/>
          <p:nvPr/>
        </p:nvSpPr>
        <p:spPr>
          <a:xfrm>
            <a:off x="8792280" y="3893040"/>
            <a:ext cx="145800" cy="145800"/>
          </a:xfrm>
          <a:prstGeom prst="ellipse">
            <a:avLst/>
          </a:prstGeom>
          <a:solidFill>
            <a:srgbClr val="007a27"/>
          </a:solidFill>
          <a:ln w="1524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633" name="Shape 77"/>
          <p:cNvSpPr/>
          <p:nvPr/>
        </p:nvSpPr>
        <p:spPr>
          <a:xfrm>
            <a:off x="1033200" y="441180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634" name="Shape 78"/>
          <p:cNvSpPr/>
          <p:nvPr/>
        </p:nvSpPr>
        <p:spPr>
          <a:xfrm>
            <a:off x="1143000" y="415368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635" name="Text 79"/>
          <p:cNvSpPr/>
          <p:nvPr/>
        </p:nvSpPr>
        <p:spPr>
          <a:xfrm>
            <a:off x="1243440" y="41169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Data quality, exceptions and remediation</a:t>
            </a:r>
            <a:endParaRPr b="0" lang="en-US" sz="950" strike="noStrike" u="none">
              <a:solidFill>
                <a:srgbClr val="000000"/>
              </a:solidFill>
              <a:effectLst/>
              <a:uFillTx/>
              <a:latin typeface="Arial"/>
            </a:endParaRPr>
          </a:p>
        </p:txBody>
      </p:sp>
      <p:sp>
        <p:nvSpPr>
          <p:cNvPr id="3636" name="Shape 80"/>
          <p:cNvSpPr/>
          <p:nvPr/>
        </p:nvSpPr>
        <p:spPr>
          <a:xfrm>
            <a:off x="6837120" y="4212720"/>
            <a:ext cx="2703960" cy="100800"/>
          </a:xfrm>
          <a:prstGeom prst="roundRect">
            <a:avLst>
              <a:gd name="adj" fmla="val 36199"/>
            </a:avLst>
          </a:prstGeom>
          <a:solidFill>
            <a:srgbClr val="007a27"/>
          </a:solidFill>
          <a:ln w="12700">
            <a:solidFill>
              <a:srgbClr val="007a27"/>
            </a:solidFill>
            <a:round/>
          </a:ln>
        </p:spPr>
        <p:style>
          <a:lnRef idx="0"/>
          <a:fillRef idx="0"/>
          <a:effectRef idx="0"/>
          <a:fontRef idx="minor"/>
        </p:style>
        <p:txBody>
          <a:bodyPr lIns="90000" rIns="90000" tIns="34920" bIns="34920" anchor="t">
            <a:noAutofit/>
          </a:bodyPr>
          <a:p>
            <a:endParaRPr b="0" lang="en-US" sz="1800" strike="noStrike" u="none">
              <a:solidFill>
                <a:srgbClr val="ffffff"/>
              </a:solidFill>
              <a:effectLst/>
              <a:uFillTx/>
              <a:latin typeface="Arial"/>
            </a:endParaRPr>
          </a:p>
        </p:txBody>
      </p:sp>
      <p:sp>
        <p:nvSpPr>
          <p:cNvPr id="3637" name="Shape 81"/>
          <p:cNvSpPr/>
          <p:nvPr/>
        </p:nvSpPr>
        <p:spPr>
          <a:xfrm>
            <a:off x="9541440" y="4212720"/>
            <a:ext cx="2027880" cy="100800"/>
          </a:xfrm>
          <a:prstGeom prst="roundRect">
            <a:avLst>
              <a:gd name="adj" fmla="val 36199"/>
            </a:avLst>
          </a:prstGeom>
          <a:solidFill>
            <a:srgbClr val="007a27">
              <a:alpha val="22000"/>
            </a:srgbClr>
          </a:solidFill>
          <a:ln w="12700">
            <a:solidFill>
              <a:srgbClr val="007a27">
                <a:alpha val="22000"/>
              </a:srgbClr>
            </a:solidFill>
            <a:round/>
          </a:ln>
        </p:spPr>
        <p:style>
          <a:lnRef idx="0"/>
          <a:fillRef idx="0"/>
          <a:effectRef idx="0"/>
          <a:fontRef idx="minor"/>
        </p:style>
        <p:txBody>
          <a:bodyPr lIns="90000" rIns="90000" tIns="34920" bIns="34920" anchor="t">
            <a:noAutofit/>
          </a:bodyPr>
          <a:p>
            <a:endParaRPr b="0" lang="en-US" sz="1800" strike="noStrike" u="none">
              <a:solidFill>
                <a:srgbClr val="ffffff"/>
              </a:solidFill>
              <a:effectLst/>
              <a:uFillTx/>
              <a:latin typeface="Arial"/>
            </a:endParaRPr>
          </a:p>
        </p:txBody>
      </p:sp>
      <p:sp>
        <p:nvSpPr>
          <p:cNvPr id="3638" name="Shape 82"/>
          <p:cNvSpPr/>
          <p:nvPr/>
        </p:nvSpPr>
        <p:spPr>
          <a:xfrm>
            <a:off x="1033200" y="470916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639" name="Shape 83"/>
          <p:cNvSpPr/>
          <p:nvPr/>
        </p:nvSpPr>
        <p:spPr>
          <a:xfrm>
            <a:off x="1143000" y="445068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640" name="Text 84"/>
          <p:cNvSpPr/>
          <p:nvPr/>
        </p:nvSpPr>
        <p:spPr>
          <a:xfrm>
            <a:off x="1243440" y="44143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Evidence, lineage and audit trail</a:t>
            </a:r>
            <a:endParaRPr b="0" lang="en-US" sz="950" strike="noStrike" u="none">
              <a:solidFill>
                <a:srgbClr val="000000"/>
              </a:solidFill>
              <a:effectLst/>
              <a:uFillTx/>
              <a:latin typeface="Arial"/>
            </a:endParaRPr>
          </a:p>
        </p:txBody>
      </p:sp>
      <p:sp>
        <p:nvSpPr>
          <p:cNvPr id="3641" name="Shape 85"/>
          <p:cNvSpPr/>
          <p:nvPr/>
        </p:nvSpPr>
        <p:spPr>
          <a:xfrm>
            <a:off x="6837120" y="4510080"/>
            <a:ext cx="3380400" cy="100800"/>
          </a:xfrm>
          <a:prstGeom prst="roundRect">
            <a:avLst>
              <a:gd name="adj" fmla="val 36199"/>
            </a:avLst>
          </a:prstGeom>
          <a:solidFill>
            <a:srgbClr val="007a27"/>
          </a:solidFill>
          <a:ln w="12700">
            <a:solidFill>
              <a:srgbClr val="007a27"/>
            </a:solidFill>
            <a:round/>
          </a:ln>
        </p:spPr>
        <p:style>
          <a:lnRef idx="0"/>
          <a:fillRef idx="0"/>
          <a:effectRef idx="0"/>
          <a:fontRef idx="minor"/>
        </p:style>
        <p:txBody>
          <a:bodyPr lIns="90000" rIns="90000" tIns="34920" bIns="34920" anchor="t">
            <a:noAutofit/>
          </a:bodyPr>
          <a:p>
            <a:endParaRPr b="0" lang="en-US" sz="1800" strike="noStrike" u="none">
              <a:solidFill>
                <a:srgbClr val="ffffff"/>
              </a:solidFill>
              <a:effectLst/>
              <a:uFillTx/>
              <a:latin typeface="Arial"/>
            </a:endParaRPr>
          </a:p>
        </p:txBody>
      </p:sp>
      <p:sp>
        <p:nvSpPr>
          <p:cNvPr id="3642" name="Shape 86"/>
          <p:cNvSpPr/>
          <p:nvPr/>
        </p:nvSpPr>
        <p:spPr>
          <a:xfrm>
            <a:off x="10217520" y="4510080"/>
            <a:ext cx="1351800" cy="100800"/>
          </a:xfrm>
          <a:prstGeom prst="roundRect">
            <a:avLst>
              <a:gd name="adj" fmla="val 36199"/>
            </a:avLst>
          </a:prstGeom>
          <a:solidFill>
            <a:srgbClr val="007a27">
              <a:alpha val="22000"/>
            </a:srgbClr>
          </a:solidFill>
          <a:ln w="12700">
            <a:solidFill>
              <a:srgbClr val="007a27">
                <a:alpha val="22000"/>
              </a:srgbClr>
            </a:solidFill>
            <a:round/>
          </a:ln>
        </p:spPr>
        <p:style>
          <a:lnRef idx="0"/>
          <a:fillRef idx="0"/>
          <a:effectRef idx="0"/>
          <a:fontRef idx="minor"/>
        </p:style>
        <p:txBody>
          <a:bodyPr lIns="90000" rIns="90000" tIns="34920" bIns="34920" anchor="t">
            <a:noAutofit/>
          </a:bodyPr>
          <a:p>
            <a:endParaRPr b="0" lang="en-US" sz="1800" strike="noStrike" u="none">
              <a:solidFill>
                <a:srgbClr val="ffffff"/>
              </a:solidFill>
              <a:effectLst/>
              <a:uFillTx/>
              <a:latin typeface="Arial"/>
            </a:endParaRPr>
          </a:p>
        </p:txBody>
      </p:sp>
      <p:sp>
        <p:nvSpPr>
          <p:cNvPr id="3643" name="Shape 87"/>
          <p:cNvSpPr/>
          <p:nvPr/>
        </p:nvSpPr>
        <p:spPr>
          <a:xfrm>
            <a:off x="621720" y="4709160"/>
            <a:ext cx="411120" cy="1188360"/>
          </a:xfrm>
          <a:prstGeom prst="rect">
            <a:avLst/>
          </a:prstGeom>
          <a:solidFill>
            <a:srgbClr val="ffb04c"/>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644" name="Text 88"/>
          <p:cNvSpPr/>
          <p:nvPr/>
        </p:nvSpPr>
        <p:spPr>
          <a:xfrm>
            <a:off x="685800" y="4754880"/>
            <a:ext cx="282960" cy="109692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ANALYTICS ENGINE</a:t>
            </a:r>
            <a:endParaRPr b="0" lang="en-US" sz="750" strike="noStrike" u="none">
              <a:solidFill>
                <a:srgbClr val="000000"/>
              </a:solidFill>
              <a:effectLst/>
              <a:uFillTx/>
              <a:latin typeface="Arial"/>
            </a:endParaRPr>
          </a:p>
        </p:txBody>
      </p:sp>
      <p:sp>
        <p:nvSpPr>
          <p:cNvPr id="3645" name="Shape 89"/>
          <p:cNvSpPr/>
          <p:nvPr/>
        </p:nvSpPr>
        <p:spPr>
          <a:xfrm>
            <a:off x="1033200" y="500616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646" name="Shape 90"/>
          <p:cNvSpPr/>
          <p:nvPr/>
        </p:nvSpPr>
        <p:spPr>
          <a:xfrm>
            <a:off x="1143000" y="474804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647" name="Text 91"/>
          <p:cNvSpPr/>
          <p:nvPr/>
        </p:nvSpPr>
        <p:spPr>
          <a:xfrm>
            <a:off x="1243440" y="47113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Reusable metrics and calculation logic</a:t>
            </a:r>
            <a:endParaRPr b="0" lang="en-US" sz="950" strike="noStrike" u="none">
              <a:solidFill>
                <a:srgbClr val="000000"/>
              </a:solidFill>
              <a:effectLst/>
              <a:uFillTx/>
              <a:latin typeface="Arial"/>
            </a:endParaRPr>
          </a:p>
        </p:txBody>
      </p:sp>
      <p:sp>
        <p:nvSpPr>
          <p:cNvPr id="3648" name="Shape 92"/>
          <p:cNvSpPr/>
          <p:nvPr/>
        </p:nvSpPr>
        <p:spPr>
          <a:xfrm>
            <a:off x="6161040" y="4807080"/>
            <a:ext cx="2703960" cy="100800"/>
          </a:xfrm>
          <a:prstGeom prst="roundRect">
            <a:avLst>
              <a:gd name="adj" fmla="val 36199"/>
            </a:avLst>
          </a:prstGeom>
          <a:solidFill>
            <a:srgbClr val="ffb04c"/>
          </a:solidFill>
          <a:ln w="12700">
            <a:solidFill>
              <a:srgbClr val="ffb04c"/>
            </a:solidFill>
            <a:round/>
          </a:ln>
        </p:spPr>
        <p:style>
          <a:lnRef idx="0"/>
          <a:fillRef idx="0"/>
          <a:effectRef idx="0"/>
          <a:fontRef idx="minor"/>
        </p:style>
        <p:txBody>
          <a:bodyPr lIns="90000" rIns="90000" tIns="34920" bIns="34920" anchor="t">
            <a:noAutofit/>
          </a:bodyPr>
          <a:p>
            <a:endParaRPr b="0" lang="en-US" sz="1800" strike="noStrike" u="none">
              <a:solidFill>
                <a:srgbClr val="000000"/>
              </a:solidFill>
              <a:effectLst/>
              <a:uFillTx/>
              <a:latin typeface="Arial"/>
            </a:endParaRPr>
          </a:p>
        </p:txBody>
      </p:sp>
      <p:sp>
        <p:nvSpPr>
          <p:cNvPr id="3649" name="Shape 93"/>
          <p:cNvSpPr/>
          <p:nvPr/>
        </p:nvSpPr>
        <p:spPr>
          <a:xfrm>
            <a:off x="8865360" y="4807080"/>
            <a:ext cx="2703960" cy="100800"/>
          </a:xfrm>
          <a:prstGeom prst="roundRect">
            <a:avLst>
              <a:gd name="adj" fmla="val 36199"/>
            </a:avLst>
          </a:prstGeom>
          <a:solidFill>
            <a:srgbClr val="ffb04c">
              <a:alpha val="22000"/>
            </a:srgbClr>
          </a:solidFill>
          <a:ln w="12700">
            <a:solidFill>
              <a:srgbClr val="ffb04c">
                <a:alpha val="22000"/>
              </a:srgbClr>
            </a:solidFill>
            <a:round/>
          </a:ln>
        </p:spPr>
        <p:style>
          <a:lnRef idx="0"/>
          <a:fillRef idx="0"/>
          <a:effectRef idx="0"/>
          <a:fontRef idx="minor"/>
        </p:style>
        <p:txBody>
          <a:bodyPr lIns="90000" rIns="90000" tIns="34920" bIns="34920" anchor="t">
            <a:noAutofit/>
          </a:bodyPr>
          <a:p>
            <a:endParaRPr b="0" lang="en-US" sz="1800" strike="noStrike" u="none">
              <a:solidFill>
                <a:srgbClr val="000000"/>
              </a:solidFill>
              <a:effectLst/>
              <a:uFillTx/>
              <a:latin typeface="Arial"/>
            </a:endParaRPr>
          </a:p>
        </p:txBody>
      </p:sp>
      <p:sp>
        <p:nvSpPr>
          <p:cNvPr id="3650" name="Shape 94"/>
          <p:cNvSpPr/>
          <p:nvPr/>
        </p:nvSpPr>
        <p:spPr>
          <a:xfrm>
            <a:off x="6764040" y="4784760"/>
            <a:ext cx="145800" cy="145800"/>
          </a:xfrm>
          <a:prstGeom prst="ellipse">
            <a:avLst/>
          </a:prstGeom>
          <a:solidFill>
            <a:srgbClr val="ffb04c"/>
          </a:solidFill>
          <a:ln w="1524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651" name="Shape 95"/>
          <p:cNvSpPr/>
          <p:nvPr/>
        </p:nvSpPr>
        <p:spPr>
          <a:xfrm>
            <a:off x="1033200" y="53035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652" name="Shape 96"/>
          <p:cNvSpPr/>
          <p:nvPr/>
        </p:nvSpPr>
        <p:spPr>
          <a:xfrm>
            <a:off x="1143000" y="504504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653" name="Text 97"/>
          <p:cNvSpPr/>
          <p:nvPr/>
        </p:nvSpPr>
        <p:spPr>
          <a:xfrm>
            <a:off x="1243440" y="500868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Dashboards from portfolio to source data</a:t>
            </a:r>
            <a:endParaRPr b="0" lang="en-US" sz="950" strike="noStrike" u="none">
              <a:solidFill>
                <a:srgbClr val="000000"/>
              </a:solidFill>
              <a:effectLst/>
              <a:uFillTx/>
              <a:latin typeface="Arial"/>
            </a:endParaRPr>
          </a:p>
        </p:txBody>
      </p:sp>
      <p:sp>
        <p:nvSpPr>
          <p:cNvPr id="3654" name="Shape 98"/>
          <p:cNvSpPr/>
          <p:nvPr/>
        </p:nvSpPr>
        <p:spPr>
          <a:xfrm>
            <a:off x="7513200" y="5104440"/>
            <a:ext cx="2027880" cy="100800"/>
          </a:xfrm>
          <a:prstGeom prst="roundRect">
            <a:avLst>
              <a:gd name="adj" fmla="val 36199"/>
            </a:avLst>
          </a:prstGeom>
          <a:solidFill>
            <a:srgbClr val="ffb04c"/>
          </a:solidFill>
          <a:ln w="12700">
            <a:solidFill>
              <a:srgbClr val="ffb04c"/>
            </a:solidFill>
            <a:round/>
          </a:ln>
        </p:spPr>
        <p:style>
          <a:lnRef idx="0"/>
          <a:fillRef idx="0"/>
          <a:effectRef idx="0"/>
          <a:fontRef idx="minor"/>
        </p:style>
        <p:txBody>
          <a:bodyPr lIns="90000" rIns="90000" tIns="34920" bIns="34920" anchor="t">
            <a:noAutofit/>
          </a:bodyPr>
          <a:p>
            <a:endParaRPr b="0" lang="en-US" sz="1800" strike="noStrike" u="none">
              <a:solidFill>
                <a:srgbClr val="000000"/>
              </a:solidFill>
              <a:effectLst/>
              <a:uFillTx/>
              <a:latin typeface="Arial"/>
            </a:endParaRPr>
          </a:p>
        </p:txBody>
      </p:sp>
      <p:sp>
        <p:nvSpPr>
          <p:cNvPr id="3655" name="Shape 99"/>
          <p:cNvSpPr/>
          <p:nvPr/>
        </p:nvSpPr>
        <p:spPr>
          <a:xfrm>
            <a:off x="9541440" y="5104440"/>
            <a:ext cx="2027880" cy="100800"/>
          </a:xfrm>
          <a:prstGeom prst="roundRect">
            <a:avLst>
              <a:gd name="adj" fmla="val 36199"/>
            </a:avLst>
          </a:prstGeom>
          <a:solidFill>
            <a:srgbClr val="ffb04c">
              <a:alpha val="22000"/>
            </a:srgbClr>
          </a:solidFill>
          <a:ln w="12700">
            <a:solidFill>
              <a:srgbClr val="ffb04c">
                <a:alpha val="22000"/>
              </a:srgbClr>
            </a:solidFill>
            <a:round/>
          </a:ln>
        </p:spPr>
        <p:style>
          <a:lnRef idx="0"/>
          <a:fillRef idx="0"/>
          <a:effectRef idx="0"/>
          <a:fontRef idx="minor"/>
        </p:style>
        <p:txBody>
          <a:bodyPr lIns="90000" rIns="90000" tIns="34920" bIns="34920" anchor="t">
            <a:noAutofit/>
          </a:bodyPr>
          <a:p>
            <a:endParaRPr b="0" lang="en-US" sz="1800" strike="noStrike" u="none">
              <a:solidFill>
                <a:srgbClr val="000000"/>
              </a:solidFill>
              <a:effectLst/>
              <a:uFillTx/>
              <a:latin typeface="Arial"/>
            </a:endParaRPr>
          </a:p>
        </p:txBody>
      </p:sp>
      <p:sp>
        <p:nvSpPr>
          <p:cNvPr id="3656" name="Shape 100"/>
          <p:cNvSpPr/>
          <p:nvPr/>
        </p:nvSpPr>
        <p:spPr>
          <a:xfrm>
            <a:off x="9468360" y="5081760"/>
            <a:ext cx="145800" cy="145800"/>
          </a:xfrm>
          <a:prstGeom prst="ellipse">
            <a:avLst/>
          </a:prstGeom>
          <a:solidFill>
            <a:srgbClr val="007a27"/>
          </a:solidFill>
          <a:ln w="1524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657" name="Shape 101"/>
          <p:cNvSpPr/>
          <p:nvPr/>
        </p:nvSpPr>
        <p:spPr>
          <a:xfrm>
            <a:off x="1033200" y="56005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658" name="Shape 102"/>
          <p:cNvSpPr/>
          <p:nvPr/>
        </p:nvSpPr>
        <p:spPr>
          <a:xfrm>
            <a:off x="1143000" y="534240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659" name="Text 103"/>
          <p:cNvSpPr/>
          <p:nvPr/>
        </p:nvSpPr>
        <p:spPr>
          <a:xfrm>
            <a:off x="1243440" y="530568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Scenario, forecasting and value at risk</a:t>
            </a:r>
            <a:endParaRPr b="0" lang="en-US" sz="950" strike="noStrike" u="none">
              <a:solidFill>
                <a:srgbClr val="000000"/>
              </a:solidFill>
              <a:effectLst/>
              <a:uFillTx/>
              <a:latin typeface="Arial"/>
            </a:endParaRPr>
          </a:p>
        </p:txBody>
      </p:sp>
      <p:sp>
        <p:nvSpPr>
          <p:cNvPr id="3660" name="Shape 104"/>
          <p:cNvSpPr/>
          <p:nvPr/>
        </p:nvSpPr>
        <p:spPr>
          <a:xfrm>
            <a:off x="8189280" y="5401440"/>
            <a:ext cx="2027880" cy="100800"/>
          </a:xfrm>
          <a:prstGeom prst="roundRect">
            <a:avLst>
              <a:gd name="adj" fmla="val 36199"/>
            </a:avLst>
          </a:prstGeom>
          <a:solidFill>
            <a:srgbClr val="ffb04c"/>
          </a:solidFill>
          <a:ln w="12700">
            <a:solidFill>
              <a:srgbClr val="ffb04c"/>
            </a:solidFill>
            <a:round/>
          </a:ln>
        </p:spPr>
        <p:style>
          <a:lnRef idx="0"/>
          <a:fillRef idx="0"/>
          <a:effectRef idx="0"/>
          <a:fontRef idx="minor"/>
        </p:style>
        <p:txBody>
          <a:bodyPr lIns="90000" rIns="90000" tIns="34920" bIns="34920" anchor="t">
            <a:noAutofit/>
          </a:bodyPr>
          <a:p>
            <a:endParaRPr b="0" lang="en-US" sz="1800" strike="noStrike" u="none">
              <a:solidFill>
                <a:srgbClr val="000000"/>
              </a:solidFill>
              <a:effectLst/>
              <a:uFillTx/>
              <a:latin typeface="Arial"/>
            </a:endParaRPr>
          </a:p>
        </p:txBody>
      </p:sp>
      <p:sp>
        <p:nvSpPr>
          <p:cNvPr id="3661" name="Shape 105"/>
          <p:cNvSpPr/>
          <p:nvPr/>
        </p:nvSpPr>
        <p:spPr>
          <a:xfrm>
            <a:off x="10217520" y="5401440"/>
            <a:ext cx="1351800" cy="100800"/>
          </a:xfrm>
          <a:prstGeom prst="roundRect">
            <a:avLst>
              <a:gd name="adj" fmla="val 36199"/>
            </a:avLst>
          </a:prstGeom>
          <a:solidFill>
            <a:srgbClr val="ffb04c">
              <a:alpha val="22000"/>
            </a:srgbClr>
          </a:solidFill>
          <a:ln w="12700">
            <a:solidFill>
              <a:srgbClr val="ffb04c">
                <a:alpha val="22000"/>
              </a:srgbClr>
            </a:solidFill>
            <a:round/>
          </a:ln>
        </p:spPr>
        <p:style>
          <a:lnRef idx="0"/>
          <a:fillRef idx="0"/>
          <a:effectRef idx="0"/>
          <a:fontRef idx="minor"/>
        </p:style>
        <p:txBody>
          <a:bodyPr lIns="90000" rIns="90000" tIns="34920" bIns="34920" anchor="t">
            <a:noAutofit/>
          </a:bodyPr>
          <a:p>
            <a:endParaRPr b="0" lang="en-US" sz="1800" strike="noStrike" u="none">
              <a:solidFill>
                <a:srgbClr val="000000"/>
              </a:solidFill>
              <a:effectLst/>
              <a:uFillTx/>
              <a:latin typeface="Arial"/>
            </a:endParaRPr>
          </a:p>
        </p:txBody>
      </p:sp>
      <p:sp>
        <p:nvSpPr>
          <p:cNvPr id="3662" name="Shape 106"/>
          <p:cNvSpPr/>
          <p:nvPr/>
        </p:nvSpPr>
        <p:spPr>
          <a:xfrm>
            <a:off x="1033200" y="58978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663" name="Shape 107"/>
          <p:cNvSpPr/>
          <p:nvPr/>
        </p:nvSpPr>
        <p:spPr>
          <a:xfrm>
            <a:off x="1143000" y="563940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664" name="Text 108"/>
          <p:cNvSpPr/>
          <p:nvPr/>
        </p:nvSpPr>
        <p:spPr>
          <a:xfrm>
            <a:off x="1243440" y="560304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AI-assisted insight on governed data</a:t>
            </a:r>
            <a:endParaRPr b="0" lang="en-US" sz="950" strike="noStrike" u="none">
              <a:solidFill>
                <a:srgbClr val="000000"/>
              </a:solidFill>
              <a:effectLst/>
              <a:uFillTx/>
              <a:latin typeface="Arial"/>
            </a:endParaRPr>
          </a:p>
        </p:txBody>
      </p:sp>
      <p:sp>
        <p:nvSpPr>
          <p:cNvPr id="3665" name="Shape 109"/>
          <p:cNvSpPr/>
          <p:nvPr/>
        </p:nvSpPr>
        <p:spPr>
          <a:xfrm>
            <a:off x="9541440" y="5698800"/>
            <a:ext cx="2027880" cy="100800"/>
          </a:xfrm>
          <a:prstGeom prst="roundRect">
            <a:avLst>
              <a:gd name="adj" fmla="val 36199"/>
            </a:avLst>
          </a:prstGeom>
          <a:solidFill>
            <a:srgbClr val="ffb04c"/>
          </a:solidFill>
          <a:ln w="12700">
            <a:solidFill>
              <a:srgbClr val="ffb04c"/>
            </a:solidFill>
            <a:round/>
          </a:ln>
        </p:spPr>
        <p:style>
          <a:lnRef idx="0"/>
          <a:fillRef idx="0"/>
          <a:effectRef idx="0"/>
          <a:fontRef idx="minor"/>
        </p:style>
        <p:txBody>
          <a:bodyPr lIns="90000" rIns="90000" tIns="34920" bIns="34920" anchor="t">
            <a:noAutofit/>
          </a:bodyPr>
          <a:p>
            <a:endParaRPr b="0" lang="en-US" sz="1800" strike="noStrike" u="none">
              <a:solidFill>
                <a:srgbClr val="000000"/>
              </a:solidFill>
              <a:effectLst/>
              <a:uFillTx/>
              <a:latin typeface="Arial"/>
            </a:endParaRPr>
          </a:p>
        </p:txBody>
      </p:sp>
      <p:sp>
        <p:nvSpPr>
          <p:cNvPr id="3666" name="Shape 110"/>
          <p:cNvSpPr/>
          <p:nvPr/>
        </p:nvSpPr>
        <p:spPr>
          <a:xfrm>
            <a:off x="7315200" y="6080760"/>
            <a:ext cx="145800" cy="145800"/>
          </a:xfrm>
          <a:prstGeom prst="ellipse">
            <a:avLst/>
          </a:prstGeom>
          <a:solidFill>
            <a:srgbClr val="ffb04c"/>
          </a:solidFill>
          <a:ln w="1016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667" name="Text 111"/>
          <p:cNvSpPr/>
          <p:nvPr/>
        </p:nvSpPr>
        <p:spPr>
          <a:xfrm>
            <a:off x="7534800" y="6071760"/>
            <a:ext cx="50256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850" strike="noStrike" u="none">
                <a:solidFill>
                  <a:srgbClr val="5a625c"/>
                </a:solidFill>
                <a:effectLst/>
                <a:uFillTx/>
                <a:latin typeface="Calibri"/>
                <a:ea typeface="Calibri"/>
              </a:rPr>
              <a:t>MVP</a:t>
            </a:r>
            <a:endParaRPr b="0" lang="en-US" sz="850" strike="noStrike" u="none">
              <a:solidFill>
                <a:srgbClr val="000000"/>
              </a:solidFill>
              <a:effectLst/>
              <a:uFillTx/>
              <a:latin typeface="Arial"/>
            </a:endParaRPr>
          </a:p>
        </p:txBody>
      </p:sp>
      <p:sp>
        <p:nvSpPr>
          <p:cNvPr id="3668" name="Shape 112"/>
          <p:cNvSpPr/>
          <p:nvPr/>
        </p:nvSpPr>
        <p:spPr>
          <a:xfrm>
            <a:off x="8183880" y="6080760"/>
            <a:ext cx="145800" cy="145800"/>
          </a:xfrm>
          <a:prstGeom prst="ellipse">
            <a:avLst/>
          </a:prstGeom>
          <a:solidFill>
            <a:srgbClr val="007a27"/>
          </a:solidFill>
          <a:ln w="1016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669" name="Text 113"/>
          <p:cNvSpPr/>
          <p:nvPr/>
        </p:nvSpPr>
        <p:spPr>
          <a:xfrm>
            <a:off x="8403480" y="6071760"/>
            <a:ext cx="73116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850" strike="noStrike" u="none">
                <a:solidFill>
                  <a:srgbClr val="5a625c"/>
                </a:solidFill>
                <a:effectLst/>
                <a:uFillTx/>
                <a:latin typeface="Calibri"/>
                <a:ea typeface="Calibri"/>
              </a:rPr>
              <a:t>Full GA</a:t>
            </a:r>
            <a:endParaRPr b="0" lang="en-US" sz="850" strike="noStrike" u="none">
              <a:solidFill>
                <a:srgbClr val="000000"/>
              </a:solidFill>
              <a:effectLst/>
              <a:uFillTx/>
              <a:latin typeface="Arial"/>
            </a:endParaRPr>
          </a:p>
        </p:txBody>
      </p:sp>
      <p:sp>
        <p:nvSpPr>
          <p:cNvPr id="3670" name="Shape 114"/>
          <p:cNvSpPr/>
          <p:nvPr/>
        </p:nvSpPr>
        <p:spPr>
          <a:xfrm>
            <a:off x="9326880" y="6099120"/>
            <a:ext cx="456840" cy="109440"/>
          </a:xfrm>
          <a:prstGeom prst="roundRect">
            <a:avLst>
              <a:gd name="adj" fmla="val 25000"/>
            </a:avLst>
          </a:prstGeom>
          <a:solidFill>
            <a:srgbClr val="3dcd58">
              <a:alpha val="22000"/>
            </a:srgbClr>
          </a:solidFill>
          <a:ln w="12700">
            <a:solidFill>
              <a:srgbClr val="3dcd58">
                <a:alpha val="22000"/>
              </a:srgbClr>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671" name="Text 115"/>
          <p:cNvSpPr/>
          <p:nvPr/>
        </p:nvSpPr>
        <p:spPr>
          <a:xfrm>
            <a:off x="9857160" y="6071760"/>
            <a:ext cx="173700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850" strike="noStrike" u="none">
                <a:solidFill>
                  <a:srgbClr val="5a625c"/>
                </a:solidFill>
                <a:effectLst/>
                <a:uFillTx/>
                <a:latin typeface="Calibri"/>
                <a:ea typeface="Calibri"/>
              </a:rPr>
              <a:t>Continuous investment after GA</a:t>
            </a:r>
            <a:endParaRPr b="0" lang="en-US" sz="850" strike="noStrike" u="none">
              <a:solidFill>
                <a:srgbClr val="000000"/>
              </a:solidFill>
              <a:effectLst/>
              <a:uFillTx/>
              <a:latin typeface="Arial"/>
            </a:endParaRPr>
          </a:p>
        </p:txBody>
      </p:sp>
      <p:sp>
        <p:nvSpPr>
          <p:cNvPr id="3672" name="Shape 116"/>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673" name="Text 117"/>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3674" name="Text 118"/>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3675" name="PlaceHolder 1"/>
          <p:cNvSpPr>
            <a:spLocks noGrp="1"/>
          </p:cNvSpPr>
          <p:nvPr>
            <p:ph type="sldNum" idx="80"/>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5DD32966-3C29-4FD9-A068-6A87025B6373}"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9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676"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3677"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3678" name="Shape 2"/>
          <p:cNvSpPr/>
          <p:nvPr/>
        </p:nvSpPr>
        <p:spPr>
          <a:xfrm>
            <a:off x="621720" y="311040"/>
            <a:ext cx="323676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679" name="Text 3"/>
          <p:cNvSpPr/>
          <p:nvPr/>
        </p:nvSpPr>
        <p:spPr>
          <a:xfrm>
            <a:off x="804600" y="329040"/>
            <a:ext cx="290736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SHARED PLATFORM MILESTONES</a:t>
            </a:r>
            <a:endParaRPr b="0" lang="en-US" sz="950" strike="noStrike" u="none">
              <a:solidFill>
                <a:srgbClr val="000000"/>
              </a:solidFill>
              <a:effectLst/>
              <a:uFillTx/>
              <a:latin typeface="Arial"/>
            </a:endParaRPr>
          </a:p>
        </p:txBody>
      </p:sp>
      <p:sp>
        <p:nvSpPr>
          <p:cNvPr id="3680" name="Text 4"/>
          <p:cNvSpPr/>
          <p:nvPr/>
        </p:nvSpPr>
        <p:spPr>
          <a:xfrm>
            <a:off x="621720" y="768240"/>
            <a:ext cx="10947600" cy="8042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2800" strike="noStrike" u="none">
                <a:solidFill>
                  <a:srgbClr val="1e2420"/>
                </a:solidFill>
                <a:effectLst/>
                <a:uFillTx/>
                <a:latin typeface="Calibri"/>
                <a:ea typeface="Calibri"/>
              </a:rPr>
              <a:t>Year by year: every shared platform milestone with its date</a:t>
            </a:r>
            <a:endParaRPr b="0" lang="en-US" sz="2800" strike="noStrike" u="none">
              <a:solidFill>
                <a:srgbClr val="000000"/>
              </a:solidFill>
              <a:effectLst/>
              <a:uFillTx/>
              <a:latin typeface="Arial"/>
            </a:endParaRPr>
          </a:p>
        </p:txBody>
      </p:sp>
      <p:sp>
        <p:nvSpPr>
          <p:cNvPr id="3681" name="Text 5"/>
          <p:cNvSpPr/>
          <p:nvPr/>
        </p:nvSpPr>
        <p:spPr>
          <a:xfrm>
            <a:off x="621720" y="15728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The delivery calendar the roadmap gap matrix measures us against, with explicit milestone dates for each foundation.</a:t>
            </a:r>
            <a:endParaRPr b="0" lang="en-US" sz="1250" strike="noStrike" u="none">
              <a:solidFill>
                <a:srgbClr val="000000"/>
              </a:solidFill>
              <a:effectLst/>
              <a:uFillTx/>
              <a:latin typeface="Arial"/>
            </a:endParaRPr>
          </a:p>
        </p:txBody>
      </p:sp>
      <p:sp>
        <p:nvSpPr>
          <p:cNvPr id="3682"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683" name="Shape 7"/>
          <p:cNvSpPr/>
          <p:nvPr/>
        </p:nvSpPr>
        <p:spPr>
          <a:xfrm>
            <a:off x="621720" y="1874520"/>
            <a:ext cx="10947600" cy="456840"/>
          </a:xfrm>
          <a:prstGeom prst="rect">
            <a:avLst/>
          </a:prstGeom>
          <a:solidFill>
            <a:srgbClr val="f1f3f2"/>
          </a:solidFill>
          <a:ln w="635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684" name="Text 8"/>
          <p:cNvSpPr/>
          <p:nvPr/>
        </p:nvSpPr>
        <p:spPr>
          <a:xfrm>
            <a:off x="749880" y="2020680"/>
            <a:ext cx="260568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99" strike="noStrike" u="none">
                <a:solidFill>
                  <a:srgbClr val="5a625c"/>
                </a:solidFill>
                <a:effectLst/>
                <a:uFillTx/>
                <a:latin typeface="Calibri"/>
                <a:ea typeface="Calibri"/>
              </a:rPr>
              <a:t>CAPABILITY</a:t>
            </a:r>
            <a:endParaRPr b="0" lang="en-US" sz="850" strike="noStrike" u="none">
              <a:solidFill>
                <a:srgbClr val="000000"/>
              </a:solidFill>
              <a:effectLst/>
              <a:uFillTx/>
              <a:latin typeface="Arial"/>
            </a:endParaRPr>
          </a:p>
        </p:txBody>
      </p:sp>
      <p:sp>
        <p:nvSpPr>
          <p:cNvPr id="3685" name="Text 9"/>
          <p:cNvSpPr/>
          <p:nvPr/>
        </p:nvSpPr>
        <p:spPr>
          <a:xfrm>
            <a:off x="3456360" y="1901880"/>
            <a:ext cx="270396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2026</a:t>
            </a:r>
            <a:endParaRPr b="0" lang="en-US" sz="1200" strike="noStrike" u="none">
              <a:solidFill>
                <a:srgbClr val="000000"/>
              </a:solidFill>
              <a:effectLst/>
              <a:uFillTx/>
              <a:latin typeface="Arial"/>
            </a:endParaRPr>
          </a:p>
        </p:txBody>
      </p:sp>
      <p:sp>
        <p:nvSpPr>
          <p:cNvPr id="3686" name="Text 10"/>
          <p:cNvSpPr/>
          <p:nvPr/>
        </p:nvSpPr>
        <p:spPr>
          <a:xfrm>
            <a:off x="345636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3687" name="Text 11"/>
          <p:cNvSpPr/>
          <p:nvPr/>
        </p:nvSpPr>
        <p:spPr>
          <a:xfrm>
            <a:off x="413244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3688" name="Text 12"/>
          <p:cNvSpPr/>
          <p:nvPr/>
        </p:nvSpPr>
        <p:spPr>
          <a:xfrm>
            <a:off x="480852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3689" name="Text 13"/>
          <p:cNvSpPr/>
          <p:nvPr/>
        </p:nvSpPr>
        <p:spPr>
          <a:xfrm>
            <a:off x="548496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3690" name="Text 14"/>
          <p:cNvSpPr/>
          <p:nvPr/>
        </p:nvSpPr>
        <p:spPr>
          <a:xfrm>
            <a:off x="6161040" y="1901880"/>
            <a:ext cx="270396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2027</a:t>
            </a:r>
            <a:endParaRPr b="0" lang="en-US" sz="1200" strike="noStrike" u="none">
              <a:solidFill>
                <a:srgbClr val="000000"/>
              </a:solidFill>
              <a:effectLst/>
              <a:uFillTx/>
              <a:latin typeface="Arial"/>
            </a:endParaRPr>
          </a:p>
        </p:txBody>
      </p:sp>
      <p:sp>
        <p:nvSpPr>
          <p:cNvPr id="3691" name="Text 15"/>
          <p:cNvSpPr/>
          <p:nvPr/>
        </p:nvSpPr>
        <p:spPr>
          <a:xfrm>
            <a:off x="616104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3692" name="Text 16"/>
          <p:cNvSpPr/>
          <p:nvPr/>
        </p:nvSpPr>
        <p:spPr>
          <a:xfrm>
            <a:off x="683712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3693" name="Text 17"/>
          <p:cNvSpPr/>
          <p:nvPr/>
        </p:nvSpPr>
        <p:spPr>
          <a:xfrm>
            <a:off x="751320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3694" name="Text 18"/>
          <p:cNvSpPr/>
          <p:nvPr/>
        </p:nvSpPr>
        <p:spPr>
          <a:xfrm>
            <a:off x="818928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3695" name="Text 19"/>
          <p:cNvSpPr/>
          <p:nvPr/>
        </p:nvSpPr>
        <p:spPr>
          <a:xfrm>
            <a:off x="8865360" y="1901880"/>
            <a:ext cx="270396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2028</a:t>
            </a:r>
            <a:endParaRPr b="0" lang="en-US" sz="1200" strike="noStrike" u="none">
              <a:solidFill>
                <a:srgbClr val="000000"/>
              </a:solidFill>
              <a:effectLst/>
              <a:uFillTx/>
              <a:latin typeface="Arial"/>
            </a:endParaRPr>
          </a:p>
        </p:txBody>
      </p:sp>
      <p:sp>
        <p:nvSpPr>
          <p:cNvPr id="3696" name="Text 20"/>
          <p:cNvSpPr/>
          <p:nvPr/>
        </p:nvSpPr>
        <p:spPr>
          <a:xfrm>
            <a:off x="886536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3697" name="Text 21"/>
          <p:cNvSpPr/>
          <p:nvPr/>
        </p:nvSpPr>
        <p:spPr>
          <a:xfrm>
            <a:off x="954144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3698" name="Text 22"/>
          <p:cNvSpPr/>
          <p:nvPr/>
        </p:nvSpPr>
        <p:spPr>
          <a:xfrm>
            <a:off x="1021752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3699" name="Text 23"/>
          <p:cNvSpPr/>
          <p:nvPr/>
        </p:nvSpPr>
        <p:spPr>
          <a:xfrm>
            <a:off x="10893960" y="2121480"/>
            <a:ext cx="67572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3700" name="Shape 24"/>
          <p:cNvSpPr/>
          <p:nvPr/>
        </p:nvSpPr>
        <p:spPr>
          <a:xfrm>
            <a:off x="345636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701" name="Shape 25"/>
          <p:cNvSpPr/>
          <p:nvPr/>
        </p:nvSpPr>
        <p:spPr>
          <a:xfrm>
            <a:off x="413244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702" name="Shape 26"/>
          <p:cNvSpPr/>
          <p:nvPr/>
        </p:nvSpPr>
        <p:spPr>
          <a:xfrm>
            <a:off x="480852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703" name="Shape 27"/>
          <p:cNvSpPr/>
          <p:nvPr/>
        </p:nvSpPr>
        <p:spPr>
          <a:xfrm>
            <a:off x="548460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704" name="Shape 28"/>
          <p:cNvSpPr/>
          <p:nvPr/>
        </p:nvSpPr>
        <p:spPr>
          <a:xfrm>
            <a:off x="616068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705" name="Shape 29"/>
          <p:cNvSpPr/>
          <p:nvPr/>
        </p:nvSpPr>
        <p:spPr>
          <a:xfrm>
            <a:off x="683676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706" name="Shape 30"/>
          <p:cNvSpPr/>
          <p:nvPr/>
        </p:nvSpPr>
        <p:spPr>
          <a:xfrm>
            <a:off x="751284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707" name="Shape 31"/>
          <p:cNvSpPr/>
          <p:nvPr/>
        </p:nvSpPr>
        <p:spPr>
          <a:xfrm>
            <a:off x="818928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708" name="Shape 32"/>
          <p:cNvSpPr/>
          <p:nvPr/>
        </p:nvSpPr>
        <p:spPr>
          <a:xfrm>
            <a:off x="886536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709" name="Shape 33"/>
          <p:cNvSpPr/>
          <p:nvPr/>
        </p:nvSpPr>
        <p:spPr>
          <a:xfrm>
            <a:off x="954144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710" name="Shape 34"/>
          <p:cNvSpPr/>
          <p:nvPr/>
        </p:nvSpPr>
        <p:spPr>
          <a:xfrm>
            <a:off x="1021752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711" name="Shape 35"/>
          <p:cNvSpPr/>
          <p:nvPr/>
        </p:nvSpPr>
        <p:spPr>
          <a:xfrm>
            <a:off x="1089360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712" name="Shape 36"/>
          <p:cNvSpPr/>
          <p:nvPr/>
        </p:nvSpPr>
        <p:spPr>
          <a:xfrm>
            <a:off x="1156968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3713" name="Shape 37"/>
          <p:cNvSpPr/>
          <p:nvPr/>
        </p:nvSpPr>
        <p:spPr>
          <a:xfrm>
            <a:off x="621720" y="2331720"/>
            <a:ext cx="411120" cy="1096920"/>
          </a:xfrm>
          <a:prstGeom prst="rect">
            <a:avLst/>
          </a:prstGeom>
          <a:solidFill>
            <a:srgbClr val="3dcd58"/>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714" name="Text 38"/>
          <p:cNvSpPr/>
          <p:nvPr/>
        </p:nvSpPr>
        <p:spPr>
          <a:xfrm>
            <a:off x="685800" y="2377440"/>
            <a:ext cx="282960" cy="100548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HIERARCHY</a:t>
            </a:r>
            <a:endParaRPr b="0" lang="en-US" sz="750" strike="noStrike" u="none">
              <a:solidFill>
                <a:srgbClr val="000000"/>
              </a:solidFill>
              <a:effectLst/>
              <a:uFillTx/>
              <a:latin typeface="Arial"/>
            </a:endParaRPr>
          </a:p>
        </p:txBody>
      </p:sp>
      <p:sp>
        <p:nvSpPr>
          <p:cNvPr id="3715" name="Shape 39"/>
          <p:cNvSpPr/>
          <p:nvPr/>
        </p:nvSpPr>
        <p:spPr>
          <a:xfrm>
            <a:off x="1033200" y="260604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716" name="Shape 40"/>
          <p:cNvSpPr/>
          <p:nvPr/>
        </p:nvSpPr>
        <p:spPr>
          <a:xfrm>
            <a:off x="1143000" y="235908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717" name="Text 41"/>
          <p:cNvSpPr/>
          <p:nvPr/>
        </p:nvSpPr>
        <p:spPr>
          <a:xfrm>
            <a:off x="1243440" y="23227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Q3 2026: Entity, site, asset and supplier model build starts</a:t>
            </a:r>
            <a:endParaRPr b="0" lang="en-US" sz="950" strike="noStrike" u="none">
              <a:solidFill>
                <a:srgbClr val="000000"/>
              </a:solidFill>
              <a:effectLst/>
              <a:uFillTx/>
              <a:latin typeface="Arial"/>
            </a:endParaRPr>
          </a:p>
        </p:txBody>
      </p:sp>
      <p:sp>
        <p:nvSpPr>
          <p:cNvPr id="3718" name="Shape 42"/>
          <p:cNvSpPr/>
          <p:nvPr/>
        </p:nvSpPr>
        <p:spPr>
          <a:xfrm>
            <a:off x="4808520" y="2422080"/>
            <a:ext cx="2027880" cy="92880"/>
          </a:xfrm>
          <a:prstGeom prst="roundRect">
            <a:avLst>
              <a:gd name="adj" fmla="val 39216"/>
            </a:avLst>
          </a:prstGeom>
          <a:solidFill>
            <a:srgbClr val="3dcd58"/>
          </a:solidFill>
          <a:ln w="12700">
            <a:solidFill>
              <a:srgbClr val="3dcd58"/>
            </a:solidFill>
            <a:round/>
          </a:ln>
        </p:spPr>
        <p:style>
          <a:lnRef idx="0"/>
          <a:fillRef idx="0"/>
          <a:effectRef idx="0"/>
          <a:fontRef idx="minor"/>
        </p:style>
        <p:txBody>
          <a:bodyPr lIns="90000" rIns="90000" tIns="27000" bIns="27000" anchor="t">
            <a:noAutofit/>
          </a:bodyPr>
          <a:p>
            <a:endParaRPr b="0" lang="en-US" sz="1800" strike="noStrike" u="none">
              <a:solidFill>
                <a:srgbClr val="000000"/>
              </a:solidFill>
              <a:effectLst/>
              <a:uFillTx/>
              <a:latin typeface="Arial"/>
            </a:endParaRPr>
          </a:p>
        </p:txBody>
      </p:sp>
      <p:sp>
        <p:nvSpPr>
          <p:cNvPr id="3719" name="Shape 43"/>
          <p:cNvSpPr/>
          <p:nvPr/>
        </p:nvSpPr>
        <p:spPr>
          <a:xfrm>
            <a:off x="6764040" y="2395800"/>
            <a:ext cx="145800" cy="145800"/>
          </a:xfrm>
          <a:prstGeom prst="ellipse">
            <a:avLst/>
          </a:prstGeom>
          <a:solidFill>
            <a:srgbClr val="007a27"/>
          </a:solidFill>
          <a:ln w="1524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720" name="Shape 44"/>
          <p:cNvSpPr/>
          <p:nvPr/>
        </p:nvSpPr>
        <p:spPr>
          <a:xfrm>
            <a:off x="1033200" y="288036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721" name="Shape 45"/>
          <p:cNvSpPr/>
          <p:nvPr/>
        </p:nvSpPr>
        <p:spPr>
          <a:xfrm>
            <a:off x="1143000" y="263340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722" name="Text 46"/>
          <p:cNvSpPr/>
          <p:nvPr/>
        </p:nvSpPr>
        <p:spPr>
          <a:xfrm>
            <a:off x="1243440" y="259704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Q3 2027: Entity model Full GA, inherited by every product</a:t>
            </a:r>
            <a:endParaRPr b="0" lang="en-US" sz="950" strike="noStrike" u="none">
              <a:solidFill>
                <a:srgbClr val="000000"/>
              </a:solidFill>
              <a:effectLst/>
              <a:uFillTx/>
              <a:latin typeface="Arial"/>
            </a:endParaRPr>
          </a:p>
        </p:txBody>
      </p:sp>
      <p:sp>
        <p:nvSpPr>
          <p:cNvPr id="3723" name="Shape 47"/>
          <p:cNvSpPr/>
          <p:nvPr/>
        </p:nvSpPr>
        <p:spPr>
          <a:xfrm>
            <a:off x="6837120" y="2696400"/>
            <a:ext cx="91080" cy="92880"/>
          </a:xfrm>
          <a:prstGeom prst="roundRect">
            <a:avLst>
              <a:gd name="adj" fmla="val 40000"/>
            </a:avLst>
          </a:prstGeom>
          <a:solidFill>
            <a:srgbClr val="3dcd58"/>
          </a:solidFill>
          <a:ln w="12700">
            <a:solidFill>
              <a:srgbClr val="3dcd58"/>
            </a:solidFill>
            <a:round/>
          </a:ln>
        </p:spPr>
        <p:style>
          <a:lnRef idx="0"/>
          <a:fillRef idx="0"/>
          <a:effectRef idx="0"/>
          <a:fontRef idx="minor"/>
        </p:style>
        <p:txBody>
          <a:bodyPr lIns="90000" rIns="90000" tIns="27000" bIns="27000" anchor="t">
            <a:noAutofit/>
          </a:bodyPr>
          <a:p>
            <a:endParaRPr b="0" lang="en-US" sz="1800" strike="noStrike" u="none">
              <a:solidFill>
                <a:srgbClr val="000000"/>
              </a:solidFill>
              <a:effectLst/>
              <a:uFillTx/>
              <a:latin typeface="Arial"/>
            </a:endParaRPr>
          </a:p>
        </p:txBody>
      </p:sp>
      <p:sp>
        <p:nvSpPr>
          <p:cNvPr id="3724" name="Shape 48"/>
          <p:cNvSpPr/>
          <p:nvPr/>
        </p:nvSpPr>
        <p:spPr>
          <a:xfrm>
            <a:off x="1033200" y="31546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725" name="Shape 49"/>
          <p:cNvSpPr/>
          <p:nvPr/>
        </p:nvSpPr>
        <p:spPr>
          <a:xfrm>
            <a:off x="1143000" y="290772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726" name="Text 50"/>
          <p:cNvSpPr/>
          <p:nvPr/>
        </p:nvSpPr>
        <p:spPr>
          <a:xfrm>
            <a:off x="1243440" y="28713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Q1 2027: Multi-hierarchy views and boundaries MVP</a:t>
            </a:r>
            <a:endParaRPr b="0" lang="en-US" sz="950" strike="noStrike" u="none">
              <a:solidFill>
                <a:srgbClr val="000000"/>
              </a:solidFill>
              <a:effectLst/>
              <a:uFillTx/>
              <a:latin typeface="Arial"/>
            </a:endParaRPr>
          </a:p>
        </p:txBody>
      </p:sp>
      <p:sp>
        <p:nvSpPr>
          <p:cNvPr id="3727" name="Shape 51"/>
          <p:cNvSpPr/>
          <p:nvPr/>
        </p:nvSpPr>
        <p:spPr>
          <a:xfrm>
            <a:off x="6161040" y="2970720"/>
            <a:ext cx="2027880" cy="92880"/>
          </a:xfrm>
          <a:prstGeom prst="roundRect">
            <a:avLst>
              <a:gd name="adj" fmla="val 39216"/>
            </a:avLst>
          </a:prstGeom>
          <a:solidFill>
            <a:srgbClr val="3dcd58"/>
          </a:solidFill>
          <a:ln w="12700">
            <a:solidFill>
              <a:srgbClr val="3dcd58"/>
            </a:solidFill>
            <a:round/>
          </a:ln>
        </p:spPr>
        <p:style>
          <a:lnRef idx="0"/>
          <a:fillRef idx="0"/>
          <a:effectRef idx="0"/>
          <a:fontRef idx="minor"/>
        </p:style>
        <p:txBody>
          <a:bodyPr lIns="90000" rIns="90000" tIns="27000" bIns="27000" anchor="t">
            <a:noAutofit/>
          </a:bodyPr>
          <a:p>
            <a:endParaRPr b="0" lang="en-US" sz="1800" strike="noStrike" u="none">
              <a:solidFill>
                <a:srgbClr val="000000"/>
              </a:solidFill>
              <a:effectLst/>
              <a:uFillTx/>
              <a:latin typeface="Arial"/>
            </a:endParaRPr>
          </a:p>
        </p:txBody>
      </p:sp>
      <p:sp>
        <p:nvSpPr>
          <p:cNvPr id="3728" name="Shape 52"/>
          <p:cNvSpPr/>
          <p:nvPr/>
        </p:nvSpPr>
        <p:spPr>
          <a:xfrm>
            <a:off x="6764040" y="2944440"/>
            <a:ext cx="145800" cy="145800"/>
          </a:xfrm>
          <a:prstGeom prst="ellipse">
            <a:avLst/>
          </a:prstGeom>
          <a:solidFill>
            <a:srgbClr val="ffb04c"/>
          </a:solidFill>
          <a:ln w="1524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729" name="Shape 53"/>
          <p:cNvSpPr/>
          <p:nvPr/>
        </p:nvSpPr>
        <p:spPr>
          <a:xfrm>
            <a:off x="1033200" y="342900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730" name="Shape 54"/>
          <p:cNvSpPr/>
          <p:nvPr/>
        </p:nvSpPr>
        <p:spPr>
          <a:xfrm>
            <a:off x="1143000" y="318204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731" name="Text 55"/>
          <p:cNvSpPr/>
          <p:nvPr/>
        </p:nvSpPr>
        <p:spPr>
          <a:xfrm>
            <a:off x="1243440" y="314568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Q2 2027: Role-based access aligned to responsibility</a:t>
            </a:r>
            <a:endParaRPr b="0" lang="en-US" sz="950" strike="noStrike" u="none">
              <a:solidFill>
                <a:srgbClr val="000000"/>
              </a:solidFill>
              <a:effectLst/>
              <a:uFillTx/>
              <a:latin typeface="Arial"/>
            </a:endParaRPr>
          </a:p>
        </p:txBody>
      </p:sp>
      <p:sp>
        <p:nvSpPr>
          <p:cNvPr id="3732" name="Shape 56"/>
          <p:cNvSpPr/>
          <p:nvPr/>
        </p:nvSpPr>
        <p:spPr>
          <a:xfrm>
            <a:off x="6837120" y="3245040"/>
            <a:ext cx="2027880" cy="92880"/>
          </a:xfrm>
          <a:prstGeom prst="roundRect">
            <a:avLst>
              <a:gd name="adj" fmla="val 39216"/>
            </a:avLst>
          </a:prstGeom>
          <a:solidFill>
            <a:srgbClr val="3dcd58"/>
          </a:solidFill>
          <a:ln w="12700">
            <a:solidFill>
              <a:srgbClr val="3dcd58"/>
            </a:solidFill>
            <a:round/>
          </a:ln>
        </p:spPr>
        <p:style>
          <a:lnRef idx="0"/>
          <a:fillRef idx="0"/>
          <a:effectRef idx="0"/>
          <a:fontRef idx="minor"/>
        </p:style>
        <p:txBody>
          <a:bodyPr lIns="90000" rIns="90000" tIns="27000" bIns="27000" anchor="t">
            <a:noAutofit/>
          </a:bodyPr>
          <a:p>
            <a:endParaRPr b="0" lang="en-US" sz="1800" strike="noStrike" u="none">
              <a:solidFill>
                <a:srgbClr val="000000"/>
              </a:solidFill>
              <a:effectLst/>
              <a:uFillTx/>
              <a:latin typeface="Arial"/>
            </a:endParaRPr>
          </a:p>
        </p:txBody>
      </p:sp>
      <p:sp>
        <p:nvSpPr>
          <p:cNvPr id="3733" name="Shape 57"/>
          <p:cNvSpPr/>
          <p:nvPr/>
        </p:nvSpPr>
        <p:spPr>
          <a:xfrm>
            <a:off x="621720" y="3429000"/>
            <a:ext cx="411120" cy="1371240"/>
          </a:xfrm>
          <a:prstGeom prst="rect">
            <a:avLst/>
          </a:prstGeom>
          <a:solidFill>
            <a:srgbClr val="007a27"/>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734" name="Text 58"/>
          <p:cNvSpPr/>
          <p:nvPr/>
        </p:nvSpPr>
        <p:spPr>
          <a:xfrm>
            <a:off x="685800" y="3474720"/>
            <a:ext cx="282960" cy="127980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USER WORKFLOW</a:t>
            </a:r>
            <a:endParaRPr b="0" lang="en-US" sz="750" strike="noStrike" u="none">
              <a:solidFill>
                <a:srgbClr val="000000"/>
              </a:solidFill>
              <a:effectLst/>
              <a:uFillTx/>
              <a:latin typeface="Arial"/>
            </a:endParaRPr>
          </a:p>
        </p:txBody>
      </p:sp>
      <p:sp>
        <p:nvSpPr>
          <p:cNvPr id="3735" name="Shape 59"/>
          <p:cNvSpPr/>
          <p:nvPr/>
        </p:nvSpPr>
        <p:spPr>
          <a:xfrm>
            <a:off x="1033200" y="37033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736" name="Shape 60"/>
          <p:cNvSpPr/>
          <p:nvPr/>
        </p:nvSpPr>
        <p:spPr>
          <a:xfrm>
            <a:off x="1143000" y="345636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737" name="Text 61"/>
          <p:cNvSpPr/>
          <p:nvPr/>
        </p:nvSpPr>
        <p:spPr>
          <a:xfrm>
            <a:off x="1243440" y="342000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Q4 2026: Config engine and templates MVP</a:t>
            </a:r>
            <a:endParaRPr b="0" lang="en-US" sz="950" strike="noStrike" u="none">
              <a:solidFill>
                <a:srgbClr val="000000"/>
              </a:solidFill>
              <a:effectLst/>
              <a:uFillTx/>
              <a:latin typeface="Arial"/>
            </a:endParaRPr>
          </a:p>
        </p:txBody>
      </p:sp>
      <p:sp>
        <p:nvSpPr>
          <p:cNvPr id="3738" name="Shape 62"/>
          <p:cNvSpPr/>
          <p:nvPr/>
        </p:nvSpPr>
        <p:spPr>
          <a:xfrm>
            <a:off x="4808520" y="3519360"/>
            <a:ext cx="2703960" cy="92880"/>
          </a:xfrm>
          <a:prstGeom prst="roundRect">
            <a:avLst>
              <a:gd name="adj" fmla="val 39216"/>
            </a:avLst>
          </a:prstGeom>
          <a:solidFill>
            <a:srgbClr val="007a27"/>
          </a:solidFill>
          <a:ln w="12700">
            <a:solidFill>
              <a:srgbClr val="007a27"/>
            </a:solidFill>
            <a:round/>
          </a:ln>
        </p:spPr>
        <p:style>
          <a:lnRef idx="0"/>
          <a:fillRef idx="0"/>
          <a:effectRef idx="0"/>
          <a:fontRef idx="minor"/>
        </p:style>
        <p:txBody>
          <a:bodyPr lIns="90000" rIns="90000" tIns="27000" bIns="27000" anchor="t">
            <a:noAutofit/>
          </a:bodyPr>
          <a:p>
            <a:endParaRPr b="0" lang="en-US" sz="1800" strike="noStrike" u="none">
              <a:solidFill>
                <a:srgbClr val="ffffff"/>
              </a:solidFill>
              <a:effectLst/>
              <a:uFillTx/>
              <a:latin typeface="Arial"/>
            </a:endParaRPr>
          </a:p>
        </p:txBody>
      </p:sp>
      <p:sp>
        <p:nvSpPr>
          <p:cNvPr id="3739" name="Shape 63"/>
          <p:cNvSpPr/>
          <p:nvPr/>
        </p:nvSpPr>
        <p:spPr>
          <a:xfrm>
            <a:off x="5411520" y="3493080"/>
            <a:ext cx="145800" cy="145800"/>
          </a:xfrm>
          <a:prstGeom prst="ellipse">
            <a:avLst/>
          </a:prstGeom>
          <a:solidFill>
            <a:srgbClr val="ffb04c"/>
          </a:solidFill>
          <a:ln w="1524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740" name="Shape 64"/>
          <p:cNvSpPr/>
          <p:nvPr/>
        </p:nvSpPr>
        <p:spPr>
          <a:xfrm>
            <a:off x="7440120" y="3493080"/>
            <a:ext cx="145800" cy="145800"/>
          </a:xfrm>
          <a:prstGeom prst="ellipse">
            <a:avLst/>
          </a:prstGeom>
          <a:solidFill>
            <a:srgbClr val="007a27"/>
          </a:solidFill>
          <a:ln w="1524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741" name="Shape 65"/>
          <p:cNvSpPr/>
          <p:nvPr/>
        </p:nvSpPr>
        <p:spPr>
          <a:xfrm>
            <a:off x="1033200" y="397764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742" name="Shape 66"/>
          <p:cNvSpPr/>
          <p:nvPr/>
        </p:nvSpPr>
        <p:spPr>
          <a:xfrm>
            <a:off x="1143000" y="373068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743" name="Text 67"/>
          <p:cNvSpPr/>
          <p:nvPr/>
        </p:nvSpPr>
        <p:spPr>
          <a:xfrm>
            <a:off x="1243440" y="36943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Q1 2027: Ingestion and transformation rules MVP</a:t>
            </a:r>
            <a:endParaRPr b="0" lang="en-US" sz="950" strike="noStrike" u="none">
              <a:solidFill>
                <a:srgbClr val="000000"/>
              </a:solidFill>
              <a:effectLst/>
              <a:uFillTx/>
              <a:latin typeface="Arial"/>
            </a:endParaRPr>
          </a:p>
        </p:txBody>
      </p:sp>
      <p:sp>
        <p:nvSpPr>
          <p:cNvPr id="3744" name="Shape 68"/>
          <p:cNvSpPr/>
          <p:nvPr/>
        </p:nvSpPr>
        <p:spPr>
          <a:xfrm>
            <a:off x="5484960" y="3793680"/>
            <a:ext cx="2703960" cy="92880"/>
          </a:xfrm>
          <a:prstGeom prst="roundRect">
            <a:avLst>
              <a:gd name="adj" fmla="val 39216"/>
            </a:avLst>
          </a:prstGeom>
          <a:solidFill>
            <a:srgbClr val="007a27"/>
          </a:solidFill>
          <a:ln w="12700">
            <a:solidFill>
              <a:srgbClr val="007a27"/>
            </a:solidFill>
            <a:round/>
          </a:ln>
        </p:spPr>
        <p:style>
          <a:lnRef idx="0"/>
          <a:fillRef idx="0"/>
          <a:effectRef idx="0"/>
          <a:fontRef idx="minor"/>
        </p:style>
        <p:txBody>
          <a:bodyPr lIns="90000" rIns="90000" tIns="27000" bIns="27000" anchor="t">
            <a:noAutofit/>
          </a:bodyPr>
          <a:p>
            <a:endParaRPr b="0" lang="en-US" sz="1800" strike="noStrike" u="none">
              <a:solidFill>
                <a:srgbClr val="ffffff"/>
              </a:solidFill>
              <a:effectLst/>
              <a:uFillTx/>
              <a:latin typeface="Arial"/>
            </a:endParaRPr>
          </a:p>
        </p:txBody>
      </p:sp>
      <p:sp>
        <p:nvSpPr>
          <p:cNvPr id="3745" name="Shape 69"/>
          <p:cNvSpPr/>
          <p:nvPr/>
        </p:nvSpPr>
        <p:spPr>
          <a:xfrm>
            <a:off x="6087600" y="3767400"/>
            <a:ext cx="145800" cy="145800"/>
          </a:xfrm>
          <a:prstGeom prst="ellipse">
            <a:avLst/>
          </a:prstGeom>
          <a:solidFill>
            <a:srgbClr val="ffb04c"/>
          </a:solidFill>
          <a:ln w="1524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746" name="Shape 70"/>
          <p:cNvSpPr/>
          <p:nvPr/>
        </p:nvSpPr>
        <p:spPr>
          <a:xfrm>
            <a:off x="1033200" y="425196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747" name="Shape 71"/>
          <p:cNvSpPr/>
          <p:nvPr/>
        </p:nvSpPr>
        <p:spPr>
          <a:xfrm>
            <a:off x="1143000" y="400500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748" name="Text 72"/>
          <p:cNvSpPr/>
          <p:nvPr/>
        </p:nvSpPr>
        <p:spPr>
          <a:xfrm>
            <a:off x="1243440" y="396864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Q4 2027: Campaigns, assignments and approvals Full GA</a:t>
            </a:r>
            <a:endParaRPr b="0" lang="en-US" sz="950" strike="noStrike" u="none">
              <a:solidFill>
                <a:srgbClr val="000000"/>
              </a:solidFill>
              <a:effectLst/>
              <a:uFillTx/>
              <a:latin typeface="Arial"/>
            </a:endParaRPr>
          </a:p>
        </p:txBody>
      </p:sp>
      <p:sp>
        <p:nvSpPr>
          <p:cNvPr id="3749" name="Shape 73"/>
          <p:cNvSpPr/>
          <p:nvPr/>
        </p:nvSpPr>
        <p:spPr>
          <a:xfrm>
            <a:off x="6161040" y="4068000"/>
            <a:ext cx="2703960" cy="92880"/>
          </a:xfrm>
          <a:prstGeom prst="roundRect">
            <a:avLst>
              <a:gd name="adj" fmla="val 39216"/>
            </a:avLst>
          </a:prstGeom>
          <a:solidFill>
            <a:srgbClr val="007a27"/>
          </a:solidFill>
          <a:ln w="12700">
            <a:solidFill>
              <a:srgbClr val="007a27"/>
            </a:solidFill>
            <a:round/>
          </a:ln>
        </p:spPr>
        <p:style>
          <a:lnRef idx="0"/>
          <a:fillRef idx="0"/>
          <a:effectRef idx="0"/>
          <a:fontRef idx="minor"/>
        </p:style>
        <p:txBody>
          <a:bodyPr lIns="90000" rIns="90000" tIns="27000" bIns="27000" anchor="t">
            <a:noAutofit/>
          </a:bodyPr>
          <a:p>
            <a:endParaRPr b="0" lang="en-US" sz="1800" strike="noStrike" u="none">
              <a:solidFill>
                <a:srgbClr val="ffffff"/>
              </a:solidFill>
              <a:effectLst/>
              <a:uFillTx/>
              <a:latin typeface="Arial"/>
            </a:endParaRPr>
          </a:p>
        </p:txBody>
      </p:sp>
      <p:sp>
        <p:nvSpPr>
          <p:cNvPr id="3750" name="Shape 74"/>
          <p:cNvSpPr/>
          <p:nvPr/>
        </p:nvSpPr>
        <p:spPr>
          <a:xfrm>
            <a:off x="8792280" y="4041720"/>
            <a:ext cx="145800" cy="145800"/>
          </a:xfrm>
          <a:prstGeom prst="ellipse">
            <a:avLst/>
          </a:prstGeom>
          <a:solidFill>
            <a:srgbClr val="007a27"/>
          </a:solidFill>
          <a:ln w="1524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751" name="Shape 75"/>
          <p:cNvSpPr/>
          <p:nvPr/>
        </p:nvSpPr>
        <p:spPr>
          <a:xfrm>
            <a:off x="1033200" y="45262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752" name="Shape 76"/>
          <p:cNvSpPr/>
          <p:nvPr/>
        </p:nvSpPr>
        <p:spPr>
          <a:xfrm>
            <a:off x="1143000" y="427932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753" name="Text 77"/>
          <p:cNvSpPr/>
          <p:nvPr/>
        </p:nvSpPr>
        <p:spPr>
          <a:xfrm>
            <a:off x="1243440" y="42429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Q2 2027: Data quality, exceptions and remediation</a:t>
            </a:r>
            <a:endParaRPr b="0" lang="en-US" sz="950" strike="noStrike" u="none">
              <a:solidFill>
                <a:srgbClr val="000000"/>
              </a:solidFill>
              <a:effectLst/>
              <a:uFillTx/>
              <a:latin typeface="Arial"/>
            </a:endParaRPr>
          </a:p>
        </p:txBody>
      </p:sp>
      <p:sp>
        <p:nvSpPr>
          <p:cNvPr id="3754" name="Shape 78"/>
          <p:cNvSpPr/>
          <p:nvPr/>
        </p:nvSpPr>
        <p:spPr>
          <a:xfrm>
            <a:off x="6837120" y="4342320"/>
            <a:ext cx="2703960" cy="92880"/>
          </a:xfrm>
          <a:prstGeom prst="roundRect">
            <a:avLst>
              <a:gd name="adj" fmla="val 39216"/>
            </a:avLst>
          </a:prstGeom>
          <a:solidFill>
            <a:srgbClr val="007a27"/>
          </a:solidFill>
          <a:ln w="12700">
            <a:solidFill>
              <a:srgbClr val="007a27"/>
            </a:solidFill>
            <a:round/>
          </a:ln>
        </p:spPr>
        <p:style>
          <a:lnRef idx="0"/>
          <a:fillRef idx="0"/>
          <a:effectRef idx="0"/>
          <a:fontRef idx="minor"/>
        </p:style>
        <p:txBody>
          <a:bodyPr lIns="90000" rIns="90000" tIns="27000" bIns="27000" anchor="t">
            <a:noAutofit/>
          </a:bodyPr>
          <a:p>
            <a:endParaRPr b="0" lang="en-US" sz="1800" strike="noStrike" u="none">
              <a:solidFill>
                <a:srgbClr val="ffffff"/>
              </a:solidFill>
              <a:effectLst/>
              <a:uFillTx/>
              <a:latin typeface="Arial"/>
            </a:endParaRPr>
          </a:p>
        </p:txBody>
      </p:sp>
      <p:sp>
        <p:nvSpPr>
          <p:cNvPr id="3755" name="Shape 79"/>
          <p:cNvSpPr/>
          <p:nvPr/>
        </p:nvSpPr>
        <p:spPr>
          <a:xfrm>
            <a:off x="1033200" y="480060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756" name="Shape 80"/>
          <p:cNvSpPr/>
          <p:nvPr/>
        </p:nvSpPr>
        <p:spPr>
          <a:xfrm>
            <a:off x="1143000" y="455364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757" name="Text 81"/>
          <p:cNvSpPr/>
          <p:nvPr/>
        </p:nvSpPr>
        <p:spPr>
          <a:xfrm>
            <a:off x="1243440" y="451728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Q2 2027: Evidence, lineage and audit trail</a:t>
            </a:r>
            <a:endParaRPr b="0" lang="en-US" sz="950" strike="noStrike" u="none">
              <a:solidFill>
                <a:srgbClr val="000000"/>
              </a:solidFill>
              <a:effectLst/>
              <a:uFillTx/>
              <a:latin typeface="Arial"/>
            </a:endParaRPr>
          </a:p>
        </p:txBody>
      </p:sp>
      <p:sp>
        <p:nvSpPr>
          <p:cNvPr id="3758" name="Shape 82"/>
          <p:cNvSpPr/>
          <p:nvPr/>
        </p:nvSpPr>
        <p:spPr>
          <a:xfrm>
            <a:off x="6837120" y="4616640"/>
            <a:ext cx="3380400" cy="92880"/>
          </a:xfrm>
          <a:prstGeom prst="roundRect">
            <a:avLst>
              <a:gd name="adj" fmla="val 39216"/>
            </a:avLst>
          </a:prstGeom>
          <a:solidFill>
            <a:srgbClr val="007a27"/>
          </a:solidFill>
          <a:ln w="12700">
            <a:solidFill>
              <a:srgbClr val="007a27"/>
            </a:solidFill>
            <a:round/>
          </a:ln>
        </p:spPr>
        <p:style>
          <a:lnRef idx="0"/>
          <a:fillRef idx="0"/>
          <a:effectRef idx="0"/>
          <a:fontRef idx="minor"/>
        </p:style>
        <p:txBody>
          <a:bodyPr lIns="90000" rIns="90000" tIns="27000" bIns="27000" anchor="t">
            <a:noAutofit/>
          </a:bodyPr>
          <a:p>
            <a:endParaRPr b="0" lang="en-US" sz="1800" strike="noStrike" u="none">
              <a:solidFill>
                <a:srgbClr val="ffffff"/>
              </a:solidFill>
              <a:effectLst/>
              <a:uFillTx/>
              <a:latin typeface="Arial"/>
            </a:endParaRPr>
          </a:p>
        </p:txBody>
      </p:sp>
      <p:sp>
        <p:nvSpPr>
          <p:cNvPr id="3759" name="Shape 83"/>
          <p:cNvSpPr/>
          <p:nvPr/>
        </p:nvSpPr>
        <p:spPr>
          <a:xfrm>
            <a:off x="621720" y="4800600"/>
            <a:ext cx="411120" cy="1096920"/>
          </a:xfrm>
          <a:prstGeom prst="rect">
            <a:avLst/>
          </a:prstGeom>
          <a:solidFill>
            <a:srgbClr val="ffb04c"/>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760" name="Text 84"/>
          <p:cNvSpPr/>
          <p:nvPr/>
        </p:nvSpPr>
        <p:spPr>
          <a:xfrm>
            <a:off x="685800" y="4846320"/>
            <a:ext cx="282960" cy="100548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ANALYTICS ENGINE</a:t>
            </a:r>
            <a:endParaRPr b="0" lang="en-US" sz="750" strike="noStrike" u="none">
              <a:solidFill>
                <a:srgbClr val="000000"/>
              </a:solidFill>
              <a:effectLst/>
              <a:uFillTx/>
              <a:latin typeface="Arial"/>
            </a:endParaRPr>
          </a:p>
        </p:txBody>
      </p:sp>
      <p:sp>
        <p:nvSpPr>
          <p:cNvPr id="3761" name="Shape 85"/>
          <p:cNvSpPr/>
          <p:nvPr/>
        </p:nvSpPr>
        <p:spPr>
          <a:xfrm>
            <a:off x="1033200" y="50749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762" name="Shape 86"/>
          <p:cNvSpPr/>
          <p:nvPr/>
        </p:nvSpPr>
        <p:spPr>
          <a:xfrm>
            <a:off x="1143000" y="482796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763" name="Text 87"/>
          <p:cNvSpPr/>
          <p:nvPr/>
        </p:nvSpPr>
        <p:spPr>
          <a:xfrm>
            <a:off x="1243440" y="479160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Q1 2027: Reusable metrics and calculation logic MVP</a:t>
            </a:r>
            <a:endParaRPr b="0" lang="en-US" sz="950" strike="noStrike" u="none">
              <a:solidFill>
                <a:srgbClr val="000000"/>
              </a:solidFill>
              <a:effectLst/>
              <a:uFillTx/>
              <a:latin typeface="Arial"/>
            </a:endParaRPr>
          </a:p>
        </p:txBody>
      </p:sp>
      <p:sp>
        <p:nvSpPr>
          <p:cNvPr id="3764" name="Shape 88"/>
          <p:cNvSpPr/>
          <p:nvPr/>
        </p:nvSpPr>
        <p:spPr>
          <a:xfrm>
            <a:off x="6161040" y="4890960"/>
            <a:ext cx="2703960" cy="92880"/>
          </a:xfrm>
          <a:prstGeom prst="roundRect">
            <a:avLst>
              <a:gd name="adj" fmla="val 39216"/>
            </a:avLst>
          </a:prstGeom>
          <a:solidFill>
            <a:srgbClr val="ffb04c"/>
          </a:solidFill>
          <a:ln w="12700">
            <a:solidFill>
              <a:srgbClr val="ffb04c"/>
            </a:solidFill>
            <a:round/>
          </a:ln>
        </p:spPr>
        <p:style>
          <a:lnRef idx="0"/>
          <a:fillRef idx="0"/>
          <a:effectRef idx="0"/>
          <a:fontRef idx="minor"/>
        </p:style>
        <p:txBody>
          <a:bodyPr lIns="90000" rIns="90000" tIns="27000" bIns="27000" anchor="t">
            <a:noAutofit/>
          </a:bodyPr>
          <a:p>
            <a:endParaRPr b="0" lang="en-US" sz="1800" strike="noStrike" u="none">
              <a:solidFill>
                <a:srgbClr val="000000"/>
              </a:solidFill>
              <a:effectLst/>
              <a:uFillTx/>
              <a:latin typeface="Arial"/>
            </a:endParaRPr>
          </a:p>
        </p:txBody>
      </p:sp>
      <p:sp>
        <p:nvSpPr>
          <p:cNvPr id="3765" name="Shape 89"/>
          <p:cNvSpPr/>
          <p:nvPr/>
        </p:nvSpPr>
        <p:spPr>
          <a:xfrm>
            <a:off x="6764040" y="4864680"/>
            <a:ext cx="145800" cy="145800"/>
          </a:xfrm>
          <a:prstGeom prst="ellipse">
            <a:avLst/>
          </a:prstGeom>
          <a:solidFill>
            <a:srgbClr val="ffb04c"/>
          </a:solidFill>
          <a:ln w="1524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766" name="Shape 90"/>
          <p:cNvSpPr/>
          <p:nvPr/>
        </p:nvSpPr>
        <p:spPr>
          <a:xfrm>
            <a:off x="1033200" y="534924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767" name="Shape 91"/>
          <p:cNvSpPr/>
          <p:nvPr/>
        </p:nvSpPr>
        <p:spPr>
          <a:xfrm>
            <a:off x="1143000" y="510228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768" name="Text 92"/>
          <p:cNvSpPr/>
          <p:nvPr/>
        </p:nvSpPr>
        <p:spPr>
          <a:xfrm>
            <a:off x="1243440" y="50659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Q1 2028: Dashboards from portfolio to source data Full GA</a:t>
            </a:r>
            <a:endParaRPr b="0" lang="en-US" sz="950" strike="noStrike" u="none">
              <a:solidFill>
                <a:srgbClr val="000000"/>
              </a:solidFill>
              <a:effectLst/>
              <a:uFillTx/>
              <a:latin typeface="Arial"/>
            </a:endParaRPr>
          </a:p>
        </p:txBody>
      </p:sp>
      <p:sp>
        <p:nvSpPr>
          <p:cNvPr id="3769" name="Shape 93"/>
          <p:cNvSpPr/>
          <p:nvPr/>
        </p:nvSpPr>
        <p:spPr>
          <a:xfrm>
            <a:off x="7513200" y="5165280"/>
            <a:ext cx="2027880" cy="92880"/>
          </a:xfrm>
          <a:prstGeom prst="roundRect">
            <a:avLst>
              <a:gd name="adj" fmla="val 39216"/>
            </a:avLst>
          </a:prstGeom>
          <a:solidFill>
            <a:srgbClr val="ffb04c"/>
          </a:solidFill>
          <a:ln w="12700">
            <a:solidFill>
              <a:srgbClr val="ffb04c"/>
            </a:solidFill>
            <a:round/>
          </a:ln>
        </p:spPr>
        <p:style>
          <a:lnRef idx="0"/>
          <a:fillRef idx="0"/>
          <a:effectRef idx="0"/>
          <a:fontRef idx="minor"/>
        </p:style>
        <p:txBody>
          <a:bodyPr lIns="90000" rIns="90000" tIns="27000" bIns="27000" anchor="t">
            <a:noAutofit/>
          </a:bodyPr>
          <a:p>
            <a:endParaRPr b="0" lang="en-US" sz="1800" strike="noStrike" u="none">
              <a:solidFill>
                <a:srgbClr val="000000"/>
              </a:solidFill>
              <a:effectLst/>
              <a:uFillTx/>
              <a:latin typeface="Arial"/>
            </a:endParaRPr>
          </a:p>
        </p:txBody>
      </p:sp>
      <p:sp>
        <p:nvSpPr>
          <p:cNvPr id="3770" name="Shape 94"/>
          <p:cNvSpPr/>
          <p:nvPr/>
        </p:nvSpPr>
        <p:spPr>
          <a:xfrm>
            <a:off x="9468360" y="5139000"/>
            <a:ext cx="145800" cy="145800"/>
          </a:xfrm>
          <a:prstGeom prst="ellipse">
            <a:avLst/>
          </a:prstGeom>
          <a:solidFill>
            <a:srgbClr val="007a27"/>
          </a:solidFill>
          <a:ln w="1524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771" name="Shape 95"/>
          <p:cNvSpPr/>
          <p:nvPr/>
        </p:nvSpPr>
        <p:spPr>
          <a:xfrm>
            <a:off x="1033200" y="562356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772" name="Shape 96"/>
          <p:cNvSpPr/>
          <p:nvPr/>
        </p:nvSpPr>
        <p:spPr>
          <a:xfrm>
            <a:off x="1143000" y="537660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773" name="Text 97"/>
          <p:cNvSpPr/>
          <p:nvPr/>
        </p:nvSpPr>
        <p:spPr>
          <a:xfrm>
            <a:off x="1243440" y="534024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Q4 2027: Scenario, forecasting and value at risk</a:t>
            </a:r>
            <a:endParaRPr b="0" lang="en-US" sz="950" strike="noStrike" u="none">
              <a:solidFill>
                <a:srgbClr val="000000"/>
              </a:solidFill>
              <a:effectLst/>
              <a:uFillTx/>
              <a:latin typeface="Arial"/>
            </a:endParaRPr>
          </a:p>
        </p:txBody>
      </p:sp>
      <p:sp>
        <p:nvSpPr>
          <p:cNvPr id="3774" name="Shape 98"/>
          <p:cNvSpPr/>
          <p:nvPr/>
        </p:nvSpPr>
        <p:spPr>
          <a:xfrm>
            <a:off x="8189280" y="5439600"/>
            <a:ext cx="2027880" cy="92880"/>
          </a:xfrm>
          <a:prstGeom prst="roundRect">
            <a:avLst>
              <a:gd name="adj" fmla="val 39216"/>
            </a:avLst>
          </a:prstGeom>
          <a:solidFill>
            <a:srgbClr val="ffb04c"/>
          </a:solidFill>
          <a:ln w="12700">
            <a:solidFill>
              <a:srgbClr val="ffb04c"/>
            </a:solidFill>
            <a:round/>
          </a:ln>
        </p:spPr>
        <p:style>
          <a:lnRef idx="0"/>
          <a:fillRef idx="0"/>
          <a:effectRef idx="0"/>
          <a:fontRef idx="minor"/>
        </p:style>
        <p:txBody>
          <a:bodyPr lIns="90000" rIns="90000" tIns="27000" bIns="27000" anchor="t">
            <a:noAutofit/>
          </a:bodyPr>
          <a:p>
            <a:endParaRPr b="0" lang="en-US" sz="1800" strike="noStrike" u="none">
              <a:solidFill>
                <a:srgbClr val="000000"/>
              </a:solidFill>
              <a:effectLst/>
              <a:uFillTx/>
              <a:latin typeface="Arial"/>
            </a:endParaRPr>
          </a:p>
        </p:txBody>
      </p:sp>
      <p:sp>
        <p:nvSpPr>
          <p:cNvPr id="3775" name="Shape 99"/>
          <p:cNvSpPr/>
          <p:nvPr/>
        </p:nvSpPr>
        <p:spPr>
          <a:xfrm>
            <a:off x="1033200" y="58978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776" name="Shape 100"/>
          <p:cNvSpPr/>
          <p:nvPr/>
        </p:nvSpPr>
        <p:spPr>
          <a:xfrm>
            <a:off x="1143000" y="565092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777" name="Text 101"/>
          <p:cNvSpPr/>
          <p:nvPr/>
        </p:nvSpPr>
        <p:spPr>
          <a:xfrm>
            <a:off x="1243440" y="56145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2028: AI-assisted insight on governed data</a:t>
            </a:r>
            <a:endParaRPr b="0" lang="en-US" sz="950" strike="noStrike" u="none">
              <a:solidFill>
                <a:srgbClr val="000000"/>
              </a:solidFill>
              <a:effectLst/>
              <a:uFillTx/>
              <a:latin typeface="Arial"/>
            </a:endParaRPr>
          </a:p>
        </p:txBody>
      </p:sp>
      <p:sp>
        <p:nvSpPr>
          <p:cNvPr id="3778" name="Shape 102"/>
          <p:cNvSpPr/>
          <p:nvPr/>
        </p:nvSpPr>
        <p:spPr>
          <a:xfrm>
            <a:off x="9541440" y="5713920"/>
            <a:ext cx="2027880" cy="92880"/>
          </a:xfrm>
          <a:prstGeom prst="roundRect">
            <a:avLst>
              <a:gd name="adj" fmla="val 39216"/>
            </a:avLst>
          </a:prstGeom>
          <a:solidFill>
            <a:srgbClr val="ffb04c"/>
          </a:solidFill>
          <a:ln w="12700">
            <a:solidFill>
              <a:srgbClr val="ffb04c"/>
            </a:solidFill>
            <a:round/>
          </a:ln>
        </p:spPr>
        <p:style>
          <a:lnRef idx="0"/>
          <a:fillRef idx="0"/>
          <a:effectRef idx="0"/>
          <a:fontRef idx="minor"/>
        </p:style>
        <p:txBody>
          <a:bodyPr lIns="90000" rIns="90000" tIns="27000" bIns="27000" anchor="t">
            <a:noAutofit/>
          </a:bodyPr>
          <a:p>
            <a:endParaRPr b="0" lang="en-US" sz="1800" strike="noStrike" u="none">
              <a:solidFill>
                <a:srgbClr val="000000"/>
              </a:solidFill>
              <a:effectLst/>
              <a:uFillTx/>
              <a:latin typeface="Arial"/>
            </a:endParaRPr>
          </a:p>
        </p:txBody>
      </p:sp>
      <p:sp>
        <p:nvSpPr>
          <p:cNvPr id="3779" name="Shape 103"/>
          <p:cNvSpPr/>
          <p:nvPr/>
        </p:nvSpPr>
        <p:spPr>
          <a:xfrm>
            <a:off x="7315200" y="6080760"/>
            <a:ext cx="145800" cy="145800"/>
          </a:xfrm>
          <a:prstGeom prst="ellipse">
            <a:avLst/>
          </a:prstGeom>
          <a:solidFill>
            <a:srgbClr val="ffb04c"/>
          </a:solidFill>
          <a:ln w="1016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780" name="Text 104"/>
          <p:cNvSpPr/>
          <p:nvPr/>
        </p:nvSpPr>
        <p:spPr>
          <a:xfrm>
            <a:off x="7534800" y="6071760"/>
            <a:ext cx="50256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850" strike="noStrike" u="none">
                <a:solidFill>
                  <a:srgbClr val="5a625c"/>
                </a:solidFill>
                <a:effectLst/>
                <a:uFillTx/>
                <a:latin typeface="Calibri"/>
                <a:ea typeface="Calibri"/>
              </a:rPr>
              <a:t>MVP</a:t>
            </a:r>
            <a:endParaRPr b="0" lang="en-US" sz="850" strike="noStrike" u="none">
              <a:solidFill>
                <a:srgbClr val="000000"/>
              </a:solidFill>
              <a:effectLst/>
              <a:uFillTx/>
              <a:latin typeface="Arial"/>
            </a:endParaRPr>
          </a:p>
        </p:txBody>
      </p:sp>
      <p:sp>
        <p:nvSpPr>
          <p:cNvPr id="3781" name="Shape 105"/>
          <p:cNvSpPr/>
          <p:nvPr/>
        </p:nvSpPr>
        <p:spPr>
          <a:xfrm>
            <a:off x="8183880" y="6080760"/>
            <a:ext cx="145800" cy="145800"/>
          </a:xfrm>
          <a:prstGeom prst="ellipse">
            <a:avLst/>
          </a:prstGeom>
          <a:solidFill>
            <a:srgbClr val="007a27"/>
          </a:solidFill>
          <a:ln w="1016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782" name="Text 106"/>
          <p:cNvSpPr/>
          <p:nvPr/>
        </p:nvSpPr>
        <p:spPr>
          <a:xfrm>
            <a:off x="8403480" y="6071760"/>
            <a:ext cx="73116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850" strike="noStrike" u="none">
                <a:solidFill>
                  <a:srgbClr val="5a625c"/>
                </a:solidFill>
                <a:effectLst/>
                <a:uFillTx/>
                <a:latin typeface="Calibri"/>
                <a:ea typeface="Calibri"/>
              </a:rPr>
              <a:t>Full GA</a:t>
            </a:r>
            <a:endParaRPr b="0" lang="en-US" sz="850" strike="noStrike" u="none">
              <a:solidFill>
                <a:srgbClr val="000000"/>
              </a:solidFill>
              <a:effectLst/>
              <a:uFillTx/>
              <a:latin typeface="Arial"/>
            </a:endParaRPr>
          </a:p>
        </p:txBody>
      </p:sp>
      <p:sp>
        <p:nvSpPr>
          <p:cNvPr id="3783" name="Shape 107"/>
          <p:cNvSpPr/>
          <p:nvPr/>
        </p:nvSpPr>
        <p:spPr>
          <a:xfrm>
            <a:off x="9326880" y="6099120"/>
            <a:ext cx="456840" cy="109440"/>
          </a:xfrm>
          <a:prstGeom prst="roundRect">
            <a:avLst>
              <a:gd name="adj" fmla="val 25000"/>
            </a:avLst>
          </a:prstGeom>
          <a:solidFill>
            <a:srgbClr val="3dcd58">
              <a:alpha val="22000"/>
            </a:srgbClr>
          </a:solidFill>
          <a:ln w="12700">
            <a:solidFill>
              <a:srgbClr val="3dcd58">
                <a:alpha val="22000"/>
              </a:srgbClr>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784" name="Text 108"/>
          <p:cNvSpPr/>
          <p:nvPr/>
        </p:nvSpPr>
        <p:spPr>
          <a:xfrm>
            <a:off x="9857160" y="6071760"/>
            <a:ext cx="173700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850" strike="noStrike" u="none">
                <a:solidFill>
                  <a:srgbClr val="5a625c"/>
                </a:solidFill>
                <a:effectLst/>
                <a:uFillTx/>
                <a:latin typeface="Calibri"/>
                <a:ea typeface="Calibri"/>
              </a:rPr>
              <a:t>Continuous investment after GA</a:t>
            </a:r>
            <a:endParaRPr b="0" lang="en-US" sz="850" strike="noStrike" u="none">
              <a:solidFill>
                <a:srgbClr val="000000"/>
              </a:solidFill>
              <a:effectLst/>
              <a:uFillTx/>
              <a:latin typeface="Arial"/>
            </a:endParaRPr>
          </a:p>
        </p:txBody>
      </p:sp>
      <p:sp>
        <p:nvSpPr>
          <p:cNvPr id="3785" name="Shape 109"/>
          <p:cNvSpPr/>
          <p:nvPr/>
        </p:nvSpPr>
        <p:spPr>
          <a:xfrm>
            <a:off x="621720" y="5650920"/>
            <a:ext cx="10947600" cy="585000"/>
          </a:xfrm>
          <a:prstGeom prst="roundRect">
            <a:avLst>
              <a:gd name="adj" fmla="val 12500"/>
            </a:avLst>
          </a:prstGeom>
          <a:solidFill>
            <a:srgbClr val="effaf1"/>
          </a:solidFill>
          <a:ln w="12700">
            <a:solidFill>
              <a:srgbClr val="bce8c9"/>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786" name="Shape 110"/>
          <p:cNvSpPr/>
          <p:nvPr/>
        </p:nvSpPr>
        <p:spPr>
          <a:xfrm>
            <a:off x="676800" y="5760720"/>
            <a:ext cx="45360" cy="3654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787" name="Text 111"/>
          <p:cNvSpPr/>
          <p:nvPr/>
        </p:nvSpPr>
        <p:spPr>
          <a:xfrm>
            <a:off x="859680" y="5650920"/>
            <a:ext cx="10527120" cy="585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200" strike="noStrike" u="none">
                <a:solidFill>
                  <a:srgbClr val="3a423c"/>
                </a:solidFill>
                <a:effectLst/>
                <a:uFillTx/>
                <a:latin typeface="Calibri"/>
                <a:ea typeface="Calibri"/>
              </a:rPr>
              <a:t>Track delivery against the roadmap gap matrix (/competitor-matrix), which compares these milestones to every researched rival.</a:t>
            </a:r>
            <a:endParaRPr b="0" lang="en-US" sz="1200" strike="noStrike" u="none">
              <a:solidFill>
                <a:srgbClr val="000000"/>
              </a:solidFill>
              <a:effectLst/>
              <a:uFillTx/>
              <a:latin typeface="Arial"/>
            </a:endParaRPr>
          </a:p>
        </p:txBody>
      </p:sp>
      <p:sp>
        <p:nvSpPr>
          <p:cNvPr id="3788" name="Shape 112"/>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789" name="Text 113"/>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3790" name="Text 114"/>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3791" name="PlaceHolder 1"/>
          <p:cNvSpPr>
            <a:spLocks noGrp="1"/>
          </p:cNvSpPr>
          <p:nvPr>
            <p:ph type="sldNum" idx="81"/>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52BA3929-ED70-46AF-AD52-FC503F27F3A9}"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9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792"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3793"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3794" name="Shape 2"/>
          <p:cNvSpPr/>
          <p:nvPr/>
        </p:nvSpPr>
        <p:spPr>
          <a:xfrm>
            <a:off x="621720" y="311040"/>
            <a:ext cx="386748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795" name="Text 3"/>
          <p:cNvSpPr/>
          <p:nvPr/>
        </p:nvSpPr>
        <p:spPr>
          <a:xfrm>
            <a:off x="804600" y="329040"/>
            <a:ext cx="353844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SHARED PLATFORM CAPACITY AND GAP</a:t>
            </a:r>
            <a:endParaRPr b="0" lang="en-US" sz="950" strike="noStrike" u="none">
              <a:solidFill>
                <a:srgbClr val="000000"/>
              </a:solidFill>
              <a:effectLst/>
              <a:uFillTx/>
              <a:latin typeface="Arial"/>
            </a:endParaRPr>
          </a:p>
        </p:txBody>
      </p:sp>
      <p:sp>
        <p:nvSpPr>
          <p:cNvPr id="3796" name="Text 4"/>
          <p:cNvSpPr/>
          <p:nvPr/>
        </p:nvSpPr>
        <p:spPr>
          <a:xfrm>
            <a:off x="621720" y="768240"/>
            <a:ext cx="10947600" cy="804240"/>
          </a:xfrm>
          <a:prstGeom prst="rect">
            <a:avLst/>
          </a:prstGeom>
          <a:noFill/>
          <a:ln w="0">
            <a:noFill/>
          </a:ln>
        </p:spPr>
        <p:style>
          <a:lnRef idx="0"/>
          <a:fillRef idx="0"/>
          <a:effectRef idx="0"/>
          <a:fontRef idx="minor"/>
        </p:style>
        <p:txBody>
          <a:bodyPr lIns="0" rIns="0" tIns="0" bIns="0" anchor="t">
            <a:normAutofit lnSpcReduction="9999"/>
          </a:bodyPr>
          <a:p>
            <a:pPr defTabSz="914400">
              <a:lnSpc>
                <a:spcPct val="100000"/>
              </a:lnSpc>
              <a:tabLst>
                <a:tab algn="l" pos="0"/>
              </a:tabLst>
            </a:pPr>
            <a:r>
              <a:rPr b="1" lang="en-US" sz="2800" strike="noStrike" u="none">
                <a:solidFill>
                  <a:srgbClr val="1e2420"/>
                </a:solidFill>
                <a:effectLst/>
                <a:uFillTx/>
                <a:latin typeface="Calibri"/>
                <a:ea typeface="Calibri"/>
              </a:rPr>
              <a:t>What the shared platform costs us, and what it costs a rival to copy</a:t>
            </a:r>
            <a:endParaRPr b="0" lang="en-US" sz="2800" strike="noStrike" u="none">
              <a:solidFill>
                <a:srgbClr val="000000"/>
              </a:solidFill>
              <a:effectLst/>
              <a:uFillTx/>
              <a:latin typeface="Arial"/>
            </a:endParaRPr>
          </a:p>
        </p:txBody>
      </p:sp>
      <p:sp>
        <p:nvSpPr>
          <p:cNvPr id="3797" name="Text 5"/>
          <p:cNvSpPr/>
          <p:nvPr/>
        </p:nvSpPr>
        <p:spPr>
          <a:xfrm>
            <a:off x="621720" y="15728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Capacity math is planning-level and indicative. Rival positions are internal assessments, not analyst ratings.</a:t>
            </a:r>
            <a:endParaRPr b="0" lang="en-US" sz="1250" strike="noStrike" u="none">
              <a:solidFill>
                <a:srgbClr val="000000"/>
              </a:solidFill>
              <a:effectLst/>
              <a:uFillTx/>
              <a:latin typeface="Arial"/>
            </a:endParaRPr>
          </a:p>
        </p:txBody>
      </p:sp>
      <p:sp>
        <p:nvSpPr>
          <p:cNvPr id="3798"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799" name="Shape 7"/>
          <p:cNvSpPr/>
          <p:nvPr/>
        </p:nvSpPr>
        <p:spPr>
          <a:xfrm>
            <a:off x="621720" y="2084760"/>
            <a:ext cx="2530800" cy="1874160"/>
          </a:xfrm>
          <a:prstGeom prst="roundRect">
            <a:avLst>
              <a:gd name="adj" fmla="val 292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800" name="Shape 8"/>
          <p:cNvSpPr/>
          <p:nvPr/>
        </p:nvSpPr>
        <p:spPr>
          <a:xfrm>
            <a:off x="621720" y="2084760"/>
            <a:ext cx="54360" cy="187416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801" name="Text 9"/>
          <p:cNvSpPr/>
          <p:nvPr/>
        </p:nvSpPr>
        <p:spPr>
          <a:xfrm>
            <a:off x="877680" y="2249280"/>
            <a:ext cx="2073600" cy="5666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400" strike="noStrike" u="none">
                <a:solidFill>
                  <a:srgbClr val="007a27"/>
                </a:solidFill>
                <a:effectLst/>
                <a:uFillTx/>
                <a:latin typeface="Calibri"/>
                <a:ea typeface="Calibri"/>
              </a:rPr>
              <a:t>~1/3</a:t>
            </a:r>
            <a:endParaRPr b="0" lang="en-US" sz="3400" strike="noStrike" u="none">
              <a:solidFill>
                <a:srgbClr val="000000"/>
              </a:solidFill>
              <a:effectLst/>
              <a:uFillTx/>
              <a:latin typeface="Arial"/>
            </a:endParaRPr>
          </a:p>
        </p:txBody>
      </p:sp>
      <p:sp>
        <p:nvSpPr>
          <p:cNvPr id="3802" name="Text 10"/>
          <p:cNvSpPr/>
          <p:nvPr/>
        </p:nvSpPr>
        <p:spPr>
          <a:xfrm>
            <a:off x="850320" y="2889360"/>
            <a:ext cx="2073600" cy="502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1200" strike="noStrike" u="none">
                <a:solidFill>
                  <a:srgbClr val="1e2420"/>
                </a:solidFill>
                <a:effectLst/>
                <a:uFillTx/>
                <a:latin typeface="Calibri"/>
                <a:ea typeface="Calibri"/>
              </a:rPr>
              <a:t>Of build capacity protected</a:t>
            </a:r>
            <a:endParaRPr b="0" lang="en-US" sz="1200" strike="noStrike" u="none">
              <a:solidFill>
                <a:srgbClr val="000000"/>
              </a:solidFill>
              <a:effectLst/>
              <a:uFillTx/>
              <a:latin typeface="Arial"/>
            </a:endParaRPr>
          </a:p>
        </p:txBody>
      </p:sp>
      <p:sp>
        <p:nvSpPr>
          <p:cNvPr id="3803" name="Text 11"/>
          <p:cNvSpPr/>
          <p:nvPr/>
        </p:nvSpPr>
        <p:spPr>
          <a:xfrm>
            <a:off x="850320" y="3420000"/>
            <a:ext cx="2073600" cy="4568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0" lang="en-US" sz="1000" strike="noStrike" u="none">
                <a:solidFill>
                  <a:srgbClr val="5a625c"/>
                </a:solidFill>
                <a:effectLst/>
                <a:uFillTx/>
                <a:latin typeface="Calibri"/>
                <a:ea typeface="Calibri"/>
              </a:rPr>
              <a:t>Shared ingestion and lineage, data quality, hierarchy, analytics and dashboards, user workflows</a:t>
            </a:r>
            <a:endParaRPr b="0" lang="en-US" sz="1000" strike="noStrike" u="none">
              <a:solidFill>
                <a:srgbClr val="000000"/>
              </a:solidFill>
              <a:effectLst/>
              <a:uFillTx/>
              <a:latin typeface="Arial"/>
            </a:endParaRPr>
          </a:p>
        </p:txBody>
      </p:sp>
      <p:sp>
        <p:nvSpPr>
          <p:cNvPr id="3804" name="Shape 12"/>
          <p:cNvSpPr/>
          <p:nvPr/>
        </p:nvSpPr>
        <p:spPr>
          <a:xfrm>
            <a:off x="3427560" y="2084760"/>
            <a:ext cx="2530800" cy="1874160"/>
          </a:xfrm>
          <a:prstGeom prst="roundRect">
            <a:avLst>
              <a:gd name="adj" fmla="val 292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805" name="Shape 13"/>
          <p:cNvSpPr/>
          <p:nvPr/>
        </p:nvSpPr>
        <p:spPr>
          <a:xfrm>
            <a:off x="3427560" y="2084760"/>
            <a:ext cx="54360" cy="187416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806" name="Text 14"/>
          <p:cNvSpPr/>
          <p:nvPr/>
        </p:nvSpPr>
        <p:spPr>
          <a:xfrm>
            <a:off x="3683520" y="2249280"/>
            <a:ext cx="2073600" cy="5666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400" strike="noStrike" u="none">
                <a:solidFill>
                  <a:srgbClr val="007a27"/>
                </a:solidFill>
                <a:effectLst/>
                <a:uFillTx/>
                <a:latin typeface="Calibri"/>
                <a:ea typeface="Calibri"/>
              </a:rPr>
              <a:t>3</a:t>
            </a:r>
            <a:endParaRPr b="0" lang="en-US" sz="3400" strike="noStrike" u="none">
              <a:solidFill>
                <a:srgbClr val="000000"/>
              </a:solidFill>
              <a:effectLst/>
              <a:uFillTx/>
              <a:latin typeface="Arial"/>
            </a:endParaRPr>
          </a:p>
        </p:txBody>
      </p:sp>
      <p:sp>
        <p:nvSpPr>
          <p:cNvPr id="3807" name="Text 15"/>
          <p:cNvSpPr/>
          <p:nvPr/>
        </p:nvSpPr>
        <p:spPr>
          <a:xfrm>
            <a:off x="3656160" y="2889360"/>
            <a:ext cx="2073600" cy="502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1200" strike="noStrike" u="none">
                <a:solidFill>
                  <a:srgbClr val="1e2420"/>
                </a:solidFill>
                <a:effectLst/>
                <a:uFillTx/>
                <a:latin typeface="Calibri"/>
                <a:ea typeface="Calibri"/>
              </a:rPr>
              <a:t>Foundations funded as one</a:t>
            </a:r>
            <a:endParaRPr b="0" lang="en-US" sz="1200" strike="noStrike" u="none">
              <a:solidFill>
                <a:srgbClr val="000000"/>
              </a:solidFill>
              <a:effectLst/>
              <a:uFillTx/>
              <a:latin typeface="Arial"/>
            </a:endParaRPr>
          </a:p>
        </p:txBody>
      </p:sp>
      <p:sp>
        <p:nvSpPr>
          <p:cNvPr id="3808" name="Text 16"/>
          <p:cNvSpPr/>
          <p:nvPr/>
        </p:nvSpPr>
        <p:spPr>
          <a:xfrm>
            <a:off x="3656160" y="3420000"/>
            <a:ext cx="2073600" cy="4568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0" lang="en-US" sz="1000" strike="noStrike" u="none">
                <a:solidFill>
                  <a:srgbClr val="5a625c"/>
                </a:solidFill>
                <a:effectLst/>
                <a:uFillTx/>
                <a:latin typeface="Calibri"/>
                <a:ea typeface="Calibri"/>
              </a:rPr>
              <a:t>Hierarchy, user workflow, analytics engine</a:t>
            </a:r>
            <a:endParaRPr b="0" lang="en-US" sz="1000" strike="noStrike" u="none">
              <a:solidFill>
                <a:srgbClr val="000000"/>
              </a:solidFill>
              <a:effectLst/>
              <a:uFillTx/>
              <a:latin typeface="Arial"/>
            </a:endParaRPr>
          </a:p>
        </p:txBody>
      </p:sp>
      <p:sp>
        <p:nvSpPr>
          <p:cNvPr id="3809" name="Shape 17"/>
          <p:cNvSpPr/>
          <p:nvPr/>
        </p:nvSpPr>
        <p:spPr>
          <a:xfrm>
            <a:off x="6233040" y="2084760"/>
            <a:ext cx="2530800" cy="1874160"/>
          </a:xfrm>
          <a:prstGeom prst="roundRect">
            <a:avLst>
              <a:gd name="adj" fmla="val 292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810" name="Shape 18"/>
          <p:cNvSpPr/>
          <p:nvPr/>
        </p:nvSpPr>
        <p:spPr>
          <a:xfrm>
            <a:off x="6233040" y="2084760"/>
            <a:ext cx="54360" cy="187416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811" name="Text 19"/>
          <p:cNvSpPr/>
          <p:nvPr/>
        </p:nvSpPr>
        <p:spPr>
          <a:xfrm>
            <a:off x="6489000" y="2249280"/>
            <a:ext cx="2073600" cy="5666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400" strike="noStrike" u="none">
                <a:solidFill>
                  <a:srgbClr val="007a27"/>
                </a:solidFill>
                <a:effectLst/>
                <a:uFillTx/>
                <a:latin typeface="Calibri"/>
                <a:ea typeface="Calibri"/>
              </a:rPr>
              <a:t>12</a:t>
            </a:r>
            <a:endParaRPr b="0" lang="en-US" sz="3400" strike="noStrike" u="none">
              <a:solidFill>
                <a:srgbClr val="000000"/>
              </a:solidFill>
              <a:effectLst/>
              <a:uFillTx/>
              <a:latin typeface="Arial"/>
            </a:endParaRPr>
          </a:p>
        </p:txBody>
      </p:sp>
      <p:sp>
        <p:nvSpPr>
          <p:cNvPr id="3812" name="Text 20"/>
          <p:cNvSpPr/>
          <p:nvPr/>
        </p:nvSpPr>
        <p:spPr>
          <a:xfrm>
            <a:off x="6461640" y="2889360"/>
            <a:ext cx="2073600" cy="502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1200" strike="noStrike" u="none">
                <a:solidFill>
                  <a:srgbClr val="1e2420"/>
                </a:solidFill>
                <a:effectLst/>
                <a:uFillTx/>
                <a:latin typeface="Calibri"/>
                <a:ea typeface="Calibri"/>
              </a:rPr>
              <a:t>Shared capabilities tracked</a:t>
            </a:r>
            <a:endParaRPr b="0" lang="en-US" sz="1200" strike="noStrike" u="none">
              <a:solidFill>
                <a:srgbClr val="000000"/>
              </a:solidFill>
              <a:effectLst/>
              <a:uFillTx/>
              <a:latin typeface="Arial"/>
            </a:endParaRPr>
          </a:p>
        </p:txBody>
      </p:sp>
      <p:sp>
        <p:nvSpPr>
          <p:cNvPr id="3813" name="Text 21"/>
          <p:cNvSpPr/>
          <p:nvPr/>
        </p:nvSpPr>
        <p:spPr>
          <a:xfrm>
            <a:off x="6461640" y="3420000"/>
            <a:ext cx="2073600" cy="4568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0" lang="en-US" sz="1000" strike="noStrike" u="none">
                <a:solidFill>
                  <a:srgbClr val="5a625c"/>
                </a:solidFill>
                <a:effectLst/>
                <a:uFillTx/>
                <a:latin typeface="Calibri"/>
                <a:ea typeface="Calibri"/>
              </a:rPr>
              <a:t>Owned, dated and status-managed in the platform dashboard</a:t>
            </a:r>
            <a:endParaRPr b="0" lang="en-US" sz="1000" strike="noStrike" u="none">
              <a:solidFill>
                <a:srgbClr val="000000"/>
              </a:solidFill>
              <a:effectLst/>
              <a:uFillTx/>
              <a:latin typeface="Arial"/>
            </a:endParaRPr>
          </a:p>
        </p:txBody>
      </p:sp>
      <p:sp>
        <p:nvSpPr>
          <p:cNvPr id="3814" name="Shape 22"/>
          <p:cNvSpPr/>
          <p:nvPr/>
        </p:nvSpPr>
        <p:spPr>
          <a:xfrm>
            <a:off x="9038520" y="2084760"/>
            <a:ext cx="2530800" cy="1874160"/>
          </a:xfrm>
          <a:prstGeom prst="roundRect">
            <a:avLst>
              <a:gd name="adj" fmla="val 292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815" name="Shape 23"/>
          <p:cNvSpPr/>
          <p:nvPr/>
        </p:nvSpPr>
        <p:spPr>
          <a:xfrm>
            <a:off x="9038520" y="2084760"/>
            <a:ext cx="54360" cy="187416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816" name="Text 24"/>
          <p:cNvSpPr/>
          <p:nvPr/>
        </p:nvSpPr>
        <p:spPr>
          <a:xfrm>
            <a:off x="9294480" y="2249280"/>
            <a:ext cx="2073600" cy="5666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400" strike="noStrike" u="none">
                <a:solidFill>
                  <a:srgbClr val="007a27"/>
                </a:solidFill>
                <a:effectLst/>
                <a:uFillTx/>
                <a:latin typeface="Calibri"/>
                <a:ea typeface="Calibri"/>
              </a:rPr>
              <a:t>1x</a:t>
            </a:r>
            <a:endParaRPr b="0" lang="en-US" sz="3400" strike="noStrike" u="none">
              <a:solidFill>
                <a:srgbClr val="000000"/>
              </a:solidFill>
              <a:effectLst/>
              <a:uFillTx/>
              <a:latin typeface="Arial"/>
            </a:endParaRPr>
          </a:p>
        </p:txBody>
      </p:sp>
      <p:sp>
        <p:nvSpPr>
          <p:cNvPr id="3817" name="Text 25"/>
          <p:cNvSpPr/>
          <p:nvPr/>
        </p:nvSpPr>
        <p:spPr>
          <a:xfrm>
            <a:off x="9267120" y="2889360"/>
            <a:ext cx="2073600" cy="50256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1" lang="en-US" sz="1200" strike="noStrike" u="none">
                <a:solidFill>
                  <a:srgbClr val="1e2420"/>
                </a:solidFill>
                <a:effectLst/>
                <a:uFillTx/>
                <a:latin typeface="Calibri"/>
                <a:ea typeface="Calibri"/>
              </a:rPr>
              <a:t>Built once, inherited by all</a:t>
            </a:r>
            <a:endParaRPr b="0" lang="en-US" sz="1200" strike="noStrike" u="none">
              <a:solidFill>
                <a:srgbClr val="000000"/>
              </a:solidFill>
              <a:effectLst/>
              <a:uFillTx/>
              <a:latin typeface="Arial"/>
            </a:endParaRPr>
          </a:p>
        </p:txBody>
      </p:sp>
      <p:sp>
        <p:nvSpPr>
          <p:cNvPr id="3818" name="Text 26"/>
          <p:cNvSpPr/>
          <p:nvPr/>
        </p:nvSpPr>
        <p:spPr>
          <a:xfrm>
            <a:off x="9267120" y="3420000"/>
            <a:ext cx="2073600" cy="4568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0" lang="en-US" sz="1000" strike="noStrike" u="none">
                <a:solidFill>
                  <a:srgbClr val="5a625c"/>
                </a:solidFill>
                <a:effectLst/>
                <a:uFillTx/>
                <a:latin typeface="Calibri"/>
                <a:ea typeface="Calibri"/>
              </a:rPr>
              <a:t>Every sustainability and energy product consumes the same foundation</a:t>
            </a:r>
            <a:endParaRPr b="0" lang="en-US" sz="1000" strike="noStrike" u="none">
              <a:solidFill>
                <a:srgbClr val="000000"/>
              </a:solidFill>
              <a:effectLst/>
              <a:uFillTx/>
              <a:latin typeface="Arial"/>
            </a:endParaRPr>
          </a:p>
        </p:txBody>
      </p:sp>
      <p:sp>
        <p:nvSpPr>
          <p:cNvPr id="3819" name="Shape 27"/>
          <p:cNvSpPr/>
          <p:nvPr/>
        </p:nvSpPr>
        <p:spPr>
          <a:xfrm>
            <a:off x="621720" y="4233600"/>
            <a:ext cx="2530800" cy="1298160"/>
          </a:xfrm>
          <a:prstGeom prst="roundRect">
            <a:avLst>
              <a:gd name="adj" fmla="val 4225"/>
            </a:avLst>
          </a:prstGeom>
          <a:solidFill>
            <a:srgbClr val="f7f8f7"/>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820" name="Text 28"/>
          <p:cNvSpPr/>
          <p:nvPr/>
        </p:nvSpPr>
        <p:spPr>
          <a:xfrm>
            <a:off x="850320" y="4398120"/>
            <a:ext cx="2073600" cy="3654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400" strike="noStrike" u="none">
                <a:solidFill>
                  <a:srgbClr val="1e2420"/>
                </a:solidFill>
                <a:effectLst/>
                <a:uFillTx/>
                <a:latin typeface="Calibri"/>
                <a:ea typeface="Calibri"/>
              </a:rPr>
              <a:t>Where rivals are strong</a:t>
            </a:r>
            <a:endParaRPr b="0" lang="en-US" sz="1400" strike="noStrike" u="none">
              <a:solidFill>
                <a:srgbClr val="000000"/>
              </a:solidFill>
              <a:effectLst/>
              <a:uFillTx/>
              <a:latin typeface="Arial"/>
            </a:endParaRPr>
          </a:p>
        </p:txBody>
      </p:sp>
      <p:sp>
        <p:nvSpPr>
          <p:cNvPr id="3821" name="Text 29"/>
          <p:cNvSpPr/>
          <p:nvPr/>
        </p:nvSpPr>
        <p:spPr>
          <a:xfrm>
            <a:off x="850320" y="4800600"/>
            <a:ext cx="20736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0" lang="en-US" sz="1200" strike="noStrike" u="none">
                <a:solidFill>
                  <a:srgbClr val="5a625c"/>
                </a:solidFill>
                <a:effectLst/>
                <a:uFillTx/>
                <a:latin typeface="Calibri"/>
                <a:ea typeface="Calibri"/>
              </a:rPr>
              <a:t>Point specialists ship depth fast in one domain: carbon accounting, supplier engagement, disclosure or physical risk.</a:t>
            </a:r>
            <a:endParaRPr b="0" lang="en-US" sz="1200" strike="noStrike" u="none">
              <a:solidFill>
                <a:srgbClr val="000000"/>
              </a:solidFill>
              <a:effectLst/>
              <a:uFillTx/>
              <a:latin typeface="Arial"/>
            </a:endParaRPr>
          </a:p>
        </p:txBody>
      </p:sp>
      <p:sp>
        <p:nvSpPr>
          <p:cNvPr id="3822" name="Shape 30"/>
          <p:cNvSpPr/>
          <p:nvPr/>
        </p:nvSpPr>
        <p:spPr>
          <a:xfrm>
            <a:off x="3427560" y="4233600"/>
            <a:ext cx="2530800" cy="1298160"/>
          </a:xfrm>
          <a:prstGeom prst="roundRect">
            <a:avLst>
              <a:gd name="adj" fmla="val 4225"/>
            </a:avLst>
          </a:prstGeom>
          <a:solidFill>
            <a:srgbClr val="f7f8f7"/>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823" name="Text 31"/>
          <p:cNvSpPr/>
          <p:nvPr/>
        </p:nvSpPr>
        <p:spPr>
          <a:xfrm>
            <a:off x="3656160" y="4398120"/>
            <a:ext cx="2073600" cy="3654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400" strike="noStrike" u="none">
                <a:solidFill>
                  <a:srgbClr val="1e2420"/>
                </a:solidFill>
                <a:effectLst/>
                <a:uFillTx/>
                <a:latin typeface="Calibri"/>
                <a:ea typeface="Calibri"/>
              </a:rPr>
              <a:t>Where they are exposed</a:t>
            </a:r>
            <a:endParaRPr b="0" lang="en-US" sz="1400" strike="noStrike" u="none">
              <a:solidFill>
                <a:srgbClr val="000000"/>
              </a:solidFill>
              <a:effectLst/>
              <a:uFillTx/>
              <a:latin typeface="Arial"/>
            </a:endParaRPr>
          </a:p>
        </p:txBody>
      </p:sp>
      <p:sp>
        <p:nvSpPr>
          <p:cNvPr id="3824" name="Text 32"/>
          <p:cNvSpPr/>
          <p:nvPr/>
        </p:nvSpPr>
        <p:spPr>
          <a:xfrm>
            <a:off x="3656160" y="4800600"/>
            <a:ext cx="20736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0" lang="en-US" sz="1200" strike="noStrike" u="none">
                <a:solidFill>
                  <a:srgbClr val="5a625c"/>
                </a:solidFill>
                <a:effectLst/>
                <a:uFillTx/>
                <a:latin typeface="Calibri"/>
                <a:ea typeface="Calibri"/>
              </a:rPr>
              <a:t>Their depth sits on separate data models, so hierarchy, workflow and analytics are rebuilt per product and per acquisition.</a:t>
            </a:r>
            <a:endParaRPr b="0" lang="en-US" sz="1200" strike="noStrike" u="none">
              <a:solidFill>
                <a:srgbClr val="000000"/>
              </a:solidFill>
              <a:effectLst/>
              <a:uFillTx/>
              <a:latin typeface="Arial"/>
            </a:endParaRPr>
          </a:p>
        </p:txBody>
      </p:sp>
      <p:sp>
        <p:nvSpPr>
          <p:cNvPr id="3825" name="Shape 33"/>
          <p:cNvSpPr/>
          <p:nvPr/>
        </p:nvSpPr>
        <p:spPr>
          <a:xfrm>
            <a:off x="6233040" y="4233600"/>
            <a:ext cx="2530800" cy="1298160"/>
          </a:xfrm>
          <a:prstGeom prst="roundRect">
            <a:avLst>
              <a:gd name="adj" fmla="val 4225"/>
            </a:avLst>
          </a:prstGeom>
          <a:solidFill>
            <a:srgbClr val="f7f8f7"/>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826" name="Text 34"/>
          <p:cNvSpPr/>
          <p:nvPr/>
        </p:nvSpPr>
        <p:spPr>
          <a:xfrm>
            <a:off x="6461640" y="4398120"/>
            <a:ext cx="2073600" cy="3654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400" strike="noStrike" u="none">
                <a:solidFill>
                  <a:srgbClr val="1e2420"/>
                </a:solidFill>
                <a:effectLst/>
                <a:uFillTx/>
                <a:latin typeface="Calibri"/>
                <a:ea typeface="Calibri"/>
              </a:rPr>
              <a:t>Our structural gap to close</a:t>
            </a:r>
            <a:endParaRPr b="0" lang="en-US" sz="1400" strike="noStrike" u="none">
              <a:solidFill>
                <a:srgbClr val="000000"/>
              </a:solidFill>
              <a:effectLst/>
              <a:uFillTx/>
              <a:latin typeface="Arial"/>
            </a:endParaRPr>
          </a:p>
        </p:txBody>
      </p:sp>
      <p:sp>
        <p:nvSpPr>
          <p:cNvPr id="3827" name="Text 35"/>
          <p:cNvSpPr/>
          <p:nvPr/>
        </p:nvSpPr>
        <p:spPr>
          <a:xfrm>
            <a:off x="6461640" y="4800600"/>
            <a:ext cx="20736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0" lang="en-US" sz="1200" strike="noStrike" u="none">
                <a:solidFill>
                  <a:srgbClr val="5a625c"/>
                </a:solidFill>
                <a:effectLst/>
                <a:uFillTx/>
                <a:latin typeface="Calibri"/>
                <a:ea typeface="Calibri"/>
              </a:rPr>
              <a:t>We trail the best single-domain products on feature depth in some areas, and we close it by reusing one foundation instead of many.</a:t>
            </a:r>
            <a:endParaRPr b="0" lang="en-US" sz="1200" strike="noStrike" u="none">
              <a:solidFill>
                <a:srgbClr val="000000"/>
              </a:solidFill>
              <a:effectLst/>
              <a:uFillTx/>
              <a:latin typeface="Arial"/>
            </a:endParaRPr>
          </a:p>
        </p:txBody>
      </p:sp>
      <p:sp>
        <p:nvSpPr>
          <p:cNvPr id="3828" name="Shape 36"/>
          <p:cNvSpPr/>
          <p:nvPr/>
        </p:nvSpPr>
        <p:spPr>
          <a:xfrm>
            <a:off x="9038520" y="4233600"/>
            <a:ext cx="2530800" cy="1298160"/>
          </a:xfrm>
          <a:prstGeom prst="roundRect">
            <a:avLst>
              <a:gd name="adj" fmla="val 4225"/>
            </a:avLst>
          </a:prstGeom>
          <a:solidFill>
            <a:srgbClr val="f7f8f7"/>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829" name="Text 37"/>
          <p:cNvSpPr/>
          <p:nvPr/>
        </p:nvSpPr>
        <p:spPr>
          <a:xfrm>
            <a:off x="9267120" y="4398120"/>
            <a:ext cx="2073600" cy="365400"/>
          </a:xfrm>
          <a:prstGeom prst="rect">
            <a:avLst/>
          </a:prstGeom>
          <a:noFill/>
          <a:ln w="0">
            <a:noFill/>
          </a:ln>
        </p:spPr>
        <p:style>
          <a:lnRef idx="0"/>
          <a:fillRef idx="0"/>
          <a:effectRef idx="0"/>
          <a:fontRef idx="minor"/>
        </p:style>
        <p:txBody>
          <a:bodyPr lIns="90000" rIns="90000" tIns="45000" bIns="45000" anchor="ctr">
            <a:noAutofit/>
          </a:bodyPr>
          <a:p>
            <a:pPr defTabSz="914400">
              <a:lnSpc>
                <a:spcPct val="100000"/>
              </a:lnSpc>
              <a:tabLst>
                <a:tab algn="l" pos="0"/>
              </a:tabLst>
            </a:pPr>
            <a:r>
              <a:rPr b="1" lang="en-US" sz="1400" strike="noStrike" u="none">
                <a:solidFill>
                  <a:srgbClr val="1e2420"/>
                </a:solidFill>
                <a:effectLst/>
                <a:uFillTx/>
                <a:latin typeface="Calibri"/>
                <a:ea typeface="Calibri"/>
              </a:rPr>
              <a:t>The compounding advantage</a:t>
            </a:r>
            <a:endParaRPr b="0" lang="en-US" sz="1400" strike="noStrike" u="none">
              <a:solidFill>
                <a:srgbClr val="000000"/>
              </a:solidFill>
              <a:effectLst/>
              <a:uFillTx/>
              <a:latin typeface="Arial"/>
            </a:endParaRPr>
          </a:p>
        </p:txBody>
      </p:sp>
      <p:sp>
        <p:nvSpPr>
          <p:cNvPr id="3830" name="Text 38"/>
          <p:cNvSpPr/>
          <p:nvPr/>
        </p:nvSpPr>
        <p:spPr>
          <a:xfrm>
            <a:off x="9267120" y="4800600"/>
            <a:ext cx="2073600" cy="56664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tabLst>
                <a:tab algn="l" pos="0"/>
              </a:tabLst>
            </a:pPr>
            <a:r>
              <a:rPr b="0" lang="en-US" sz="1200" strike="noStrike" u="none">
                <a:solidFill>
                  <a:srgbClr val="5a625c"/>
                </a:solidFill>
                <a:effectLst/>
                <a:uFillTx/>
                <a:latin typeface="Calibri"/>
                <a:ea typeface="Calibri"/>
              </a:rPr>
              <a:t>Each new product we add inherits governance, lineage and analytics on day one. A rival must rebuild that before they can match it.</a:t>
            </a:r>
            <a:endParaRPr b="0" lang="en-US" sz="1200" strike="noStrike" u="none">
              <a:solidFill>
                <a:srgbClr val="000000"/>
              </a:solidFill>
              <a:effectLst/>
              <a:uFillTx/>
              <a:latin typeface="Arial"/>
            </a:endParaRPr>
          </a:p>
        </p:txBody>
      </p:sp>
      <p:sp>
        <p:nvSpPr>
          <p:cNvPr id="3831" name="Shape 39"/>
          <p:cNvSpPr/>
          <p:nvPr/>
        </p:nvSpPr>
        <p:spPr>
          <a:xfrm>
            <a:off x="621720" y="5650920"/>
            <a:ext cx="10947600" cy="585000"/>
          </a:xfrm>
          <a:prstGeom prst="roundRect">
            <a:avLst>
              <a:gd name="adj" fmla="val 12500"/>
            </a:avLst>
          </a:prstGeom>
          <a:solidFill>
            <a:srgbClr val="effaf1"/>
          </a:solidFill>
          <a:ln w="12700">
            <a:solidFill>
              <a:srgbClr val="bce8c9"/>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832" name="Shape 40"/>
          <p:cNvSpPr/>
          <p:nvPr/>
        </p:nvSpPr>
        <p:spPr>
          <a:xfrm>
            <a:off x="676800" y="5760720"/>
            <a:ext cx="45360" cy="3654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833" name="Text 41"/>
          <p:cNvSpPr/>
          <p:nvPr/>
        </p:nvSpPr>
        <p:spPr>
          <a:xfrm>
            <a:off x="859680" y="5650920"/>
            <a:ext cx="10527120" cy="585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200" strike="noStrike" u="none">
                <a:solidFill>
                  <a:srgbClr val="3a423c"/>
                </a:solidFill>
                <a:effectLst/>
                <a:uFillTx/>
                <a:latin typeface="Calibri"/>
                <a:ea typeface="Calibri"/>
              </a:rPr>
              <a:t>Capacity figures are planning assumptions to be confirmed with product and R&amp;D leadership.</a:t>
            </a:r>
            <a:endParaRPr b="0" lang="en-US" sz="1200" strike="noStrike" u="none">
              <a:solidFill>
                <a:srgbClr val="000000"/>
              </a:solidFill>
              <a:effectLst/>
              <a:uFillTx/>
              <a:latin typeface="Arial"/>
            </a:endParaRPr>
          </a:p>
        </p:txBody>
      </p:sp>
      <p:sp>
        <p:nvSpPr>
          <p:cNvPr id="3834" name="Shape 42"/>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835" name="Text 43"/>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3836" name="Text 44"/>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3837" name="PlaceHolder 1"/>
          <p:cNvSpPr>
            <a:spLocks noGrp="1"/>
          </p:cNvSpPr>
          <p:nvPr>
            <p:ph type="sldNum" idx="82"/>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94FC8217-2BFB-48CF-A97E-1AABB8CF9531}"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9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838"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3839"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3840" name="Shape 2"/>
          <p:cNvSpPr/>
          <p:nvPr/>
        </p:nvSpPr>
        <p:spPr>
          <a:xfrm>
            <a:off x="621720" y="311040"/>
            <a:ext cx="302616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841" name="Text 3"/>
          <p:cNvSpPr/>
          <p:nvPr/>
        </p:nvSpPr>
        <p:spPr>
          <a:xfrm>
            <a:off x="804600" y="329040"/>
            <a:ext cx="269712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REPORTING AND COMPLIANCE</a:t>
            </a:r>
            <a:endParaRPr b="0" lang="en-US" sz="950" strike="noStrike" u="none">
              <a:solidFill>
                <a:srgbClr val="000000"/>
              </a:solidFill>
              <a:effectLst/>
              <a:uFillTx/>
              <a:latin typeface="Arial"/>
            </a:endParaRPr>
          </a:p>
        </p:txBody>
      </p:sp>
      <p:sp>
        <p:nvSpPr>
          <p:cNvPr id="3842"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What ships inside the reporting and compliance goals</a:t>
            </a:r>
            <a:endParaRPr b="0" lang="en-US" sz="3200" strike="noStrike" u="none">
              <a:solidFill>
                <a:srgbClr val="000000"/>
              </a:solidFill>
              <a:effectLst/>
              <a:uFillTx/>
              <a:latin typeface="Arial"/>
            </a:endParaRPr>
          </a:p>
        </p:txBody>
      </p:sp>
      <p:sp>
        <p:nvSpPr>
          <p:cNvPr id="3843"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Framework Library scopes the work, Indicator Management holds the data, Disclosure Management produces the output.</a:t>
            </a:r>
            <a:endParaRPr b="0" lang="en-US" sz="1250" strike="noStrike" u="none">
              <a:solidFill>
                <a:srgbClr val="000000"/>
              </a:solidFill>
              <a:effectLst/>
              <a:uFillTx/>
              <a:latin typeface="Arial"/>
            </a:endParaRPr>
          </a:p>
        </p:txBody>
      </p:sp>
      <p:sp>
        <p:nvSpPr>
          <p:cNvPr id="3844"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845" name="Shape 7"/>
          <p:cNvSpPr/>
          <p:nvPr/>
        </p:nvSpPr>
        <p:spPr>
          <a:xfrm>
            <a:off x="6217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846"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3847"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GOAL 1</a:t>
            </a:r>
            <a:endParaRPr b="0" lang="en-US" sz="900" strike="noStrike" u="none">
              <a:solidFill>
                <a:srgbClr val="000000"/>
              </a:solidFill>
              <a:effectLst/>
              <a:uFillTx/>
              <a:latin typeface="Arial"/>
            </a:endParaRPr>
          </a:p>
        </p:txBody>
      </p:sp>
      <p:sp>
        <p:nvSpPr>
          <p:cNvPr id="3848"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Framework Library</a:t>
            </a:r>
            <a:endParaRPr b="0" lang="en-US" sz="1600" strike="noStrike" u="none">
              <a:solidFill>
                <a:srgbClr val="000000"/>
              </a:solidFill>
              <a:effectLst/>
              <a:uFillTx/>
              <a:latin typeface="Arial"/>
            </a:endParaRPr>
          </a:p>
        </p:txBody>
      </p:sp>
      <p:sp>
        <p:nvSpPr>
          <p:cNvPr id="3849" name="Text 11"/>
          <p:cNvSpPr/>
          <p:nvPr/>
        </p:nvSpPr>
        <p:spPr>
          <a:xfrm>
            <a:off x="80460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Entry point and scope.</a:t>
            </a:r>
            <a:endParaRPr b="0" lang="en-US" sz="1100" strike="noStrike" u="none">
              <a:solidFill>
                <a:srgbClr val="000000"/>
              </a:solidFill>
              <a:effectLst/>
              <a:uFillTx/>
              <a:latin typeface="Arial"/>
            </a:endParaRPr>
          </a:p>
        </p:txBody>
      </p:sp>
      <p:sp>
        <p:nvSpPr>
          <p:cNvPr id="3850" name="Text 12"/>
          <p:cNvSpPr/>
          <p:nvPr/>
        </p:nvSpPr>
        <p:spPr>
          <a:xfrm>
            <a:off x="822960" y="3776400"/>
            <a:ext cx="2165040" cy="2267280"/>
          </a:xfrm>
          <a:prstGeom prst="rect">
            <a:avLst/>
          </a:prstGeom>
          <a:noFill/>
          <a:ln w="0">
            <a:noFill/>
          </a:ln>
        </p:spPr>
        <p:style>
          <a:lnRef idx="0"/>
          <a:fillRef idx="0"/>
          <a:effectRef idx="0"/>
          <a:fontRef idx="minor"/>
        </p:style>
        <p:txBody>
          <a:bodyPr lIns="0" rIns="0" tIns="0" bIns="0" anchor="t">
            <a:normAutofit fontScale="92500" lnSpcReduction="9999"/>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Pre-built templates: CSRD and ESRS, EU Taxonomy, CDP, IFRS S1 and S2, CA Climate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AI powered framework question and answer and interpretation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Automated indicator to framework mapping suggestions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Regulated frameworks and templates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2027: GRI, SASB, GRESB, EcoVadis</a:t>
            </a:r>
            <a:endParaRPr b="0" lang="en-US" sz="1100" strike="noStrike" u="none">
              <a:solidFill>
                <a:srgbClr val="000000"/>
              </a:solidFill>
              <a:effectLst/>
              <a:uFillTx/>
              <a:latin typeface="Arial"/>
            </a:endParaRPr>
          </a:p>
        </p:txBody>
      </p:sp>
      <p:sp>
        <p:nvSpPr>
          <p:cNvPr id="3851" name="Shape 13"/>
          <p:cNvSpPr/>
          <p:nvPr/>
        </p:nvSpPr>
        <p:spPr>
          <a:xfrm>
            <a:off x="342756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852" name="Shape 14"/>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3853" name="Text 15"/>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GOAL 2</a:t>
            </a:r>
            <a:endParaRPr b="0" lang="en-US" sz="900" strike="noStrike" u="none">
              <a:solidFill>
                <a:srgbClr val="000000"/>
              </a:solidFill>
              <a:effectLst/>
              <a:uFillTx/>
              <a:latin typeface="Arial"/>
            </a:endParaRPr>
          </a:p>
        </p:txBody>
      </p:sp>
      <p:sp>
        <p:nvSpPr>
          <p:cNvPr id="3854" name="Text 16"/>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Indicator Management</a:t>
            </a:r>
            <a:endParaRPr b="0" lang="en-US" sz="1600" strike="noStrike" u="none">
              <a:solidFill>
                <a:srgbClr val="000000"/>
              </a:solidFill>
              <a:effectLst/>
              <a:uFillTx/>
              <a:latin typeface="Arial"/>
            </a:endParaRPr>
          </a:p>
        </p:txBody>
      </p:sp>
      <p:sp>
        <p:nvSpPr>
          <p:cNvPr id="3855" name="Text 17"/>
          <p:cNvSpPr/>
          <p:nvPr/>
        </p:nvSpPr>
        <p:spPr>
          <a:xfrm>
            <a:off x="361044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Foundation of data management.</a:t>
            </a:r>
            <a:endParaRPr b="0" lang="en-US" sz="1100" strike="noStrike" u="none">
              <a:solidFill>
                <a:srgbClr val="000000"/>
              </a:solidFill>
              <a:effectLst/>
              <a:uFillTx/>
              <a:latin typeface="Arial"/>
            </a:endParaRPr>
          </a:p>
        </p:txBody>
      </p:sp>
      <p:sp>
        <p:nvSpPr>
          <p:cNvPr id="3856" name="Text 18"/>
          <p:cNvSpPr/>
          <p:nvPr/>
        </p:nvSpPr>
        <p:spPr>
          <a:xfrm>
            <a:off x="362844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Standard indicator catalogue pre-aligned to major frameworks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Custom indicators with formula and transform engine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Dataset registry, schema and source mapping</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Flexible approval hierarchies and bulk assignment</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Direct indicator data uploads</a:t>
            </a:r>
            <a:endParaRPr b="0" lang="en-US" sz="1100" strike="noStrike" u="none">
              <a:solidFill>
                <a:srgbClr val="000000"/>
              </a:solidFill>
              <a:effectLst/>
              <a:uFillTx/>
              <a:latin typeface="Arial"/>
            </a:endParaRPr>
          </a:p>
        </p:txBody>
      </p:sp>
      <p:sp>
        <p:nvSpPr>
          <p:cNvPr id="3857" name="Shape 19"/>
          <p:cNvSpPr/>
          <p:nvPr/>
        </p:nvSpPr>
        <p:spPr>
          <a:xfrm>
            <a:off x="623304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858" name="Shape 20"/>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3859" name="Text 21"/>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GOAL 3</a:t>
            </a:r>
            <a:endParaRPr b="0" lang="en-US" sz="900" strike="noStrike" u="none">
              <a:solidFill>
                <a:srgbClr val="000000"/>
              </a:solidFill>
              <a:effectLst/>
              <a:uFillTx/>
              <a:latin typeface="Arial"/>
            </a:endParaRPr>
          </a:p>
        </p:txBody>
      </p:sp>
      <p:sp>
        <p:nvSpPr>
          <p:cNvPr id="3860" name="Text 22"/>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Disclosure Management</a:t>
            </a:r>
            <a:endParaRPr b="0" lang="en-US" sz="1600" strike="noStrike" u="none">
              <a:solidFill>
                <a:srgbClr val="000000"/>
              </a:solidFill>
              <a:effectLst/>
              <a:uFillTx/>
              <a:latin typeface="Arial"/>
            </a:endParaRPr>
          </a:p>
        </p:txBody>
      </p:sp>
      <p:sp>
        <p:nvSpPr>
          <p:cNvPr id="3861" name="Text 23"/>
          <p:cNvSpPr/>
          <p:nvPr/>
        </p:nvSpPr>
        <p:spPr>
          <a:xfrm>
            <a:off x="641592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Reporting cycle workspace.</a:t>
            </a:r>
            <a:endParaRPr b="0" lang="en-US" sz="1100" strike="noStrike" u="none">
              <a:solidFill>
                <a:srgbClr val="000000"/>
              </a:solidFill>
              <a:effectLst/>
              <a:uFillTx/>
              <a:latin typeface="Arial"/>
            </a:endParaRPr>
          </a:p>
        </p:txBody>
      </p:sp>
      <p:sp>
        <p:nvSpPr>
          <p:cNvPr id="3862" name="Text 24"/>
          <p:cNvSpPr/>
          <p:nvPr/>
        </p:nvSpPr>
        <p:spPr>
          <a:xfrm>
            <a:off x="643428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Disclosure attributes and schema definition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Governed multi hierarchy reporting cycles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Data collection campaigns across entities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AI assisted drafting with data lineage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Multi step approvals, audit trail and export</a:t>
            </a:r>
            <a:endParaRPr b="0" lang="en-US" sz="1100" strike="noStrike" u="none">
              <a:solidFill>
                <a:srgbClr val="000000"/>
              </a:solidFill>
              <a:effectLst/>
              <a:uFillTx/>
              <a:latin typeface="Arial"/>
            </a:endParaRPr>
          </a:p>
        </p:txBody>
      </p:sp>
      <p:sp>
        <p:nvSpPr>
          <p:cNvPr id="3863" name="Shape 25"/>
          <p:cNvSpPr/>
          <p:nvPr/>
        </p:nvSpPr>
        <p:spPr>
          <a:xfrm>
            <a:off x="90385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864" name="Shape 26"/>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3865" name="Text 27"/>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GOAL 4</a:t>
            </a:r>
            <a:endParaRPr b="0" lang="en-US" sz="900" strike="noStrike" u="none">
              <a:solidFill>
                <a:srgbClr val="000000"/>
              </a:solidFill>
              <a:effectLst/>
              <a:uFillTx/>
              <a:latin typeface="Arial"/>
            </a:endParaRPr>
          </a:p>
        </p:txBody>
      </p:sp>
      <p:sp>
        <p:nvSpPr>
          <p:cNvPr id="3866" name="Text 28"/>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Migration and assurance</a:t>
            </a:r>
            <a:endParaRPr b="0" lang="en-US" sz="1600" strike="noStrike" u="none">
              <a:solidFill>
                <a:srgbClr val="000000"/>
              </a:solidFill>
              <a:effectLst/>
              <a:uFillTx/>
              <a:latin typeface="Arial"/>
            </a:endParaRPr>
          </a:p>
        </p:txBody>
      </p:sp>
      <p:sp>
        <p:nvSpPr>
          <p:cNvPr id="3867" name="Text 29"/>
          <p:cNvSpPr/>
          <p:nvPr/>
        </p:nvSpPr>
        <p:spPr>
          <a:xfrm>
            <a:off x="922140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Prove it on Schneider first.</a:t>
            </a:r>
            <a:endParaRPr b="0" lang="en-US" sz="1100" strike="noStrike" u="none">
              <a:solidFill>
                <a:srgbClr val="000000"/>
              </a:solidFill>
              <a:effectLst/>
              <a:uFillTx/>
              <a:latin typeface="Arial"/>
            </a:endParaRPr>
          </a:p>
        </p:txBody>
      </p:sp>
      <p:sp>
        <p:nvSpPr>
          <p:cNvPr id="3868" name="Text 30"/>
          <p:cNvSpPr/>
          <p:nvPr/>
        </p:nvSpPr>
        <p:spPr>
          <a:xfrm>
            <a:off x="923976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Corporate SE migrated off RA Classic</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SE indicators connected to its Datahub</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Audit ready disclosures with full lineage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External assurance and auditor experience</a:t>
            </a:r>
            <a:endParaRPr b="0" lang="en-US" sz="1100" strike="noStrike" u="none">
              <a:solidFill>
                <a:srgbClr val="000000"/>
              </a:solidFill>
              <a:effectLst/>
              <a:uFillTx/>
              <a:latin typeface="Arial"/>
            </a:endParaRPr>
          </a:p>
        </p:txBody>
      </p:sp>
      <p:sp>
        <p:nvSpPr>
          <p:cNvPr id="3869" name="Shape 31"/>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870" name="Text 32"/>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3871" name="Text 33"/>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3872" name="PlaceHolder 1"/>
          <p:cNvSpPr>
            <a:spLocks noGrp="1"/>
          </p:cNvSpPr>
          <p:nvPr>
            <p:ph type="sldNum" idx="83"/>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8DAFBCD6-1B72-4A1E-9F89-B7FC7A53A732}"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9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873"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3874"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3875" name="Shape 2"/>
          <p:cNvSpPr/>
          <p:nvPr/>
        </p:nvSpPr>
        <p:spPr>
          <a:xfrm>
            <a:off x="621720" y="311040"/>
            <a:ext cx="302616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876" name="Text 3"/>
          <p:cNvSpPr/>
          <p:nvPr/>
        </p:nvSpPr>
        <p:spPr>
          <a:xfrm>
            <a:off x="804600" y="329040"/>
            <a:ext cx="269712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REPORTING AND COMPLIANCE</a:t>
            </a:r>
            <a:endParaRPr b="0" lang="en-US" sz="950" strike="noStrike" u="none">
              <a:solidFill>
                <a:srgbClr val="000000"/>
              </a:solidFill>
              <a:effectLst/>
              <a:uFillTx/>
              <a:latin typeface="Arial"/>
            </a:endParaRPr>
          </a:p>
        </p:txBody>
      </p:sp>
      <p:sp>
        <p:nvSpPr>
          <p:cNvPr id="3877"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fontScale="85000" lnSpcReduction="9999"/>
          </a:bodyPr>
          <a:p>
            <a:pPr defTabSz="914400">
              <a:lnSpc>
                <a:spcPct val="100000"/>
              </a:lnSpc>
              <a:tabLst>
                <a:tab algn="l" pos="0"/>
              </a:tabLst>
            </a:pPr>
            <a:r>
              <a:rPr b="1" lang="en-US" sz="3200" strike="noStrike" u="none">
                <a:solidFill>
                  <a:srgbClr val="1e2420"/>
                </a:solidFill>
                <a:effectLst/>
                <a:uFillTx/>
                <a:latin typeface="Calibri"/>
                <a:ea typeface="Calibri"/>
              </a:rPr>
              <a:t>R&amp;C depends on the platform more than any other product</a:t>
            </a:r>
            <a:endParaRPr b="0" lang="en-US" sz="3200" strike="noStrike" u="none">
              <a:solidFill>
                <a:srgbClr val="000000"/>
              </a:solidFill>
              <a:effectLst/>
              <a:uFillTx/>
              <a:latin typeface="Arial"/>
            </a:endParaRPr>
          </a:p>
        </p:txBody>
      </p:sp>
      <p:sp>
        <p:nvSpPr>
          <p:cNvPr id="3878"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It is a data receiver from every product, so integration quality is the value proposition.</a:t>
            </a:r>
            <a:endParaRPr b="0" lang="en-US" sz="1250" strike="noStrike" u="none">
              <a:solidFill>
                <a:srgbClr val="000000"/>
              </a:solidFill>
              <a:effectLst/>
              <a:uFillTx/>
              <a:latin typeface="Arial"/>
            </a:endParaRPr>
          </a:p>
        </p:txBody>
      </p:sp>
      <p:sp>
        <p:nvSpPr>
          <p:cNvPr id="3879"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880" name="Shape 7"/>
          <p:cNvSpPr/>
          <p:nvPr/>
        </p:nvSpPr>
        <p:spPr>
          <a:xfrm>
            <a:off x="6217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881"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3882"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PLATFORM</a:t>
            </a:r>
            <a:endParaRPr b="0" lang="en-US" sz="900" strike="noStrike" u="none">
              <a:solidFill>
                <a:srgbClr val="000000"/>
              </a:solidFill>
              <a:effectLst/>
              <a:uFillTx/>
              <a:latin typeface="Arial"/>
            </a:endParaRPr>
          </a:p>
        </p:txBody>
      </p:sp>
      <p:sp>
        <p:nvSpPr>
          <p:cNvPr id="3883"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Separation and ingestion</a:t>
            </a:r>
            <a:endParaRPr b="0" lang="en-US" sz="1600" strike="noStrike" u="none">
              <a:solidFill>
                <a:srgbClr val="000000"/>
              </a:solidFill>
              <a:effectLst/>
              <a:uFillTx/>
              <a:latin typeface="Arial"/>
            </a:endParaRPr>
          </a:p>
        </p:txBody>
      </p:sp>
      <p:sp>
        <p:nvSpPr>
          <p:cNvPr id="3884" name="Text 11"/>
          <p:cNvSpPr/>
          <p:nvPr/>
        </p:nvSpPr>
        <p:spPr>
          <a:xfrm>
            <a:off x="80460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Prerequisites for launch.</a:t>
            </a:r>
            <a:endParaRPr b="0" lang="en-US" sz="1100" strike="noStrike" u="none">
              <a:solidFill>
                <a:srgbClr val="000000"/>
              </a:solidFill>
              <a:effectLst/>
              <a:uFillTx/>
              <a:latin typeface="Arial"/>
            </a:endParaRPr>
          </a:p>
        </p:txBody>
      </p:sp>
      <p:sp>
        <p:nvSpPr>
          <p:cNvPr id="3885" name="Text 12"/>
          <p:cNvSpPr/>
          <p:nvPr/>
        </p:nvSpPr>
        <p:spPr>
          <a:xfrm>
            <a:off x="82296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Indicator data upload paths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Dataset registry and column mapping</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Formula and transform engine on RA+</a:t>
            </a:r>
            <a:endParaRPr b="0" lang="en-US" sz="1100" strike="noStrike" u="none">
              <a:solidFill>
                <a:srgbClr val="000000"/>
              </a:solidFill>
              <a:effectLst/>
              <a:uFillTx/>
              <a:latin typeface="Arial"/>
            </a:endParaRPr>
          </a:p>
        </p:txBody>
      </p:sp>
      <p:sp>
        <p:nvSpPr>
          <p:cNvPr id="3886" name="Shape 13"/>
          <p:cNvSpPr/>
          <p:nvPr/>
        </p:nvSpPr>
        <p:spPr>
          <a:xfrm>
            <a:off x="342756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887" name="Shape 14"/>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3888" name="Text 15"/>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ONTOLOGY</a:t>
            </a:r>
            <a:endParaRPr b="0" lang="en-US" sz="900" strike="noStrike" u="none">
              <a:solidFill>
                <a:srgbClr val="000000"/>
              </a:solidFill>
              <a:effectLst/>
              <a:uFillTx/>
              <a:latin typeface="Arial"/>
            </a:endParaRPr>
          </a:p>
        </p:txBody>
      </p:sp>
      <p:sp>
        <p:nvSpPr>
          <p:cNvPr id="3889" name="Text 16"/>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Hierarchy and access</a:t>
            </a:r>
            <a:endParaRPr b="0" lang="en-US" sz="1600" strike="noStrike" u="none">
              <a:solidFill>
                <a:srgbClr val="000000"/>
              </a:solidFill>
              <a:effectLst/>
              <a:uFillTx/>
              <a:latin typeface="Arial"/>
            </a:endParaRPr>
          </a:p>
        </p:txBody>
      </p:sp>
      <p:sp>
        <p:nvSpPr>
          <p:cNvPr id="3890" name="Text 17"/>
          <p:cNvSpPr/>
          <p:nvPr/>
        </p:nvSpPr>
        <p:spPr>
          <a:xfrm>
            <a:off x="361044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Inherited, not rebuilt.</a:t>
            </a:r>
            <a:endParaRPr b="0" lang="en-US" sz="1100" strike="noStrike" u="none">
              <a:solidFill>
                <a:srgbClr val="000000"/>
              </a:solidFill>
              <a:effectLst/>
              <a:uFillTx/>
              <a:latin typeface="Arial"/>
            </a:endParaRPr>
          </a:p>
        </p:txBody>
      </p:sp>
      <p:sp>
        <p:nvSpPr>
          <p:cNvPr id="3891" name="Text 18"/>
          <p:cNvSpPr/>
          <p:nvPr/>
        </p:nvSpPr>
        <p:spPr>
          <a:xfrm>
            <a:off x="362844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Reporting cycles scoped to the entity hierarchy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Role based access for cycle scope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Configure module syncing across products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Flexible approval hierarchies</a:t>
            </a:r>
            <a:endParaRPr b="0" lang="en-US" sz="1100" strike="noStrike" u="none">
              <a:solidFill>
                <a:srgbClr val="000000"/>
              </a:solidFill>
              <a:effectLst/>
              <a:uFillTx/>
              <a:latin typeface="Arial"/>
            </a:endParaRPr>
          </a:p>
        </p:txBody>
      </p:sp>
      <p:sp>
        <p:nvSpPr>
          <p:cNvPr id="3892" name="Shape 19"/>
          <p:cNvSpPr/>
          <p:nvPr/>
        </p:nvSpPr>
        <p:spPr>
          <a:xfrm>
            <a:off x="623304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893" name="Shape 20"/>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3894" name="Text 21"/>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CROSS PRODUCT</a:t>
            </a:r>
            <a:endParaRPr b="0" lang="en-US" sz="900" strike="noStrike" u="none">
              <a:solidFill>
                <a:srgbClr val="000000"/>
              </a:solidFill>
              <a:effectLst/>
              <a:uFillTx/>
              <a:latin typeface="Arial"/>
            </a:endParaRPr>
          </a:p>
        </p:txBody>
      </p:sp>
      <p:sp>
        <p:nvSpPr>
          <p:cNvPr id="3895" name="Text 22"/>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Data in, disclosures out</a:t>
            </a:r>
            <a:endParaRPr b="0" lang="en-US" sz="1600" strike="noStrike" u="none">
              <a:solidFill>
                <a:srgbClr val="000000"/>
              </a:solidFill>
              <a:effectLst/>
              <a:uFillTx/>
              <a:latin typeface="Arial"/>
            </a:endParaRPr>
          </a:p>
        </p:txBody>
      </p:sp>
      <p:sp>
        <p:nvSpPr>
          <p:cNvPr id="3896" name="Text 23"/>
          <p:cNvSpPr/>
          <p:nvPr/>
        </p:nvSpPr>
        <p:spPr>
          <a:xfrm>
            <a:off x="641592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Lineage end to end.</a:t>
            </a:r>
            <a:endParaRPr b="0" lang="en-US" sz="1100" strike="noStrike" u="none">
              <a:solidFill>
                <a:srgbClr val="000000"/>
              </a:solidFill>
              <a:effectLst/>
              <a:uFillTx/>
              <a:latin typeface="Arial"/>
            </a:endParaRPr>
          </a:p>
        </p:txBody>
      </p:sp>
      <p:sp>
        <p:nvSpPr>
          <p:cNvPr id="3897" name="Text 24"/>
          <p:cNvSpPr/>
          <p:nvPr/>
        </p:nvSpPr>
        <p:spPr>
          <a:xfrm>
            <a:off x="643428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CP emissions from Collect into environmental disclosures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Climate Risk outputs into TCFD, ISSB and CSRD climate sections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Automated disclosure reporting with CP and CR</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Supply chain data as a future feed</a:t>
            </a:r>
            <a:endParaRPr b="0" lang="en-US" sz="1100" strike="noStrike" u="none">
              <a:solidFill>
                <a:srgbClr val="000000"/>
              </a:solidFill>
              <a:effectLst/>
              <a:uFillTx/>
              <a:latin typeface="Arial"/>
            </a:endParaRPr>
          </a:p>
        </p:txBody>
      </p:sp>
      <p:sp>
        <p:nvSpPr>
          <p:cNvPr id="3898" name="Shape 25"/>
          <p:cNvSpPr/>
          <p:nvPr/>
        </p:nvSpPr>
        <p:spPr>
          <a:xfrm>
            <a:off x="90385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899" name="Shape 26"/>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3900" name="Text 27"/>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SERA</a:t>
            </a:r>
            <a:endParaRPr b="0" lang="en-US" sz="900" strike="noStrike" u="none">
              <a:solidFill>
                <a:srgbClr val="000000"/>
              </a:solidFill>
              <a:effectLst/>
              <a:uFillTx/>
              <a:latin typeface="Arial"/>
            </a:endParaRPr>
          </a:p>
        </p:txBody>
      </p:sp>
      <p:sp>
        <p:nvSpPr>
          <p:cNvPr id="3901" name="Text 28"/>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AI capabilities</a:t>
            </a:r>
            <a:endParaRPr b="0" lang="en-US" sz="1600" strike="noStrike" u="none">
              <a:solidFill>
                <a:srgbClr val="000000"/>
              </a:solidFill>
              <a:effectLst/>
              <a:uFillTx/>
              <a:latin typeface="Arial"/>
            </a:endParaRPr>
          </a:p>
        </p:txBody>
      </p:sp>
      <p:sp>
        <p:nvSpPr>
          <p:cNvPr id="3902" name="Text 29"/>
          <p:cNvSpPr/>
          <p:nvPr/>
        </p:nvSpPr>
        <p:spPr>
          <a:xfrm>
            <a:off x="922140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Where the differentiation sits.</a:t>
            </a:r>
            <a:endParaRPr b="0" lang="en-US" sz="1100" strike="noStrike" u="none">
              <a:solidFill>
                <a:srgbClr val="000000"/>
              </a:solidFill>
              <a:effectLst/>
              <a:uFillTx/>
              <a:latin typeface="Arial"/>
            </a:endParaRPr>
          </a:p>
        </p:txBody>
      </p:sp>
      <p:sp>
        <p:nvSpPr>
          <p:cNvPr id="3903" name="Text 30"/>
          <p:cNvSpPr/>
          <p:nvPr/>
        </p:nvSpPr>
        <p:spPr>
          <a:xfrm>
            <a:off x="923976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Framework question and answer in natural language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Draft response generation from document repository and platform data</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Indicator to framework mapping suggestions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Indicator performance analytics and assurance</a:t>
            </a:r>
            <a:endParaRPr b="0" lang="en-US" sz="1100" strike="noStrike" u="none">
              <a:solidFill>
                <a:srgbClr val="000000"/>
              </a:solidFill>
              <a:effectLst/>
              <a:uFillTx/>
              <a:latin typeface="Arial"/>
            </a:endParaRPr>
          </a:p>
        </p:txBody>
      </p:sp>
      <p:sp>
        <p:nvSpPr>
          <p:cNvPr id="3904" name="Shape 31"/>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905" name="Text 32"/>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3906" name="Text 33"/>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3907" name="PlaceHolder 1"/>
          <p:cNvSpPr>
            <a:spLocks noGrp="1"/>
          </p:cNvSpPr>
          <p:nvPr>
            <p:ph type="sldNum" idx="84"/>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2390A413-301D-4D4A-A0C2-C1EF42C551E0}"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9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5730"/>
        </a:solidFill>
      </p:bgPr>
    </p:bg>
    <p:spTree>
      <p:nvGrpSpPr>
        <p:cNvPr id="1" name=""/>
        <p:cNvGrpSpPr/>
        <p:nvPr/>
      </p:nvGrpSpPr>
      <p:grpSpPr>
        <a:xfrm>
          <a:off x="0" y="0"/>
          <a:ext cx="0" cy="0"/>
          <a:chOff x="0" y="0"/>
          <a:chExt cx="0" cy="0"/>
        </a:xfrm>
      </p:grpSpPr>
      <p:sp>
        <p:nvSpPr>
          <p:cNvPr id="3908"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3909"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3910" name="Shape 2"/>
          <p:cNvSpPr/>
          <p:nvPr/>
        </p:nvSpPr>
        <p:spPr>
          <a:xfrm>
            <a:off x="8641080" y="822960"/>
            <a:ext cx="360" cy="5212080"/>
          </a:xfrm>
          <a:prstGeom prst="line">
            <a:avLst/>
          </a:prstGeom>
          <a:ln w="12700">
            <a:solidFill>
              <a:srgbClr val="2c8058"/>
            </a:solidFill>
            <a:round/>
          </a:ln>
        </p:spPr>
        <p:style>
          <a:lnRef idx="0"/>
          <a:fillRef idx="0"/>
          <a:effectRef idx="0"/>
          <a:fontRef idx="minor"/>
        </p:style>
        <p:txBody>
          <a:bodyPr lIns="90000" rIns="90000" tIns="45000" bIns="45000" anchor="t" anchorCtr="1">
            <a:noAutofit/>
          </a:bodyPr>
          <a:p>
            <a:endParaRPr b="0" lang="en-US" sz="1800" strike="noStrike" u="none">
              <a:solidFill>
                <a:srgbClr val="ffffff"/>
              </a:solidFill>
              <a:effectLst/>
              <a:uFillTx/>
              <a:latin typeface="Arial"/>
            </a:endParaRPr>
          </a:p>
        </p:txBody>
      </p:sp>
      <p:sp>
        <p:nvSpPr>
          <p:cNvPr id="3911" name="Text 3"/>
          <p:cNvSpPr/>
          <p:nvPr/>
        </p:nvSpPr>
        <p:spPr>
          <a:xfrm>
            <a:off x="9144000" y="841320"/>
            <a:ext cx="2194200" cy="22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81" strike="noStrike" u="none">
                <a:solidFill>
                  <a:srgbClr val="bfe6ce"/>
                </a:solidFill>
                <a:effectLst/>
                <a:uFillTx/>
                <a:latin typeface="Calibri"/>
                <a:ea typeface="Calibri"/>
              </a:rPr>
              <a:t>RA+ ROADMAP</a:t>
            </a:r>
            <a:endParaRPr b="0" lang="en-US" sz="900" strike="noStrike" u="none">
              <a:solidFill>
                <a:srgbClr val="ffffff"/>
              </a:solidFill>
              <a:effectLst/>
              <a:uFillTx/>
              <a:latin typeface="Arial"/>
            </a:endParaRPr>
          </a:p>
        </p:txBody>
      </p:sp>
      <p:sp>
        <p:nvSpPr>
          <p:cNvPr id="3912" name="Text 4"/>
          <p:cNvSpPr/>
          <p:nvPr/>
        </p:nvSpPr>
        <p:spPr>
          <a:xfrm>
            <a:off x="9144000" y="1325880"/>
            <a:ext cx="2194200" cy="1462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3600" strike="noStrike" u="none">
                <a:solidFill>
                  <a:srgbClr val="ffffff"/>
                </a:solidFill>
                <a:effectLst/>
                <a:uFillTx/>
                <a:latin typeface="Calibri"/>
                <a:ea typeface="Calibri"/>
              </a:rPr>
              <a:t>2026</a:t>
            </a:r>
            <a:endParaRPr b="0" lang="en-US" sz="3600" strike="noStrike" u="none">
              <a:solidFill>
                <a:srgbClr val="ffffff"/>
              </a:solidFill>
              <a:effectLst/>
              <a:uFillTx/>
              <a:latin typeface="Arial"/>
            </a:endParaRPr>
          </a:p>
          <a:p>
            <a:pPr defTabSz="914400">
              <a:lnSpc>
                <a:spcPct val="100000"/>
              </a:lnSpc>
              <a:tabLst>
                <a:tab algn="l" pos="0"/>
              </a:tabLst>
            </a:pPr>
            <a:r>
              <a:rPr b="1" lang="en-US" sz="3600" strike="noStrike" u="none">
                <a:solidFill>
                  <a:srgbClr val="ffffff"/>
                </a:solidFill>
                <a:effectLst/>
                <a:uFillTx/>
                <a:latin typeface="Calibri"/>
                <a:ea typeface="Calibri"/>
              </a:rPr>
              <a:t>2027</a:t>
            </a:r>
            <a:endParaRPr b="0" lang="en-US" sz="3600" strike="noStrike" u="none">
              <a:solidFill>
                <a:srgbClr val="ffffff"/>
              </a:solidFill>
              <a:effectLst/>
              <a:uFillTx/>
              <a:latin typeface="Arial"/>
            </a:endParaRPr>
          </a:p>
        </p:txBody>
      </p:sp>
      <p:sp>
        <p:nvSpPr>
          <p:cNvPr id="3913" name="Text 5"/>
          <p:cNvSpPr/>
          <p:nvPr/>
        </p:nvSpPr>
        <p:spPr>
          <a:xfrm>
            <a:off x="621720" y="960120"/>
            <a:ext cx="71319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221" strike="noStrike" u="none">
                <a:solidFill>
                  <a:srgbClr val="bfe6ce"/>
                </a:solidFill>
                <a:effectLst/>
                <a:uFillTx/>
                <a:latin typeface="Calibri"/>
                <a:ea typeface="Calibri"/>
              </a:rPr>
              <a:t>AGENDA ITEM 4.4</a:t>
            </a:r>
            <a:endParaRPr b="0" lang="en-US" sz="1100" strike="noStrike" u="none">
              <a:solidFill>
                <a:srgbClr val="ffffff"/>
              </a:solidFill>
              <a:effectLst/>
              <a:uFillTx/>
              <a:latin typeface="Arial"/>
            </a:endParaRPr>
          </a:p>
        </p:txBody>
      </p:sp>
      <p:sp>
        <p:nvSpPr>
          <p:cNvPr id="3914" name="Text 6"/>
          <p:cNvSpPr/>
          <p:nvPr/>
        </p:nvSpPr>
        <p:spPr>
          <a:xfrm>
            <a:off x="621720" y="1508760"/>
            <a:ext cx="191988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5800" strike="noStrike" u="none">
                <a:solidFill>
                  <a:srgbClr val="3dcd58"/>
                </a:solidFill>
                <a:effectLst/>
                <a:uFillTx/>
                <a:latin typeface="Calibri"/>
                <a:ea typeface="Calibri"/>
              </a:rPr>
              <a:t>4.4</a:t>
            </a:r>
            <a:endParaRPr b="0" lang="en-US" sz="5800" strike="noStrike" u="none">
              <a:solidFill>
                <a:srgbClr val="ffffff"/>
              </a:solidFill>
              <a:effectLst/>
              <a:uFillTx/>
              <a:latin typeface="Arial"/>
            </a:endParaRPr>
          </a:p>
        </p:txBody>
      </p:sp>
      <p:sp>
        <p:nvSpPr>
          <p:cNvPr id="3915" name="Text 7"/>
          <p:cNvSpPr/>
          <p:nvPr/>
        </p:nvSpPr>
        <p:spPr>
          <a:xfrm>
            <a:off x="621720" y="2606040"/>
            <a:ext cx="7406280" cy="11426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ffffff"/>
                </a:solidFill>
                <a:effectLst/>
                <a:uFillTx/>
                <a:latin typeface="Calibri"/>
                <a:ea typeface="Calibri"/>
              </a:rPr>
              <a:t>Climate Risk</a:t>
            </a:r>
            <a:endParaRPr b="0" lang="en-US" sz="3200" strike="noStrike" u="none">
              <a:solidFill>
                <a:srgbClr val="ffffff"/>
              </a:solidFill>
              <a:effectLst/>
              <a:uFillTx/>
              <a:latin typeface="Arial"/>
            </a:endParaRPr>
          </a:p>
        </p:txBody>
      </p:sp>
      <p:sp>
        <p:nvSpPr>
          <p:cNvPr id="3916" name="Text 8"/>
          <p:cNvSpPr/>
          <p:nvPr/>
        </p:nvSpPr>
        <p:spPr>
          <a:xfrm>
            <a:off x="621720" y="4005000"/>
            <a:ext cx="704052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400" strike="noStrike" u="none">
                <a:solidFill>
                  <a:srgbClr val="d6eadf"/>
                </a:solidFill>
                <a:effectLst/>
                <a:uFillTx/>
                <a:latin typeface="Calibri"/>
                <a:ea typeface="Calibri"/>
              </a:rPr>
              <a:t>Turn Eclr into a self serve product with priced risk and adaptation.</a:t>
            </a:r>
            <a:endParaRPr b="0" lang="en-US" sz="14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9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917"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3918"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3919" name="Shape 2"/>
          <p:cNvSpPr/>
          <p:nvPr/>
        </p:nvSpPr>
        <p:spPr>
          <a:xfrm>
            <a:off x="621720" y="311040"/>
            <a:ext cx="239544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20" name="Text 3"/>
          <p:cNvSpPr/>
          <p:nvPr/>
        </p:nvSpPr>
        <p:spPr>
          <a:xfrm>
            <a:off x="804600" y="329040"/>
            <a:ext cx="206604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CLIMATE RISK, 2026</a:t>
            </a:r>
            <a:endParaRPr b="0" lang="en-US" sz="950" strike="noStrike" u="none">
              <a:solidFill>
                <a:srgbClr val="000000"/>
              </a:solidFill>
              <a:effectLst/>
              <a:uFillTx/>
              <a:latin typeface="Arial"/>
            </a:endParaRPr>
          </a:p>
        </p:txBody>
      </p:sp>
      <p:sp>
        <p:nvSpPr>
          <p:cNvPr id="3921"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Turn Eclr into a self serve product in 2026</a:t>
            </a:r>
            <a:endParaRPr b="0" lang="en-US" sz="3200" strike="noStrike" u="none">
              <a:solidFill>
                <a:srgbClr val="000000"/>
              </a:solidFill>
              <a:effectLst/>
              <a:uFillTx/>
              <a:latin typeface="Arial"/>
            </a:endParaRPr>
          </a:p>
        </p:txBody>
      </p:sp>
      <p:sp>
        <p:nvSpPr>
          <p:cNvPr id="3922"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Asset register and exposure first: the foundations for scenarios and value at risk.</a:t>
            </a:r>
            <a:endParaRPr b="0" lang="en-US" sz="1250" strike="noStrike" u="none">
              <a:solidFill>
                <a:srgbClr val="000000"/>
              </a:solidFill>
              <a:effectLst/>
              <a:uFillTx/>
              <a:latin typeface="Arial"/>
            </a:endParaRPr>
          </a:p>
        </p:txBody>
      </p:sp>
      <p:sp>
        <p:nvSpPr>
          <p:cNvPr id="3923"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924" name="Shape 7"/>
          <p:cNvSpPr/>
          <p:nvPr/>
        </p:nvSpPr>
        <p:spPr>
          <a:xfrm>
            <a:off x="621720" y="2084760"/>
            <a:ext cx="5345640" cy="4178520"/>
          </a:xfrm>
          <a:prstGeom prst="roundRect">
            <a:avLst>
              <a:gd name="adj" fmla="val 131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25" name="Shape 8"/>
          <p:cNvSpPr/>
          <p:nvPr/>
        </p:nvSpPr>
        <p:spPr>
          <a:xfrm>
            <a:off x="621720" y="2084760"/>
            <a:ext cx="5345640" cy="712800"/>
          </a:xfrm>
          <a:prstGeom prst="rect">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26" name="Shape 9"/>
          <p:cNvSpPr/>
          <p:nvPr/>
        </p:nvSpPr>
        <p:spPr>
          <a:xfrm>
            <a:off x="621720" y="2084760"/>
            <a:ext cx="54360" cy="41785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27" name="Text 10"/>
          <p:cNvSpPr/>
          <p:nvPr/>
        </p:nvSpPr>
        <p:spPr>
          <a:xfrm>
            <a:off x="804600" y="2176200"/>
            <a:ext cx="501660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3dcd58"/>
                </a:solidFill>
                <a:effectLst/>
                <a:uFillTx/>
                <a:latin typeface="Calibri"/>
                <a:ea typeface="Calibri"/>
              </a:rPr>
              <a:t>NOW</a:t>
            </a:r>
            <a:endParaRPr b="0" lang="en-US" sz="850" strike="noStrike" u="none">
              <a:solidFill>
                <a:srgbClr val="000000"/>
              </a:solidFill>
              <a:effectLst/>
              <a:uFillTx/>
              <a:latin typeface="Arial"/>
            </a:endParaRPr>
          </a:p>
        </p:txBody>
      </p:sp>
      <p:sp>
        <p:nvSpPr>
          <p:cNvPr id="3928" name="Text 11"/>
          <p:cNvSpPr/>
          <p:nvPr/>
        </p:nvSpPr>
        <p:spPr>
          <a:xfrm>
            <a:off x="804600" y="2423160"/>
            <a:ext cx="501660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Q3 2026</a:t>
            </a:r>
            <a:endParaRPr b="0" lang="en-US" sz="1400" strike="noStrike" u="none">
              <a:solidFill>
                <a:srgbClr val="000000"/>
              </a:solidFill>
              <a:effectLst/>
              <a:uFillTx/>
              <a:latin typeface="Arial"/>
            </a:endParaRPr>
          </a:p>
        </p:txBody>
      </p:sp>
      <p:sp>
        <p:nvSpPr>
          <p:cNvPr id="3929" name="Shape 12"/>
          <p:cNvSpPr/>
          <p:nvPr/>
        </p:nvSpPr>
        <p:spPr>
          <a:xfrm>
            <a:off x="758880" y="295344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30" name="Text 13"/>
          <p:cNvSpPr/>
          <p:nvPr/>
        </p:nvSpPr>
        <p:spPr>
          <a:xfrm>
            <a:off x="822960" y="295344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00" strike="noStrike" u="none">
                <a:solidFill>
                  <a:srgbClr val="1e2420"/>
                </a:solidFill>
                <a:effectLst/>
                <a:uFillTx/>
                <a:latin typeface="Calibri"/>
                <a:ea typeface="Calibri"/>
              </a:rPr>
              <a:t>Asset and site register on the shared hierarchy</a:t>
            </a:r>
            <a:endParaRPr b="0" lang="en-US" sz="900" strike="noStrike" u="none">
              <a:solidFill>
                <a:srgbClr val="000000"/>
              </a:solidFill>
              <a:effectLst/>
              <a:uFillTx/>
              <a:latin typeface="Arial"/>
            </a:endParaRPr>
          </a:p>
        </p:txBody>
      </p:sp>
      <p:sp>
        <p:nvSpPr>
          <p:cNvPr id="3931" name="Shape 14"/>
          <p:cNvSpPr/>
          <p:nvPr/>
        </p:nvSpPr>
        <p:spPr>
          <a:xfrm>
            <a:off x="758880" y="374004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32" name="Text 15"/>
          <p:cNvSpPr/>
          <p:nvPr/>
        </p:nvSpPr>
        <p:spPr>
          <a:xfrm>
            <a:off x="822960" y="374004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Eclr platform stabilisation on RA+</a:t>
            </a:r>
            <a:endParaRPr b="0" lang="en-US" sz="950" strike="noStrike" u="none">
              <a:solidFill>
                <a:srgbClr val="000000"/>
              </a:solidFill>
              <a:effectLst/>
              <a:uFillTx/>
              <a:latin typeface="Arial"/>
            </a:endParaRPr>
          </a:p>
        </p:txBody>
      </p:sp>
      <p:sp>
        <p:nvSpPr>
          <p:cNvPr id="3933" name="Shape 16"/>
          <p:cNvSpPr/>
          <p:nvPr/>
        </p:nvSpPr>
        <p:spPr>
          <a:xfrm>
            <a:off x="758880" y="452628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34" name="Text 17"/>
          <p:cNvSpPr/>
          <p:nvPr/>
        </p:nvSpPr>
        <p:spPr>
          <a:xfrm>
            <a:off x="822960" y="452628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Hazard data foundations</a:t>
            </a:r>
            <a:endParaRPr b="0" lang="en-US" sz="1000" strike="noStrike" u="none">
              <a:solidFill>
                <a:srgbClr val="000000"/>
              </a:solidFill>
              <a:effectLst/>
              <a:uFillTx/>
              <a:latin typeface="Arial"/>
            </a:endParaRPr>
          </a:p>
        </p:txBody>
      </p:sp>
      <p:sp>
        <p:nvSpPr>
          <p:cNvPr id="3935" name="Shape 18"/>
          <p:cNvSpPr/>
          <p:nvPr/>
        </p:nvSpPr>
        <p:spPr>
          <a:xfrm>
            <a:off x="758880" y="531252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36" name="Text 19"/>
          <p:cNvSpPr/>
          <p:nvPr/>
        </p:nvSpPr>
        <p:spPr>
          <a:xfrm>
            <a:off x="822960" y="531252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Resilience impact types in the shared taxonomy</a:t>
            </a:r>
            <a:endParaRPr b="0" lang="en-US" sz="950" strike="noStrike" u="none">
              <a:solidFill>
                <a:srgbClr val="000000"/>
              </a:solidFill>
              <a:effectLst/>
              <a:uFillTx/>
              <a:latin typeface="Arial"/>
            </a:endParaRPr>
          </a:p>
        </p:txBody>
      </p:sp>
      <p:sp>
        <p:nvSpPr>
          <p:cNvPr id="3937" name="Shape 20"/>
          <p:cNvSpPr/>
          <p:nvPr/>
        </p:nvSpPr>
        <p:spPr>
          <a:xfrm>
            <a:off x="6224040" y="2084760"/>
            <a:ext cx="5345640" cy="4178520"/>
          </a:xfrm>
          <a:prstGeom prst="roundRect">
            <a:avLst>
              <a:gd name="adj" fmla="val 131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38" name="Shape 21"/>
          <p:cNvSpPr/>
          <p:nvPr/>
        </p:nvSpPr>
        <p:spPr>
          <a:xfrm>
            <a:off x="6224040" y="2084760"/>
            <a:ext cx="5345640" cy="712800"/>
          </a:xfrm>
          <a:prstGeom prst="rect">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39" name="Shape 22"/>
          <p:cNvSpPr/>
          <p:nvPr/>
        </p:nvSpPr>
        <p:spPr>
          <a:xfrm>
            <a:off x="6224040" y="2084760"/>
            <a:ext cx="54360" cy="4178520"/>
          </a:xfrm>
          <a:prstGeom prst="rect">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940" name="Text 23"/>
          <p:cNvSpPr/>
          <p:nvPr/>
        </p:nvSpPr>
        <p:spPr>
          <a:xfrm>
            <a:off x="6406920" y="2176200"/>
            <a:ext cx="501660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007a27"/>
                </a:solidFill>
                <a:effectLst/>
                <a:uFillTx/>
                <a:latin typeface="Calibri"/>
                <a:ea typeface="Calibri"/>
              </a:rPr>
              <a:t>NEXT</a:t>
            </a:r>
            <a:endParaRPr b="0" lang="en-US" sz="850" strike="noStrike" u="none">
              <a:solidFill>
                <a:srgbClr val="000000"/>
              </a:solidFill>
              <a:effectLst/>
              <a:uFillTx/>
              <a:latin typeface="Arial"/>
            </a:endParaRPr>
          </a:p>
        </p:txBody>
      </p:sp>
      <p:sp>
        <p:nvSpPr>
          <p:cNvPr id="3941" name="Text 24"/>
          <p:cNvSpPr/>
          <p:nvPr/>
        </p:nvSpPr>
        <p:spPr>
          <a:xfrm>
            <a:off x="6406920" y="2423160"/>
            <a:ext cx="501660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Q4 2026</a:t>
            </a:r>
            <a:endParaRPr b="0" lang="en-US" sz="1400" strike="noStrike" u="none">
              <a:solidFill>
                <a:srgbClr val="000000"/>
              </a:solidFill>
              <a:effectLst/>
              <a:uFillTx/>
              <a:latin typeface="Arial"/>
            </a:endParaRPr>
          </a:p>
        </p:txBody>
      </p:sp>
      <p:sp>
        <p:nvSpPr>
          <p:cNvPr id="3942" name="Shape 25"/>
          <p:cNvSpPr/>
          <p:nvPr/>
        </p:nvSpPr>
        <p:spPr>
          <a:xfrm>
            <a:off x="6361200" y="295344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43" name="Text 26"/>
          <p:cNvSpPr/>
          <p:nvPr/>
        </p:nvSpPr>
        <p:spPr>
          <a:xfrm>
            <a:off x="6424920" y="295344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Physical hazard exposure on owned assets</a:t>
            </a:r>
            <a:endParaRPr b="0" lang="en-US" sz="950" strike="noStrike" u="none">
              <a:solidFill>
                <a:srgbClr val="000000"/>
              </a:solidFill>
              <a:effectLst/>
              <a:uFillTx/>
              <a:latin typeface="Arial"/>
            </a:endParaRPr>
          </a:p>
        </p:txBody>
      </p:sp>
      <p:sp>
        <p:nvSpPr>
          <p:cNvPr id="3944" name="Shape 27"/>
          <p:cNvSpPr/>
          <p:nvPr/>
        </p:nvSpPr>
        <p:spPr>
          <a:xfrm>
            <a:off x="6361200" y="374004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45" name="Text 28"/>
          <p:cNvSpPr/>
          <p:nvPr/>
        </p:nvSpPr>
        <p:spPr>
          <a:xfrm>
            <a:off x="6424920" y="374004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Eclr turned to a full self serve product</a:t>
            </a:r>
            <a:endParaRPr b="0" lang="en-US" sz="950" strike="noStrike" u="none">
              <a:solidFill>
                <a:srgbClr val="000000"/>
              </a:solidFill>
              <a:effectLst/>
              <a:uFillTx/>
              <a:latin typeface="Arial"/>
            </a:endParaRPr>
          </a:p>
        </p:txBody>
      </p:sp>
      <p:sp>
        <p:nvSpPr>
          <p:cNvPr id="3946" name="Shape 29"/>
          <p:cNvSpPr/>
          <p:nvPr/>
        </p:nvSpPr>
        <p:spPr>
          <a:xfrm>
            <a:off x="6361200" y="452628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47" name="Text 30"/>
          <p:cNvSpPr/>
          <p:nvPr/>
        </p:nvSpPr>
        <p:spPr>
          <a:xfrm>
            <a:off x="6424920" y="452628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Scalable performance at portfolio volumes</a:t>
            </a:r>
            <a:endParaRPr b="0" lang="en-US" sz="950" strike="noStrike" u="none">
              <a:solidFill>
                <a:srgbClr val="000000"/>
              </a:solidFill>
              <a:effectLst/>
              <a:uFillTx/>
              <a:latin typeface="Arial"/>
            </a:endParaRPr>
          </a:p>
        </p:txBody>
      </p:sp>
      <p:sp>
        <p:nvSpPr>
          <p:cNvPr id="3948" name="Shape 31"/>
          <p:cNvSpPr/>
          <p:nvPr/>
        </p:nvSpPr>
        <p:spPr>
          <a:xfrm>
            <a:off x="6361200" y="531252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49" name="Text 32"/>
          <p:cNvSpPr/>
          <p:nvPr/>
        </p:nvSpPr>
        <p:spPr>
          <a:xfrm>
            <a:off x="6424920" y="531252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Adaptation planning primitives with Strategy</a:t>
            </a:r>
            <a:endParaRPr b="0" lang="en-US" sz="950" strike="noStrike" u="none">
              <a:solidFill>
                <a:srgbClr val="000000"/>
              </a:solidFill>
              <a:effectLst/>
              <a:uFillTx/>
              <a:latin typeface="Arial"/>
            </a:endParaRPr>
          </a:p>
        </p:txBody>
      </p:sp>
      <p:sp>
        <p:nvSpPr>
          <p:cNvPr id="3950" name="Shape 33"/>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951" name="Text 34"/>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3952" name="Text 35"/>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3953" name="PlaceHolder 1"/>
          <p:cNvSpPr>
            <a:spLocks noGrp="1"/>
          </p:cNvSpPr>
          <p:nvPr>
            <p:ph type="sldNum" idx="85"/>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6D2A0FD9-7856-4FBF-A4CE-CD2A5367DC8F}"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9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954"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3955"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3956" name="Shape 2"/>
          <p:cNvSpPr/>
          <p:nvPr/>
        </p:nvSpPr>
        <p:spPr>
          <a:xfrm>
            <a:off x="621720" y="311040"/>
            <a:ext cx="239544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57" name="Text 3"/>
          <p:cNvSpPr/>
          <p:nvPr/>
        </p:nvSpPr>
        <p:spPr>
          <a:xfrm>
            <a:off x="804600" y="329040"/>
            <a:ext cx="206604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CLIMATE RISK, 2027</a:t>
            </a:r>
            <a:endParaRPr b="0" lang="en-US" sz="950" strike="noStrike" u="none">
              <a:solidFill>
                <a:srgbClr val="000000"/>
              </a:solidFill>
              <a:effectLst/>
              <a:uFillTx/>
              <a:latin typeface="Arial"/>
            </a:endParaRPr>
          </a:p>
        </p:txBody>
      </p:sp>
      <p:sp>
        <p:nvSpPr>
          <p:cNvPr id="3958"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Price the risk in 2027</a:t>
            </a:r>
            <a:endParaRPr b="0" lang="en-US" sz="3200" strike="noStrike" u="none">
              <a:solidFill>
                <a:srgbClr val="000000"/>
              </a:solidFill>
              <a:effectLst/>
              <a:uFillTx/>
              <a:latin typeface="Arial"/>
            </a:endParaRPr>
          </a:p>
        </p:txBody>
      </p:sp>
      <p:sp>
        <p:nvSpPr>
          <p:cNvPr id="3959"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Scenarios, value at risk and adaptation, connected to the rest of the platform.</a:t>
            </a:r>
            <a:endParaRPr b="0" lang="en-US" sz="1250" strike="noStrike" u="none">
              <a:solidFill>
                <a:srgbClr val="000000"/>
              </a:solidFill>
              <a:effectLst/>
              <a:uFillTx/>
              <a:latin typeface="Arial"/>
            </a:endParaRPr>
          </a:p>
        </p:txBody>
      </p:sp>
      <p:sp>
        <p:nvSpPr>
          <p:cNvPr id="3960"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961" name="Shape 7"/>
          <p:cNvSpPr/>
          <p:nvPr/>
        </p:nvSpPr>
        <p:spPr>
          <a:xfrm>
            <a:off x="621720" y="2084760"/>
            <a:ext cx="5345640" cy="4178520"/>
          </a:xfrm>
          <a:prstGeom prst="roundRect">
            <a:avLst>
              <a:gd name="adj" fmla="val 131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62" name="Shape 8"/>
          <p:cNvSpPr/>
          <p:nvPr/>
        </p:nvSpPr>
        <p:spPr>
          <a:xfrm>
            <a:off x="621720" y="2084760"/>
            <a:ext cx="5345640" cy="712800"/>
          </a:xfrm>
          <a:prstGeom prst="rect">
            <a:avLst/>
          </a:prstGeom>
          <a:solidFill>
            <a:srgbClr val="fff4e3"/>
          </a:solidFill>
          <a:ln w="12700">
            <a:solidFill>
              <a:srgbClr val="fff4e3"/>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63" name="Shape 9"/>
          <p:cNvSpPr/>
          <p:nvPr/>
        </p:nvSpPr>
        <p:spPr>
          <a:xfrm>
            <a:off x="621720" y="2084760"/>
            <a:ext cx="54360" cy="4178520"/>
          </a:xfrm>
          <a:prstGeom prst="rect">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64" name="Text 10"/>
          <p:cNvSpPr/>
          <p:nvPr/>
        </p:nvSpPr>
        <p:spPr>
          <a:xfrm>
            <a:off x="804600" y="2176200"/>
            <a:ext cx="501660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ffb04c"/>
                </a:solidFill>
                <a:effectLst/>
                <a:uFillTx/>
                <a:latin typeface="Calibri"/>
                <a:ea typeface="Calibri"/>
              </a:rPr>
              <a:t>LATER</a:t>
            </a:r>
            <a:endParaRPr b="0" lang="en-US" sz="850" strike="noStrike" u="none">
              <a:solidFill>
                <a:srgbClr val="000000"/>
              </a:solidFill>
              <a:effectLst/>
              <a:uFillTx/>
              <a:latin typeface="Arial"/>
            </a:endParaRPr>
          </a:p>
        </p:txBody>
      </p:sp>
      <p:sp>
        <p:nvSpPr>
          <p:cNvPr id="3965" name="Text 11"/>
          <p:cNvSpPr/>
          <p:nvPr/>
        </p:nvSpPr>
        <p:spPr>
          <a:xfrm>
            <a:off x="804600" y="2423160"/>
            <a:ext cx="501660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2027 H1</a:t>
            </a:r>
            <a:endParaRPr b="0" lang="en-US" sz="1400" strike="noStrike" u="none">
              <a:solidFill>
                <a:srgbClr val="000000"/>
              </a:solidFill>
              <a:effectLst/>
              <a:uFillTx/>
              <a:latin typeface="Arial"/>
            </a:endParaRPr>
          </a:p>
        </p:txBody>
      </p:sp>
      <p:sp>
        <p:nvSpPr>
          <p:cNvPr id="3966" name="Shape 12"/>
          <p:cNvSpPr/>
          <p:nvPr/>
        </p:nvSpPr>
        <p:spPr>
          <a:xfrm>
            <a:off x="758880" y="295344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67" name="Text 13"/>
          <p:cNvSpPr/>
          <p:nvPr/>
        </p:nvSpPr>
        <p:spPr>
          <a:xfrm>
            <a:off x="822960" y="295344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Physical and transition scenario analysis</a:t>
            </a:r>
            <a:endParaRPr b="0" lang="en-US" sz="950" strike="noStrike" u="none">
              <a:solidFill>
                <a:srgbClr val="000000"/>
              </a:solidFill>
              <a:effectLst/>
              <a:uFillTx/>
              <a:latin typeface="Arial"/>
            </a:endParaRPr>
          </a:p>
        </p:txBody>
      </p:sp>
      <p:sp>
        <p:nvSpPr>
          <p:cNvPr id="3968" name="Shape 14"/>
          <p:cNvSpPr/>
          <p:nvPr/>
        </p:nvSpPr>
        <p:spPr>
          <a:xfrm>
            <a:off x="758880" y="374004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69" name="Text 15"/>
          <p:cNvSpPr/>
          <p:nvPr/>
        </p:nvSpPr>
        <p:spPr>
          <a:xfrm>
            <a:off x="822960" y="374004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ClimVar - Value at Risk</a:t>
            </a:r>
            <a:endParaRPr b="0" lang="en-US" sz="1000" strike="noStrike" u="none">
              <a:solidFill>
                <a:srgbClr val="000000"/>
              </a:solidFill>
              <a:effectLst/>
              <a:uFillTx/>
              <a:latin typeface="Arial"/>
            </a:endParaRPr>
          </a:p>
          <a:p>
            <a:pPr defTabSz="914400">
              <a:lnSpc>
                <a:spcPct val="95000"/>
              </a:lnSpc>
              <a:tabLst>
                <a:tab algn="l" pos="0"/>
              </a:tabLst>
            </a:pPr>
            <a:r>
              <a:rPr b="0" lang="en-US" sz="850" strike="noStrike" u="none">
                <a:solidFill>
                  <a:srgbClr val="5a625c"/>
                </a:solidFill>
                <a:effectLst/>
                <a:uFillTx/>
                <a:latin typeface="Calibri"/>
                <a:ea typeface="Calibri"/>
              </a:rPr>
              <a:t>Expressed in financial terms</a:t>
            </a:r>
            <a:endParaRPr b="0" lang="en-US" sz="850" strike="noStrike" u="none">
              <a:solidFill>
                <a:srgbClr val="000000"/>
              </a:solidFill>
              <a:effectLst/>
              <a:uFillTx/>
              <a:latin typeface="Arial"/>
            </a:endParaRPr>
          </a:p>
        </p:txBody>
      </p:sp>
      <p:sp>
        <p:nvSpPr>
          <p:cNvPr id="3970" name="Shape 16"/>
          <p:cNvSpPr/>
          <p:nvPr/>
        </p:nvSpPr>
        <p:spPr>
          <a:xfrm>
            <a:off x="758880" y="452628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71" name="Text 17"/>
          <p:cNvSpPr/>
          <p:nvPr/>
        </p:nvSpPr>
        <p:spPr>
          <a:xfrm>
            <a:off x="822960" y="452628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00" strike="noStrike" u="none">
                <a:solidFill>
                  <a:srgbClr val="1e2420"/>
                </a:solidFill>
                <a:effectLst/>
                <a:uFillTx/>
                <a:latin typeface="Calibri"/>
                <a:ea typeface="Calibri"/>
              </a:rPr>
              <a:t>Adaptation actions tracked with monthly actuals</a:t>
            </a:r>
            <a:endParaRPr b="0" lang="en-US" sz="900" strike="noStrike" u="none">
              <a:solidFill>
                <a:srgbClr val="000000"/>
              </a:solidFill>
              <a:effectLst/>
              <a:uFillTx/>
              <a:latin typeface="Arial"/>
            </a:endParaRPr>
          </a:p>
        </p:txBody>
      </p:sp>
      <p:sp>
        <p:nvSpPr>
          <p:cNvPr id="3972" name="Shape 18"/>
          <p:cNvSpPr/>
          <p:nvPr/>
        </p:nvSpPr>
        <p:spPr>
          <a:xfrm>
            <a:off x="758880" y="531252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73" name="Text 19"/>
          <p:cNvSpPr/>
          <p:nvPr/>
        </p:nvSpPr>
        <p:spPr>
          <a:xfrm>
            <a:off x="822960" y="531252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Portfolio level risk analytics and heatmaps</a:t>
            </a:r>
            <a:endParaRPr b="0" lang="en-US" sz="950" strike="noStrike" u="none">
              <a:solidFill>
                <a:srgbClr val="000000"/>
              </a:solidFill>
              <a:effectLst/>
              <a:uFillTx/>
              <a:latin typeface="Arial"/>
            </a:endParaRPr>
          </a:p>
        </p:txBody>
      </p:sp>
      <p:sp>
        <p:nvSpPr>
          <p:cNvPr id="3974" name="Shape 20"/>
          <p:cNvSpPr/>
          <p:nvPr/>
        </p:nvSpPr>
        <p:spPr>
          <a:xfrm>
            <a:off x="6224040" y="2084760"/>
            <a:ext cx="5345640" cy="4178520"/>
          </a:xfrm>
          <a:prstGeom prst="roundRect">
            <a:avLst>
              <a:gd name="adj" fmla="val 131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75" name="Shape 21"/>
          <p:cNvSpPr/>
          <p:nvPr/>
        </p:nvSpPr>
        <p:spPr>
          <a:xfrm>
            <a:off x="6224040" y="2084760"/>
            <a:ext cx="5345640" cy="712800"/>
          </a:xfrm>
          <a:prstGeom prst="rect">
            <a:avLst/>
          </a:prstGeom>
          <a:solidFill>
            <a:srgbClr val="eaf1f5"/>
          </a:solidFill>
          <a:ln w="12700">
            <a:solidFill>
              <a:srgbClr val="eaf1f5"/>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76" name="Shape 22"/>
          <p:cNvSpPr/>
          <p:nvPr/>
        </p:nvSpPr>
        <p:spPr>
          <a:xfrm>
            <a:off x="6224040" y="2084760"/>
            <a:ext cx="54360" cy="4178520"/>
          </a:xfrm>
          <a:prstGeom prst="rect">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3977" name="Text 23"/>
          <p:cNvSpPr/>
          <p:nvPr/>
        </p:nvSpPr>
        <p:spPr>
          <a:xfrm>
            <a:off x="6406920" y="2176200"/>
            <a:ext cx="501660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275b7f"/>
                </a:solidFill>
                <a:effectLst/>
                <a:uFillTx/>
                <a:latin typeface="Calibri"/>
                <a:ea typeface="Calibri"/>
              </a:rPr>
              <a:t>LATER</a:t>
            </a:r>
            <a:endParaRPr b="0" lang="en-US" sz="850" strike="noStrike" u="none">
              <a:solidFill>
                <a:srgbClr val="000000"/>
              </a:solidFill>
              <a:effectLst/>
              <a:uFillTx/>
              <a:latin typeface="Arial"/>
            </a:endParaRPr>
          </a:p>
        </p:txBody>
      </p:sp>
      <p:sp>
        <p:nvSpPr>
          <p:cNvPr id="3978" name="Text 24"/>
          <p:cNvSpPr/>
          <p:nvPr/>
        </p:nvSpPr>
        <p:spPr>
          <a:xfrm>
            <a:off x="6406920" y="2423160"/>
            <a:ext cx="501660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2027 H2</a:t>
            </a:r>
            <a:endParaRPr b="0" lang="en-US" sz="1400" strike="noStrike" u="none">
              <a:solidFill>
                <a:srgbClr val="000000"/>
              </a:solidFill>
              <a:effectLst/>
              <a:uFillTx/>
              <a:latin typeface="Arial"/>
            </a:endParaRPr>
          </a:p>
        </p:txBody>
      </p:sp>
      <p:sp>
        <p:nvSpPr>
          <p:cNvPr id="3979" name="Shape 25"/>
          <p:cNvSpPr/>
          <p:nvPr/>
        </p:nvSpPr>
        <p:spPr>
          <a:xfrm>
            <a:off x="6361200" y="295344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80" name="Text 26"/>
          <p:cNvSpPr/>
          <p:nvPr/>
        </p:nvSpPr>
        <p:spPr>
          <a:xfrm>
            <a:off x="6424920" y="295344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Transition plan modelling linked to targets</a:t>
            </a:r>
            <a:endParaRPr b="0" lang="en-US" sz="950" strike="noStrike" u="none">
              <a:solidFill>
                <a:srgbClr val="000000"/>
              </a:solidFill>
              <a:effectLst/>
              <a:uFillTx/>
              <a:latin typeface="Arial"/>
            </a:endParaRPr>
          </a:p>
        </p:txBody>
      </p:sp>
      <p:sp>
        <p:nvSpPr>
          <p:cNvPr id="3981" name="Shape 27"/>
          <p:cNvSpPr/>
          <p:nvPr/>
        </p:nvSpPr>
        <p:spPr>
          <a:xfrm>
            <a:off x="6361200" y="374004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82" name="Text 28"/>
          <p:cNvSpPr/>
          <p:nvPr/>
        </p:nvSpPr>
        <p:spPr>
          <a:xfrm>
            <a:off x="6424920" y="374004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Risk data flowing into R&amp;C disclosures</a:t>
            </a:r>
            <a:endParaRPr b="0" lang="en-US" sz="950" strike="noStrike" u="none">
              <a:solidFill>
                <a:srgbClr val="000000"/>
              </a:solidFill>
              <a:effectLst/>
              <a:uFillTx/>
              <a:latin typeface="Arial"/>
            </a:endParaRPr>
          </a:p>
        </p:txBody>
      </p:sp>
      <p:sp>
        <p:nvSpPr>
          <p:cNvPr id="3983" name="Shape 29"/>
          <p:cNvSpPr/>
          <p:nvPr/>
        </p:nvSpPr>
        <p:spPr>
          <a:xfrm>
            <a:off x="6361200" y="452628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84" name="Text 30"/>
          <p:cNvSpPr/>
          <p:nvPr/>
        </p:nvSpPr>
        <p:spPr>
          <a:xfrm>
            <a:off x="6424920" y="452628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Supply chain and climate risk integration</a:t>
            </a:r>
            <a:endParaRPr b="0" lang="en-US" sz="950" strike="noStrike" u="none">
              <a:solidFill>
                <a:srgbClr val="000000"/>
              </a:solidFill>
              <a:effectLst/>
              <a:uFillTx/>
              <a:latin typeface="Arial"/>
            </a:endParaRPr>
          </a:p>
        </p:txBody>
      </p:sp>
      <p:sp>
        <p:nvSpPr>
          <p:cNvPr id="3985" name="Shape 31"/>
          <p:cNvSpPr/>
          <p:nvPr/>
        </p:nvSpPr>
        <p:spPr>
          <a:xfrm>
            <a:off x="6361200" y="531252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86" name="Text 32"/>
          <p:cNvSpPr/>
          <p:nvPr/>
        </p:nvSpPr>
        <p:spPr>
          <a:xfrm>
            <a:off x="6424920" y="531252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Value at risk across the extended value chain</a:t>
            </a:r>
            <a:endParaRPr b="0" lang="en-US" sz="950" strike="noStrike" u="none">
              <a:solidFill>
                <a:srgbClr val="000000"/>
              </a:solidFill>
              <a:effectLst/>
              <a:uFillTx/>
              <a:latin typeface="Arial"/>
            </a:endParaRPr>
          </a:p>
        </p:txBody>
      </p:sp>
      <p:sp>
        <p:nvSpPr>
          <p:cNvPr id="3987" name="Shape 33"/>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988" name="Text 34"/>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3989" name="Text 35"/>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3990" name="PlaceHolder 1"/>
          <p:cNvSpPr>
            <a:spLocks noGrp="1"/>
          </p:cNvSpPr>
          <p:nvPr>
            <p:ph type="sldNum" idx="86"/>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B8899582-130A-4E41-9D61-278BA7FF3E52}"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9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991"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3992"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3993" name="Shape 2"/>
          <p:cNvSpPr/>
          <p:nvPr/>
        </p:nvSpPr>
        <p:spPr>
          <a:xfrm>
            <a:off x="621720" y="311040"/>
            <a:ext cx="176436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94" name="Text 3"/>
          <p:cNvSpPr/>
          <p:nvPr/>
        </p:nvSpPr>
        <p:spPr>
          <a:xfrm>
            <a:off x="804600" y="329040"/>
            <a:ext cx="143532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CLIMATE RISK</a:t>
            </a:r>
            <a:endParaRPr b="0" lang="en-US" sz="950" strike="noStrike" u="none">
              <a:solidFill>
                <a:srgbClr val="000000"/>
              </a:solidFill>
              <a:effectLst/>
              <a:uFillTx/>
              <a:latin typeface="Arial"/>
            </a:endParaRPr>
          </a:p>
        </p:txBody>
      </p:sp>
      <p:sp>
        <p:nvSpPr>
          <p:cNvPr id="3995"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The Climate Risk plan on a timeline</a:t>
            </a:r>
            <a:endParaRPr b="0" lang="en-US" sz="3200" strike="noStrike" u="none">
              <a:solidFill>
                <a:srgbClr val="000000"/>
              </a:solidFill>
              <a:effectLst/>
              <a:uFillTx/>
              <a:latin typeface="Arial"/>
            </a:endParaRPr>
          </a:p>
        </p:txBody>
      </p:sp>
      <p:sp>
        <p:nvSpPr>
          <p:cNvPr id="3996"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Establish exposure in 2026, then convert scenarios into financial value, adaptation and disclosure in 2027.</a:t>
            </a:r>
            <a:endParaRPr b="0" lang="en-US" sz="1250" strike="noStrike" u="none">
              <a:solidFill>
                <a:srgbClr val="000000"/>
              </a:solidFill>
              <a:effectLst/>
              <a:uFillTx/>
              <a:latin typeface="Arial"/>
            </a:endParaRPr>
          </a:p>
        </p:txBody>
      </p:sp>
      <p:sp>
        <p:nvSpPr>
          <p:cNvPr id="3997"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3998" name="Shape 7"/>
          <p:cNvSpPr/>
          <p:nvPr/>
        </p:nvSpPr>
        <p:spPr>
          <a:xfrm>
            <a:off x="621720" y="1874520"/>
            <a:ext cx="10947600" cy="456840"/>
          </a:xfrm>
          <a:prstGeom prst="rect">
            <a:avLst/>
          </a:prstGeom>
          <a:solidFill>
            <a:srgbClr val="f1f3f2"/>
          </a:solidFill>
          <a:ln w="635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3999" name="Text 8"/>
          <p:cNvSpPr/>
          <p:nvPr/>
        </p:nvSpPr>
        <p:spPr>
          <a:xfrm>
            <a:off x="749880" y="2020680"/>
            <a:ext cx="260568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99" strike="noStrike" u="none">
                <a:solidFill>
                  <a:srgbClr val="5a625c"/>
                </a:solidFill>
                <a:effectLst/>
                <a:uFillTx/>
                <a:latin typeface="Calibri"/>
                <a:ea typeface="Calibri"/>
              </a:rPr>
              <a:t>CAPABILITY</a:t>
            </a:r>
            <a:endParaRPr b="0" lang="en-US" sz="850" strike="noStrike" u="none">
              <a:solidFill>
                <a:srgbClr val="000000"/>
              </a:solidFill>
              <a:effectLst/>
              <a:uFillTx/>
              <a:latin typeface="Arial"/>
            </a:endParaRPr>
          </a:p>
        </p:txBody>
      </p:sp>
      <p:sp>
        <p:nvSpPr>
          <p:cNvPr id="4000" name="Text 9"/>
          <p:cNvSpPr/>
          <p:nvPr/>
        </p:nvSpPr>
        <p:spPr>
          <a:xfrm>
            <a:off x="3456360" y="1901880"/>
            <a:ext cx="405648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2026</a:t>
            </a:r>
            <a:endParaRPr b="0" lang="en-US" sz="1200" strike="noStrike" u="none">
              <a:solidFill>
                <a:srgbClr val="000000"/>
              </a:solidFill>
              <a:effectLst/>
              <a:uFillTx/>
              <a:latin typeface="Arial"/>
            </a:endParaRPr>
          </a:p>
        </p:txBody>
      </p:sp>
      <p:sp>
        <p:nvSpPr>
          <p:cNvPr id="4001" name="Text 10"/>
          <p:cNvSpPr/>
          <p:nvPr/>
        </p:nvSpPr>
        <p:spPr>
          <a:xfrm>
            <a:off x="345636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4002" name="Text 11"/>
          <p:cNvSpPr/>
          <p:nvPr/>
        </p:nvSpPr>
        <p:spPr>
          <a:xfrm>
            <a:off x="447048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4003" name="Text 12"/>
          <p:cNvSpPr/>
          <p:nvPr/>
        </p:nvSpPr>
        <p:spPr>
          <a:xfrm>
            <a:off x="548496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4004" name="Text 13"/>
          <p:cNvSpPr/>
          <p:nvPr/>
        </p:nvSpPr>
        <p:spPr>
          <a:xfrm>
            <a:off x="649908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4005" name="Text 14"/>
          <p:cNvSpPr/>
          <p:nvPr/>
        </p:nvSpPr>
        <p:spPr>
          <a:xfrm>
            <a:off x="7513200" y="1901880"/>
            <a:ext cx="405648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2027</a:t>
            </a:r>
            <a:endParaRPr b="0" lang="en-US" sz="1200" strike="noStrike" u="none">
              <a:solidFill>
                <a:srgbClr val="000000"/>
              </a:solidFill>
              <a:effectLst/>
              <a:uFillTx/>
              <a:latin typeface="Arial"/>
            </a:endParaRPr>
          </a:p>
        </p:txBody>
      </p:sp>
      <p:sp>
        <p:nvSpPr>
          <p:cNvPr id="4006" name="Text 15"/>
          <p:cNvSpPr/>
          <p:nvPr/>
        </p:nvSpPr>
        <p:spPr>
          <a:xfrm>
            <a:off x="751320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4007" name="Text 16"/>
          <p:cNvSpPr/>
          <p:nvPr/>
        </p:nvSpPr>
        <p:spPr>
          <a:xfrm>
            <a:off x="852732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4008" name="Text 17"/>
          <p:cNvSpPr/>
          <p:nvPr/>
        </p:nvSpPr>
        <p:spPr>
          <a:xfrm>
            <a:off x="954144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4009" name="Text 18"/>
          <p:cNvSpPr/>
          <p:nvPr/>
        </p:nvSpPr>
        <p:spPr>
          <a:xfrm>
            <a:off x="1055556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4010" name="Shape 19"/>
          <p:cNvSpPr/>
          <p:nvPr/>
        </p:nvSpPr>
        <p:spPr>
          <a:xfrm>
            <a:off x="345636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4011" name="Shape 20"/>
          <p:cNvSpPr/>
          <p:nvPr/>
        </p:nvSpPr>
        <p:spPr>
          <a:xfrm>
            <a:off x="447048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4012" name="Shape 21"/>
          <p:cNvSpPr/>
          <p:nvPr/>
        </p:nvSpPr>
        <p:spPr>
          <a:xfrm>
            <a:off x="548460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4013" name="Shape 22"/>
          <p:cNvSpPr/>
          <p:nvPr/>
        </p:nvSpPr>
        <p:spPr>
          <a:xfrm>
            <a:off x="649872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4014" name="Shape 23"/>
          <p:cNvSpPr/>
          <p:nvPr/>
        </p:nvSpPr>
        <p:spPr>
          <a:xfrm>
            <a:off x="751284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4015" name="Shape 24"/>
          <p:cNvSpPr/>
          <p:nvPr/>
        </p:nvSpPr>
        <p:spPr>
          <a:xfrm>
            <a:off x="852732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4016" name="Shape 25"/>
          <p:cNvSpPr/>
          <p:nvPr/>
        </p:nvSpPr>
        <p:spPr>
          <a:xfrm>
            <a:off x="954144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4017" name="Shape 26"/>
          <p:cNvSpPr/>
          <p:nvPr/>
        </p:nvSpPr>
        <p:spPr>
          <a:xfrm>
            <a:off x="1055556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4018" name="Shape 27"/>
          <p:cNvSpPr/>
          <p:nvPr/>
        </p:nvSpPr>
        <p:spPr>
          <a:xfrm>
            <a:off x="1156968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4019" name="Shape 28"/>
          <p:cNvSpPr/>
          <p:nvPr/>
        </p:nvSpPr>
        <p:spPr>
          <a:xfrm>
            <a:off x="621720" y="2331720"/>
            <a:ext cx="411120" cy="822600"/>
          </a:xfrm>
          <a:prstGeom prst="rect">
            <a:avLst/>
          </a:prstGeom>
          <a:solidFill>
            <a:srgbClr val="3dcd58"/>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020" name="Text 29"/>
          <p:cNvSpPr/>
          <p:nvPr/>
        </p:nvSpPr>
        <p:spPr>
          <a:xfrm>
            <a:off x="685800" y="2377440"/>
            <a:ext cx="282960" cy="73116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FOUNDATION</a:t>
            </a:r>
            <a:endParaRPr b="0" lang="en-US" sz="750" strike="noStrike" u="none">
              <a:solidFill>
                <a:srgbClr val="000000"/>
              </a:solidFill>
              <a:effectLst/>
              <a:uFillTx/>
              <a:latin typeface="Arial"/>
            </a:endParaRPr>
          </a:p>
        </p:txBody>
      </p:sp>
      <p:sp>
        <p:nvSpPr>
          <p:cNvPr id="4021" name="Shape 30"/>
          <p:cNvSpPr/>
          <p:nvPr/>
        </p:nvSpPr>
        <p:spPr>
          <a:xfrm>
            <a:off x="1033200" y="260604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022" name="Shape 31"/>
          <p:cNvSpPr/>
          <p:nvPr/>
        </p:nvSpPr>
        <p:spPr>
          <a:xfrm>
            <a:off x="1143000" y="235908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023" name="Text 32"/>
          <p:cNvSpPr/>
          <p:nvPr/>
        </p:nvSpPr>
        <p:spPr>
          <a:xfrm>
            <a:off x="1243440" y="23227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Asset and site register</a:t>
            </a:r>
            <a:endParaRPr b="0" lang="en-US" sz="950" strike="noStrike" u="none">
              <a:solidFill>
                <a:srgbClr val="000000"/>
              </a:solidFill>
              <a:effectLst/>
              <a:uFillTx/>
              <a:latin typeface="Arial"/>
            </a:endParaRPr>
          </a:p>
        </p:txBody>
      </p:sp>
      <p:sp>
        <p:nvSpPr>
          <p:cNvPr id="4024" name="Shape 33"/>
          <p:cNvSpPr/>
          <p:nvPr/>
        </p:nvSpPr>
        <p:spPr>
          <a:xfrm>
            <a:off x="5484960" y="2422080"/>
            <a:ext cx="1013760" cy="92880"/>
          </a:xfrm>
          <a:prstGeom prst="roundRect">
            <a:avLst>
              <a:gd name="adj" fmla="val 39216"/>
            </a:avLst>
          </a:prstGeom>
          <a:solidFill>
            <a:srgbClr val="3dcd58"/>
          </a:solidFill>
          <a:ln w="12700">
            <a:solidFill>
              <a:srgbClr val="3dcd58"/>
            </a:solidFill>
            <a:round/>
          </a:ln>
        </p:spPr>
        <p:style>
          <a:lnRef idx="0"/>
          <a:fillRef idx="0"/>
          <a:effectRef idx="0"/>
          <a:fontRef idx="minor"/>
        </p:style>
        <p:txBody>
          <a:bodyPr lIns="90000" rIns="90000" tIns="27000" bIns="27000" anchor="t">
            <a:noAutofit/>
          </a:bodyPr>
          <a:p>
            <a:endParaRPr b="0" lang="en-US" sz="1800" strike="noStrike" u="none">
              <a:solidFill>
                <a:srgbClr val="000000"/>
              </a:solidFill>
              <a:effectLst/>
              <a:uFillTx/>
              <a:latin typeface="Arial"/>
            </a:endParaRPr>
          </a:p>
        </p:txBody>
      </p:sp>
      <p:sp>
        <p:nvSpPr>
          <p:cNvPr id="4025" name="Shape 34"/>
          <p:cNvSpPr/>
          <p:nvPr/>
        </p:nvSpPr>
        <p:spPr>
          <a:xfrm>
            <a:off x="1033200" y="288036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026" name="Shape 35"/>
          <p:cNvSpPr/>
          <p:nvPr/>
        </p:nvSpPr>
        <p:spPr>
          <a:xfrm>
            <a:off x="1143000" y="263340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027" name="Text 36"/>
          <p:cNvSpPr/>
          <p:nvPr/>
        </p:nvSpPr>
        <p:spPr>
          <a:xfrm>
            <a:off x="1243440" y="259704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Eclr stabilisation and hazard foundations</a:t>
            </a:r>
            <a:endParaRPr b="0" lang="en-US" sz="950" strike="noStrike" u="none">
              <a:solidFill>
                <a:srgbClr val="000000"/>
              </a:solidFill>
              <a:effectLst/>
              <a:uFillTx/>
              <a:latin typeface="Arial"/>
            </a:endParaRPr>
          </a:p>
        </p:txBody>
      </p:sp>
      <p:sp>
        <p:nvSpPr>
          <p:cNvPr id="4028" name="Shape 37"/>
          <p:cNvSpPr/>
          <p:nvPr/>
        </p:nvSpPr>
        <p:spPr>
          <a:xfrm>
            <a:off x="5484960" y="2696400"/>
            <a:ext cx="1013760" cy="92880"/>
          </a:xfrm>
          <a:prstGeom prst="roundRect">
            <a:avLst>
              <a:gd name="adj" fmla="val 39216"/>
            </a:avLst>
          </a:prstGeom>
          <a:solidFill>
            <a:srgbClr val="3dcd58"/>
          </a:solidFill>
          <a:ln w="12700">
            <a:solidFill>
              <a:srgbClr val="3dcd58"/>
            </a:solidFill>
            <a:round/>
          </a:ln>
        </p:spPr>
        <p:style>
          <a:lnRef idx="0"/>
          <a:fillRef idx="0"/>
          <a:effectRef idx="0"/>
          <a:fontRef idx="minor"/>
        </p:style>
        <p:txBody>
          <a:bodyPr lIns="90000" rIns="90000" tIns="27000" bIns="27000" anchor="t">
            <a:noAutofit/>
          </a:bodyPr>
          <a:p>
            <a:endParaRPr b="0" lang="en-US" sz="1800" strike="noStrike" u="none">
              <a:solidFill>
                <a:srgbClr val="000000"/>
              </a:solidFill>
              <a:effectLst/>
              <a:uFillTx/>
              <a:latin typeface="Arial"/>
            </a:endParaRPr>
          </a:p>
        </p:txBody>
      </p:sp>
      <p:sp>
        <p:nvSpPr>
          <p:cNvPr id="4029" name="Shape 38"/>
          <p:cNvSpPr/>
          <p:nvPr/>
        </p:nvSpPr>
        <p:spPr>
          <a:xfrm>
            <a:off x="1033200" y="31546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030" name="Shape 39"/>
          <p:cNvSpPr/>
          <p:nvPr/>
        </p:nvSpPr>
        <p:spPr>
          <a:xfrm>
            <a:off x="1143000" y="290772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031" name="Text 40"/>
          <p:cNvSpPr/>
          <p:nvPr/>
        </p:nvSpPr>
        <p:spPr>
          <a:xfrm>
            <a:off x="1243440" y="28713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Eclr self serve at portfolio scale</a:t>
            </a:r>
            <a:endParaRPr b="0" lang="en-US" sz="950" strike="noStrike" u="none">
              <a:solidFill>
                <a:srgbClr val="000000"/>
              </a:solidFill>
              <a:effectLst/>
              <a:uFillTx/>
              <a:latin typeface="Arial"/>
            </a:endParaRPr>
          </a:p>
        </p:txBody>
      </p:sp>
      <p:sp>
        <p:nvSpPr>
          <p:cNvPr id="4032" name="Shape 41"/>
          <p:cNvSpPr/>
          <p:nvPr/>
        </p:nvSpPr>
        <p:spPr>
          <a:xfrm>
            <a:off x="6499080" y="2970720"/>
            <a:ext cx="1013760" cy="92880"/>
          </a:xfrm>
          <a:prstGeom prst="roundRect">
            <a:avLst>
              <a:gd name="adj" fmla="val 39216"/>
            </a:avLst>
          </a:prstGeom>
          <a:solidFill>
            <a:srgbClr val="3dcd58"/>
          </a:solidFill>
          <a:ln w="12700">
            <a:solidFill>
              <a:srgbClr val="3dcd58"/>
            </a:solidFill>
            <a:round/>
          </a:ln>
        </p:spPr>
        <p:style>
          <a:lnRef idx="0"/>
          <a:fillRef idx="0"/>
          <a:effectRef idx="0"/>
          <a:fontRef idx="minor"/>
        </p:style>
        <p:txBody>
          <a:bodyPr lIns="90000" rIns="90000" tIns="27000" bIns="27000" anchor="t">
            <a:noAutofit/>
          </a:bodyPr>
          <a:p>
            <a:endParaRPr b="0" lang="en-US" sz="1800" strike="noStrike" u="none">
              <a:solidFill>
                <a:srgbClr val="000000"/>
              </a:solidFill>
              <a:effectLst/>
              <a:uFillTx/>
              <a:latin typeface="Arial"/>
            </a:endParaRPr>
          </a:p>
        </p:txBody>
      </p:sp>
      <p:sp>
        <p:nvSpPr>
          <p:cNvPr id="4033" name="Shape 42"/>
          <p:cNvSpPr/>
          <p:nvPr/>
        </p:nvSpPr>
        <p:spPr>
          <a:xfrm>
            <a:off x="621720" y="3154680"/>
            <a:ext cx="411120" cy="1096920"/>
          </a:xfrm>
          <a:prstGeom prst="rect">
            <a:avLst/>
          </a:prstGeom>
          <a:solidFill>
            <a:srgbClr val="007a27"/>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034" name="Text 43"/>
          <p:cNvSpPr/>
          <p:nvPr/>
        </p:nvSpPr>
        <p:spPr>
          <a:xfrm>
            <a:off x="685800" y="3200400"/>
            <a:ext cx="282960" cy="100548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RISK INSIGHT</a:t>
            </a:r>
            <a:endParaRPr b="0" lang="en-US" sz="750" strike="noStrike" u="none">
              <a:solidFill>
                <a:srgbClr val="000000"/>
              </a:solidFill>
              <a:effectLst/>
              <a:uFillTx/>
              <a:latin typeface="Arial"/>
            </a:endParaRPr>
          </a:p>
        </p:txBody>
      </p:sp>
      <p:sp>
        <p:nvSpPr>
          <p:cNvPr id="4035" name="Shape 44"/>
          <p:cNvSpPr/>
          <p:nvPr/>
        </p:nvSpPr>
        <p:spPr>
          <a:xfrm>
            <a:off x="1033200" y="342900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036" name="Shape 45"/>
          <p:cNvSpPr/>
          <p:nvPr/>
        </p:nvSpPr>
        <p:spPr>
          <a:xfrm>
            <a:off x="1143000" y="318204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037" name="Text 46"/>
          <p:cNvSpPr/>
          <p:nvPr/>
        </p:nvSpPr>
        <p:spPr>
          <a:xfrm>
            <a:off x="1243440" y="314568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Physical hazard exposure</a:t>
            </a:r>
            <a:endParaRPr b="0" lang="en-US" sz="950" strike="noStrike" u="none">
              <a:solidFill>
                <a:srgbClr val="000000"/>
              </a:solidFill>
              <a:effectLst/>
              <a:uFillTx/>
              <a:latin typeface="Arial"/>
            </a:endParaRPr>
          </a:p>
        </p:txBody>
      </p:sp>
      <p:sp>
        <p:nvSpPr>
          <p:cNvPr id="4038" name="Shape 47"/>
          <p:cNvSpPr/>
          <p:nvPr/>
        </p:nvSpPr>
        <p:spPr>
          <a:xfrm>
            <a:off x="6499080" y="3245040"/>
            <a:ext cx="1013760" cy="92880"/>
          </a:xfrm>
          <a:prstGeom prst="roundRect">
            <a:avLst>
              <a:gd name="adj" fmla="val 39216"/>
            </a:avLst>
          </a:prstGeom>
          <a:solidFill>
            <a:srgbClr val="007a27"/>
          </a:solidFill>
          <a:ln w="12700">
            <a:solidFill>
              <a:srgbClr val="007a27"/>
            </a:solidFill>
            <a:round/>
          </a:ln>
        </p:spPr>
        <p:style>
          <a:lnRef idx="0"/>
          <a:fillRef idx="0"/>
          <a:effectRef idx="0"/>
          <a:fontRef idx="minor"/>
        </p:style>
        <p:txBody>
          <a:bodyPr lIns="90000" rIns="90000" tIns="27000" bIns="27000" anchor="t">
            <a:noAutofit/>
          </a:bodyPr>
          <a:p>
            <a:endParaRPr b="0" lang="en-US" sz="1800" strike="noStrike" u="none">
              <a:solidFill>
                <a:srgbClr val="ffffff"/>
              </a:solidFill>
              <a:effectLst/>
              <a:uFillTx/>
              <a:latin typeface="Arial"/>
            </a:endParaRPr>
          </a:p>
        </p:txBody>
      </p:sp>
      <p:sp>
        <p:nvSpPr>
          <p:cNvPr id="4039" name="Shape 48"/>
          <p:cNvSpPr/>
          <p:nvPr/>
        </p:nvSpPr>
        <p:spPr>
          <a:xfrm>
            <a:off x="1033200" y="37033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040" name="Shape 49"/>
          <p:cNvSpPr/>
          <p:nvPr/>
        </p:nvSpPr>
        <p:spPr>
          <a:xfrm>
            <a:off x="1143000" y="345636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041" name="Text 50"/>
          <p:cNvSpPr/>
          <p:nvPr/>
        </p:nvSpPr>
        <p:spPr>
          <a:xfrm>
            <a:off x="1243440" y="342000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Physical and transition scenarios</a:t>
            </a:r>
            <a:endParaRPr b="0" lang="en-US" sz="950" strike="noStrike" u="none">
              <a:solidFill>
                <a:srgbClr val="000000"/>
              </a:solidFill>
              <a:effectLst/>
              <a:uFillTx/>
              <a:latin typeface="Arial"/>
            </a:endParaRPr>
          </a:p>
        </p:txBody>
      </p:sp>
      <p:sp>
        <p:nvSpPr>
          <p:cNvPr id="4042" name="Shape 51"/>
          <p:cNvSpPr/>
          <p:nvPr/>
        </p:nvSpPr>
        <p:spPr>
          <a:xfrm>
            <a:off x="7513200" y="3519360"/>
            <a:ext cx="2027880" cy="92880"/>
          </a:xfrm>
          <a:prstGeom prst="roundRect">
            <a:avLst>
              <a:gd name="adj" fmla="val 39216"/>
            </a:avLst>
          </a:prstGeom>
          <a:solidFill>
            <a:srgbClr val="007a27"/>
          </a:solidFill>
          <a:ln w="12700">
            <a:solidFill>
              <a:srgbClr val="007a27"/>
            </a:solidFill>
            <a:round/>
          </a:ln>
        </p:spPr>
        <p:style>
          <a:lnRef idx="0"/>
          <a:fillRef idx="0"/>
          <a:effectRef idx="0"/>
          <a:fontRef idx="minor"/>
        </p:style>
        <p:txBody>
          <a:bodyPr lIns="90000" rIns="90000" tIns="27000" bIns="27000" anchor="t">
            <a:noAutofit/>
          </a:bodyPr>
          <a:p>
            <a:endParaRPr b="0" lang="en-US" sz="1800" strike="noStrike" u="none">
              <a:solidFill>
                <a:srgbClr val="ffffff"/>
              </a:solidFill>
              <a:effectLst/>
              <a:uFillTx/>
              <a:latin typeface="Arial"/>
            </a:endParaRPr>
          </a:p>
        </p:txBody>
      </p:sp>
      <p:sp>
        <p:nvSpPr>
          <p:cNvPr id="4043" name="Shape 52"/>
          <p:cNvSpPr/>
          <p:nvPr/>
        </p:nvSpPr>
        <p:spPr>
          <a:xfrm>
            <a:off x="1033200" y="397764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044" name="Shape 53"/>
          <p:cNvSpPr/>
          <p:nvPr/>
        </p:nvSpPr>
        <p:spPr>
          <a:xfrm>
            <a:off x="1143000" y="373068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045" name="Text 54"/>
          <p:cNvSpPr/>
          <p:nvPr/>
        </p:nvSpPr>
        <p:spPr>
          <a:xfrm>
            <a:off x="1243440" y="36943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ClimVar - Value at Risk</a:t>
            </a:r>
            <a:endParaRPr b="0" lang="en-US" sz="950" strike="noStrike" u="none">
              <a:solidFill>
                <a:srgbClr val="000000"/>
              </a:solidFill>
              <a:effectLst/>
              <a:uFillTx/>
              <a:latin typeface="Arial"/>
            </a:endParaRPr>
          </a:p>
        </p:txBody>
      </p:sp>
      <p:sp>
        <p:nvSpPr>
          <p:cNvPr id="4046" name="Shape 55"/>
          <p:cNvSpPr/>
          <p:nvPr/>
        </p:nvSpPr>
        <p:spPr>
          <a:xfrm>
            <a:off x="7513200" y="3793680"/>
            <a:ext cx="2027880" cy="92880"/>
          </a:xfrm>
          <a:prstGeom prst="roundRect">
            <a:avLst>
              <a:gd name="adj" fmla="val 39216"/>
            </a:avLst>
          </a:prstGeom>
          <a:solidFill>
            <a:srgbClr val="007a27"/>
          </a:solidFill>
          <a:ln w="12700">
            <a:solidFill>
              <a:srgbClr val="007a27"/>
            </a:solidFill>
            <a:round/>
          </a:ln>
        </p:spPr>
        <p:style>
          <a:lnRef idx="0"/>
          <a:fillRef idx="0"/>
          <a:effectRef idx="0"/>
          <a:fontRef idx="minor"/>
        </p:style>
        <p:txBody>
          <a:bodyPr lIns="90000" rIns="90000" tIns="27000" bIns="27000" anchor="t">
            <a:noAutofit/>
          </a:bodyPr>
          <a:p>
            <a:endParaRPr b="0" lang="en-US" sz="1800" strike="noStrike" u="none">
              <a:solidFill>
                <a:srgbClr val="ffffff"/>
              </a:solidFill>
              <a:effectLst/>
              <a:uFillTx/>
              <a:latin typeface="Arial"/>
            </a:endParaRPr>
          </a:p>
        </p:txBody>
      </p:sp>
      <p:sp>
        <p:nvSpPr>
          <p:cNvPr id="4047" name="Shape 56"/>
          <p:cNvSpPr/>
          <p:nvPr/>
        </p:nvSpPr>
        <p:spPr>
          <a:xfrm>
            <a:off x="1033200" y="425196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048" name="Shape 57"/>
          <p:cNvSpPr/>
          <p:nvPr/>
        </p:nvSpPr>
        <p:spPr>
          <a:xfrm>
            <a:off x="1143000" y="400500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049" name="Text 58"/>
          <p:cNvSpPr/>
          <p:nvPr/>
        </p:nvSpPr>
        <p:spPr>
          <a:xfrm>
            <a:off x="1243440" y="396864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Portfolio analytics and heatmaps</a:t>
            </a:r>
            <a:endParaRPr b="0" lang="en-US" sz="950" strike="noStrike" u="none">
              <a:solidFill>
                <a:srgbClr val="000000"/>
              </a:solidFill>
              <a:effectLst/>
              <a:uFillTx/>
              <a:latin typeface="Arial"/>
            </a:endParaRPr>
          </a:p>
        </p:txBody>
      </p:sp>
      <p:sp>
        <p:nvSpPr>
          <p:cNvPr id="4050" name="Shape 59"/>
          <p:cNvSpPr/>
          <p:nvPr/>
        </p:nvSpPr>
        <p:spPr>
          <a:xfrm>
            <a:off x="7513200" y="4068000"/>
            <a:ext cx="2027880" cy="92880"/>
          </a:xfrm>
          <a:prstGeom prst="roundRect">
            <a:avLst>
              <a:gd name="adj" fmla="val 39216"/>
            </a:avLst>
          </a:prstGeom>
          <a:solidFill>
            <a:srgbClr val="007a27"/>
          </a:solidFill>
          <a:ln w="12700">
            <a:solidFill>
              <a:srgbClr val="007a27"/>
            </a:solidFill>
            <a:round/>
          </a:ln>
        </p:spPr>
        <p:style>
          <a:lnRef idx="0"/>
          <a:fillRef idx="0"/>
          <a:effectRef idx="0"/>
          <a:fontRef idx="minor"/>
        </p:style>
        <p:txBody>
          <a:bodyPr lIns="90000" rIns="90000" tIns="27000" bIns="27000" anchor="t">
            <a:noAutofit/>
          </a:bodyPr>
          <a:p>
            <a:endParaRPr b="0" lang="en-US" sz="1800" strike="noStrike" u="none">
              <a:solidFill>
                <a:srgbClr val="ffffff"/>
              </a:solidFill>
              <a:effectLst/>
              <a:uFillTx/>
              <a:latin typeface="Arial"/>
            </a:endParaRPr>
          </a:p>
        </p:txBody>
      </p:sp>
      <p:sp>
        <p:nvSpPr>
          <p:cNvPr id="4051" name="Shape 60"/>
          <p:cNvSpPr/>
          <p:nvPr/>
        </p:nvSpPr>
        <p:spPr>
          <a:xfrm>
            <a:off x="621720" y="4251960"/>
            <a:ext cx="411120" cy="822600"/>
          </a:xfrm>
          <a:prstGeom prst="rect">
            <a:avLst/>
          </a:prstGeom>
          <a:solidFill>
            <a:srgbClr val="ffb04c"/>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052" name="Text 61"/>
          <p:cNvSpPr/>
          <p:nvPr/>
        </p:nvSpPr>
        <p:spPr>
          <a:xfrm>
            <a:off x="685800" y="4297680"/>
            <a:ext cx="282960" cy="73116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ADAPTATION</a:t>
            </a:r>
            <a:endParaRPr b="0" lang="en-US" sz="750" strike="noStrike" u="none">
              <a:solidFill>
                <a:srgbClr val="000000"/>
              </a:solidFill>
              <a:effectLst/>
              <a:uFillTx/>
              <a:latin typeface="Arial"/>
            </a:endParaRPr>
          </a:p>
        </p:txBody>
      </p:sp>
      <p:sp>
        <p:nvSpPr>
          <p:cNvPr id="4053" name="Shape 62"/>
          <p:cNvSpPr/>
          <p:nvPr/>
        </p:nvSpPr>
        <p:spPr>
          <a:xfrm>
            <a:off x="1033200" y="45262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054" name="Shape 63"/>
          <p:cNvSpPr/>
          <p:nvPr/>
        </p:nvSpPr>
        <p:spPr>
          <a:xfrm>
            <a:off x="1143000" y="427932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055" name="Text 64"/>
          <p:cNvSpPr/>
          <p:nvPr/>
        </p:nvSpPr>
        <p:spPr>
          <a:xfrm>
            <a:off x="1243440" y="42429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Adaptation planning primitives</a:t>
            </a:r>
            <a:endParaRPr b="0" lang="en-US" sz="950" strike="noStrike" u="none">
              <a:solidFill>
                <a:srgbClr val="000000"/>
              </a:solidFill>
              <a:effectLst/>
              <a:uFillTx/>
              <a:latin typeface="Arial"/>
            </a:endParaRPr>
          </a:p>
        </p:txBody>
      </p:sp>
      <p:sp>
        <p:nvSpPr>
          <p:cNvPr id="4056" name="Shape 65"/>
          <p:cNvSpPr/>
          <p:nvPr/>
        </p:nvSpPr>
        <p:spPr>
          <a:xfrm>
            <a:off x="6499080" y="4342320"/>
            <a:ext cx="1013760" cy="92880"/>
          </a:xfrm>
          <a:prstGeom prst="roundRect">
            <a:avLst>
              <a:gd name="adj" fmla="val 39216"/>
            </a:avLst>
          </a:prstGeom>
          <a:solidFill>
            <a:srgbClr val="ffb04c"/>
          </a:solidFill>
          <a:ln w="12700">
            <a:solidFill>
              <a:srgbClr val="ffb04c"/>
            </a:solidFill>
            <a:round/>
          </a:ln>
        </p:spPr>
        <p:style>
          <a:lnRef idx="0"/>
          <a:fillRef idx="0"/>
          <a:effectRef idx="0"/>
          <a:fontRef idx="minor"/>
        </p:style>
        <p:txBody>
          <a:bodyPr lIns="90000" rIns="90000" tIns="27000" bIns="27000" anchor="t">
            <a:noAutofit/>
          </a:bodyPr>
          <a:p>
            <a:endParaRPr b="0" lang="en-US" sz="1800" strike="noStrike" u="none">
              <a:solidFill>
                <a:srgbClr val="000000"/>
              </a:solidFill>
              <a:effectLst/>
              <a:uFillTx/>
              <a:latin typeface="Arial"/>
            </a:endParaRPr>
          </a:p>
        </p:txBody>
      </p:sp>
      <p:sp>
        <p:nvSpPr>
          <p:cNvPr id="4057" name="Shape 66"/>
          <p:cNvSpPr/>
          <p:nvPr/>
        </p:nvSpPr>
        <p:spPr>
          <a:xfrm>
            <a:off x="1033200" y="480060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058" name="Shape 67"/>
          <p:cNvSpPr/>
          <p:nvPr/>
        </p:nvSpPr>
        <p:spPr>
          <a:xfrm>
            <a:off x="1143000" y="455364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059" name="Text 68"/>
          <p:cNvSpPr/>
          <p:nvPr/>
        </p:nvSpPr>
        <p:spPr>
          <a:xfrm>
            <a:off x="1243440" y="451728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Actions tracked with monthly actuals</a:t>
            </a:r>
            <a:endParaRPr b="0" lang="en-US" sz="950" strike="noStrike" u="none">
              <a:solidFill>
                <a:srgbClr val="000000"/>
              </a:solidFill>
              <a:effectLst/>
              <a:uFillTx/>
              <a:latin typeface="Arial"/>
            </a:endParaRPr>
          </a:p>
        </p:txBody>
      </p:sp>
      <p:sp>
        <p:nvSpPr>
          <p:cNvPr id="4060" name="Shape 69"/>
          <p:cNvSpPr/>
          <p:nvPr/>
        </p:nvSpPr>
        <p:spPr>
          <a:xfrm>
            <a:off x="7513200" y="4616640"/>
            <a:ext cx="2027880" cy="92880"/>
          </a:xfrm>
          <a:prstGeom prst="roundRect">
            <a:avLst>
              <a:gd name="adj" fmla="val 39216"/>
            </a:avLst>
          </a:prstGeom>
          <a:solidFill>
            <a:srgbClr val="ffb04c"/>
          </a:solidFill>
          <a:ln w="12700">
            <a:solidFill>
              <a:srgbClr val="ffb04c"/>
            </a:solidFill>
            <a:round/>
          </a:ln>
        </p:spPr>
        <p:style>
          <a:lnRef idx="0"/>
          <a:fillRef idx="0"/>
          <a:effectRef idx="0"/>
          <a:fontRef idx="minor"/>
        </p:style>
        <p:txBody>
          <a:bodyPr lIns="90000" rIns="90000" tIns="27000" bIns="27000" anchor="t">
            <a:noAutofit/>
          </a:bodyPr>
          <a:p>
            <a:endParaRPr b="0" lang="en-US" sz="1800" strike="noStrike" u="none">
              <a:solidFill>
                <a:srgbClr val="000000"/>
              </a:solidFill>
              <a:effectLst/>
              <a:uFillTx/>
              <a:latin typeface="Arial"/>
            </a:endParaRPr>
          </a:p>
        </p:txBody>
      </p:sp>
      <p:sp>
        <p:nvSpPr>
          <p:cNvPr id="4061" name="Shape 70"/>
          <p:cNvSpPr/>
          <p:nvPr/>
        </p:nvSpPr>
        <p:spPr>
          <a:xfrm>
            <a:off x="1033200" y="50749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062" name="Shape 71"/>
          <p:cNvSpPr/>
          <p:nvPr/>
        </p:nvSpPr>
        <p:spPr>
          <a:xfrm>
            <a:off x="1143000" y="482796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063" name="Text 72"/>
          <p:cNvSpPr/>
          <p:nvPr/>
        </p:nvSpPr>
        <p:spPr>
          <a:xfrm>
            <a:off x="1243440" y="479160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Transition plans linked to targets</a:t>
            </a:r>
            <a:endParaRPr b="0" lang="en-US" sz="950" strike="noStrike" u="none">
              <a:solidFill>
                <a:srgbClr val="000000"/>
              </a:solidFill>
              <a:effectLst/>
              <a:uFillTx/>
              <a:latin typeface="Arial"/>
            </a:endParaRPr>
          </a:p>
        </p:txBody>
      </p:sp>
      <p:sp>
        <p:nvSpPr>
          <p:cNvPr id="4064" name="Shape 73"/>
          <p:cNvSpPr/>
          <p:nvPr/>
        </p:nvSpPr>
        <p:spPr>
          <a:xfrm>
            <a:off x="9541440" y="4890960"/>
            <a:ext cx="2027880" cy="92880"/>
          </a:xfrm>
          <a:prstGeom prst="roundRect">
            <a:avLst>
              <a:gd name="adj" fmla="val 39216"/>
            </a:avLst>
          </a:prstGeom>
          <a:solidFill>
            <a:srgbClr val="ffb04c"/>
          </a:solidFill>
          <a:ln w="12700">
            <a:solidFill>
              <a:srgbClr val="ffb04c"/>
            </a:solidFill>
            <a:round/>
          </a:ln>
        </p:spPr>
        <p:style>
          <a:lnRef idx="0"/>
          <a:fillRef idx="0"/>
          <a:effectRef idx="0"/>
          <a:fontRef idx="minor"/>
        </p:style>
        <p:txBody>
          <a:bodyPr lIns="90000" rIns="90000" tIns="27000" bIns="27000" anchor="t">
            <a:noAutofit/>
          </a:bodyPr>
          <a:p>
            <a:endParaRPr b="0" lang="en-US" sz="1800" strike="noStrike" u="none">
              <a:solidFill>
                <a:srgbClr val="000000"/>
              </a:solidFill>
              <a:effectLst/>
              <a:uFillTx/>
              <a:latin typeface="Arial"/>
            </a:endParaRPr>
          </a:p>
        </p:txBody>
      </p:sp>
      <p:sp>
        <p:nvSpPr>
          <p:cNvPr id="4065" name="Shape 74"/>
          <p:cNvSpPr/>
          <p:nvPr/>
        </p:nvSpPr>
        <p:spPr>
          <a:xfrm>
            <a:off x="621720" y="5074920"/>
            <a:ext cx="411120" cy="822600"/>
          </a:xfrm>
          <a:prstGeom prst="rect">
            <a:avLst/>
          </a:prstGeom>
          <a:solidFill>
            <a:srgbClr val="275b7f"/>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066" name="Text 75"/>
          <p:cNvSpPr/>
          <p:nvPr/>
        </p:nvSpPr>
        <p:spPr>
          <a:xfrm>
            <a:off x="685800" y="5120640"/>
            <a:ext cx="282960" cy="73116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INTEGRATION</a:t>
            </a:r>
            <a:endParaRPr b="0" lang="en-US" sz="750" strike="noStrike" u="none">
              <a:solidFill>
                <a:srgbClr val="000000"/>
              </a:solidFill>
              <a:effectLst/>
              <a:uFillTx/>
              <a:latin typeface="Arial"/>
            </a:endParaRPr>
          </a:p>
        </p:txBody>
      </p:sp>
      <p:sp>
        <p:nvSpPr>
          <p:cNvPr id="4067" name="Shape 76"/>
          <p:cNvSpPr/>
          <p:nvPr/>
        </p:nvSpPr>
        <p:spPr>
          <a:xfrm>
            <a:off x="1033200" y="534924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068" name="Shape 77"/>
          <p:cNvSpPr/>
          <p:nvPr/>
        </p:nvSpPr>
        <p:spPr>
          <a:xfrm>
            <a:off x="1143000" y="5102280"/>
            <a:ext cx="45360" cy="219240"/>
          </a:xfrm>
          <a:prstGeom prst="roundRect">
            <a:avLst>
              <a:gd name="adj" fmla="val 60000"/>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069" name="Text 78"/>
          <p:cNvSpPr/>
          <p:nvPr/>
        </p:nvSpPr>
        <p:spPr>
          <a:xfrm>
            <a:off x="1243440" y="50659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Risk data into disclosures</a:t>
            </a:r>
            <a:endParaRPr b="0" lang="en-US" sz="950" strike="noStrike" u="none">
              <a:solidFill>
                <a:srgbClr val="000000"/>
              </a:solidFill>
              <a:effectLst/>
              <a:uFillTx/>
              <a:latin typeface="Arial"/>
            </a:endParaRPr>
          </a:p>
        </p:txBody>
      </p:sp>
      <p:sp>
        <p:nvSpPr>
          <p:cNvPr id="4070" name="Shape 79"/>
          <p:cNvSpPr/>
          <p:nvPr/>
        </p:nvSpPr>
        <p:spPr>
          <a:xfrm>
            <a:off x="9541440" y="5165280"/>
            <a:ext cx="2027880" cy="92880"/>
          </a:xfrm>
          <a:prstGeom prst="roundRect">
            <a:avLst>
              <a:gd name="adj" fmla="val 39216"/>
            </a:avLst>
          </a:prstGeom>
          <a:solidFill>
            <a:srgbClr val="275b7f"/>
          </a:solidFill>
          <a:ln w="12700">
            <a:solidFill>
              <a:srgbClr val="275b7f"/>
            </a:solidFill>
            <a:round/>
          </a:ln>
        </p:spPr>
        <p:style>
          <a:lnRef idx="0"/>
          <a:fillRef idx="0"/>
          <a:effectRef idx="0"/>
          <a:fontRef idx="minor"/>
        </p:style>
        <p:txBody>
          <a:bodyPr lIns="90000" rIns="90000" tIns="27000" bIns="27000" anchor="t">
            <a:noAutofit/>
          </a:bodyPr>
          <a:p>
            <a:endParaRPr b="0" lang="en-US" sz="1800" strike="noStrike" u="none">
              <a:solidFill>
                <a:srgbClr val="ffffff"/>
              </a:solidFill>
              <a:effectLst/>
              <a:uFillTx/>
              <a:latin typeface="Arial"/>
            </a:endParaRPr>
          </a:p>
        </p:txBody>
      </p:sp>
      <p:sp>
        <p:nvSpPr>
          <p:cNvPr id="4071" name="Shape 80"/>
          <p:cNvSpPr/>
          <p:nvPr/>
        </p:nvSpPr>
        <p:spPr>
          <a:xfrm>
            <a:off x="1033200" y="562356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072" name="Shape 81"/>
          <p:cNvSpPr/>
          <p:nvPr/>
        </p:nvSpPr>
        <p:spPr>
          <a:xfrm>
            <a:off x="1143000" y="5376600"/>
            <a:ext cx="45360" cy="219240"/>
          </a:xfrm>
          <a:prstGeom prst="roundRect">
            <a:avLst>
              <a:gd name="adj" fmla="val 60000"/>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073" name="Text 82"/>
          <p:cNvSpPr/>
          <p:nvPr/>
        </p:nvSpPr>
        <p:spPr>
          <a:xfrm>
            <a:off x="1243440" y="534024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Supply chain risk integration</a:t>
            </a:r>
            <a:endParaRPr b="0" lang="en-US" sz="950" strike="noStrike" u="none">
              <a:solidFill>
                <a:srgbClr val="000000"/>
              </a:solidFill>
              <a:effectLst/>
              <a:uFillTx/>
              <a:latin typeface="Arial"/>
            </a:endParaRPr>
          </a:p>
        </p:txBody>
      </p:sp>
      <p:sp>
        <p:nvSpPr>
          <p:cNvPr id="4074" name="Shape 83"/>
          <p:cNvSpPr/>
          <p:nvPr/>
        </p:nvSpPr>
        <p:spPr>
          <a:xfrm>
            <a:off x="9541440" y="5439600"/>
            <a:ext cx="2027880" cy="92880"/>
          </a:xfrm>
          <a:prstGeom prst="roundRect">
            <a:avLst>
              <a:gd name="adj" fmla="val 39216"/>
            </a:avLst>
          </a:prstGeom>
          <a:solidFill>
            <a:srgbClr val="275b7f"/>
          </a:solidFill>
          <a:ln w="12700">
            <a:solidFill>
              <a:srgbClr val="275b7f"/>
            </a:solidFill>
            <a:round/>
          </a:ln>
        </p:spPr>
        <p:style>
          <a:lnRef idx="0"/>
          <a:fillRef idx="0"/>
          <a:effectRef idx="0"/>
          <a:fontRef idx="minor"/>
        </p:style>
        <p:txBody>
          <a:bodyPr lIns="90000" rIns="90000" tIns="27000" bIns="27000" anchor="t">
            <a:noAutofit/>
          </a:bodyPr>
          <a:p>
            <a:endParaRPr b="0" lang="en-US" sz="1800" strike="noStrike" u="none">
              <a:solidFill>
                <a:srgbClr val="ffffff"/>
              </a:solidFill>
              <a:effectLst/>
              <a:uFillTx/>
              <a:latin typeface="Arial"/>
            </a:endParaRPr>
          </a:p>
        </p:txBody>
      </p:sp>
      <p:sp>
        <p:nvSpPr>
          <p:cNvPr id="4075" name="Shape 84"/>
          <p:cNvSpPr/>
          <p:nvPr/>
        </p:nvSpPr>
        <p:spPr>
          <a:xfrm>
            <a:off x="1033200" y="58978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076" name="Shape 85"/>
          <p:cNvSpPr/>
          <p:nvPr/>
        </p:nvSpPr>
        <p:spPr>
          <a:xfrm>
            <a:off x="1143000" y="5650920"/>
            <a:ext cx="45360" cy="219240"/>
          </a:xfrm>
          <a:prstGeom prst="roundRect">
            <a:avLst>
              <a:gd name="adj" fmla="val 60000"/>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077" name="Text 86"/>
          <p:cNvSpPr/>
          <p:nvPr/>
        </p:nvSpPr>
        <p:spPr>
          <a:xfrm>
            <a:off x="1243440" y="56145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Value at risk across the value chain</a:t>
            </a:r>
            <a:endParaRPr b="0" lang="en-US" sz="950" strike="noStrike" u="none">
              <a:solidFill>
                <a:srgbClr val="000000"/>
              </a:solidFill>
              <a:effectLst/>
              <a:uFillTx/>
              <a:latin typeface="Arial"/>
            </a:endParaRPr>
          </a:p>
        </p:txBody>
      </p:sp>
      <p:sp>
        <p:nvSpPr>
          <p:cNvPr id="4078" name="Shape 87"/>
          <p:cNvSpPr/>
          <p:nvPr/>
        </p:nvSpPr>
        <p:spPr>
          <a:xfrm>
            <a:off x="9541440" y="5713920"/>
            <a:ext cx="2027880" cy="92880"/>
          </a:xfrm>
          <a:prstGeom prst="roundRect">
            <a:avLst>
              <a:gd name="adj" fmla="val 39216"/>
            </a:avLst>
          </a:prstGeom>
          <a:solidFill>
            <a:srgbClr val="275b7f"/>
          </a:solidFill>
          <a:ln w="12700">
            <a:solidFill>
              <a:srgbClr val="275b7f"/>
            </a:solidFill>
            <a:round/>
          </a:ln>
        </p:spPr>
        <p:style>
          <a:lnRef idx="0"/>
          <a:fillRef idx="0"/>
          <a:effectRef idx="0"/>
          <a:fontRef idx="minor"/>
        </p:style>
        <p:txBody>
          <a:bodyPr lIns="90000" rIns="90000" tIns="27000" bIns="27000" anchor="t">
            <a:noAutofit/>
          </a:bodyPr>
          <a:p>
            <a:endParaRPr b="0" lang="en-US" sz="1800" strike="noStrike" u="none">
              <a:solidFill>
                <a:srgbClr val="ffffff"/>
              </a:solidFill>
              <a:effectLst/>
              <a:uFillTx/>
              <a:latin typeface="Arial"/>
            </a:endParaRPr>
          </a:p>
        </p:txBody>
      </p:sp>
      <p:sp>
        <p:nvSpPr>
          <p:cNvPr id="4079" name="Shape 88"/>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080" name="Text 89"/>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4081" name="Text 90"/>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4082" name="PlaceHolder 1"/>
          <p:cNvSpPr>
            <a:spLocks noGrp="1"/>
          </p:cNvSpPr>
          <p:nvPr>
            <p:ph type="sldNum" idx="87"/>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28FA24A1-E0D7-4350-8484-C4E176AB41D1}"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9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083"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4084"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4085" name="Shape 2"/>
          <p:cNvSpPr/>
          <p:nvPr/>
        </p:nvSpPr>
        <p:spPr>
          <a:xfrm>
            <a:off x="621720" y="311040"/>
            <a:ext cx="176436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086" name="Text 3"/>
          <p:cNvSpPr/>
          <p:nvPr/>
        </p:nvSpPr>
        <p:spPr>
          <a:xfrm>
            <a:off x="804600" y="329040"/>
            <a:ext cx="143532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CLIMATE RISK</a:t>
            </a:r>
            <a:endParaRPr b="0" lang="en-US" sz="950" strike="noStrike" u="none">
              <a:solidFill>
                <a:srgbClr val="000000"/>
              </a:solidFill>
              <a:effectLst/>
              <a:uFillTx/>
              <a:latin typeface="Arial"/>
            </a:endParaRPr>
          </a:p>
        </p:txBody>
      </p:sp>
      <p:sp>
        <p:nvSpPr>
          <p:cNvPr id="4087"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What ships inside the climate risk goals</a:t>
            </a:r>
            <a:endParaRPr b="0" lang="en-US" sz="3200" strike="noStrike" u="none">
              <a:solidFill>
                <a:srgbClr val="000000"/>
              </a:solidFill>
              <a:effectLst/>
              <a:uFillTx/>
              <a:latin typeface="Arial"/>
            </a:endParaRPr>
          </a:p>
        </p:txBody>
      </p:sp>
      <p:sp>
        <p:nvSpPr>
          <p:cNvPr id="4088"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A shared asset model first, then exposure, then decision grade analysis.</a:t>
            </a:r>
            <a:endParaRPr b="0" lang="en-US" sz="1250" strike="noStrike" u="none">
              <a:solidFill>
                <a:srgbClr val="000000"/>
              </a:solidFill>
              <a:effectLst/>
              <a:uFillTx/>
              <a:latin typeface="Arial"/>
            </a:endParaRPr>
          </a:p>
        </p:txBody>
      </p:sp>
      <p:sp>
        <p:nvSpPr>
          <p:cNvPr id="4089"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090" name="Shape 7"/>
          <p:cNvSpPr/>
          <p:nvPr/>
        </p:nvSpPr>
        <p:spPr>
          <a:xfrm>
            <a:off x="6217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091"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4092"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GOAL 1</a:t>
            </a:r>
            <a:endParaRPr b="0" lang="en-US" sz="900" strike="noStrike" u="none">
              <a:solidFill>
                <a:srgbClr val="000000"/>
              </a:solidFill>
              <a:effectLst/>
              <a:uFillTx/>
              <a:latin typeface="Arial"/>
            </a:endParaRPr>
          </a:p>
        </p:txBody>
      </p:sp>
      <p:sp>
        <p:nvSpPr>
          <p:cNvPr id="4093"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Asset foundation</a:t>
            </a:r>
            <a:endParaRPr b="0" lang="en-US" sz="1600" strike="noStrike" u="none">
              <a:solidFill>
                <a:srgbClr val="000000"/>
              </a:solidFill>
              <a:effectLst/>
              <a:uFillTx/>
              <a:latin typeface="Arial"/>
            </a:endParaRPr>
          </a:p>
        </p:txBody>
      </p:sp>
      <p:sp>
        <p:nvSpPr>
          <p:cNvPr id="4094" name="Text 11"/>
          <p:cNvSpPr/>
          <p:nvPr/>
        </p:nvSpPr>
        <p:spPr>
          <a:xfrm>
            <a:off x="80460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Shared model before analytics.</a:t>
            </a:r>
            <a:endParaRPr b="0" lang="en-US" sz="1100" strike="noStrike" u="none">
              <a:solidFill>
                <a:srgbClr val="000000"/>
              </a:solidFill>
              <a:effectLst/>
              <a:uFillTx/>
              <a:latin typeface="Arial"/>
            </a:endParaRPr>
          </a:p>
        </p:txBody>
      </p:sp>
      <p:sp>
        <p:nvSpPr>
          <p:cNvPr id="4095" name="Text 12"/>
          <p:cNvSpPr/>
          <p:nvPr/>
        </p:nvSpPr>
        <p:spPr>
          <a:xfrm>
            <a:off x="82296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Asset and site register on the shared hierarchy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Eclr platform stabilisation and self serve onboarding</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Scalable performance at portfolio data volumes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Role based access aligned to the entity hierarchy</a:t>
            </a:r>
            <a:endParaRPr b="0" lang="en-US" sz="1100" strike="noStrike" u="none">
              <a:solidFill>
                <a:srgbClr val="000000"/>
              </a:solidFill>
              <a:effectLst/>
              <a:uFillTx/>
              <a:latin typeface="Arial"/>
            </a:endParaRPr>
          </a:p>
        </p:txBody>
      </p:sp>
      <p:sp>
        <p:nvSpPr>
          <p:cNvPr id="4096" name="Shape 13"/>
          <p:cNvSpPr/>
          <p:nvPr/>
        </p:nvSpPr>
        <p:spPr>
          <a:xfrm>
            <a:off x="342756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097" name="Shape 14"/>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4098" name="Text 15"/>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GOAL 2</a:t>
            </a:r>
            <a:endParaRPr b="0" lang="en-US" sz="900" strike="noStrike" u="none">
              <a:solidFill>
                <a:srgbClr val="000000"/>
              </a:solidFill>
              <a:effectLst/>
              <a:uFillTx/>
              <a:latin typeface="Arial"/>
            </a:endParaRPr>
          </a:p>
        </p:txBody>
      </p:sp>
      <p:sp>
        <p:nvSpPr>
          <p:cNvPr id="4099" name="Text 16"/>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Exposure</a:t>
            </a:r>
            <a:endParaRPr b="0" lang="en-US" sz="1600" strike="noStrike" u="none">
              <a:solidFill>
                <a:srgbClr val="000000"/>
              </a:solidFill>
              <a:effectLst/>
              <a:uFillTx/>
              <a:latin typeface="Arial"/>
            </a:endParaRPr>
          </a:p>
        </p:txBody>
      </p:sp>
      <p:sp>
        <p:nvSpPr>
          <p:cNvPr id="4100" name="Text 17"/>
          <p:cNvSpPr/>
          <p:nvPr/>
        </p:nvSpPr>
        <p:spPr>
          <a:xfrm>
            <a:off x="361044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First defensible risk output.</a:t>
            </a:r>
            <a:endParaRPr b="0" lang="en-US" sz="1100" strike="noStrike" u="none">
              <a:solidFill>
                <a:srgbClr val="000000"/>
              </a:solidFill>
              <a:effectLst/>
              <a:uFillTx/>
              <a:latin typeface="Arial"/>
            </a:endParaRPr>
          </a:p>
        </p:txBody>
      </p:sp>
      <p:sp>
        <p:nvSpPr>
          <p:cNvPr id="4101" name="Text 18"/>
          <p:cNvSpPr/>
          <p:nvPr/>
        </p:nvSpPr>
        <p:spPr>
          <a:xfrm>
            <a:off x="362844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Physical hazard exposure on owned assets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Resilience impact types in the shared taxonomy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Portfolio heatmaps and hotspot ranking</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Hazard data provenance and methodology transparency</a:t>
            </a:r>
            <a:endParaRPr b="0" lang="en-US" sz="1100" strike="noStrike" u="none">
              <a:solidFill>
                <a:srgbClr val="000000"/>
              </a:solidFill>
              <a:effectLst/>
              <a:uFillTx/>
              <a:latin typeface="Arial"/>
            </a:endParaRPr>
          </a:p>
        </p:txBody>
      </p:sp>
      <p:sp>
        <p:nvSpPr>
          <p:cNvPr id="4102" name="Shape 19"/>
          <p:cNvSpPr/>
          <p:nvPr/>
        </p:nvSpPr>
        <p:spPr>
          <a:xfrm>
            <a:off x="623304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103" name="Shape 20"/>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4104" name="Text 21"/>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GOAL 3</a:t>
            </a:r>
            <a:endParaRPr b="0" lang="en-US" sz="900" strike="noStrike" u="none">
              <a:solidFill>
                <a:srgbClr val="000000"/>
              </a:solidFill>
              <a:effectLst/>
              <a:uFillTx/>
              <a:latin typeface="Arial"/>
            </a:endParaRPr>
          </a:p>
        </p:txBody>
      </p:sp>
      <p:sp>
        <p:nvSpPr>
          <p:cNvPr id="4105" name="Text 22"/>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400" strike="noStrike" u="none">
                <a:solidFill>
                  <a:srgbClr val="1e2420"/>
                </a:solidFill>
                <a:effectLst/>
                <a:uFillTx/>
                <a:latin typeface="Calibri"/>
                <a:ea typeface="Calibri"/>
              </a:rPr>
              <a:t>Scenarios and value at risk</a:t>
            </a:r>
            <a:endParaRPr b="0" lang="en-US" sz="1400" strike="noStrike" u="none">
              <a:solidFill>
                <a:srgbClr val="000000"/>
              </a:solidFill>
              <a:effectLst/>
              <a:uFillTx/>
              <a:latin typeface="Arial"/>
            </a:endParaRPr>
          </a:p>
        </p:txBody>
      </p:sp>
      <p:sp>
        <p:nvSpPr>
          <p:cNvPr id="4106" name="Text 23"/>
          <p:cNvSpPr/>
          <p:nvPr/>
        </p:nvSpPr>
        <p:spPr>
          <a:xfrm>
            <a:off x="641592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Decision grade analysis.</a:t>
            </a:r>
            <a:endParaRPr b="0" lang="en-US" sz="1100" strike="noStrike" u="none">
              <a:solidFill>
                <a:srgbClr val="000000"/>
              </a:solidFill>
              <a:effectLst/>
              <a:uFillTx/>
              <a:latin typeface="Arial"/>
            </a:endParaRPr>
          </a:p>
        </p:txBody>
      </p:sp>
      <p:sp>
        <p:nvSpPr>
          <p:cNvPr id="4107" name="Text 24"/>
          <p:cNvSpPr/>
          <p:nvPr/>
        </p:nvSpPr>
        <p:spPr>
          <a:xfrm>
            <a:off x="643428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Physical and transition scenario analysis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ClimVar - Value at Risk expressed in financial terms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Time horizon comparison across scenarios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Transition exposure read from the CP inventory</a:t>
            </a:r>
            <a:endParaRPr b="0" lang="en-US" sz="1100" strike="noStrike" u="none">
              <a:solidFill>
                <a:srgbClr val="000000"/>
              </a:solidFill>
              <a:effectLst/>
              <a:uFillTx/>
              <a:latin typeface="Arial"/>
            </a:endParaRPr>
          </a:p>
        </p:txBody>
      </p:sp>
      <p:sp>
        <p:nvSpPr>
          <p:cNvPr id="4108" name="Shape 25"/>
          <p:cNvSpPr/>
          <p:nvPr/>
        </p:nvSpPr>
        <p:spPr>
          <a:xfrm>
            <a:off x="90385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109" name="Shape 26"/>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4110" name="Text 27"/>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GOAL 4</a:t>
            </a:r>
            <a:endParaRPr b="0" lang="en-US" sz="900" strike="noStrike" u="none">
              <a:solidFill>
                <a:srgbClr val="000000"/>
              </a:solidFill>
              <a:effectLst/>
              <a:uFillTx/>
              <a:latin typeface="Arial"/>
            </a:endParaRPr>
          </a:p>
        </p:txBody>
      </p:sp>
      <p:sp>
        <p:nvSpPr>
          <p:cNvPr id="4111" name="Text 28"/>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Adaptation</a:t>
            </a:r>
            <a:endParaRPr b="0" lang="en-US" sz="1600" strike="noStrike" u="none">
              <a:solidFill>
                <a:srgbClr val="000000"/>
              </a:solidFill>
              <a:effectLst/>
              <a:uFillTx/>
              <a:latin typeface="Arial"/>
            </a:endParaRPr>
          </a:p>
        </p:txBody>
      </p:sp>
      <p:sp>
        <p:nvSpPr>
          <p:cNvPr id="4112" name="Text 29"/>
          <p:cNvSpPr/>
          <p:nvPr/>
        </p:nvSpPr>
        <p:spPr>
          <a:xfrm>
            <a:off x="922140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From risk to response.</a:t>
            </a:r>
            <a:endParaRPr b="0" lang="en-US" sz="1100" strike="noStrike" u="none">
              <a:solidFill>
                <a:srgbClr val="000000"/>
              </a:solidFill>
              <a:effectLst/>
              <a:uFillTx/>
              <a:latin typeface="Arial"/>
            </a:endParaRPr>
          </a:p>
        </p:txBody>
      </p:sp>
      <p:sp>
        <p:nvSpPr>
          <p:cNvPr id="4113" name="Text 30"/>
          <p:cNvSpPr/>
          <p:nvPr/>
        </p:nvSpPr>
        <p:spPr>
          <a:xfrm>
            <a:off x="923976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Adaptation actions on the shared Strategy action model</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Monthly plan versus actuals on adaptation measures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Transition plan modelling linked to targets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Supply chain and climate risk integration</a:t>
            </a:r>
            <a:endParaRPr b="0" lang="en-US" sz="1100" strike="noStrike" u="none">
              <a:solidFill>
                <a:srgbClr val="000000"/>
              </a:solidFill>
              <a:effectLst/>
              <a:uFillTx/>
              <a:latin typeface="Arial"/>
            </a:endParaRPr>
          </a:p>
        </p:txBody>
      </p:sp>
      <p:sp>
        <p:nvSpPr>
          <p:cNvPr id="4114" name="Shape 31"/>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115" name="Text 32"/>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4116" name="Text 33"/>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4117" name="PlaceHolder 1"/>
          <p:cNvSpPr>
            <a:spLocks noGrp="1"/>
          </p:cNvSpPr>
          <p:nvPr>
            <p:ph type="sldNum" idx="88"/>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DE052446-6BF6-4010-A792-511B98DEBC8F}"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9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18"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4119"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4120" name="Shape 2"/>
          <p:cNvSpPr/>
          <p:nvPr/>
        </p:nvSpPr>
        <p:spPr>
          <a:xfrm>
            <a:off x="621720" y="311040"/>
            <a:ext cx="176436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121" name="Text 3"/>
          <p:cNvSpPr/>
          <p:nvPr/>
        </p:nvSpPr>
        <p:spPr>
          <a:xfrm>
            <a:off x="804600" y="329040"/>
            <a:ext cx="143532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CLIMATE RISK</a:t>
            </a:r>
            <a:endParaRPr b="0" lang="en-US" sz="950" strike="noStrike" u="none">
              <a:solidFill>
                <a:srgbClr val="000000"/>
              </a:solidFill>
              <a:effectLst/>
              <a:uFillTx/>
              <a:latin typeface="Arial"/>
            </a:endParaRPr>
          </a:p>
        </p:txBody>
      </p:sp>
      <p:sp>
        <p:nvSpPr>
          <p:cNvPr id="4122"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Climate Risk only pays off when it is connected</a:t>
            </a:r>
            <a:endParaRPr b="0" lang="en-US" sz="3200" strike="noStrike" u="none">
              <a:solidFill>
                <a:srgbClr val="000000"/>
              </a:solidFill>
              <a:effectLst/>
              <a:uFillTx/>
              <a:latin typeface="Arial"/>
            </a:endParaRPr>
          </a:p>
        </p:txBody>
      </p:sp>
      <p:sp>
        <p:nvSpPr>
          <p:cNvPr id="4123"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The forward view is worth little until it reaches disclosures, planning and the supply base.</a:t>
            </a:r>
            <a:endParaRPr b="0" lang="en-US" sz="1250" strike="noStrike" u="none">
              <a:solidFill>
                <a:srgbClr val="000000"/>
              </a:solidFill>
              <a:effectLst/>
              <a:uFillTx/>
              <a:latin typeface="Arial"/>
            </a:endParaRPr>
          </a:p>
        </p:txBody>
      </p:sp>
      <p:sp>
        <p:nvSpPr>
          <p:cNvPr id="4124"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125" name="Shape 7"/>
          <p:cNvSpPr/>
          <p:nvPr/>
        </p:nvSpPr>
        <p:spPr>
          <a:xfrm>
            <a:off x="6217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126"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4127"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PLATFORM</a:t>
            </a:r>
            <a:endParaRPr b="0" lang="en-US" sz="900" strike="noStrike" u="none">
              <a:solidFill>
                <a:srgbClr val="000000"/>
              </a:solidFill>
              <a:effectLst/>
              <a:uFillTx/>
              <a:latin typeface="Arial"/>
            </a:endParaRPr>
          </a:p>
        </p:txBody>
      </p:sp>
      <p:sp>
        <p:nvSpPr>
          <p:cNvPr id="4128"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Hierarchy and assets</a:t>
            </a:r>
            <a:endParaRPr b="0" lang="en-US" sz="1600" strike="noStrike" u="none">
              <a:solidFill>
                <a:srgbClr val="000000"/>
              </a:solidFill>
              <a:effectLst/>
              <a:uFillTx/>
              <a:latin typeface="Arial"/>
            </a:endParaRPr>
          </a:p>
        </p:txBody>
      </p:sp>
      <p:sp>
        <p:nvSpPr>
          <p:cNvPr id="4129" name="Text 11"/>
          <p:cNvSpPr/>
          <p:nvPr/>
        </p:nvSpPr>
        <p:spPr>
          <a:xfrm>
            <a:off x="80460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Inherited, not rebuilt.</a:t>
            </a:r>
            <a:endParaRPr b="0" lang="en-US" sz="1100" strike="noStrike" u="none">
              <a:solidFill>
                <a:srgbClr val="000000"/>
              </a:solidFill>
              <a:effectLst/>
              <a:uFillTx/>
              <a:latin typeface="Arial"/>
            </a:endParaRPr>
          </a:p>
        </p:txBody>
      </p:sp>
      <p:sp>
        <p:nvSpPr>
          <p:cNvPr id="4130" name="Text 12"/>
          <p:cNvSpPr/>
          <p:nvPr/>
        </p:nvSpPr>
        <p:spPr>
          <a:xfrm>
            <a:off x="82296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Shared entity and asset hierarchy from core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Bulk import of asset and site data at scale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Reusable analytics and query infrastructure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Performance at enterprise portfolio volumes</a:t>
            </a:r>
            <a:endParaRPr b="0" lang="en-US" sz="1100" strike="noStrike" u="none">
              <a:solidFill>
                <a:srgbClr val="000000"/>
              </a:solidFill>
              <a:effectLst/>
              <a:uFillTx/>
              <a:latin typeface="Arial"/>
            </a:endParaRPr>
          </a:p>
        </p:txBody>
      </p:sp>
      <p:sp>
        <p:nvSpPr>
          <p:cNvPr id="4131" name="Shape 13"/>
          <p:cNvSpPr/>
          <p:nvPr/>
        </p:nvSpPr>
        <p:spPr>
          <a:xfrm>
            <a:off x="342756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132" name="Shape 14"/>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4133" name="Text 15"/>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STRATEGY</a:t>
            </a:r>
            <a:endParaRPr b="0" lang="en-US" sz="900" strike="noStrike" u="none">
              <a:solidFill>
                <a:srgbClr val="000000"/>
              </a:solidFill>
              <a:effectLst/>
              <a:uFillTx/>
              <a:latin typeface="Arial"/>
            </a:endParaRPr>
          </a:p>
        </p:txBody>
      </p:sp>
      <p:sp>
        <p:nvSpPr>
          <p:cNvPr id="4134" name="Text 16"/>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One action model</a:t>
            </a:r>
            <a:endParaRPr b="0" lang="en-US" sz="1600" strike="noStrike" u="none">
              <a:solidFill>
                <a:srgbClr val="000000"/>
              </a:solidFill>
              <a:effectLst/>
              <a:uFillTx/>
              <a:latin typeface="Arial"/>
            </a:endParaRPr>
          </a:p>
        </p:txBody>
      </p:sp>
      <p:sp>
        <p:nvSpPr>
          <p:cNvPr id="4135" name="Text 17"/>
          <p:cNvSpPr/>
          <p:nvPr/>
        </p:nvSpPr>
        <p:spPr>
          <a:xfrm>
            <a:off x="361044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Adaptation reuses decarbonisation plumbing.</a:t>
            </a:r>
            <a:endParaRPr b="0" lang="en-US" sz="1100" strike="noStrike" u="none">
              <a:solidFill>
                <a:srgbClr val="000000"/>
              </a:solidFill>
              <a:effectLst/>
              <a:uFillTx/>
              <a:latin typeface="Arial"/>
            </a:endParaRPr>
          </a:p>
        </p:txBody>
      </p:sp>
      <p:sp>
        <p:nvSpPr>
          <p:cNvPr id="4136" name="Text 18"/>
          <p:cNvSpPr/>
          <p:nvPr/>
        </p:nvSpPr>
        <p:spPr>
          <a:xfrm>
            <a:off x="362844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Adaptation actions as configurable action types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Initiative portfolios covering resilience measures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Monthly actuals and underperformance alerts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Audit ready evidence on adaptation spend</a:t>
            </a:r>
            <a:endParaRPr b="0" lang="en-US" sz="1100" strike="noStrike" u="none">
              <a:solidFill>
                <a:srgbClr val="000000"/>
              </a:solidFill>
              <a:effectLst/>
              <a:uFillTx/>
              <a:latin typeface="Arial"/>
            </a:endParaRPr>
          </a:p>
        </p:txBody>
      </p:sp>
      <p:sp>
        <p:nvSpPr>
          <p:cNvPr id="4137" name="Shape 19"/>
          <p:cNvSpPr/>
          <p:nvPr/>
        </p:nvSpPr>
        <p:spPr>
          <a:xfrm>
            <a:off x="623304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138" name="Shape 20"/>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4139" name="Text 21"/>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REPORTING</a:t>
            </a:r>
            <a:endParaRPr b="0" lang="en-US" sz="900" strike="noStrike" u="none">
              <a:solidFill>
                <a:srgbClr val="000000"/>
              </a:solidFill>
              <a:effectLst/>
              <a:uFillTx/>
              <a:latin typeface="Arial"/>
            </a:endParaRPr>
          </a:p>
        </p:txBody>
      </p:sp>
      <p:sp>
        <p:nvSpPr>
          <p:cNvPr id="4140" name="Text 22"/>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Risk into disclosure</a:t>
            </a:r>
            <a:endParaRPr b="0" lang="en-US" sz="1600" strike="noStrike" u="none">
              <a:solidFill>
                <a:srgbClr val="000000"/>
              </a:solidFill>
              <a:effectLst/>
              <a:uFillTx/>
              <a:latin typeface="Arial"/>
            </a:endParaRPr>
          </a:p>
        </p:txBody>
      </p:sp>
      <p:sp>
        <p:nvSpPr>
          <p:cNvPr id="4141" name="Text 23"/>
          <p:cNvSpPr/>
          <p:nvPr/>
        </p:nvSpPr>
        <p:spPr>
          <a:xfrm>
            <a:off x="641592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Where the value is realised.</a:t>
            </a:r>
            <a:endParaRPr b="0" lang="en-US" sz="1100" strike="noStrike" u="none">
              <a:solidFill>
                <a:srgbClr val="000000"/>
              </a:solidFill>
              <a:effectLst/>
              <a:uFillTx/>
              <a:latin typeface="Arial"/>
            </a:endParaRPr>
          </a:p>
        </p:txBody>
      </p:sp>
      <p:sp>
        <p:nvSpPr>
          <p:cNvPr id="4142" name="Text 24"/>
          <p:cNvSpPr/>
          <p:nvPr/>
        </p:nvSpPr>
        <p:spPr>
          <a:xfrm>
            <a:off x="643428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Climate Risk outputs into TCFD, ISSB and CSRD climate sections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Value at risk turned into financial values for disclosure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Scenario narrative drafted with lineage back to the model</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Transition plan disclosed against targets</a:t>
            </a:r>
            <a:endParaRPr b="0" lang="en-US" sz="1100" strike="noStrike" u="none">
              <a:solidFill>
                <a:srgbClr val="000000"/>
              </a:solidFill>
              <a:effectLst/>
              <a:uFillTx/>
              <a:latin typeface="Arial"/>
            </a:endParaRPr>
          </a:p>
        </p:txBody>
      </p:sp>
      <p:sp>
        <p:nvSpPr>
          <p:cNvPr id="4143" name="Shape 25"/>
          <p:cNvSpPr/>
          <p:nvPr/>
        </p:nvSpPr>
        <p:spPr>
          <a:xfrm>
            <a:off x="90385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144" name="Shape 26"/>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4145" name="Text 27"/>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CROSS PRODUCT</a:t>
            </a:r>
            <a:endParaRPr b="0" lang="en-US" sz="900" strike="noStrike" u="none">
              <a:solidFill>
                <a:srgbClr val="000000"/>
              </a:solidFill>
              <a:effectLst/>
              <a:uFillTx/>
              <a:latin typeface="Arial"/>
            </a:endParaRPr>
          </a:p>
        </p:txBody>
      </p:sp>
      <p:sp>
        <p:nvSpPr>
          <p:cNvPr id="4146" name="Text 28"/>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Beyond owned assets</a:t>
            </a:r>
            <a:endParaRPr b="0" lang="en-US" sz="1600" strike="noStrike" u="none">
              <a:solidFill>
                <a:srgbClr val="000000"/>
              </a:solidFill>
              <a:effectLst/>
              <a:uFillTx/>
              <a:latin typeface="Arial"/>
            </a:endParaRPr>
          </a:p>
        </p:txBody>
      </p:sp>
      <p:sp>
        <p:nvSpPr>
          <p:cNvPr id="4147" name="Text 29"/>
          <p:cNvSpPr/>
          <p:nvPr/>
        </p:nvSpPr>
        <p:spPr>
          <a:xfrm>
            <a:off x="922140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Extend the boundary.</a:t>
            </a:r>
            <a:endParaRPr b="0" lang="en-US" sz="1100" strike="noStrike" u="none">
              <a:solidFill>
                <a:srgbClr val="000000"/>
              </a:solidFill>
              <a:effectLst/>
              <a:uFillTx/>
              <a:latin typeface="Arial"/>
            </a:endParaRPr>
          </a:p>
        </p:txBody>
      </p:sp>
      <p:sp>
        <p:nvSpPr>
          <p:cNvPr id="4148" name="Text 30"/>
          <p:cNvSpPr/>
          <p:nvPr/>
        </p:nvSpPr>
        <p:spPr>
          <a:xfrm>
            <a:off x="923976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Supplier site exposure through Supply Chain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Transition exposure from the CP inventory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Cross programme risk and emissions views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Shared hazard taxonomy across products</a:t>
            </a:r>
            <a:endParaRPr b="0" lang="en-US" sz="1100" strike="noStrike" u="none">
              <a:solidFill>
                <a:srgbClr val="000000"/>
              </a:solidFill>
              <a:effectLst/>
              <a:uFillTx/>
              <a:latin typeface="Arial"/>
            </a:endParaRPr>
          </a:p>
        </p:txBody>
      </p:sp>
      <p:sp>
        <p:nvSpPr>
          <p:cNvPr id="4149" name="Shape 31"/>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150" name="Text 32"/>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4151" name="Text 33"/>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4152" name="PlaceHolder 1"/>
          <p:cNvSpPr>
            <a:spLocks noGrp="1"/>
          </p:cNvSpPr>
          <p:nvPr>
            <p:ph type="sldNum" idx="89"/>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A9FCD54A-9A1D-4328-8881-249876CDC43B}"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0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5730"/>
        </a:solidFill>
      </p:bgPr>
    </p:bg>
    <p:spTree>
      <p:nvGrpSpPr>
        <p:cNvPr id="1" name=""/>
        <p:cNvGrpSpPr/>
        <p:nvPr/>
      </p:nvGrpSpPr>
      <p:grpSpPr>
        <a:xfrm>
          <a:off x="0" y="0"/>
          <a:ext cx="0" cy="0"/>
          <a:chOff x="0" y="0"/>
          <a:chExt cx="0" cy="0"/>
        </a:xfrm>
      </p:grpSpPr>
      <p:sp>
        <p:nvSpPr>
          <p:cNvPr id="4153"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4154"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4155" name="Shape 2"/>
          <p:cNvSpPr/>
          <p:nvPr/>
        </p:nvSpPr>
        <p:spPr>
          <a:xfrm>
            <a:off x="8641080" y="822960"/>
            <a:ext cx="360" cy="5212080"/>
          </a:xfrm>
          <a:prstGeom prst="line">
            <a:avLst/>
          </a:prstGeom>
          <a:ln w="12700">
            <a:solidFill>
              <a:srgbClr val="2c8058"/>
            </a:solidFill>
            <a:round/>
          </a:ln>
        </p:spPr>
        <p:style>
          <a:lnRef idx="0"/>
          <a:fillRef idx="0"/>
          <a:effectRef idx="0"/>
          <a:fontRef idx="minor"/>
        </p:style>
        <p:txBody>
          <a:bodyPr lIns="90000" rIns="90000" tIns="45000" bIns="45000" anchor="t" anchorCtr="1">
            <a:noAutofit/>
          </a:bodyPr>
          <a:p>
            <a:endParaRPr b="0" lang="en-US" sz="1800" strike="noStrike" u="none">
              <a:solidFill>
                <a:srgbClr val="ffffff"/>
              </a:solidFill>
              <a:effectLst/>
              <a:uFillTx/>
              <a:latin typeface="Arial"/>
            </a:endParaRPr>
          </a:p>
        </p:txBody>
      </p:sp>
      <p:sp>
        <p:nvSpPr>
          <p:cNvPr id="4156" name="Text 3"/>
          <p:cNvSpPr/>
          <p:nvPr/>
        </p:nvSpPr>
        <p:spPr>
          <a:xfrm>
            <a:off x="9144000" y="841320"/>
            <a:ext cx="2194200" cy="22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81" strike="noStrike" u="none">
                <a:solidFill>
                  <a:srgbClr val="bfe6ce"/>
                </a:solidFill>
                <a:effectLst/>
                <a:uFillTx/>
                <a:latin typeface="Calibri"/>
                <a:ea typeface="Calibri"/>
              </a:rPr>
              <a:t>RA+ ROADMAP</a:t>
            </a:r>
            <a:endParaRPr b="0" lang="en-US" sz="900" strike="noStrike" u="none">
              <a:solidFill>
                <a:srgbClr val="ffffff"/>
              </a:solidFill>
              <a:effectLst/>
              <a:uFillTx/>
              <a:latin typeface="Arial"/>
            </a:endParaRPr>
          </a:p>
        </p:txBody>
      </p:sp>
      <p:sp>
        <p:nvSpPr>
          <p:cNvPr id="4157" name="Text 4"/>
          <p:cNvSpPr/>
          <p:nvPr/>
        </p:nvSpPr>
        <p:spPr>
          <a:xfrm>
            <a:off x="9144000" y="1325880"/>
            <a:ext cx="2194200" cy="1462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3600" strike="noStrike" u="none">
                <a:solidFill>
                  <a:srgbClr val="ffffff"/>
                </a:solidFill>
                <a:effectLst/>
                <a:uFillTx/>
                <a:latin typeface="Calibri"/>
                <a:ea typeface="Calibri"/>
              </a:rPr>
              <a:t>2026</a:t>
            </a:r>
            <a:endParaRPr b="0" lang="en-US" sz="3600" strike="noStrike" u="none">
              <a:solidFill>
                <a:srgbClr val="ffffff"/>
              </a:solidFill>
              <a:effectLst/>
              <a:uFillTx/>
              <a:latin typeface="Arial"/>
            </a:endParaRPr>
          </a:p>
          <a:p>
            <a:pPr defTabSz="914400">
              <a:lnSpc>
                <a:spcPct val="100000"/>
              </a:lnSpc>
              <a:tabLst>
                <a:tab algn="l" pos="0"/>
              </a:tabLst>
            </a:pPr>
            <a:r>
              <a:rPr b="1" lang="en-US" sz="3600" strike="noStrike" u="none">
                <a:solidFill>
                  <a:srgbClr val="ffffff"/>
                </a:solidFill>
                <a:effectLst/>
                <a:uFillTx/>
                <a:latin typeface="Calibri"/>
                <a:ea typeface="Calibri"/>
              </a:rPr>
              <a:t>2027</a:t>
            </a:r>
            <a:endParaRPr b="0" lang="en-US" sz="3600" strike="noStrike" u="none">
              <a:solidFill>
                <a:srgbClr val="ffffff"/>
              </a:solidFill>
              <a:effectLst/>
              <a:uFillTx/>
              <a:latin typeface="Arial"/>
            </a:endParaRPr>
          </a:p>
        </p:txBody>
      </p:sp>
      <p:sp>
        <p:nvSpPr>
          <p:cNvPr id="4158" name="Text 5"/>
          <p:cNvSpPr/>
          <p:nvPr/>
        </p:nvSpPr>
        <p:spPr>
          <a:xfrm>
            <a:off x="621720" y="960120"/>
            <a:ext cx="71319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221" strike="noStrike" u="none">
                <a:solidFill>
                  <a:srgbClr val="bfe6ce"/>
                </a:solidFill>
                <a:effectLst/>
                <a:uFillTx/>
                <a:latin typeface="Calibri"/>
                <a:ea typeface="Calibri"/>
              </a:rPr>
              <a:t>AGENDA ITEM 4.5</a:t>
            </a:r>
            <a:endParaRPr b="0" lang="en-US" sz="1100" strike="noStrike" u="none">
              <a:solidFill>
                <a:srgbClr val="ffffff"/>
              </a:solidFill>
              <a:effectLst/>
              <a:uFillTx/>
              <a:latin typeface="Arial"/>
            </a:endParaRPr>
          </a:p>
        </p:txBody>
      </p:sp>
      <p:sp>
        <p:nvSpPr>
          <p:cNvPr id="4159" name="Text 6"/>
          <p:cNvSpPr/>
          <p:nvPr/>
        </p:nvSpPr>
        <p:spPr>
          <a:xfrm>
            <a:off x="621720" y="1508760"/>
            <a:ext cx="191988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5800" strike="noStrike" u="none">
                <a:solidFill>
                  <a:srgbClr val="3dcd58"/>
                </a:solidFill>
                <a:effectLst/>
                <a:uFillTx/>
                <a:latin typeface="Calibri"/>
                <a:ea typeface="Calibri"/>
              </a:rPr>
              <a:t>4.5</a:t>
            </a:r>
            <a:endParaRPr b="0" lang="en-US" sz="5800" strike="noStrike" u="none">
              <a:solidFill>
                <a:srgbClr val="ffffff"/>
              </a:solidFill>
              <a:effectLst/>
              <a:uFillTx/>
              <a:latin typeface="Arial"/>
            </a:endParaRPr>
          </a:p>
        </p:txBody>
      </p:sp>
      <p:sp>
        <p:nvSpPr>
          <p:cNvPr id="4160" name="Text 7"/>
          <p:cNvSpPr/>
          <p:nvPr/>
        </p:nvSpPr>
        <p:spPr>
          <a:xfrm>
            <a:off x="621720" y="2606040"/>
            <a:ext cx="7406280" cy="11426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ffffff"/>
                </a:solidFill>
                <a:effectLst/>
                <a:uFillTx/>
                <a:latin typeface="Calibri"/>
                <a:ea typeface="Calibri"/>
              </a:rPr>
              <a:t>Strategy</a:t>
            </a:r>
            <a:endParaRPr b="0" lang="en-US" sz="3200" strike="noStrike" u="none">
              <a:solidFill>
                <a:srgbClr val="ffffff"/>
              </a:solidFill>
              <a:effectLst/>
              <a:uFillTx/>
              <a:latin typeface="Arial"/>
            </a:endParaRPr>
          </a:p>
        </p:txBody>
      </p:sp>
      <p:sp>
        <p:nvSpPr>
          <p:cNvPr id="4161" name="Text 8"/>
          <p:cNvSpPr/>
          <p:nvPr/>
        </p:nvSpPr>
        <p:spPr>
          <a:xfrm>
            <a:off x="621720" y="4005000"/>
            <a:ext cx="704052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400" strike="noStrike" u="none">
                <a:solidFill>
                  <a:srgbClr val="d6eadf"/>
                </a:solidFill>
                <a:effectLst/>
                <a:uFillTx/>
                <a:latin typeface="Calibri"/>
                <a:ea typeface="Calibri"/>
              </a:rPr>
              <a:t>Close the plan to execution gap across sustainability and energy.</a:t>
            </a:r>
            <a:endParaRPr b="0" lang="en-US" sz="14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0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62"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4163"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4164" name="Shape 2"/>
          <p:cNvSpPr/>
          <p:nvPr/>
        </p:nvSpPr>
        <p:spPr>
          <a:xfrm>
            <a:off x="621720" y="311040"/>
            <a:ext cx="197460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165" name="Text 3"/>
          <p:cNvSpPr/>
          <p:nvPr/>
        </p:nvSpPr>
        <p:spPr>
          <a:xfrm>
            <a:off x="804600" y="329040"/>
            <a:ext cx="164556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STRATEGY, 2026</a:t>
            </a:r>
            <a:endParaRPr b="0" lang="en-US" sz="950" strike="noStrike" u="none">
              <a:solidFill>
                <a:srgbClr val="000000"/>
              </a:solidFill>
              <a:effectLst/>
              <a:uFillTx/>
              <a:latin typeface="Arial"/>
            </a:endParaRPr>
          </a:p>
        </p:txBody>
      </p:sp>
      <p:sp>
        <p:nvSpPr>
          <p:cNvPr id="4166"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Close the plan to execution gap in 2026</a:t>
            </a:r>
            <a:endParaRPr b="0" lang="en-US" sz="3200" strike="noStrike" u="none">
              <a:solidFill>
                <a:srgbClr val="000000"/>
              </a:solidFill>
              <a:effectLst/>
              <a:uFillTx/>
              <a:latin typeface="Arial"/>
            </a:endParaRPr>
          </a:p>
        </p:txBody>
      </p:sp>
      <p:sp>
        <p:nvSpPr>
          <p:cNvPr id="4167"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Actions, recommendations and targets: the shared planning layer consumed by CP decarbonisation, CR adaptation and supplier action.</a:t>
            </a:r>
            <a:endParaRPr b="0" lang="en-US" sz="1250" strike="noStrike" u="none">
              <a:solidFill>
                <a:srgbClr val="000000"/>
              </a:solidFill>
              <a:effectLst/>
              <a:uFillTx/>
              <a:latin typeface="Arial"/>
            </a:endParaRPr>
          </a:p>
        </p:txBody>
      </p:sp>
      <p:sp>
        <p:nvSpPr>
          <p:cNvPr id="4168"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169" name="Shape 7"/>
          <p:cNvSpPr/>
          <p:nvPr/>
        </p:nvSpPr>
        <p:spPr>
          <a:xfrm>
            <a:off x="621720" y="2084760"/>
            <a:ext cx="5345640" cy="4178520"/>
          </a:xfrm>
          <a:prstGeom prst="roundRect">
            <a:avLst>
              <a:gd name="adj" fmla="val 131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170" name="Shape 8"/>
          <p:cNvSpPr/>
          <p:nvPr/>
        </p:nvSpPr>
        <p:spPr>
          <a:xfrm>
            <a:off x="621720" y="2084760"/>
            <a:ext cx="5345640" cy="712800"/>
          </a:xfrm>
          <a:prstGeom prst="rect">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171" name="Shape 9"/>
          <p:cNvSpPr/>
          <p:nvPr/>
        </p:nvSpPr>
        <p:spPr>
          <a:xfrm>
            <a:off x="621720" y="2084760"/>
            <a:ext cx="54360" cy="41785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172" name="Text 10"/>
          <p:cNvSpPr/>
          <p:nvPr/>
        </p:nvSpPr>
        <p:spPr>
          <a:xfrm>
            <a:off x="804600" y="2176200"/>
            <a:ext cx="501660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3dcd58"/>
                </a:solidFill>
                <a:effectLst/>
                <a:uFillTx/>
                <a:latin typeface="Calibri"/>
                <a:ea typeface="Calibri"/>
              </a:rPr>
              <a:t>NOW</a:t>
            </a:r>
            <a:endParaRPr b="0" lang="en-US" sz="850" strike="noStrike" u="none">
              <a:solidFill>
                <a:srgbClr val="000000"/>
              </a:solidFill>
              <a:effectLst/>
              <a:uFillTx/>
              <a:latin typeface="Arial"/>
            </a:endParaRPr>
          </a:p>
        </p:txBody>
      </p:sp>
      <p:sp>
        <p:nvSpPr>
          <p:cNvPr id="4173" name="Text 11"/>
          <p:cNvSpPr/>
          <p:nvPr/>
        </p:nvSpPr>
        <p:spPr>
          <a:xfrm>
            <a:off x="804600" y="2423160"/>
            <a:ext cx="501660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Q3 2026</a:t>
            </a:r>
            <a:endParaRPr b="0" lang="en-US" sz="1400" strike="noStrike" u="none">
              <a:solidFill>
                <a:srgbClr val="000000"/>
              </a:solidFill>
              <a:effectLst/>
              <a:uFillTx/>
              <a:latin typeface="Arial"/>
            </a:endParaRPr>
          </a:p>
        </p:txBody>
      </p:sp>
      <p:sp>
        <p:nvSpPr>
          <p:cNvPr id="4174" name="Shape 12"/>
          <p:cNvSpPr/>
          <p:nvPr/>
        </p:nvSpPr>
        <p:spPr>
          <a:xfrm>
            <a:off x="758880" y="295344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175" name="Text 13"/>
          <p:cNvSpPr/>
          <p:nvPr/>
        </p:nvSpPr>
        <p:spPr>
          <a:xfrm>
            <a:off x="822960" y="295344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Introduce actions</a:t>
            </a:r>
            <a:endParaRPr b="0" lang="en-US" sz="1000" strike="noStrike" u="none">
              <a:solidFill>
                <a:srgbClr val="000000"/>
              </a:solidFill>
              <a:effectLst/>
              <a:uFillTx/>
              <a:latin typeface="Arial"/>
            </a:endParaRPr>
          </a:p>
        </p:txBody>
      </p:sp>
      <p:sp>
        <p:nvSpPr>
          <p:cNvPr id="4176" name="Shape 14"/>
          <p:cNvSpPr/>
          <p:nvPr/>
        </p:nvSpPr>
        <p:spPr>
          <a:xfrm>
            <a:off x="758880" y="358272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177" name="Text 15"/>
          <p:cNvSpPr/>
          <p:nvPr/>
        </p:nvSpPr>
        <p:spPr>
          <a:xfrm>
            <a:off x="822960" y="358272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Centralised actions library</a:t>
            </a:r>
            <a:endParaRPr b="0" lang="en-US" sz="1000" strike="noStrike" u="none">
              <a:solidFill>
                <a:srgbClr val="000000"/>
              </a:solidFill>
              <a:effectLst/>
              <a:uFillTx/>
              <a:latin typeface="Arial"/>
            </a:endParaRPr>
          </a:p>
        </p:txBody>
      </p:sp>
      <p:sp>
        <p:nvSpPr>
          <p:cNvPr id="4178" name="Shape 16"/>
          <p:cNvSpPr/>
          <p:nvPr/>
        </p:nvSpPr>
        <p:spPr>
          <a:xfrm>
            <a:off x="758880" y="421164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179" name="Text 17"/>
          <p:cNvSpPr/>
          <p:nvPr/>
        </p:nvSpPr>
        <p:spPr>
          <a:xfrm>
            <a:off x="822960" y="421164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Configure action types</a:t>
            </a:r>
            <a:endParaRPr b="0" lang="en-US" sz="1000" strike="noStrike" u="none">
              <a:solidFill>
                <a:srgbClr val="000000"/>
              </a:solidFill>
              <a:effectLst/>
              <a:uFillTx/>
              <a:latin typeface="Arial"/>
            </a:endParaRPr>
          </a:p>
        </p:txBody>
      </p:sp>
      <p:sp>
        <p:nvSpPr>
          <p:cNvPr id="4180" name="Shape 18"/>
          <p:cNvSpPr/>
          <p:nvPr/>
        </p:nvSpPr>
        <p:spPr>
          <a:xfrm>
            <a:off x="758880" y="484092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181" name="Text 19"/>
          <p:cNvSpPr/>
          <p:nvPr/>
        </p:nvSpPr>
        <p:spPr>
          <a:xfrm>
            <a:off x="822960" y="484092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Library of standard initiative types</a:t>
            </a:r>
            <a:endParaRPr b="0" lang="en-US" sz="950" strike="noStrike" u="none">
              <a:solidFill>
                <a:srgbClr val="000000"/>
              </a:solidFill>
              <a:effectLst/>
              <a:uFillTx/>
              <a:latin typeface="Arial"/>
            </a:endParaRPr>
          </a:p>
        </p:txBody>
      </p:sp>
      <p:sp>
        <p:nvSpPr>
          <p:cNvPr id="4182" name="Shape 20"/>
          <p:cNvSpPr/>
          <p:nvPr/>
        </p:nvSpPr>
        <p:spPr>
          <a:xfrm>
            <a:off x="6224040" y="2084760"/>
            <a:ext cx="5345640" cy="4178520"/>
          </a:xfrm>
          <a:prstGeom prst="roundRect">
            <a:avLst>
              <a:gd name="adj" fmla="val 131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183" name="Shape 21"/>
          <p:cNvSpPr/>
          <p:nvPr/>
        </p:nvSpPr>
        <p:spPr>
          <a:xfrm>
            <a:off x="6224040" y="2084760"/>
            <a:ext cx="5345640" cy="712800"/>
          </a:xfrm>
          <a:prstGeom prst="rect">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184" name="Shape 22"/>
          <p:cNvSpPr/>
          <p:nvPr/>
        </p:nvSpPr>
        <p:spPr>
          <a:xfrm>
            <a:off x="6224040" y="2084760"/>
            <a:ext cx="54360" cy="4178520"/>
          </a:xfrm>
          <a:prstGeom prst="rect">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185" name="Text 23"/>
          <p:cNvSpPr/>
          <p:nvPr/>
        </p:nvSpPr>
        <p:spPr>
          <a:xfrm>
            <a:off x="6406920" y="2176200"/>
            <a:ext cx="501660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007a27"/>
                </a:solidFill>
                <a:effectLst/>
                <a:uFillTx/>
                <a:latin typeface="Calibri"/>
                <a:ea typeface="Calibri"/>
              </a:rPr>
              <a:t>NEXT</a:t>
            </a:r>
            <a:endParaRPr b="0" lang="en-US" sz="850" strike="noStrike" u="none">
              <a:solidFill>
                <a:srgbClr val="000000"/>
              </a:solidFill>
              <a:effectLst/>
              <a:uFillTx/>
              <a:latin typeface="Arial"/>
            </a:endParaRPr>
          </a:p>
        </p:txBody>
      </p:sp>
      <p:sp>
        <p:nvSpPr>
          <p:cNvPr id="4186" name="Text 24"/>
          <p:cNvSpPr/>
          <p:nvPr/>
        </p:nvSpPr>
        <p:spPr>
          <a:xfrm>
            <a:off x="6406920" y="2423160"/>
            <a:ext cx="501660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Q4 2026</a:t>
            </a:r>
            <a:endParaRPr b="0" lang="en-US" sz="1400" strike="noStrike" u="none">
              <a:solidFill>
                <a:srgbClr val="000000"/>
              </a:solidFill>
              <a:effectLst/>
              <a:uFillTx/>
              <a:latin typeface="Arial"/>
            </a:endParaRPr>
          </a:p>
        </p:txBody>
      </p:sp>
      <p:sp>
        <p:nvSpPr>
          <p:cNvPr id="4187" name="Shape 25"/>
          <p:cNvSpPr/>
          <p:nvPr/>
        </p:nvSpPr>
        <p:spPr>
          <a:xfrm>
            <a:off x="6361200" y="295344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188" name="Text 26"/>
          <p:cNvSpPr/>
          <p:nvPr/>
        </p:nvSpPr>
        <p:spPr>
          <a:xfrm>
            <a:off x="6424920" y="295344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Actions bulk upload</a:t>
            </a:r>
            <a:endParaRPr b="0" lang="en-US" sz="1000" strike="noStrike" u="none">
              <a:solidFill>
                <a:srgbClr val="000000"/>
              </a:solidFill>
              <a:effectLst/>
              <a:uFillTx/>
              <a:latin typeface="Arial"/>
            </a:endParaRPr>
          </a:p>
        </p:txBody>
      </p:sp>
      <p:sp>
        <p:nvSpPr>
          <p:cNvPr id="4189" name="Shape 27"/>
          <p:cNvSpPr/>
          <p:nvPr/>
        </p:nvSpPr>
        <p:spPr>
          <a:xfrm>
            <a:off x="6361200" y="358272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190" name="Text 28"/>
          <p:cNvSpPr/>
          <p:nvPr/>
        </p:nvSpPr>
        <p:spPr>
          <a:xfrm>
            <a:off x="6424920" y="358272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ECM recommendations</a:t>
            </a:r>
            <a:endParaRPr b="0" lang="en-US" sz="1000" strike="noStrike" u="none">
              <a:solidFill>
                <a:srgbClr val="000000"/>
              </a:solidFill>
              <a:effectLst/>
              <a:uFillTx/>
              <a:latin typeface="Arial"/>
            </a:endParaRPr>
          </a:p>
        </p:txBody>
      </p:sp>
      <p:sp>
        <p:nvSpPr>
          <p:cNvPr id="4191" name="Shape 29"/>
          <p:cNvSpPr/>
          <p:nvPr/>
        </p:nvSpPr>
        <p:spPr>
          <a:xfrm>
            <a:off x="6361200" y="421164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192" name="Text 30"/>
          <p:cNvSpPr/>
          <p:nvPr/>
        </p:nvSpPr>
        <p:spPr>
          <a:xfrm>
            <a:off x="6424920" y="421164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Initiative type recommendations</a:t>
            </a:r>
            <a:endParaRPr b="0" lang="en-US" sz="1000" strike="noStrike" u="none">
              <a:solidFill>
                <a:srgbClr val="000000"/>
              </a:solidFill>
              <a:effectLst/>
              <a:uFillTx/>
              <a:latin typeface="Arial"/>
            </a:endParaRPr>
          </a:p>
        </p:txBody>
      </p:sp>
      <p:sp>
        <p:nvSpPr>
          <p:cNvPr id="4193" name="Shape 31"/>
          <p:cNvSpPr/>
          <p:nvPr/>
        </p:nvSpPr>
        <p:spPr>
          <a:xfrm>
            <a:off x="6361200" y="484092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194" name="Text 32"/>
          <p:cNvSpPr/>
          <p:nvPr/>
        </p:nvSpPr>
        <p:spPr>
          <a:xfrm>
            <a:off x="6424920" y="484092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Energy, water and waste targets</a:t>
            </a:r>
            <a:endParaRPr b="0" lang="en-US" sz="1000" strike="noStrike" u="none">
              <a:solidFill>
                <a:srgbClr val="000000"/>
              </a:solidFill>
              <a:effectLst/>
              <a:uFillTx/>
              <a:latin typeface="Arial"/>
            </a:endParaRPr>
          </a:p>
        </p:txBody>
      </p:sp>
      <p:sp>
        <p:nvSpPr>
          <p:cNvPr id="4195" name="Shape 33"/>
          <p:cNvSpPr/>
          <p:nvPr/>
        </p:nvSpPr>
        <p:spPr>
          <a:xfrm>
            <a:off x="6361200" y="546984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196" name="Text 34"/>
          <p:cNvSpPr/>
          <p:nvPr/>
        </p:nvSpPr>
        <p:spPr>
          <a:xfrm>
            <a:off x="6424920" y="546984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00" strike="noStrike" u="none">
                <a:solidFill>
                  <a:srgbClr val="1e2420"/>
                </a:solidFill>
                <a:effectLst/>
                <a:uFillTx/>
                <a:latin typeface="Calibri"/>
                <a:ea typeface="Calibri"/>
              </a:rPr>
              <a:t>Advanced scenario analysis and decarbonization planning</a:t>
            </a:r>
            <a:endParaRPr b="0" lang="en-US" sz="900" strike="noStrike" u="none">
              <a:solidFill>
                <a:srgbClr val="000000"/>
              </a:solidFill>
              <a:effectLst/>
              <a:uFillTx/>
              <a:latin typeface="Arial"/>
            </a:endParaRPr>
          </a:p>
        </p:txBody>
      </p:sp>
      <p:sp>
        <p:nvSpPr>
          <p:cNvPr id="4197" name="Shape 35"/>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198" name="Text 36"/>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4199" name="Text 37"/>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4200" name="PlaceHolder 1"/>
          <p:cNvSpPr>
            <a:spLocks noGrp="1"/>
          </p:cNvSpPr>
          <p:nvPr>
            <p:ph type="sldNum" idx="90"/>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AF2D7E11-4E00-44E0-ABC9-1934D5F1B031}"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0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201"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4202"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4203" name="Shape 2"/>
          <p:cNvSpPr/>
          <p:nvPr/>
        </p:nvSpPr>
        <p:spPr>
          <a:xfrm>
            <a:off x="621720" y="311040"/>
            <a:ext cx="197460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204" name="Text 3"/>
          <p:cNvSpPr/>
          <p:nvPr/>
        </p:nvSpPr>
        <p:spPr>
          <a:xfrm>
            <a:off x="804600" y="329040"/>
            <a:ext cx="164556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STRATEGY, 2027</a:t>
            </a:r>
            <a:endParaRPr b="0" lang="en-US" sz="950" strike="noStrike" u="none">
              <a:solidFill>
                <a:srgbClr val="000000"/>
              </a:solidFill>
              <a:effectLst/>
              <a:uFillTx/>
              <a:latin typeface="Arial"/>
            </a:endParaRPr>
          </a:p>
        </p:txBody>
      </p:sp>
      <p:sp>
        <p:nvSpPr>
          <p:cNvPr id="4205"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Recommend, then widen scope in 2027</a:t>
            </a:r>
            <a:endParaRPr b="0" lang="en-US" sz="3200" strike="noStrike" u="none">
              <a:solidFill>
                <a:srgbClr val="000000"/>
              </a:solidFill>
              <a:effectLst/>
              <a:uFillTx/>
              <a:latin typeface="Arial"/>
            </a:endParaRPr>
          </a:p>
        </p:txBody>
      </p:sp>
      <p:sp>
        <p:nvSpPr>
          <p:cNvPr id="4206"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Cascading targets and scenario intelligence on top of the 2026 planning layer.</a:t>
            </a:r>
            <a:endParaRPr b="0" lang="en-US" sz="1250" strike="noStrike" u="none">
              <a:solidFill>
                <a:srgbClr val="000000"/>
              </a:solidFill>
              <a:effectLst/>
              <a:uFillTx/>
              <a:latin typeface="Arial"/>
            </a:endParaRPr>
          </a:p>
        </p:txBody>
      </p:sp>
      <p:sp>
        <p:nvSpPr>
          <p:cNvPr id="4207"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208" name="Shape 7"/>
          <p:cNvSpPr/>
          <p:nvPr/>
        </p:nvSpPr>
        <p:spPr>
          <a:xfrm>
            <a:off x="621720" y="2084760"/>
            <a:ext cx="5345640" cy="4178520"/>
          </a:xfrm>
          <a:prstGeom prst="roundRect">
            <a:avLst>
              <a:gd name="adj" fmla="val 131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209" name="Shape 8"/>
          <p:cNvSpPr/>
          <p:nvPr/>
        </p:nvSpPr>
        <p:spPr>
          <a:xfrm>
            <a:off x="621720" y="2084760"/>
            <a:ext cx="5345640" cy="712800"/>
          </a:xfrm>
          <a:prstGeom prst="rect">
            <a:avLst/>
          </a:prstGeom>
          <a:solidFill>
            <a:srgbClr val="fff4e3"/>
          </a:solidFill>
          <a:ln w="12700">
            <a:solidFill>
              <a:srgbClr val="fff4e3"/>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210" name="Shape 9"/>
          <p:cNvSpPr/>
          <p:nvPr/>
        </p:nvSpPr>
        <p:spPr>
          <a:xfrm>
            <a:off x="621720" y="2084760"/>
            <a:ext cx="54360" cy="4178520"/>
          </a:xfrm>
          <a:prstGeom prst="rect">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211" name="Text 10"/>
          <p:cNvSpPr/>
          <p:nvPr/>
        </p:nvSpPr>
        <p:spPr>
          <a:xfrm>
            <a:off x="804600" y="2176200"/>
            <a:ext cx="501660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ffb04c"/>
                </a:solidFill>
                <a:effectLst/>
                <a:uFillTx/>
                <a:latin typeface="Calibri"/>
                <a:ea typeface="Calibri"/>
              </a:rPr>
              <a:t>LATER</a:t>
            </a:r>
            <a:endParaRPr b="0" lang="en-US" sz="850" strike="noStrike" u="none">
              <a:solidFill>
                <a:srgbClr val="000000"/>
              </a:solidFill>
              <a:effectLst/>
              <a:uFillTx/>
              <a:latin typeface="Arial"/>
            </a:endParaRPr>
          </a:p>
        </p:txBody>
      </p:sp>
      <p:sp>
        <p:nvSpPr>
          <p:cNvPr id="4212" name="Text 11"/>
          <p:cNvSpPr/>
          <p:nvPr/>
        </p:nvSpPr>
        <p:spPr>
          <a:xfrm>
            <a:off x="804600" y="2423160"/>
            <a:ext cx="501660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2027 H1</a:t>
            </a:r>
            <a:endParaRPr b="0" lang="en-US" sz="1400" strike="noStrike" u="none">
              <a:solidFill>
                <a:srgbClr val="000000"/>
              </a:solidFill>
              <a:effectLst/>
              <a:uFillTx/>
              <a:latin typeface="Arial"/>
            </a:endParaRPr>
          </a:p>
        </p:txBody>
      </p:sp>
      <p:sp>
        <p:nvSpPr>
          <p:cNvPr id="4213" name="Shape 12"/>
          <p:cNvSpPr/>
          <p:nvPr/>
        </p:nvSpPr>
        <p:spPr>
          <a:xfrm>
            <a:off x="758880" y="295344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214" name="Text 13"/>
          <p:cNvSpPr/>
          <p:nvPr/>
        </p:nvSpPr>
        <p:spPr>
          <a:xfrm>
            <a:off x="822960" y="295344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Complex target structures</a:t>
            </a:r>
            <a:endParaRPr b="0" lang="en-US" sz="1000" strike="noStrike" u="none">
              <a:solidFill>
                <a:srgbClr val="000000"/>
              </a:solidFill>
              <a:effectLst/>
              <a:uFillTx/>
              <a:latin typeface="Arial"/>
            </a:endParaRPr>
          </a:p>
        </p:txBody>
      </p:sp>
      <p:sp>
        <p:nvSpPr>
          <p:cNvPr id="4215" name="Shape 14"/>
          <p:cNvSpPr/>
          <p:nvPr/>
        </p:nvSpPr>
        <p:spPr>
          <a:xfrm>
            <a:off x="758880" y="358272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216" name="Text 15"/>
          <p:cNvSpPr/>
          <p:nvPr/>
        </p:nvSpPr>
        <p:spPr>
          <a:xfrm>
            <a:off x="822960" y="358272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Cascading reduction targets</a:t>
            </a:r>
            <a:endParaRPr b="0" lang="en-US" sz="1000" strike="noStrike" u="none">
              <a:solidFill>
                <a:srgbClr val="000000"/>
              </a:solidFill>
              <a:effectLst/>
              <a:uFillTx/>
              <a:latin typeface="Arial"/>
            </a:endParaRPr>
          </a:p>
        </p:txBody>
      </p:sp>
      <p:sp>
        <p:nvSpPr>
          <p:cNvPr id="4217" name="Shape 16"/>
          <p:cNvSpPr/>
          <p:nvPr/>
        </p:nvSpPr>
        <p:spPr>
          <a:xfrm>
            <a:off x="758880" y="421164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218" name="Text 17"/>
          <p:cNvSpPr/>
          <p:nvPr/>
        </p:nvSpPr>
        <p:spPr>
          <a:xfrm>
            <a:off x="822960" y="421164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Implementation statuses and on track</a:t>
            </a:r>
            <a:endParaRPr b="0" lang="en-US" sz="950" strike="noStrike" u="none">
              <a:solidFill>
                <a:srgbClr val="000000"/>
              </a:solidFill>
              <a:effectLst/>
              <a:uFillTx/>
              <a:latin typeface="Arial"/>
            </a:endParaRPr>
          </a:p>
        </p:txBody>
      </p:sp>
      <p:sp>
        <p:nvSpPr>
          <p:cNvPr id="4219" name="Shape 18"/>
          <p:cNvSpPr/>
          <p:nvPr/>
        </p:nvSpPr>
        <p:spPr>
          <a:xfrm>
            <a:off x="758880" y="484092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220" name="Text 19"/>
          <p:cNvSpPr/>
          <p:nvPr/>
        </p:nvSpPr>
        <p:spPr>
          <a:xfrm>
            <a:off x="822960" y="484092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Advanced ECM library</a:t>
            </a:r>
            <a:endParaRPr b="0" lang="en-US" sz="1000" strike="noStrike" u="none">
              <a:solidFill>
                <a:srgbClr val="000000"/>
              </a:solidFill>
              <a:effectLst/>
              <a:uFillTx/>
              <a:latin typeface="Arial"/>
            </a:endParaRPr>
          </a:p>
          <a:p>
            <a:pPr defTabSz="914400">
              <a:lnSpc>
                <a:spcPct val="95000"/>
              </a:lnSpc>
              <a:tabLst>
                <a:tab algn="l" pos="0"/>
              </a:tabLst>
            </a:pPr>
            <a:r>
              <a:rPr b="0" lang="en-US" sz="850" strike="noStrike" u="none">
                <a:solidFill>
                  <a:srgbClr val="5a625c"/>
                </a:solidFill>
                <a:effectLst/>
                <a:uFillTx/>
                <a:latin typeface="Calibri"/>
                <a:ea typeface="Calibri"/>
              </a:rPr>
              <a:t>Energy and carbon cobenefits</a:t>
            </a:r>
            <a:endParaRPr b="0" lang="en-US" sz="850" strike="noStrike" u="none">
              <a:solidFill>
                <a:srgbClr val="000000"/>
              </a:solidFill>
              <a:effectLst/>
              <a:uFillTx/>
              <a:latin typeface="Arial"/>
            </a:endParaRPr>
          </a:p>
        </p:txBody>
      </p:sp>
      <p:sp>
        <p:nvSpPr>
          <p:cNvPr id="4221" name="Shape 20"/>
          <p:cNvSpPr/>
          <p:nvPr/>
        </p:nvSpPr>
        <p:spPr>
          <a:xfrm>
            <a:off x="758880" y="546984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222" name="Text 21"/>
          <p:cNvSpPr/>
          <p:nvPr/>
        </p:nvSpPr>
        <p:spPr>
          <a:xfrm>
            <a:off x="822960" y="546984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00" strike="noStrike" u="none">
                <a:solidFill>
                  <a:srgbClr val="1e2420"/>
                </a:solidFill>
                <a:effectLst/>
                <a:uFillTx/>
                <a:latin typeface="Calibri"/>
                <a:ea typeface="Calibri"/>
              </a:rPr>
              <a:t>Enhanced strategy landing page and notifications</a:t>
            </a:r>
            <a:endParaRPr b="0" lang="en-US" sz="900" strike="noStrike" u="none">
              <a:solidFill>
                <a:srgbClr val="000000"/>
              </a:solidFill>
              <a:effectLst/>
              <a:uFillTx/>
              <a:latin typeface="Arial"/>
            </a:endParaRPr>
          </a:p>
        </p:txBody>
      </p:sp>
      <p:sp>
        <p:nvSpPr>
          <p:cNvPr id="4223" name="Shape 22"/>
          <p:cNvSpPr/>
          <p:nvPr/>
        </p:nvSpPr>
        <p:spPr>
          <a:xfrm>
            <a:off x="6224040" y="2084760"/>
            <a:ext cx="5345640" cy="4178520"/>
          </a:xfrm>
          <a:prstGeom prst="roundRect">
            <a:avLst>
              <a:gd name="adj" fmla="val 131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224" name="Shape 23"/>
          <p:cNvSpPr/>
          <p:nvPr/>
        </p:nvSpPr>
        <p:spPr>
          <a:xfrm>
            <a:off x="6224040" y="2084760"/>
            <a:ext cx="5345640" cy="712800"/>
          </a:xfrm>
          <a:prstGeom prst="rect">
            <a:avLst/>
          </a:prstGeom>
          <a:solidFill>
            <a:srgbClr val="eaf1f5"/>
          </a:solidFill>
          <a:ln w="12700">
            <a:solidFill>
              <a:srgbClr val="eaf1f5"/>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225" name="Shape 24"/>
          <p:cNvSpPr/>
          <p:nvPr/>
        </p:nvSpPr>
        <p:spPr>
          <a:xfrm>
            <a:off x="6224040" y="2084760"/>
            <a:ext cx="54360" cy="4178520"/>
          </a:xfrm>
          <a:prstGeom prst="rect">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226" name="Text 25"/>
          <p:cNvSpPr/>
          <p:nvPr/>
        </p:nvSpPr>
        <p:spPr>
          <a:xfrm>
            <a:off x="6406920" y="2176200"/>
            <a:ext cx="501660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275b7f"/>
                </a:solidFill>
                <a:effectLst/>
                <a:uFillTx/>
                <a:latin typeface="Calibri"/>
                <a:ea typeface="Calibri"/>
              </a:rPr>
              <a:t>LATER</a:t>
            </a:r>
            <a:endParaRPr b="0" lang="en-US" sz="850" strike="noStrike" u="none">
              <a:solidFill>
                <a:srgbClr val="000000"/>
              </a:solidFill>
              <a:effectLst/>
              <a:uFillTx/>
              <a:latin typeface="Arial"/>
            </a:endParaRPr>
          </a:p>
        </p:txBody>
      </p:sp>
      <p:sp>
        <p:nvSpPr>
          <p:cNvPr id="4227" name="Text 26"/>
          <p:cNvSpPr/>
          <p:nvPr/>
        </p:nvSpPr>
        <p:spPr>
          <a:xfrm>
            <a:off x="6406920" y="2423160"/>
            <a:ext cx="501660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2027 H2</a:t>
            </a:r>
            <a:endParaRPr b="0" lang="en-US" sz="1400" strike="noStrike" u="none">
              <a:solidFill>
                <a:srgbClr val="000000"/>
              </a:solidFill>
              <a:effectLst/>
              <a:uFillTx/>
              <a:latin typeface="Arial"/>
            </a:endParaRPr>
          </a:p>
        </p:txBody>
      </p:sp>
      <p:sp>
        <p:nvSpPr>
          <p:cNvPr id="4228" name="Shape 27"/>
          <p:cNvSpPr/>
          <p:nvPr/>
        </p:nvSpPr>
        <p:spPr>
          <a:xfrm>
            <a:off x="6361200" y="295344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229" name="Text 28"/>
          <p:cNvSpPr/>
          <p:nvPr/>
        </p:nvSpPr>
        <p:spPr>
          <a:xfrm>
            <a:off x="6424920" y="295344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Qualitative market intelligence</a:t>
            </a:r>
            <a:endParaRPr b="0" lang="en-US" sz="1000" strike="noStrike" u="none">
              <a:solidFill>
                <a:srgbClr val="000000"/>
              </a:solidFill>
              <a:effectLst/>
              <a:uFillTx/>
              <a:latin typeface="Arial"/>
            </a:endParaRPr>
          </a:p>
        </p:txBody>
      </p:sp>
      <p:sp>
        <p:nvSpPr>
          <p:cNvPr id="4230" name="Shape 29"/>
          <p:cNvSpPr/>
          <p:nvPr/>
        </p:nvSpPr>
        <p:spPr>
          <a:xfrm>
            <a:off x="6361200" y="358272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231" name="Text 30"/>
          <p:cNvSpPr/>
          <p:nvPr/>
        </p:nvSpPr>
        <p:spPr>
          <a:xfrm>
            <a:off x="6424920" y="358272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Net zero scenario suggestions</a:t>
            </a:r>
            <a:endParaRPr b="0" lang="en-US" sz="1000" strike="noStrike" u="none">
              <a:solidFill>
                <a:srgbClr val="000000"/>
              </a:solidFill>
              <a:effectLst/>
              <a:uFillTx/>
              <a:latin typeface="Arial"/>
            </a:endParaRPr>
          </a:p>
        </p:txBody>
      </p:sp>
      <p:sp>
        <p:nvSpPr>
          <p:cNvPr id="4232" name="Shape 31"/>
          <p:cNvSpPr/>
          <p:nvPr/>
        </p:nvSpPr>
        <p:spPr>
          <a:xfrm>
            <a:off x="6361200" y="421164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233" name="Text 32"/>
          <p:cNvSpPr/>
          <p:nvPr/>
        </p:nvSpPr>
        <p:spPr>
          <a:xfrm>
            <a:off x="6424920" y="421164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Multi hierarchy plans</a:t>
            </a:r>
            <a:endParaRPr b="0" lang="en-US" sz="1000" strike="noStrike" u="none">
              <a:solidFill>
                <a:srgbClr val="000000"/>
              </a:solidFill>
              <a:effectLst/>
              <a:uFillTx/>
              <a:latin typeface="Arial"/>
            </a:endParaRPr>
          </a:p>
        </p:txBody>
      </p:sp>
      <p:sp>
        <p:nvSpPr>
          <p:cNvPr id="4234" name="Shape 33"/>
          <p:cNvSpPr/>
          <p:nvPr/>
        </p:nvSpPr>
        <p:spPr>
          <a:xfrm>
            <a:off x="6361200" y="4840920"/>
            <a:ext cx="5071320" cy="555480"/>
          </a:xfrm>
          <a:prstGeom prst="roundRect">
            <a:avLst>
              <a:gd name="adj" fmla="val 4934"/>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235" name="Text 34"/>
          <p:cNvSpPr/>
          <p:nvPr/>
        </p:nvSpPr>
        <p:spPr>
          <a:xfrm>
            <a:off x="6424920" y="4840920"/>
            <a:ext cx="4943520" cy="55548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Cascading allocation across entities</a:t>
            </a:r>
            <a:endParaRPr b="0" lang="en-US" sz="950" strike="noStrike" u="none">
              <a:solidFill>
                <a:srgbClr val="000000"/>
              </a:solidFill>
              <a:effectLst/>
              <a:uFillTx/>
              <a:latin typeface="Arial"/>
            </a:endParaRPr>
          </a:p>
        </p:txBody>
      </p:sp>
      <p:sp>
        <p:nvSpPr>
          <p:cNvPr id="4236" name="Shape 35"/>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237" name="Text 36"/>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4238" name="Text 37"/>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4239" name="PlaceHolder 1"/>
          <p:cNvSpPr>
            <a:spLocks noGrp="1"/>
          </p:cNvSpPr>
          <p:nvPr>
            <p:ph type="sldNum" idx="91"/>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BC3E08B9-18C6-46BD-A302-429047C46E17}"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0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240"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4241"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4242" name="Shape 2"/>
          <p:cNvSpPr/>
          <p:nvPr/>
        </p:nvSpPr>
        <p:spPr>
          <a:xfrm>
            <a:off x="621720" y="311040"/>
            <a:ext cx="134388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243" name="Text 3"/>
          <p:cNvSpPr/>
          <p:nvPr/>
        </p:nvSpPr>
        <p:spPr>
          <a:xfrm>
            <a:off x="804600" y="329040"/>
            <a:ext cx="101448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STRATEGY</a:t>
            </a:r>
            <a:endParaRPr b="0" lang="en-US" sz="950" strike="noStrike" u="none">
              <a:solidFill>
                <a:srgbClr val="000000"/>
              </a:solidFill>
              <a:effectLst/>
              <a:uFillTx/>
              <a:latin typeface="Arial"/>
            </a:endParaRPr>
          </a:p>
        </p:txBody>
      </p:sp>
      <p:sp>
        <p:nvSpPr>
          <p:cNvPr id="4244"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The Strategy plan on a timeline</a:t>
            </a:r>
            <a:endParaRPr b="0" lang="en-US" sz="3200" strike="noStrike" u="none">
              <a:solidFill>
                <a:srgbClr val="000000"/>
              </a:solidFill>
              <a:effectLst/>
              <a:uFillTx/>
              <a:latin typeface="Arial"/>
            </a:endParaRPr>
          </a:p>
        </p:txBody>
      </p:sp>
      <p:sp>
        <p:nvSpPr>
          <p:cNvPr id="4245"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Connect targets to actions in 2026, then scale recommendations, execution insight and enterprise planning in 2027.</a:t>
            </a:r>
            <a:endParaRPr b="0" lang="en-US" sz="1250" strike="noStrike" u="none">
              <a:solidFill>
                <a:srgbClr val="000000"/>
              </a:solidFill>
              <a:effectLst/>
              <a:uFillTx/>
              <a:latin typeface="Arial"/>
            </a:endParaRPr>
          </a:p>
        </p:txBody>
      </p:sp>
      <p:sp>
        <p:nvSpPr>
          <p:cNvPr id="4246"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247" name="Shape 7"/>
          <p:cNvSpPr/>
          <p:nvPr/>
        </p:nvSpPr>
        <p:spPr>
          <a:xfrm>
            <a:off x="621720" y="1874520"/>
            <a:ext cx="10947600" cy="456840"/>
          </a:xfrm>
          <a:prstGeom prst="rect">
            <a:avLst/>
          </a:prstGeom>
          <a:solidFill>
            <a:srgbClr val="f1f3f2"/>
          </a:solidFill>
          <a:ln w="635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248" name="Text 8"/>
          <p:cNvSpPr/>
          <p:nvPr/>
        </p:nvSpPr>
        <p:spPr>
          <a:xfrm>
            <a:off x="749880" y="2020680"/>
            <a:ext cx="260568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99" strike="noStrike" u="none">
                <a:solidFill>
                  <a:srgbClr val="5a625c"/>
                </a:solidFill>
                <a:effectLst/>
                <a:uFillTx/>
                <a:latin typeface="Calibri"/>
                <a:ea typeface="Calibri"/>
              </a:rPr>
              <a:t>CAPABILITY</a:t>
            </a:r>
            <a:endParaRPr b="0" lang="en-US" sz="850" strike="noStrike" u="none">
              <a:solidFill>
                <a:srgbClr val="000000"/>
              </a:solidFill>
              <a:effectLst/>
              <a:uFillTx/>
              <a:latin typeface="Arial"/>
            </a:endParaRPr>
          </a:p>
        </p:txBody>
      </p:sp>
      <p:sp>
        <p:nvSpPr>
          <p:cNvPr id="4249" name="Text 9"/>
          <p:cNvSpPr/>
          <p:nvPr/>
        </p:nvSpPr>
        <p:spPr>
          <a:xfrm>
            <a:off x="3456360" y="1901880"/>
            <a:ext cx="405648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2026</a:t>
            </a:r>
            <a:endParaRPr b="0" lang="en-US" sz="1200" strike="noStrike" u="none">
              <a:solidFill>
                <a:srgbClr val="000000"/>
              </a:solidFill>
              <a:effectLst/>
              <a:uFillTx/>
              <a:latin typeface="Arial"/>
            </a:endParaRPr>
          </a:p>
        </p:txBody>
      </p:sp>
      <p:sp>
        <p:nvSpPr>
          <p:cNvPr id="4250" name="Text 10"/>
          <p:cNvSpPr/>
          <p:nvPr/>
        </p:nvSpPr>
        <p:spPr>
          <a:xfrm>
            <a:off x="345636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4251" name="Text 11"/>
          <p:cNvSpPr/>
          <p:nvPr/>
        </p:nvSpPr>
        <p:spPr>
          <a:xfrm>
            <a:off x="447048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4252" name="Text 12"/>
          <p:cNvSpPr/>
          <p:nvPr/>
        </p:nvSpPr>
        <p:spPr>
          <a:xfrm>
            <a:off x="548496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4253" name="Text 13"/>
          <p:cNvSpPr/>
          <p:nvPr/>
        </p:nvSpPr>
        <p:spPr>
          <a:xfrm>
            <a:off x="649908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4254" name="Text 14"/>
          <p:cNvSpPr/>
          <p:nvPr/>
        </p:nvSpPr>
        <p:spPr>
          <a:xfrm>
            <a:off x="7513200" y="1901880"/>
            <a:ext cx="405648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2027</a:t>
            </a:r>
            <a:endParaRPr b="0" lang="en-US" sz="1200" strike="noStrike" u="none">
              <a:solidFill>
                <a:srgbClr val="000000"/>
              </a:solidFill>
              <a:effectLst/>
              <a:uFillTx/>
              <a:latin typeface="Arial"/>
            </a:endParaRPr>
          </a:p>
        </p:txBody>
      </p:sp>
      <p:sp>
        <p:nvSpPr>
          <p:cNvPr id="4255" name="Text 15"/>
          <p:cNvSpPr/>
          <p:nvPr/>
        </p:nvSpPr>
        <p:spPr>
          <a:xfrm>
            <a:off x="751320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4256" name="Text 16"/>
          <p:cNvSpPr/>
          <p:nvPr/>
        </p:nvSpPr>
        <p:spPr>
          <a:xfrm>
            <a:off x="852732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4257" name="Text 17"/>
          <p:cNvSpPr/>
          <p:nvPr/>
        </p:nvSpPr>
        <p:spPr>
          <a:xfrm>
            <a:off x="954144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4258" name="Text 18"/>
          <p:cNvSpPr/>
          <p:nvPr/>
        </p:nvSpPr>
        <p:spPr>
          <a:xfrm>
            <a:off x="1055556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4259" name="Shape 19"/>
          <p:cNvSpPr/>
          <p:nvPr/>
        </p:nvSpPr>
        <p:spPr>
          <a:xfrm>
            <a:off x="345636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4260" name="Shape 20"/>
          <p:cNvSpPr/>
          <p:nvPr/>
        </p:nvSpPr>
        <p:spPr>
          <a:xfrm>
            <a:off x="447048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4261" name="Shape 21"/>
          <p:cNvSpPr/>
          <p:nvPr/>
        </p:nvSpPr>
        <p:spPr>
          <a:xfrm>
            <a:off x="548460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4262" name="Shape 22"/>
          <p:cNvSpPr/>
          <p:nvPr/>
        </p:nvSpPr>
        <p:spPr>
          <a:xfrm>
            <a:off x="649872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4263" name="Shape 23"/>
          <p:cNvSpPr/>
          <p:nvPr/>
        </p:nvSpPr>
        <p:spPr>
          <a:xfrm>
            <a:off x="751284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4264" name="Shape 24"/>
          <p:cNvSpPr/>
          <p:nvPr/>
        </p:nvSpPr>
        <p:spPr>
          <a:xfrm>
            <a:off x="852732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4265" name="Shape 25"/>
          <p:cNvSpPr/>
          <p:nvPr/>
        </p:nvSpPr>
        <p:spPr>
          <a:xfrm>
            <a:off x="954144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4266" name="Shape 26"/>
          <p:cNvSpPr/>
          <p:nvPr/>
        </p:nvSpPr>
        <p:spPr>
          <a:xfrm>
            <a:off x="1055556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4267" name="Shape 27"/>
          <p:cNvSpPr/>
          <p:nvPr/>
        </p:nvSpPr>
        <p:spPr>
          <a:xfrm>
            <a:off x="1156968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4268" name="Shape 28"/>
          <p:cNvSpPr/>
          <p:nvPr/>
        </p:nvSpPr>
        <p:spPr>
          <a:xfrm>
            <a:off x="621720" y="2331720"/>
            <a:ext cx="411120" cy="891360"/>
          </a:xfrm>
          <a:prstGeom prst="rect">
            <a:avLst/>
          </a:prstGeom>
          <a:solidFill>
            <a:srgbClr val="3dcd58"/>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269" name="Text 29"/>
          <p:cNvSpPr/>
          <p:nvPr/>
        </p:nvSpPr>
        <p:spPr>
          <a:xfrm>
            <a:off x="685800" y="2377440"/>
            <a:ext cx="282960" cy="79992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ACTION MODEL</a:t>
            </a:r>
            <a:endParaRPr b="0" lang="en-US" sz="750" strike="noStrike" u="none">
              <a:solidFill>
                <a:srgbClr val="000000"/>
              </a:solidFill>
              <a:effectLst/>
              <a:uFillTx/>
              <a:latin typeface="Arial"/>
            </a:endParaRPr>
          </a:p>
        </p:txBody>
      </p:sp>
      <p:sp>
        <p:nvSpPr>
          <p:cNvPr id="4270" name="Shape 30"/>
          <p:cNvSpPr/>
          <p:nvPr/>
        </p:nvSpPr>
        <p:spPr>
          <a:xfrm>
            <a:off x="1033200" y="26287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271" name="Shape 31"/>
          <p:cNvSpPr/>
          <p:nvPr/>
        </p:nvSpPr>
        <p:spPr>
          <a:xfrm>
            <a:off x="1143000" y="237060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272" name="Text 32"/>
          <p:cNvSpPr/>
          <p:nvPr/>
        </p:nvSpPr>
        <p:spPr>
          <a:xfrm>
            <a:off x="1243440" y="233388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Actions and centralised library</a:t>
            </a:r>
            <a:endParaRPr b="0" lang="en-US" sz="950" strike="noStrike" u="none">
              <a:solidFill>
                <a:srgbClr val="000000"/>
              </a:solidFill>
              <a:effectLst/>
              <a:uFillTx/>
              <a:latin typeface="Arial"/>
            </a:endParaRPr>
          </a:p>
        </p:txBody>
      </p:sp>
      <p:sp>
        <p:nvSpPr>
          <p:cNvPr id="4273" name="Shape 33"/>
          <p:cNvSpPr/>
          <p:nvPr/>
        </p:nvSpPr>
        <p:spPr>
          <a:xfrm>
            <a:off x="5484960" y="2429640"/>
            <a:ext cx="1013760" cy="100800"/>
          </a:xfrm>
          <a:prstGeom prst="roundRect">
            <a:avLst>
              <a:gd name="adj" fmla="val 36199"/>
            </a:avLst>
          </a:prstGeom>
          <a:solidFill>
            <a:srgbClr val="3dcd58"/>
          </a:solidFill>
          <a:ln w="12700">
            <a:solidFill>
              <a:srgbClr val="3dcd58"/>
            </a:solidFill>
            <a:round/>
          </a:ln>
        </p:spPr>
        <p:style>
          <a:lnRef idx="0"/>
          <a:fillRef idx="0"/>
          <a:effectRef idx="0"/>
          <a:fontRef idx="minor"/>
        </p:style>
        <p:txBody>
          <a:bodyPr lIns="90000" rIns="90000" tIns="34920" bIns="34920" anchor="t">
            <a:noAutofit/>
          </a:bodyPr>
          <a:p>
            <a:endParaRPr b="0" lang="en-US" sz="1800" strike="noStrike" u="none">
              <a:solidFill>
                <a:srgbClr val="000000"/>
              </a:solidFill>
              <a:effectLst/>
              <a:uFillTx/>
              <a:latin typeface="Arial"/>
            </a:endParaRPr>
          </a:p>
        </p:txBody>
      </p:sp>
      <p:sp>
        <p:nvSpPr>
          <p:cNvPr id="4274" name="Shape 34"/>
          <p:cNvSpPr/>
          <p:nvPr/>
        </p:nvSpPr>
        <p:spPr>
          <a:xfrm>
            <a:off x="1033200" y="29260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275" name="Shape 35"/>
          <p:cNvSpPr/>
          <p:nvPr/>
        </p:nvSpPr>
        <p:spPr>
          <a:xfrm>
            <a:off x="1143000" y="266760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276" name="Text 36"/>
          <p:cNvSpPr/>
          <p:nvPr/>
        </p:nvSpPr>
        <p:spPr>
          <a:xfrm>
            <a:off x="1243440" y="263124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Configurable action and initiative types</a:t>
            </a:r>
            <a:endParaRPr b="0" lang="en-US" sz="950" strike="noStrike" u="none">
              <a:solidFill>
                <a:srgbClr val="000000"/>
              </a:solidFill>
              <a:effectLst/>
              <a:uFillTx/>
              <a:latin typeface="Arial"/>
            </a:endParaRPr>
          </a:p>
        </p:txBody>
      </p:sp>
      <p:sp>
        <p:nvSpPr>
          <p:cNvPr id="4277" name="Shape 37"/>
          <p:cNvSpPr/>
          <p:nvPr/>
        </p:nvSpPr>
        <p:spPr>
          <a:xfrm>
            <a:off x="5484960" y="2727000"/>
            <a:ext cx="1013760" cy="100800"/>
          </a:xfrm>
          <a:prstGeom prst="roundRect">
            <a:avLst>
              <a:gd name="adj" fmla="val 36199"/>
            </a:avLst>
          </a:prstGeom>
          <a:solidFill>
            <a:srgbClr val="3dcd58"/>
          </a:solidFill>
          <a:ln w="12700">
            <a:solidFill>
              <a:srgbClr val="3dcd58"/>
            </a:solidFill>
            <a:round/>
          </a:ln>
        </p:spPr>
        <p:style>
          <a:lnRef idx="0"/>
          <a:fillRef idx="0"/>
          <a:effectRef idx="0"/>
          <a:fontRef idx="minor"/>
        </p:style>
        <p:txBody>
          <a:bodyPr lIns="90000" rIns="90000" tIns="34920" bIns="34920" anchor="t">
            <a:noAutofit/>
          </a:bodyPr>
          <a:p>
            <a:endParaRPr b="0" lang="en-US" sz="1800" strike="noStrike" u="none">
              <a:solidFill>
                <a:srgbClr val="000000"/>
              </a:solidFill>
              <a:effectLst/>
              <a:uFillTx/>
              <a:latin typeface="Arial"/>
            </a:endParaRPr>
          </a:p>
        </p:txBody>
      </p:sp>
      <p:sp>
        <p:nvSpPr>
          <p:cNvPr id="4278" name="Shape 38"/>
          <p:cNvSpPr/>
          <p:nvPr/>
        </p:nvSpPr>
        <p:spPr>
          <a:xfrm>
            <a:off x="1033200" y="32230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279" name="Shape 39"/>
          <p:cNvSpPr/>
          <p:nvPr/>
        </p:nvSpPr>
        <p:spPr>
          <a:xfrm>
            <a:off x="1143000" y="296496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280" name="Text 40"/>
          <p:cNvSpPr/>
          <p:nvPr/>
        </p:nvSpPr>
        <p:spPr>
          <a:xfrm>
            <a:off x="1243440" y="292824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Actions bulk upload</a:t>
            </a:r>
            <a:endParaRPr b="0" lang="en-US" sz="950" strike="noStrike" u="none">
              <a:solidFill>
                <a:srgbClr val="000000"/>
              </a:solidFill>
              <a:effectLst/>
              <a:uFillTx/>
              <a:latin typeface="Arial"/>
            </a:endParaRPr>
          </a:p>
        </p:txBody>
      </p:sp>
      <p:sp>
        <p:nvSpPr>
          <p:cNvPr id="4281" name="Shape 41"/>
          <p:cNvSpPr/>
          <p:nvPr/>
        </p:nvSpPr>
        <p:spPr>
          <a:xfrm>
            <a:off x="6499080" y="3024000"/>
            <a:ext cx="1013760" cy="100800"/>
          </a:xfrm>
          <a:prstGeom prst="roundRect">
            <a:avLst>
              <a:gd name="adj" fmla="val 36199"/>
            </a:avLst>
          </a:prstGeom>
          <a:solidFill>
            <a:srgbClr val="3dcd58"/>
          </a:solidFill>
          <a:ln w="12700">
            <a:solidFill>
              <a:srgbClr val="3dcd58"/>
            </a:solidFill>
            <a:round/>
          </a:ln>
        </p:spPr>
        <p:style>
          <a:lnRef idx="0"/>
          <a:fillRef idx="0"/>
          <a:effectRef idx="0"/>
          <a:fontRef idx="minor"/>
        </p:style>
        <p:txBody>
          <a:bodyPr lIns="90000" rIns="90000" tIns="34920" bIns="34920" anchor="t">
            <a:noAutofit/>
          </a:bodyPr>
          <a:p>
            <a:endParaRPr b="0" lang="en-US" sz="1800" strike="noStrike" u="none">
              <a:solidFill>
                <a:srgbClr val="000000"/>
              </a:solidFill>
              <a:effectLst/>
              <a:uFillTx/>
              <a:latin typeface="Arial"/>
            </a:endParaRPr>
          </a:p>
        </p:txBody>
      </p:sp>
      <p:sp>
        <p:nvSpPr>
          <p:cNvPr id="4282" name="Shape 42"/>
          <p:cNvSpPr/>
          <p:nvPr/>
        </p:nvSpPr>
        <p:spPr>
          <a:xfrm>
            <a:off x="621720" y="3223440"/>
            <a:ext cx="411120" cy="1188360"/>
          </a:xfrm>
          <a:prstGeom prst="rect">
            <a:avLst/>
          </a:prstGeom>
          <a:solidFill>
            <a:srgbClr val="007a27"/>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283" name="Text 43"/>
          <p:cNvSpPr/>
          <p:nvPr/>
        </p:nvSpPr>
        <p:spPr>
          <a:xfrm>
            <a:off x="685800" y="3269160"/>
            <a:ext cx="282960" cy="109692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PLANNING</a:t>
            </a:r>
            <a:endParaRPr b="0" lang="en-US" sz="750" strike="noStrike" u="none">
              <a:solidFill>
                <a:srgbClr val="000000"/>
              </a:solidFill>
              <a:effectLst/>
              <a:uFillTx/>
              <a:latin typeface="Arial"/>
            </a:endParaRPr>
          </a:p>
        </p:txBody>
      </p:sp>
      <p:sp>
        <p:nvSpPr>
          <p:cNvPr id="4284" name="Shape 44"/>
          <p:cNvSpPr/>
          <p:nvPr/>
        </p:nvSpPr>
        <p:spPr>
          <a:xfrm>
            <a:off x="1033200" y="352044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285" name="Shape 45"/>
          <p:cNvSpPr/>
          <p:nvPr/>
        </p:nvSpPr>
        <p:spPr>
          <a:xfrm>
            <a:off x="1143000" y="326196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286" name="Text 46"/>
          <p:cNvSpPr/>
          <p:nvPr/>
        </p:nvSpPr>
        <p:spPr>
          <a:xfrm>
            <a:off x="1243440" y="322560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Energy, water and waste targets</a:t>
            </a:r>
            <a:endParaRPr b="0" lang="en-US" sz="950" strike="noStrike" u="none">
              <a:solidFill>
                <a:srgbClr val="000000"/>
              </a:solidFill>
              <a:effectLst/>
              <a:uFillTx/>
              <a:latin typeface="Arial"/>
            </a:endParaRPr>
          </a:p>
        </p:txBody>
      </p:sp>
      <p:sp>
        <p:nvSpPr>
          <p:cNvPr id="4287" name="Shape 47"/>
          <p:cNvSpPr/>
          <p:nvPr/>
        </p:nvSpPr>
        <p:spPr>
          <a:xfrm>
            <a:off x="6499080" y="3321360"/>
            <a:ext cx="1013760" cy="100800"/>
          </a:xfrm>
          <a:prstGeom prst="roundRect">
            <a:avLst>
              <a:gd name="adj" fmla="val 36199"/>
            </a:avLst>
          </a:prstGeom>
          <a:solidFill>
            <a:srgbClr val="007a27"/>
          </a:solidFill>
          <a:ln w="12700">
            <a:solidFill>
              <a:srgbClr val="007a27"/>
            </a:solidFill>
            <a:round/>
          </a:ln>
        </p:spPr>
        <p:style>
          <a:lnRef idx="0"/>
          <a:fillRef idx="0"/>
          <a:effectRef idx="0"/>
          <a:fontRef idx="minor"/>
        </p:style>
        <p:txBody>
          <a:bodyPr lIns="90000" rIns="90000" tIns="34920" bIns="34920" anchor="t">
            <a:noAutofit/>
          </a:bodyPr>
          <a:p>
            <a:endParaRPr b="0" lang="en-US" sz="1800" strike="noStrike" u="none">
              <a:solidFill>
                <a:srgbClr val="ffffff"/>
              </a:solidFill>
              <a:effectLst/>
              <a:uFillTx/>
              <a:latin typeface="Arial"/>
            </a:endParaRPr>
          </a:p>
        </p:txBody>
      </p:sp>
      <p:sp>
        <p:nvSpPr>
          <p:cNvPr id="4288" name="Shape 48"/>
          <p:cNvSpPr/>
          <p:nvPr/>
        </p:nvSpPr>
        <p:spPr>
          <a:xfrm>
            <a:off x="1033200" y="381744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289" name="Shape 49"/>
          <p:cNvSpPr/>
          <p:nvPr/>
        </p:nvSpPr>
        <p:spPr>
          <a:xfrm>
            <a:off x="1143000" y="355932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290" name="Text 50"/>
          <p:cNvSpPr/>
          <p:nvPr/>
        </p:nvSpPr>
        <p:spPr>
          <a:xfrm>
            <a:off x="1243440" y="352260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Advanced scenario and decarbonization planning</a:t>
            </a:r>
            <a:endParaRPr b="0" lang="en-US" sz="950" strike="noStrike" u="none">
              <a:solidFill>
                <a:srgbClr val="000000"/>
              </a:solidFill>
              <a:effectLst/>
              <a:uFillTx/>
              <a:latin typeface="Arial"/>
            </a:endParaRPr>
          </a:p>
        </p:txBody>
      </p:sp>
      <p:sp>
        <p:nvSpPr>
          <p:cNvPr id="4291" name="Shape 51"/>
          <p:cNvSpPr/>
          <p:nvPr/>
        </p:nvSpPr>
        <p:spPr>
          <a:xfrm>
            <a:off x="6499080" y="3618360"/>
            <a:ext cx="1013760" cy="100800"/>
          </a:xfrm>
          <a:prstGeom prst="roundRect">
            <a:avLst>
              <a:gd name="adj" fmla="val 36199"/>
            </a:avLst>
          </a:prstGeom>
          <a:solidFill>
            <a:srgbClr val="007a27"/>
          </a:solidFill>
          <a:ln w="12700">
            <a:solidFill>
              <a:srgbClr val="007a27"/>
            </a:solidFill>
            <a:round/>
          </a:ln>
        </p:spPr>
        <p:style>
          <a:lnRef idx="0"/>
          <a:fillRef idx="0"/>
          <a:effectRef idx="0"/>
          <a:fontRef idx="minor"/>
        </p:style>
        <p:txBody>
          <a:bodyPr lIns="90000" rIns="90000" tIns="34920" bIns="34920" anchor="t">
            <a:noAutofit/>
          </a:bodyPr>
          <a:p>
            <a:endParaRPr b="0" lang="en-US" sz="1800" strike="noStrike" u="none">
              <a:solidFill>
                <a:srgbClr val="ffffff"/>
              </a:solidFill>
              <a:effectLst/>
              <a:uFillTx/>
              <a:latin typeface="Arial"/>
            </a:endParaRPr>
          </a:p>
        </p:txBody>
      </p:sp>
      <p:sp>
        <p:nvSpPr>
          <p:cNvPr id="4292" name="Shape 52"/>
          <p:cNvSpPr/>
          <p:nvPr/>
        </p:nvSpPr>
        <p:spPr>
          <a:xfrm>
            <a:off x="1033200" y="411480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293" name="Shape 53"/>
          <p:cNvSpPr/>
          <p:nvPr/>
        </p:nvSpPr>
        <p:spPr>
          <a:xfrm>
            <a:off x="1143000" y="385632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294" name="Text 54"/>
          <p:cNvSpPr/>
          <p:nvPr/>
        </p:nvSpPr>
        <p:spPr>
          <a:xfrm>
            <a:off x="1243440" y="38199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Complex and cascading targets</a:t>
            </a:r>
            <a:endParaRPr b="0" lang="en-US" sz="950" strike="noStrike" u="none">
              <a:solidFill>
                <a:srgbClr val="000000"/>
              </a:solidFill>
              <a:effectLst/>
              <a:uFillTx/>
              <a:latin typeface="Arial"/>
            </a:endParaRPr>
          </a:p>
        </p:txBody>
      </p:sp>
      <p:sp>
        <p:nvSpPr>
          <p:cNvPr id="4295" name="Shape 55"/>
          <p:cNvSpPr/>
          <p:nvPr/>
        </p:nvSpPr>
        <p:spPr>
          <a:xfrm>
            <a:off x="7513200" y="3915720"/>
            <a:ext cx="2027880" cy="100800"/>
          </a:xfrm>
          <a:prstGeom prst="roundRect">
            <a:avLst>
              <a:gd name="adj" fmla="val 36199"/>
            </a:avLst>
          </a:prstGeom>
          <a:solidFill>
            <a:srgbClr val="007a27"/>
          </a:solidFill>
          <a:ln w="12700">
            <a:solidFill>
              <a:srgbClr val="007a27"/>
            </a:solidFill>
            <a:round/>
          </a:ln>
        </p:spPr>
        <p:style>
          <a:lnRef idx="0"/>
          <a:fillRef idx="0"/>
          <a:effectRef idx="0"/>
          <a:fontRef idx="minor"/>
        </p:style>
        <p:txBody>
          <a:bodyPr lIns="90000" rIns="90000" tIns="34920" bIns="34920" anchor="t">
            <a:noAutofit/>
          </a:bodyPr>
          <a:p>
            <a:endParaRPr b="0" lang="en-US" sz="1800" strike="noStrike" u="none">
              <a:solidFill>
                <a:srgbClr val="ffffff"/>
              </a:solidFill>
              <a:effectLst/>
              <a:uFillTx/>
              <a:latin typeface="Arial"/>
            </a:endParaRPr>
          </a:p>
        </p:txBody>
      </p:sp>
      <p:sp>
        <p:nvSpPr>
          <p:cNvPr id="4296" name="Shape 56"/>
          <p:cNvSpPr/>
          <p:nvPr/>
        </p:nvSpPr>
        <p:spPr>
          <a:xfrm>
            <a:off x="1033200" y="441180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297" name="Shape 57"/>
          <p:cNvSpPr/>
          <p:nvPr/>
        </p:nvSpPr>
        <p:spPr>
          <a:xfrm>
            <a:off x="1143000" y="415368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298" name="Text 58"/>
          <p:cNvSpPr/>
          <p:nvPr/>
        </p:nvSpPr>
        <p:spPr>
          <a:xfrm>
            <a:off x="1243440" y="41169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Multi hierarchy plans and allocation</a:t>
            </a:r>
            <a:endParaRPr b="0" lang="en-US" sz="950" strike="noStrike" u="none">
              <a:solidFill>
                <a:srgbClr val="000000"/>
              </a:solidFill>
              <a:effectLst/>
              <a:uFillTx/>
              <a:latin typeface="Arial"/>
            </a:endParaRPr>
          </a:p>
        </p:txBody>
      </p:sp>
      <p:sp>
        <p:nvSpPr>
          <p:cNvPr id="4299" name="Shape 59"/>
          <p:cNvSpPr/>
          <p:nvPr/>
        </p:nvSpPr>
        <p:spPr>
          <a:xfrm>
            <a:off x="9541440" y="4212720"/>
            <a:ext cx="2027880" cy="100800"/>
          </a:xfrm>
          <a:prstGeom prst="roundRect">
            <a:avLst>
              <a:gd name="adj" fmla="val 36199"/>
            </a:avLst>
          </a:prstGeom>
          <a:solidFill>
            <a:srgbClr val="007a27"/>
          </a:solidFill>
          <a:ln w="12700">
            <a:solidFill>
              <a:srgbClr val="007a27"/>
            </a:solidFill>
            <a:round/>
          </a:ln>
        </p:spPr>
        <p:style>
          <a:lnRef idx="0"/>
          <a:fillRef idx="0"/>
          <a:effectRef idx="0"/>
          <a:fontRef idx="minor"/>
        </p:style>
        <p:txBody>
          <a:bodyPr lIns="90000" rIns="90000" tIns="34920" bIns="34920" anchor="t">
            <a:noAutofit/>
          </a:bodyPr>
          <a:p>
            <a:endParaRPr b="0" lang="en-US" sz="1800" strike="noStrike" u="none">
              <a:solidFill>
                <a:srgbClr val="ffffff"/>
              </a:solidFill>
              <a:effectLst/>
              <a:uFillTx/>
              <a:latin typeface="Arial"/>
            </a:endParaRPr>
          </a:p>
        </p:txBody>
      </p:sp>
      <p:sp>
        <p:nvSpPr>
          <p:cNvPr id="4300" name="Shape 60"/>
          <p:cNvSpPr/>
          <p:nvPr/>
        </p:nvSpPr>
        <p:spPr>
          <a:xfrm>
            <a:off x="621720" y="4412160"/>
            <a:ext cx="411120" cy="891360"/>
          </a:xfrm>
          <a:prstGeom prst="rect">
            <a:avLst/>
          </a:prstGeom>
          <a:solidFill>
            <a:srgbClr val="ffb04c"/>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301" name="Text 61"/>
          <p:cNvSpPr/>
          <p:nvPr/>
        </p:nvSpPr>
        <p:spPr>
          <a:xfrm>
            <a:off x="685800" y="4457880"/>
            <a:ext cx="282960" cy="79992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GUIDANCE</a:t>
            </a:r>
            <a:endParaRPr b="0" lang="en-US" sz="750" strike="noStrike" u="none">
              <a:solidFill>
                <a:srgbClr val="000000"/>
              </a:solidFill>
              <a:effectLst/>
              <a:uFillTx/>
              <a:latin typeface="Arial"/>
            </a:endParaRPr>
          </a:p>
        </p:txBody>
      </p:sp>
      <p:sp>
        <p:nvSpPr>
          <p:cNvPr id="4302" name="Shape 62"/>
          <p:cNvSpPr/>
          <p:nvPr/>
        </p:nvSpPr>
        <p:spPr>
          <a:xfrm>
            <a:off x="1033200" y="470916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303" name="Shape 63"/>
          <p:cNvSpPr/>
          <p:nvPr/>
        </p:nvSpPr>
        <p:spPr>
          <a:xfrm>
            <a:off x="1143000" y="445068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304" name="Text 64"/>
          <p:cNvSpPr/>
          <p:nvPr/>
        </p:nvSpPr>
        <p:spPr>
          <a:xfrm>
            <a:off x="1243440" y="44143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ECM and initiative recommendations</a:t>
            </a:r>
            <a:endParaRPr b="0" lang="en-US" sz="950" strike="noStrike" u="none">
              <a:solidFill>
                <a:srgbClr val="000000"/>
              </a:solidFill>
              <a:effectLst/>
              <a:uFillTx/>
              <a:latin typeface="Arial"/>
            </a:endParaRPr>
          </a:p>
        </p:txBody>
      </p:sp>
      <p:sp>
        <p:nvSpPr>
          <p:cNvPr id="4305" name="Shape 65"/>
          <p:cNvSpPr/>
          <p:nvPr/>
        </p:nvSpPr>
        <p:spPr>
          <a:xfrm>
            <a:off x="6499080" y="4510080"/>
            <a:ext cx="1013760" cy="100800"/>
          </a:xfrm>
          <a:prstGeom prst="roundRect">
            <a:avLst>
              <a:gd name="adj" fmla="val 36199"/>
            </a:avLst>
          </a:prstGeom>
          <a:solidFill>
            <a:srgbClr val="ffb04c"/>
          </a:solidFill>
          <a:ln w="12700">
            <a:solidFill>
              <a:srgbClr val="ffb04c"/>
            </a:solidFill>
            <a:round/>
          </a:ln>
        </p:spPr>
        <p:style>
          <a:lnRef idx="0"/>
          <a:fillRef idx="0"/>
          <a:effectRef idx="0"/>
          <a:fontRef idx="minor"/>
        </p:style>
        <p:txBody>
          <a:bodyPr lIns="90000" rIns="90000" tIns="34920" bIns="34920" anchor="t">
            <a:noAutofit/>
          </a:bodyPr>
          <a:p>
            <a:endParaRPr b="0" lang="en-US" sz="1800" strike="noStrike" u="none">
              <a:solidFill>
                <a:srgbClr val="000000"/>
              </a:solidFill>
              <a:effectLst/>
              <a:uFillTx/>
              <a:latin typeface="Arial"/>
            </a:endParaRPr>
          </a:p>
        </p:txBody>
      </p:sp>
      <p:sp>
        <p:nvSpPr>
          <p:cNvPr id="4306" name="Shape 66"/>
          <p:cNvSpPr/>
          <p:nvPr/>
        </p:nvSpPr>
        <p:spPr>
          <a:xfrm>
            <a:off x="1033200" y="500616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307" name="Shape 67"/>
          <p:cNvSpPr/>
          <p:nvPr/>
        </p:nvSpPr>
        <p:spPr>
          <a:xfrm>
            <a:off x="1143000" y="474804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308" name="Text 68"/>
          <p:cNvSpPr/>
          <p:nvPr/>
        </p:nvSpPr>
        <p:spPr>
          <a:xfrm>
            <a:off x="1243440" y="47113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Advanced ECM library</a:t>
            </a:r>
            <a:endParaRPr b="0" lang="en-US" sz="950" strike="noStrike" u="none">
              <a:solidFill>
                <a:srgbClr val="000000"/>
              </a:solidFill>
              <a:effectLst/>
              <a:uFillTx/>
              <a:latin typeface="Arial"/>
            </a:endParaRPr>
          </a:p>
        </p:txBody>
      </p:sp>
      <p:sp>
        <p:nvSpPr>
          <p:cNvPr id="4309" name="Shape 69"/>
          <p:cNvSpPr/>
          <p:nvPr/>
        </p:nvSpPr>
        <p:spPr>
          <a:xfrm>
            <a:off x="7513200" y="4807080"/>
            <a:ext cx="2027880" cy="100800"/>
          </a:xfrm>
          <a:prstGeom prst="roundRect">
            <a:avLst>
              <a:gd name="adj" fmla="val 36199"/>
            </a:avLst>
          </a:prstGeom>
          <a:solidFill>
            <a:srgbClr val="ffb04c"/>
          </a:solidFill>
          <a:ln w="12700">
            <a:solidFill>
              <a:srgbClr val="ffb04c"/>
            </a:solidFill>
            <a:round/>
          </a:ln>
        </p:spPr>
        <p:style>
          <a:lnRef idx="0"/>
          <a:fillRef idx="0"/>
          <a:effectRef idx="0"/>
          <a:fontRef idx="minor"/>
        </p:style>
        <p:txBody>
          <a:bodyPr lIns="90000" rIns="90000" tIns="34920" bIns="34920" anchor="t">
            <a:noAutofit/>
          </a:bodyPr>
          <a:p>
            <a:endParaRPr b="0" lang="en-US" sz="1800" strike="noStrike" u="none">
              <a:solidFill>
                <a:srgbClr val="000000"/>
              </a:solidFill>
              <a:effectLst/>
              <a:uFillTx/>
              <a:latin typeface="Arial"/>
            </a:endParaRPr>
          </a:p>
        </p:txBody>
      </p:sp>
      <p:sp>
        <p:nvSpPr>
          <p:cNvPr id="4310" name="Shape 70"/>
          <p:cNvSpPr/>
          <p:nvPr/>
        </p:nvSpPr>
        <p:spPr>
          <a:xfrm>
            <a:off x="1033200" y="53035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311" name="Shape 71"/>
          <p:cNvSpPr/>
          <p:nvPr/>
        </p:nvSpPr>
        <p:spPr>
          <a:xfrm>
            <a:off x="1143000" y="504504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312" name="Text 72"/>
          <p:cNvSpPr/>
          <p:nvPr/>
        </p:nvSpPr>
        <p:spPr>
          <a:xfrm>
            <a:off x="1243440" y="500868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Market intelligence and net zero suggestions</a:t>
            </a:r>
            <a:endParaRPr b="0" lang="en-US" sz="950" strike="noStrike" u="none">
              <a:solidFill>
                <a:srgbClr val="000000"/>
              </a:solidFill>
              <a:effectLst/>
              <a:uFillTx/>
              <a:latin typeface="Arial"/>
            </a:endParaRPr>
          </a:p>
        </p:txBody>
      </p:sp>
      <p:sp>
        <p:nvSpPr>
          <p:cNvPr id="4313" name="Shape 73"/>
          <p:cNvSpPr/>
          <p:nvPr/>
        </p:nvSpPr>
        <p:spPr>
          <a:xfrm>
            <a:off x="9541440" y="5104440"/>
            <a:ext cx="2027880" cy="100800"/>
          </a:xfrm>
          <a:prstGeom prst="roundRect">
            <a:avLst>
              <a:gd name="adj" fmla="val 36199"/>
            </a:avLst>
          </a:prstGeom>
          <a:solidFill>
            <a:srgbClr val="ffb04c"/>
          </a:solidFill>
          <a:ln w="12700">
            <a:solidFill>
              <a:srgbClr val="ffb04c"/>
            </a:solidFill>
            <a:round/>
          </a:ln>
        </p:spPr>
        <p:style>
          <a:lnRef idx="0"/>
          <a:fillRef idx="0"/>
          <a:effectRef idx="0"/>
          <a:fontRef idx="minor"/>
        </p:style>
        <p:txBody>
          <a:bodyPr lIns="90000" rIns="90000" tIns="34920" bIns="34920" anchor="t">
            <a:noAutofit/>
          </a:bodyPr>
          <a:p>
            <a:endParaRPr b="0" lang="en-US" sz="1800" strike="noStrike" u="none">
              <a:solidFill>
                <a:srgbClr val="000000"/>
              </a:solidFill>
              <a:effectLst/>
              <a:uFillTx/>
              <a:latin typeface="Arial"/>
            </a:endParaRPr>
          </a:p>
        </p:txBody>
      </p:sp>
      <p:sp>
        <p:nvSpPr>
          <p:cNvPr id="4314" name="Shape 74"/>
          <p:cNvSpPr/>
          <p:nvPr/>
        </p:nvSpPr>
        <p:spPr>
          <a:xfrm>
            <a:off x="621720" y="5303520"/>
            <a:ext cx="411120" cy="594000"/>
          </a:xfrm>
          <a:prstGeom prst="rect">
            <a:avLst/>
          </a:prstGeom>
          <a:solidFill>
            <a:srgbClr val="275b7f"/>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315" name="Text 75"/>
          <p:cNvSpPr/>
          <p:nvPr/>
        </p:nvSpPr>
        <p:spPr>
          <a:xfrm>
            <a:off x="685800" y="5349240"/>
            <a:ext cx="282960" cy="50256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EXECUTION</a:t>
            </a:r>
            <a:endParaRPr b="0" lang="en-US" sz="750" strike="noStrike" u="none">
              <a:solidFill>
                <a:srgbClr val="000000"/>
              </a:solidFill>
              <a:effectLst/>
              <a:uFillTx/>
              <a:latin typeface="Arial"/>
            </a:endParaRPr>
          </a:p>
        </p:txBody>
      </p:sp>
      <p:sp>
        <p:nvSpPr>
          <p:cNvPr id="4316" name="Shape 76"/>
          <p:cNvSpPr/>
          <p:nvPr/>
        </p:nvSpPr>
        <p:spPr>
          <a:xfrm>
            <a:off x="1033200" y="56005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317" name="Shape 77"/>
          <p:cNvSpPr/>
          <p:nvPr/>
        </p:nvSpPr>
        <p:spPr>
          <a:xfrm>
            <a:off x="1143000" y="5342400"/>
            <a:ext cx="45360" cy="219240"/>
          </a:xfrm>
          <a:prstGeom prst="roundRect">
            <a:avLst>
              <a:gd name="adj" fmla="val 60000"/>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318" name="Text 78"/>
          <p:cNvSpPr/>
          <p:nvPr/>
        </p:nvSpPr>
        <p:spPr>
          <a:xfrm>
            <a:off x="1243440" y="530568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Implementation status and on track views</a:t>
            </a:r>
            <a:endParaRPr b="0" lang="en-US" sz="950" strike="noStrike" u="none">
              <a:solidFill>
                <a:srgbClr val="000000"/>
              </a:solidFill>
              <a:effectLst/>
              <a:uFillTx/>
              <a:latin typeface="Arial"/>
            </a:endParaRPr>
          </a:p>
        </p:txBody>
      </p:sp>
      <p:sp>
        <p:nvSpPr>
          <p:cNvPr id="4319" name="Shape 79"/>
          <p:cNvSpPr/>
          <p:nvPr/>
        </p:nvSpPr>
        <p:spPr>
          <a:xfrm>
            <a:off x="7513200" y="5401440"/>
            <a:ext cx="2027880" cy="100800"/>
          </a:xfrm>
          <a:prstGeom prst="roundRect">
            <a:avLst>
              <a:gd name="adj" fmla="val 36199"/>
            </a:avLst>
          </a:prstGeom>
          <a:solidFill>
            <a:srgbClr val="275b7f"/>
          </a:solidFill>
          <a:ln w="12700">
            <a:solidFill>
              <a:srgbClr val="275b7f"/>
            </a:solidFill>
            <a:round/>
          </a:ln>
        </p:spPr>
        <p:style>
          <a:lnRef idx="0"/>
          <a:fillRef idx="0"/>
          <a:effectRef idx="0"/>
          <a:fontRef idx="minor"/>
        </p:style>
        <p:txBody>
          <a:bodyPr lIns="90000" rIns="90000" tIns="34920" bIns="34920" anchor="t">
            <a:noAutofit/>
          </a:bodyPr>
          <a:p>
            <a:endParaRPr b="0" lang="en-US" sz="1800" strike="noStrike" u="none">
              <a:solidFill>
                <a:srgbClr val="ffffff"/>
              </a:solidFill>
              <a:effectLst/>
              <a:uFillTx/>
              <a:latin typeface="Arial"/>
            </a:endParaRPr>
          </a:p>
        </p:txBody>
      </p:sp>
      <p:sp>
        <p:nvSpPr>
          <p:cNvPr id="4320" name="Shape 80"/>
          <p:cNvSpPr/>
          <p:nvPr/>
        </p:nvSpPr>
        <p:spPr>
          <a:xfrm>
            <a:off x="1033200" y="58978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321" name="Shape 81"/>
          <p:cNvSpPr/>
          <p:nvPr/>
        </p:nvSpPr>
        <p:spPr>
          <a:xfrm>
            <a:off x="1143000" y="5639400"/>
            <a:ext cx="45360" cy="219240"/>
          </a:xfrm>
          <a:prstGeom prst="roundRect">
            <a:avLst>
              <a:gd name="adj" fmla="val 60000"/>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322" name="Text 82"/>
          <p:cNvSpPr/>
          <p:nvPr/>
        </p:nvSpPr>
        <p:spPr>
          <a:xfrm>
            <a:off x="1243440" y="560304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50" strike="noStrike" u="none">
                <a:solidFill>
                  <a:srgbClr val="1e2420"/>
                </a:solidFill>
                <a:effectLst/>
                <a:uFillTx/>
                <a:latin typeface="Calibri"/>
                <a:ea typeface="Calibri"/>
              </a:rPr>
              <a:t>Strategy landing page and notifications</a:t>
            </a:r>
            <a:endParaRPr b="0" lang="en-US" sz="950" strike="noStrike" u="none">
              <a:solidFill>
                <a:srgbClr val="000000"/>
              </a:solidFill>
              <a:effectLst/>
              <a:uFillTx/>
              <a:latin typeface="Arial"/>
            </a:endParaRPr>
          </a:p>
        </p:txBody>
      </p:sp>
      <p:sp>
        <p:nvSpPr>
          <p:cNvPr id="4323" name="Shape 83"/>
          <p:cNvSpPr/>
          <p:nvPr/>
        </p:nvSpPr>
        <p:spPr>
          <a:xfrm>
            <a:off x="7513200" y="5698800"/>
            <a:ext cx="2027880" cy="100800"/>
          </a:xfrm>
          <a:prstGeom prst="roundRect">
            <a:avLst>
              <a:gd name="adj" fmla="val 36199"/>
            </a:avLst>
          </a:prstGeom>
          <a:solidFill>
            <a:srgbClr val="275b7f"/>
          </a:solidFill>
          <a:ln w="12700">
            <a:solidFill>
              <a:srgbClr val="275b7f"/>
            </a:solidFill>
            <a:round/>
          </a:ln>
        </p:spPr>
        <p:style>
          <a:lnRef idx="0"/>
          <a:fillRef idx="0"/>
          <a:effectRef idx="0"/>
          <a:fontRef idx="minor"/>
        </p:style>
        <p:txBody>
          <a:bodyPr lIns="90000" rIns="90000" tIns="34920" bIns="34920" anchor="t">
            <a:noAutofit/>
          </a:bodyPr>
          <a:p>
            <a:endParaRPr b="0" lang="en-US" sz="1800" strike="noStrike" u="none">
              <a:solidFill>
                <a:srgbClr val="ffffff"/>
              </a:solidFill>
              <a:effectLst/>
              <a:uFillTx/>
              <a:latin typeface="Arial"/>
            </a:endParaRPr>
          </a:p>
        </p:txBody>
      </p:sp>
      <p:sp>
        <p:nvSpPr>
          <p:cNvPr id="4324" name="Shape 84"/>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325" name="Text 85"/>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4326" name="Text 86"/>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4327" name="PlaceHolder 1"/>
          <p:cNvSpPr>
            <a:spLocks noGrp="1"/>
          </p:cNvSpPr>
          <p:nvPr>
            <p:ph type="sldNum" idx="92"/>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E2CC3D61-FD86-4D94-96E1-BCFF59F91095}"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0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328"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4329"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4330" name="Shape 2"/>
          <p:cNvSpPr/>
          <p:nvPr/>
        </p:nvSpPr>
        <p:spPr>
          <a:xfrm>
            <a:off x="621720" y="311040"/>
            <a:ext cx="134388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331" name="Text 3"/>
          <p:cNvSpPr/>
          <p:nvPr/>
        </p:nvSpPr>
        <p:spPr>
          <a:xfrm>
            <a:off x="804600" y="329040"/>
            <a:ext cx="101448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STRATEGY</a:t>
            </a:r>
            <a:endParaRPr b="0" lang="en-US" sz="950" strike="noStrike" u="none">
              <a:solidFill>
                <a:srgbClr val="000000"/>
              </a:solidFill>
              <a:effectLst/>
              <a:uFillTx/>
              <a:latin typeface="Arial"/>
            </a:endParaRPr>
          </a:p>
        </p:txBody>
      </p:sp>
      <p:sp>
        <p:nvSpPr>
          <p:cNvPr id="4332"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What ships inside the strategy goals</a:t>
            </a:r>
            <a:endParaRPr b="0" lang="en-US" sz="3200" strike="noStrike" u="none">
              <a:solidFill>
                <a:srgbClr val="000000"/>
              </a:solidFill>
              <a:effectLst/>
              <a:uFillTx/>
              <a:latin typeface="Arial"/>
            </a:endParaRPr>
          </a:p>
        </p:txBody>
      </p:sp>
      <p:sp>
        <p:nvSpPr>
          <p:cNvPr id="4333"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Targets and initiatives, then execution, then guided recommendations.</a:t>
            </a:r>
            <a:endParaRPr b="0" lang="en-US" sz="1250" strike="noStrike" u="none">
              <a:solidFill>
                <a:srgbClr val="000000"/>
              </a:solidFill>
              <a:effectLst/>
              <a:uFillTx/>
              <a:latin typeface="Arial"/>
            </a:endParaRPr>
          </a:p>
        </p:txBody>
      </p:sp>
      <p:sp>
        <p:nvSpPr>
          <p:cNvPr id="4334"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335" name="Shape 7"/>
          <p:cNvSpPr/>
          <p:nvPr/>
        </p:nvSpPr>
        <p:spPr>
          <a:xfrm>
            <a:off x="6217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336"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4337"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GOAL 1</a:t>
            </a:r>
            <a:endParaRPr b="0" lang="en-US" sz="900" strike="noStrike" u="none">
              <a:solidFill>
                <a:srgbClr val="000000"/>
              </a:solidFill>
              <a:effectLst/>
              <a:uFillTx/>
              <a:latin typeface="Arial"/>
            </a:endParaRPr>
          </a:p>
        </p:txBody>
      </p:sp>
      <p:sp>
        <p:nvSpPr>
          <p:cNvPr id="4338"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Planning foundation</a:t>
            </a:r>
            <a:endParaRPr b="0" lang="en-US" sz="1600" strike="noStrike" u="none">
              <a:solidFill>
                <a:srgbClr val="000000"/>
              </a:solidFill>
              <a:effectLst/>
              <a:uFillTx/>
              <a:latin typeface="Arial"/>
            </a:endParaRPr>
          </a:p>
        </p:txBody>
      </p:sp>
      <p:sp>
        <p:nvSpPr>
          <p:cNvPr id="4339" name="Text 11"/>
          <p:cNvSpPr/>
          <p:nvPr/>
        </p:nvSpPr>
        <p:spPr>
          <a:xfrm>
            <a:off x="80460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Targets, scenarios, initiatives.</a:t>
            </a:r>
            <a:endParaRPr b="0" lang="en-US" sz="1100" strike="noStrike" u="none">
              <a:solidFill>
                <a:srgbClr val="000000"/>
              </a:solidFill>
              <a:effectLst/>
              <a:uFillTx/>
              <a:latin typeface="Arial"/>
            </a:endParaRPr>
          </a:p>
        </p:txBody>
      </p:sp>
      <p:sp>
        <p:nvSpPr>
          <p:cNvPr id="4340" name="Text 12"/>
          <p:cNvSpPr/>
          <p:nvPr/>
        </p:nvSpPr>
        <p:spPr>
          <a:xfrm>
            <a:off x="82296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050" strike="noStrike" u="none">
                <a:solidFill>
                  <a:srgbClr val="3dcd58"/>
                </a:solidFill>
                <a:effectLst/>
                <a:uFillTx/>
                <a:latin typeface="Calibri"/>
                <a:ea typeface="Calibri"/>
              </a:rPr>
              <a:t>▪ </a:t>
            </a:r>
            <a:r>
              <a:rPr b="0" lang="en-US" sz="1050" strike="noStrike" u="none">
                <a:solidFill>
                  <a:srgbClr val="3a423c"/>
                </a:solidFill>
                <a:effectLst/>
                <a:uFillTx/>
                <a:latin typeface="Calibri"/>
                <a:ea typeface="Calibri"/>
              </a:rPr>
              <a:t>Reduction goals by entity, scope and horizon, with pathway comparison</a:t>
            </a:r>
            <a:endParaRPr b="0" lang="en-US" sz="1050" strike="noStrike" u="none">
              <a:solidFill>
                <a:srgbClr val="000000"/>
              </a:solidFill>
              <a:effectLst/>
              <a:uFillTx/>
              <a:latin typeface="Arial"/>
            </a:endParaRPr>
          </a:p>
          <a:p>
            <a:pPr defTabSz="914400">
              <a:lnSpc>
                <a:spcPct val="118000"/>
              </a:lnSpc>
              <a:spcAft>
                <a:spcPts val="300"/>
              </a:spcAft>
              <a:tabLst>
                <a:tab algn="l" pos="0"/>
              </a:tabLst>
            </a:pPr>
            <a:r>
              <a:rPr b="1" lang="en-US" sz="1050" strike="noStrike" u="none">
                <a:solidFill>
                  <a:srgbClr val="3dcd58"/>
                </a:solidFill>
                <a:effectLst/>
                <a:uFillTx/>
                <a:latin typeface="Calibri"/>
                <a:ea typeface="Calibri"/>
              </a:rPr>
              <a:t>▪ </a:t>
            </a:r>
            <a:r>
              <a:rPr b="0" lang="en-US" sz="1050" strike="noStrike" u="none">
                <a:solidFill>
                  <a:srgbClr val="3a423c"/>
                </a:solidFill>
                <a:effectLst/>
                <a:uFillTx/>
                <a:latin typeface="Calibri"/>
                <a:ea typeface="Calibri"/>
              </a:rPr>
              <a:t>Initiative portfolios showing contribution to each target</a:t>
            </a:r>
            <a:endParaRPr b="0" lang="en-US" sz="1050" strike="noStrike" u="none">
              <a:solidFill>
                <a:srgbClr val="000000"/>
              </a:solidFill>
              <a:effectLst/>
              <a:uFillTx/>
              <a:latin typeface="Arial"/>
            </a:endParaRPr>
          </a:p>
          <a:p>
            <a:pPr defTabSz="914400">
              <a:lnSpc>
                <a:spcPct val="118000"/>
              </a:lnSpc>
              <a:spcAft>
                <a:spcPts val="300"/>
              </a:spcAft>
              <a:tabLst>
                <a:tab algn="l" pos="0"/>
              </a:tabLst>
            </a:pPr>
            <a:r>
              <a:rPr b="1" lang="en-US" sz="1050" strike="noStrike" u="none">
                <a:solidFill>
                  <a:srgbClr val="3dcd58"/>
                </a:solidFill>
                <a:effectLst/>
                <a:uFillTx/>
                <a:latin typeface="Calibri"/>
                <a:ea typeface="Calibri"/>
              </a:rPr>
              <a:t>▪ </a:t>
            </a:r>
            <a:r>
              <a:rPr b="0" lang="en-US" sz="1050" strike="noStrike" u="none">
                <a:solidFill>
                  <a:srgbClr val="3a423c"/>
                </a:solidFill>
                <a:effectLst/>
                <a:uFillTx/>
                <a:latin typeface="Calibri"/>
                <a:ea typeface="Calibri"/>
              </a:rPr>
              <a:t>Relevancy and business as usual views</a:t>
            </a:r>
            <a:endParaRPr b="0" lang="en-US" sz="1050" strike="noStrike" u="none">
              <a:solidFill>
                <a:srgbClr val="000000"/>
              </a:solidFill>
              <a:effectLst/>
              <a:uFillTx/>
              <a:latin typeface="Arial"/>
            </a:endParaRPr>
          </a:p>
          <a:p>
            <a:pPr defTabSz="914400">
              <a:lnSpc>
                <a:spcPct val="118000"/>
              </a:lnSpc>
              <a:spcAft>
                <a:spcPts val="300"/>
              </a:spcAft>
              <a:tabLst>
                <a:tab algn="l" pos="0"/>
              </a:tabLst>
            </a:pPr>
            <a:r>
              <a:rPr b="1" lang="en-US" sz="1050" strike="noStrike" u="none">
                <a:solidFill>
                  <a:srgbClr val="3dcd58"/>
                </a:solidFill>
                <a:effectLst/>
                <a:uFillTx/>
                <a:latin typeface="Calibri"/>
                <a:ea typeface="Calibri"/>
              </a:rPr>
              <a:t>▪ </a:t>
            </a:r>
            <a:r>
              <a:rPr b="0" lang="en-US" sz="1050" strike="noStrike" u="none">
                <a:solidFill>
                  <a:srgbClr val="3a423c"/>
                </a:solidFill>
                <a:effectLst/>
                <a:uFillTx/>
                <a:latin typeface="Calibri"/>
                <a:ea typeface="Calibri"/>
              </a:rPr>
              <a:t>Standard initiative types, impact sequencing</a:t>
            </a:r>
            <a:endParaRPr b="0" lang="en-US" sz="1050" strike="noStrike" u="none">
              <a:solidFill>
                <a:srgbClr val="000000"/>
              </a:solidFill>
              <a:effectLst/>
              <a:uFillTx/>
              <a:latin typeface="Arial"/>
            </a:endParaRPr>
          </a:p>
          <a:p>
            <a:pPr defTabSz="914400">
              <a:lnSpc>
                <a:spcPct val="118000"/>
              </a:lnSpc>
              <a:spcAft>
                <a:spcPts val="300"/>
              </a:spcAft>
              <a:tabLst>
                <a:tab algn="l" pos="0"/>
              </a:tabLst>
            </a:pPr>
            <a:r>
              <a:rPr b="1" lang="en-US" sz="1050" strike="noStrike" u="none">
                <a:solidFill>
                  <a:srgbClr val="3dcd58"/>
                </a:solidFill>
                <a:effectLst/>
                <a:uFillTx/>
                <a:latin typeface="Calibri"/>
                <a:ea typeface="Calibri"/>
              </a:rPr>
              <a:t>▪ </a:t>
            </a:r>
            <a:r>
              <a:rPr b="0" lang="en-US" sz="1050" strike="noStrike" u="none">
                <a:solidFill>
                  <a:srgbClr val="3a423c"/>
                </a:solidFill>
                <a:effectLst/>
                <a:uFillTx/>
                <a:latin typeface="Calibri"/>
                <a:ea typeface="Calibri"/>
              </a:rPr>
              <a:t>Beyond GHG: energy, water and waste targets</a:t>
            </a:r>
            <a:endParaRPr b="0" lang="en-US" sz="1050" strike="noStrike" u="none">
              <a:solidFill>
                <a:srgbClr val="000000"/>
              </a:solidFill>
              <a:effectLst/>
              <a:uFillTx/>
              <a:latin typeface="Arial"/>
            </a:endParaRPr>
          </a:p>
        </p:txBody>
      </p:sp>
      <p:sp>
        <p:nvSpPr>
          <p:cNvPr id="4341" name="Shape 13"/>
          <p:cNvSpPr/>
          <p:nvPr/>
        </p:nvSpPr>
        <p:spPr>
          <a:xfrm>
            <a:off x="342756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342" name="Shape 14"/>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4343" name="Text 15"/>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GOAL 2</a:t>
            </a:r>
            <a:endParaRPr b="0" lang="en-US" sz="900" strike="noStrike" u="none">
              <a:solidFill>
                <a:srgbClr val="000000"/>
              </a:solidFill>
              <a:effectLst/>
              <a:uFillTx/>
              <a:latin typeface="Arial"/>
            </a:endParaRPr>
          </a:p>
        </p:txBody>
      </p:sp>
      <p:sp>
        <p:nvSpPr>
          <p:cNvPr id="4344" name="Text 16"/>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Actions execution</a:t>
            </a:r>
            <a:endParaRPr b="0" lang="en-US" sz="1600" strike="noStrike" u="none">
              <a:solidFill>
                <a:srgbClr val="000000"/>
              </a:solidFill>
              <a:effectLst/>
              <a:uFillTx/>
              <a:latin typeface="Arial"/>
            </a:endParaRPr>
          </a:p>
        </p:txBody>
      </p:sp>
      <p:sp>
        <p:nvSpPr>
          <p:cNvPr id="4345" name="Text 17"/>
          <p:cNvSpPr/>
          <p:nvPr/>
        </p:nvSpPr>
        <p:spPr>
          <a:xfrm>
            <a:off x="361044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Programs, projects, purchases.</a:t>
            </a:r>
            <a:endParaRPr b="0" lang="en-US" sz="1100" strike="noStrike" u="none">
              <a:solidFill>
                <a:srgbClr val="000000"/>
              </a:solidFill>
              <a:effectLst/>
              <a:uFillTx/>
              <a:latin typeface="Arial"/>
            </a:endParaRPr>
          </a:p>
        </p:txBody>
      </p:sp>
      <p:sp>
        <p:nvSpPr>
          <p:cNvPr id="4346" name="Text 18"/>
          <p:cNvSpPr/>
          <p:nvPr/>
        </p:nvSpPr>
        <p:spPr>
          <a:xfrm>
            <a:off x="362844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050" strike="noStrike" u="none">
                <a:solidFill>
                  <a:srgbClr val="007a27"/>
                </a:solidFill>
                <a:effectLst/>
                <a:uFillTx/>
                <a:latin typeface="Calibri"/>
                <a:ea typeface="Calibri"/>
              </a:rPr>
              <a:t>▪ </a:t>
            </a:r>
            <a:r>
              <a:rPr b="0" lang="en-US" sz="1050" strike="noStrike" u="none">
                <a:solidFill>
                  <a:srgbClr val="3a423c"/>
                </a:solidFill>
                <a:effectLst/>
                <a:uFillTx/>
                <a:latin typeface="Calibri"/>
                <a:ea typeface="Calibri"/>
              </a:rPr>
              <a:t>Site level actions with absolute measures under each initiative</a:t>
            </a:r>
            <a:endParaRPr b="0" lang="en-US" sz="1050" strike="noStrike" u="none">
              <a:solidFill>
                <a:srgbClr val="000000"/>
              </a:solidFill>
              <a:effectLst/>
              <a:uFillTx/>
              <a:latin typeface="Arial"/>
            </a:endParaRPr>
          </a:p>
          <a:p>
            <a:pPr defTabSz="914400">
              <a:lnSpc>
                <a:spcPct val="118000"/>
              </a:lnSpc>
              <a:spcAft>
                <a:spcPts val="300"/>
              </a:spcAft>
              <a:tabLst>
                <a:tab algn="l" pos="0"/>
              </a:tabLst>
            </a:pPr>
            <a:r>
              <a:rPr b="1" lang="en-US" sz="1050" strike="noStrike" u="none">
                <a:solidFill>
                  <a:srgbClr val="007a27"/>
                </a:solidFill>
                <a:effectLst/>
                <a:uFillTx/>
                <a:latin typeface="Calibri"/>
                <a:ea typeface="Calibri"/>
              </a:rPr>
              <a:t>▪ </a:t>
            </a:r>
            <a:r>
              <a:rPr b="0" lang="en-US" sz="1050" strike="noStrike" u="none">
                <a:solidFill>
                  <a:srgbClr val="3a423c"/>
                </a:solidFill>
                <a:effectLst/>
                <a:uFillTx/>
                <a:latin typeface="Calibri"/>
                <a:ea typeface="Calibri"/>
              </a:rPr>
              <a:t>Configurable action types published without engineering releases</a:t>
            </a:r>
            <a:endParaRPr b="0" lang="en-US" sz="1050" strike="noStrike" u="none">
              <a:solidFill>
                <a:srgbClr val="000000"/>
              </a:solidFill>
              <a:effectLst/>
              <a:uFillTx/>
              <a:latin typeface="Arial"/>
            </a:endParaRPr>
          </a:p>
          <a:p>
            <a:pPr defTabSz="914400">
              <a:lnSpc>
                <a:spcPct val="118000"/>
              </a:lnSpc>
              <a:spcAft>
                <a:spcPts val="300"/>
              </a:spcAft>
              <a:tabLst>
                <a:tab algn="l" pos="0"/>
              </a:tabLst>
            </a:pPr>
            <a:r>
              <a:rPr b="1" lang="en-US" sz="1050" strike="noStrike" u="none">
                <a:solidFill>
                  <a:srgbClr val="007a27"/>
                </a:solidFill>
                <a:effectLst/>
                <a:uFillTx/>
                <a:latin typeface="Calibri"/>
                <a:ea typeface="Calibri"/>
              </a:rPr>
              <a:t>▪ </a:t>
            </a:r>
            <a:r>
              <a:rPr b="0" lang="en-US" sz="1050" strike="noStrike" u="none">
                <a:solidFill>
                  <a:srgbClr val="3a423c"/>
                </a:solidFill>
                <a:effectLst/>
                <a:uFillTx/>
                <a:latin typeface="Calibri"/>
                <a:ea typeface="Calibri"/>
              </a:rPr>
              <a:t>Monthly plan versus actuals with underperformance alerts</a:t>
            </a:r>
            <a:endParaRPr b="0" lang="en-US" sz="1050" strike="noStrike" u="none">
              <a:solidFill>
                <a:srgbClr val="000000"/>
              </a:solidFill>
              <a:effectLst/>
              <a:uFillTx/>
              <a:latin typeface="Arial"/>
            </a:endParaRPr>
          </a:p>
          <a:p>
            <a:pPr defTabSz="914400">
              <a:lnSpc>
                <a:spcPct val="118000"/>
              </a:lnSpc>
              <a:spcAft>
                <a:spcPts val="300"/>
              </a:spcAft>
              <a:tabLst>
                <a:tab algn="l" pos="0"/>
              </a:tabLst>
            </a:pPr>
            <a:r>
              <a:rPr b="1" lang="en-US" sz="1050" strike="noStrike" u="none">
                <a:solidFill>
                  <a:srgbClr val="007a27"/>
                </a:solidFill>
                <a:effectLst/>
                <a:uFillTx/>
                <a:latin typeface="Calibri"/>
                <a:ea typeface="Calibri"/>
              </a:rPr>
              <a:t>▪ </a:t>
            </a:r>
            <a:r>
              <a:rPr b="0" lang="en-US" sz="1050" strike="noStrike" u="none">
                <a:solidFill>
                  <a:srgbClr val="3a423c"/>
                </a:solidFill>
                <a:effectLst/>
                <a:uFillTx/>
                <a:latin typeface="Calibri"/>
                <a:ea typeface="Calibri"/>
              </a:rPr>
              <a:t>Audit ready evidence: vendor, contract, EAC registry, documents</a:t>
            </a:r>
            <a:endParaRPr b="0" lang="en-US" sz="1050" strike="noStrike" u="none">
              <a:solidFill>
                <a:srgbClr val="000000"/>
              </a:solidFill>
              <a:effectLst/>
              <a:uFillTx/>
              <a:latin typeface="Arial"/>
            </a:endParaRPr>
          </a:p>
          <a:p>
            <a:pPr defTabSz="914400">
              <a:lnSpc>
                <a:spcPct val="118000"/>
              </a:lnSpc>
              <a:spcAft>
                <a:spcPts val="300"/>
              </a:spcAft>
              <a:tabLst>
                <a:tab algn="l" pos="0"/>
              </a:tabLst>
            </a:pPr>
            <a:r>
              <a:rPr b="1" lang="en-US" sz="1050" strike="noStrike" u="none">
                <a:solidFill>
                  <a:srgbClr val="007a27"/>
                </a:solidFill>
                <a:effectLst/>
                <a:uFillTx/>
                <a:latin typeface="Calibri"/>
                <a:ea typeface="Calibri"/>
              </a:rPr>
              <a:t>▪ </a:t>
            </a:r>
            <a:r>
              <a:rPr b="0" lang="en-US" sz="1050" strike="noStrike" u="none">
                <a:solidFill>
                  <a:srgbClr val="3a423c"/>
                </a:solidFill>
                <a:effectLst/>
                <a:uFillTx/>
                <a:latin typeface="Calibri"/>
                <a:ea typeface="Calibri"/>
              </a:rPr>
              <a:t>Centralised action library deployed across many sites</a:t>
            </a:r>
            <a:endParaRPr b="0" lang="en-US" sz="1050" strike="noStrike" u="none">
              <a:solidFill>
                <a:srgbClr val="000000"/>
              </a:solidFill>
              <a:effectLst/>
              <a:uFillTx/>
              <a:latin typeface="Arial"/>
            </a:endParaRPr>
          </a:p>
        </p:txBody>
      </p:sp>
      <p:sp>
        <p:nvSpPr>
          <p:cNvPr id="4347" name="Shape 19"/>
          <p:cNvSpPr/>
          <p:nvPr/>
        </p:nvSpPr>
        <p:spPr>
          <a:xfrm>
            <a:off x="623304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348" name="Shape 20"/>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4349" name="Text 21"/>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GOAL 3</a:t>
            </a:r>
            <a:endParaRPr b="0" lang="en-US" sz="900" strike="noStrike" u="none">
              <a:solidFill>
                <a:srgbClr val="000000"/>
              </a:solidFill>
              <a:effectLst/>
              <a:uFillTx/>
              <a:latin typeface="Arial"/>
            </a:endParaRPr>
          </a:p>
        </p:txBody>
      </p:sp>
      <p:sp>
        <p:nvSpPr>
          <p:cNvPr id="4350" name="Text 22"/>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Recommendations</a:t>
            </a:r>
            <a:endParaRPr b="0" lang="en-US" sz="1600" strike="noStrike" u="none">
              <a:solidFill>
                <a:srgbClr val="000000"/>
              </a:solidFill>
              <a:effectLst/>
              <a:uFillTx/>
              <a:latin typeface="Arial"/>
            </a:endParaRPr>
          </a:p>
        </p:txBody>
      </p:sp>
      <p:sp>
        <p:nvSpPr>
          <p:cNvPr id="4351" name="Text 23"/>
          <p:cNvSpPr/>
          <p:nvPr/>
        </p:nvSpPr>
        <p:spPr>
          <a:xfrm>
            <a:off x="641592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Sera guided next steps.</a:t>
            </a:r>
            <a:endParaRPr b="0" lang="en-US" sz="1100" strike="noStrike" u="none">
              <a:solidFill>
                <a:srgbClr val="000000"/>
              </a:solidFill>
              <a:effectLst/>
              <a:uFillTx/>
              <a:latin typeface="Arial"/>
            </a:endParaRPr>
          </a:p>
        </p:txBody>
      </p:sp>
      <p:sp>
        <p:nvSpPr>
          <p:cNvPr id="4352" name="Text 24"/>
          <p:cNvSpPr/>
          <p:nvPr/>
        </p:nvSpPr>
        <p:spPr>
          <a:xfrm>
            <a:off x="643428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050" strike="noStrike" u="none">
                <a:solidFill>
                  <a:srgbClr val="ffb04c"/>
                </a:solidFill>
                <a:effectLst/>
                <a:uFillTx/>
                <a:latin typeface="Calibri"/>
                <a:ea typeface="Calibri"/>
              </a:rPr>
              <a:t>▪ </a:t>
            </a:r>
            <a:r>
              <a:rPr b="0" lang="en-US" sz="1050" strike="noStrike" u="none">
                <a:solidFill>
                  <a:srgbClr val="3a423c"/>
                </a:solidFill>
                <a:effectLst/>
                <a:uFillTx/>
                <a:latin typeface="Calibri"/>
                <a:ea typeface="Calibri"/>
              </a:rPr>
              <a:t>Site aware energy efficiency measures from the governed ECM catalogue</a:t>
            </a:r>
            <a:endParaRPr b="0" lang="en-US" sz="1050" strike="noStrike" u="none">
              <a:solidFill>
                <a:srgbClr val="000000"/>
              </a:solidFill>
              <a:effectLst/>
              <a:uFillTx/>
              <a:latin typeface="Arial"/>
            </a:endParaRPr>
          </a:p>
          <a:p>
            <a:pPr defTabSz="914400">
              <a:lnSpc>
                <a:spcPct val="118000"/>
              </a:lnSpc>
              <a:spcAft>
                <a:spcPts val="300"/>
              </a:spcAft>
              <a:tabLst>
                <a:tab algn="l" pos="0"/>
              </a:tabLst>
            </a:pPr>
            <a:r>
              <a:rPr b="1" lang="en-US" sz="1050" strike="noStrike" u="none">
                <a:solidFill>
                  <a:srgbClr val="ffb04c"/>
                </a:solidFill>
                <a:effectLst/>
                <a:uFillTx/>
                <a:latin typeface="Calibri"/>
                <a:ea typeface="Calibri"/>
              </a:rPr>
              <a:t>▪ </a:t>
            </a:r>
            <a:r>
              <a:rPr b="0" lang="en-US" sz="1050" strike="noStrike" u="none">
                <a:solidFill>
                  <a:srgbClr val="3a423c"/>
                </a:solidFill>
                <a:effectLst/>
                <a:uFillTx/>
                <a:latin typeface="Calibri"/>
                <a:ea typeface="Calibri"/>
              </a:rPr>
              <a:t>Initiative type recommendations from residual emissions</a:t>
            </a:r>
            <a:endParaRPr b="0" lang="en-US" sz="1050" strike="noStrike" u="none">
              <a:solidFill>
                <a:srgbClr val="000000"/>
              </a:solidFill>
              <a:effectLst/>
              <a:uFillTx/>
              <a:latin typeface="Arial"/>
            </a:endParaRPr>
          </a:p>
          <a:p>
            <a:pPr defTabSz="914400">
              <a:lnSpc>
                <a:spcPct val="118000"/>
              </a:lnSpc>
              <a:spcAft>
                <a:spcPts val="300"/>
              </a:spcAft>
              <a:tabLst>
                <a:tab algn="l" pos="0"/>
              </a:tabLst>
            </a:pPr>
            <a:r>
              <a:rPr b="1" lang="en-US" sz="1050" strike="noStrike" u="none">
                <a:solidFill>
                  <a:srgbClr val="ffb04c"/>
                </a:solidFill>
                <a:effectLst/>
                <a:uFillTx/>
                <a:latin typeface="Calibri"/>
                <a:ea typeface="Calibri"/>
              </a:rPr>
              <a:t>▪ </a:t>
            </a:r>
            <a:r>
              <a:rPr b="0" lang="en-US" sz="1050" strike="noStrike" u="none">
                <a:solidFill>
                  <a:srgbClr val="3a423c"/>
                </a:solidFill>
                <a:effectLst/>
                <a:uFillTx/>
                <a:latin typeface="Calibri"/>
                <a:ea typeface="Calibri"/>
              </a:rPr>
              <a:t>Typical savings, cost ranges and feasibility in site context</a:t>
            </a:r>
            <a:endParaRPr b="0" lang="en-US" sz="1050" strike="noStrike" u="none">
              <a:solidFill>
                <a:srgbClr val="000000"/>
              </a:solidFill>
              <a:effectLst/>
              <a:uFillTx/>
              <a:latin typeface="Arial"/>
            </a:endParaRPr>
          </a:p>
          <a:p>
            <a:pPr defTabSz="914400">
              <a:lnSpc>
                <a:spcPct val="118000"/>
              </a:lnSpc>
              <a:spcAft>
                <a:spcPts val="300"/>
              </a:spcAft>
              <a:tabLst>
                <a:tab algn="l" pos="0"/>
              </a:tabLst>
            </a:pPr>
            <a:r>
              <a:rPr b="1" lang="en-US" sz="1050" strike="noStrike" u="none">
                <a:solidFill>
                  <a:srgbClr val="ffb04c"/>
                </a:solidFill>
                <a:effectLst/>
                <a:uFillTx/>
                <a:latin typeface="Calibri"/>
                <a:ea typeface="Calibri"/>
              </a:rPr>
              <a:t>▪ </a:t>
            </a:r>
            <a:r>
              <a:rPr b="0" lang="en-US" sz="1050" strike="noStrike" u="none">
                <a:solidFill>
                  <a:srgbClr val="3a423c"/>
                </a:solidFill>
                <a:effectLst/>
                <a:uFillTx/>
                <a:latin typeface="Calibri"/>
                <a:ea typeface="Calibri"/>
              </a:rPr>
              <a:t>Later: qualitative market intelligence and net zero scenarios</a:t>
            </a:r>
            <a:endParaRPr b="0" lang="en-US" sz="1050" strike="noStrike" u="none">
              <a:solidFill>
                <a:srgbClr val="000000"/>
              </a:solidFill>
              <a:effectLst/>
              <a:uFillTx/>
              <a:latin typeface="Arial"/>
            </a:endParaRPr>
          </a:p>
        </p:txBody>
      </p:sp>
      <p:sp>
        <p:nvSpPr>
          <p:cNvPr id="4353" name="Shape 25"/>
          <p:cNvSpPr/>
          <p:nvPr/>
        </p:nvSpPr>
        <p:spPr>
          <a:xfrm>
            <a:off x="90385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354" name="Shape 26"/>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4355" name="Text 27"/>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GOAL 4</a:t>
            </a:r>
            <a:endParaRPr b="0" lang="en-US" sz="900" strike="noStrike" u="none">
              <a:solidFill>
                <a:srgbClr val="000000"/>
              </a:solidFill>
              <a:effectLst/>
              <a:uFillTx/>
              <a:latin typeface="Arial"/>
            </a:endParaRPr>
          </a:p>
        </p:txBody>
      </p:sp>
      <p:sp>
        <p:nvSpPr>
          <p:cNvPr id="4356" name="Text 28"/>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Scale and governance</a:t>
            </a:r>
            <a:endParaRPr b="0" lang="en-US" sz="1600" strike="noStrike" u="none">
              <a:solidFill>
                <a:srgbClr val="000000"/>
              </a:solidFill>
              <a:effectLst/>
              <a:uFillTx/>
              <a:latin typeface="Arial"/>
            </a:endParaRPr>
          </a:p>
        </p:txBody>
      </p:sp>
      <p:sp>
        <p:nvSpPr>
          <p:cNvPr id="4357" name="Text 29"/>
          <p:cNvSpPr/>
          <p:nvPr/>
        </p:nvSpPr>
        <p:spPr>
          <a:xfrm>
            <a:off x="922140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Enterprise structures.</a:t>
            </a:r>
            <a:endParaRPr b="0" lang="en-US" sz="1100" strike="noStrike" u="none">
              <a:solidFill>
                <a:srgbClr val="000000"/>
              </a:solidFill>
              <a:effectLst/>
              <a:uFillTx/>
              <a:latin typeface="Arial"/>
            </a:endParaRPr>
          </a:p>
        </p:txBody>
      </p:sp>
      <p:sp>
        <p:nvSpPr>
          <p:cNvPr id="4358" name="Text 30"/>
          <p:cNvSpPr/>
          <p:nvPr/>
        </p:nvSpPr>
        <p:spPr>
          <a:xfrm>
            <a:off x="923976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050" strike="noStrike" u="none">
                <a:solidFill>
                  <a:srgbClr val="275b7f"/>
                </a:solidFill>
                <a:effectLst/>
                <a:uFillTx/>
                <a:latin typeface="Calibri"/>
                <a:ea typeface="Calibri"/>
              </a:rPr>
              <a:t>▪ </a:t>
            </a:r>
            <a:r>
              <a:rPr b="0" lang="en-US" sz="1050" strike="noStrike" u="none">
                <a:solidFill>
                  <a:srgbClr val="3a423c"/>
                </a:solidFill>
                <a:effectLst/>
                <a:uFillTx/>
                <a:latin typeface="Calibri"/>
                <a:ea typeface="Calibri"/>
              </a:rPr>
              <a:t>Complex and cascading target structures</a:t>
            </a:r>
            <a:endParaRPr b="0" lang="en-US" sz="1050" strike="noStrike" u="none">
              <a:solidFill>
                <a:srgbClr val="000000"/>
              </a:solidFill>
              <a:effectLst/>
              <a:uFillTx/>
              <a:latin typeface="Arial"/>
            </a:endParaRPr>
          </a:p>
          <a:p>
            <a:pPr defTabSz="914400">
              <a:lnSpc>
                <a:spcPct val="118000"/>
              </a:lnSpc>
              <a:spcAft>
                <a:spcPts val="300"/>
              </a:spcAft>
              <a:tabLst>
                <a:tab algn="l" pos="0"/>
              </a:tabLst>
            </a:pPr>
            <a:r>
              <a:rPr b="1" lang="en-US" sz="1050" strike="noStrike" u="none">
                <a:solidFill>
                  <a:srgbClr val="275b7f"/>
                </a:solidFill>
                <a:effectLst/>
                <a:uFillTx/>
                <a:latin typeface="Calibri"/>
                <a:ea typeface="Calibri"/>
              </a:rPr>
              <a:t>▪ </a:t>
            </a:r>
            <a:r>
              <a:rPr b="0" lang="en-US" sz="1050" strike="noStrike" u="none">
                <a:solidFill>
                  <a:srgbClr val="3a423c"/>
                </a:solidFill>
                <a:effectLst/>
                <a:uFillTx/>
                <a:latin typeface="Calibri"/>
                <a:ea typeface="Calibri"/>
              </a:rPr>
              <a:t>Multi hierarchy plans and cascading allocation</a:t>
            </a:r>
            <a:endParaRPr b="0" lang="en-US" sz="1050" strike="noStrike" u="none">
              <a:solidFill>
                <a:srgbClr val="000000"/>
              </a:solidFill>
              <a:effectLst/>
              <a:uFillTx/>
              <a:latin typeface="Arial"/>
            </a:endParaRPr>
          </a:p>
          <a:p>
            <a:pPr defTabSz="914400">
              <a:lnSpc>
                <a:spcPct val="118000"/>
              </a:lnSpc>
              <a:spcAft>
                <a:spcPts val="300"/>
              </a:spcAft>
              <a:tabLst>
                <a:tab algn="l" pos="0"/>
              </a:tabLst>
            </a:pPr>
            <a:r>
              <a:rPr b="1" lang="en-US" sz="1050" strike="noStrike" u="none">
                <a:solidFill>
                  <a:srgbClr val="275b7f"/>
                </a:solidFill>
                <a:effectLst/>
                <a:uFillTx/>
                <a:latin typeface="Calibri"/>
                <a:ea typeface="Calibri"/>
              </a:rPr>
              <a:t>▪ </a:t>
            </a:r>
            <a:r>
              <a:rPr b="0" lang="en-US" sz="1050" strike="noStrike" u="none">
                <a:solidFill>
                  <a:srgbClr val="3a423c"/>
                </a:solidFill>
                <a:effectLst/>
                <a:uFillTx/>
                <a:latin typeface="Calibri"/>
                <a:ea typeface="Calibri"/>
              </a:rPr>
              <a:t>Implementation statuses and on track reporting</a:t>
            </a:r>
            <a:endParaRPr b="0" lang="en-US" sz="1050" strike="noStrike" u="none">
              <a:solidFill>
                <a:srgbClr val="000000"/>
              </a:solidFill>
              <a:effectLst/>
              <a:uFillTx/>
              <a:latin typeface="Arial"/>
            </a:endParaRPr>
          </a:p>
          <a:p>
            <a:pPr defTabSz="914400">
              <a:lnSpc>
                <a:spcPct val="118000"/>
              </a:lnSpc>
              <a:spcAft>
                <a:spcPts val="300"/>
              </a:spcAft>
              <a:tabLst>
                <a:tab algn="l" pos="0"/>
              </a:tabLst>
            </a:pPr>
            <a:r>
              <a:rPr b="1" lang="en-US" sz="1050" strike="noStrike" u="none">
                <a:solidFill>
                  <a:srgbClr val="275b7f"/>
                </a:solidFill>
                <a:effectLst/>
                <a:uFillTx/>
                <a:latin typeface="Calibri"/>
                <a:ea typeface="Calibri"/>
              </a:rPr>
              <a:t>▪ </a:t>
            </a:r>
            <a:r>
              <a:rPr b="0" lang="en-US" sz="1050" strike="noStrike" u="none">
                <a:solidFill>
                  <a:srgbClr val="3a423c"/>
                </a:solidFill>
                <a:effectLst/>
                <a:uFillTx/>
                <a:latin typeface="Calibri"/>
                <a:ea typeface="Calibri"/>
              </a:rPr>
              <a:t>Strategy landing page and notifications</a:t>
            </a:r>
            <a:endParaRPr b="0" lang="en-US" sz="1050" strike="noStrike" u="none">
              <a:solidFill>
                <a:srgbClr val="000000"/>
              </a:solidFill>
              <a:effectLst/>
              <a:uFillTx/>
              <a:latin typeface="Arial"/>
            </a:endParaRPr>
          </a:p>
        </p:txBody>
      </p:sp>
      <p:sp>
        <p:nvSpPr>
          <p:cNvPr id="4359" name="Shape 31"/>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360" name="Text 32"/>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4361" name="Text 33"/>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4362" name="PlaceHolder 1"/>
          <p:cNvSpPr>
            <a:spLocks noGrp="1"/>
          </p:cNvSpPr>
          <p:nvPr>
            <p:ph type="sldNum" idx="93"/>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4F1EE534-3B22-47C5-9F79-23723CC70461}"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0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363"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4364"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4365" name="Shape 2"/>
          <p:cNvSpPr/>
          <p:nvPr/>
        </p:nvSpPr>
        <p:spPr>
          <a:xfrm>
            <a:off x="621720" y="311040"/>
            <a:ext cx="134388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366" name="Text 3"/>
          <p:cNvSpPr/>
          <p:nvPr/>
        </p:nvSpPr>
        <p:spPr>
          <a:xfrm>
            <a:off x="804600" y="329040"/>
            <a:ext cx="101448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STRATEGY</a:t>
            </a:r>
            <a:endParaRPr b="0" lang="en-US" sz="950" strike="noStrike" u="none">
              <a:solidFill>
                <a:srgbClr val="000000"/>
              </a:solidFill>
              <a:effectLst/>
              <a:uFillTx/>
              <a:latin typeface="Arial"/>
            </a:endParaRPr>
          </a:p>
        </p:txBody>
      </p:sp>
      <p:sp>
        <p:nvSpPr>
          <p:cNvPr id="4367"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One planning layer serves every product</a:t>
            </a:r>
            <a:endParaRPr b="0" lang="en-US" sz="3200" strike="noStrike" u="none">
              <a:solidFill>
                <a:srgbClr val="000000"/>
              </a:solidFill>
              <a:effectLst/>
              <a:uFillTx/>
              <a:latin typeface="Arial"/>
            </a:endParaRPr>
          </a:p>
        </p:txBody>
      </p:sp>
      <p:sp>
        <p:nvSpPr>
          <p:cNvPr id="4368"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Adaptation actions share the same action model as decarbonisation actions.</a:t>
            </a:r>
            <a:endParaRPr b="0" lang="en-US" sz="1250" strike="noStrike" u="none">
              <a:solidFill>
                <a:srgbClr val="000000"/>
              </a:solidFill>
              <a:effectLst/>
              <a:uFillTx/>
              <a:latin typeface="Arial"/>
            </a:endParaRPr>
          </a:p>
        </p:txBody>
      </p:sp>
      <p:sp>
        <p:nvSpPr>
          <p:cNvPr id="4369"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370" name="Shape 7"/>
          <p:cNvSpPr/>
          <p:nvPr/>
        </p:nvSpPr>
        <p:spPr>
          <a:xfrm>
            <a:off x="6217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371"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4372"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CARBON PERFORMANCE</a:t>
            </a:r>
            <a:endParaRPr b="0" lang="en-US" sz="900" strike="noStrike" u="none">
              <a:solidFill>
                <a:srgbClr val="000000"/>
              </a:solidFill>
              <a:effectLst/>
              <a:uFillTx/>
              <a:latin typeface="Arial"/>
            </a:endParaRPr>
          </a:p>
        </p:txBody>
      </p:sp>
      <p:sp>
        <p:nvSpPr>
          <p:cNvPr id="4373"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Decarbonisation planning</a:t>
            </a:r>
            <a:endParaRPr b="0" lang="en-US" sz="1600" strike="noStrike" u="none">
              <a:solidFill>
                <a:srgbClr val="000000"/>
              </a:solidFill>
              <a:effectLst/>
              <a:uFillTx/>
              <a:latin typeface="Arial"/>
            </a:endParaRPr>
          </a:p>
        </p:txBody>
      </p:sp>
      <p:sp>
        <p:nvSpPr>
          <p:cNvPr id="4374" name="Text 11"/>
          <p:cNvSpPr/>
          <p:nvPr/>
        </p:nvSpPr>
        <p:spPr>
          <a:xfrm>
            <a:off x="80460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Plan against the inventory.</a:t>
            </a:r>
            <a:endParaRPr b="0" lang="en-US" sz="1100" strike="noStrike" u="none">
              <a:solidFill>
                <a:srgbClr val="000000"/>
              </a:solidFill>
              <a:effectLst/>
              <a:uFillTx/>
              <a:latin typeface="Arial"/>
            </a:endParaRPr>
          </a:p>
        </p:txBody>
      </p:sp>
      <p:sp>
        <p:nvSpPr>
          <p:cNvPr id="4375" name="Text 12"/>
          <p:cNvSpPr/>
          <p:nvPr/>
        </p:nvSpPr>
        <p:spPr>
          <a:xfrm>
            <a:off x="82296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Targets set on the governed baseline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Advanced scenario analysis and decarbonization planning</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Initiatives and actions management inside CP</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Advanced ECM library with energy and carbon cobenefits</a:t>
            </a:r>
            <a:endParaRPr b="0" lang="en-US" sz="1100" strike="noStrike" u="none">
              <a:solidFill>
                <a:srgbClr val="000000"/>
              </a:solidFill>
              <a:effectLst/>
              <a:uFillTx/>
              <a:latin typeface="Arial"/>
            </a:endParaRPr>
          </a:p>
        </p:txBody>
      </p:sp>
      <p:sp>
        <p:nvSpPr>
          <p:cNvPr id="4376" name="Shape 13"/>
          <p:cNvSpPr/>
          <p:nvPr/>
        </p:nvSpPr>
        <p:spPr>
          <a:xfrm>
            <a:off x="342756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377" name="Shape 14"/>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4378" name="Text 15"/>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CLIMATE RISK</a:t>
            </a:r>
            <a:endParaRPr b="0" lang="en-US" sz="900" strike="noStrike" u="none">
              <a:solidFill>
                <a:srgbClr val="000000"/>
              </a:solidFill>
              <a:effectLst/>
              <a:uFillTx/>
              <a:latin typeface="Arial"/>
            </a:endParaRPr>
          </a:p>
        </p:txBody>
      </p:sp>
      <p:sp>
        <p:nvSpPr>
          <p:cNvPr id="4379" name="Text 16"/>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Adaptation planning</a:t>
            </a:r>
            <a:endParaRPr b="0" lang="en-US" sz="1600" strike="noStrike" u="none">
              <a:solidFill>
                <a:srgbClr val="000000"/>
              </a:solidFill>
              <a:effectLst/>
              <a:uFillTx/>
              <a:latin typeface="Arial"/>
            </a:endParaRPr>
          </a:p>
        </p:txBody>
      </p:sp>
      <p:sp>
        <p:nvSpPr>
          <p:cNvPr id="4380" name="Text 17"/>
          <p:cNvSpPr/>
          <p:nvPr/>
        </p:nvSpPr>
        <p:spPr>
          <a:xfrm>
            <a:off x="361044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Same model, resilience measures.</a:t>
            </a:r>
            <a:endParaRPr b="0" lang="en-US" sz="1100" strike="noStrike" u="none">
              <a:solidFill>
                <a:srgbClr val="000000"/>
              </a:solidFill>
              <a:effectLst/>
              <a:uFillTx/>
              <a:latin typeface="Arial"/>
            </a:endParaRPr>
          </a:p>
        </p:txBody>
      </p:sp>
      <p:sp>
        <p:nvSpPr>
          <p:cNvPr id="4381" name="Text 18"/>
          <p:cNvSpPr/>
          <p:nvPr/>
        </p:nvSpPr>
        <p:spPr>
          <a:xfrm>
            <a:off x="362844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Adaptation planning primitives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Resilience impact types in the shared taxonomy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Adaptation actions with monthly actuals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Transition plan modelling linked to targets</a:t>
            </a:r>
            <a:endParaRPr b="0" lang="en-US" sz="1100" strike="noStrike" u="none">
              <a:solidFill>
                <a:srgbClr val="000000"/>
              </a:solidFill>
              <a:effectLst/>
              <a:uFillTx/>
              <a:latin typeface="Arial"/>
            </a:endParaRPr>
          </a:p>
        </p:txBody>
      </p:sp>
      <p:sp>
        <p:nvSpPr>
          <p:cNvPr id="4382" name="Shape 19"/>
          <p:cNvSpPr/>
          <p:nvPr/>
        </p:nvSpPr>
        <p:spPr>
          <a:xfrm>
            <a:off x="623304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383" name="Shape 20"/>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4384" name="Text 21"/>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SUPPLY CHAIN</a:t>
            </a:r>
            <a:endParaRPr b="0" lang="en-US" sz="900" strike="noStrike" u="none">
              <a:solidFill>
                <a:srgbClr val="000000"/>
              </a:solidFill>
              <a:effectLst/>
              <a:uFillTx/>
              <a:latin typeface="Arial"/>
            </a:endParaRPr>
          </a:p>
        </p:txBody>
      </p:sp>
      <p:sp>
        <p:nvSpPr>
          <p:cNvPr id="4385" name="Text 22"/>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Supplier action</a:t>
            </a:r>
            <a:endParaRPr b="0" lang="en-US" sz="1600" strike="noStrike" u="none">
              <a:solidFill>
                <a:srgbClr val="000000"/>
              </a:solidFill>
              <a:effectLst/>
              <a:uFillTx/>
              <a:latin typeface="Arial"/>
            </a:endParaRPr>
          </a:p>
        </p:txBody>
      </p:sp>
      <p:sp>
        <p:nvSpPr>
          <p:cNvPr id="4386" name="Text 23"/>
          <p:cNvSpPr/>
          <p:nvPr/>
        </p:nvSpPr>
        <p:spPr>
          <a:xfrm>
            <a:off x="641592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Extend the plan outward.</a:t>
            </a:r>
            <a:endParaRPr b="0" lang="en-US" sz="1100" strike="noStrike" u="none">
              <a:solidFill>
                <a:srgbClr val="000000"/>
              </a:solidFill>
              <a:effectLst/>
              <a:uFillTx/>
              <a:latin typeface="Arial"/>
            </a:endParaRPr>
          </a:p>
        </p:txBody>
      </p:sp>
      <p:sp>
        <p:nvSpPr>
          <p:cNvPr id="4387" name="Text 24"/>
          <p:cNvSpPr/>
          <p:nvPr/>
        </p:nvSpPr>
        <p:spPr>
          <a:xfrm>
            <a:off x="643428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Guided supplier decarbonisation actions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Project recommendations from the shared action library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Programme analytics on supplier progress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Supplier reductions credited to corporate targets</a:t>
            </a:r>
            <a:endParaRPr b="0" lang="en-US" sz="1100" strike="noStrike" u="none">
              <a:solidFill>
                <a:srgbClr val="000000"/>
              </a:solidFill>
              <a:effectLst/>
              <a:uFillTx/>
              <a:latin typeface="Arial"/>
            </a:endParaRPr>
          </a:p>
        </p:txBody>
      </p:sp>
      <p:sp>
        <p:nvSpPr>
          <p:cNvPr id="4388" name="Shape 25"/>
          <p:cNvSpPr/>
          <p:nvPr/>
        </p:nvSpPr>
        <p:spPr>
          <a:xfrm>
            <a:off x="90385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389" name="Shape 26"/>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4390" name="Text 27"/>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REPORTING</a:t>
            </a:r>
            <a:endParaRPr b="0" lang="en-US" sz="900" strike="noStrike" u="none">
              <a:solidFill>
                <a:srgbClr val="000000"/>
              </a:solidFill>
              <a:effectLst/>
              <a:uFillTx/>
              <a:latin typeface="Arial"/>
            </a:endParaRPr>
          </a:p>
        </p:txBody>
      </p:sp>
      <p:sp>
        <p:nvSpPr>
          <p:cNvPr id="4391" name="Text 28"/>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Evidence and disclosure</a:t>
            </a:r>
            <a:endParaRPr b="0" lang="en-US" sz="1600" strike="noStrike" u="none">
              <a:solidFill>
                <a:srgbClr val="000000"/>
              </a:solidFill>
              <a:effectLst/>
              <a:uFillTx/>
              <a:latin typeface="Arial"/>
            </a:endParaRPr>
          </a:p>
        </p:txBody>
      </p:sp>
      <p:sp>
        <p:nvSpPr>
          <p:cNvPr id="4392" name="Text 29"/>
          <p:cNvSpPr/>
          <p:nvPr/>
        </p:nvSpPr>
        <p:spPr>
          <a:xfrm>
            <a:off x="922140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Plans become statements.</a:t>
            </a:r>
            <a:endParaRPr b="0" lang="en-US" sz="1100" strike="noStrike" u="none">
              <a:solidFill>
                <a:srgbClr val="000000"/>
              </a:solidFill>
              <a:effectLst/>
              <a:uFillTx/>
              <a:latin typeface="Arial"/>
            </a:endParaRPr>
          </a:p>
        </p:txBody>
      </p:sp>
      <p:sp>
        <p:nvSpPr>
          <p:cNvPr id="4393" name="Text 30"/>
          <p:cNvSpPr/>
          <p:nvPr/>
        </p:nvSpPr>
        <p:spPr>
          <a:xfrm>
            <a:off x="923976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Targets and progress disclosed against frameworks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Transition plan narrative with lineage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Audit ready evidence on every action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Indicator performance analytics on plan delivery</a:t>
            </a:r>
            <a:endParaRPr b="0" lang="en-US" sz="1100" strike="noStrike" u="none">
              <a:solidFill>
                <a:srgbClr val="000000"/>
              </a:solidFill>
              <a:effectLst/>
              <a:uFillTx/>
              <a:latin typeface="Arial"/>
            </a:endParaRPr>
          </a:p>
        </p:txBody>
      </p:sp>
      <p:sp>
        <p:nvSpPr>
          <p:cNvPr id="4394" name="Shape 31"/>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395" name="Text 32"/>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4396" name="Text 33"/>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4397" name="PlaceHolder 1"/>
          <p:cNvSpPr>
            <a:spLocks noGrp="1"/>
          </p:cNvSpPr>
          <p:nvPr>
            <p:ph type="sldNum" idx="94"/>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351E1124-7495-49BB-9BC1-46DEFEC77216}"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0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5730"/>
        </a:solidFill>
      </p:bgPr>
    </p:bg>
    <p:spTree>
      <p:nvGrpSpPr>
        <p:cNvPr id="1" name=""/>
        <p:cNvGrpSpPr/>
        <p:nvPr/>
      </p:nvGrpSpPr>
      <p:grpSpPr>
        <a:xfrm>
          <a:off x="0" y="0"/>
          <a:ext cx="0" cy="0"/>
          <a:chOff x="0" y="0"/>
          <a:chExt cx="0" cy="0"/>
        </a:xfrm>
      </p:grpSpPr>
      <p:sp>
        <p:nvSpPr>
          <p:cNvPr id="4398"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4399"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4400" name="Shape 2"/>
          <p:cNvSpPr/>
          <p:nvPr/>
        </p:nvSpPr>
        <p:spPr>
          <a:xfrm>
            <a:off x="8641080" y="822960"/>
            <a:ext cx="360" cy="5212080"/>
          </a:xfrm>
          <a:prstGeom prst="line">
            <a:avLst/>
          </a:prstGeom>
          <a:ln w="12700">
            <a:solidFill>
              <a:srgbClr val="2c8058"/>
            </a:solidFill>
            <a:round/>
          </a:ln>
        </p:spPr>
        <p:style>
          <a:lnRef idx="0"/>
          <a:fillRef idx="0"/>
          <a:effectRef idx="0"/>
          <a:fontRef idx="minor"/>
        </p:style>
        <p:txBody>
          <a:bodyPr lIns="90000" rIns="90000" tIns="45000" bIns="45000" anchor="t" anchorCtr="1">
            <a:noAutofit/>
          </a:bodyPr>
          <a:p>
            <a:endParaRPr b="0" lang="en-US" sz="1800" strike="noStrike" u="none">
              <a:solidFill>
                <a:srgbClr val="ffffff"/>
              </a:solidFill>
              <a:effectLst/>
              <a:uFillTx/>
              <a:latin typeface="Arial"/>
            </a:endParaRPr>
          </a:p>
        </p:txBody>
      </p:sp>
      <p:sp>
        <p:nvSpPr>
          <p:cNvPr id="4401" name="Text 3"/>
          <p:cNvSpPr/>
          <p:nvPr/>
        </p:nvSpPr>
        <p:spPr>
          <a:xfrm>
            <a:off x="9144000" y="841320"/>
            <a:ext cx="2194200" cy="22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81" strike="noStrike" u="none">
                <a:solidFill>
                  <a:srgbClr val="bfe6ce"/>
                </a:solidFill>
                <a:effectLst/>
                <a:uFillTx/>
                <a:latin typeface="Calibri"/>
                <a:ea typeface="Calibri"/>
              </a:rPr>
              <a:t>RA+ ROADMAP</a:t>
            </a:r>
            <a:endParaRPr b="0" lang="en-US" sz="900" strike="noStrike" u="none">
              <a:solidFill>
                <a:srgbClr val="ffffff"/>
              </a:solidFill>
              <a:effectLst/>
              <a:uFillTx/>
              <a:latin typeface="Arial"/>
            </a:endParaRPr>
          </a:p>
        </p:txBody>
      </p:sp>
      <p:sp>
        <p:nvSpPr>
          <p:cNvPr id="4402" name="Text 4"/>
          <p:cNvSpPr/>
          <p:nvPr/>
        </p:nvSpPr>
        <p:spPr>
          <a:xfrm>
            <a:off x="9144000" y="1325880"/>
            <a:ext cx="2194200" cy="1462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3600" strike="noStrike" u="none">
                <a:solidFill>
                  <a:srgbClr val="ffffff"/>
                </a:solidFill>
                <a:effectLst/>
                <a:uFillTx/>
                <a:latin typeface="Calibri"/>
                <a:ea typeface="Calibri"/>
              </a:rPr>
              <a:t>2026</a:t>
            </a:r>
            <a:endParaRPr b="0" lang="en-US" sz="3600" strike="noStrike" u="none">
              <a:solidFill>
                <a:srgbClr val="ffffff"/>
              </a:solidFill>
              <a:effectLst/>
              <a:uFillTx/>
              <a:latin typeface="Arial"/>
            </a:endParaRPr>
          </a:p>
          <a:p>
            <a:pPr defTabSz="914400">
              <a:lnSpc>
                <a:spcPct val="100000"/>
              </a:lnSpc>
              <a:tabLst>
                <a:tab algn="l" pos="0"/>
              </a:tabLst>
            </a:pPr>
            <a:r>
              <a:rPr b="1" lang="en-US" sz="3600" strike="noStrike" u="none">
                <a:solidFill>
                  <a:srgbClr val="ffffff"/>
                </a:solidFill>
                <a:effectLst/>
                <a:uFillTx/>
                <a:latin typeface="Calibri"/>
                <a:ea typeface="Calibri"/>
              </a:rPr>
              <a:t>2027</a:t>
            </a:r>
            <a:endParaRPr b="0" lang="en-US" sz="3600" strike="noStrike" u="none">
              <a:solidFill>
                <a:srgbClr val="ffffff"/>
              </a:solidFill>
              <a:effectLst/>
              <a:uFillTx/>
              <a:latin typeface="Arial"/>
            </a:endParaRPr>
          </a:p>
        </p:txBody>
      </p:sp>
      <p:sp>
        <p:nvSpPr>
          <p:cNvPr id="4403" name="Text 5"/>
          <p:cNvSpPr/>
          <p:nvPr/>
        </p:nvSpPr>
        <p:spPr>
          <a:xfrm>
            <a:off x="621720" y="960120"/>
            <a:ext cx="71319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221" strike="noStrike" u="none">
                <a:solidFill>
                  <a:srgbClr val="bfe6ce"/>
                </a:solidFill>
                <a:effectLst/>
                <a:uFillTx/>
                <a:latin typeface="Calibri"/>
                <a:ea typeface="Calibri"/>
              </a:rPr>
              <a:t>AGENDA ITEM 4.6</a:t>
            </a:r>
            <a:endParaRPr b="0" lang="en-US" sz="1100" strike="noStrike" u="none">
              <a:solidFill>
                <a:srgbClr val="ffffff"/>
              </a:solidFill>
              <a:effectLst/>
              <a:uFillTx/>
              <a:latin typeface="Arial"/>
            </a:endParaRPr>
          </a:p>
        </p:txBody>
      </p:sp>
      <p:sp>
        <p:nvSpPr>
          <p:cNvPr id="4404" name="Text 6"/>
          <p:cNvSpPr/>
          <p:nvPr/>
        </p:nvSpPr>
        <p:spPr>
          <a:xfrm>
            <a:off x="621720" y="1508760"/>
            <a:ext cx="191988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5800" strike="noStrike" u="none">
                <a:solidFill>
                  <a:srgbClr val="3dcd58"/>
                </a:solidFill>
                <a:effectLst/>
                <a:uFillTx/>
                <a:latin typeface="Calibri"/>
                <a:ea typeface="Calibri"/>
              </a:rPr>
              <a:t>4.6</a:t>
            </a:r>
            <a:endParaRPr b="0" lang="en-US" sz="5800" strike="noStrike" u="none">
              <a:solidFill>
                <a:srgbClr val="ffffff"/>
              </a:solidFill>
              <a:effectLst/>
              <a:uFillTx/>
              <a:latin typeface="Arial"/>
            </a:endParaRPr>
          </a:p>
        </p:txBody>
      </p:sp>
      <p:sp>
        <p:nvSpPr>
          <p:cNvPr id="4405" name="Text 7"/>
          <p:cNvSpPr/>
          <p:nvPr/>
        </p:nvSpPr>
        <p:spPr>
          <a:xfrm>
            <a:off x="621720" y="2606040"/>
            <a:ext cx="7406280" cy="11426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ffffff"/>
                </a:solidFill>
                <a:effectLst/>
                <a:uFillTx/>
                <a:latin typeface="Calibri"/>
                <a:ea typeface="Calibri"/>
              </a:rPr>
              <a:t>Core Platform</a:t>
            </a:r>
            <a:endParaRPr b="0" lang="en-US" sz="3200" strike="noStrike" u="none">
              <a:solidFill>
                <a:srgbClr val="ffffff"/>
              </a:solidFill>
              <a:effectLst/>
              <a:uFillTx/>
              <a:latin typeface="Arial"/>
            </a:endParaRPr>
          </a:p>
        </p:txBody>
      </p:sp>
      <p:sp>
        <p:nvSpPr>
          <p:cNvPr id="4406" name="Text 8"/>
          <p:cNvSpPr/>
          <p:nvPr/>
        </p:nvSpPr>
        <p:spPr>
          <a:xfrm>
            <a:off x="621720" y="4005000"/>
            <a:ext cx="704052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400" strike="noStrike" u="none">
                <a:solidFill>
                  <a:srgbClr val="d6eadf"/>
                </a:solidFill>
                <a:effectLst/>
                <a:uFillTx/>
                <a:latin typeface="Calibri"/>
                <a:ea typeface="Calibri"/>
              </a:rPr>
              <a:t>Shared hierarchy, user workflow, analytics engine, and data governance.</a:t>
            </a:r>
            <a:endParaRPr b="0" lang="en-US" sz="14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0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07"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4408"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4409" name="Shape 2"/>
          <p:cNvSpPr/>
          <p:nvPr/>
        </p:nvSpPr>
        <p:spPr>
          <a:xfrm>
            <a:off x="621720" y="311040"/>
            <a:ext cx="250056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410" name="Text 3"/>
          <p:cNvSpPr/>
          <p:nvPr/>
        </p:nvSpPr>
        <p:spPr>
          <a:xfrm>
            <a:off x="804600" y="329040"/>
            <a:ext cx="217152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CORE PLATFORM, 2026</a:t>
            </a:r>
            <a:endParaRPr b="0" lang="en-US" sz="950" strike="noStrike" u="none">
              <a:solidFill>
                <a:srgbClr val="000000"/>
              </a:solidFill>
              <a:effectLst/>
              <a:uFillTx/>
              <a:latin typeface="Arial"/>
            </a:endParaRPr>
          </a:p>
        </p:txBody>
      </p:sp>
      <p:sp>
        <p:nvSpPr>
          <p:cNvPr id="4411"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Data quality foundations in 2026</a:t>
            </a:r>
            <a:endParaRPr b="0" lang="en-US" sz="3200" strike="noStrike" u="none">
              <a:solidFill>
                <a:srgbClr val="000000"/>
              </a:solidFill>
              <a:effectLst/>
              <a:uFillTx/>
              <a:latin typeface="Arial"/>
            </a:endParaRPr>
          </a:p>
        </p:txBody>
      </p:sp>
      <p:sp>
        <p:nvSpPr>
          <p:cNvPr id="4412"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Validation, hierarchy and audit trail: the capabilities every product depends on, delivered once.</a:t>
            </a:r>
            <a:endParaRPr b="0" lang="en-US" sz="1250" strike="noStrike" u="none">
              <a:solidFill>
                <a:srgbClr val="000000"/>
              </a:solidFill>
              <a:effectLst/>
              <a:uFillTx/>
              <a:latin typeface="Arial"/>
            </a:endParaRPr>
          </a:p>
        </p:txBody>
      </p:sp>
      <p:sp>
        <p:nvSpPr>
          <p:cNvPr id="4413"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414" name="Shape 7"/>
          <p:cNvSpPr/>
          <p:nvPr/>
        </p:nvSpPr>
        <p:spPr>
          <a:xfrm>
            <a:off x="621720" y="2084760"/>
            <a:ext cx="5345640" cy="4178520"/>
          </a:xfrm>
          <a:prstGeom prst="roundRect">
            <a:avLst>
              <a:gd name="adj" fmla="val 131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415" name="Shape 8"/>
          <p:cNvSpPr/>
          <p:nvPr/>
        </p:nvSpPr>
        <p:spPr>
          <a:xfrm>
            <a:off x="621720" y="2084760"/>
            <a:ext cx="5345640" cy="712800"/>
          </a:xfrm>
          <a:prstGeom prst="rect">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416" name="Shape 9"/>
          <p:cNvSpPr/>
          <p:nvPr/>
        </p:nvSpPr>
        <p:spPr>
          <a:xfrm>
            <a:off x="621720" y="2084760"/>
            <a:ext cx="54360" cy="41785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417" name="Text 10"/>
          <p:cNvSpPr/>
          <p:nvPr/>
        </p:nvSpPr>
        <p:spPr>
          <a:xfrm>
            <a:off x="804600" y="2176200"/>
            <a:ext cx="501660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3dcd58"/>
                </a:solidFill>
                <a:effectLst/>
                <a:uFillTx/>
                <a:latin typeface="Calibri"/>
                <a:ea typeface="Calibri"/>
              </a:rPr>
              <a:t>NOW</a:t>
            </a:r>
            <a:endParaRPr b="0" lang="en-US" sz="850" strike="noStrike" u="none">
              <a:solidFill>
                <a:srgbClr val="000000"/>
              </a:solidFill>
              <a:effectLst/>
              <a:uFillTx/>
              <a:latin typeface="Arial"/>
            </a:endParaRPr>
          </a:p>
        </p:txBody>
      </p:sp>
      <p:sp>
        <p:nvSpPr>
          <p:cNvPr id="4418" name="Text 11"/>
          <p:cNvSpPr/>
          <p:nvPr/>
        </p:nvSpPr>
        <p:spPr>
          <a:xfrm>
            <a:off x="804600" y="2423160"/>
            <a:ext cx="501660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Q3 2026</a:t>
            </a:r>
            <a:endParaRPr b="0" lang="en-US" sz="1400" strike="noStrike" u="none">
              <a:solidFill>
                <a:srgbClr val="000000"/>
              </a:solidFill>
              <a:effectLst/>
              <a:uFillTx/>
              <a:latin typeface="Arial"/>
            </a:endParaRPr>
          </a:p>
        </p:txBody>
      </p:sp>
      <p:sp>
        <p:nvSpPr>
          <p:cNvPr id="4419" name="Shape 12"/>
          <p:cNvSpPr/>
          <p:nvPr/>
        </p:nvSpPr>
        <p:spPr>
          <a:xfrm>
            <a:off x="758880" y="295344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420" name="Text 13"/>
          <p:cNvSpPr/>
          <p:nvPr/>
        </p:nvSpPr>
        <p:spPr>
          <a:xfrm>
            <a:off x="822960" y="295344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File and ingestion validation, L0 and L1</a:t>
            </a:r>
            <a:endParaRPr b="0" lang="en-US" sz="950" strike="noStrike" u="none">
              <a:solidFill>
                <a:srgbClr val="000000"/>
              </a:solidFill>
              <a:effectLst/>
              <a:uFillTx/>
              <a:latin typeface="Arial"/>
            </a:endParaRPr>
          </a:p>
        </p:txBody>
      </p:sp>
      <p:sp>
        <p:nvSpPr>
          <p:cNvPr id="4421" name="Shape 14"/>
          <p:cNvSpPr/>
          <p:nvPr/>
        </p:nvSpPr>
        <p:spPr>
          <a:xfrm>
            <a:off x="758880" y="374004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422" name="Text 15"/>
          <p:cNvSpPr/>
          <p:nvPr/>
        </p:nvSpPr>
        <p:spPr>
          <a:xfrm>
            <a:off x="822960" y="374004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Hierarchies and bulk import at scale</a:t>
            </a:r>
            <a:endParaRPr b="0" lang="en-US" sz="950" strike="noStrike" u="none">
              <a:solidFill>
                <a:srgbClr val="000000"/>
              </a:solidFill>
              <a:effectLst/>
              <a:uFillTx/>
              <a:latin typeface="Arial"/>
            </a:endParaRPr>
          </a:p>
        </p:txBody>
      </p:sp>
      <p:sp>
        <p:nvSpPr>
          <p:cNvPr id="4423" name="Shape 16"/>
          <p:cNvSpPr/>
          <p:nvPr/>
        </p:nvSpPr>
        <p:spPr>
          <a:xfrm>
            <a:off x="758880" y="452628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424" name="Text 17"/>
          <p:cNvSpPr/>
          <p:nvPr/>
        </p:nvSpPr>
        <p:spPr>
          <a:xfrm>
            <a:off x="822960" y="452628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00" strike="noStrike" u="none">
                <a:solidFill>
                  <a:srgbClr val="1e2420"/>
                </a:solidFill>
                <a:effectLst/>
                <a:uFillTx/>
                <a:latin typeface="Calibri"/>
                <a:ea typeface="Calibri"/>
              </a:rPr>
              <a:t>Shared navigation, layouts and product switcher</a:t>
            </a:r>
            <a:endParaRPr b="0" lang="en-US" sz="900" strike="noStrike" u="none">
              <a:solidFill>
                <a:srgbClr val="000000"/>
              </a:solidFill>
              <a:effectLst/>
              <a:uFillTx/>
              <a:latin typeface="Arial"/>
            </a:endParaRPr>
          </a:p>
        </p:txBody>
      </p:sp>
      <p:sp>
        <p:nvSpPr>
          <p:cNvPr id="4425" name="Shape 18"/>
          <p:cNvSpPr/>
          <p:nvPr/>
        </p:nvSpPr>
        <p:spPr>
          <a:xfrm>
            <a:off x="6224040" y="2084760"/>
            <a:ext cx="5345640" cy="4178520"/>
          </a:xfrm>
          <a:prstGeom prst="roundRect">
            <a:avLst>
              <a:gd name="adj" fmla="val 131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426" name="Shape 19"/>
          <p:cNvSpPr/>
          <p:nvPr/>
        </p:nvSpPr>
        <p:spPr>
          <a:xfrm>
            <a:off x="6224040" y="2084760"/>
            <a:ext cx="5345640" cy="712800"/>
          </a:xfrm>
          <a:prstGeom prst="rect">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427" name="Shape 20"/>
          <p:cNvSpPr/>
          <p:nvPr/>
        </p:nvSpPr>
        <p:spPr>
          <a:xfrm>
            <a:off x="6224040" y="2084760"/>
            <a:ext cx="54360" cy="4178520"/>
          </a:xfrm>
          <a:prstGeom prst="rect">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428" name="Text 21"/>
          <p:cNvSpPr/>
          <p:nvPr/>
        </p:nvSpPr>
        <p:spPr>
          <a:xfrm>
            <a:off x="6406920" y="2176200"/>
            <a:ext cx="501660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007a27"/>
                </a:solidFill>
                <a:effectLst/>
                <a:uFillTx/>
                <a:latin typeface="Calibri"/>
                <a:ea typeface="Calibri"/>
              </a:rPr>
              <a:t>NEXT</a:t>
            </a:r>
            <a:endParaRPr b="0" lang="en-US" sz="850" strike="noStrike" u="none">
              <a:solidFill>
                <a:srgbClr val="000000"/>
              </a:solidFill>
              <a:effectLst/>
              <a:uFillTx/>
              <a:latin typeface="Arial"/>
            </a:endParaRPr>
          </a:p>
        </p:txBody>
      </p:sp>
      <p:sp>
        <p:nvSpPr>
          <p:cNvPr id="4429" name="Text 22"/>
          <p:cNvSpPr/>
          <p:nvPr/>
        </p:nvSpPr>
        <p:spPr>
          <a:xfrm>
            <a:off x="6406920" y="2423160"/>
            <a:ext cx="501660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Q4 2026</a:t>
            </a:r>
            <a:endParaRPr b="0" lang="en-US" sz="1400" strike="noStrike" u="none">
              <a:solidFill>
                <a:srgbClr val="000000"/>
              </a:solidFill>
              <a:effectLst/>
              <a:uFillTx/>
              <a:latin typeface="Arial"/>
            </a:endParaRPr>
          </a:p>
        </p:txBody>
      </p:sp>
      <p:sp>
        <p:nvSpPr>
          <p:cNvPr id="4430" name="Shape 23"/>
          <p:cNvSpPr/>
          <p:nvPr/>
        </p:nvSpPr>
        <p:spPr>
          <a:xfrm>
            <a:off x="6361200" y="295344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431" name="Text 24"/>
          <p:cNvSpPr/>
          <p:nvPr/>
        </p:nvSpPr>
        <p:spPr>
          <a:xfrm>
            <a:off x="6424920" y="295344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00" strike="noStrike" u="none">
                <a:solidFill>
                  <a:srgbClr val="1e2420"/>
                </a:solidFill>
                <a:effectLst/>
                <a:uFillTx/>
                <a:latin typeface="Calibri"/>
                <a:ea typeface="Calibri"/>
              </a:rPr>
              <a:t>Anomaly and consistency checks on aggregates, L2</a:t>
            </a:r>
            <a:endParaRPr b="0" lang="en-US" sz="900" strike="noStrike" u="none">
              <a:solidFill>
                <a:srgbClr val="000000"/>
              </a:solidFill>
              <a:effectLst/>
              <a:uFillTx/>
              <a:latin typeface="Arial"/>
            </a:endParaRPr>
          </a:p>
        </p:txBody>
      </p:sp>
      <p:sp>
        <p:nvSpPr>
          <p:cNvPr id="4432" name="Shape 25"/>
          <p:cNvSpPr/>
          <p:nvPr/>
        </p:nvSpPr>
        <p:spPr>
          <a:xfrm>
            <a:off x="6361200" y="374004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433" name="Text 26"/>
          <p:cNvSpPr/>
          <p:nvPr/>
        </p:nvSpPr>
        <p:spPr>
          <a:xfrm>
            <a:off x="6424920" y="374004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Configurable checks, thresholds and approvals</a:t>
            </a:r>
            <a:endParaRPr b="0" lang="en-US" sz="950" strike="noStrike" u="none">
              <a:solidFill>
                <a:srgbClr val="000000"/>
              </a:solidFill>
              <a:effectLst/>
              <a:uFillTx/>
              <a:latin typeface="Arial"/>
            </a:endParaRPr>
          </a:p>
        </p:txBody>
      </p:sp>
      <p:sp>
        <p:nvSpPr>
          <p:cNvPr id="4434" name="Shape 27"/>
          <p:cNvSpPr/>
          <p:nvPr/>
        </p:nvSpPr>
        <p:spPr>
          <a:xfrm>
            <a:off x="6361200" y="452628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435" name="Text 28"/>
          <p:cNvSpPr/>
          <p:nvPr/>
        </p:nvSpPr>
        <p:spPr>
          <a:xfrm>
            <a:off x="6424920" y="452628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Audit trail and data lineage on key values</a:t>
            </a:r>
            <a:endParaRPr b="0" lang="en-US" sz="950" strike="noStrike" u="none">
              <a:solidFill>
                <a:srgbClr val="000000"/>
              </a:solidFill>
              <a:effectLst/>
              <a:uFillTx/>
              <a:latin typeface="Arial"/>
            </a:endParaRPr>
          </a:p>
        </p:txBody>
      </p:sp>
      <p:sp>
        <p:nvSpPr>
          <p:cNvPr id="4436" name="Shape 29"/>
          <p:cNvSpPr/>
          <p:nvPr/>
        </p:nvSpPr>
        <p:spPr>
          <a:xfrm>
            <a:off x="6361200" y="531252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437" name="Text 30"/>
          <p:cNvSpPr/>
          <p:nvPr/>
        </p:nvSpPr>
        <p:spPr>
          <a:xfrm>
            <a:off x="6424920" y="531252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Allocations foundation</a:t>
            </a:r>
            <a:endParaRPr b="0" lang="en-US" sz="1000" strike="noStrike" u="none">
              <a:solidFill>
                <a:srgbClr val="000000"/>
              </a:solidFill>
              <a:effectLst/>
              <a:uFillTx/>
              <a:latin typeface="Arial"/>
            </a:endParaRPr>
          </a:p>
        </p:txBody>
      </p:sp>
      <p:sp>
        <p:nvSpPr>
          <p:cNvPr id="4438" name="Shape 31"/>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439" name="Text 32"/>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4440" name="Text 33"/>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4441" name="PlaceHolder 1"/>
          <p:cNvSpPr>
            <a:spLocks noGrp="1"/>
          </p:cNvSpPr>
          <p:nvPr>
            <p:ph type="sldNum" idx="95"/>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2D63F89D-D6BC-4A00-9A0D-C034C9DD6FD3}"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0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42"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4443"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4444" name="Shape 2"/>
          <p:cNvSpPr/>
          <p:nvPr/>
        </p:nvSpPr>
        <p:spPr>
          <a:xfrm>
            <a:off x="621720" y="311040"/>
            <a:ext cx="250056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445" name="Text 3"/>
          <p:cNvSpPr/>
          <p:nvPr/>
        </p:nvSpPr>
        <p:spPr>
          <a:xfrm>
            <a:off x="804600" y="329040"/>
            <a:ext cx="217152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CORE PLATFORM, 2027</a:t>
            </a:r>
            <a:endParaRPr b="0" lang="en-US" sz="950" strike="noStrike" u="none">
              <a:solidFill>
                <a:srgbClr val="000000"/>
              </a:solidFill>
              <a:effectLst/>
              <a:uFillTx/>
              <a:latin typeface="Arial"/>
            </a:endParaRPr>
          </a:p>
        </p:txBody>
      </p:sp>
      <p:sp>
        <p:nvSpPr>
          <p:cNvPr id="4446"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Ontology and trust in 2027</a:t>
            </a:r>
            <a:endParaRPr b="0" lang="en-US" sz="3200" strike="noStrike" u="none">
              <a:solidFill>
                <a:srgbClr val="000000"/>
              </a:solidFill>
              <a:effectLst/>
              <a:uFillTx/>
              <a:latin typeface="Arial"/>
            </a:endParaRPr>
          </a:p>
        </p:txBody>
      </p:sp>
      <p:sp>
        <p:nvSpPr>
          <p:cNvPr id="4447"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Governance, scoring and AI checks on top of the 2026 data quality foundations.</a:t>
            </a:r>
            <a:endParaRPr b="0" lang="en-US" sz="1250" strike="noStrike" u="none">
              <a:solidFill>
                <a:srgbClr val="000000"/>
              </a:solidFill>
              <a:effectLst/>
              <a:uFillTx/>
              <a:latin typeface="Arial"/>
            </a:endParaRPr>
          </a:p>
        </p:txBody>
      </p:sp>
      <p:sp>
        <p:nvSpPr>
          <p:cNvPr id="4448"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449" name="Shape 7"/>
          <p:cNvSpPr/>
          <p:nvPr/>
        </p:nvSpPr>
        <p:spPr>
          <a:xfrm>
            <a:off x="621720" y="2084760"/>
            <a:ext cx="5345640" cy="4178520"/>
          </a:xfrm>
          <a:prstGeom prst="roundRect">
            <a:avLst>
              <a:gd name="adj" fmla="val 131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450" name="Shape 8"/>
          <p:cNvSpPr/>
          <p:nvPr/>
        </p:nvSpPr>
        <p:spPr>
          <a:xfrm>
            <a:off x="621720" y="2084760"/>
            <a:ext cx="5345640" cy="712800"/>
          </a:xfrm>
          <a:prstGeom prst="rect">
            <a:avLst/>
          </a:prstGeom>
          <a:solidFill>
            <a:srgbClr val="fff4e3"/>
          </a:solidFill>
          <a:ln w="12700">
            <a:solidFill>
              <a:srgbClr val="fff4e3"/>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451" name="Shape 9"/>
          <p:cNvSpPr/>
          <p:nvPr/>
        </p:nvSpPr>
        <p:spPr>
          <a:xfrm>
            <a:off x="621720" y="2084760"/>
            <a:ext cx="54360" cy="4178520"/>
          </a:xfrm>
          <a:prstGeom prst="rect">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452" name="Text 10"/>
          <p:cNvSpPr/>
          <p:nvPr/>
        </p:nvSpPr>
        <p:spPr>
          <a:xfrm>
            <a:off x="804600" y="2176200"/>
            <a:ext cx="501660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ffb04c"/>
                </a:solidFill>
                <a:effectLst/>
                <a:uFillTx/>
                <a:latin typeface="Calibri"/>
                <a:ea typeface="Calibri"/>
              </a:rPr>
              <a:t>LATER</a:t>
            </a:r>
            <a:endParaRPr b="0" lang="en-US" sz="850" strike="noStrike" u="none">
              <a:solidFill>
                <a:srgbClr val="000000"/>
              </a:solidFill>
              <a:effectLst/>
              <a:uFillTx/>
              <a:latin typeface="Arial"/>
            </a:endParaRPr>
          </a:p>
        </p:txBody>
      </p:sp>
      <p:sp>
        <p:nvSpPr>
          <p:cNvPr id="4453" name="Text 11"/>
          <p:cNvSpPr/>
          <p:nvPr/>
        </p:nvSpPr>
        <p:spPr>
          <a:xfrm>
            <a:off x="804600" y="2423160"/>
            <a:ext cx="501660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2027 H1</a:t>
            </a:r>
            <a:endParaRPr b="0" lang="en-US" sz="1400" strike="noStrike" u="none">
              <a:solidFill>
                <a:srgbClr val="000000"/>
              </a:solidFill>
              <a:effectLst/>
              <a:uFillTx/>
              <a:latin typeface="Arial"/>
            </a:endParaRPr>
          </a:p>
        </p:txBody>
      </p:sp>
      <p:sp>
        <p:nvSpPr>
          <p:cNvPr id="4454" name="Shape 12"/>
          <p:cNvSpPr/>
          <p:nvPr/>
        </p:nvSpPr>
        <p:spPr>
          <a:xfrm>
            <a:off x="758880" y="295344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455" name="Text 13"/>
          <p:cNvSpPr/>
          <p:nvPr/>
        </p:nvSpPr>
        <p:spPr>
          <a:xfrm>
            <a:off x="822960" y="295344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Inventory and statement readiness checks, L3</a:t>
            </a:r>
            <a:endParaRPr b="0" lang="en-US" sz="950" strike="noStrike" u="none">
              <a:solidFill>
                <a:srgbClr val="000000"/>
              </a:solidFill>
              <a:effectLst/>
              <a:uFillTx/>
              <a:latin typeface="Arial"/>
            </a:endParaRPr>
          </a:p>
        </p:txBody>
      </p:sp>
      <p:sp>
        <p:nvSpPr>
          <p:cNvPr id="4456" name="Shape 14"/>
          <p:cNvSpPr/>
          <p:nvPr/>
        </p:nvSpPr>
        <p:spPr>
          <a:xfrm>
            <a:off x="758880" y="374004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457" name="Text 15"/>
          <p:cNvSpPr/>
          <p:nvPr/>
        </p:nvSpPr>
        <p:spPr>
          <a:xfrm>
            <a:off x="822960" y="374004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Control plane for tenant ontology governance</a:t>
            </a:r>
            <a:endParaRPr b="0" lang="en-US" sz="950" strike="noStrike" u="none">
              <a:solidFill>
                <a:srgbClr val="000000"/>
              </a:solidFill>
              <a:effectLst/>
              <a:uFillTx/>
              <a:latin typeface="Arial"/>
            </a:endParaRPr>
          </a:p>
        </p:txBody>
      </p:sp>
      <p:sp>
        <p:nvSpPr>
          <p:cNvPr id="4458" name="Shape 16"/>
          <p:cNvSpPr/>
          <p:nvPr/>
        </p:nvSpPr>
        <p:spPr>
          <a:xfrm>
            <a:off x="758880" y="452628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459" name="Text 17"/>
          <p:cNvSpPr/>
          <p:nvPr/>
        </p:nvSpPr>
        <p:spPr>
          <a:xfrm>
            <a:off x="822960" y="452628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Calculation governance and versioning</a:t>
            </a:r>
            <a:endParaRPr b="0" lang="en-US" sz="950" strike="noStrike" u="none">
              <a:solidFill>
                <a:srgbClr val="000000"/>
              </a:solidFill>
              <a:effectLst/>
              <a:uFillTx/>
              <a:latin typeface="Arial"/>
            </a:endParaRPr>
          </a:p>
        </p:txBody>
      </p:sp>
      <p:sp>
        <p:nvSpPr>
          <p:cNvPr id="4460" name="Shape 18"/>
          <p:cNvSpPr/>
          <p:nvPr/>
        </p:nvSpPr>
        <p:spPr>
          <a:xfrm>
            <a:off x="758880" y="531252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461" name="Text 19"/>
          <p:cNvSpPr/>
          <p:nvPr/>
        </p:nvSpPr>
        <p:spPr>
          <a:xfrm>
            <a:off x="822960" y="531252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Reusable analytics and query infrastructure</a:t>
            </a:r>
            <a:endParaRPr b="0" lang="en-US" sz="950" strike="noStrike" u="none">
              <a:solidFill>
                <a:srgbClr val="000000"/>
              </a:solidFill>
              <a:effectLst/>
              <a:uFillTx/>
              <a:latin typeface="Arial"/>
            </a:endParaRPr>
          </a:p>
        </p:txBody>
      </p:sp>
      <p:sp>
        <p:nvSpPr>
          <p:cNvPr id="4462" name="Shape 20"/>
          <p:cNvSpPr/>
          <p:nvPr/>
        </p:nvSpPr>
        <p:spPr>
          <a:xfrm>
            <a:off x="6224040" y="2084760"/>
            <a:ext cx="5345640" cy="4178520"/>
          </a:xfrm>
          <a:prstGeom prst="roundRect">
            <a:avLst>
              <a:gd name="adj" fmla="val 131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463" name="Shape 21"/>
          <p:cNvSpPr/>
          <p:nvPr/>
        </p:nvSpPr>
        <p:spPr>
          <a:xfrm>
            <a:off x="6224040" y="2084760"/>
            <a:ext cx="5345640" cy="712800"/>
          </a:xfrm>
          <a:prstGeom prst="rect">
            <a:avLst/>
          </a:prstGeom>
          <a:solidFill>
            <a:srgbClr val="eaf1f5"/>
          </a:solidFill>
          <a:ln w="12700">
            <a:solidFill>
              <a:srgbClr val="eaf1f5"/>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464" name="Shape 22"/>
          <p:cNvSpPr/>
          <p:nvPr/>
        </p:nvSpPr>
        <p:spPr>
          <a:xfrm>
            <a:off x="6224040" y="2084760"/>
            <a:ext cx="54360" cy="4178520"/>
          </a:xfrm>
          <a:prstGeom prst="rect">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465" name="Text 23"/>
          <p:cNvSpPr/>
          <p:nvPr/>
        </p:nvSpPr>
        <p:spPr>
          <a:xfrm>
            <a:off x="6406920" y="2176200"/>
            <a:ext cx="501660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275b7f"/>
                </a:solidFill>
                <a:effectLst/>
                <a:uFillTx/>
                <a:latin typeface="Calibri"/>
                <a:ea typeface="Calibri"/>
              </a:rPr>
              <a:t>LATER</a:t>
            </a:r>
            <a:endParaRPr b="0" lang="en-US" sz="850" strike="noStrike" u="none">
              <a:solidFill>
                <a:srgbClr val="000000"/>
              </a:solidFill>
              <a:effectLst/>
              <a:uFillTx/>
              <a:latin typeface="Arial"/>
            </a:endParaRPr>
          </a:p>
        </p:txBody>
      </p:sp>
      <p:sp>
        <p:nvSpPr>
          <p:cNvPr id="4466" name="Text 24"/>
          <p:cNvSpPr/>
          <p:nvPr/>
        </p:nvSpPr>
        <p:spPr>
          <a:xfrm>
            <a:off x="6406920" y="2423160"/>
            <a:ext cx="501660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2027 H2</a:t>
            </a:r>
            <a:endParaRPr b="0" lang="en-US" sz="1400" strike="noStrike" u="none">
              <a:solidFill>
                <a:srgbClr val="000000"/>
              </a:solidFill>
              <a:effectLst/>
              <a:uFillTx/>
              <a:latin typeface="Arial"/>
            </a:endParaRPr>
          </a:p>
        </p:txBody>
      </p:sp>
      <p:sp>
        <p:nvSpPr>
          <p:cNvPr id="4467" name="Shape 25"/>
          <p:cNvSpPr/>
          <p:nvPr/>
        </p:nvSpPr>
        <p:spPr>
          <a:xfrm>
            <a:off x="6361200" y="295344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468" name="Text 26"/>
          <p:cNvSpPr/>
          <p:nvPr/>
        </p:nvSpPr>
        <p:spPr>
          <a:xfrm>
            <a:off x="6424920" y="295344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00" strike="noStrike" u="none">
                <a:solidFill>
                  <a:srgbClr val="1e2420"/>
                </a:solidFill>
                <a:effectLst/>
                <a:uFillTx/>
                <a:latin typeface="Calibri"/>
                <a:ea typeface="Calibri"/>
              </a:rPr>
              <a:t>Data quality scoring and confidence metadata, L4</a:t>
            </a:r>
            <a:endParaRPr b="0" lang="en-US" sz="900" strike="noStrike" u="none">
              <a:solidFill>
                <a:srgbClr val="000000"/>
              </a:solidFill>
              <a:effectLst/>
              <a:uFillTx/>
              <a:latin typeface="Arial"/>
            </a:endParaRPr>
          </a:p>
        </p:txBody>
      </p:sp>
      <p:sp>
        <p:nvSpPr>
          <p:cNvPr id="4469" name="Shape 27"/>
          <p:cNvSpPr/>
          <p:nvPr/>
        </p:nvSpPr>
        <p:spPr>
          <a:xfrm>
            <a:off x="6361200" y="374004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470" name="Text 28"/>
          <p:cNvSpPr/>
          <p:nvPr/>
        </p:nvSpPr>
        <p:spPr>
          <a:xfrm>
            <a:off x="6424920" y="374004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AI checks and discrepancy management</a:t>
            </a:r>
            <a:endParaRPr b="0" lang="en-US" sz="950" strike="noStrike" u="none">
              <a:solidFill>
                <a:srgbClr val="000000"/>
              </a:solidFill>
              <a:effectLst/>
              <a:uFillTx/>
              <a:latin typeface="Arial"/>
            </a:endParaRPr>
          </a:p>
        </p:txBody>
      </p:sp>
      <p:sp>
        <p:nvSpPr>
          <p:cNvPr id="4471" name="Shape 29"/>
          <p:cNvSpPr/>
          <p:nvPr/>
        </p:nvSpPr>
        <p:spPr>
          <a:xfrm>
            <a:off x="6361200" y="452628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472" name="Text 30"/>
          <p:cNvSpPr/>
          <p:nvPr/>
        </p:nvSpPr>
        <p:spPr>
          <a:xfrm>
            <a:off x="6424920" y="452628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Sera agents acting on the shared ontology</a:t>
            </a:r>
            <a:endParaRPr b="0" lang="en-US" sz="950" strike="noStrike" u="none">
              <a:solidFill>
                <a:srgbClr val="000000"/>
              </a:solidFill>
              <a:effectLst/>
              <a:uFillTx/>
              <a:latin typeface="Arial"/>
            </a:endParaRPr>
          </a:p>
        </p:txBody>
      </p:sp>
      <p:sp>
        <p:nvSpPr>
          <p:cNvPr id="4473" name="Shape 31"/>
          <p:cNvSpPr/>
          <p:nvPr/>
        </p:nvSpPr>
        <p:spPr>
          <a:xfrm>
            <a:off x="6361200" y="531252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474" name="Text 32"/>
          <p:cNvSpPr/>
          <p:nvPr/>
        </p:nvSpPr>
        <p:spPr>
          <a:xfrm>
            <a:off x="6424920" y="531252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EU hosting, languages, enterprise performance</a:t>
            </a:r>
            <a:endParaRPr b="0" lang="en-US" sz="950" strike="noStrike" u="none">
              <a:solidFill>
                <a:srgbClr val="000000"/>
              </a:solidFill>
              <a:effectLst/>
              <a:uFillTx/>
              <a:latin typeface="Arial"/>
            </a:endParaRPr>
          </a:p>
        </p:txBody>
      </p:sp>
      <p:sp>
        <p:nvSpPr>
          <p:cNvPr id="4475" name="Shape 33"/>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476" name="Text 34"/>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4477" name="Text 35"/>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4478" name="PlaceHolder 1"/>
          <p:cNvSpPr>
            <a:spLocks noGrp="1"/>
          </p:cNvSpPr>
          <p:nvPr>
            <p:ph type="sldNum" idx="96"/>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7EEB830A-56C5-46DF-A34D-0FF8EB8F6EB2}"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0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79"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4480"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4481" name="Shape 2"/>
          <p:cNvSpPr/>
          <p:nvPr/>
        </p:nvSpPr>
        <p:spPr>
          <a:xfrm>
            <a:off x="621720" y="311040"/>
            <a:ext cx="186948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482" name="Text 3"/>
          <p:cNvSpPr/>
          <p:nvPr/>
        </p:nvSpPr>
        <p:spPr>
          <a:xfrm>
            <a:off x="804600" y="329040"/>
            <a:ext cx="154044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CORE PLATFORM</a:t>
            </a:r>
            <a:endParaRPr b="0" lang="en-US" sz="950" strike="noStrike" u="none">
              <a:solidFill>
                <a:srgbClr val="000000"/>
              </a:solidFill>
              <a:effectLst/>
              <a:uFillTx/>
              <a:latin typeface="Arial"/>
            </a:endParaRPr>
          </a:p>
        </p:txBody>
      </p:sp>
      <p:sp>
        <p:nvSpPr>
          <p:cNvPr id="4483"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The Core Platform plan on a timeline</a:t>
            </a:r>
            <a:endParaRPr b="0" lang="en-US" sz="3200" strike="noStrike" u="none">
              <a:solidFill>
                <a:srgbClr val="000000"/>
              </a:solidFill>
              <a:effectLst/>
              <a:uFillTx/>
              <a:latin typeface="Arial"/>
            </a:endParaRPr>
          </a:p>
        </p:txBody>
      </p:sp>
      <p:sp>
        <p:nvSpPr>
          <p:cNvPr id="4484"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Advance from validated data to governed intelligence, with trust and scale built once for every product.</a:t>
            </a:r>
            <a:endParaRPr b="0" lang="en-US" sz="1250" strike="noStrike" u="none">
              <a:solidFill>
                <a:srgbClr val="000000"/>
              </a:solidFill>
              <a:effectLst/>
              <a:uFillTx/>
              <a:latin typeface="Arial"/>
            </a:endParaRPr>
          </a:p>
        </p:txBody>
      </p:sp>
      <p:sp>
        <p:nvSpPr>
          <p:cNvPr id="4485"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486" name="Shape 7"/>
          <p:cNvSpPr/>
          <p:nvPr/>
        </p:nvSpPr>
        <p:spPr>
          <a:xfrm>
            <a:off x="621720" y="1874520"/>
            <a:ext cx="10947600" cy="456840"/>
          </a:xfrm>
          <a:prstGeom prst="rect">
            <a:avLst/>
          </a:prstGeom>
          <a:solidFill>
            <a:srgbClr val="f1f3f2"/>
          </a:solidFill>
          <a:ln w="635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487" name="Text 8"/>
          <p:cNvSpPr/>
          <p:nvPr/>
        </p:nvSpPr>
        <p:spPr>
          <a:xfrm>
            <a:off x="749880" y="2020680"/>
            <a:ext cx="260568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99" strike="noStrike" u="none">
                <a:solidFill>
                  <a:srgbClr val="5a625c"/>
                </a:solidFill>
                <a:effectLst/>
                <a:uFillTx/>
                <a:latin typeface="Calibri"/>
                <a:ea typeface="Calibri"/>
              </a:rPr>
              <a:t>CAPABILITY</a:t>
            </a:r>
            <a:endParaRPr b="0" lang="en-US" sz="850" strike="noStrike" u="none">
              <a:solidFill>
                <a:srgbClr val="000000"/>
              </a:solidFill>
              <a:effectLst/>
              <a:uFillTx/>
              <a:latin typeface="Arial"/>
            </a:endParaRPr>
          </a:p>
        </p:txBody>
      </p:sp>
      <p:sp>
        <p:nvSpPr>
          <p:cNvPr id="4488" name="Text 9"/>
          <p:cNvSpPr/>
          <p:nvPr/>
        </p:nvSpPr>
        <p:spPr>
          <a:xfrm>
            <a:off x="3456360" y="1901880"/>
            <a:ext cx="405648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2026</a:t>
            </a:r>
            <a:endParaRPr b="0" lang="en-US" sz="1200" strike="noStrike" u="none">
              <a:solidFill>
                <a:srgbClr val="000000"/>
              </a:solidFill>
              <a:effectLst/>
              <a:uFillTx/>
              <a:latin typeface="Arial"/>
            </a:endParaRPr>
          </a:p>
        </p:txBody>
      </p:sp>
      <p:sp>
        <p:nvSpPr>
          <p:cNvPr id="4489" name="Text 10"/>
          <p:cNvSpPr/>
          <p:nvPr/>
        </p:nvSpPr>
        <p:spPr>
          <a:xfrm>
            <a:off x="345636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4490" name="Text 11"/>
          <p:cNvSpPr/>
          <p:nvPr/>
        </p:nvSpPr>
        <p:spPr>
          <a:xfrm>
            <a:off x="447048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4491" name="Text 12"/>
          <p:cNvSpPr/>
          <p:nvPr/>
        </p:nvSpPr>
        <p:spPr>
          <a:xfrm>
            <a:off x="548496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4492" name="Text 13"/>
          <p:cNvSpPr/>
          <p:nvPr/>
        </p:nvSpPr>
        <p:spPr>
          <a:xfrm>
            <a:off x="649908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4493" name="Text 14"/>
          <p:cNvSpPr/>
          <p:nvPr/>
        </p:nvSpPr>
        <p:spPr>
          <a:xfrm>
            <a:off x="7513200" y="1901880"/>
            <a:ext cx="4056480" cy="20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1e2420"/>
                </a:solidFill>
                <a:effectLst/>
                <a:uFillTx/>
                <a:latin typeface="Calibri"/>
                <a:ea typeface="Calibri"/>
              </a:rPr>
              <a:t>2027</a:t>
            </a:r>
            <a:endParaRPr b="0" lang="en-US" sz="1200" strike="noStrike" u="none">
              <a:solidFill>
                <a:srgbClr val="000000"/>
              </a:solidFill>
              <a:effectLst/>
              <a:uFillTx/>
              <a:latin typeface="Arial"/>
            </a:endParaRPr>
          </a:p>
        </p:txBody>
      </p:sp>
      <p:sp>
        <p:nvSpPr>
          <p:cNvPr id="4494" name="Text 15"/>
          <p:cNvSpPr/>
          <p:nvPr/>
        </p:nvSpPr>
        <p:spPr>
          <a:xfrm>
            <a:off x="751320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Q1</a:t>
            </a:r>
            <a:endParaRPr b="0" lang="en-US" sz="800" strike="noStrike" u="none">
              <a:solidFill>
                <a:srgbClr val="000000"/>
              </a:solidFill>
              <a:effectLst/>
              <a:uFillTx/>
              <a:latin typeface="Arial"/>
            </a:endParaRPr>
          </a:p>
        </p:txBody>
      </p:sp>
      <p:sp>
        <p:nvSpPr>
          <p:cNvPr id="4495" name="Text 16"/>
          <p:cNvSpPr/>
          <p:nvPr/>
        </p:nvSpPr>
        <p:spPr>
          <a:xfrm>
            <a:off x="852732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Q2</a:t>
            </a:r>
            <a:endParaRPr b="0" lang="en-US" sz="800" strike="noStrike" u="none">
              <a:solidFill>
                <a:srgbClr val="000000"/>
              </a:solidFill>
              <a:effectLst/>
              <a:uFillTx/>
              <a:latin typeface="Arial"/>
            </a:endParaRPr>
          </a:p>
        </p:txBody>
      </p:sp>
      <p:sp>
        <p:nvSpPr>
          <p:cNvPr id="4496" name="Text 17"/>
          <p:cNvSpPr/>
          <p:nvPr/>
        </p:nvSpPr>
        <p:spPr>
          <a:xfrm>
            <a:off x="954144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Q3</a:t>
            </a:r>
            <a:endParaRPr b="0" lang="en-US" sz="800" strike="noStrike" u="none">
              <a:solidFill>
                <a:srgbClr val="000000"/>
              </a:solidFill>
              <a:effectLst/>
              <a:uFillTx/>
              <a:latin typeface="Arial"/>
            </a:endParaRPr>
          </a:p>
        </p:txBody>
      </p:sp>
      <p:sp>
        <p:nvSpPr>
          <p:cNvPr id="4497" name="Text 18"/>
          <p:cNvSpPr/>
          <p:nvPr/>
        </p:nvSpPr>
        <p:spPr>
          <a:xfrm>
            <a:off x="10555560" y="2121480"/>
            <a:ext cx="1013760" cy="136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800" strike="noStrike" u="none">
                <a:solidFill>
                  <a:srgbClr val="5a625c"/>
                </a:solidFill>
                <a:effectLst/>
                <a:uFillTx/>
                <a:latin typeface="Calibri"/>
                <a:ea typeface="Calibri"/>
              </a:rPr>
              <a:t>Q4</a:t>
            </a:r>
            <a:endParaRPr b="0" lang="en-US" sz="800" strike="noStrike" u="none">
              <a:solidFill>
                <a:srgbClr val="000000"/>
              </a:solidFill>
              <a:effectLst/>
              <a:uFillTx/>
              <a:latin typeface="Arial"/>
            </a:endParaRPr>
          </a:p>
        </p:txBody>
      </p:sp>
      <p:sp>
        <p:nvSpPr>
          <p:cNvPr id="4498" name="Shape 19"/>
          <p:cNvSpPr/>
          <p:nvPr/>
        </p:nvSpPr>
        <p:spPr>
          <a:xfrm>
            <a:off x="345636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4499" name="Shape 20"/>
          <p:cNvSpPr/>
          <p:nvPr/>
        </p:nvSpPr>
        <p:spPr>
          <a:xfrm>
            <a:off x="447048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4500" name="Shape 21"/>
          <p:cNvSpPr/>
          <p:nvPr/>
        </p:nvSpPr>
        <p:spPr>
          <a:xfrm>
            <a:off x="548460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4501" name="Shape 22"/>
          <p:cNvSpPr/>
          <p:nvPr/>
        </p:nvSpPr>
        <p:spPr>
          <a:xfrm>
            <a:off x="649872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4502" name="Shape 23"/>
          <p:cNvSpPr/>
          <p:nvPr/>
        </p:nvSpPr>
        <p:spPr>
          <a:xfrm>
            <a:off x="751284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4503" name="Shape 24"/>
          <p:cNvSpPr/>
          <p:nvPr/>
        </p:nvSpPr>
        <p:spPr>
          <a:xfrm>
            <a:off x="852732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4504" name="Shape 25"/>
          <p:cNvSpPr/>
          <p:nvPr/>
        </p:nvSpPr>
        <p:spPr>
          <a:xfrm>
            <a:off x="954144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4505" name="Shape 26"/>
          <p:cNvSpPr/>
          <p:nvPr/>
        </p:nvSpPr>
        <p:spPr>
          <a:xfrm>
            <a:off x="10555560" y="2103120"/>
            <a:ext cx="360" cy="3794760"/>
          </a:xfrm>
          <a:prstGeom prst="line">
            <a:avLst/>
          </a:prstGeom>
          <a:ln w="4445">
            <a:solidFill>
              <a:srgbClr val="e2e6e2"/>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4506" name="Shape 27"/>
          <p:cNvSpPr/>
          <p:nvPr/>
        </p:nvSpPr>
        <p:spPr>
          <a:xfrm>
            <a:off x="11569680" y="2103120"/>
            <a:ext cx="360" cy="3794760"/>
          </a:xfrm>
          <a:prstGeom prst="line">
            <a:avLst/>
          </a:prstGeom>
          <a:ln w="11430">
            <a:solidFill>
              <a:srgbClr val="c8ceca"/>
            </a:solidFill>
            <a:round/>
          </a:ln>
        </p:spPr>
        <p:style>
          <a:lnRef idx="0"/>
          <a:fillRef idx="0"/>
          <a:effectRef idx="0"/>
          <a:fontRef idx="minor"/>
        </p:style>
        <p:txBody>
          <a:bodyPr lIns="90000" rIns="90000" tIns="45000" bIns="45000" anchor="t" anchorCtr="1">
            <a:noAutofit/>
          </a:bodyPr>
          <a:p>
            <a:endParaRPr b="0" lang="en-US" sz="1800" strike="noStrike" u="none">
              <a:solidFill>
                <a:srgbClr val="000000"/>
              </a:solidFill>
              <a:effectLst/>
              <a:uFillTx/>
              <a:latin typeface="Arial"/>
            </a:endParaRPr>
          </a:p>
        </p:txBody>
      </p:sp>
      <p:sp>
        <p:nvSpPr>
          <p:cNvPr id="4507" name="Shape 28"/>
          <p:cNvSpPr/>
          <p:nvPr/>
        </p:nvSpPr>
        <p:spPr>
          <a:xfrm>
            <a:off x="621720" y="2331720"/>
            <a:ext cx="411120" cy="950760"/>
          </a:xfrm>
          <a:prstGeom prst="rect">
            <a:avLst/>
          </a:prstGeom>
          <a:solidFill>
            <a:srgbClr val="3dcd58"/>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508" name="Text 29"/>
          <p:cNvSpPr/>
          <p:nvPr/>
        </p:nvSpPr>
        <p:spPr>
          <a:xfrm>
            <a:off x="685800" y="2377440"/>
            <a:ext cx="282960" cy="85932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DATA QUALITY</a:t>
            </a:r>
            <a:endParaRPr b="0" lang="en-US" sz="750" strike="noStrike" u="none">
              <a:solidFill>
                <a:srgbClr val="000000"/>
              </a:solidFill>
              <a:effectLst/>
              <a:uFillTx/>
              <a:latin typeface="Arial"/>
            </a:endParaRPr>
          </a:p>
        </p:txBody>
      </p:sp>
      <p:sp>
        <p:nvSpPr>
          <p:cNvPr id="4509" name="Shape 30"/>
          <p:cNvSpPr/>
          <p:nvPr/>
        </p:nvSpPr>
        <p:spPr>
          <a:xfrm>
            <a:off x="1033200" y="25693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510" name="Shape 31"/>
          <p:cNvSpPr/>
          <p:nvPr/>
        </p:nvSpPr>
        <p:spPr>
          <a:xfrm>
            <a:off x="1143000" y="234072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511" name="Text 32"/>
          <p:cNvSpPr/>
          <p:nvPr/>
        </p:nvSpPr>
        <p:spPr>
          <a:xfrm>
            <a:off x="1243440" y="23043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39" strike="noStrike" u="none">
                <a:solidFill>
                  <a:srgbClr val="1e2420"/>
                </a:solidFill>
                <a:effectLst/>
                <a:uFillTx/>
                <a:latin typeface="Calibri"/>
                <a:ea typeface="Calibri"/>
              </a:rPr>
              <a:t>File and ingestion validation, L0 and L1</a:t>
            </a:r>
            <a:endParaRPr b="0" lang="en-US" sz="939" strike="noStrike" u="none">
              <a:solidFill>
                <a:srgbClr val="000000"/>
              </a:solidFill>
              <a:effectLst/>
              <a:uFillTx/>
              <a:latin typeface="Arial"/>
            </a:endParaRPr>
          </a:p>
        </p:txBody>
      </p:sp>
      <p:sp>
        <p:nvSpPr>
          <p:cNvPr id="4512" name="Shape 33"/>
          <p:cNvSpPr/>
          <p:nvPr/>
        </p:nvSpPr>
        <p:spPr>
          <a:xfrm>
            <a:off x="5484960" y="2410200"/>
            <a:ext cx="1013760" cy="80640"/>
          </a:xfrm>
          <a:prstGeom prst="roundRect">
            <a:avLst>
              <a:gd name="adj" fmla="val 45249"/>
            </a:avLst>
          </a:prstGeom>
          <a:solidFill>
            <a:srgbClr val="3dcd58"/>
          </a:solidFill>
          <a:ln w="12700">
            <a:solidFill>
              <a:srgbClr val="3dcd58"/>
            </a:solidFill>
            <a:round/>
          </a:ln>
        </p:spPr>
        <p:style>
          <a:lnRef idx="0"/>
          <a:fillRef idx="0"/>
          <a:effectRef idx="0"/>
          <a:fontRef idx="minor"/>
        </p:style>
        <p:txBody>
          <a:bodyPr lIns="90000" rIns="90000" tIns="14760" bIns="14760" anchor="t">
            <a:noAutofit/>
          </a:bodyPr>
          <a:p>
            <a:endParaRPr b="0" lang="en-US" sz="1800" strike="noStrike" u="none">
              <a:solidFill>
                <a:srgbClr val="000000"/>
              </a:solidFill>
              <a:effectLst/>
              <a:uFillTx/>
              <a:latin typeface="Arial"/>
            </a:endParaRPr>
          </a:p>
        </p:txBody>
      </p:sp>
      <p:sp>
        <p:nvSpPr>
          <p:cNvPr id="4513" name="Shape 34"/>
          <p:cNvSpPr/>
          <p:nvPr/>
        </p:nvSpPr>
        <p:spPr>
          <a:xfrm>
            <a:off x="1033200" y="28069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514" name="Shape 35"/>
          <p:cNvSpPr/>
          <p:nvPr/>
        </p:nvSpPr>
        <p:spPr>
          <a:xfrm>
            <a:off x="1143000" y="257868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515" name="Text 36"/>
          <p:cNvSpPr/>
          <p:nvPr/>
        </p:nvSpPr>
        <p:spPr>
          <a:xfrm>
            <a:off x="1243440" y="25419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39" strike="noStrike" u="none">
                <a:solidFill>
                  <a:srgbClr val="1e2420"/>
                </a:solidFill>
                <a:effectLst/>
                <a:uFillTx/>
                <a:latin typeface="Calibri"/>
                <a:ea typeface="Calibri"/>
              </a:rPr>
              <a:t>Anomaly and consistency checks, L2</a:t>
            </a:r>
            <a:endParaRPr b="0" lang="en-US" sz="939" strike="noStrike" u="none">
              <a:solidFill>
                <a:srgbClr val="000000"/>
              </a:solidFill>
              <a:effectLst/>
              <a:uFillTx/>
              <a:latin typeface="Arial"/>
            </a:endParaRPr>
          </a:p>
        </p:txBody>
      </p:sp>
      <p:sp>
        <p:nvSpPr>
          <p:cNvPr id="4516" name="Shape 37"/>
          <p:cNvSpPr/>
          <p:nvPr/>
        </p:nvSpPr>
        <p:spPr>
          <a:xfrm>
            <a:off x="6499080" y="2647800"/>
            <a:ext cx="1013760" cy="80640"/>
          </a:xfrm>
          <a:prstGeom prst="roundRect">
            <a:avLst>
              <a:gd name="adj" fmla="val 45249"/>
            </a:avLst>
          </a:prstGeom>
          <a:solidFill>
            <a:srgbClr val="3dcd58"/>
          </a:solidFill>
          <a:ln w="12700">
            <a:solidFill>
              <a:srgbClr val="3dcd58"/>
            </a:solidFill>
            <a:round/>
          </a:ln>
        </p:spPr>
        <p:style>
          <a:lnRef idx="0"/>
          <a:fillRef idx="0"/>
          <a:effectRef idx="0"/>
          <a:fontRef idx="minor"/>
        </p:style>
        <p:txBody>
          <a:bodyPr lIns="90000" rIns="90000" tIns="14760" bIns="14760" anchor="t">
            <a:noAutofit/>
          </a:bodyPr>
          <a:p>
            <a:endParaRPr b="0" lang="en-US" sz="1800" strike="noStrike" u="none">
              <a:solidFill>
                <a:srgbClr val="000000"/>
              </a:solidFill>
              <a:effectLst/>
              <a:uFillTx/>
              <a:latin typeface="Arial"/>
            </a:endParaRPr>
          </a:p>
        </p:txBody>
      </p:sp>
      <p:sp>
        <p:nvSpPr>
          <p:cNvPr id="4517" name="Shape 38"/>
          <p:cNvSpPr/>
          <p:nvPr/>
        </p:nvSpPr>
        <p:spPr>
          <a:xfrm>
            <a:off x="1033200" y="30448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518" name="Shape 39"/>
          <p:cNvSpPr/>
          <p:nvPr/>
        </p:nvSpPr>
        <p:spPr>
          <a:xfrm>
            <a:off x="1143000" y="281628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519" name="Text 40"/>
          <p:cNvSpPr/>
          <p:nvPr/>
        </p:nvSpPr>
        <p:spPr>
          <a:xfrm>
            <a:off x="1243440" y="27799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39" strike="noStrike" u="none">
                <a:solidFill>
                  <a:srgbClr val="1e2420"/>
                </a:solidFill>
                <a:effectLst/>
                <a:uFillTx/>
                <a:latin typeface="Calibri"/>
                <a:ea typeface="Calibri"/>
              </a:rPr>
              <a:t>Inventory readiness checks, L3</a:t>
            </a:r>
            <a:endParaRPr b="0" lang="en-US" sz="939" strike="noStrike" u="none">
              <a:solidFill>
                <a:srgbClr val="000000"/>
              </a:solidFill>
              <a:effectLst/>
              <a:uFillTx/>
              <a:latin typeface="Arial"/>
            </a:endParaRPr>
          </a:p>
        </p:txBody>
      </p:sp>
      <p:sp>
        <p:nvSpPr>
          <p:cNvPr id="4520" name="Shape 41"/>
          <p:cNvSpPr/>
          <p:nvPr/>
        </p:nvSpPr>
        <p:spPr>
          <a:xfrm>
            <a:off x="7513200" y="2885760"/>
            <a:ext cx="2027880" cy="80640"/>
          </a:xfrm>
          <a:prstGeom prst="roundRect">
            <a:avLst>
              <a:gd name="adj" fmla="val 45249"/>
            </a:avLst>
          </a:prstGeom>
          <a:solidFill>
            <a:srgbClr val="3dcd58"/>
          </a:solidFill>
          <a:ln w="12700">
            <a:solidFill>
              <a:srgbClr val="3dcd58"/>
            </a:solidFill>
            <a:round/>
          </a:ln>
        </p:spPr>
        <p:style>
          <a:lnRef idx="0"/>
          <a:fillRef idx="0"/>
          <a:effectRef idx="0"/>
          <a:fontRef idx="minor"/>
        </p:style>
        <p:txBody>
          <a:bodyPr lIns="90000" rIns="90000" tIns="14760" bIns="14760" anchor="t">
            <a:noAutofit/>
          </a:bodyPr>
          <a:p>
            <a:endParaRPr b="0" lang="en-US" sz="1800" strike="noStrike" u="none">
              <a:solidFill>
                <a:srgbClr val="000000"/>
              </a:solidFill>
              <a:effectLst/>
              <a:uFillTx/>
              <a:latin typeface="Arial"/>
            </a:endParaRPr>
          </a:p>
        </p:txBody>
      </p:sp>
      <p:sp>
        <p:nvSpPr>
          <p:cNvPr id="4521" name="Shape 42"/>
          <p:cNvSpPr/>
          <p:nvPr/>
        </p:nvSpPr>
        <p:spPr>
          <a:xfrm>
            <a:off x="1033200" y="32824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522" name="Shape 43"/>
          <p:cNvSpPr/>
          <p:nvPr/>
        </p:nvSpPr>
        <p:spPr>
          <a:xfrm>
            <a:off x="1143000" y="3054240"/>
            <a:ext cx="45360" cy="219240"/>
          </a:xfrm>
          <a:prstGeom prst="roundRect">
            <a:avLst>
              <a:gd name="adj" fmla="val 60000"/>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523" name="Text 44"/>
          <p:cNvSpPr/>
          <p:nvPr/>
        </p:nvSpPr>
        <p:spPr>
          <a:xfrm>
            <a:off x="1243440" y="30175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39" strike="noStrike" u="none">
                <a:solidFill>
                  <a:srgbClr val="1e2420"/>
                </a:solidFill>
                <a:effectLst/>
                <a:uFillTx/>
                <a:latin typeface="Calibri"/>
                <a:ea typeface="Calibri"/>
              </a:rPr>
              <a:t>Quality scoring and confidence, L4</a:t>
            </a:r>
            <a:endParaRPr b="0" lang="en-US" sz="939" strike="noStrike" u="none">
              <a:solidFill>
                <a:srgbClr val="000000"/>
              </a:solidFill>
              <a:effectLst/>
              <a:uFillTx/>
              <a:latin typeface="Arial"/>
            </a:endParaRPr>
          </a:p>
        </p:txBody>
      </p:sp>
      <p:sp>
        <p:nvSpPr>
          <p:cNvPr id="4524" name="Shape 45"/>
          <p:cNvSpPr/>
          <p:nvPr/>
        </p:nvSpPr>
        <p:spPr>
          <a:xfrm>
            <a:off x="9541440" y="3123360"/>
            <a:ext cx="2027880" cy="80640"/>
          </a:xfrm>
          <a:prstGeom prst="roundRect">
            <a:avLst>
              <a:gd name="adj" fmla="val 45249"/>
            </a:avLst>
          </a:prstGeom>
          <a:solidFill>
            <a:srgbClr val="3dcd58"/>
          </a:solidFill>
          <a:ln w="12700">
            <a:solidFill>
              <a:srgbClr val="3dcd58"/>
            </a:solidFill>
            <a:round/>
          </a:ln>
        </p:spPr>
        <p:style>
          <a:lnRef idx="0"/>
          <a:fillRef idx="0"/>
          <a:effectRef idx="0"/>
          <a:fontRef idx="minor"/>
        </p:style>
        <p:txBody>
          <a:bodyPr lIns="90000" rIns="90000" tIns="14760" bIns="14760" anchor="t">
            <a:noAutofit/>
          </a:bodyPr>
          <a:p>
            <a:endParaRPr b="0" lang="en-US" sz="1800" strike="noStrike" u="none">
              <a:solidFill>
                <a:srgbClr val="000000"/>
              </a:solidFill>
              <a:effectLst/>
              <a:uFillTx/>
              <a:latin typeface="Arial"/>
            </a:endParaRPr>
          </a:p>
        </p:txBody>
      </p:sp>
      <p:sp>
        <p:nvSpPr>
          <p:cNvPr id="4525" name="Shape 46"/>
          <p:cNvSpPr/>
          <p:nvPr/>
        </p:nvSpPr>
        <p:spPr>
          <a:xfrm>
            <a:off x="621720" y="3282840"/>
            <a:ext cx="411120" cy="950760"/>
          </a:xfrm>
          <a:prstGeom prst="rect">
            <a:avLst/>
          </a:prstGeom>
          <a:solidFill>
            <a:srgbClr val="007a27"/>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526" name="Text 47"/>
          <p:cNvSpPr/>
          <p:nvPr/>
        </p:nvSpPr>
        <p:spPr>
          <a:xfrm>
            <a:off x="685800" y="3328560"/>
            <a:ext cx="282960" cy="85932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ONTOLOGY &amp; CALC</a:t>
            </a:r>
            <a:endParaRPr b="0" lang="en-US" sz="750" strike="noStrike" u="none">
              <a:solidFill>
                <a:srgbClr val="000000"/>
              </a:solidFill>
              <a:effectLst/>
              <a:uFillTx/>
              <a:latin typeface="Arial"/>
            </a:endParaRPr>
          </a:p>
        </p:txBody>
      </p:sp>
      <p:sp>
        <p:nvSpPr>
          <p:cNvPr id="4527" name="Shape 48"/>
          <p:cNvSpPr/>
          <p:nvPr/>
        </p:nvSpPr>
        <p:spPr>
          <a:xfrm>
            <a:off x="1033200" y="352044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528" name="Shape 49"/>
          <p:cNvSpPr/>
          <p:nvPr/>
        </p:nvSpPr>
        <p:spPr>
          <a:xfrm>
            <a:off x="1143000" y="329184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529" name="Text 50"/>
          <p:cNvSpPr/>
          <p:nvPr/>
        </p:nvSpPr>
        <p:spPr>
          <a:xfrm>
            <a:off x="1243440" y="325512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39" strike="noStrike" u="none">
                <a:solidFill>
                  <a:srgbClr val="1e2420"/>
                </a:solidFill>
                <a:effectLst/>
                <a:uFillTx/>
                <a:latin typeface="Calibri"/>
                <a:ea typeface="Calibri"/>
              </a:rPr>
              <a:t>Hierarchies and bulk import at scale</a:t>
            </a:r>
            <a:endParaRPr b="0" lang="en-US" sz="939" strike="noStrike" u="none">
              <a:solidFill>
                <a:srgbClr val="000000"/>
              </a:solidFill>
              <a:effectLst/>
              <a:uFillTx/>
              <a:latin typeface="Arial"/>
            </a:endParaRPr>
          </a:p>
        </p:txBody>
      </p:sp>
      <p:sp>
        <p:nvSpPr>
          <p:cNvPr id="4530" name="Shape 51"/>
          <p:cNvSpPr/>
          <p:nvPr/>
        </p:nvSpPr>
        <p:spPr>
          <a:xfrm>
            <a:off x="5484960" y="3361320"/>
            <a:ext cx="1013760" cy="80640"/>
          </a:xfrm>
          <a:prstGeom prst="roundRect">
            <a:avLst>
              <a:gd name="adj" fmla="val 45249"/>
            </a:avLst>
          </a:prstGeom>
          <a:solidFill>
            <a:srgbClr val="007a27"/>
          </a:solidFill>
          <a:ln w="12700">
            <a:solidFill>
              <a:srgbClr val="007a27"/>
            </a:solidFill>
            <a:round/>
          </a:ln>
        </p:spPr>
        <p:style>
          <a:lnRef idx="0"/>
          <a:fillRef idx="0"/>
          <a:effectRef idx="0"/>
          <a:fontRef idx="minor"/>
        </p:style>
        <p:txBody>
          <a:bodyPr lIns="90000" rIns="90000" tIns="14760" bIns="14760" anchor="t">
            <a:noAutofit/>
          </a:bodyPr>
          <a:p>
            <a:endParaRPr b="0" lang="en-US" sz="1800" strike="noStrike" u="none">
              <a:solidFill>
                <a:srgbClr val="ffffff"/>
              </a:solidFill>
              <a:effectLst/>
              <a:uFillTx/>
              <a:latin typeface="Arial"/>
            </a:endParaRPr>
          </a:p>
        </p:txBody>
      </p:sp>
      <p:sp>
        <p:nvSpPr>
          <p:cNvPr id="4531" name="Shape 52"/>
          <p:cNvSpPr/>
          <p:nvPr/>
        </p:nvSpPr>
        <p:spPr>
          <a:xfrm>
            <a:off x="1033200" y="375804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532" name="Shape 53"/>
          <p:cNvSpPr/>
          <p:nvPr/>
        </p:nvSpPr>
        <p:spPr>
          <a:xfrm>
            <a:off x="1143000" y="352944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533" name="Text 54"/>
          <p:cNvSpPr/>
          <p:nvPr/>
        </p:nvSpPr>
        <p:spPr>
          <a:xfrm>
            <a:off x="1243440" y="349308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39" strike="noStrike" u="none">
                <a:solidFill>
                  <a:srgbClr val="1e2420"/>
                </a:solidFill>
                <a:effectLst/>
                <a:uFillTx/>
                <a:latin typeface="Calibri"/>
                <a:ea typeface="Calibri"/>
              </a:rPr>
              <a:t>Allocations foundation</a:t>
            </a:r>
            <a:endParaRPr b="0" lang="en-US" sz="939" strike="noStrike" u="none">
              <a:solidFill>
                <a:srgbClr val="000000"/>
              </a:solidFill>
              <a:effectLst/>
              <a:uFillTx/>
              <a:latin typeface="Arial"/>
            </a:endParaRPr>
          </a:p>
        </p:txBody>
      </p:sp>
      <p:sp>
        <p:nvSpPr>
          <p:cNvPr id="4534" name="Shape 55"/>
          <p:cNvSpPr/>
          <p:nvPr/>
        </p:nvSpPr>
        <p:spPr>
          <a:xfrm>
            <a:off x="6499080" y="3598920"/>
            <a:ext cx="1013760" cy="80640"/>
          </a:xfrm>
          <a:prstGeom prst="roundRect">
            <a:avLst>
              <a:gd name="adj" fmla="val 45249"/>
            </a:avLst>
          </a:prstGeom>
          <a:solidFill>
            <a:srgbClr val="007a27"/>
          </a:solidFill>
          <a:ln w="12700">
            <a:solidFill>
              <a:srgbClr val="007a27"/>
            </a:solidFill>
            <a:round/>
          </a:ln>
        </p:spPr>
        <p:style>
          <a:lnRef idx="0"/>
          <a:fillRef idx="0"/>
          <a:effectRef idx="0"/>
          <a:fontRef idx="minor"/>
        </p:style>
        <p:txBody>
          <a:bodyPr lIns="90000" rIns="90000" tIns="14760" bIns="14760" anchor="t">
            <a:noAutofit/>
          </a:bodyPr>
          <a:p>
            <a:endParaRPr b="0" lang="en-US" sz="1800" strike="noStrike" u="none">
              <a:solidFill>
                <a:srgbClr val="ffffff"/>
              </a:solidFill>
              <a:effectLst/>
              <a:uFillTx/>
              <a:latin typeface="Arial"/>
            </a:endParaRPr>
          </a:p>
        </p:txBody>
      </p:sp>
      <p:sp>
        <p:nvSpPr>
          <p:cNvPr id="4535" name="Shape 56"/>
          <p:cNvSpPr/>
          <p:nvPr/>
        </p:nvSpPr>
        <p:spPr>
          <a:xfrm>
            <a:off x="1033200" y="399564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536" name="Shape 57"/>
          <p:cNvSpPr/>
          <p:nvPr/>
        </p:nvSpPr>
        <p:spPr>
          <a:xfrm>
            <a:off x="1143000" y="376740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537" name="Text 58"/>
          <p:cNvSpPr/>
          <p:nvPr/>
        </p:nvSpPr>
        <p:spPr>
          <a:xfrm>
            <a:off x="1243440" y="373068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39" strike="noStrike" u="none">
                <a:solidFill>
                  <a:srgbClr val="1e2420"/>
                </a:solidFill>
                <a:effectLst/>
                <a:uFillTx/>
                <a:latin typeface="Calibri"/>
                <a:ea typeface="Calibri"/>
              </a:rPr>
              <a:t>Ontology control plane</a:t>
            </a:r>
            <a:endParaRPr b="0" lang="en-US" sz="939" strike="noStrike" u="none">
              <a:solidFill>
                <a:srgbClr val="000000"/>
              </a:solidFill>
              <a:effectLst/>
              <a:uFillTx/>
              <a:latin typeface="Arial"/>
            </a:endParaRPr>
          </a:p>
        </p:txBody>
      </p:sp>
      <p:sp>
        <p:nvSpPr>
          <p:cNvPr id="4538" name="Shape 59"/>
          <p:cNvSpPr/>
          <p:nvPr/>
        </p:nvSpPr>
        <p:spPr>
          <a:xfrm>
            <a:off x="7513200" y="3836520"/>
            <a:ext cx="2027880" cy="80640"/>
          </a:xfrm>
          <a:prstGeom prst="roundRect">
            <a:avLst>
              <a:gd name="adj" fmla="val 45249"/>
            </a:avLst>
          </a:prstGeom>
          <a:solidFill>
            <a:srgbClr val="007a27"/>
          </a:solidFill>
          <a:ln w="12700">
            <a:solidFill>
              <a:srgbClr val="007a27"/>
            </a:solidFill>
            <a:round/>
          </a:ln>
        </p:spPr>
        <p:style>
          <a:lnRef idx="0"/>
          <a:fillRef idx="0"/>
          <a:effectRef idx="0"/>
          <a:fontRef idx="minor"/>
        </p:style>
        <p:txBody>
          <a:bodyPr lIns="90000" rIns="90000" tIns="14760" bIns="14760" anchor="t">
            <a:noAutofit/>
          </a:bodyPr>
          <a:p>
            <a:endParaRPr b="0" lang="en-US" sz="1800" strike="noStrike" u="none">
              <a:solidFill>
                <a:srgbClr val="ffffff"/>
              </a:solidFill>
              <a:effectLst/>
              <a:uFillTx/>
              <a:latin typeface="Arial"/>
            </a:endParaRPr>
          </a:p>
        </p:txBody>
      </p:sp>
      <p:sp>
        <p:nvSpPr>
          <p:cNvPr id="4539" name="Shape 60"/>
          <p:cNvSpPr/>
          <p:nvPr/>
        </p:nvSpPr>
        <p:spPr>
          <a:xfrm>
            <a:off x="1033200" y="423360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540" name="Shape 61"/>
          <p:cNvSpPr/>
          <p:nvPr/>
        </p:nvSpPr>
        <p:spPr>
          <a:xfrm>
            <a:off x="1143000" y="4005000"/>
            <a:ext cx="45360" cy="219240"/>
          </a:xfrm>
          <a:prstGeom prst="roundRect">
            <a:avLst>
              <a:gd name="adj" fmla="val 60000"/>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541" name="Text 62"/>
          <p:cNvSpPr/>
          <p:nvPr/>
        </p:nvSpPr>
        <p:spPr>
          <a:xfrm>
            <a:off x="1243440" y="396864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39" strike="noStrike" u="none">
                <a:solidFill>
                  <a:srgbClr val="1e2420"/>
                </a:solidFill>
                <a:effectLst/>
                <a:uFillTx/>
                <a:latin typeface="Calibri"/>
                <a:ea typeface="Calibri"/>
              </a:rPr>
              <a:t>Calculation governance and versioning</a:t>
            </a:r>
            <a:endParaRPr b="0" lang="en-US" sz="939" strike="noStrike" u="none">
              <a:solidFill>
                <a:srgbClr val="000000"/>
              </a:solidFill>
              <a:effectLst/>
              <a:uFillTx/>
              <a:latin typeface="Arial"/>
            </a:endParaRPr>
          </a:p>
        </p:txBody>
      </p:sp>
      <p:sp>
        <p:nvSpPr>
          <p:cNvPr id="4542" name="Shape 63"/>
          <p:cNvSpPr/>
          <p:nvPr/>
        </p:nvSpPr>
        <p:spPr>
          <a:xfrm>
            <a:off x="7513200" y="4074480"/>
            <a:ext cx="2027880" cy="80640"/>
          </a:xfrm>
          <a:prstGeom prst="roundRect">
            <a:avLst>
              <a:gd name="adj" fmla="val 45249"/>
            </a:avLst>
          </a:prstGeom>
          <a:solidFill>
            <a:srgbClr val="007a27"/>
          </a:solidFill>
          <a:ln w="12700">
            <a:solidFill>
              <a:srgbClr val="007a27"/>
            </a:solidFill>
            <a:round/>
          </a:ln>
        </p:spPr>
        <p:style>
          <a:lnRef idx="0"/>
          <a:fillRef idx="0"/>
          <a:effectRef idx="0"/>
          <a:fontRef idx="minor"/>
        </p:style>
        <p:txBody>
          <a:bodyPr lIns="90000" rIns="90000" tIns="14760" bIns="14760" anchor="t">
            <a:noAutofit/>
          </a:bodyPr>
          <a:p>
            <a:endParaRPr b="0" lang="en-US" sz="1800" strike="noStrike" u="none">
              <a:solidFill>
                <a:srgbClr val="ffffff"/>
              </a:solidFill>
              <a:effectLst/>
              <a:uFillTx/>
              <a:latin typeface="Arial"/>
            </a:endParaRPr>
          </a:p>
        </p:txBody>
      </p:sp>
      <p:sp>
        <p:nvSpPr>
          <p:cNvPr id="4543" name="Shape 64"/>
          <p:cNvSpPr/>
          <p:nvPr/>
        </p:nvSpPr>
        <p:spPr>
          <a:xfrm>
            <a:off x="621720" y="4233600"/>
            <a:ext cx="411120" cy="950760"/>
          </a:xfrm>
          <a:prstGeom prst="rect">
            <a:avLst/>
          </a:prstGeom>
          <a:solidFill>
            <a:srgbClr val="ffb04c"/>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544" name="Text 65"/>
          <p:cNvSpPr/>
          <p:nvPr/>
        </p:nvSpPr>
        <p:spPr>
          <a:xfrm>
            <a:off x="685800" y="4279320"/>
            <a:ext cx="282960" cy="85932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TRUST &amp; AI</a:t>
            </a:r>
            <a:endParaRPr b="0" lang="en-US" sz="750" strike="noStrike" u="none">
              <a:solidFill>
                <a:srgbClr val="000000"/>
              </a:solidFill>
              <a:effectLst/>
              <a:uFillTx/>
              <a:latin typeface="Arial"/>
            </a:endParaRPr>
          </a:p>
        </p:txBody>
      </p:sp>
      <p:sp>
        <p:nvSpPr>
          <p:cNvPr id="4545" name="Shape 66"/>
          <p:cNvSpPr/>
          <p:nvPr/>
        </p:nvSpPr>
        <p:spPr>
          <a:xfrm>
            <a:off x="1033200" y="447120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546" name="Shape 67"/>
          <p:cNvSpPr/>
          <p:nvPr/>
        </p:nvSpPr>
        <p:spPr>
          <a:xfrm>
            <a:off x="1143000" y="424296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547" name="Text 68"/>
          <p:cNvSpPr/>
          <p:nvPr/>
        </p:nvSpPr>
        <p:spPr>
          <a:xfrm>
            <a:off x="1243440" y="420624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39" strike="noStrike" u="none">
                <a:solidFill>
                  <a:srgbClr val="1e2420"/>
                </a:solidFill>
                <a:effectLst/>
                <a:uFillTx/>
                <a:latin typeface="Calibri"/>
                <a:ea typeface="Calibri"/>
              </a:rPr>
              <a:t>Configurable checks and approvals</a:t>
            </a:r>
            <a:endParaRPr b="0" lang="en-US" sz="939" strike="noStrike" u="none">
              <a:solidFill>
                <a:srgbClr val="000000"/>
              </a:solidFill>
              <a:effectLst/>
              <a:uFillTx/>
              <a:latin typeface="Arial"/>
            </a:endParaRPr>
          </a:p>
        </p:txBody>
      </p:sp>
      <p:sp>
        <p:nvSpPr>
          <p:cNvPr id="4548" name="Shape 69"/>
          <p:cNvSpPr/>
          <p:nvPr/>
        </p:nvSpPr>
        <p:spPr>
          <a:xfrm>
            <a:off x="6499080" y="4312080"/>
            <a:ext cx="1013760" cy="80640"/>
          </a:xfrm>
          <a:prstGeom prst="roundRect">
            <a:avLst>
              <a:gd name="adj" fmla="val 45249"/>
            </a:avLst>
          </a:prstGeom>
          <a:solidFill>
            <a:srgbClr val="ffb04c"/>
          </a:solidFill>
          <a:ln w="12700">
            <a:solidFill>
              <a:srgbClr val="ffb04c"/>
            </a:solidFill>
            <a:round/>
          </a:ln>
        </p:spPr>
        <p:style>
          <a:lnRef idx="0"/>
          <a:fillRef idx="0"/>
          <a:effectRef idx="0"/>
          <a:fontRef idx="minor"/>
        </p:style>
        <p:txBody>
          <a:bodyPr lIns="90000" rIns="90000" tIns="14760" bIns="14760" anchor="t">
            <a:noAutofit/>
          </a:bodyPr>
          <a:p>
            <a:endParaRPr b="0" lang="en-US" sz="1800" strike="noStrike" u="none">
              <a:solidFill>
                <a:srgbClr val="000000"/>
              </a:solidFill>
              <a:effectLst/>
              <a:uFillTx/>
              <a:latin typeface="Arial"/>
            </a:endParaRPr>
          </a:p>
        </p:txBody>
      </p:sp>
      <p:sp>
        <p:nvSpPr>
          <p:cNvPr id="4549" name="Shape 70"/>
          <p:cNvSpPr/>
          <p:nvPr/>
        </p:nvSpPr>
        <p:spPr>
          <a:xfrm>
            <a:off x="1033200" y="470916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550" name="Shape 71"/>
          <p:cNvSpPr/>
          <p:nvPr/>
        </p:nvSpPr>
        <p:spPr>
          <a:xfrm>
            <a:off x="1143000" y="448056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551" name="Text 72"/>
          <p:cNvSpPr/>
          <p:nvPr/>
        </p:nvSpPr>
        <p:spPr>
          <a:xfrm>
            <a:off x="1243440" y="444384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39" strike="noStrike" u="none">
                <a:solidFill>
                  <a:srgbClr val="1e2420"/>
                </a:solidFill>
                <a:effectLst/>
                <a:uFillTx/>
                <a:latin typeface="Calibri"/>
                <a:ea typeface="Calibri"/>
              </a:rPr>
              <a:t>Audit trail and data lineage</a:t>
            </a:r>
            <a:endParaRPr b="0" lang="en-US" sz="939" strike="noStrike" u="none">
              <a:solidFill>
                <a:srgbClr val="000000"/>
              </a:solidFill>
              <a:effectLst/>
              <a:uFillTx/>
              <a:latin typeface="Arial"/>
            </a:endParaRPr>
          </a:p>
        </p:txBody>
      </p:sp>
      <p:sp>
        <p:nvSpPr>
          <p:cNvPr id="4552" name="Shape 73"/>
          <p:cNvSpPr/>
          <p:nvPr/>
        </p:nvSpPr>
        <p:spPr>
          <a:xfrm>
            <a:off x="6499080" y="4550040"/>
            <a:ext cx="1013760" cy="80640"/>
          </a:xfrm>
          <a:prstGeom prst="roundRect">
            <a:avLst>
              <a:gd name="adj" fmla="val 45249"/>
            </a:avLst>
          </a:prstGeom>
          <a:solidFill>
            <a:srgbClr val="ffb04c"/>
          </a:solidFill>
          <a:ln w="12700">
            <a:solidFill>
              <a:srgbClr val="ffb04c"/>
            </a:solidFill>
            <a:round/>
          </a:ln>
        </p:spPr>
        <p:style>
          <a:lnRef idx="0"/>
          <a:fillRef idx="0"/>
          <a:effectRef idx="0"/>
          <a:fontRef idx="minor"/>
        </p:style>
        <p:txBody>
          <a:bodyPr lIns="90000" rIns="90000" tIns="14760" bIns="14760" anchor="t">
            <a:noAutofit/>
          </a:bodyPr>
          <a:p>
            <a:endParaRPr b="0" lang="en-US" sz="1800" strike="noStrike" u="none">
              <a:solidFill>
                <a:srgbClr val="000000"/>
              </a:solidFill>
              <a:effectLst/>
              <a:uFillTx/>
              <a:latin typeface="Arial"/>
            </a:endParaRPr>
          </a:p>
        </p:txBody>
      </p:sp>
      <p:sp>
        <p:nvSpPr>
          <p:cNvPr id="4553" name="Shape 74"/>
          <p:cNvSpPr/>
          <p:nvPr/>
        </p:nvSpPr>
        <p:spPr>
          <a:xfrm>
            <a:off x="1033200" y="494676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554" name="Shape 75"/>
          <p:cNvSpPr/>
          <p:nvPr/>
        </p:nvSpPr>
        <p:spPr>
          <a:xfrm>
            <a:off x="1143000" y="471816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555" name="Text 76"/>
          <p:cNvSpPr/>
          <p:nvPr/>
        </p:nvSpPr>
        <p:spPr>
          <a:xfrm>
            <a:off x="1243440" y="468180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39" strike="noStrike" u="none">
                <a:solidFill>
                  <a:srgbClr val="1e2420"/>
                </a:solidFill>
                <a:effectLst/>
                <a:uFillTx/>
                <a:latin typeface="Calibri"/>
                <a:ea typeface="Calibri"/>
              </a:rPr>
              <a:t>AI checks and discrepancy management</a:t>
            </a:r>
            <a:endParaRPr b="0" lang="en-US" sz="939" strike="noStrike" u="none">
              <a:solidFill>
                <a:srgbClr val="000000"/>
              </a:solidFill>
              <a:effectLst/>
              <a:uFillTx/>
              <a:latin typeface="Arial"/>
            </a:endParaRPr>
          </a:p>
        </p:txBody>
      </p:sp>
      <p:sp>
        <p:nvSpPr>
          <p:cNvPr id="4556" name="Shape 77"/>
          <p:cNvSpPr/>
          <p:nvPr/>
        </p:nvSpPr>
        <p:spPr>
          <a:xfrm>
            <a:off x="9541440" y="4787640"/>
            <a:ext cx="2027880" cy="80640"/>
          </a:xfrm>
          <a:prstGeom prst="roundRect">
            <a:avLst>
              <a:gd name="adj" fmla="val 45249"/>
            </a:avLst>
          </a:prstGeom>
          <a:solidFill>
            <a:srgbClr val="ffb04c"/>
          </a:solidFill>
          <a:ln w="12700">
            <a:solidFill>
              <a:srgbClr val="ffb04c"/>
            </a:solidFill>
            <a:round/>
          </a:ln>
        </p:spPr>
        <p:style>
          <a:lnRef idx="0"/>
          <a:fillRef idx="0"/>
          <a:effectRef idx="0"/>
          <a:fontRef idx="minor"/>
        </p:style>
        <p:txBody>
          <a:bodyPr lIns="90000" rIns="90000" tIns="14760" bIns="14760" anchor="t">
            <a:noAutofit/>
          </a:bodyPr>
          <a:p>
            <a:endParaRPr b="0" lang="en-US" sz="1800" strike="noStrike" u="none">
              <a:solidFill>
                <a:srgbClr val="000000"/>
              </a:solidFill>
              <a:effectLst/>
              <a:uFillTx/>
              <a:latin typeface="Arial"/>
            </a:endParaRPr>
          </a:p>
        </p:txBody>
      </p:sp>
      <p:sp>
        <p:nvSpPr>
          <p:cNvPr id="4557" name="Shape 78"/>
          <p:cNvSpPr/>
          <p:nvPr/>
        </p:nvSpPr>
        <p:spPr>
          <a:xfrm>
            <a:off x="1033200" y="518436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558" name="Shape 79"/>
          <p:cNvSpPr/>
          <p:nvPr/>
        </p:nvSpPr>
        <p:spPr>
          <a:xfrm>
            <a:off x="1143000" y="4956120"/>
            <a:ext cx="45360" cy="219240"/>
          </a:xfrm>
          <a:prstGeom prst="roundRect">
            <a:avLst>
              <a:gd name="adj" fmla="val 60000"/>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559" name="Text 80"/>
          <p:cNvSpPr/>
          <p:nvPr/>
        </p:nvSpPr>
        <p:spPr>
          <a:xfrm>
            <a:off x="1243440" y="491940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39" strike="noStrike" u="none">
                <a:solidFill>
                  <a:srgbClr val="1e2420"/>
                </a:solidFill>
                <a:effectLst/>
                <a:uFillTx/>
                <a:latin typeface="Calibri"/>
                <a:ea typeface="Calibri"/>
              </a:rPr>
              <a:t>Sera agents on the shared ontology</a:t>
            </a:r>
            <a:endParaRPr b="0" lang="en-US" sz="939" strike="noStrike" u="none">
              <a:solidFill>
                <a:srgbClr val="000000"/>
              </a:solidFill>
              <a:effectLst/>
              <a:uFillTx/>
              <a:latin typeface="Arial"/>
            </a:endParaRPr>
          </a:p>
        </p:txBody>
      </p:sp>
      <p:sp>
        <p:nvSpPr>
          <p:cNvPr id="4560" name="Shape 81"/>
          <p:cNvSpPr/>
          <p:nvPr/>
        </p:nvSpPr>
        <p:spPr>
          <a:xfrm>
            <a:off x="9541440" y="5025240"/>
            <a:ext cx="2027880" cy="80640"/>
          </a:xfrm>
          <a:prstGeom prst="roundRect">
            <a:avLst>
              <a:gd name="adj" fmla="val 45249"/>
            </a:avLst>
          </a:prstGeom>
          <a:solidFill>
            <a:srgbClr val="ffb04c"/>
          </a:solidFill>
          <a:ln w="12700">
            <a:solidFill>
              <a:srgbClr val="ffb04c"/>
            </a:solidFill>
            <a:round/>
          </a:ln>
        </p:spPr>
        <p:style>
          <a:lnRef idx="0"/>
          <a:fillRef idx="0"/>
          <a:effectRef idx="0"/>
          <a:fontRef idx="minor"/>
        </p:style>
        <p:txBody>
          <a:bodyPr lIns="90000" rIns="90000" tIns="14760" bIns="14760" anchor="t">
            <a:noAutofit/>
          </a:bodyPr>
          <a:p>
            <a:endParaRPr b="0" lang="en-US" sz="1800" strike="noStrike" u="none">
              <a:solidFill>
                <a:srgbClr val="000000"/>
              </a:solidFill>
              <a:effectLst/>
              <a:uFillTx/>
              <a:latin typeface="Arial"/>
            </a:endParaRPr>
          </a:p>
        </p:txBody>
      </p:sp>
      <p:sp>
        <p:nvSpPr>
          <p:cNvPr id="4561" name="Shape 82"/>
          <p:cNvSpPr/>
          <p:nvPr/>
        </p:nvSpPr>
        <p:spPr>
          <a:xfrm>
            <a:off x="621720" y="5184720"/>
            <a:ext cx="411120" cy="712800"/>
          </a:xfrm>
          <a:prstGeom prst="rect">
            <a:avLst/>
          </a:prstGeom>
          <a:solidFill>
            <a:srgbClr val="275b7f"/>
          </a:solidFill>
          <a:ln w="7620">
            <a:solidFill>
              <a:srgbClr val="fffff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562" name="Text 83"/>
          <p:cNvSpPr/>
          <p:nvPr/>
        </p:nvSpPr>
        <p:spPr>
          <a:xfrm>
            <a:off x="685800" y="5230440"/>
            <a:ext cx="282960" cy="621360"/>
          </a:xfrm>
          <a:prstGeom prst="rect">
            <a:avLst/>
          </a:prstGeom>
          <a:noFill/>
          <a:ln w="0">
            <a:noFill/>
          </a:ln>
        </p:spPr>
        <p:style>
          <a:lnRef idx="0"/>
          <a:fillRef idx="0"/>
          <a:effectRef idx="0"/>
          <a:fontRef idx="minor"/>
        </p:style>
        <p:txBody>
          <a:bodyPr lIns="0" rIns="0" tIns="0" bIns="0" anchor="ctr" vert="vert270">
            <a:normAutofit/>
          </a:bodyPr>
          <a:p>
            <a:pPr algn="ctr" defTabSz="914400">
              <a:lnSpc>
                <a:spcPct val="100000"/>
              </a:lnSpc>
              <a:tabLst>
                <a:tab algn="l" pos="0"/>
              </a:tabLst>
            </a:pPr>
            <a:r>
              <a:rPr b="1" lang="en-US" sz="750" strike="noStrike" u="none">
                <a:solidFill>
                  <a:srgbClr val="ffffff"/>
                </a:solidFill>
                <a:effectLst/>
                <a:uFillTx/>
                <a:latin typeface="Calibri"/>
                <a:ea typeface="Calibri"/>
              </a:rPr>
              <a:t>SCALE</a:t>
            </a:r>
            <a:endParaRPr b="0" lang="en-US" sz="750" strike="noStrike" u="none">
              <a:solidFill>
                <a:srgbClr val="000000"/>
              </a:solidFill>
              <a:effectLst/>
              <a:uFillTx/>
              <a:latin typeface="Arial"/>
            </a:endParaRPr>
          </a:p>
        </p:txBody>
      </p:sp>
      <p:sp>
        <p:nvSpPr>
          <p:cNvPr id="4563" name="Shape 84"/>
          <p:cNvSpPr/>
          <p:nvPr/>
        </p:nvSpPr>
        <p:spPr>
          <a:xfrm>
            <a:off x="1033200" y="54223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564" name="Shape 85"/>
          <p:cNvSpPr/>
          <p:nvPr/>
        </p:nvSpPr>
        <p:spPr>
          <a:xfrm>
            <a:off x="1143000" y="5193720"/>
            <a:ext cx="45360" cy="219240"/>
          </a:xfrm>
          <a:prstGeom prst="roundRect">
            <a:avLst>
              <a:gd name="adj" fmla="val 60000"/>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565" name="Text 86"/>
          <p:cNvSpPr/>
          <p:nvPr/>
        </p:nvSpPr>
        <p:spPr>
          <a:xfrm>
            <a:off x="1243440" y="51573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39" strike="noStrike" u="none">
                <a:solidFill>
                  <a:srgbClr val="1e2420"/>
                </a:solidFill>
                <a:effectLst/>
                <a:uFillTx/>
                <a:latin typeface="Calibri"/>
                <a:ea typeface="Calibri"/>
              </a:rPr>
              <a:t>Shared experience and product switcher</a:t>
            </a:r>
            <a:endParaRPr b="0" lang="en-US" sz="939" strike="noStrike" u="none">
              <a:solidFill>
                <a:srgbClr val="000000"/>
              </a:solidFill>
              <a:effectLst/>
              <a:uFillTx/>
              <a:latin typeface="Arial"/>
            </a:endParaRPr>
          </a:p>
        </p:txBody>
      </p:sp>
      <p:sp>
        <p:nvSpPr>
          <p:cNvPr id="4566" name="Shape 87"/>
          <p:cNvSpPr/>
          <p:nvPr/>
        </p:nvSpPr>
        <p:spPr>
          <a:xfrm>
            <a:off x="5484960" y="5263200"/>
            <a:ext cx="1013760" cy="80640"/>
          </a:xfrm>
          <a:prstGeom prst="roundRect">
            <a:avLst>
              <a:gd name="adj" fmla="val 45249"/>
            </a:avLst>
          </a:prstGeom>
          <a:solidFill>
            <a:srgbClr val="275b7f"/>
          </a:solidFill>
          <a:ln w="12700">
            <a:solidFill>
              <a:srgbClr val="275b7f"/>
            </a:solidFill>
            <a:round/>
          </a:ln>
        </p:spPr>
        <p:style>
          <a:lnRef idx="0"/>
          <a:fillRef idx="0"/>
          <a:effectRef idx="0"/>
          <a:fontRef idx="minor"/>
        </p:style>
        <p:txBody>
          <a:bodyPr lIns="90000" rIns="90000" tIns="14760" bIns="14760" anchor="t">
            <a:noAutofit/>
          </a:bodyPr>
          <a:p>
            <a:endParaRPr b="0" lang="en-US" sz="1800" strike="noStrike" u="none">
              <a:solidFill>
                <a:srgbClr val="ffffff"/>
              </a:solidFill>
              <a:effectLst/>
              <a:uFillTx/>
              <a:latin typeface="Arial"/>
            </a:endParaRPr>
          </a:p>
        </p:txBody>
      </p:sp>
      <p:sp>
        <p:nvSpPr>
          <p:cNvPr id="4567" name="Shape 88"/>
          <p:cNvSpPr/>
          <p:nvPr/>
        </p:nvSpPr>
        <p:spPr>
          <a:xfrm>
            <a:off x="1033200" y="565992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568" name="Shape 89"/>
          <p:cNvSpPr/>
          <p:nvPr/>
        </p:nvSpPr>
        <p:spPr>
          <a:xfrm>
            <a:off x="1143000" y="5431680"/>
            <a:ext cx="45360" cy="219240"/>
          </a:xfrm>
          <a:prstGeom prst="roundRect">
            <a:avLst>
              <a:gd name="adj" fmla="val 60000"/>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569" name="Text 90"/>
          <p:cNvSpPr/>
          <p:nvPr/>
        </p:nvSpPr>
        <p:spPr>
          <a:xfrm>
            <a:off x="1243440" y="53949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39" strike="noStrike" u="none">
                <a:solidFill>
                  <a:srgbClr val="1e2420"/>
                </a:solidFill>
                <a:effectLst/>
                <a:uFillTx/>
                <a:latin typeface="Calibri"/>
                <a:ea typeface="Calibri"/>
              </a:rPr>
              <a:t>Reusable analytics infrastructure</a:t>
            </a:r>
            <a:endParaRPr b="0" lang="en-US" sz="939" strike="noStrike" u="none">
              <a:solidFill>
                <a:srgbClr val="000000"/>
              </a:solidFill>
              <a:effectLst/>
              <a:uFillTx/>
              <a:latin typeface="Arial"/>
            </a:endParaRPr>
          </a:p>
        </p:txBody>
      </p:sp>
      <p:sp>
        <p:nvSpPr>
          <p:cNvPr id="4570" name="Shape 91"/>
          <p:cNvSpPr/>
          <p:nvPr/>
        </p:nvSpPr>
        <p:spPr>
          <a:xfrm>
            <a:off x="7513200" y="5500800"/>
            <a:ext cx="2027880" cy="80640"/>
          </a:xfrm>
          <a:prstGeom prst="roundRect">
            <a:avLst>
              <a:gd name="adj" fmla="val 45249"/>
            </a:avLst>
          </a:prstGeom>
          <a:solidFill>
            <a:srgbClr val="275b7f"/>
          </a:solidFill>
          <a:ln w="12700">
            <a:solidFill>
              <a:srgbClr val="275b7f"/>
            </a:solidFill>
            <a:round/>
          </a:ln>
        </p:spPr>
        <p:style>
          <a:lnRef idx="0"/>
          <a:fillRef idx="0"/>
          <a:effectRef idx="0"/>
          <a:fontRef idx="minor"/>
        </p:style>
        <p:txBody>
          <a:bodyPr lIns="90000" rIns="90000" tIns="14760" bIns="14760" anchor="t">
            <a:noAutofit/>
          </a:bodyPr>
          <a:p>
            <a:endParaRPr b="0" lang="en-US" sz="1800" strike="noStrike" u="none">
              <a:solidFill>
                <a:srgbClr val="ffffff"/>
              </a:solidFill>
              <a:effectLst/>
              <a:uFillTx/>
              <a:latin typeface="Arial"/>
            </a:endParaRPr>
          </a:p>
        </p:txBody>
      </p:sp>
      <p:sp>
        <p:nvSpPr>
          <p:cNvPr id="4571" name="Shape 92"/>
          <p:cNvSpPr/>
          <p:nvPr/>
        </p:nvSpPr>
        <p:spPr>
          <a:xfrm>
            <a:off x="1033200" y="5897880"/>
            <a:ext cx="10536480" cy="360"/>
          </a:xfrm>
          <a:prstGeom prst="line">
            <a:avLst/>
          </a:prstGeom>
          <a:ln w="444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572" name="Shape 93"/>
          <p:cNvSpPr/>
          <p:nvPr/>
        </p:nvSpPr>
        <p:spPr>
          <a:xfrm>
            <a:off x="1143000" y="5669280"/>
            <a:ext cx="45360" cy="219240"/>
          </a:xfrm>
          <a:prstGeom prst="roundRect">
            <a:avLst>
              <a:gd name="adj" fmla="val 60000"/>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573" name="Text 94"/>
          <p:cNvSpPr/>
          <p:nvPr/>
        </p:nvSpPr>
        <p:spPr>
          <a:xfrm>
            <a:off x="1243440" y="5632560"/>
            <a:ext cx="2075400" cy="2923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939" strike="noStrike" u="none">
                <a:solidFill>
                  <a:srgbClr val="1e2420"/>
                </a:solidFill>
                <a:effectLst/>
                <a:uFillTx/>
                <a:latin typeface="Calibri"/>
                <a:ea typeface="Calibri"/>
              </a:rPr>
              <a:t>EU hosting, languages and performance</a:t>
            </a:r>
            <a:endParaRPr b="0" lang="en-US" sz="939" strike="noStrike" u="none">
              <a:solidFill>
                <a:srgbClr val="000000"/>
              </a:solidFill>
              <a:effectLst/>
              <a:uFillTx/>
              <a:latin typeface="Arial"/>
            </a:endParaRPr>
          </a:p>
        </p:txBody>
      </p:sp>
      <p:sp>
        <p:nvSpPr>
          <p:cNvPr id="4574" name="Shape 95"/>
          <p:cNvSpPr/>
          <p:nvPr/>
        </p:nvSpPr>
        <p:spPr>
          <a:xfrm>
            <a:off x="9541440" y="5738760"/>
            <a:ext cx="2027880" cy="80640"/>
          </a:xfrm>
          <a:prstGeom prst="roundRect">
            <a:avLst>
              <a:gd name="adj" fmla="val 45249"/>
            </a:avLst>
          </a:prstGeom>
          <a:solidFill>
            <a:srgbClr val="275b7f"/>
          </a:solidFill>
          <a:ln w="12700">
            <a:solidFill>
              <a:srgbClr val="275b7f"/>
            </a:solidFill>
            <a:round/>
          </a:ln>
        </p:spPr>
        <p:style>
          <a:lnRef idx="0"/>
          <a:fillRef idx="0"/>
          <a:effectRef idx="0"/>
          <a:fontRef idx="minor"/>
        </p:style>
        <p:txBody>
          <a:bodyPr lIns="90000" rIns="90000" tIns="14760" bIns="14760" anchor="t">
            <a:noAutofit/>
          </a:bodyPr>
          <a:p>
            <a:endParaRPr b="0" lang="en-US" sz="1800" strike="noStrike" u="none">
              <a:solidFill>
                <a:srgbClr val="ffffff"/>
              </a:solidFill>
              <a:effectLst/>
              <a:uFillTx/>
              <a:latin typeface="Arial"/>
            </a:endParaRPr>
          </a:p>
        </p:txBody>
      </p:sp>
      <p:sp>
        <p:nvSpPr>
          <p:cNvPr id="4575" name="Shape 96"/>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576" name="Text 97"/>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4577" name="Text 98"/>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4578" name="PlaceHolder 1"/>
          <p:cNvSpPr>
            <a:spLocks noGrp="1"/>
          </p:cNvSpPr>
          <p:nvPr>
            <p:ph type="sldNum" idx="97"/>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66D54508-F613-4021-BB47-A052C1FDB480}"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579"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4580"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4581" name="Shape 2"/>
          <p:cNvSpPr/>
          <p:nvPr/>
        </p:nvSpPr>
        <p:spPr>
          <a:xfrm>
            <a:off x="621720" y="311040"/>
            <a:ext cx="186948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582" name="Text 3"/>
          <p:cNvSpPr/>
          <p:nvPr/>
        </p:nvSpPr>
        <p:spPr>
          <a:xfrm>
            <a:off x="804600" y="329040"/>
            <a:ext cx="154044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CORE PLATFORM</a:t>
            </a:r>
            <a:endParaRPr b="0" lang="en-US" sz="950" strike="noStrike" u="none">
              <a:solidFill>
                <a:srgbClr val="000000"/>
              </a:solidFill>
              <a:effectLst/>
              <a:uFillTx/>
              <a:latin typeface="Arial"/>
            </a:endParaRPr>
          </a:p>
        </p:txBody>
      </p:sp>
      <p:sp>
        <p:nvSpPr>
          <p:cNvPr id="4583"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fontScale="92500" lnSpcReduction="9999"/>
          </a:bodyPr>
          <a:p>
            <a:pPr defTabSz="914400">
              <a:lnSpc>
                <a:spcPct val="100000"/>
              </a:lnSpc>
              <a:tabLst>
                <a:tab algn="l" pos="0"/>
              </a:tabLst>
            </a:pPr>
            <a:r>
              <a:rPr b="1" lang="en-US" sz="3200" strike="noStrike" u="none">
                <a:solidFill>
                  <a:srgbClr val="1e2420"/>
                </a:solidFill>
                <a:effectLst/>
                <a:uFillTx/>
                <a:latin typeface="Calibri"/>
                <a:ea typeface="Calibri"/>
              </a:rPr>
              <a:t>The platform work none of the products can ship alone</a:t>
            </a:r>
            <a:endParaRPr b="0" lang="en-US" sz="3200" strike="noStrike" u="none">
              <a:solidFill>
                <a:srgbClr val="000000"/>
              </a:solidFill>
              <a:effectLst/>
              <a:uFillTx/>
              <a:latin typeface="Arial"/>
            </a:endParaRPr>
          </a:p>
        </p:txBody>
      </p:sp>
      <p:sp>
        <p:nvSpPr>
          <p:cNvPr id="4584"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Funded as core so it is built once and inherited by all products.</a:t>
            </a:r>
            <a:endParaRPr b="0" lang="en-US" sz="1250" strike="noStrike" u="none">
              <a:solidFill>
                <a:srgbClr val="000000"/>
              </a:solidFill>
              <a:effectLst/>
              <a:uFillTx/>
              <a:latin typeface="Arial"/>
            </a:endParaRPr>
          </a:p>
        </p:txBody>
      </p:sp>
      <p:sp>
        <p:nvSpPr>
          <p:cNvPr id="4585"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586" name="Shape 7"/>
          <p:cNvSpPr/>
          <p:nvPr/>
        </p:nvSpPr>
        <p:spPr>
          <a:xfrm>
            <a:off x="6217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587"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4588"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GOAL 1</a:t>
            </a:r>
            <a:endParaRPr b="0" lang="en-US" sz="900" strike="noStrike" u="none">
              <a:solidFill>
                <a:srgbClr val="000000"/>
              </a:solidFill>
              <a:effectLst/>
              <a:uFillTx/>
              <a:latin typeface="Arial"/>
            </a:endParaRPr>
          </a:p>
        </p:txBody>
      </p:sp>
      <p:sp>
        <p:nvSpPr>
          <p:cNvPr id="4589"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Ingestion and quality</a:t>
            </a:r>
            <a:endParaRPr b="0" lang="en-US" sz="1600" strike="noStrike" u="none">
              <a:solidFill>
                <a:srgbClr val="000000"/>
              </a:solidFill>
              <a:effectLst/>
              <a:uFillTx/>
              <a:latin typeface="Arial"/>
            </a:endParaRPr>
          </a:p>
        </p:txBody>
      </p:sp>
      <p:sp>
        <p:nvSpPr>
          <p:cNvPr id="4590" name="Text 11"/>
          <p:cNvSpPr/>
          <p:nvPr/>
        </p:nvSpPr>
        <p:spPr>
          <a:xfrm>
            <a:off x="80460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Data in, trusted.</a:t>
            </a:r>
            <a:endParaRPr b="0" lang="en-US" sz="1100" strike="noStrike" u="none">
              <a:solidFill>
                <a:srgbClr val="000000"/>
              </a:solidFill>
              <a:effectLst/>
              <a:uFillTx/>
              <a:latin typeface="Arial"/>
            </a:endParaRPr>
          </a:p>
        </p:txBody>
      </p:sp>
      <p:sp>
        <p:nvSpPr>
          <p:cNvPr id="4591" name="Text 12"/>
          <p:cNvSpPr/>
          <p:nvPr/>
        </p:nvSpPr>
        <p:spPr>
          <a:xfrm>
            <a:off x="82296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Pipeline and transformation foundation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Programmatic connectors and APIs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Data quality across the L0 to L4 lifecycle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Standard and supplier specific factor datasets</a:t>
            </a:r>
            <a:endParaRPr b="0" lang="en-US" sz="1100" strike="noStrike" u="none">
              <a:solidFill>
                <a:srgbClr val="000000"/>
              </a:solidFill>
              <a:effectLst/>
              <a:uFillTx/>
              <a:latin typeface="Arial"/>
            </a:endParaRPr>
          </a:p>
        </p:txBody>
      </p:sp>
      <p:sp>
        <p:nvSpPr>
          <p:cNvPr id="4592" name="Shape 13"/>
          <p:cNvSpPr/>
          <p:nvPr/>
        </p:nvSpPr>
        <p:spPr>
          <a:xfrm>
            <a:off x="342756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593" name="Shape 14"/>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4594" name="Text 15"/>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GOAL 2</a:t>
            </a:r>
            <a:endParaRPr b="0" lang="en-US" sz="900" strike="noStrike" u="none">
              <a:solidFill>
                <a:srgbClr val="000000"/>
              </a:solidFill>
              <a:effectLst/>
              <a:uFillTx/>
              <a:latin typeface="Arial"/>
            </a:endParaRPr>
          </a:p>
        </p:txBody>
      </p:sp>
      <p:sp>
        <p:nvSpPr>
          <p:cNvPr id="4595" name="Text 16"/>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Ontology and calculation</a:t>
            </a:r>
            <a:endParaRPr b="0" lang="en-US" sz="1600" strike="noStrike" u="none">
              <a:solidFill>
                <a:srgbClr val="000000"/>
              </a:solidFill>
              <a:effectLst/>
              <a:uFillTx/>
              <a:latin typeface="Arial"/>
            </a:endParaRPr>
          </a:p>
        </p:txBody>
      </p:sp>
      <p:sp>
        <p:nvSpPr>
          <p:cNvPr id="4596" name="Text 17"/>
          <p:cNvSpPr/>
          <p:nvPr/>
        </p:nvSpPr>
        <p:spPr>
          <a:xfrm>
            <a:off x="361044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One model, one engine.</a:t>
            </a:r>
            <a:endParaRPr b="0" lang="en-US" sz="1100" strike="noStrike" u="none">
              <a:solidFill>
                <a:srgbClr val="000000"/>
              </a:solidFill>
              <a:effectLst/>
              <a:uFillTx/>
              <a:latin typeface="Arial"/>
            </a:endParaRPr>
          </a:p>
        </p:txBody>
      </p:sp>
      <p:sp>
        <p:nvSpPr>
          <p:cNvPr id="4597" name="Text 18"/>
          <p:cNvSpPr/>
          <p:nvPr/>
        </p:nvSpPr>
        <p:spPr>
          <a:xfrm>
            <a:off x="362844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One ontology: typed objects, relationships, actions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Control plane for tenant governance of hierarchies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Allocations and calculation versioning</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Automated regression testing on the engine</a:t>
            </a:r>
            <a:endParaRPr b="0" lang="en-US" sz="1100" strike="noStrike" u="none">
              <a:solidFill>
                <a:srgbClr val="000000"/>
              </a:solidFill>
              <a:effectLst/>
              <a:uFillTx/>
              <a:latin typeface="Arial"/>
            </a:endParaRPr>
          </a:p>
        </p:txBody>
      </p:sp>
      <p:sp>
        <p:nvSpPr>
          <p:cNvPr id="4598" name="Shape 19"/>
          <p:cNvSpPr/>
          <p:nvPr/>
        </p:nvSpPr>
        <p:spPr>
          <a:xfrm>
            <a:off x="623304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599" name="Shape 20"/>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4600" name="Text 21"/>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GOAL 3</a:t>
            </a:r>
            <a:endParaRPr b="0" lang="en-US" sz="900" strike="noStrike" u="none">
              <a:solidFill>
                <a:srgbClr val="000000"/>
              </a:solidFill>
              <a:effectLst/>
              <a:uFillTx/>
              <a:latin typeface="Arial"/>
            </a:endParaRPr>
          </a:p>
        </p:txBody>
      </p:sp>
      <p:sp>
        <p:nvSpPr>
          <p:cNvPr id="4601" name="Text 22"/>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Application and analytics</a:t>
            </a:r>
            <a:endParaRPr b="0" lang="en-US" sz="1600" strike="noStrike" u="none">
              <a:solidFill>
                <a:srgbClr val="000000"/>
              </a:solidFill>
              <a:effectLst/>
              <a:uFillTx/>
              <a:latin typeface="Arial"/>
            </a:endParaRPr>
          </a:p>
        </p:txBody>
      </p:sp>
      <p:sp>
        <p:nvSpPr>
          <p:cNvPr id="4602" name="Text 23"/>
          <p:cNvSpPr/>
          <p:nvPr/>
        </p:nvSpPr>
        <p:spPr>
          <a:xfrm>
            <a:off x="641592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One experience.</a:t>
            </a:r>
            <a:endParaRPr b="0" lang="en-US" sz="1100" strike="noStrike" u="none">
              <a:solidFill>
                <a:srgbClr val="000000"/>
              </a:solidFill>
              <a:effectLst/>
              <a:uFillTx/>
              <a:latin typeface="Arial"/>
            </a:endParaRPr>
          </a:p>
        </p:txBody>
      </p:sp>
      <p:sp>
        <p:nvSpPr>
          <p:cNvPr id="4603" name="Text 24"/>
          <p:cNvSpPr/>
          <p:nvPr/>
        </p:nvSpPr>
        <p:spPr>
          <a:xfrm>
            <a:off x="643428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Unified application experience and product switcher</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Reusable analytics and query infrastructure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Sera contextual intelligence across products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Multi level approval and audit trail</a:t>
            </a:r>
            <a:endParaRPr b="0" lang="en-US" sz="1100" strike="noStrike" u="none">
              <a:solidFill>
                <a:srgbClr val="000000"/>
              </a:solidFill>
              <a:effectLst/>
              <a:uFillTx/>
              <a:latin typeface="Arial"/>
            </a:endParaRPr>
          </a:p>
        </p:txBody>
      </p:sp>
      <p:sp>
        <p:nvSpPr>
          <p:cNvPr id="4604" name="Shape 25"/>
          <p:cNvSpPr/>
          <p:nvPr/>
        </p:nvSpPr>
        <p:spPr>
          <a:xfrm>
            <a:off x="90385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605" name="Shape 26"/>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4606" name="Text 27"/>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GOAL 4</a:t>
            </a:r>
            <a:endParaRPr b="0" lang="en-US" sz="900" strike="noStrike" u="none">
              <a:solidFill>
                <a:srgbClr val="000000"/>
              </a:solidFill>
              <a:effectLst/>
              <a:uFillTx/>
              <a:latin typeface="Arial"/>
            </a:endParaRPr>
          </a:p>
        </p:txBody>
      </p:sp>
      <p:sp>
        <p:nvSpPr>
          <p:cNvPr id="4607" name="Text 28"/>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Trust and reach</a:t>
            </a:r>
            <a:endParaRPr b="0" lang="en-US" sz="1600" strike="noStrike" u="none">
              <a:solidFill>
                <a:srgbClr val="000000"/>
              </a:solidFill>
              <a:effectLst/>
              <a:uFillTx/>
              <a:latin typeface="Arial"/>
            </a:endParaRPr>
          </a:p>
        </p:txBody>
      </p:sp>
      <p:sp>
        <p:nvSpPr>
          <p:cNvPr id="4608" name="Text 29"/>
          <p:cNvSpPr/>
          <p:nvPr/>
        </p:nvSpPr>
        <p:spPr>
          <a:xfrm>
            <a:off x="922140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Enterprise ready.</a:t>
            </a:r>
            <a:endParaRPr b="0" lang="en-US" sz="1100" strike="noStrike" u="none">
              <a:solidFill>
                <a:srgbClr val="000000"/>
              </a:solidFill>
              <a:effectLst/>
              <a:uFillTx/>
              <a:latin typeface="Arial"/>
            </a:endParaRPr>
          </a:p>
        </p:txBody>
      </p:sp>
      <p:sp>
        <p:nvSpPr>
          <p:cNvPr id="4609" name="Text 30"/>
          <p:cNvSpPr/>
          <p:nvPr/>
        </p:nvSpPr>
        <p:spPr>
          <a:xfrm>
            <a:off x="923976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EU hosting and data residency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Languages and localisation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Role based access and segregation of duties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Performance at enterprise data volumes</a:t>
            </a:r>
            <a:endParaRPr b="0" lang="en-US" sz="1100" strike="noStrike" u="none">
              <a:solidFill>
                <a:srgbClr val="000000"/>
              </a:solidFill>
              <a:effectLst/>
              <a:uFillTx/>
              <a:latin typeface="Arial"/>
            </a:endParaRPr>
          </a:p>
        </p:txBody>
      </p:sp>
      <p:sp>
        <p:nvSpPr>
          <p:cNvPr id="4610" name="Shape 31"/>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611" name="Text 32"/>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4612" name="Text 33"/>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4613" name="PlaceHolder 1"/>
          <p:cNvSpPr>
            <a:spLocks noGrp="1"/>
          </p:cNvSpPr>
          <p:nvPr>
            <p:ph type="sldNum" idx="98"/>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7528C914-E322-4AEF-A8E5-2D7735BAC20D}"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614"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4615"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4616" name="Shape 2"/>
          <p:cNvSpPr/>
          <p:nvPr/>
        </p:nvSpPr>
        <p:spPr>
          <a:xfrm>
            <a:off x="621720" y="311040"/>
            <a:ext cx="186948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617" name="Text 3"/>
          <p:cNvSpPr/>
          <p:nvPr/>
        </p:nvSpPr>
        <p:spPr>
          <a:xfrm>
            <a:off x="804600" y="329040"/>
            <a:ext cx="154044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CORE PLATFORM</a:t>
            </a:r>
            <a:endParaRPr b="0" lang="en-US" sz="950" strike="noStrike" u="none">
              <a:solidFill>
                <a:srgbClr val="000000"/>
              </a:solidFill>
              <a:effectLst/>
              <a:uFillTx/>
              <a:latin typeface="Arial"/>
            </a:endParaRPr>
          </a:p>
        </p:txBody>
      </p:sp>
      <p:sp>
        <p:nvSpPr>
          <p:cNvPr id="4618"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What core unblocks in each product</a:t>
            </a:r>
            <a:endParaRPr b="0" lang="en-US" sz="3200" strike="noStrike" u="none">
              <a:solidFill>
                <a:srgbClr val="000000"/>
              </a:solidFill>
              <a:effectLst/>
              <a:uFillTx/>
              <a:latin typeface="Arial"/>
            </a:endParaRPr>
          </a:p>
        </p:txBody>
      </p:sp>
      <p:sp>
        <p:nvSpPr>
          <p:cNvPr id="4619"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Core is judged on what the products can ship because of it.</a:t>
            </a:r>
            <a:endParaRPr b="0" lang="en-US" sz="1250" strike="noStrike" u="none">
              <a:solidFill>
                <a:srgbClr val="000000"/>
              </a:solidFill>
              <a:effectLst/>
              <a:uFillTx/>
              <a:latin typeface="Arial"/>
            </a:endParaRPr>
          </a:p>
        </p:txBody>
      </p:sp>
      <p:sp>
        <p:nvSpPr>
          <p:cNvPr id="4620"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621" name="Shape 7"/>
          <p:cNvSpPr/>
          <p:nvPr/>
        </p:nvSpPr>
        <p:spPr>
          <a:xfrm>
            <a:off x="6217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622"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4623"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CARBON PERFORMANCE</a:t>
            </a:r>
            <a:endParaRPr b="0" lang="en-US" sz="900" strike="noStrike" u="none">
              <a:solidFill>
                <a:srgbClr val="000000"/>
              </a:solidFill>
              <a:effectLst/>
              <a:uFillTx/>
              <a:latin typeface="Arial"/>
            </a:endParaRPr>
          </a:p>
        </p:txBody>
      </p:sp>
      <p:sp>
        <p:nvSpPr>
          <p:cNvPr id="4624"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Depth and defensibility</a:t>
            </a:r>
            <a:endParaRPr b="0" lang="en-US" sz="1600" strike="noStrike" u="none">
              <a:solidFill>
                <a:srgbClr val="000000"/>
              </a:solidFill>
              <a:effectLst/>
              <a:uFillTx/>
              <a:latin typeface="Arial"/>
            </a:endParaRPr>
          </a:p>
        </p:txBody>
      </p:sp>
      <p:sp>
        <p:nvSpPr>
          <p:cNvPr id="4625" name="Text 11"/>
          <p:cNvSpPr/>
          <p:nvPr/>
        </p:nvSpPr>
        <p:spPr>
          <a:xfrm>
            <a:off x="822960" y="3044880"/>
            <a:ext cx="2165040" cy="299880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Automated data quality checks on activity data</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Calculation governance and versioning</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Allocations foundation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Audit trail on every inventory value</a:t>
            </a:r>
            <a:endParaRPr b="0" lang="en-US" sz="1100" strike="noStrike" u="none">
              <a:solidFill>
                <a:srgbClr val="000000"/>
              </a:solidFill>
              <a:effectLst/>
              <a:uFillTx/>
              <a:latin typeface="Arial"/>
            </a:endParaRPr>
          </a:p>
        </p:txBody>
      </p:sp>
      <p:sp>
        <p:nvSpPr>
          <p:cNvPr id="4626" name="Shape 12"/>
          <p:cNvSpPr/>
          <p:nvPr/>
        </p:nvSpPr>
        <p:spPr>
          <a:xfrm>
            <a:off x="342756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627" name="Shape 13"/>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4628" name="Text 14"/>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SUPPLY CHAIN</a:t>
            </a:r>
            <a:endParaRPr b="0" lang="en-US" sz="900" strike="noStrike" u="none">
              <a:solidFill>
                <a:srgbClr val="000000"/>
              </a:solidFill>
              <a:effectLst/>
              <a:uFillTx/>
              <a:latin typeface="Arial"/>
            </a:endParaRPr>
          </a:p>
        </p:txBody>
      </p:sp>
      <p:sp>
        <p:nvSpPr>
          <p:cNvPr id="4629" name="Text 15"/>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Scale of engagement</a:t>
            </a:r>
            <a:endParaRPr b="0" lang="en-US" sz="1600" strike="noStrike" u="none">
              <a:solidFill>
                <a:srgbClr val="000000"/>
              </a:solidFill>
              <a:effectLst/>
              <a:uFillTx/>
              <a:latin typeface="Arial"/>
            </a:endParaRPr>
          </a:p>
        </p:txBody>
      </p:sp>
      <p:sp>
        <p:nvSpPr>
          <p:cNvPr id="4630" name="Text 16"/>
          <p:cNvSpPr/>
          <p:nvPr/>
        </p:nvSpPr>
        <p:spPr>
          <a:xfrm>
            <a:off x="3628440" y="3044880"/>
            <a:ext cx="2165040" cy="299880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Shared navigation, layouts and database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Supplier specific factor datasets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Languages and localisation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Cross product validation against CP inventories</a:t>
            </a:r>
            <a:endParaRPr b="0" lang="en-US" sz="1100" strike="noStrike" u="none">
              <a:solidFill>
                <a:srgbClr val="000000"/>
              </a:solidFill>
              <a:effectLst/>
              <a:uFillTx/>
              <a:latin typeface="Arial"/>
            </a:endParaRPr>
          </a:p>
        </p:txBody>
      </p:sp>
      <p:sp>
        <p:nvSpPr>
          <p:cNvPr id="4631" name="Shape 17"/>
          <p:cNvSpPr/>
          <p:nvPr/>
        </p:nvSpPr>
        <p:spPr>
          <a:xfrm>
            <a:off x="623304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632" name="Shape 18"/>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4633" name="Text 19"/>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REPORTING</a:t>
            </a:r>
            <a:endParaRPr b="0" lang="en-US" sz="900" strike="noStrike" u="none">
              <a:solidFill>
                <a:srgbClr val="000000"/>
              </a:solidFill>
              <a:effectLst/>
              <a:uFillTx/>
              <a:latin typeface="Arial"/>
            </a:endParaRPr>
          </a:p>
        </p:txBody>
      </p:sp>
      <p:sp>
        <p:nvSpPr>
          <p:cNvPr id="4634" name="Text 20"/>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Launch prerequisites</a:t>
            </a:r>
            <a:endParaRPr b="0" lang="en-US" sz="1600" strike="noStrike" u="none">
              <a:solidFill>
                <a:srgbClr val="000000"/>
              </a:solidFill>
              <a:effectLst/>
              <a:uFillTx/>
              <a:latin typeface="Arial"/>
            </a:endParaRPr>
          </a:p>
        </p:txBody>
      </p:sp>
      <p:sp>
        <p:nvSpPr>
          <p:cNvPr id="4635" name="Text 21"/>
          <p:cNvSpPr/>
          <p:nvPr/>
        </p:nvSpPr>
        <p:spPr>
          <a:xfrm>
            <a:off x="6434280" y="3044880"/>
            <a:ext cx="2165040" cy="299880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Dataset registry and column mapping</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Formula and transform engine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Flexible approval hierarchies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Lineage from source to disclosure field</a:t>
            </a:r>
            <a:endParaRPr b="0" lang="en-US" sz="1100" strike="noStrike" u="none">
              <a:solidFill>
                <a:srgbClr val="000000"/>
              </a:solidFill>
              <a:effectLst/>
              <a:uFillTx/>
              <a:latin typeface="Arial"/>
            </a:endParaRPr>
          </a:p>
        </p:txBody>
      </p:sp>
      <p:sp>
        <p:nvSpPr>
          <p:cNvPr id="4636" name="Shape 22"/>
          <p:cNvSpPr/>
          <p:nvPr/>
        </p:nvSpPr>
        <p:spPr>
          <a:xfrm>
            <a:off x="90385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637" name="Shape 23"/>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4638" name="Text 24"/>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RISK AND STRATEGY</a:t>
            </a:r>
            <a:endParaRPr b="0" lang="en-US" sz="900" strike="noStrike" u="none">
              <a:solidFill>
                <a:srgbClr val="000000"/>
              </a:solidFill>
              <a:effectLst/>
              <a:uFillTx/>
              <a:latin typeface="Arial"/>
            </a:endParaRPr>
          </a:p>
        </p:txBody>
      </p:sp>
      <p:sp>
        <p:nvSpPr>
          <p:cNvPr id="4639" name="Text 25"/>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Model and planning</a:t>
            </a:r>
            <a:endParaRPr b="0" lang="en-US" sz="1600" strike="noStrike" u="none">
              <a:solidFill>
                <a:srgbClr val="000000"/>
              </a:solidFill>
              <a:effectLst/>
              <a:uFillTx/>
              <a:latin typeface="Arial"/>
            </a:endParaRPr>
          </a:p>
        </p:txBody>
      </p:sp>
      <p:sp>
        <p:nvSpPr>
          <p:cNvPr id="4640" name="Text 26"/>
          <p:cNvSpPr/>
          <p:nvPr/>
        </p:nvSpPr>
        <p:spPr>
          <a:xfrm>
            <a:off x="9239760" y="3044880"/>
            <a:ext cx="2165040" cy="299880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Shared entity and asset hierarchy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Reusable analytics and query infrastructure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Sera agents on the shared ontology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Performance at portfolio data volumes</a:t>
            </a:r>
            <a:endParaRPr b="0" lang="en-US" sz="1100" strike="noStrike" u="none">
              <a:solidFill>
                <a:srgbClr val="000000"/>
              </a:solidFill>
              <a:effectLst/>
              <a:uFillTx/>
              <a:latin typeface="Arial"/>
            </a:endParaRPr>
          </a:p>
        </p:txBody>
      </p:sp>
      <p:sp>
        <p:nvSpPr>
          <p:cNvPr id="4641" name="Shape 27"/>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642" name="Text 28"/>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4643" name="Text 29"/>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4644" name="PlaceHolder 1"/>
          <p:cNvSpPr>
            <a:spLocks noGrp="1"/>
          </p:cNvSpPr>
          <p:nvPr>
            <p:ph type="sldNum" idx="99"/>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F402C769-7B17-4DCD-8BE6-D0250F278DEE}"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5730"/>
        </a:solidFill>
      </p:bgPr>
    </p:bg>
    <p:spTree>
      <p:nvGrpSpPr>
        <p:cNvPr id="1" name=""/>
        <p:cNvGrpSpPr/>
        <p:nvPr/>
      </p:nvGrpSpPr>
      <p:grpSpPr>
        <a:xfrm>
          <a:off x="0" y="0"/>
          <a:ext cx="0" cy="0"/>
          <a:chOff x="0" y="0"/>
          <a:chExt cx="0" cy="0"/>
        </a:xfrm>
      </p:grpSpPr>
      <p:sp>
        <p:nvSpPr>
          <p:cNvPr id="4645"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4646"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4647" name="Shape 2"/>
          <p:cNvSpPr/>
          <p:nvPr/>
        </p:nvSpPr>
        <p:spPr>
          <a:xfrm>
            <a:off x="8641080" y="822960"/>
            <a:ext cx="360" cy="5212080"/>
          </a:xfrm>
          <a:prstGeom prst="line">
            <a:avLst/>
          </a:prstGeom>
          <a:ln w="12700">
            <a:solidFill>
              <a:srgbClr val="2c8058"/>
            </a:solidFill>
            <a:round/>
          </a:ln>
        </p:spPr>
        <p:style>
          <a:lnRef idx="0"/>
          <a:fillRef idx="0"/>
          <a:effectRef idx="0"/>
          <a:fontRef idx="minor"/>
        </p:style>
        <p:txBody>
          <a:bodyPr lIns="90000" rIns="90000" tIns="45000" bIns="45000" anchor="t" anchorCtr="1">
            <a:noAutofit/>
          </a:bodyPr>
          <a:p>
            <a:endParaRPr b="0" lang="en-US" sz="1800" strike="noStrike" u="none">
              <a:solidFill>
                <a:srgbClr val="ffffff"/>
              </a:solidFill>
              <a:effectLst/>
              <a:uFillTx/>
              <a:latin typeface="Arial"/>
            </a:endParaRPr>
          </a:p>
        </p:txBody>
      </p:sp>
      <p:sp>
        <p:nvSpPr>
          <p:cNvPr id="4648" name="Text 3"/>
          <p:cNvSpPr/>
          <p:nvPr/>
        </p:nvSpPr>
        <p:spPr>
          <a:xfrm>
            <a:off x="9144000" y="841320"/>
            <a:ext cx="2194200" cy="22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81" strike="noStrike" u="none">
                <a:solidFill>
                  <a:srgbClr val="bfe6ce"/>
                </a:solidFill>
                <a:effectLst/>
                <a:uFillTx/>
                <a:latin typeface="Calibri"/>
                <a:ea typeface="Calibri"/>
              </a:rPr>
              <a:t>RA+ ROADMAP</a:t>
            </a:r>
            <a:endParaRPr b="0" lang="en-US" sz="900" strike="noStrike" u="none">
              <a:solidFill>
                <a:srgbClr val="ffffff"/>
              </a:solidFill>
              <a:effectLst/>
              <a:uFillTx/>
              <a:latin typeface="Arial"/>
            </a:endParaRPr>
          </a:p>
        </p:txBody>
      </p:sp>
      <p:sp>
        <p:nvSpPr>
          <p:cNvPr id="4649" name="Text 4"/>
          <p:cNvSpPr/>
          <p:nvPr/>
        </p:nvSpPr>
        <p:spPr>
          <a:xfrm>
            <a:off x="9144000" y="1325880"/>
            <a:ext cx="2194200" cy="1462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3600" strike="noStrike" u="none">
                <a:solidFill>
                  <a:srgbClr val="ffffff"/>
                </a:solidFill>
                <a:effectLst/>
                <a:uFillTx/>
                <a:latin typeface="Calibri"/>
                <a:ea typeface="Calibri"/>
              </a:rPr>
              <a:t>2026</a:t>
            </a:r>
            <a:endParaRPr b="0" lang="en-US" sz="3600" strike="noStrike" u="none">
              <a:solidFill>
                <a:srgbClr val="ffffff"/>
              </a:solidFill>
              <a:effectLst/>
              <a:uFillTx/>
              <a:latin typeface="Arial"/>
            </a:endParaRPr>
          </a:p>
          <a:p>
            <a:pPr defTabSz="914400">
              <a:lnSpc>
                <a:spcPct val="100000"/>
              </a:lnSpc>
              <a:tabLst>
                <a:tab algn="l" pos="0"/>
              </a:tabLst>
            </a:pPr>
            <a:r>
              <a:rPr b="1" lang="en-US" sz="3600" strike="noStrike" u="none">
                <a:solidFill>
                  <a:srgbClr val="ffffff"/>
                </a:solidFill>
                <a:effectLst/>
                <a:uFillTx/>
                <a:latin typeface="Calibri"/>
                <a:ea typeface="Calibri"/>
              </a:rPr>
              <a:t>2027</a:t>
            </a:r>
            <a:endParaRPr b="0" lang="en-US" sz="3600" strike="noStrike" u="none">
              <a:solidFill>
                <a:srgbClr val="ffffff"/>
              </a:solidFill>
              <a:effectLst/>
              <a:uFillTx/>
              <a:latin typeface="Arial"/>
            </a:endParaRPr>
          </a:p>
        </p:txBody>
      </p:sp>
      <p:sp>
        <p:nvSpPr>
          <p:cNvPr id="4650" name="Text 5"/>
          <p:cNvSpPr/>
          <p:nvPr/>
        </p:nvSpPr>
        <p:spPr>
          <a:xfrm>
            <a:off x="621720" y="960120"/>
            <a:ext cx="71319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221" strike="noStrike" u="none">
                <a:solidFill>
                  <a:srgbClr val="bfe6ce"/>
                </a:solidFill>
                <a:effectLst/>
                <a:uFillTx/>
                <a:latin typeface="Calibri"/>
                <a:ea typeface="Calibri"/>
              </a:rPr>
              <a:t>AGENDA ITEM 5</a:t>
            </a:r>
            <a:endParaRPr b="0" lang="en-US" sz="1100" strike="noStrike" u="none">
              <a:solidFill>
                <a:srgbClr val="ffffff"/>
              </a:solidFill>
              <a:effectLst/>
              <a:uFillTx/>
              <a:latin typeface="Arial"/>
            </a:endParaRPr>
          </a:p>
        </p:txBody>
      </p:sp>
      <p:sp>
        <p:nvSpPr>
          <p:cNvPr id="4651" name="Text 6"/>
          <p:cNvSpPr/>
          <p:nvPr/>
        </p:nvSpPr>
        <p:spPr>
          <a:xfrm>
            <a:off x="621720" y="1508760"/>
            <a:ext cx="191988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5800" strike="noStrike" u="none">
                <a:solidFill>
                  <a:srgbClr val="3dcd58"/>
                </a:solidFill>
                <a:effectLst/>
                <a:uFillTx/>
                <a:latin typeface="Calibri"/>
                <a:ea typeface="Calibri"/>
              </a:rPr>
              <a:t>05</a:t>
            </a:r>
            <a:endParaRPr b="0" lang="en-US" sz="5800" strike="noStrike" u="none">
              <a:solidFill>
                <a:srgbClr val="ffffff"/>
              </a:solidFill>
              <a:effectLst/>
              <a:uFillTx/>
              <a:latin typeface="Arial"/>
            </a:endParaRPr>
          </a:p>
        </p:txBody>
      </p:sp>
      <p:sp>
        <p:nvSpPr>
          <p:cNvPr id="4652" name="Text 7"/>
          <p:cNvSpPr/>
          <p:nvPr/>
        </p:nvSpPr>
        <p:spPr>
          <a:xfrm>
            <a:off x="621720" y="2606040"/>
            <a:ext cx="7406280" cy="11426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ffffff"/>
                </a:solidFill>
                <a:effectLst/>
                <a:uFillTx/>
                <a:latin typeface="Calibri"/>
                <a:ea typeface="Calibri"/>
              </a:rPr>
              <a:t>2027 direction</a:t>
            </a:r>
            <a:endParaRPr b="0" lang="en-US" sz="3200" strike="noStrike" u="none">
              <a:solidFill>
                <a:srgbClr val="ffffff"/>
              </a:solidFill>
              <a:effectLst/>
              <a:uFillTx/>
              <a:latin typeface="Arial"/>
            </a:endParaRPr>
          </a:p>
        </p:txBody>
      </p:sp>
      <p:sp>
        <p:nvSpPr>
          <p:cNvPr id="4653" name="Text 8"/>
          <p:cNvSpPr/>
          <p:nvPr/>
        </p:nvSpPr>
        <p:spPr>
          <a:xfrm>
            <a:off x="621720" y="4005000"/>
            <a:ext cx="704052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400" strike="noStrike" u="none">
                <a:solidFill>
                  <a:srgbClr val="d6eadf"/>
                </a:solidFill>
                <a:effectLst/>
                <a:uFillTx/>
                <a:latin typeface="Calibri"/>
                <a:ea typeface="Calibri"/>
              </a:rPr>
              <a:t>Three bets that turn a compliant inventory into a differentiated platform.</a:t>
            </a:r>
            <a:endParaRPr b="0" lang="en-US" sz="14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654"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4655"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4656" name="Shape 2"/>
          <p:cNvSpPr/>
          <p:nvPr/>
        </p:nvSpPr>
        <p:spPr>
          <a:xfrm>
            <a:off x="621720" y="311040"/>
            <a:ext cx="208008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657" name="Text 3"/>
          <p:cNvSpPr/>
          <p:nvPr/>
        </p:nvSpPr>
        <p:spPr>
          <a:xfrm>
            <a:off x="804600" y="329040"/>
            <a:ext cx="175068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2027 SEQUENCING</a:t>
            </a:r>
            <a:endParaRPr b="0" lang="en-US" sz="950" strike="noStrike" u="none">
              <a:solidFill>
                <a:srgbClr val="000000"/>
              </a:solidFill>
              <a:effectLst/>
              <a:uFillTx/>
              <a:latin typeface="Arial"/>
            </a:endParaRPr>
          </a:p>
        </p:txBody>
      </p:sp>
      <p:sp>
        <p:nvSpPr>
          <p:cNvPr id="4658"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How 2027 lays out: H1</a:t>
            </a:r>
            <a:endParaRPr b="0" lang="en-US" sz="3200" strike="noStrike" u="none">
              <a:solidFill>
                <a:srgbClr val="000000"/>
              </a:solidFill>
              <a:effectLst/>
              <a:uFillTx/>
              <a:latin typeface="Arial"/>
            </a:endParaRPr>
          </a:p>
        </p:txBody>
      </p:sp>
      <p:sp>
        <p:nvSpPr>
          <p:cNvPr id="4659"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First half shape of the 2027 bets, based on current theme ranks.</a:t>
            </a:r>
            <a:endParaRPr b="0" lang="en-US" sz="1250" strike="noStrike" u="none">
              <a:solidFill>
                <a:srgbClr val="000000"/>
              </a:solidFill>
              <a:effectLst/>
              <a:uFillTx/>
              <a:latin typeface="Arial"/>
            </a:endParaRPr>
          </a:p>
        </p:txBody>
      </p:sp>
      <p:sp>
        <p:nvSpPr>
          <p:cNvPr id="4660"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661" name="Shape 7"/>
          <p:cNvSpPr/>
          <p:nvPr/>
        </p:nvSpPr>
        <p:spPr>
          <a:xfrm>
            <a:off x="621720" y="2084760"/>
            <a:ext cx="5345640" cy="4178520"/>
          </a:xfrm>
          <a:prstGeom prst="roundRect">
            <a:avLst>
              <a:gd name="adj" fmla="val 131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662" name="Shape 8"/>
          <p:cNvSpPr/>
          <p:nvPr/>
        </p:nvSpPr>
        <p:spPr>
          <a:xfrm>
            <a:off x="621720" y="2084760"/>
            <a:ext cx="5345640" cy="712800"/>
          </a:xfrm>
          <a:prstGeom prst="rect">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663" name="Shape 9"/>
          <p:cNvSpPr/>
          <p:nvPr/>
        </p:nvSpPr>
        <p:spPr>
          <a:xfrm>
            <a:off x="621720" y="2084760"/>
            <a:ext cx="54360" cy="41785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664" name="Text 10"/>
          <p:cNvSpPr/>
          <p:nvPr/>
        </p:nvSpPr>
        <p:spPr>
          <a:xfrm>
            <a:off x="804600" y="2176200"/>
            <a:ext cx="501660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3dcd58"/>
                </a:solidFill>
                <a:effectLst/>
                <a:uFillTx/>
                <a:latin typeface="Calibri"/>
                <a:ea typeface="Calibri"/>
              </a:rPr>
              <a:t>H1 2027</a:t>
            </a:r>
            <a:endParaRPr b="0" lang="en-US" sz="850" strike="noStrike" u="none">
              <a:solidFill>
                <a:srgbClr val="000000"/>
              </a:solidFill>
              <a:effectLst/>
              <a:uFillTx/>
              <a:latin typeface="Arial"/>
            </a:endParaRPr>
          </a:p>
        </p:txBody>
      </p:sp>
      <p:sp>
        <p:nvSpPr>
          <p:cNvPr id="4665" name="Text 11"/>
          <p:cNvSpPr/>
          <p:nvPr/>
        </p:nvSpPr>
        <p:spPr>
          <a:xfrm>
            <a:off x="804600" y="2423160"/>
            <a:ext cx="501660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Complete the categories</a:t>
            </a:r>
            <a:endParaRPr b="0" lang="en-US" sz="1400" strike="noStrike" u="none">
              <a:solidFill>
                <a:srgbClr val="000000"/>
              </a:solidFill>
              <a:effectLst/>
              <a:uFillTx/>
              <a:latin typeface="Arial"/>
            </a:endParaRPr>
          </a:p>
        </p:txBody>
      </p:sp>
      <p:sp>
        <p:nvSpPr>
          <p:cNvPr id="4666" name="Shape 12"/>
          <p:cNvSpPr/>
          <p:nvPr/>
        </p:nvSpPr>
        <p:spPr>
          <a:xfrm>
            <a:off x="758880" y="295344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667" name="Text 13"/>
          <p:cNvSpPr/>
          <p:nvPr/>
        </p:nvSpPr>
        <p:spPr>
          <a:xfrm>
            <a:off x="822960" y="295344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Category 4 and 9 product linked transport</a:t>
            </a:r>
            <a:endParaRPr b="0" lang="en-US" sz="950" strike="noStrike" u="none">
              <a:solidFill>
                <a:srgbClr val="000000"/>
              </a:solidFill>
              <a:effectLst/>
              <a:uFillTx/>
              <a:latin typeface="Arial"/>
            </a:endParaRPr>
          </a:p>
          <a:p>
            <a:pPr defTabSz="914400">
              <a:lnSpc>
                <a:spcPct val="95000"/>
              </a:lnSpc>
              <a:tabLst>
                <a:tab algn="l" pos="0"/>
              </a:tabLst>
            </a:pPr>
            <a:r>
              <a:rPr b="0" lang="en-US" sz="800" strike="noStrike" u="none">
                <a:solidFill>
                  <a:srgbClr val="5a625c"/>
                </a:solidFill>
                <a:effectLst/>
                <a:uFillTx/>
                <a:latin typeface="Calibri"/>
                <a:ea typeface="Calibri"/>
              </a:rPr>
              <a:t>Upstream and downstream transport</a:t>
            </a:r>
            <a:endParaRPr b="0" lang="en-US" sz="800" strike="noStrike" u="none">
              <a:solidFill>
                <a:srgbClr val="000000"/>
              </a:solidFill>
              <a:effectLst/>
              <a:uFillTx/>
              <a:latin typeface="Arial"/>
            </a:endParaRPr>
          </a:p>
        </p:txBody>
      </p:sp>
      <p:sp>
        <p:nvSpPr>
          <p:cNvPr id="4668" name="Shape 14"/>
          <p:cNvSpPr/>
          <p:nvPr/>
        </p:nvSpPr>
        <p:spPr>
          <a:xfrm>
            <a:off x="758880" y="374004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669" name="Text 15"/>
          <p:cNvSpPr/>
          <p:nvPr/>
        </p:nvSpPr>
        <p:spPr>
          <a:xfrm>
            <a:off x="822960" y="374004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Waste emission estimation, category 5</a:t>
            </a:r>
            <a:endParaRPr b="0" lang="en-US" sz="950" strike="noStrike" u="none">
              <a:solidFill>
                <a:srgbClr val="000000"/>
              </a:solidFill>
              <a:effectLst/>
              <a:uFillTx/>
              <a:latin typeface="Arial"/>
            </a:endParaRPr>
          </a:p>
        </p:txBody>
      </p:sp>
      <p:sp>
        <p:nvSpPr>
          <p:cNvPr id="4670" name="Shape 16"/>
          <p:cNvSpPr/>
          <p:nvPr/>
        </p:nvSpPr>
        <p:spPr>
          <a:xfrm>
            <a:off x="758880" y="452628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671" name="Text 17"/>
          <p:cNvSpPr/>
          <p:nvPr/>
        </p:nvSpPr>
        <p:spPr>
          <a:xfrm>
            <a:off x="822960" y="452628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Enterprise GHG inventory foundations</a:t>
            </a:r>
            <a:endParaRPr b="0" lang="en-US" sz="950" strike="noStrike" u="none">
              <a:solidFill>
                <a:srgbClr val="000000"/>
              </a:solidFill>
              <a:effectLst/>
              <a:uFillTx/>
              <a:latin typeface="Arial"/>
            </a:endParaRPr>
          </a:p>
        </p:txBody>
      </p:sp>
      <p:sp>
        <p:nvSpPr>
          <p:cNvPr id="4672" name="Shape 18"/>
          <p:cNvSpPr/>
          <p:nvPr/>
        </p:nvSpPr>
        <p:spPr>
          <a:xfrm>
            <a:off x="758880" y="531252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673" name="Text 19"/>
          <p:cNvSpPr/>
          <p:nvPr/>
        </p:nvSpPr>
        <p:spPr>
          <a:xfrm>
            <a:off x="822960" y="531252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Financial and equity consolidation</a:t>
            </a:r>
            <a:endParaRPr b="0" lang="en-US" sz="950" strike="noStrike" u="none">
              <a:solidFill>
                <a:srgbClr val="000000"/>
              </a:solidFill>
              <a:effectLst/>
              <a:uFillTx/>
              <a:latin typeface="Arial"/>
            </a:endParaRPr>
          </a:p>
        </p:txBody>
      </p:sp>
      <p:sp>
        <p:nvSpPr>
          <p:cNvPr id="4674" name="Shape 20"/>
          <p:cNvSpPr/>
          <p:nvPr/>
        </p:nvSpPr>
        <p:spPr>
          <a:xfrm>
            <a:off x="6224040" y="2084760"/>
            <a:ext cx="5345640" cy="4178520"/>
          </a:xfrm>
          <a:prstGeom prst="roundRect">
            <a:avLst>
              <a:gd name="adj" fmla="val 131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675" name="Shape 21"/>
          <p:cNvSpPr/>
          <p:nvPr/>
        </p:nvSpPr>
        <p:spPr>
          <a:xfrm>
            <a:off x="6224040" y="2084760"/>
            <a:ext cx="5345640" cy="712800"/>
          </a:xfrm>
          <a:prstGeom prst="rect">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676" name="Shape 22"/>
          <p:cNvSpPr/>
          <p:nvPr/>
        </p:nvSpPr>
        <p:spPr>
          <a:xfrm>
            <a:off x="6224040" y="2084760"/>
            <a:ext cx="54360" cy="4178520"/>
          </a:xfrm>
          <a:prstGeom prst="rect">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677" name="Text 23"/>
          <p:cNvSpPr/>
          <p:nvPr/>
        </p:nvSpPr>
        <p:spPr>
          <a:xfrm>
            <a:off x="6406920" y="2176200"/>
            <a:ext cx="501660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007a27"/>
                </a:solidFill>
                <a:effectLst/>
                <a:uFillTx/>
                <a:latin typeface="Calibri"/>
                <a:ea typeface="Calibri"/>
              </a:rPr>
              <a:t>H1 2027</a:t>
            </a:r>
            <a:endParaRPr b="0" lang="en-US" sz="850" strike="noStrike" u="none">
              <a:solidFill>
                <a:srgbClr val="000000"/>
              </a:solidFill>
              <a:effectLst/>
              <a:uFillTx/>
              <a:latin typeface="Arial"/>
            </a:endParaRPr>
          </a:p>
        </p:txBody>
      </p:sp>
      <p:sp>
        <p:nvSpPr>
          <p:cNvPr id="4678" name="Text 24"/>
          <p:cNvSpPr/>
          <p:nvPr/>
        </p:nvSpPr>
        <p:spPr>
          <a:xfrm>
            <a:off x="6406920" y="2423160"/>
            <a:ext cx="501660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Governance and trust</a:t>
            </a:r>
            <a:endParaRPr b="0" lang="en-US" sz="1400" strike="noStrike" u="none">
              <a:solidFill>
                <a:srgbClr val="000000"/>
              </a:solidFill>
              <a:effectLst/>
              <a:uFillTx/>
              <a:latin typeface="Arial"/>
            </a:endParaRPr>
          </a:p>
        </p:txBody>
      </p:sp>
      <p:sp>
        <p:nvSpPr>
          <p:cNvPr id="4679" name="Shape 25"/>
          <p:cNvSpPr/>
          <p:nvPr/>
        </p:nvSpPr>
        <p:spPr>
          <a:xfrm>
            <a:off x="6361200" y="295344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680" name="Text 26"/>
          <p:cNvSpPr/>
          <p:nvPr/>
        </p:nvSpPr>
        <p:spPr>
          <a:xfrm>
            <a:off x="6424920" y="295344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00" strike="noStrike" u="none">
                <a:solidFill>
                  <a:srgbClr val="1e2420"/>
                </a:solidFill>
                <a:effectLst/>
                <a:uFillTx/>
                <a:latin typeface="Calibri"/>
                <a:ea typeface="Calibri"/>
              </a:rPr>
              <a:t>Calculation governance and methodology transparency</a:t>
            </a:r>
            <a:endParaRPr b="0" lang="en-US" sz="900" strike="noStrike" u="none">
              <a:solidFill>
                <a:srgbClr val="000000"/>
              </a:solidFill>
              <a:effectLst/>
              <a:uFillTx/>
              <a:latin typeface="Arial"/>
            </a:endParaRPr>
          </a:p>
        </p:txBody>
      </p:sp>
      <p:sp>
        <p:nvSpPr>
          <p:cNvPr id="4681" name="Shape 27"/>
          <p:cNvSpPr/>
          <p:nvPr/>
        </p:nvSpPr>
        <p:spPr>
          <a:xfrm>
            <a:off x="6361200" y="374004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682" name="Text 28"/>
          <p:cNvSpPr/>
          <p:nvPr/>
        </p:nvSpPr>
        <p:spPr>
          <a:xfrm>
            <a:off x="6424920" y="374004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User defined custom calculation methods</a:t>
            </a:r>
            <a:endParaRPr b="0" lang="en-US" sz="950" strike="noStrike" u="none">
              <a:solidFill>
                <a:srgbClr val="000000"/>
              </a:solidFill>
              <a:effectLst/>
              <a:uFillTx/>
              <a:latin typeface="Arial"/>
            </a:endParaRPr>
          </a:p>
        </p:txBody>
      </p:sp>
      <p:sp>
        <p:nvSpPr>
          <p:cNvPr id="4683" name="Shape 29"/>
          <p:cNvSpPr/>
          <p:nvPr/>
        </p:nvSpPr>
        <p:spPr>
          <a:xfrm>
            <a:off x="6361200" y="452628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684" name="Text 30"/>
          <p:cNvSpPr/>
          <p:nvPr/>
        </p:nvSpPr>
        <p:spPr>
          <a:xfrm>
            <a:off x="6424920" y="452628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Reusable inventory setup and boundaries</a:t>
            </a:r>
            <a:endParaRPr b="0" lang="en-US" sz="950" strike="noStrike" u="none">
              <a:solidFill>
                <a:srgbClr val="000000"/>
              </a:solidFill>
              <a:effectLst/>
              <a:uFillTx/>
              <a:latin typeface="Arial"/>
            </a:endParaRPr>
          </a:p>
        </p:txBody>
      </p:sp>
      <p:sp>
        <p:nvSpPr>
          <p:cNvPr id="4685" name="Shape 31"/>
          <p:cNvSpPr/>
          <p:nvPr/>
        </p:nvSpPr>
        <p:spPr>
          <a:xfrm>
            <a:off x="6361200" y="531252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686" name="Text 32"/>
          <p:cNvSpPr/>
          <p:nvPr/>
        </p:nvSpPr>
        <p:spPr>
          <a:xfrm>
            <a:off x="6424920" y="531252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Automated regression testing on the engine</a:t>
            </a:r>
            <a:endParaRPr b="0" lang="en-US" sz="950" strike="noStrike" u="none">
              <a:solidFill>
                <a:srgbClr val="000000"/>
              </a:solidFill>
              <a:effectLst/>
              <a:uFillTx/>
              <a:latin typeface="Arial"/>
            </a:endParaRPr>
          </a:p>
        </p:txBody>
      </p:sp>
      <p:sp>
        <p:nvSpPr>
          <p:cNvPr id="4687" name="Shape 33"/>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688" name="Text 34"/>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4689" name="Text 35"/>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4690" name="PlaceHolder 1"/>
          <p:cNvSpPr>
            <a:spLocks noGrp="1"/>
          </p:cNvSpPr>
          <p:nvPr>
            <p:ph type="sldNum" idx="100"/>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170182EF-4544-45B2-B23F-59BBA87C222C}"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691"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4692"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4693" name="Shape 2"/>
          <p:cNvSpPr/>
          <p:nvPr/>
        </p:nvSpPr>
        <p:spPr>
          <a:xfrm>
            <a:off x="621720" y="311040"/>
            <a:ext cx="208008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694" name="Text 3"/>
          <p:cNvSpPr/>
          <p:nvPr/>
        </p:nvSpPr>
        <p:spPr>
          <a:xfrm>
            <a:off x="804600" y="329040"/>
            <a:ext cx="175068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2027 SEQUENCING</a:t>
            </a:r>
            <a:endParaRPr b="0" lang="en-US" sz="950" strike="noStrike" u="none">
              <a:solidFill>
                <a:srgbClr val="000000"/>
              </a:solidFill>
              <a:effectLst/>
              <a:uFillTx/>
              <a:latin typeface="Arial"/>
            </a:endParaRPr>
          </a:p>
        </p:txBody>
      </p:sp>
      <p:sp>
        <p:nvSpPr>
          <p:cNvPr id="4695"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How 2027 lays out: H2</a:t>
            </a:r>
            <a:endParaRPr b="0" lang="en-US" sz="3200" strike="noStrike" u="none">
              <a:solidFill>
                <a:srgbClr val="000000"/>
              </a:solidFill>
              <a:effectLst/>
              <a:uFillTx/>
              <a:latin typeface="Arial"/>
            </a:endParaRPr>
          </a:p>
        </p:txBody>
      </p:sp>
      <p:sp>
        <p:nvSpPr>
          <p:cNvPr id="4696"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Second half shape of the 2027 bets, based on current theme ranks.</a:t>
            </a:r>
            <a:endParaRPr b="0" lang="en-US" sz="1250" strike="noStrike" u="none">
              <a:solidFill>
                <a:srgbClr val="000000"/>
              </a:solidFill>
              <a:effectLst/>
              <a:uFillTx/>
              <a:latin typeface="Arial"/>
            </a:endParaRPr>
          </a:p>
        </p:txBody>
      </p:sp>
      <p:sp>
        <p:nvSpPr>
          <p:cNvPr id="4697"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698" name="Shape 7"/>
          <p:cNvSpPr/>
          <p:nvPr/>
        </p:nvSpPr>
        <p:spPr>
          <a:xfrm>
            <a:off x="621720" y="2084760"/>
            <a:ext cx="5345640" cy="4178520"/>
          </a:xfrm>
          <a:prstGeom prst="roundRect">
            <a:avLst>
              <a:gd name="adj" fmla="val 131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699" name="Shape 8"/>
          <p:cNvSpPr/>
          <p:nvPr/>
        </p:nvSpPr>
        <p:spPr>
          <a:xfrm>
            <a:off x="621720" y="2084760"/>
            <a:ext cx="5345640" cy="712800"/>
          </a:xfrm>
          <a:prstGeom prst="rect">
            <a:avLst/>
          </a:prstGeom>
          <a:solidFill>
            <a:srgbClr val="fff4e3"/>
          </a:solidFill>
          <a:ln w="12700">
            <a:solidFill>
              <a:srgbClr val="fff4e3"/>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00" name="Shape 9"/>
          <p:cNvSpPr/>
          <p:nvPr/>
        </p:nvSpPr>
        <p:spPr>
          <a:xfrm>
            <a:off x="621720" y="2084760"/>
            <a:ext cx="54360" cy="4178520"/>
          </a:xfrm>
          <a:prstGeom prst="rect">
            <a:avLst/>
          </a:prstGeom>
          <a:solidFill>
            <a:srgbClr val="ffb04c"/>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01" name="Text 10"/>
          <p:cNvSpPr/>
          <p:nvPr/>
        </p:nvSpPr>
        <p:spPr>
          <a:xfrm>
            <a:off x="804600" y="2176200"/>
            <a:ext cx="501660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ffb04c"/>
                </a:solidFill>
                <a:effectLst/>
                <a:uFillTx/>
                <a:latin typeface="Calibri"/>
                <a:ea typeface="Calibri"/>
              </a:rPr>
              <a:t>H2 2027</a:t>
            </a:r>
            <a:endParaRPr b="0" lang="en-US" sz="850" strike="noStrike" u="none">
              <a:solidFill>
                <a:srgbClr val="000000"/>
              </a:solidFill>
              <a:effectLst/>
              <a:uFillTx/>
              <a:latin typeface="Arial"/>
            </a:endParaRPr>
          </a:p>
        </p:txBody>
      </p:sp>
      <p:sp>
        <p:nvSpPr>
          <p:cNvPr id="4702" name="Text 11"/>
          <p:cNvSpPr/>
          <p:nvPr/>
        </p:nvSpPr>
        <p:spPr>
          <a:xfrm>
            <a:off x="804600" y="2423160"/>
            <a:ext cx="501660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Assurance and AI</a:t>
            </a:r>
            <a:endParaRPr b="0" lang="en-US" sz="1400" strike="noStrike" u="none">
              <a:solidFill>
                <a:srgbClr val="000000"/>
              </a:solidFill>
              <a:effectLst/>
              <a:uFillTx/>
              <a:latin typeface="Arial"/>
            </a:endParaRPr>
          </a:p>
        </p:txBody>
      </p:sp>
      <p:sp>
        <p:nvSpPr>
          <p:cNvPr id="4703" name="Shape 12"/>
          <p:cNvSpPr/>
          <p:nvPr/>
        </p:nvSpPr>
        <p:spPr>
          <a:xfrm>
            <a:off x="758880" y="295344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04" name="Text 13"/>
          <p:cNvSpPr/>
          <p:nvPr/>
        </p:nvSpPr>
        <p:spPr>
          <a:xfrm>
            <a:off x="822960" y="295344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AI powered emissions troubleshooting</a:t>
            </a:r>
            <a:endParaRPr b="0" lang="en-US" sz="950" strike="noStrike" u="none">
              <a:solidFill>
                <a:srgbClr val="000000"/>
              </a:solidFill>
              <a:effectLst/>
              <a:uFillTx/>
              <a:latin typeface="Arial"/>
            </a:endParaRPr>
          </a:p>
        </p:txBody>
      </p:sp>
      <p:sp>
        <p:nvSpPr>
          <p:cNvPr id="4705" name="Shape 14"/>
          <p:cNvSpPr/>
          <p:nvPr/>
        </p:nvSpPr>
        <p:spPr>
          <a:xfrm>
            <a:off x="758880" y="374004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06" name="Text 15"/>
          <p:cNvSpPr/>
          <p:nvPr/>
        </p:nvSpPr>
        <p:spPr>
          <a:xfrm>
            <a:off x="822960" y="374004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Year on year variance checks, Scope 1 and 2</a:t>
            </a:r>
            <a:endParaRPr b="0" lang="en-US" sz="950" strike="noStrike" u="none">
              <a:solidFill>
                <a:srgbClr val="000000"/>
              </a:solidFill>
              <a:effectLst/>
              <a:uFillTx/>
              <a:latin typeface="Arial"/>
            </a:endParaRPr>
          </a:p>
        </p:txBody>
      </p:sp>
      <p:sp>
        <p:nvSpPr>
          <p:cNvPr id="4707" name="Shape 16"/>
          <p:cNvSpPr/>
          <p:nvPr/>
        </p:nvSpPr>
        <p:spPr>
          <a:xfrm>
            <a:off x="758880" y="452628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08" name="Text 17"/>
          <p:cNvSpPr/>
          <p:nvPr/>
        </p:nvSpPr>
        <p:spPr>
          <a:xfrm>
            <a:off x="822960" y="452628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Scope 1, 2, 3 disclosure reporting</a:t>
            </a:r>
            <a:endParaRPr b="0" lang="en-US" sz="950" strike="noStrike" u="none">
              <a:solidFill>
                <a:srgbClr val="000000"/>
              </a:solidFill>
              <a:effectLst/>
              <a:uFillTx/>
              <a:latin typeface="Arial"/>
            </a:endParaRPr>
          </a:p>
        </p:txBody>
      </p:sp>
      <p:sp>
        <p:nvSpPr>
          <p:cNvPr id="4709" name="Shape 18"/>
          <p:cNvSpPr/>
          <p:nvPr/>
        </p:nvSpPr>
        <p:spPr>
          <a:xfrm>
            <a:off x="6224040" y="2084760"/>
            <a:ext cx="5345640" cy="4178520"/>
          </a:xfrm>
          <a:prstGeom prst="roundRect">
            <a:avLst>
              <a:gd name="adj" fmla="val 131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10" name="Shape 19"/>
          <p:cNvSpPr/>
          <p:nvPr/>
        </p:nvSpPr>
        <p:spPr>
          <a:xfrm>
            <a:off x="6224040" y="2084760"/>
            <a:ext cx="5345640" cy="712800"/>
          </a:xfrm>
          <a:prstGeom prst="rect">
            <a:avLst/>
          </a:prstGeom>
          <a:solidFill>
            <a:srgbClr val="eaf1f5"/>
          </a:solidFill>
          <a:ln w="12700">
            <a:solidFill>
              <a:srgbClr val="eaf1f5"/>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11" name="Shape 20"/>
          <p:cNvSpPr/>
          <p:nvPr/>
        </p:nvSpPr>
        <p:spPr>
          <a:xfrm>
            <a:off x="6224040" y="2084760"/>
            <a:ext cx="54360" cy="4178520"/>
          </a:xfrm>
          <a:prstGeom prst="rect">
            <a:avLst/>
          </a:prstGeom>
          <a:solidFill>
            <a:srgbClr val="275b7f"/>
          </a:solidFill>
          <a:ln w="12700">
            <a:solidFill>
              <a:srgbClr val="275b7f"/>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712" name="Text 21"/>
          <p:cNvSpPr/>
          <p:nvPr/>
        </p:nvSpPr>
        <p:spPr>
          <a:xfrm>
            <a:off x="6406920" y="2176200"/>
            <a:ext cx="501660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275b7f"/>
                </a:solidFill>
                <a:effectLst/>
                <a:uFillTx/>
                <a:latin typeface="Calibri"/>
                <a:ea typeface="Calibri"/>
              </a:rPr>
              <a:t>H2 2027</a:t>
            </a:r>
            <a:endParaRPr b="0" lang="en-US" sz="850" strike="noStrike" u="none">
              <a:solidFill>
                <a:srgbClr val="000000"/>
              </a:solidFill>
              <a:effectLst/>
              <a:uFillTx/>
              <a:latin typeface="Arial"/>
            </a:endParaRPr>
          </a:p>
        </p:txBody>
      </p:sp>
      <p:sp>
        <p:nvSpPr>
          <p:cNvPr id="4713" name="Text 22"/>
          <p:cNvSpPr/>
          <p:nvPr/>
        </p:nvSpPr>
        <p:spPr>
          <a:xfrm>
            <a:off x="6406920" y="2423160"/>
            <a:ext cx="501660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Insight and scale</a:t>
            </a:r>
            <a:endParaRPr b="0" lang="en-US" sz="1400" strike="noStrike" u="none">
              <a:solidFill>
                <a:srgbClr val="000000"/>
              </a:solidFill>
              <a:effectLst/>
              <a:uFillTx/>
              <a:latin typeface="Arial"/>
            </a:endParaRPr>
          </a:p>
        </p:txBody>
      </p:sp>
      <p:sp>
        <p:nvSpPr>
          <p:cNvPr id="4714" name="Shape 23"/>
          <p:cNvSpPr/>
          <p:nvPr/>
        </p:nvSpPr>
        <p:spPr>
          <a:xfrm>
            <a:off x="6361200" y="295344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15" name="Text 24"/>
          <p:cNvSpPr/>
          <p:nvPr/>
        </p:nvSpPr>
        <p:spPr>
          <a:xfrm>
            <a:off x="6424920" y="295344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Intensity and normalisation metrics</a:t>
            </a:r>
            <a:endParaRPr b="0" lang="en-US" sz="950" strike="noStrike" u="none">
              <a:solidFill>
                <a:srgbClr val="000000"/>
              </a:solidFill>
              <a:effectLst/>
              <a:uFillTx/>
              <a:latin typeface="Arial"/>
            </a:endParaRPr>
          </a:p>
        </p:txBody>
      </p:sp>
      <p:sp>
        <p:nvSpPr>
          <p:cNvPr id="4716" name="Shape 25"/>
          <p:cNvSpPr/>
          <p:nvPr/>
        </p:nvSpPr>
        <p:spPr>
          <a:xfrm>
            <a:off x="6361200" y="374004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17" name="Text 26"/>
          <p:cNvSpPr/>
          <p:nvPr/>
        </p:nvSpPr>
        <p:spPr>
          <a:xfrm>
            <a:off x="6424920" y="374004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Water data support</a:t>
            </a:r>
            <a:endParaRPr b="0" lang="en-US" sz="1000" strike="noStrike" u="none">
              <a:solidFill>
                <a:srgbClr val="000000"/>
              </a:solidFill>
              <a:effectLst/>
              <a:uFillTx/>
              <a:latin typeface="Arial"/>
            </a:endParaRPr>
          </a:p>
        </p:txBody>
      </p:sp>
      <p:sp>
        <p:nvSpPr>
          <p:cNvPr id="4718" name="Shape 27"/>
          <p:cNvSpPr/>
          <p:nvPr/>
        </p:nvSpPr>
        <p:spPr>
          <a:xfrm>
            <a:off x="6361200" y="452628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19" name="Text 28"/>
          <p:cNvSpPr/>
          <p:nvPr/>
        </p:nvSpPr>
        <p:spPr>
          <a:xfrm>
            <a:off x="6424920" y="452628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Multi level approval workflows</a:t>
            </a:r>
            <a:endParaRPr b="0" lang="en-US" sz="1000" strike="noStrike" u="none">
              <a:solidFill>
                <a:srgbClr val="000000"/>
              </a:solidFill>
              <a:effectLst/>
              <a:uFillTx/>
              <a:latin typeface="Arial"/>
            </a:endParaRPr>
          </a:p>
        </p:txBody>
      </p:sp>
      <p:sp>
        <p:nvSpPr>
          <p:cNvPr id="4720" name="Shape 29"/>
          <p:cNvSpPr/>
          <p:nvPr/>
        </p:nvSpPr>
        <p:spPr>
          <a:xfrm>
            <a:off x="6361200" y="5312520"/>
            <a:ext cx="5071320" cy="712800"/>
          </a:xfrm>
          <a:prstGeom prst="roundRect">
            <a:avLst>
              <a:gd name="adj" fmla="val 3846"/>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21" name="Text 30"/>
          <p:cNvSpPr/>
          <p:nvPr/>
        </p:nvSpPr>
        <p:spPr>
          <a:xfrm>
            <a:off x="6424920" y="5312520"/>
            <a:ext cx="4943520" cy="71280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00" strike="noStrike" u="none">
                <a:solidFill>
                  <a:srgbClr val="1e2420"/>
                </a:solidFill>
                <a:effectLst/>
                <a:uFillTx/>
                <a:latin typeface="Calibri"/>
                <a:ea typeface="Calibri"/>
              </a:rPr>
              <a:t>Live currency conversion for spend based calculations</a:t>
            </a:r>
            <a:endParaRPr b="0" lang="en-US" sz="900" strike="noStrike" u="none">
              <a:solidFill>
                <a:srgbClr val="000000"/>
              </a:solidFill>
              <a:effectLst/>
              <a:uFillTx/>
              <a:latin typeface="Arial"/>
            </a:endParaRPr>
          </a:p>
        </p:txBody>
      </p:sp>
      <p:sp>
        <p:nvSpPr>
          <p:cNvPr id="4722" name="Shape 31"/>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723" name="Text 32"/>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4724" name="Text 33"/>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4725" name="PlaceHolder 1"/>
          <p:cNvSpPr>
            <a:spLocks noGrp="1"/>
          </p:cNvSpPr>
          <p:nvPr>
            <p:ph type="sldNum" idx="101"/>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4B3ACE6E-790E-4524-81B2-729C770D6E8C}"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726"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4727"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4728" name="Shape 2"/>
          <p:cNvSpPr/>
          <p:nvPr/>
        </p:nvSpPr>
        <p:spPr>
          <a:xfrm>
            <a:off x="621720" y="311040"/>
            <a:ext cx="144900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29" name="Text 3"/>
          <p:cNvSpPr/>
          <p:nvPr/>
        </p:nvSpPr>
        <p:spPr>
          <a:xfrm>
            <a:off x="804600" y="329040"/>
            <a:ext cx="111996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2027 BETS</a:t>
            </a:r>
            <a:endParaRPr b="0" lang="en-US" sz="950" strike="noStrike" u="none">
              <a:solidFill>
                <a:srgbClr val="000000"/>
              </a:solidFill>
              <a:effectLst/>
              <a:uFillTx/>
              <a:latin typeface="Arial"/>
            </a:endParaRPr>
          </a:p>
        </p:txBody>
      </p:sp>
      <p:sp>
        <p:nvSpPr>
          <p:cNvPr id="4730"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Where Carbon Performance goes next</a:t>
            </a:r>
            <a:endParaRPr b="0" lang="en-US" sz="3200" strike="noStrike" u="none">
              <a:solidFill>
                <a:srgbClr val="000000"/>
              </a:solidFill>
              <a:effectLst/>
              <a:uFillTx/>
              <a:latin typeface="Arial"/>
            </a:endParaRPr>
          </a:p>
        </p:txBody>
      </p:sp>
      <p:sp>
        <p:nvSpPr>
          <p:cNvPr id="4731"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Direction for the year, expressed as three bets rather than a list of features.</a:t>
            </a:r>
            <a:endParaRPr b="0" lang="en-US" sz="1250" strike="noStrike" u="none">
              <a:solidFill>
                <a:srgbClr val="000000"/>
              </a:solidFill>
              <a:effectLst/>
              <a:uFillTx/>
              <a:latin typeface="Arial"/>
            </a:endParaRPr>
          </a:p>
        </p:txBody>
      </p:sp>
      <p:sp>
        <p:nvSpPr>
          <p:cNvPr id="4732"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733" name="Shape 7"/>
          <p:cNvSpPr/>
          <p:nvPr/>
        </p:nvSpPr>
        <p:spPr>
          <a:xfrm>
            <a:off x="62172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34" name="Shape 8"/>
          <p:cNvSpPr/>
          <p:nvPr/>
        </p:nvSpPr>
        <p:spPr>
          <a:xfrm>
            <a:off x="621720" y="2084760"/>
            <a:ext cx="63720" cy="41785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35" name="Shape 9"/>
          <p:cNvSpPr/>
          <p:nvPr/>
        </p:nvSpPr>
        <p:spPr>
          <a:xfrm>
            <a:off x="868680" y="2286000"/>
            <a:ext cx="438480" cy="438480"/>
          </a:xfrm>
          <a:prstGeom prst="ellipse">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36" name="Text 10"/>
          <p:cNvSpPr/>
          <p:nvPr/>
        </p:nvSpPr>
        <p:spPr>
          <a:xfrm>
            <a:off x="868680" y="2286000"/>
            <a:ext cx="43848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007a27"/>
                </a:solidFill>
                <a:effectLst/>
                <a:uFillTx/>
                <a:latin typeface="Calibri"/>
                <a:ea typeface="Calibri"/>
              </a:rPr>
              <a:t>01</a:t>
            </a:r>
            <a:endParaRPr b="0" lang="en-US" sz="1200" strike="noStrike" u="none">
              <a:solidFill>
                <a:srgbClr val="000000"/>
              </a:solidFill>
              <a:effectLst/>
              <a:uFillTx/>
              <a:latin typeface="Arial"/>
            </a:endParaRPr>
          </a:p>
        </p:txBody>
      </p:sp>
      <p:sp>
        <p:nvSpPr>
          <p:cNvPr id="4737" name="Text 11"/>
          <p:cNvSpPr/>
          <p:nvPr/>
        </p:nvSpPr>
        <p:spPr>
          <a:xfrm>
            <a:off x="1398960" y="2267640"/>
            <a:ext cx="2460240" cy="5025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500" strike="noStrike" u="none">
                <a:solidFill>
                  <a:srgbClr val="1e2420"/>
                </a:solidFill>
                <a:effectLst/>
                <a:uFillTx/>
                <a:latin typeface="Calibri"/>
                <a:ea typeface="Calibri"/>
              </a:rPr>
              <a:t>Close the inventory</a:t>
            </a:r>
            <a:endParaRPr b="0" lang="en-US" sz="1500" strike="noStrike" u="none">
              <a:solidFill>
                <a:srgbClr val="000000"/>
              </a:solidFill>
              <a:effectLst/>
              <a:uFillTx/>
              <a:latin typeface="Arial"/>
            </a:endParaRPr>
          </a:p>
        </p:txBody>
      </p:sp>
      <p:sp>
        <p:nvSpPr>
          <p:cNvPr id="4738" name="Text 12"/>
          <p:cNvSpPr/>
          <p:nvPr/>
        </p:nvSpPr>
        <p:spPr>
          <a:xfrm>
            <a:off x="850320" y="2862000"/>
            <a:ext cx="3008880" cy="7768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Eliminate the methodology and category gaps that still force hypercare. Consultant grade means no off platform workarounds.</a:t>
            </a:r>
            <a:endParaRPr b="0" lang="en-US" sz="1100" strike="noStrike" u="none">
              <a:solidFill>
                <a:srgbClr val="000000"/>
              </a:solidFill>
              <a:effectLst/>
              <a:uFillTx/>
              <a:latin typeface="Arial"/>
            </a:endParaRPr>
          </a:p>
        </p:txBody>
      </p:sp>
      <p:sp>
        <p:nvSpPr>
          <p:cNvPr id="4739" name="Text 13"/>
          <p:cNvSpPr/>
          <p:nvPr/>
        </p:nvSpPr>
        <p:spPr>
          <a:xfrm>
            <a:off x="850320" y="3684960"/>
            <a:ext cx="3008880" cy="2395440"/>
          </a:xfrm>
          <a:prstGeom prst="rect">
            <a:avLst/>
          </a:prstGeom>
          <a:noFill/>
          <a:ln w="0">
            <a:noFill/>
          </a:ln>
        </p:spPr>
        <p:style>
          <a:lnRef idx="0"/>
          <a:fillRef idx="0"/>
          <a:effectRef idx="0"/>
          <a:fontRef idx="minor"/>
        </p:style>
        <p:txBody>
          <a:bodyPr lIns="0" rIns="0" tIns="0" bIns="0" anchor="t">
            <a:normAutofit/>
          </a:bodyPr>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Scope 3 category 15 investments</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Additional emission sources outside GHGP scopes</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Calculation governance and methodology transparency</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Inventory boundaries, exclusions and quality</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Specialized standards: PCAF, FLAG, Bilan Carbone</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Organizational boundary and consolidation</a:t>
            </a:r>
            <a:endParaRPr b="0" lang="en-US" sz="1100" strike="noStrike" u="none">
              <a:solidFill>
                <a:srgbClr val="000000"/>
              </a:solidFill>
              <a:effectLst/>
              <a:uFillTx/>
              <a:latin typeface="Arial"/>
            </a:endParaRPr>
          </a:p>
        </p:txBody>
      </p:sp>
      <p:sp>
        <p:nvSpPr>
          <p:cNvPr id="4740" name="Shape 14"/>
          <p:cNvSpPr/>
          <p:nvPr/>
        </p:nvSpPr>
        <p:spPr>
          <a:xfrm>
            <a:off x="436248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41" name="Shape 15"/>
          <p:cNvSpPr/>
          <p:nvPr/>
        </p:nvSpPr>
        <p:spPr>
          <a:xfrm>
            <a:off x="4362480" y="2084760"/>
            <a:ext cx="63720" cy="41785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42" name="Shape 16"/>
          <p:cNvSpPr/>
          <p:nvPr/>
        </p:nvSpPr>
        <p:spPr>
          <a:xfrm>
            <a:off x="4609440" y="2286000"/>
            <a:ext cx="438480" cy="438480"/>
          </a:xfrm>
          <a:prstGeom prst="ellipse">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43" name="Text 17"/>
          <p:cNvSpPr/>
          <p:nvPr/>
        </p:nvSpPr>
        <p:spPr>
          <a:xfrm>
            <a:off x="4609440" y="2286000"/>
            <a:ext cx="43848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007a27"/>
                </a:solidFill>
                <a:effectLst/>
                <a:uFillTx/>
                <a:latin typeface="Calibri"/>
                <a:ea typeface="Calibri"/>
              </a:rPr>
              <a:t>02</a:t>
            </a:r>
            <a:endParaRPr b="0" lang="en-US" sz="1200" strike="noStrike" u="none">
              <a:solidFill>
                <a:srgbClr val="000000"/>
              </a:solidFill>
              <a:effectLst/>
              <a:uFillTx/>
              <a:latin typeface="Arial"/>
            </a:endParaRPr>
          </a:p>
        </p:txBody>
      </p:sp>
      <p:sp>
        <p:nvSpPr>
          <p:cNvPr id="4744" name="Text 18"/>
          <p:cNvSpPr/>
          <p:nvPr/>
        </p:nvSpPr>
        <p:spPr>
          <a:xfrm>
            <a:off x="5139720" y="2267640"/>
            <a:ext cx="2460240" cy="5025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500" strike="noStrike" u="none">
                <a:solidFill>
                  <a:srgbClr val="1e2420"/>
                </a:solidFill>
                <a:effectLst/>
                <a:uFillTx/>
                <a:latin typeface="Calibri"/>
                <a:ea typeface="Calibri"/>
              </a:rPr>
              <a:t>From inventory to decision</a:t>
            </a:r>
            <a:endParaRPr b="0" lang="en-US" sz="1500" strike="noStrike" u="none">
              <a:solidFill>
                <a:srgbClr val="000000"/>
              </a:solidFill>
              <a:effectLst/>
              <a:uFillTx/>
              <a:latin typeface="Arial"/>
            </a:endParaRPr>
          </a:p>
        </p:txBody>
      </p:sp>
      <p:sp>
        <p:nvSpPr>
          <p:cNvPr id="4745" name="Text 19"/>
          <p:cNvSpPr/>
          <p:nvPr/>
        </p:nvSpPr>
        <p:spPr>
          <a:xfrm>
            <a:off x="4591080" y="2862000"/>
            <a:ext cx="3008880" cy="7768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Turn a trustworthy inventory into boardroom ready insight and self serve planning, the wedge that replaces the consultant.</a:t>
            </a:r>
            <a:endParaRPr b="0" lang="en-US" sz="1100" strike="noStrike" u="none">
              <a:solidFill>
                <a:srgbClr val="000000"/>
              </a:solidFill>
              <a:effectLst/>
              <a:uFillTx/>
              <a:latin typeface="Arial"/>
            </a:endParaRPr>
          </a:p>
        </p:txBody>
      </p:sp>
      <p:sp>
        <p:nvSpPr>
          <p:cNvPr id="4746" name="Text 20"/>
          <p:cNvSpPr/>
          <p:nvPr/>
        </p:nvSpPr>
        <p:spPr>
          <a:xfrm>
            <a:off x="4591080" y="3684960"/>
            <a:ext cx="3008880" cy="2395440"/>
          </a:xfrm>
          <a:prstGeom prst="rect">
            <a:avLst/>
          </a:prstGeom>
          <a:noFill/>
          <a:ln w="0">
            <a:noFill/>
          </a:ln>
        </p:spPr>
        <p:style>
          <a:lnRef idx="0"/>
          <a:fillRef idx="0"/>
          <a:effectRef idx="0"/>
          <a:fontRef idx="minor"/>
        </p:style>
        <p:txBody>
          <a:bodyPr lIns="0" rIns="0" tIns="0" bIns="0" anchor="t">
            <a:normAutofit/>
          </a:bodyPr>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From reporting to decision support</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Boardroom ready decarbonization reporting</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Self serve decarbonization planning and execution</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Decision support for performance management</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Dedicated auditor experience</a:t>
            </a:r>
            <a:endParaRPr b="0" lang="en-US" sz="1100" strike="noStrike" u="none">
              <a:solidFill>
                <a:srgbClr val="000000"/>
              </a:solidFill>
              <a:effectLst/>
              <a:uFillTx/>
              <a:latin typeface="Arial"/>
            </a:endParaRPr>
          </a:p>
        </p:txBody>
      </p:sp>
      <p:sp>
        <p:nvSpPr>
          <p:cNvPr id="4747" name="Shape 21"/>
          <p:cNvSpPr/>
          <p:nvPr/>
        </p:nvSpPr>
        <p:spPr>
          <a:xfrm>
            <a:off x="810324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48" name="Shape 22"/>
          <p:cNvSpPr/>
          <p:nvPr/>
        </p:nvSpPr>
        <p:spPr>
          <a:xfrm>
            <a:off x="8103240" y="2084760"/>
            <a:ext cx="63720" cy="41785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49" name="Shape 23"/>
          <p:cNvSpPr/>
          <p:nvPr/>
        </p:nvSpPr>
        <p:spPr>
          <a:xfrm>
            <a:off x="8350200" y="2286000"/>
            <a:ext cx="438480" cy="438480"/>
          </a:xfrm>
          <a:prstGeom prst="ellipse">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50" name="Text 24"/>
          <p:cNvSpPr/>
          <p:nvPr/>
        </p:nvSpPr>
        <p:spPr>
          <a:xfrm>
            <a:off x="8350200" y="2286000"/>
            <a:ext cx="43848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007a27"/>
                </a:solidFill>
                <a:effectLst/>
                <a:uFillTx/>
                <a:latin typeface="Calibri"/>
                <a:ea typeface="Calibri"/>
              </a:rPr>
              <a:t>03</a:t>
            </a:r>
            <a:endParaRPr b="0" lang="en-US" sz="1200" strike="noStrike" u="none">
              <a:solidFill>
                <a:srgbClr val="000000"/>
              </a:solidFill>
              <a:effectLst/>
              <a:uFillTx/>
              <a:latin typeface="Arial"/>
            </a:endParaRPr>
          </a:p>
        </p:txBody>
      </p:sp>
      <p:sp>
        <p:nvSpPr>
          <p:cNvPr id="4751" name="Text 25"/>
          <p:cNvSpPr/>
          <p:nvPr/>
        </p:nvSpPr>
        <p:spPr>
          <a:xfrm>
            <a:off x="8880480" y="2267640"/>
            <a:ext cx="2460240" cy="5025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500" strike="noStrike" u="none">
                <a:solidFill>
                  <a:srgbClr val="1e2420"/>
                </a:solidFill>
                <a:effectLst/>
                <a:uFillTx/>
                <a:latin typeface="Calibri"/>
                <a:ea typeface="Calibri"/>
              </a:rPr>
              <a:t>Cross product compounding</a:t>
            </a:r>
            <a:endParaRPr b="0" lang="en-US" sz="1500" strike="noStrike" u="none">
              <a:solidFill>
                <a:srgbClr val="000000"/>
              </a:solidFill>
              <a:effectLst/>
              <a:uFillTx/>
              <a:latin typeface="Arial"/>
            </a:endParaRPr>
          </a:p>
        </p:txBody>
      </p:sp>
      <p:sp>
        <p:nvSpPr>
          <p:cNvPr id="4752" name="Text 26"/>
          <p:cNvSpPr/>
          <p:nvPr/>
        </p:nvSpPr>
        <p:spPr>
          <a:xfrm>
            <a:off x="8331840" y="2862000"/>
            <a:ext cx="3008880" cy="7768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CP data becomes more valuable when supply chain, climate risk, and reporting and compliance can consume it. Network effects across RA+.</a:t>
            </a:r>
            <a:endParaRPr b="0" lang="en-US" sz="1100" strike="noStrike" u="none">
              <a:solidFill>
                <a:srgbClr val="000000"/>
              </a:solidFill>
              <a:effectLst/>
              <a:uFillTx/>
              <a:latin typeface="Arial"/>
            </a:endParaRPr>
          </a:p>
        </p:txBody>
      </p:sp>
      <p:sp>
        <p:nvSpPr>
          <p:cNvPr id="4753" name="Text 27"/>
          <p:cNvSpPr/>
          <p:nvPr/>
        </p:nvSpPr>
        <p:spPr>
          <a:xfrm>
            <a:off x="8331840" y="3684960"/>
            <a:ext cx="3008880" cy="2395440"/>
          </a:xfrm>
          <a:prstGeom prst="rect">
            <a:avLst/>
          </a:prstGeom>
          <a:noFill/>
          <a:ln w="0">
            <a:noFill/>
          </a:ln>
        </p:spPr>
        <p:style>
          <a:lnRef idx="0"/>
          <a:fillRef idx="0"/>
          <a:effectRef idx="0"/>
          <a:fontRef idx="minor"/>
        </p:style>
        <p:txBody>
          <a:bodyPr lIns="0" rIns="0" tIns="0" bIns="0" anchor="t">
            <a:normAutofit/>
          </a:bodyPr>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Enhanced end to end supply chain emissions management (rank 44)</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R&amp;C integration with CP emissions data (rank 33)</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Supplier specific emission factors, CP and SC</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Reusable analytics infrastructure</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PCF integrations</a:t>
            </a:r>
            <a:endParaRPr b="0" lang="en-US" sz="1100" strike="noStrike" u="none">
              <a:solidFill>
                <a:srgbClr val="000000"/>
              </a:solidFill>
              <a:effectLst/>
              <a:uFillTx/>
              <a:latin typeface="Arial"/>
            </a:endParaRPr>
          </a:p>
        </p:txBody>
      </p:sp>
      <p:sp>
        <p:nvSpPr>
          <p:cNvPr id="4754" name="Shape 28"/>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755" name="Text 29"/>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4756" name="Text 30"/>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4757" name="PlaceHolder 1"/>
          <p:cNvSpPr>
            <a:spLocks noGrp="1"/>
          </p:cNvSpPr>
          <p:nvPr>
            <p:ph type="sldNum" idx="102"/>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F4B3BB52-5637-44DC-9CBC-D687DCB94BBC}"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758"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4759"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4760" name="Shape 2"/>
          <p:cNvSpPr/>
          <p:nvPr/>
        </p:nvSpPr>
        <p:spPr>
          <a:xfrm>
            <a:off x="621720" y="311040"/>
            <a:ext cx="144900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61" name="Text 3"/>
          <p:cNvSpPr/>
          <p:nvPr/>
        </p:nvSpPr>
        <p:spPr>
          <a:xfrm>
            <a:off x="804600" y="329040"/>
            <a:ext cx="111996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2027 BETS</a:t>
            </a:r>
            <a:endParaRPr b="0" lang="en-US" sz="950" strike="noStrike" u="none">
              <a:solidFill>
                <a:srgbClr val="000000"/>
              </a:solidFill>
              <a:effectLst/>
              <a:uFillTx/>
              <a:latin typeface="Arial"/>
            </a:endParaRPr>
          </a:p>
        </p:txBody>
      </p:sp>
      <p:sp>
        <p:nvSpPr>
          <p:cNvPr id="4762"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Where Supply Chain goes next</a:t>
            </a:r>
            <a:endParaRPr b="0" lang="en-US" sz="3200" strike="noStrike" u="none">
              <a:solidFill>
                <a:srgbClr val="000000"/>
              </a:solidFill>
              <a:effectLst/>
              <a:uFillTx/>
              <a:latin typeface="Arial"/>
            </a:endParaRPr>
          </a:p>
        </p:txBody>
      </p:sp>
      <p:sp>
        <p:nvSpPr>
          <p:cNvPr id="4763"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Direction for the year, expressed as three bets rather than a list of features.</a:t>
            </a:r>
            <a:endParaRPr b="0" lang="en-US" sz="1250" strike="noStrike" u="none">
              <a:solidFill>
                <a:srgbClr val="000000"/>
              </a:solidFill>
              <a:effectLst/>
              <a:uFillTx/>
              <a:latin typeface="Arial"/>
            </a:endParaRPr>
          </a:p>
        </p:txBody>
      </p:sp>
      <p:sp>
        <p:nvSpPr>
          <p:cNvPr id="4764"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765" name="Shape 7"/>
          <p:cNvSpPr/>
          <p:nvPr/>
        </p:nvSpPr>
        <p:spPr>
          <a:xfrm>
            <a:off x="62172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66" name="Shape 8"/>
          <p:cNvSpPr/>
          <p:nvPr/>
        </p:nvSpPr>
        <p:spPr>
          <a:xfrm>
            <a:off x="621720" y="2084760"/>
            <a:ext cx="63720" cy="41785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67" name="Shape 9"/>
          <p:cNvSpPr/>
          <p:nvPr/>
        </p:nvSpPr>
        <p:spPr>
          <a:xfrm>
            <a:off x="868680" y="2286000"/>
            <a:ext cx="438480" cy="438480"/>
          </a:xfrm>
          <a:prstGeom prst="ellipse">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68" name="Text 10"/>
          <p:cNvSpPr/>
          <p:nvPr/>
        </p:nvSpPr>
        <p:spPr>
          <a:xfrm>
            <a:off x="868680" y="2286000"/>
            <a:ext cx="43848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007a27"/>
                </a:solidFill>
                <a:effectLst/>
                <a:uFillTx/>
                <a:latin typeface="Calibri"/>
                <a:ea typeface="Calibri"/>
              </a:rPr>
              <a:t>01</a:t>
            </a:r>
            <a:endParaRPr b="0" lang="en-US" sz="1200" strike="noStrike" u="none">
              <a:solidFill>
                <a:srgbClr val="000000"/>
              </a:solidFill>
              <a:effectLst/>
              <a:uFillTx/>
              <a:latin typeface="Arial"/>
            </a:endParaRPr>
          </a:p>
        </p:txBody>
      </p:sp>
      <p:sp>
        <p:nvSpPr>
          <p:cNvPr id="4769" name="Text 11"/>
          <p:cNvSpPr/>
          <p:nvPr/>
        </p:nvSpPr>
        <p:spPr>
          <a:xfrm>
            <a:off x="1398960" y="2267640"/>
            <a:ext cx="2460240" cy="5025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500" strike="noStrike" u="none">
                <a:solidFill>
                  <a:srgbClr val="1e2420"/>
                </a:solidFill>
                <a:effectLst/>
                <a:uFillTx/>
                <a:latin typeface="Calibri"/>
                <a:ea typeface="Calibri"/>
              </a:rPr>
              <a:t>Win on product carbon footprint</a:t>
            </a:r>
            <a:endParaRPr b="0" lang="en-US" sz="1500" strike="noStrike" u="none">
              <a:solidFill>
                <a:srgbClr val="000000"/>
              </a:solidFill>
              <a:effectLst/>
              <a:uFillTx/>
              <a:latin typeface="Arial"/>
            </a:endParaRPr>
          </a:p>
        </p:txBody>
      </p:sp>
      <p:sp>
        <p:nvSpPr>
          <p:cNvPr id="4770" name="Text 12"/>
          <p:cNvSpPr/>
          <p:nvPr/>
        </p:nvSpPr>
        <p:spPr>
          <a:xfrm>
            <a:off x="850320" y="2862000"/>
            <a:ext cx="3008880" cy="7768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Close the competitive gap on PCF so the supply base measures on RA+ rather than on a rival tool.</a:t>
            </a:r>
            <a:endParaRPr b="0" lang="en-US" sz="1100" strike="noStrike" u="none">
              <a:solidFill>
                <a:srgbClr val="000000"/>
              </a:solidFill>
              <a:effectLst/>
              <a:uFillTx/>
              <a:latin typeface="Arial"/>
            </a:endParaRPr>
          </a:p>
        </p:txBody>
      </p:sp>
      <p:sp>
        <p:nvSpPr>
          <p:cNvPr id="4771" name="Text 13"/>
          <p:cNvSpPr/>
          <p:nvPr/>
        </p:nvSpPr>
        <p:spPr>
          <a:xfrm>
            <a:off x="850320" y="3684960"/>
            <a:ext cx="3008880" cy="2395440"/>
          </a:xfrm>
          <a:prstGeom prst="rect">
            <a:avLst/>
          </a:prstGeom>
          <a:noFill/>
          <a:ln w="0">
            <a:noFill/>
          </a:ln>
        </p:spPr>
        <p:style>
          <a:lnRef idx="0"/>
          <a:fillRef idx="0"/>
          <a:effectRef idx="0"/>
          <a:fontRef idx="minor"/>
        </p:style>
        <p:txBody>
          <a:bodyPr lIns="0" rIns="0" tIns="0" bIns="0" anchor="t">
            <a:normAutofit/>
          </a:bodyPr>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Light PCF calculator, SEED integrations</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Advanced tier level subscription</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Zeigo Activate sunset, replaced by a light CP calculator</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Supplier specific emission factors, CP and SC</a:t>
            </a:r>
            <a:endParaRPr b="0" lang="en-US" sz="1100" strike="noStrike" u="none">
              <a:solidFill>
                <a:srgbClr val="000000"/>
              </a:solidFill>
              <a:effectLst/>
              <a:uFillTx/>
              <a:latin typeface="Arial"/>
            </a:endParaRPr>
          </a:p>
        </p:txBody>
      </p:sp>
      <p:sp>
        <p:nvSpPr>
          <p:cNvPr id="4772" name="Shape 14"/>
          <p:cNvSpPr/>
          <p:nvPr/>
        </p:nvSpPr>
        <p:spPr>
          <a:xfrm>
            <a:off x="436248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73" name="Shape 15"/>
          <p:cNvSpPr/>
          <p:nvPr/>
        </p:nvSpPr>
        <p:spPr>
          <a:xfrm>
            <a:off x="4362480" y="2084760"/>
            <a:ext cx="63720" cy="41785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74" name="Shape 16"/>
          <p:cNvSpPr/>
          <p:nvPr/>
        </p:nvSpPr>
        <p:spPr>
          <a:xfrm>
            <a:off x="4609440" y="2286000"/>
            <a:ext cx="438480" cy="438480"/>
          </a:xfrm>
          <a:prstGeom prst="ellipse">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75" name="Text 17"/>
          <p:cNvSpPr/>
          <p:nvPr/>
        </p:nvSpPr>
        <p:spPr>
          <a:xfrm>
            <a:off x="4609440" y="2286000"/>
            <a:ext cx="43848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007a27"/>
                </a:solidFill>
                <a:effectLst/>
                <a:uFillTx/>
                <a:latin typeface="Calibri"/>
                <a:ea typeface="Calibri"/>
              </a:rPr>
              <a:t>02</a:t>
            </a:r>
            <a:endParaRPr b="0" lang="en-US" sz="1200" strike="noStrike" u="none">
              <a:solidFill>
                <a:srgbClr val="000000"/>
              </a:solidFill>
              <a:effectLst/>
              <a:uFillTx/>
              <a:latin typeface="Arial"/>
            </a:endParaRPr>
          </a:p>
        </p:txBody>
      </p:sp>
      <p:sp>
        <p:nvSpPr>
          <p:cNvPr id="4776" name="Text 18"/>
          <p:cNvSpPr/>
          <p:nvPr/>
        </p:nvSpPr>
        <p:spPr>
          <a:xfrm>
            <a:off x="5139720" y="2267640"/>
            <a:ext cx="2460240" cy="5025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500" strike="noStrike" u="none">
                <a:solidFill>
                  <a:srgbClr val="1e2420"/>
                </a:solidFill>
                <a:effectLst/>
                <a:uFillTx/>
                <a:latin typeface="Calibri"/>
                <a:ea typeface="Calibri"/>
              </a:rPr>
              <a:t>Scale supplier participation</a:t>
            </a:r>
            <a:endParaRPr b="0" lang="en-US" sz="1500" strike="noStrike" u="none">
              <a:solidFill>
                <a:srgbClr val="000000"/>
              </a:solidFill>
              <a:effectLst/>
              <a:uFillTx/>
              <a:latin typeface="Arial"/>
            </a:endParaRPr>
          </a:p>
        </p:txBody>
      </p:sp>
      <p:sp>
        <p:nvSpPr>
          <p:cNvPr id="4777" name="Text 19"/>
          <p:cNvSpPr/>
          <p:nvPr/>
        </p:nvSpPr>
        <p:spPr>
          <a:xfrm>
            <a:off x="4591080" y="2862000"/>
            <a:ext cx="3008880" cy="7768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A network only compounds when suppliers join, stay engaged and keep data flowing across programmes.</a:t>
            </a:r>
            <a:endParaRPr b="0" lang="en-US" sz="1100" strike="noStrike" u="none">
              <a:solidFill>
                <a:srgbClr val="000000"/>
              </a:solidFill>
              <a:effectLst/>
              <a:uFillTx/>
              <a:latin typeface="Arial"/>
            </a:endParaRPr>
          </a:p>
        </p:txBody>
      </p:sp>
      <p:sp>
        <p:nvSpPr>
          <p:cNvPr id="4778" name="Text 20"/>
          <p:cNvSpPr/>
          <p:nvPr/>
        </p:nvSpPr>
        <p:spPr>
          <a:xfrm>
            <a:off x="4591080" y="3684960"/>
            <a:ext cx="3008880" cy="2395440"/>
          </a:xfrm>
          <a:prstGeom prst="rect">
            <a:avLst/>
          </a:prstGeom>
          <a:noFill/>
          <a:ln w="0">
            <a:noFill/>
          </a:ln>
        </p:spPr>
        <p:style>
          <a:lnRef idx="0"/>
          <a:fillRef idx="0"/>
          <a:effectRef idx="0"/>
          <a:fontRef idx="minor"/>
        </p:style>
        <p:txBody>
          <a:bodyPr lIns="0" rIns="0" tIns="0" bIns="0" anchor="t">
            <a:normAutofit/>
          </a:bodyPr>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Supplier onboarding and programme participation</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Multi tier supplier visibility</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Engagement gamification and leaderboards</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Cross programme supplier discovery</a:t>
            </a:r>
            <a:endParaRPr b="0" lang="en-US" sz="1100" strike="noStrike" u="none">
              <a:solidFill>
                <a:srgbClr val="000000"/>
              </a:solidFill>
              <a:effectLst/>
              <a:uFillTx/>
              <a:latin typeface="Arial"/>
            </a:endParaRPr>
          </a:p>
        </p:txBody>
      </p:sp>
      <p:sp>
        <p:nvSpPr>
          <p:cNvPr id="4779" name="Shape 21"/>
          <p:cNvSpPr/>
          <p:nvPr/>
        </p:nvSpPr>
        <p:spPr>
          <a:xfrm>
            <a:off x="810324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80" name="Shape 22"/>
          <p:cNvSpPr/>
          <p:nvPr/>
        </p:nvSpPr>
        <p:spPr>
          <a:xfrm>
            <a:off x="8103240" y="2084760"/>
            <a:ext cx="63720" cy="41785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81" name="Shape 23"/>
          <p:cNvSpPr/>
          <p:nvPr/>
        </p:nvSpPr>
        <p:spPr>
          <a:xfrm>
            <a:off x="8350200" y="2286000"/>
            <a:ext cx="438480" cy="438480"/>
          </a:xfrm>
          <a:prstGeom prst="ellipse">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82" name="Text 24"/>
          <p:cNvSpPr/>
          <p:nvPr/>
        </p:nvSpPr>
        <p:spPr>
          <a:xfrm>
            <a:off x="8350200" y="2286000"/>
            <a:ext cx="43848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007a27"/>
                </a:solidFill>
                <a:effectLst/>
                <a:uFillTx/>
                <a:latin typeface="Calibri"/>
                <a:ea typeface="Calibri"/>
              </a:rPr>
              <a:t>03</a:t>
            </a:r>
            <a:endParaRPr b="0" lang="en-US" sz="1200" strike="noStrike" u="none">
              <a:solidFill>
                <a:srgbClr val="000000"/>
              </a:solidFill>
              <a:effectLst/>
              <a:uFillTx/>
              <a:latin typeface="Arial"/>
            </a:endParaRPr>
          </a:p>
        </p:txBody>
      </p:sp>
      <p:sp>
        <p:nvSpPr>
          <p:cNvPr id="4783" name="Text 25"/>
          <p:cNvSpPr/>
          <p:nvPr/>
        </p:nvSpPr>
        <p:spPr>
          <a:xfrm>
            <a:off x="8880480" y="2267640"/>
            <a:ext cx="2460240" cy="5025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500" strike="noStrike" u="none">
                <a:solidFill>
                  <a:srgbClr val="1e2420"/>
                </a:solidFill>
                <a:effectLst/>
                <a:uFillTx/>
                <a:latin typeface="Calibri"/>
                <a:ea typeface="Calibri"/>
              </a:rPr>
              <a:t>From data to supplier action</a:t>
            </a:r>
            <a:endParaRPr b="0" lang="en-US" sz="1500" strike="noStrike" u="none">
              <a:solidFill>
                <a:srgbClr val="000000"/>
              </a:solidFill>
              <a:effectLst/>
              <a:uFillTx/>
              <a:latin typeface="Arial"/>
            </a:endParaRPr>
          </a:p>
        </p:txBody>
      </p:sp>
      <p:sp>
        <p:nvSpPr>
          <p:cNvPr id="4784" name="Text 26"/>
          <p:cNvSpPr/>
          <p:nvPr/>
        </p:nvSpPr>
        <p:spPr>
          <a:xfrm>
            <a:off x="8331840" y="2862000"/>
            <a:ext cx="3008880" cy="7768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Sponsor decision support turns collected data into evidenced decarbonisation the board can stand behind.</a:t>
            </a:r>
            <a:endParaRPr b="0" lang="en-US" sz="1100" strike="noStrike" u="none">
              <a:solidFill>
                <a:srgbClr val="000000"/>
              </a:solidFill>
              <a:effectLst/>
              <a:uFillTx/>
              <a:latin typeface="Arial"/>
            </a:endParaRPr>
          </a:p>
        </p:txBody>
      </p:sp>
      <p:sp>
        <p:nvSpPr>
          <p:cNvPr id="4785" name="Text 27"/>
          <p:cNvSpPr/>
          <p:nvPr/>
        </p:nvSpPr>
        <p:spPr>
          <a:xfrm>
            <a:off x="8331840" y="3684960"/>
            <a:ext cx="3008880" cy="2395440"/>
          </a:xfrm>
          <a:prstGeom prst="rect">
            <a:avLst/>
          </a:prstGeom>
          <a:noFill/>
          <a:ln w="0">
            <a:noFill/>
          </a:ln>
        </p:spPr>
        <p:style>
          <a:lnRef idx="0"/>
          <a:fillRef idx="0"/>
          <a:effectRef idx="0"/>
          <a:fontRef idx="minor"/>
        </p:style>
        <p:txBody>
          <a:bodyPr lIns="0" rIns="0" tIns="0" bIns="0" anchor="t">
            <a:normAutofit/>
          </a:bodyPr>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Sponsor decision support and supplier transparency</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Guided supplier decarbonisation actions</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Supply chain and climate risk integration</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ESG reporting and compliance integration</a:t>
            </a:r>
            <a:endParaRPr b="0" lang="en-US" sz="1100" strike="noStrike" u="none">
              <a:solidFill>
                <a:srgbClr val="000000"/>
              </a:solidFill>
              <a:effectLst/>
              <a:uFillTx/>
              <a:latin typeface="Arial"/>
            </a:endParaRPr>
          </a:p>
        </p:txBody>
      </p:sp>
      <p:sp>
        <p:nvSpPr>
          <p:cNvPr id="4786" name="Shape 28"/>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787" name="Text 29"/>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4788" name="Text 30"/>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4789" name="PlaceHolder 1"/>
          <p:cNvSpPr>
            <a:spLocks noGrp="1"/>
          </p:cNvSpPr>
          <p:nvPr>
            <p:ph type="sldNum" idx="103"/>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4A67EECF-399E-4635-B347-564972A95E01}"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790"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4791"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4792" name="Shape 2"/>
          <p:cNvSpPr/>
          <p:nvPr/>
        </p:nvSpPr>
        <p:spPr>
          <a:xfrm>
            <a:off x="621720" y="311040"/>
            <a:ext cx="144900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93" name="Text 3"/>
          <p:cNvSpPr/>
          <p:nvPr/>
        </p:nvSpPr>
        <p:spPr>
          <a:xfrm>
            <a:off x="804600" y="329040"/>
            <a:ext cx="111996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2027 BETS</a:t>
            </a:r>
            <a:endParaRPr b="0" lang="en-US" sz="950" strike="noStrike" u="none">
              <a:solidFill>
                <a:srgbClr val="000000"/>
              </a:solidFill>
              <a:effectLst/>
              <a:uFillTx/>
              <a:latin typeface="Arial"/>
            </a:endParaRPr>
          </a:p>
        </p:txBody>
      </p:sp>
      <p:sp>
        <p:nvSpPr>
          <p:cNvPr id="4794"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Where Reporting and Compliance goes next</a:t>
            </a:r>
            <a:endParaRPr b="0" lang="en-US" sz="3200" strike="noStrike" u="none">
              <a:solidFill>
                <a:srgbClr val="000000"/>
              </a:solidFill>
              <a:effectLst/>
              <a:uFillTx/>
              <a:latin typeface="Arial"/>
            </a:endParaRPr>
          </a:p>
        </p:txBody>
      </p:sp>
      <p:sp>
        <p:nvSpPr>
          <p:cNvPr id="4795"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Direction for the year, expressed as three bets rather than a list of features.</a:t>
            </a:r>
            <a:endParaRPr b="0" lang="en-US" sz="1250" strike="noStrike" u="none">
              <a:solidFill>
                <a:srgbClr val="000000"/>
              </a:solidFill>
              <a:effectLst/>
              <a:uFillTx/>
              <a:latin typeface="Arial"/>
            </a:endParaRPr>
          </a:p>
        </p:txBody>
      </p:sp>
      <p:sp>
        <p:nvSpPr>
          <p:cNvPr id="4796"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797" name="Shape 7"/>
          <p:cNvSpPr/>
          <p:nvPr/>
        </p:nvSpPr>
        <p:spPr>
          <a:xfrm>
            <a:off x="62172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98" name="Shape 8"/>
          <p:cNvSpPr/>
          <p:nvPr/>
        </p:nvSpPr>
        <p:spPr>
          <a:xfrm>
            <a:off x="621720" y="2084760"/>
            <a:ext cx="63720" cy="41785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799" name="Shape 9"/>
          <p:cNvSpPr/>
          <p:nvPr/>
        </p:nvSpPr>
        <p:spPr>
          <a:xfrm>
            <a:off x="868680" y="2286000"/>
            <a:ext cx="438480" cy="438480"/>
          </a:xfrm>
          <a:prstGeom prst="ellipse">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800" name="Text 10"/>
          <p:cNvSpPr/>
          <p:nvPr/>
        </p:nvSpPr>
        <p:spPr>
          <a:xfrm>
            <a:off x="868680" y="2286000"/>
            <a:ext cx="43848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007a27"/>
                </a:solidFill>
                <a:effectLst/>
                <a:uFillTx/>
                <a:latin typeface="Calibri"/>
                <a:ea typeface="Calibri"/>
              </a:rPr>
              <a:t>01</a:t>
            </a:r>
            <a:endParaRPr b="0" lang="en-US" sz="1200" strike="noStrike" u="none">
              <a:solidFill>
                <a:srgbClr val="000000"/>
              </a:solidFill>
              <a:effectLst/>
              <a:uFillTx/>
              <a:latin typeface="Arial"/>
            </a:endParaRPr>
          </a:p>
        </p:txBody>
      </p:sp>
      <p:sp>
        <p:nvSpPr>
          <p:cNvPr id="4801" name="Text 11"/>
          <p:cNvSpPr/>
          <p:nvPr/>
        </p:nvSpPr>
        <p:spPr>
          <a:xfrm>
            <a:off x="1398960" y="2267640"/>
            <a:ext cx="2460240" cy="5025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500" strike="noStrike" u="none">
                <a:solidFill>
                  <a:srgbClr val="1e2420"/>
                </a:solidFill>
                <a:effectLst/>
                <a:uFillTx/>
                <a:latin typeface="Calibri"/>
                <a:ea typeface="Calibri"/>
              </a:rPr>
              <a:t>Complete the SE migration</a:t>
            </a:r>
            <a:endParaRPr b="0" lang="en-US" sz="1500" strike="noStrike" u="none">
              <a:solidFill>
                <a:srgbClr val="000000"/>
              </a:solidFill>
              <a:effectLst/>
              <a:uFillTx/>
              <a:latin typeface="Arial"/>
            </a:endParaRPr>
          </a:p>
        </p:txBody>
      </p:sp>
      <p:sp>
        <p:nvSpPr>
          <p:cNvPr id="4802" name="Text 12"/>
          <p:cNvSpPr/>
          <p:nvPr/>
        </p:nvSpPr>
        <p:spPr>
          <a:xfrm>
            <a:off x="850320" y="2862000"/>
            <a:ext cx="3008880" cy="7768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Corporate SE runs its Q1 2027 CSRD cycle in RA+, which is the proof point that retires RA Classic for good.</a:t>
            </a:r>
            <a:endParaRPr b="0" lang="en-US" sz="1100" strike="noStrike" u="none">
              <a:solidFill>
                <a:srgbClr val="000000"/>
              </a:solidFill>
              <a:effectLst/>
              <a:uFillTx/>
              <a:latin typeface="Arial"/>
            </a:endParaRPr>
          </a:p>
        </p:txBody>
      </p:sp>
      <p:sp>
        <p:nvSpPr>
          <p:cNvPr id="4803" name="Text 13"/>
          <p:cNvSpPr/>
          <p:nvPr/>
        </p:nvSpPr>
        <p:spPr>
          <a:xfrm>
            <a:off x="850320" y="3684960"/>
            <a:ext cx="3008880" cy="2395440"/>
          </a:xfrm>
          <a:prstGeom prst="rect">
            <a:avLst/>
          </a:prstGeom>
          <a:noFill/>
          <a:ln w="0">
            <a:noFill/>
          </a:ln>
        </p:spPr>
        <p:style>
          <a:lnRef idx="0"/>
          <a:fillRef idx="0"/>
          <a:effectRef idx="0"/>
          <a:fontRef idx="minor"/>
        </p:style>
        <p:txBody>
          <a:bodyPr lIns="0" rIns="0" tIns="0" bIns="0" anchor="t">
            <a:normAutofit/>
          </a:bodyPr>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Corporate SE fully migrated off RA Classic</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Historical data migrated and reconciled</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Audit ready disclosures produced in product</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Advanced campaign management</a:t>
            </a:r>
            <a:endParaRPr b="0" lang="en-US" sz="1100" strike="noStrike" u="none">
              <a:solidFill>
                <a:srgbClr val="000000"/>
              </a:solidFill>
              <a:effectLst/>
              <a:uFillTx/>
              <a:latin typeface="Arial"/>
            </a:endParaRPr>
          </a:p>
        </p:txBody>
      </p:sp>
      <p:sp>
        <p:nvSpPr>
          <p:cNvPr id="4804" name="Shape 14"/>
          <p:cNvSpPr/>
          <p:nvPr/>
        </p:nvSpPr>
        <p:spPr>
          <a:xfrm>
            <a:off x="436248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805" name="Shape 15"/>
          <p:cNvSpPr/>
          <p:nvPr/>
        </p:nvSpPr>
        <p:spPr>
          <a:xfrm>
            <a:off x="4362480" y="2084760"/>
            <a:ext cx="63720" cy="41785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806" name="Shape 16"/>
          <p:cNvSpPr/>
          <p:nvPr/>
        </p:nvSpPr>
        <p:spPr>
          <a:xfrm>
            <a:off x="4609440" y="2286000"/>
            <a:ext cx="438480" cy="438480"/>
          </a:xfrm>
          <a:prstGeom prst="ellipse">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807" name="Text 17"/>
          <p:cNvSpPr/>
          <p:nvPr/>
        </p:nvSpPr>
        <p:spPr>
          <a:xfrm>
            <a:off x="4609440" y="2286000"/>
            <a:ext cx="43848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007a27"/>
                </a:solidFill>
                <a:effectLst/>
                <a:uFillTx/>
                <a:latin typeface="Calibri"/>
                <a:ea typeface="Calibri"/>
              </a:rPr>
              <a:t>02</a:t>
            </a:r>
            <a:endParaRPr b="0" lang="en-US" sz="1200" strike="noStrike" u="none">
              <a:solidFill>
                <a:srgbClr val="000000"/>
              </a:solidFill>
              <a:effectLst/>
              <a:uFillTx/>
              <a:latin typeface="Arial"/>
            </a:endParaRPr>
          </a:p>
        </p:txBody>
      </p:sp>
      <p:sp>
        <p:nvSpPr>
          <p:cNvPr id="4808" name="Text 18"/>
          <p:cNvSpPr/>
          <p:nvPr/>
        </p:nvSpPr>
        <p:spPr>
          <a:xfrm>
            <a:off x="5139720" y="2267640"/>
            <a:ext cx="2460240" cy="5025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500" strike="noStrike" u="none">
                <a:solidFill>
                  <a:srgbClr val="1e2420"/>
                </a:solidFill>
                <a:effectLst/>
                <a:uFillTx/>
                <a:latin typeface="Calibri"/>
                <a:ea typeface="Calibri"/>
              </a:rPr>
              <a:t>AI assisted disclosure</a:t>
            </a:r>
            <a:endParaRPr b="0" lang="en-US" sz="1500" strike="noStrike" u="none">
              <a:solidFill>
                <a:srgbClr val="000000"/>
              </a:solidFill>
              <a:effectLst/>
              <a:uFillTx/>
              <a:latin typeface="Arial"/>
            </a:endParaRPr>
          </a:p>
        </p:txBody>
      </p:sp>
      <p:sp>
        <p:nvSpPr>
          <p:cNvPr id="4809" name="Text 19"/>
          <p:cNvSpPr/>
          <p:nvPr/>
        </p:nvSpPr>
        <p:spPr>
          <a:xfrm>
            <a:off x="4591080" y="2862000"/>
            <a:ext cx="3008880" cy="7768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Drafting, mapping and analytics compress the cost of every reporting cycle and widen what one team can cover.</a:t>
            </a:r>
            <a:endParaRPr b="0" lang="en-US" sz="1100" strike="noStrike" u="none">
              <a:solidFill>
                <a:srgbClr val="000000"/>
              </a:solidFill>
              <a:effectLst/>
              <a:uFillTx/>
              <a:latin typeface="Arial"/>
            </a:endParaRPr>
          </a:p>
        </p:txBody>
      </p:sp>
      <p:sp>
        <p:nvSpPr>
          <p:cNvPr id="4810" name="Text 20"/>
          <p:cNvSpPr/>
          <p:nvPr/>
        </p:nvSpPr>
        <p:spPr>
          <a:xfrm>
            <a:off x="4591080" y="3684960"/>
            <a:ext cx="3008880" cy="2395440"/>
          </a:xfrm>
          <a:prstGeom prst="rect">
            <a:avLst/>
          </a:prstGeom>
          <a:noFill/>
          <a:ln w="0">
            <a:noFill/>
          </a:ln>
        </p:spPr>
        <p:style>
          <a:lnRef idx="0"/>
          <a:fillRef idx="0"/>
          <a:effectRef idx="0"/>
          <a:fontRef idx="minor"/>
        </p:style>
        <p:txBody>
          <a:bodyPr lIns="0" rIns="0" tIns="0" bIns="0" anchor="t">
            <a:normAutofit/>
          </a:bodyPr>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Governed disclosure authoring with AI drafting</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AI compliance intelligence and mapping suggestions</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Indicator performance analytics</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Approval hierarchies and bulk assignment</a:t>
            </a:r>
            <a:endParaRPr b="0" lang="en-US" sz="1100" strike="noStrike" u="none">
              <a:solidFill>
                <a:srgbClr val="000000"/>
              </a:solidFill>
              <a:effectLst/>
              <a:uFillTx/>
              <a:latin typeface="Arial"/>
            </a:endParaRPr>
          </a:p>
        </p:txBody>
      </p:sp>
      <p:sp>
        <p:nvSpPr>
          <p:cNvPr id="4811" name="Shape 21"/>
          <p:cNvSpPr/>
          <p:nvPr/>
        </p:nvSpPr>
        <p:spPr>
          <a:xfrm>
            <a:off x="810324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812" name="Shape 22"/>
          <p:cNvSpPr/>
          <p:nvPr/>
        </p:nvSpPr>
        <p:spPr>
          <a:xfrm>
            <a:off x="8103240" y="2084760"/>
            <a:ext cx="63720" cy="41785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813" name="Shape 23"/>
          <p:cNvSpPr/>
          <p:nvPr/>
        </p:nvSpPr>
        <p:spPr>
          <a:xfrm>
            <a:off x="8350200" y="2286000"/>
            <a:ext cx="438480" cy="438480"/>
          </a:xfrm>
          <a:prstGeom prst="ellipse">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814" name="Text 24"/>
          <p:cNvSpPr/>
          <p:nvPr/>
        </p:nvSpPr>
        <p:spPr>
          <a:xfrm>
            <a:off x="8350200" y="2286000"/>
            <a:ext cx="43848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007a27"/>
                </a:solidFill>
                <a:effectLst/>
                <a:uFillTx/>
                <a:latin typeface="Calibri"/>
                <a:ea typeface="Calibri"/>
              </a:rPr>
              <a:t>03</a:t>
            </a:r>
            <a:endParaRPr b="0" lang="en-US" sz="1200" strike="noStrike" u="none">
              <a:solidFill>
                <a:srgbClr val="000000"/>
              </a:solidFill>
              <a:effectLst/>
              <a:uFillTx/>
              <a:latin typeface="Arial"/>
            </a:endParaRPr>
          </a:p>
        </p:txBody>
      </p:sp>
      <p:sp>
        <p:nvSpPr>
          <p:cNvPr id="4815" name="Text 25"/>
          <p:cNvSpPr/>
          <p:nvPr/>
        </p:nvSpPr>
        <p:spPr>
          <a:xfrm>
            <a:off x="8880480" y="2267640"/>
            <a:ext cx="2460240" cy="5025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500" strike="noStrike" u="none">
                <a:solidFill>
                  <a:srgbClr val="1e2420"/>
                </a:solidFill>
                <a:effectLst/>
                <a:uFillTx/>
                <a:latin typeface="Calibri"/>
                <a:ea typeface="Calibri"/>
              </a:rPr>
              <a:t>The disclosure hub for RA+</a:t>
            </a:r>
            <a:endParaRPr b="0" lang="en-US" sz="1500" strike="noStrike" u="none">
              <a:solidFill>
                <a:srgbClr val="000000"/>
              </a:solidFill>
              <a:effectLst/>
              <a:uFillTx/>
              <a:latin typeface="Arial"/>
            </a:endParaRPr>
          </a:p>
        </p:txBody>
      </p:sp>
      <p:sp>
        <p:nvSpPr>
          <p:cNvPr id="4816" name="Text 26"/>
          <p:cNvSpPr/>
          <p:nvPr/>
        </p:nvSpPr>
        <p:spPr>
          <a:xfrm>
            <a:off x="8331840" y="2862000"/>
            <a:ext cx="3008880" cy="7768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Every product feeds its evidence into R&amp;C, so disclosure becomes the reason the platform holds together.</a:t>
            </a:r>
            <a:endParaRPr b="0" lang="en-US" sz="1100" strike="noStrike" u="none">
              <a:solidFill>
                <a:srgbClr val="000000"/>
              </a:solidFill>
              <a:effectLst/>
              <a:uFillTx/>
              <a:latin typeface="Arial"/>
            </a:endParaRPr>
          </a:p>
        </p:txBody>
      </p:sp>
      <p:sp>
        <p:nvSpPr>
          <p:cNvPr id="4817" name="Text 27"/>
          <p:cNvSpPr/>
          <p:nvPr/>
        </p:nvSpPr>
        <p:spPr>
          <a:xfrm>
            <a:off x="8331840" y="3684960"/>
            <a:ext cx="3008880" cy="2395440"/>
          </a:xfrm>
          <a:prstGeom prst="rect">
            <a:avLst/>
          </a:prstGeom>
          <a:noFill/>
          <a:ln w="0">
            <a:noFill/>
          </a:ln>
        </p:spPr>
        <p:style>
          <a:lnRef idx="0"/>
          <a:fillRef idx="0"/>
          <a:effectRef idx="0"/>
          <a:fontRef idx="minor"/>
        </p:style>
        <p:txBody>
          <a:bodyPr lIns="0" rIns="0" tIns="0" bIns="0" anchor="t">
            <a:normAutofit/>
          </a:bodyPr>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CP emissions and CR risk feeding disclosures</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External assurance and auditor experience</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Voluntary frameworks: GRI, SASB, GRESB, EcoVadis</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Data receiver from every product to facilitate disclosure</a:t>
            </a:r>
            <a:endParaRPr b="0" lang="en-US" sz="1100" strike="noStrike" u="none">
              <a:solidFill>
                <a:srgbClr val="000000"/>
              </a:solidFill>
              <a:effectLst/>
              <a:uFillTx/>
              <a:latin typeface="Arial"/>
            </a:endParaRPr>
          </a:p>
        </p:txBody>
      </p:sp>
      <p:sp>
        <p:nvSpPr>
          <p:cNvPr id="4818" name="Shape 28"/>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819" name="Text 29"/>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4820" name="Text 30"/>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4821" name="PlaceHolder 1"/>
          <p:cNvSpPr>
            <a:spLocks noGrp="1"/>
          </p:cNvSpPr>
          <p:nvPr>
            <p:ph type="sldNum" idx="104"/>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F39DE7B2-DB12-4AD7-960C-8E3918298571}"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822"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4823"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4824" name="Shape 2"/>
          <p:cNvSpPr/>
          <p:nvPr/>
        </p:nvSpPr>
        <p:spPr>
          <a:xfrm>
            <a:off x="621720" y="311040"/>
            <a:ext cx="144900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825" name="Text 3"/>
          <p:cNvSpPr/>
          <p:nvPr/>
        </p:nvSpPr>
        <p:spPr>
          <a:xfrm>
            <a:off x="804600" y="329040"/>
            <a:ext cx="111996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2027 BETS</a:t>
            </a:r>
            <a:endParaRPr b="0" lang="en-US" sz="950" strike="noStrike" u="none">
              <a:solidFill>
                <a:srgbClr val="000000"/>
              </a:solidFill>
              <a:effectLst/>
              <a:uFillTx/>
              <a:latin typeface="Arial"/>
            </a:endParaRPr>
          </a:p>
        </p:txBody>
      </p:sp>
      <p:sp>
        <p:nvSpPr>
          <p:cNvPr id="4826"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Where Climate Risk goes next</a:t>
            </a:r>
            <a:endParaRPr b="0" lang="en-US" sz="3200" strike="noStrike" u="none">
              <a:solidFill>
                <a:srgbClr val="000000"/>
              </a:solidFill>
              <a:effectLst/>
              <a:uFillTx/>
              <a:latin typeface="Arial"/>
            </a:endParaRPr>
          </a:p>
        </p:txBody>
      </p:sp>
      <p:sp>
        <p:nvSpPr>
          <p:cNvPr id="4827"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Direction for the year, expressed as three bets rather than a list of features.</a:t>
            </a:r>
            <a:endParaRPr b="0" lang="en-US" sz="1250" strike="noStrike" u="none">
              <a:solidFill>
                <a:srgbClr val="000000"/>
              </a:solidFill>
              <a:effectLst/>
              <a:uFillTx/>
              <a:latin typeface="Arial"/>
            </a:endParaRPr>
          </a:p>
        </p:txBody>
      </p:sp>
      <p:sp>
        <p:nvSpPr>
          <p:cNvPr id="4828"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829" name="Shape 7"/>
          <p:cNvSpPr/>
          <p:nvPr/>
        </p:nvSpPr>
        <p:spPr>
          <a:xfrm>
            <a:off x="62172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830" name="Shape 8"/>
          <p:cNvSpPr/>
          <p:nvPr/>
        </p:nvSpPr>
        <p:spPr>
          <a:xfrm>
            <a:off x="621720" y="2084760"/>
            <a:ext cx="63720" cy="41785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831" name="Shape 9"/>
          <p:cNvSpPr/>
          <p:nvPr/>
        </p:nvSpPr>
        <p:spPr>
          <a:xfrm>
            <a:off x="868680" y="2286000"/>
            <a:ext cx="438480" cy="438480"/>
          </a:xfrm>
          <a:prstGeom prst="ellipse">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832" name="Text 10"/>
          <p:cNvSpPr/>
          <p:nvPr/>
        </p:nvSpPr>
        <p:spPr>
          <a:xfrm>
            <a:off x="868680" y="2286000"/>
            <a:ext cx="43848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007a27"/>
                </a:solidFill>
                <a:effectLst/>
                <a:uFillTx/>
                <a:latin typeface="Calibri"/>
                <a:ea typeface="Calibri"/>
              </a:rPr>
              <a:t>01</a:t>
            </a:r>
            <a:endParaRPr b="0" lang="en-US" sz="1200" strike="noStrike" u="none">
              <a:solidFill>
                <a:srgbClr val="000000"/>
              </a:solidFill>
              <a:effectLst/>
              <a:uFillTx/>
              <a:latin typeface="Arial"/>
            </a:endParaRPr>
          </a:p>
        </p:txBody>
      </p:sp>
      <p:sp>
        <p:nvSpPr>
          <p:cNvPr id="4833" name="Text 11"/>
          <p:cNvSpPr/>
          <p:nvPr/>
        </p:nvSpPr>
        <p:spPr>
          <a:xfrm>
            <a:off x="1398960" y="2267640"/>
            <a:ext cx="2460240" cy="5025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500" strike="noStrike" u="none">
                <a:solidFill>
                  <a:srgbClr val="1e2420"/>
                </a:solidFill>
                <a:effectLst/>
                <a:uFillTx/>
                <a:latin typeface="Calibri"/>
                <a:ea typeface="Calibri"/>
              </a:rPr>
              <a:t>Price the risk</a:t>
            </a:r>
            <a:endParaRPr b="0" lang="en-US" sz="1500" strike="noStrike" u="none">
              <a:solidFill>
                <a:srgbClr val="000000"/>
              </a:solidFill>
              <a:effectLst/>
              <a:uFillTx/>
              <a:latin typeface="Arial"/>
            </a:endParaRPr>
          </a:p>
        </p:txBody>
      </p:sp>
      <p:sp>
        <p:nvSpPr>
          <p:cNvPr id="4834" name="Text 12"/>
          <p:cNvSpPr/>
          <p:nvPr/>
        </p:nvSpPr>
        <p:spPr>
          <a:xfrm>
            <a:off x="850320" y="2862000"/>
            <a:ext cx="3008880" cy="7768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ClimVar turns exposure into financial value at risk, the language the CFO and the board actually trade in.</a:t>
            </a:r>
            <a:endParaRPr b="0" lang="en-US" sz="1100" strike="noStrike" u="none">
              <a:solidFill>
                <a:srgbClr val="000000"/>
              </a:solidFill>
              <a:effectLst/>
              <a:uFillTx/>
              <a:latin typeface="Arial"/>
            </a:endParaRPr>
          </a:p>
        </p:txBody>
      </p:sp>
      <p:sp>
        <p:nvSpPr>
          <p:cNvPr id="4835" name="Text 13"/>
          <p:cNvSpPr/>
          <p:nvPr/>
        </p:nvSpPr>
        <p:spPr>
          <a:xfrm>
            <a:off x="850320" y="3684960"/>
            <a:ext cx="3008880" cy="2395440"/>
          </a:xfrm>
          <a:prstGeom prst="rect">
            <a:avLst/>
          </a:prstGeom>
          <a:noFill/>
          <a:ln w="0">
            <a:noFill/>
          </a:ln>
        </p:spPr>
        <p:style>
          <a:lnRef idx="0"/>
          <a:fillRef idx="0"/>
          <a:effectRef idx="0"/>
          <a:fontRef idx="minor"/>
        </p:style>
        <p:txBody>
          <a:bodyPr lIns="0" rIns="0" tIns="0" bIns="0" anchor="t">
            <a:normAutofit/>
          </a:bodyPr>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ClimVar - Value at Risk, expressed in financial terms</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Physical and transition scenario analysis</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Portfolio level risk analytics and heatmaps</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Transition plan modelling linked to targets</a:t>
            </a:r>
            <a:endParaRPr b="0" lang="en-US" sz="1100" strike="noStrike" u="none">
              <a:solidFill>
                <a:srgbClr val="000000"/>
              </a:solidFill>
              <a:effectLst/>
              <a:uFillTx/>
              <a:latin typeface="Arial"/>
            </a:endParaRPr>
          </a:p>
        </p:txBody>
      </p:sp>
      <p:sp>
        <p:nvSpPr>
          <p:cNvPr id="4836" name="Shape 14"/>
          <p:cNvSpPr/>
          <p:nvPr/>
        </p:nvSpPr>
        <p:spPr>
          <a:xfrm>
            <a:off x="436248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837" name="Shape 15"/>
          <p:cNvSpPr/>
          <p:nvPr/>
        </p:nvSpPr>
        <p:spPr>
          <a:xfrm>
            <a:off x="4362480" y="2084760"/>
            <a:ext cx="63720" cy="41785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838" name="Shape 16"/>
          <p:cNvSpPr/>
          <p:nvPr/>
        </p:nvSpPr>
        <p:spPr>
          <a:xfrm>
            <a:off x="4609440" y="2286000"/>
            <a:ext cx="438480" cy="438480"/>
          </a:xfrm>
          <a:prstGeom prst="ellipse">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839" name="Text 17"/>
          <p:cNvSpPr/>
          <p:nvPr/>
        </p:nvSpPr>
        <p:spPr>
          <a:xfrm>
            <a:off x="4609440" y="2286000"/>
            <a:ext cx="43848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007a27"/>
                </a:solidFill>
                <a:effectLst/>
                <a:uFillTx/>
                <a:latin typeface="Calibri"/>
                <a:ea typeface="Calibri"/>
              </a:rPr>
              <a:t>02</a:t>
            </a:r>
            <a:endParaRPr b="0" lang="en-US" sz="1200" strike="noStrike" u="none">
              <a:solidFill>
                <a:srgbClr val="000000"/>
              </a:solidFill>
              <a:effectLst/>
              <a:uFillTx/>
              <a:latin typeface="Arial"/>
            </a:endParaRPr>
          </a:p>
        </p:txBody>
      </p:sp>
      <p:sp>
        <p:nvSpPr>
          <p:cNvPr id="4840" name="Text 18"/>
          <p:cNvSpPr/>
          <p:nvPr/>
        </p:nvSpPr>
        <p:spPr>
          <a:xfrm>
            <a:off x="5139720" y="2267640"/>
            <a:ext cx="2460240" cy="5025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500" strike="noStrike" u="none">
                <a:solidFill>
                  <a:srgbClr val="1e2420"/>
                </a:solidFill>
                <a:effectLst/>
                <a:uFillTx/>
                <a:latin typeface="Calibri"/>
                <a:ea typeface="Calibri"/>
              </a:rPr>
              <a:t>From risk to funded adaptation</a:t>
            </a:r>
            <a:endParaRPr b="0" lang="en-US" sz="1500" strike="noStrike" u="none">
              <a:solidFill>
                <a:srgbClr val="000000"/>
              </a:solidFill>
              <a:effectLst/>
              <a:uFillTx/>
              <a:latin typeface="Arial"/>
            </a:endParaRPr>
          </a:p>
        </p:txBody>
      </p:sp>
      <p:sp>
        <p:nvSpPr>
          <p:cNvPr id="4841" name="Text 19"/>
          <p:cNvSpPr/>
          <p:nvPr/>
        </p:nvSpPr>
        <p:spPr>
          <a:xfrm>
            <a:off x="4591080" y="2862000"/>
            <a:ext cx="3008880" cy="7768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Scenarios convert into tracked adaptation actions with monthly actuals, not reports that sit on a shelf.</a:t>
            </a:r>
            <a:endParaRPr b="0" lang="en-US" sz="1100" strike="noStrike" u="none">
              <a:solidFill>
                <a:srgbClr val="000000"/>
              </a:solidFill>
              <a:effectLst/>
              <a:uFillTx/>
              <a:latin typeface="Arial"/>
            </a:endParaRPr>
          </a:p>
        </p:txBody>
      </p:sp>
      <p:sp>
        <p:nvSpPr>
          <p:cNvPr id="4842" name="Text 20"/>
          <p:cNvSpPr/>
          <p:nvPr/>
        </p:nvSpPr>
        <p:spPr>
          <a:xfrm>
            <a:off x="4591080" y="3684960"/>
            <a:ext cx="3008880" cy="2395440"/>
          </a:xfrm>
          <a:prstGeom prst="rect">
            <a:avLst/>
          </a:prstGeom>
          <a:noFill/>
          <a:ln w="0">
            <a:noFill/>
          </a:ln>
        </p:spPr>
        <p:style>
          <a:lnRef idx="0"/>
          <a:fillRef idx="0"/>
          <a:effectRef idx="0"/>
          <a:fontRef idx="minor"/>
        </p:style>
        <p:txBody>
          <a:bodyPr lIns="0" rIns="0" tIns="0" bIns="0" anchor="t">
            <a:normAutofit/>
          </a:bodyPr>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Adaptation planning primitives with Strategy</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Adaptation actions tracked with monthly actuals</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Value at risk, scenario analysis and adaptation actions</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Decision grade analysis at portfolio volumes</a:t>
            </a:r>
            <a:endParaRPr b="0" lang="en-US" sz="1100" strike="noStrike" u="none">
              <a:solidFill>
                <a:srgbClr val="000000"/>
              </a:solidFill>
              <a:effectLst/>
              <a:uFillTx/>
              <a:latin typeface="Arial"/>
            </a:endParaRPr>
          </a:p>
        </p:txBody>
      </p:sp>
      <p:sp>
        <p:nvSpPr>
          <p:cNvPr id="4843" name="Shape 21"/>
          <p:cNvSpPr/>
          <p:nvPr/>
        </p:nvSpPr>
        <p:spPr>
          <a:xfrm>
            <a:off x="810324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844" name="Shape 22"/>
          <p:cNvSpPr/>
          <p:nvPr/>
        </p:nvSpPr>
        <p:spPr>
          <a:xfrm>
            <a:off x="8103240" y="2084760"/>
            <a:ext cx="63720" cy="41785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845" name="Shape 23"/>
          <p:cNvSpPr/>
          <p:nvPr/>
        </p:nvSpPr>
        <p:spPr>
          <a:xfrm>
            <a:off x="8350200" y="2286000"/>
            <a:ext cx="438480" cy="438480"/>
          </a:xfrm>
          <a:prstGeom prst="ellipse">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846" name="Text 24"/>
          <p:cNvSpPr/>
          <p:nvPr/>
        </p:nvSpPr>
        <p:spPr>
          <a:xfrm>
            <a:off x="8350200" y="2286000"/>
            <a:ext cx="43848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007a27"/>
                </a:solidFill>
                <a:effectLst/>
                <a:uFillTx/>
                <a:latin typeface="Calibri"/>
                <a:ea typeface="Calibri"/>
              </a:rPr>
              <a:t>03</a:t>
            </a:r>
            <a:endParaRPr b="0" lang="en-US" sz="1200" strike="noStrike" u="none">
              <a:solidFill>
                <a:srgbClr val="000000"/>
              </a:solidFill>
              <a:effectLst/>
              <a:uFillTx/>
              <a:latin typeface="Arial"/>
            </a:endParaRPr>
          </a:p>
        </p:txBody>
      </p:sp>
      <p:sp>
        <p:nvSpPr>
          <p:cNvPr id="4847" name="Text 25"/>
          <p:cNvSpPr/>
          <p:nvPr/>
        </p:nvSpPr>
        <p:spPr>
          <a:xfrm>
            <a:off x="8880480" y="2267640"/>
            <a:ext cx="2460240" cy="5025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500" strike="noStrike" u="none">
                <a:solidFill>
                  <a:srgbClr val="1e2420"/>
                </a:solidFill>
                <a:effectLst/>
                <a:uFillTx/>
                <a:latin typeface="Calibri"/>
                <a:ea typeface="Calibri"/>
              </a:rPr>
              <a:t>Risk beyond owned assets</a:t>
            </a:r>
            <a:endParaRPr b="0" lang="en-US" sz="1500" strike="noStrike" u="none">
              <a:solidFill>
                <a:srgbClr val="000000"/>
              </a:solidFill>
              <a:effectLst/>
              <a:uFillTx/>
              <a:latin typeface="Arial"/>
            </a:endParaRPr>
          </a:p>
        </p:txBody>
      </p:sp>
      <p:sp>
        <p:nvSpPr>
          <p:cNvPr id="4848" name="Text 26"/>
          <p:cNvSpPr/>
          <p:nvPr/>
        </p:nvSpPr>
        <p:spPr>
          <a:xfrm>
            <a:off x="8331840" y="2862000"/>
            <a:ext cx="3008880" cy="7768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The model extends into the value chain and into disclosures, so risk stops being a standalone exercise.</a:t>
            </a:r>
            <a:endParaRPr b="0" lang="en-US" sz="1100" strike="noStrike" u="none">
              <a:solidFill>
                <a:srgbClr val="000000"/>
              </a:solidFill>
              <a:effectLst/>
              <a:uFillTx/>
              <a:latin typeface="Arial"/>
            </a:endParaRPr>
          </a:p>
        </p:txBody>
      </p:sp>
      <p:sp>
        <p:nvSpPr>
          <p:cNvPr id="4849" name="Text 27"/>
          <p:cNvSpPr/>
          <p:nvPr/>
        </p:nvSpPr>
        <p:spPr>
          <a:xfrm>
            <a:off x="8331840" y="3684960"/>
            <a:ext cx="3008880" cy="2395440"/>
          </a:xfrm>
          <a:prstGeom prst="rect">
            <a:avLst/>
          </a:prstGeom>
          <a:noFill/>
          <a:ln w="0">
            <a:noFill/>
          </a:ln>
        </p:spPr>
        <p:style>
          <a:lnRef idx="0"/>
          <a:fillRef idx="0"/>
          <a:effectRef idx="0"/>
          <a:fontRef idx="minor"/>
        </p:style>
        <p:txBody>
          <a:bodyPr lIns="0" rIns="0" tIns="0" bIns="0" anchor="t">
            <a:normAutofit/>
          </a:bodyPr>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Supply chain and climate risk integration</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Value at risk across the extended value chain</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Risk data flowing into R&amp;C disclosures</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Risk data turned into financial values for disclosure</a:t>
            </a:r>
            <a:endParaRPr b="0" lang="en-US" sz="1100" strike="noStrike" u="none">
              <a:solidFill>
                <a:srgbClr val="000000"/>
              </a:solidFill>
              <a:effectLst/>
              <a:uFillTx/>
              <a:latin typeface="Arial"/>
            </a:endParaRPr>
          </a:p>
        </p:txBody>
      </p:sp>
      <p:sp>
        <p:nvSpPr>
          <p:cNvPr id="4850" name="Shape 28"/>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851" name="Text 29"/>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4852" name="Text 30"/>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4853" name="PlaceHolder 1"/>
          <p:cNvSpPr>
            <a:spLocks noGrp="1"/>
          </p:cNvSpPr>
          <p:nvPr>
            <p:ph type="sldNum" idx="105"/>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5BCF0A23-5BE3-46B1-AE6E-D0B2800FD388}"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854"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4855"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4856" name="Shape 2"/>
          <p:cNvSpPr/>
          <p:nvPr/>
        </p:nvSpPr>
        <p:spPr>
          <a:xfrm>
            <a:off x="621720" y="311040"/>
            <a:ext cx="144900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857" name="Text 3"/>
          <p:cNvSpPr/>
          <p:nvPr/>
        </p:nvSpPr>
        <p:spPr>
          <a:xfrm>
            <a:off x="804600" y="329040"/>
            <a:ext cx="111996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2027 BETS</a:t>
            </a:r>
            <a:endParaRPr b="0" lang="en-US" sz="950" strike="noStrike" u="none">
              <a:solidFill>
                <a:srgbClr val="000000"/>
              </a:solidFill>
              <a:effectLst/>
              <a:uFillTx/>
              <a:latin typeface="Arial"/>
            </a:endParaRPr>
          </a:p>
        </p:txBody>
      </p:sp>
      <p:sp>
        <p:nvSpPr>
          <p:cNvPr id="4858"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Where the RA+ Platform goes next</a:t>
            </a:r>
            <a:endParaRPr b="0" lang="en-US" sz="3200" strike="noStrike" u="none">
              <a:solidFill>
                <a:srgbClr val="000000"/>
              </a:solidFill>
              <a:effectLst/>
              <a:uFillTx/>
              <a:latin typeface="Arial"/>
            </a:endParaRPr>
          </a:p>
        </p:txBody>
      </p:sp>
      <p:sp>
        <p:nvSpPr>
          <p:cNvPr id="4859"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Direction for the year, expressed as three bets that every product inherits.</a:t>
            </a:r>
            <a:endParaRPr b="0" lang="en-US" sz="1250" strike="noStrike" u="none">
              <a:solidFill>
                <a:srgbClr val="000000"/>
              </a:solidFill>
              <a:effectLst/>
              <a:uFillTx/>
              <a:latin typeface="Arial"/>
            </a:endParaRPr>
          </a:p>
        </p:txBody>
      </p:sp>
      <p:sp>
        <p:nvSpPr>
          <p:cNvPr id="4860"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861" name="Shape 7"/>
          <p:cNvSpPr/>
          <p:nvPr/>
        </p:nvSpPr>
        <p:spPr>
          <a:xfrm>
            <a:off x="62172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862" name="Shape 8"/>
          <p:cNvSpPr/>
          <p:nvPr/>
        </p:nvSpPr>
        <p:spPr>
          <a:xfrm>
            <a:off x="621720" y="2084760"/>
            <a:ext cx="63720" cy="41785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863" name="Shape 9"/>
          <p:cNvSpPr/>
          <p:nvPr/>
        </p:nvSpPr>
        <p:spPr>
          <a:xfrm>
            <a:off x="868680" y="2286000"/>
            <a:ext cx="438480" cy="438480"/>
          </a:xfrm>
          <a:prstGeom prst="ellipse">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864" name="Text 10"/>
          <p:cNvSpPr/>
          <p:nvPr/>
        </p:nvSpPr>
        <p:spPr>
          <a:xfrm>
            <a:off x="868680" y="2286000"/>
            <a:ext cx="43848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007a27"/>
                </a:solidFill>
                <a:effectLst/>
                <a:uFillTx/>
                <a:latin typeface="Calibri"/>
                <a:ea typeface="Calibri"/>
              </a:rPr>
              <a:t>01</a:t>
            </a:r>
            <a:endParaRPr b="0" lang="en-US" sz="1200" strike="noStrike" u="none">
              <a:solidFill>
                <a:srgbClr val="000000"/>
              </a:solidFill>
              <a:effectLst/>
              <a:uFillTx/>
              <a:latin typeface="Arial"/>
            </a:endParaRPr>
          </a:p>
        </p:txBody>
      </p:sp>
      <p:sp>
        <p:nvSpPr>
          <p:cNvPr id="4865" name="Text 11"/>
          <p:cNvSpPr/>
          <p:nvPr/>
        </p:nvSpPr>
        <p:spPr>
          <a:xfrm>
            <a:off x="1398960" y="2267640"/>
            <a:ext cx="2460240" cy="5025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500" strike="noStrike" u="none">
                <a:solidFill>
                  <a:srgbClr val="1e2420"/>
                </a:solidFill>
                <a:effectLst/>
                <a:uFillTx/>
                <a:latin typeface="Calibri"/>
                <a:ea typeface="Calibri"/>
              </a:rPr>
              <a:t>One trusted data backbone</a:t>
            </a:r>
            <a:endParaRPr b="0" lang="en-US" sz="1500" strike="noStrike" u="none">
              <a:solidFill>
                <a:srgbClr val="000000"/>
              </a:solidFill>
              <a:effectLst/>
              <a:uFillTx/>
              <a:latin typeface="Arial"/>
            </a:endParaRPr>
          </a:p>
        </p:txBody>
      </p:sp>
      <p:sp>
        <p:nvSpPr>
          <p:cNvPr id="4866" name="Text 12"/>
          <p:cNvSpPr/>
          <p:nvPr/>
        </p:nvSpPr>
        <p:spPr>
          <a:xfrm>
            <a:off x="850320" y="2862000"/>
            <a:ext cx="3008880" cy="7768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Ingestion, quality and ontology are built once so Carbon Performance, Supply Chain, Reporting and Climate Risk all consume the same source of truth.</a:t>
            </a:r>
            <a:endParaRPr b="0" lang="en-US" sz="1100" strike="noStrike" u="none">
              <a:solidFill>
                <a:srgbClr val="000000"/>
              </a:solidFill>
              <a:effectLst/>
              <a:uFillTx/>
              <a:latin typeface="Arial"/>
            </a:endParaRPr>
          </a:p>
        </p:txBody>
      </p:sp>
      <p:sp>
        <p:nvSpPr>
          <p:cNvPr id="4867" name="Text 13"/>
          <p:cNvSpPr/>
          <p:nvPr/>
        </p:nvSpPr>
        <p:spPr>
          <a:xfrm>
            <a:off x="850320" y="3684960"/>
            <a:ext cx="3008880" cy="2395440"/>
          </a:xfrm>
          <a:prstGeom prst="rect">
            <a:avLst/>
          </a:prstGeom>
          <a:noFill/>
          <a:ln w="0">
            <a:noFill/>
          </a:ln>
        </p:spPr>
        <p:style>
          <a:lnRef idx="0"/>
          <a:fillRef idx="0"/>
          <a:effectRef idx="0"/>
          <a:fontRef idx="minor"/>
        </p:style>
        <p:txBody>
          <a:bodyPr lIns="0" rIns="0" tIns="0" bIns="0" anchor="t">
            <a:normAutofit/>
          </a:bodyPr>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Advanced data ingestion and transformation rules</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Data quality across the L0 to L4 lifecycle</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Control plane for tenant ontology governance</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Programmatic connectors and APIs</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Data receiver from every product to facilitate disclosure</a:t>
            </a:r>
            <a:endParaRPr b="0" lang="en-US" sz="1100" strike="noStrike" u="none">
              <a:solidFill>
                <a:srgbClr val="000000"/>
              </a:solidFill>
              <a:effectLst/>
              <a:uFillTx/>
              <a:latin typeface="Arial"/>
            </a:endParaRPr>
          </a:p>
        </p:txBody>
      </p:sp>
      <p:sp>
        <p:nvSpPr>
          <p:cNvPr id="4868" name="Shape 14"/>
          <p:cNvSpPr/>
          <p:nvPr/>
        </p:nvSpPr>
        <p:spPr>
          <a:xfrm>
            <a:off x="436248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869" name="Shape 15"/>
          <p:cNvSpPr/>
          <p:nvPr/>
        </p:nvSpPr>
        <p:spPr>
          <a:xfrm>
            <a:off x="4362480" y="2084760"/>
            <a:ext cx="63720" cy="41785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870" name="Shape 16"/>
          <p:cNvSpPr/>
          <p:nvPr/>
        </p:nvSpPr>
        <p:spPr>
          <a:xfrm>
            <a:off x="4609440" y="2286000"/>
            <a:ext cx="438480" cy="438480"/>
          </a:xfrm>
          <a:prstGeom prst="ellipse">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871" name="Text 17"/>
          <p:cNvSpPr/>
          <p:nvPr/>
        </p:nvSpPr>
        <p:spPr>
          <a:xfrm>
            <a:off x="4609440" y="2286000"/>
            <a:ext cx="43848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007a27"/>
                </a:solidFill>
                <a:effectLst/>
                <a:uFillTx/>
                <a:latin typeface="Calibri"/>
                <a:ea typeface="Calibri"/>
              </a:rPr>
              <a:t>02</a:t>
            </a:r>
            <a:endParaRPr b="0" lang="en-US" sz="1200" strike="noStrike" u="none">
              <a:solidFill>
                <a:srgbClr val="000000"/>
              </a:solidFill>
              <a:effectLst/>
              <a:uFillTx/>
              <a:latin typeface="Arial"/>
            </a:endParaRPr>
          </a:p>
        </p:txBody>
      </p:sp>
      <p:sp>
        <p:nvSpPr>
          <p:cNvPr id="4872" name="Text 18"/>
          <p:cNvSpPr/>
          <p:nvPr/>
        </p:nvSpPr>
        <p:spPr>
          <a:xfrm>
            <a:off x="5139720" y="2267640"/>
            <a:ext cx="2460240" cy="5025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500" strike="noStrike" u="none">
                <a:solidFill>
                  <a:srgbClr val="1e2420"/>
                </a:solidFill>
                <a:effectLst/>
                <a:uFillTx/>
                <a:latin typeface="Calibri"/>
                <a:ea typeface="Calibri"/>
              </a:rPr>
              <a:t>One calculation and trust engine</a:t>
            </a:r>
            <a:endParaRPr b="0" lang="en-US" sz="1500" strike="noStrike" u="none">
              <a:solidFill>
                <a:srgbClr val="000000"/>
              </a:solidFill>
              <a:effectLst/>
              <a:uFillTx/>
              <a:latin typeface="Arial"/>
            </a:endParaRPr>
          </a:p>
        </p:txBody>
      </p:sp>
      <p:sp>
        <p:nvSpPr>
          <p:cNvPr id="4873" name="Text 19"/>
          <p:cNvSpPr/>
          <p:nvPr/>
        </p:nvSpPr>
        <p:spPr>
          <a:xfrm>
            <a:off x="4591080" y="2862000"/>
            <a:ext cx="3008880" cy="7768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Calculations, allocations and lineage are governed centrally so every product's numbers are defensible and reproducible.</a:t>
            </a:r>
            <a:endParaRPr b="0" lang="en-US" sz="1100" strike="noStrike" u="none">
              <a:solidFill>
                <a:srgbClr val="000000"/>
              </a:solidFill>
              <a:effectLst/>
              <a:uFillTx/>
              <a:latin typeface="Arial"/>
            </a:endParaRPr>
          </a:p>
        </p:txBody>
      </p:sp>
      <p:sp>
        <p:nvSpPr>
          <p:cNvPr id="4874" name="Text 20"/>
          <p:cNvSpPr/>
          <p:nvPr/>
        </p:nvSpPr>
        <p:spPr>
          <a:xfrm>
            <a:off x="4591080" y="3684960"/>
            <a:ext cx="3008880" cy="2395440"/>
          </a:xfrm>
          <a:prstGeom prst="rect">
            <a:avLst/>
          </a:prstGeom>
          <a:noFill/>
          <a:ln w="0">
            <a:noFill/>
          </a:ln>
        </p:spPr>
        <p:style>
          <a:lnRef idx="0"/>
          <a:fillRef idx="0"/>
          <a:effectRef idx="0"/>
          <a:fontRef idx="minor"/>
        </p:style>
        <p:txBody>
          <a:bodyPr lIns="0" rIns="0" tIns="0" bIns="0" anchor="t">
            <a:normAutofit/>
          </a:bodyPr>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Calculation governance and versioning</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Allocations foundation</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Audit trail and data lineage on key values</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Automated regression testing on the engine</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Anomaly and consistency checks on aggregates</a:t>
            </a:r>
            <a:endParaRPr b="0" lang="en-US" sz="1100" strike="noStrike" u="none">
              <a:solidFill>
                <a:srgbClr val="000000"/>
              </a:solidFill>
              <a:effectLst/>
              <a:uFillTx/>
              <a:latin typeface="Arial"/>
            </a:endParaRPr>
          </a:p>
        </p:txBody>
      </p:sp>
      <p:sp>
        <p:nvSpPr>
          <p:cNvPr id="4875" name="Shape 21"/>
          <p:cNvSpPr/>
          <p:nvPr/>
        </p:nvSpPr>
        <p:spPr>
          <a:xfrm>
            <a:off x="8103240" y="2084760"/>
            <a:ext cx="3466080" cy="4178520"/>
          </a:xfrm>
          <a:prstGeom prst="roundRect">
            <a:avLst>
              <a:gd name="adj" fmla="val 1583"/>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876" name="Shape 22"/>
          <p:cNvSpPr/>
          <p:nvPr/>
        </p:nvSpPr>
        <p:spPr>
          <a:xfrm>
            <a:off x="8103240" y="2084760"/>
            <a:ext cx="63720" cy="41785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877" name="Shape 23"/>
          <p:cNvSpPr/>
          <p:nvPr/>
        </p:nvSpPr>
        <p:spPr>
          <a:xfrm>
            <a:off x="8350200" y="2286000"/>
            <a:ext cx="438480" cy="438480"/>
          </a:xfrm>
          <a:prstGeom prst="ellipse">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878" name="Text 24"/>
          <p:cNvSpPr/>
          <p:nvPr/>
        </p:nvSpPr>
        <p:spPr>
          <a:xfrm>
            <a:off x="8350200" y="2286000"/>
            <a:ext cx="43848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007a27"/>
                </a:solidFill>
                <a:effectLst/>
                <a:uFillTx/>
                <a:latin typeface="Calibri"/>
                <a:ea typeface="Calibri"/>
              </a:rPr>
              <a:t>03</a:t>
            </a:r>
            <a:endParaRPr b="0" lang="en-US" sz="1200" strike="noStrike" u="none">
              <a:solidFill>
                <a:srgbClr val="000000"/>
              </a:solidFill>
              <a:effectLst/>
              <a:uFillTx/>
              <a:latin typeface="Arial"/>
            </a:endParaRPr>
          </a:p>
        </p:txBody>
      </p:sp>
      <p:sp>
        <p:nvSpPr>
          <p:cNvPr id="4879" name="Text 25"/>
          <p:cNvSpPr/>
          <p:nvPr/>
        </p:nvSpPr>
        <p:spPr>
          <a:xfrm>
            <a:off x="8880480" y="2267640"/>
            <a:ext cx="2460240" cy="5025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500" strike="noStrike" u="none">
                <a:solidFill>
                  <a:srgbClr val="1e2420"/>
                </a:solidFill>
                <a:effectLst/>
                <a:uFillTx/>
                <a:latin typeface="Calibri"/>
                <a:ea typeface="Calibri"/>
              </a:rPr>
              <a:t>Enterprise scale and intelligence</a:t>
            </a:r>
            <a:endParaRPr b="0" lang="en-US" sz="1500" strike="noStrike" u="none">
              <a:solidFill>
                <a:srgbClr val="000000"/>
              </a:solidFill>
              <a:effectLst/>
              <a:uFillTx/>
              <a:latin typeface="Arial"/>
            </a:endParaRPr>
          </a:p>
        </p:txBody>
      </p:sp>
      <p:sp>
        <p:nvSpPr>
          <p:cNvPr id="4880" name="Text 26"/>
          <p:cNvSpPr/>
          <p:nvPr/>
        </p:nvSpPr>
        <p:spPr>
          <a:xfrm>
            <a:off x="8331840" y="2862000"/>
            <a:ext cx="3008880" cy="7768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EU hosting, languages, performance and Sera make RA+ deployable at enterprise scale and understandable to every user.</a:t>
            </a:r>
            <a:endParaRPr b="0" lang="en-US" sz="1100" strike="noStrike" u="none">
              <a:solidFill>
                <a:srgbClr val="000000"/>
              </a:solidFill>
              <a:effectLst/>
              <a:uFillTx/>
              <a:latin typeface="Arial"/>
            </a:endParaRPr>
          </a:p>
        </p:txBody>
      </p:sp>
      <p:sp>
        <p:nvSpPr>
          <p:cNvPr id="4881" name="Text 27"/>
          <p:cNvSpPr/>
          <p:nvPr/>
        </p:nvSpPr>
        <p:spPr>
          <a:xfrm>
            <a:off x="8331840" y="3684960"/>
            <a:ext cx="3008880" cy="2395440"/>
          </a:xfrm>
          <a:prstGeom prst="rect">
            <a:avLst/>
          </a:prstGeom>
          <a:noFill/>
          <a:ln w="0">
            <a:noFill/>
          </a:ln>
        </p:spPr>
        <p:style>
          <a:lnRef idx="0"/>
          <a:fillRef idx="0"/>
          <a:effectRef idx="0"/>
          <a:fontRef idx="minor"/>
        </p:style>
        <p:txBody>
          <a:bodyPr lIns="0" rIns="0" tIns="0" bIns="0" anchor="t">
            <a:normAutofit/>
          </a:bodyPr>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EU hosting and data residency</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Languages and localisation</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Performance at enterprise data volumes</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Sera agents acting on the shared ontology</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Reusable analytics and query infrastructure</a:t>
            </a:r>
            <a:endParaRPr b="0" lang="en-US" sz="1100" strike="noStrike" u="none">
              <a:solidFill>
                <a:srgbClr val="000000"/>
              </a:solidFill>
              <a:effectLst/>
              <a:uFillTx/>
              <a:latin typeface="Arial"/>
            </a:endParaRPr>
          </a:p>
        </p:txBody>
      </p:sp>
      <p:sp>
        <p:nvSpPr>
          <p:cNvPr id="4882" name="Shape 28"/>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883" name="Text 29"/>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4884" name="Text 30"/>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4885" name="PlaceHolder 1"/>
          <p:cNvSpPr>
            <a:spLocks noGrp="1"/>
          </p:cNvSpPr>
          <p:nvPr>
            <p:ph type="sldNum" idx="106"/>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575EF5E2-B6BA-46B0-9430-3A7617728802}"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c3b25"/>
        </a:solidFill>
      </p:bgPr>
    </p:bg>
    <p:spTree>
      <p:nvGrpSpPr>
        <p:cNvPr id="1" name=""/>
        <p:cNvGrpSpPr/>
        <p:nvPr/>
      </p:nvGrpSpPr>
      <p:grpSpPr>
        <a:xfrm>
          <a:off x="0" y="0"/>
          <a:ext cx="0" cy="0"/>
          <a:chOff x="0" y="0"/>
          <a:chExt cx="0" cy="0"/>
        </a:xfrm>
      </p:grpSpPr>
      <p:sp>
        <p:nvSpPr>
          <p:cNvPr id="4886" name="Shape 0"/>
          <p:cNvSpPr/>
          <p:nvPr/>
        </p:nvSpPr>
        <p:spPr>
          <a:xfrm>
            <a:off x="5135760" y="502920"/>
            <a:ext cx="1919880" cy="310680"/>
          </a:xfrm>
          <a:prstGeom prst="roundRect">
            <a:avLst>
              <a:gd name="adj" fmla="val 50000"/>
            </a:avLst>
          </a:prstGeom>
          <a:solidFill>
            <a:srgbClr val="0c3b25"/>
          </a:solidFill>
          <a:ln w="12700">
            <a:solidFill>
              <a:srgbClr val="cdfc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887" name="Text 1"/>
          <p:cNvSpPr/>
          <p:nvPr/>
        </p:nvSpPr>
        <p:spPr>
          <a:xfrm>
            <a:off x="5135760" y="502920"/>
            <a:ext cx="1919880" cy="310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000" spc="300" strike="noStrike" u="none">
                <a:solidFill>
                  <a:srgbClr val="cdfc57"/>
                </a:solidFill>
                <a:effectLst/>
                <a:uFillTx/>
                <a:latin typeface="Calibri"/>
                <a:ea typeface="Calibri"/>
              </a:rPr>
              <a:t>2027 VISION</a:t>
            </a:r>
            <a:endParaRPr b="0" lang="en-US" sz="1000" strike="noStrike" u="none">
              <a:solidFill>
                <a:srgbClr val="ffffff"/>
              </a:solidFill>
              <a:effectLst/>
              <a:uFillTx/>
              <a:latin typeface="Arial"/>
            </a:endParaRPr>
          </a:p>
        </p:txBody>
      </p:sp>
      <p:sp>
        <p:nvSpPr>
          <p:cNvPr id="4888" name="Text 2"/>
          <p:cNvSpPr/>
          <p:nvPr/>
        </p:nvSpPr>
        <p:spPr>
          <a:xfrm>
            <a:off x="621720" y="1005840"/>
            <a:ext cx="10947600" cy="86832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3000" strike="noStrike" u="none">
                <a:solidFill>
                  <a:srgbClr val="ffffff"/>
                </a:solidFill>
                <a:effectLst/>
                <a:uFillTx/>
                <a:latin typeface="Calibri"/>
                <a:ea typeface="Calibri"/>
              </a:rPr>
              <a:t>From data you collect </a:t>
            </a:r>
            <a:r>
              <a:rPr b="1" lang="en-US" sz="3000" strike="noStrike" u="none">
                <a:solidFill>
                  <a:srgbClr val="cdfc57"/>
                </a:solidFill>
                <a:effectLst/>
                <a:uFillTx/>
                <a:latin typeface="Calibri"/>
                <a:ea typeface="Calibri"/>
              </a:rPr>
              <a:t>to intelligence that decides.</a:t>
            </a:r>
            <a:endParaRPr b="0" lang="en-US" sz="3000" strike="noStrike" u="none">
              <a:solidFill>
                <a:srgbClr val="ffffff"/>
              </a:solidFill>
              <a:effectLst/>
              <a:uFillTx/>
              <a:latin typeface="Arial"/>
            </a:endParaRPr>
          </a:p>
        </p:txBody>
      </p:sp>
      <p:sp>
        <p:nvSpPr>
          <p:cNvPr id="4889" name="Text 3"/>
          <p:cNvSpPr/>
          <p:nvPr/>
        </p:nvSpPr>
        <p:spPr>
          <a:xfrm>
            <a:off x="2163960" y="1965960"/>
            <a:ext cx="7863480" cy="959760"/>
          </a:xfrm>
          <a:prstGeom prst="rect">
            <a:avLst/>
          </a:prstGeom>
          <a:noFill/>
          <a:ln w="0">
            <a:noFill/>
          </a:ln>
        </p:spPr>
        <p:style>
          <a:lnRef idx="0"/>
          <a:fillRef idx="0"/>
          <a:effectRef idx="0"/>
          <a:fontRef idx="minor"/>
        </p:style>
        <p:txBody>
          <a:bodyPr lIns="0" rIns="0" tIns="0" bIns="0" anchor="t">
            <a:normAutofit/>
          </a:bodyPr>
          <a:p>
            <a:pPr algn="ctr" defTabSz="914400">
              <a:lnSpc>
                <a:spcPct val="125000"/>
              </a:lnSpc>
              <a:tabLst>
                <a:tab algn="l" pos="0"/>
              </a:tabLst>
            </a:pPr>
            <a:r>
              <a:rPr b="0" lang="en-US" sz="1200" strike="noStrike" u="none">
                <a:solidFill>
                  <a:srgbClr val="bfd9c9"/>
                </a:solidFill>
                <a:effectLst/>
                <a:uFillTx/>
                <a:latin typeface="Calibri"/>
                <a:ea typeface="Calibri"/>
              </a:rPr>
              <a:t>By 2027, RA+ is no longer the place where sustainability data is stored. It is the place where the business is run: every footprint consultant grade, every risk priced in financial terms, every disclosure generated from the same trusted numbers, every decision grounded in one shared source of truth.</a:t>
            </a:r>
            <a:endParaRPr b="0" lang="en-US" sz="1200" strike="noStrike" u="none">
              <a:solidFill>
                <a:srgbClr val="ffffff"/>
              </a:solidFill>
              <a:effectLst/>
              <a:uFillTx/>
              <a:latin typeface="Arial"/>
            </a:endParaRPr>
          </a:p>
        </p:txBody>
      </p:sp>
      <p:sp>
        <p:nvSpPr>
          <p:cNvPr id="4890" name="Shape 4"/>
          <p:cNvSpPr/>
          <p:nvPr/>
        </p:nvSpPr>
        <p:spPr>
          <a:xfrm>
            <a:off x="621720" y="3246120"/>
            <a:ext cx="3405240" cy="1828440"/>
          </a:xfrm>
          <a:prstGeom prst="roundRect">
            <a:avLst>
              <a:gd name="adj" fmla="val 3000"/>
            </a:avLst>
          </a:prstGeom>
          <a:solidFill>
            <a:srgbClr val="0f4a2e"/>
          </a:solidFill>
          <a:ln w="9525">
            <a:solidFill>
              <a:srgbClr val="cdfc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891" name="Text 5"/>
          <p:cNvSpPr/>
          <p:nvPr/>
        </p:nvSpPr>
        <p:spPr>
          <a:xfrm>
            <a:off x="850320" y="3447360"/>
            <a:ext cx="2948040" cy="36540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1500" strike="noStrike" u="none">
                <a:solidFill>
                  <a:srgbClr val="cdfc57"/>
                </a:solidFill>
                <a:effectLst/>
                <a:uFillTx/>
                <a:latin typeface="Calibri"/>
                <a:ea typeface="Calibri"/>
              </a:rPr>
              <a:t>One platform</a:t>
            </a:r>
            <a:endParaRPr b="0" lang="en-US" sz="1500" strike="noStrike" u="none">
              <a:solidFill>
                <a:srgbClr val="ffffff"/>
              </a:solidFill>
              <a:effectLst/>
              <a:uFillTx/>
              <a:latin typeface="Arial"/>
            </a:endParaRPr>
          </a:p>
        </p:txBody>
      </p:sp>
      <p:sp>
        <p:nvSpPr>
          <p:cNvPr id="4892" name="Text 6"/>
          <p:cNvSpPr/>
          <p:nvPr/>
        </p:nvSpPr>
        <p:spPr>
          <a:xfrm>
            <a:off x="850320" y="3886200"/>
            <a:ext cx="2948040" cy="959760"/>
          </a:xfrm>
          <a:prstGeom prst="rect">
            <a:avLst/>
          </a:prstGeom>
          <a:noFill/>
          <a:ln w="0">
            <a:noFill/>
          </a:ln>
        </p:spPr>
        <p:style>
          <a:lnRef idx="0"/>
          <a:fillRef idx="0"/>
          <a:effectRef idx="0"/>
          <a:fontRef idx="minor"/>
        </p:style>
        <p:txBody>
          <a:bodyPr lIns="0" rIns="0" tIns="0" bIns="0" anchor="t">
            <a:normAutofit/>
          </a:bodyPr>
          <a:p>
            <a:pPr algn="ctr" defTabSz="914400">
              <a:lnSpc>
                <a:spcPct val="120000"/>
              </a:lnSpc>
              <a:tabLst>
                <a:tab algn="l" pos="0"/>
              </a:tabLst>
            </a:pPr>
            <a:r>
              <a:rPr b="0" lang="en-US" sz="1050" strike="noStrike" u="none">
                <a:solidFill>
                  <a:srgbClr val="bfd9c9"/>
                </a:solidFill>
                <a:effectLst/>
                <a:uFillTx/>
                <a:latin typeface="Calibri"/>
                <a:ea typeface="Calibri"/>
              </a:rPr>
              <a:t>Sustainability, Energy and Efficiency converge on a single data spine. One hierarchy, one ontology, one version of the truth for every product.</a:t>
            </a:r>
            <a:endParaRPr b="0" lang="en-US" sz="1050" strike="noStrike" u="none">
              <a:solidFill>
                <a:srgbClr val="ffffff"/>
              </a:solidFill>
              <a:effectLst/>
              <a:uFillTx/>
              <a:latin typeface="Arial"/>
            </a:endParaRPr>
          </a:p>
        </p:txBody>
      </p:sp>
      <p:sp>
        <p:nvSpPr>
          <p:cNvPr id="4893" name="Shape 7"/>
          <p:cNvSpPr/>
          <p:nvPr/>
        </p:nvSpPr>
        <p:spPr>
          <a:xfrm>
            <a:off x="4393080" y="3246120"/>
            <a:ext cx="3405240" cy="1828440"/>
          </a:xfrm>
          <a:prstGeom prst="roundRect">
            <a:avLst>
              <a:gd name="adj" fmla="val 3000"/>
            </a:avLst>
          </a:prstGeom>
          <a:solidFill>
            <a:srgbClr val="0f4a2e"/>
          </a:solidFill>
          <a:ln w="9525">
            <a:solidFill>
              <a:srgbClr val="cdfc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894" name="Text 8"/>
          <p:cNvSpPr/>
          <p:nvPr/>
        </p:nvSpPr>
        <p:spPr>
          <a:xfrm>
            <a:off x="4621680" y="3447360"/>
            <a:ext cx="2948040" cy="36540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1500" strike="noStrike" u="none">
                <a:solidFill>
                  <a:srgbClr val="cdfc57"/>
                </a:solidFill>
                <a:effectLst/>
                <a:uFillTx/>
                <a:latin typeface="Calibri"/>
                <a:ea typeface="Calibri"/>
              </a:rPr>
              <a:t>AI native</a:t>
            </a:r>
            <a:endParaRPr b="0" lang="en-US" sz="1500" strike="noStrike" u="none">
              <a:solidFill>
                <a:srgbClr val="ffffff"/>
              </a:solidFill>
              <a:effectLst/>
              <a:uFillTx/>
              <a:latin typeface="Arial"/>
            </a:endParaRPr>
          </a:p>
        </p:txBody>
      </p:sp>
      <p:sp>
        <p:nvSpPr>
          <p:cNvPr id="4895" name="Text 9"/>
          <p:cNvSpPr/>
          <p:nvPr/>
        </p:nvSpPr>
        <p:spPr>
          <a:xfrm>
            <a:off x="4621680" y="3886200"/>
            <a:ext cx="2948040" cy="959760"/>
          </a:xfrm>
          <a:prstGeom prst="rect">
            <a:avLst/>
          </a:prstGeom>
          <a:noFill/>
          <a:ln w="0">
            <a:noFill/>
          </a:ln>
        </p:spPr>
        <p:style>
          <a:lnRef idx="0"/>
          <a:fillRef idx="0"/>
          <a:effectRef idx="0"/>
          <a:fontRef idx="minor"/>
        </p:style>
        <p:txBody>
          <a:bodyPr lIns="0" rIns="0" tIns="0" bIns="0" anchor="t">
            <a:normAutofit/>
          </a:bodyPr>
          <a:p>
            <a:pPr algn="ctr" defTabSz="914400">
              <a:lnSpc>
                <a:spcPct val="120000"/>
              </a:lnSpc>
              <a:tabLst>
                <a:tab algn="l" pos="0"/>
              </a:tabLst>
            </a:pPr>
            <a:r>
              <a:rPr b="0" lang="en-US" sz="1050" strike="noStrike" u="none">
                <a:solidFill>
                  <a:srgbClr val="bfd9c9"/>
                </a:solidFill>
                <a:effectLst/>
                <a:uFillTx/>
                <a:latin typeface="Calibri"/>
                <a:ea typeface="Calibri"/>
              </a:rPr>
              <a:t>Sera agents act on the shared ontology across every product, turning data into recommendations, scenarios and actions before anyone asks.</a:t>
            </a:r>
            <a:endParaRPr b="0" lang="en-US" sz="1050" strike="noStrike" u="none">
              <a:solidFill>
                <a:srgbClr val="ffffff"/>
              </a:solidFill>
              <a:effectLst/>
              <a:uFillTx/>
              <a:latin typeface="Arial"/>
            </a:endParaRPr>
          </a:p>
        </p:txBody>
      </p:sp>
      <p:sp>
        <p:nvSpPr>
          <p:cNvPr id="4896" name="Shape 10"/>
          <p:cNvSpPr/>
          <p:nvPr/>
        </p:nvSpPr>
        <p:spPr>
          <a:xfrm>
            <a:off x="8164440" y="3246120"/>
            <a:ext cx="3405240" cy="1828440"/>
          </a:xfrm>
          <a:prstGeom prst="roundRect">
            <a:avLst>
              <a:gd name="adj" fmla="val 3000"/>
            </a:avLst>
          </a:prstGeom>
          <a:solidFill>
            <a:srgbClr val="0f4a2e"/>
          </a:solidFill>
          <a:ln w="9525">
            <a:solidFill>
              <a:srgbClr val="cdfc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897" name="Text 11"/>
          <p:cNvSpPr/>
          <p:nvPr/>
        </p:nvSpPr>
        <p:spPr>
          <a:xfrm>
            <a:off x="8393040" y="3447360"/>
            <a:ext cx="2948040" cy="365400"/>
          </a:xfrm>
          <a:prstGeom prst="rect">
            <a:avLst/>
          </a:prstGeom>
          <a:noFill/>
          <a:ln w="0">
            <a:noFill/>
          </a:ln>
        </p:spPr>
        <p:style>
          <a:lnRef idx="0"/>
          <a:fillRef idx="0"/>
          <a:effectRef idx="0"/>
          <a:fontRef idx="minor"/>
        </p:style>
        <p:txBody>
          <a:bodyPr lIns="0" rIns="0" tIns="0" bIns="0" anchor="ctr">
            <a:normAutofit/>
          </a:bodyPr>
          <a:p>
            <a:pPr algn="ctr" defTabSz="914400">
              <a:lnSpc>
                <a:spcPct val="100000"/>
              </a:lnSpc>
              <a:tabLst>
                <a:tab algn="l" pos="0"/>
              </a:tabLst>
            </a:pPr>
            <a:r>
              <a:rPr b="1" lang="en-US" sz="1500" strike="noStrike" u="none">
                <a:solidFill>
                  <a:srgbClr val="cdfc57"/>
                </a:solidFill>
                <a:effectLst/>
                <a:uFillTx/>
                <a:latin typeface="Calibri"/>
                <a:ea typeface="Calibri"/>
              </a:rPr>
              <a:t>Board grade</a:t>
            </a:r>
            <a:endParaRPr b="0" lang="en-US" sz="1500" strike="noStrike" u="none">
              <a:solidFill>
                <a:srgbClr val="ffffff"/>
              </a:solidFill>
              <a:effectLst/>
              <a:uFillTx/>
              <a:latin typeface="Arial"/>
            </a:endParaRPr>
          </a:p>
        </p:txBody>
      </p:sp>
      <p:sp>
        <p:nvSpPr>
          <p:cNvPr id="4898" name="Text 12"/>
          <p:cNvSpPr/>
          <p:nvPr/>
        </p:nvSpPr>
        <p:spPr>
          <a:xfrm>
            <a:off x="8393040" y="3886200"/>
            <a:ext cx="2948040" cy="959760"/>
          </a:xfrm>
          <a:prstGeom prst="rect">
            <a:avLst/>
          </a:prstGeom>
          <a:noFill/>
          <a:ln w="0">
            <a:noFill/>
          </a:ln>
        </p:spPr>
        <p:style>
          <a:lnRef idx="0"/>
          <a:fillRef idx="0"/>
          <a:effectRef idx="0"/>
          <a:fontRef idx="minor"/>
        </p:style>
        <p:txBody>
          <a:bodyPr lIns="0" rIns="0" tIns="0" bIns="0" anchor="t">
            <a:normAutofit/>
          </a:bodyPr>
          <a:p>
            <a:pPr algn="ctr" defTabSz="914400">
              <a:lnSpc>
                <a:spcPct val="120000"/>
              </a:lnSpc>
              <a:tabLst>
                <a:tab algn="l" pos="0"/>
              </a:tabLst>
            </a:pPr>
            <a:r>
              <a:rPr b="0" lang="en-US" sz="1050" strike="noStrike" u="none">
                <a:solidFill>
                  <a:srgbClr val="bfd9c9"/>
                </a:solidFill>
                <a:effectLst/>
                <a:uFillTx/>
                <a:latin typeface="Calibri"/>
                <a:ea typeface="Calibri"/>
              </a:rPr>
              <a:t>Every number is auditable, every disclosure is generated, every value at risk is expressed in the language the CFO and the board trade in.</a:t>
            </a:r>
            <a:endParaRPr b="0" lang="en-US" sz="1050" strike="noStrike" u="none">
              <a:solidFill>
                <a:srgbClr val="ffffff"/>
              </a:solidFill>
              <a:effectLst/>
              <a:uFillTx/>
              <a:latin typeface="Arial"/>
            </a:endParaRPr>
          </a:p>
        </p:txBody>
      </p:sp>
      <p:sp>
        <p:nvSpPr>
          <p:cNvPr id="4899" name="Text 13"/>
          <p:cNvSpPr/>
          <p:nvPr/>
        </p:nvSpPr>
        <p:spPr>
          <a:xfrm>
            <a:off x="621720" y="5532120"/>
            <a:ext cx="1094760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800" spc="99" strike="noStrike" u="none">
                <a:solidFill>
                  <a:srgbClr val="ffffff"/>
                </a:solidFill>
                <a:effectLst/>
                <a:uFillTx/>
                <a:latin typeface="Calibri"/>
                <a:ea typeface="Calibri"/>
              </a:rPr>
              <a:t>End-to-end value, only we can deliver.</a:t>
            </a:r>
            <a:endParaRPr b="0" lang="en-US" sz="1800" strike="noStrike" u="none">
              <a:solidFill>
                <a:srgbClr val="ffffff"/>
              </a:solidFill>
              <a:effectLst/>
              <a:uFillTx/>
              <a:latin typeface="Arial"/>
            </a:endParaRPr>
          </a:p>
        </p:txBody>
      </p:sp>
      <p:sp>
        <p:nvSpPr>
          <p:cNvPr id="4900" name="Text 14"/>
          <p:cNvSpPr/>
          <p:nvPr/>
        </p:nvSpPr>
        <p:spPr>
          <a:xfrm>
            <a:off x="8461080" y="6355080"/>
            <a:ext cx="310860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1300" strike="noStrike" u="none">
                <a:solidFill>
                  <a:srgbClr val="3dcd58"/>
                </a:solidFill>
                <a:effectLst/>
                <a:uFillTx/>
                <a:latin typeface="Calibri"/>
                <a:ea typeface="Calibri"/>
              </a:rPr>
              <a:t>SE </a:t>
            </a:r>
            <a:r>
              <a:rPr b="0" lang="en-US" sz="1300" strike="noStrike" u="none">
                <a:solidFill>
                  <a:srgbClr val="ffffff"/>
                </a:solidFill>
                <a:effectLst/>
                <a:uFillTx/>
                <a:latin typeface="Calibri"/>
                <a:ea typeface="Calibri"/>
              </a:rPr>
              <a:t>ADVISORY SERVICES</a:t>
            </a:r>
            <a:endParaRPr b="0" lang="en-US" sz="1300" strike="noStrike" u="none">
              <a:solidFill>
                <a:srgbClr val="ffffff"/>
              </a:solidFill>
              <a:effectLst/>
              <a:uFillTx/>
              <a:latin typeface="Arial"/>
            </a:endParaRPr>
          </a:p>
        </p:txBody>
      </p:sp>
      <p:sp>
        <p:nvSpPr>
          <p:cNvPr id="4901" name="PlaceHolder 1"/>
          <p:cNvSpPr>
            <a:spLocks noGrp="1"/>
          </p:cNvSpPr>
          <p:nvPr>
            <p:ph type="sldNum" idx="107"/>
          </p:nvPr>
        </p:nvSpPr>
        <p:spPr>
          <a:xfrm>
            <a:off x="10929960" y="608076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3dcd58"/>
                </a:solidFill>
                <a:effectLst/>
                <a:uFillTx/>
                <a:latin typeface="Calibri"/>
                <a:ea typeface="Calibri"/>
              </a:defRPr>
            </a:lvl1pPr>
          </a:lstStyle>
          <a:p>
            <a:pPr indent="0" algn="r" defTabSz="914400">
              <a:lnSpc>
                <a:spcPct val="100000"/>
              </a:lnSpc>
              <a:buNone/>
            </a:pPr>
            <a:fld id="{0AEC6868-C132-4BB4-B176-F8383706C4E6}" type="slidenum">
              <a:rPr b="1" lang="en-US" sz="800" strike="noStrike" u="none">
                <a:solidFill>
                  <a:srgbClr val="3dcd58"/>
                </a:solidFill>
                <a:effectLst/>
                <a:uFillTx/>
                <a:latin typeface="Calibri"/>
                <a:ea typeface="Calibri"/>
              </a:rPr>
              <a:t>&lt;number&gt;</a:t>
            </a:fld>
            <a:endParaRPr b="0" lang="en-US" sz="800" strike="noStrike" u="non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1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c3b25"/>
        </a:solidFill>
      </p:bgPr>
    </p:bg>
    <p:spTree>
      <p:nvGrpSpPr>
        <p:cNvPr id="1" name=""/>
        <p:cNvGrpSpPr/>
        <p:nvPr/>
      </p:nvGrpSpPr>
      <p:grpSpPr>
        <a:xfrm>
          <a:off x="0" y="0"/>
          <a:ext cx="0" cy="0"/>
          <a:chOff x="0" y="0"/>
          <a:chExt cx="0" cy="0"/>
        </a:xfrm>
      </p:grpSpPr>
      <p:sp>
        <p:nvSpPr>
          <p:cNvPr id="4902" name="Shape 0"/>
          <p:cNvSpPr/>
          <p:nvPr/>
        </p:nvSpPr>
        <p:spPr>
          <a:xfrm>
            <a:off x="621720" y="384120"/>
            <a:ext cx="2514240" cy="310680"/>
          </a:xfrm>
          <a:prstGeom prst="roundRect">
            <a:avLst>
              <a:gd name="adj" fmla="val 50000"/>
            </a:avLst>
          </a:prstGeom>
          <a:solidFill>
            <a:srgbClr val="0c3b25"/>
          </a:solidFill>
          <a:ln w="12700">
            <a:solidFill>
              <a:srgbClr val="cdfc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903" name="Text 1"/>
          <p:cNvSpPr/>
          <p:nvPr/>
        </p:nvSpPr>
        <p:spPr>
          <a:xfrm>
            <a:off x="621720" y="384120"/>
            <a:ext cx="2514240" cy="310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900" spc="181" strike="noStrike" u="none">
                <a:solidFill>
                  <a:srgbClr val="cdfc57"/>
                </a:solidFill>
                <a:effectLst/>
                <a:uFillTx/>
                <a:latin typeface="Calibri"/>
                <a:ea typeface="Calibri"/>
              </a:rPr>
              <a:t>BEYOND 2027 | DIRECTIONAL</a:t>
            </a:r>
            <a:endParaRPr b="0" lang="en-US" sz="900" strike="noStrike" u="none">
              <a:solidFill>
                <a:srgbClr val="ffffff"/>
              </a:solidFill>
              <a:effectLst/>
              <a:uFillTx/>
              <a:latin typeface="Arial"/>
            </a:endParaRPr>
          </a:p>
        </p:txBody>
      </p:sp>
      <p:sp>
        <p:nvSpPr>
          <p:cNvPr id="4904" name="Text 2"/>
          <p:cNvSpPr/>
          <p:nvPr/>
        </p:nvSpPr>
        <p:spPr>
          <a:xfrm>
            <a:off x="621720" y="850320"/>
            <a:ext cx="10947600" cy="712800"/>
          </a:xfrm>
          <a:prstGeom prst="rect">
            <a:avLst/>
          </a:prstGeom>
          <a:noFill/>
          <a:ln w="0">
            <a:noFill/>
          </a:ln>
        </p:spPr>
        <p:style>
          <a:lnRef idx="0"/>
          <a:fillRef idx="0"/>
          <a:effectRef idx="0"/>
          <a:fontRef idx="minor"/>
        </p:style>
        <p:txBody>
          <a:bodyPr lIns="0" rIns="0" tIns="0" bIns="0" anchor="ctr">
            <a:normAutofit fontScale="92500" lnSpcReduction="9999"/>
          </a:bodyPr>
          <a:p>
            <a:pPr defTabSz="914400">
              <a:lnSpc>
                <a:spcPct val="100000"/>
              </a:lnSpc>
              <a:tabLst>
                <a:tab algn="l" pos="0"/>
              </a:tabLst>
            </a:pPr>
            <a:r>
              <a:rPr b="1" lang="en-US" sz="2700" strike="noStrike" u="none">
                <a:solidFill>
                  <a:srgbClr val="ffffff"/>
                </a:solidFill>
                <a:effectLst/>
                <a:uFillTx/>
                <a:latin typeface="Calibri"/>
                <a:ea typeface="Calibri"/>
              </a:rPr>
              <a:t>The long-term path: from connected products to an autonomous value platform</a:t>
            </a:r>
            <a:endParaRPr b="0" lang="en-US" sz="2700" strike="noStrike" u="none">
              <a:solidFill>
                <a:srgbClr val="ffffff"/>
              </a:solidFill>
              <a:effectLst/>
              <a:uFillTx/>
              <a:latin typeface="Arial"/>
            </a:endParaRPr>
          </a:p>
        </p:txBody>
      </p:sp>
      <p:sp>
        <p:nvSpPr>
          <p:cNvPr id="4905" name="Text 3"/>
          <p:cNvSpPr/>
          <p:nvPr/>
        </p:nvSpPr>
        <p:spPr>
          <a:xfrm>
            <a:off x="621720" y="1627560"/>
            <a:ext cx="9875160" cy="4384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50" strike="noStrike" u="none">
                <a:solidFill>
                  <a:srgbClr val="bfd9c9"/>
                </a:solidFill>
                <a:effectLst/>
                <a:uFillTx/>
                <a:latin typeface="Calibri"/>
                <a:ea typeface="Calibri"/>
              </a:rPr>
              <a:t>A strategic horizon, not a committed release plan. Each stage compounds the shared data, intelligence and experience built through 2027.</a:t>
            </a:r>
            <a:endParaRPr b="0" lang="en-US" sz="1150" strike="noStrike" u="none">
              <a:solidFill>
                <a:srgbClr val="ffffff"/>
              </a:solidFill>
              <a:effectLst/>
              <a:uFillTx/>
              <a:latin typeface="Arial"/>
            </a:endParaRPr>
          </a:p>
        </p:txBody>
      </p:sp>
      <p:sp>
        <p:nvSpPr>
          <p:cNvPr id="4906" name="Shape 4"/>
          <p:cNvSpPr/>
          <p:nvPr/>
        </p:nvSpPr>
        <p:spPr>
          <a:xfrm>
            <a:off x="621720" y="2267640"/>
            <a:ext cx="3393360" cy="360"/>
          </a:xfrm>
          <a:prstGeom prst="line">
            <a:avLst/>
          </a:prstGeom>
          <a:ln w="10160">
            <a:solidFill>
              <a:srgbClr val="5e806e"/>
            </a:solidFill>
            <a:round/>
          </a:ln>
        </p:spPr>
        <p:style>
          <a:lnRef idx="0"/>
          <a:fillRef idx="0"/>
          <a:effectRef idx="0"/>
          <a:fontRef idx="minor"/>
        </p:style>
        <p:txBody>
          <a:bodyPr lIns="90000" rIns="90000" tIns="-44640" bIns="-44640" anchor="t" anchorCtr="1">
            <a:noAutofit/>
          </a:bodyPr>
          <a:p>
            <a:endParaRPr b="0" lang="en-US" sz="1800" strike="noStrike" u="none">
              <a:solidFill>
                <a:srgbClr val="ffffff"/>
              </a:solidFill>
              <a:effectLst/>
              <a:uFillTx/>
              <a:latin typeface="Arial"/>
            </a:endParaRPr>
          </a:p>
        </p:txBody>
      </p:sp>
      <p:sp>
        <p:nvSpPr>
          <p:cNvPr id="4907" name="Text 5"/>
          <p:cNvSpPr/>
          <p:nvPr/>
        </p:nvSpPr>
        <p:spPr>
          <a:xfrm>
            <a:off x="4115880" y="2148840"/>
            <a:ext cx="182520" cy="2282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700" strike="noStrike" u="none">
                <a:solidFill>
                  <a:srgbClr val="769585"/>
                </a:solidFill>
                <a:effectLst/>
                <a:uFillTx/>
                <a:latin typeface="Calibri"/>
                <a:ea typeface="Calibri"/>
              </a:rPr>
              <a:t>›</a:t>
            </a:r>
            <a:endParaRPr b="0" lang="en-US" sz="1700" strike="noStrike" u="none">
              <a:solidFill>
                <a:srgbClr val="ffffff"/>
              </a:solidFill>
              <a:effectLst/>
              <a:uFillTx/>
              <a:latin typeface="Arial"/>
            </a:endParaRPr>
          </a:p>
        </p:txBody>
      </p:sp>
      <p:sp>
        <p:nvSpPr>
          <p:cNvPr id="4908" name="Shape 6"/>
          <p:cNvSpPr/>
          <p:nvPr/>
        </p:nvSpPr>
        <p:spPr>
          <a:xfrm>
            <a:off x="621720" y="2432160"/>
            <a:ext cx="731160" cy="292320"/>
          </a:xfrm>
          <a:prstGeom prst="roundRect">
            <a:avLst>
              <a:gd name="adj" fmla="val 12500"/>
            </a:avLst>
          </a:prstGeom>
          <a:solidFill>
            <a:srgbClr val="0c3b25"/>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909" name="Text 7"/>
          <p:cNvSpPr/>
          <p:nvPr/>
        </p:nvSpPr>
        <p:spPr>
          <a:xfrm>
            <a:off x="621720" y="2432160"/>
            <a:ext cx="73116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000" strike="noStrike" u="none">
                <a:solidFill>
                  <a:srgbClr val="3dcd58"/>
                </a:solidFill>
                <a:effectLst/>
                <a:uFillTx/>
                <a:latin typeface="Calibri"/>
                <a:ea typeface="Calibri"/>
              </a:rPr>
              <a:t>2028</a:t>
            </a:r>
            <a:endParaRPr b="0" lang="en-US" sz="1000" strike="noStrike" u="none">
              <a:solidFill>
                <a:srgbClr val="ffffff"/>
              </a:solidFill>
              <a:effectLst/>
              <a:uFillTx/>
              <a:latin typeface="Arial"/>
            </a:endParaRPr>
          </a:p>
        </p:txBody>
      </p:sp>
      <p:sp>
        <p:nvSpPr>
          <p:cNvPr id="4910" name="Text 8"/>
          <p:cNvSpPr/>
          <p:nvPr/>
        </p:nvSpPr>
        <p:spPr>
          <a:xfrm>
            <a:off x="621720" y="2889360"/>
            <a:ext cx="3393000" cy="3837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600" strike="noStrike" u="none">
                <a:solidFill>
                  <a:srgbClr val="ffffff"/>
                </a:solidFill>
                <a:effectLst/>
                <a:uFillTx/>
                <a:latin typeface="Calibri"/>
                <a:ea typeface="Calibri"/>
              </a:rPr>
              <a:t>Scale the platform</a:t>
            </a:r>
            <a:endParaRPr b="0" lang="en-US" sz="1600" strike="noStrike" u="none">
              <a:solidFill>
                <a:srgbClr val="ffffff"/>
              </a:solidFill>
              <a:effectLst/>
              <a:uFillTx/>
              <a:latin typeface="Arial"/>
            </a:endParaRPr>
          </a:p>
        </p:txBody>
      </p:sp>
      <p:sp>
        <p:nvSpPr>
          <p:cNvPr id="4911" name="Text 9"/>
          <p:cNvSpPr/>
          <p:nvPr/>
        </p:nvSpPr>
        <p:spPr>
          <a:xfrm>
            <a:off x="621720" y="3310200"/>
            <a:ext cx="3393000" cy="59400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000" strike="noStrike" u="none">
                <a:solidFill>
                  <a:srgbClr val="bfd9c9"/>
                </a:solidFill>
                <a:effectLst/>
                <a:uFillTx/>
                <a:latin typeface="Calibri"/>
                <a:ea typeface="Calibri"/>
              </a:rPr>
              <a:t>Make one trusted foundation deployable across the enterprise and the extended value chain.</a:t>
            </a:r>
            <a:endParaRPr b="0" lang="en-US" sz="1000" strike="noStrike" u="none">
              <a:solidFill>
                <a:srgbClr val="ffffff"/>
              </a:solidFill>
              <a:effectLst/>
              <a:uFillTx/>
              <a:latin typeface="Arial"/>
            </a:endParaRPr>
          </a:p>
        </p:txBody>
      </p:sp>
      <p:sp>
        <p:nvSpPr>
          <p:cNvPr id="4912" name="Shape 10"/>
          <p:cNvSpPr/>
          <p:nvPr/>
        </p:nvSpPr>
        <p:spPr>
          <a:xfrm>
            <a:off x="621720" y="3977640"/>
            <a:ext cx="3393360" cy="360"/>
          </a:xfrm>
          <a:prstGeom prst="line">
            <a:avLst/>
          </a:prstGeom>
          <a:ln w="6350">
            <a:solidFill>
              <a:srgbClr val="315d47"/>
            </a:solidFill>
            <a:round/>
          </a:ln>
        </p:spPr>
        <p:style>
          <a:lnRef idx="0"/>
          <a:fillRef idx="0"/>
          <a:effectRef idx="0"/>
          <a:fontRef idx="minor"/>
        </p:style>
        <p:txBody>
          <a:bodyPr lIns="90000" rIns="90000" tIns="-44640" bIns="-44640" anchor="t" anchorCtr="1">
            <a:noAutofit/>
          </a:bodyPr>
          <a:p>
            <a:endParaRPr b="0" lang="en-US" sz="1800" strike="noStrike" u="none">
              <a:solidFill>
                <a:srgbClr val="ffffff"/>
              </a:solidFill>
              <a:effectLst/>
              <a:uFillTx/>
              <a:latin typeface="Arial"/>
            </a:endParaRPr>
          </a:p>
        </p:txBody>
      </p:sp>
      <p:sp>
        <p:nvSpPr>
          <p:cNvPr id="4913" name="Shape 11"/>
          <p:cNvSpPr/>
          <p:nvPr/>
        </p:nvSpPr>
        <p:spPr>
          <a:xfrm>
            <a:off x="621720" y="4114800"/>
            <a:ext cx="54360" cy="54360"/>
          </a:xfrm>
          <a:prstGeom prst="ellipse">
            <a:avLst/>
          </a:prstGeom>
          <a:solidFill>
            <a:srgbClr val="3dcd58"/>
          </a:solidFill>
          <a:ln w="12700">
            <a:solidFill>
              <a:srgbClr val="3dcd58"/>
            </a:solidFill>
            <a:round/>
          </a:ln>
        </p:spPr>
        <p:style>
          <a:lnRef idx="0"/>
          <a:fillRef idx="0"/>
          <a:effectRef idx="0"/>
          <a:fontRef idx="minor"/>
        </p:style>
        <p:txBody>
          <a:bodyPr lIns="90000" rIns="90000" tIns="-6480" bIns="-6480" anchor="t">
            <a:noAutofit/>
          </a:bodyPr>
          <a:p>
            <a:endParaRPr b="0" lang="en-US" sz="1800" strike="noStrike" u="none">
              <a:solidFill>
                <a:srgbClr val="000000"/>
              </a:solidFill>
              <a:effectLst/>
              <a:uFillTx/>
              <a:latin typeface="Arial"/>
            </a:endParaRPr>
          </a:p>
        </p:txBody>
      </p:sp>
      <p:sp>
        <p:nvSpPr>
          <p:cNvPr id="4914" name="Text 12"/>
          <p:cNvSpPr/>
          <p:nvPr/>
        </p:nvSpPr>
        <p:spPr>
          <a:xfrm>
            <a:off x="768240" y="4060080"/>
            <a:ext cx="3246840" cy="2923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900" strike="noStrike" u="none">
                <a:solidFill>
                  <a:srgbClr val="ffffff"/>
                </a:solidFill>
                <a:effectLst/>
                <a:uFillTx/>
                <a:latin typeface="Calibri"/>
                <a:ea typeface="Calibri"/>
              </a:rPr>
              <a:t>Sustainability Performance broadens the carbon baseline</a:t>
            </a:r>
            <a:endParaRPr b="0" lang="en-US" sz="900" strike="noStrike" u="none">
              <a:solidFill>
                <a:srgbClr val="ffffff"/>
              </a:solidFill>
              <a:effectLst/>
              <a:uFillTx/>
              <a:latin typeface="Arial"/>
            </a:endParaRPr>
          </a:p>
        </p:txBody>
      </p:sp>
      <p:sp>
        <p:nvSpPr>
          <p:cNvPr id="4915" name="Shape 13"/>
          <p:cNvSpPr/>
          <p:nvPr/>
        </p:nvSpPr>
        <p:spPr>
          <a:xfrm>
            <a:off x="621720" y="4443840"/>
            <a:ext cx="3393360" cy="360"/>
          </a:xfrm>
          <a:prstGeom prst="line">
            <a:avLst/>
          </a:prstGeom>
          <a:ln w="6350">
            <a:solidFill>
              <a:srgbClr val="315d47"/>
            </a:solidFill>
            <a:round/>
          </a:ln>
        </p:spPr>
        <p:style>
          <a:lnRef idx="0"/>
          <a:fillRef idx="0"/>
          <a:effectRef idx="0"/>
          <a:fontRef idx="minor"/>
        </p:style>
        <p:txBody>
          <a:bodyPr lIns="90000" rIns="90000" tIns="-44640" bIns="-44640" anchor="t" anchorCtr="1">
            <a:noAutofit/>
          </a:bodyPr>
          <a:p>
            <a:endParaRPr b="0" lang="en-US" sz="1800" strike="noStrike" u="none">
              <a:solidFill>
                <a:srgbClr val="ffffff"/>
              </a:solidFill>
              <a:effectLst/>
              <a:uFillTx/>
              <a:latin typeface="Arial"/>
            </a:endParaRPr>
          </a:p>
        </p:txBody>
      </p:sp>
      <p:sp>
        <p:nvSpPr>
          <p:cNvPr id="4916" name="Shape 14"/>
          <p:cNvSpPr/>
          <p:nvPr/>
        </p:nvSpPr>
        <p:spPr>
          <a:xfrm>
            <a:off x="621720" y="4581000"/>
            <a:ext cx="54360" cy="54360"/>
          </a:xfrm>
          <a:prstGeom prst="ellipse">
            <a:avLst/>
          </a:prstGeom>
          <a:solidFill>
            <a:srgbClr val="3dcd58"/>
          </a:solidFill>
          <a:ln w="12700">
            <a:solidFill>
              <a:srgbClr val="3dcd58"/>
            </a:solidFill>
            <a:round/>
          </a:ln>
        </p:spPr>
        <p:style>
          <a:lnRef idx="0"/>
          <a:fillRef idx="0"/>
          <a:effectRef idx="0"/>
          <a:fontRef idx="minor"/>
        </p:style>
        <p:txBody>
          <a:bodyPr lIns="90000" rIns="90000" tIns="-6480" bIns="-6480" anchor="t">
            <a:noAutofit/>
          </a:bodyPr>
          <a:p>
            <a:endParaRPr b="0" lang="en-US" sz="1800" strike="noStrike" u="none">
              <a:solidFill>
                <a:srgbClr val="000000"/>
              </a:solidFill>
              <a:effectLst/>
              <a:uFillTx/>
              <a:latin typeface="Arial"/>
            </a:endParaRPr>
          </a:p>
        </p:txBody>
      </p:sp>
      <p:sp>
        <p:nvSpPr>
          <p:cNvPr id="4917" name="Text 15"/>
          <p:cNvSpPr/>
          <p:nvPr/>
        </p:nvSpPr>
        <p:spPr>
          <a:xfrm>
            <a:off x="768240" y="4526280"/>
            <a:ext cx="3246840" cy="2923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900" strike="noStrike" u="none">
                <a:solidFill>
                  <a:srgbClr val="ffffff"/>
                </a:solidFill>
                <a:effectLst/>
                <a:uFillTx/>
                <a:latin typeface="Calibri"/>
                <a:ea typeface="Calibri"/>
              </a:rPr>
              <a:t>Energy and efficiency data converge on the shared spine</a:t>
            </a:r>
            <a:endParaRPr b="0" lang="en-US" sz="900" strike="noStrike" u="none">
              <a:solidFill>
                <a:srgbClr val="ffffff"/>
              </a:solidFill>
              <a:effectLst/>
              <a:uFillTx/>
              <a:latin typeface="Arial"/>
            </a:endParaRPr>
          </a:p>
        </p:txBody>
      </p:sp>
      <p:sp>
        <p:nvSpPr>
          <p:cNvPr id="4918" name="Shape 16"/>
          <p:cNvSpPr/>
          <p:nvPr/>
        </p:nvSpPr>
        <p:spPr>
          <a:xfrm>
            <a:off x="621720" y="4910040"/>
            <a:ext cx="3393360" cy="360"/>
          </a:xfrm>
          <a:prstGeom prst="line">
            <a:avLst/>
          </a:prstGeom>
          <a:ln w="6350">
            <a:solidFill>
              <a:srgbClr val="315d47"/>
            </a:solidFill>
            <a:round/>
          </a:ln>
        </p:spPr>
        <p:style>
          <a:lnRef idx="0"/>
          <a:fillRef idx="0"/>
          <a:effectRef idx="0"/>
          <a:fontRef idx="minor"/>
        </p:style>
        <p:txBody>
          <a:bodyPr lIns="90000" rIns="90000" tIns="-44640" bIns="-44640" anchor="t" anchorCtr="1">
            <a:noAutofit/>
          </a:bodyPr>
          <a:p>
            <a:endParaRPr b="0" lang="en-US" sz="1800" strike="noStrike" u="none">
              <a:solidFill>
                <a:srgbClr val="ffffff"/>
              </a:solidFill>
              <a:effectLst/>
              <a:uFillTx/>
              <a:latin typeface="Arial"/>
            </a:endParaRPr>
          </a:p>
        </p:txBody>
      </p:sp>
      <p:sp>
        <p:nvSpPr>
          <p:cNvPr id="4919" name="Shape 17"/>
          <p:cNvSpPr/>
          <p:nvPr/>
        </p:nvSpPr>
        <p:spPr>
          <a:xfrm>
            <a:off x="621720" y="5047560"/>
            <a:ext cx="54360" cy="54360"/>
          </a:xfrm>
          <a:prstGeom prst="ellipse">
            <a:avLst/>
          </a:prstGeom>
          <a:solidFill>
            <a:srgbClr val="3dcd58"/>
          </a:solidFill>
          <a:ln w="12700">
            <a:solidFill>
              <a:srgbClr val="3dcd58"/>
            </a:solidFill>
            <a:round/>
          </a:ln>
        </p:spPr>
        <p:style>
          <a:lnRef idx="0"/>
          <a:fillRef idx="0"/>
          <a:effectRef idx="0"/>
          <a:fontRef idx="minor"/>
        </p:style>
        <p:txBody>
          <a:bodyPr lIns="90000" rIns="90000" tIns="-6480" bIns="-6480" anchor="t">
            <a:noAutofit/>
          </a:bodyPr>
          <a:p>
            <a:endParaRPr b="0" lang="en-US" sz="1800" strike="noStrike" u="none">
              <a:solidFill>
                <a:srgbClr val="000000"/>
              </a:solidFill>
              <a:effectLst/>
              <a:uFillTx/>
              <a:latin typeface="Arial"/>
            </a:endParaRPr>
          </a:p>
        </p:txBody>
      </p:sp>
      <p:sp>
        <p:nvSpPr>
          <p:cNvPr id="4920" name="Text 18"/>
          <p:cNvSpPr/>
          <p:nvPr/>
        </p:nvSpPr>
        <p:spPr>
          <a:xfrm>
            <a:off x="768240" y="4992480"/>
            <a:ext cx="3246840" cy="2923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900" strike="noStrike" u="none">
                <a:solidFill>
                  <a:srgbClr val="ffffff"/>
                </a:solidFill>
                <a:effectLst/>
                <a:uFillTx/>
                <a:latin typeface="Calibri"/>
                <a:ea typeface="Calibri"/>
              </a:rPr>
              <a:t>Global deployment, localisation and ecosystem APIs</a:t>
            </a:r>
            <a:endParaRPr b="0" lang="en-US" sz="900" strike="noStrike" u="none">
              <a:solidFill>
                <a:srgbClr val="ffffff"/>
              </a:solidFill>
              <a:effectLst/>
              <a:uFillTx/>
              <a:latin typeface="Arial"/>
            </a:endParaRPr>
          </a:p>
        </p:txBody>
      </p:sp>
      <p:sp>
        <p:nvSpPr>
          <p:cNvPr id="4921" name="Shape 19"/>
          <p:cNvSpPr/>
          <p:nvPr/>
        </p:nvSpPr>
        <p:spPr>
          <a:xfrm>
            <a:off x="4398840" y="2267640"/>
            <a:ext cx="3393360" cy="360"/>
          </a:xfrm>
          <a:prstGeom prst="line">
            <a:avLst/>
          </a:prstGeom>
          <a:ln w="10160">
            <a:solidFill>
              <a:srgbClr val="5e806e"/>
            </a:solidFill>
            <a:round/>
          </a:ln>
        </p:spPr>
        <p:style>
          <a:lnRef idx="0"/>
          <a:fillRef idx="0"/>
          <a:effectRef idx="0"/>
          <a:fontRef idx="minor"/>
        </p:style>
        <p:txBody>
          <a:bodyPr lIns="90000" rIns="90000" tIns="-44640" bIns="-44640" anchor="t" anchorCtr="1">
            <a:noAutofit/>
          </a:bodyPr>
          <a:p>
            <a:endParaRPr b="0" lang="en-US" sz="1800" strike="noStrike" u="none">
              <a:solidFill>
                <a:srgbClr val="ffffff"/>
              </a:solidFill>
              <a:effectLst/>
              <a:uFillTx/>
              <a:latin typeface="Arial"/>
            </a:endParaRPr>
          </a:p>
        </p:txBody>
      </p:sp>
      <p:sp>
        <p:nvSpPr>
          <p:cNvPr id="4922" name="Text 20"/>
          <p:cNvSpPr/>
          <p:nvPr/>
        </p:nvSpPr>
        <p:spPr>
          <a:xfrm>
            <a:off x="7893000" y="2148840"/>
            <a:ext cx="182520" cy="2282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700" strike="noStrike" u="none">
                <a:solidFill>
                  <a:srgbClr val="769585"/>
                </a:solidFill>
                <a:effectLst/>
                <a:uFillTx/>
                <a:latin typeface="Calibri"/>
                <a:ea typeface="Calibri"/>
              </a:rPr>
              <a:t>›</a:t>
            </a:r>
            <a:endParaRPr b="0" lang="en-US" sz="1700" strike="noStrike" u="none">
              <a:solidFill>
                <a:srgbClr val="ffffff"/>
              </a:solidFill>
              <a:effectLst/>
              <a:uFillTx/>
              <a:latin typeface="Arial"/>
            </a:endParaRPr>
          </a:p>
        </p:txBody>
      </p:sp>
      <p:sp>
        <p:nvSpPr>
          <p:cNvPr id="4923" name="Shape 21"/>
          <p:cNvSpPr/>
          <p:nvPr/>
        </p:nvSpPr>
        <p:spPr>
          <a:xfrm>
            <a:off x="4399200" y="2432160"/>
            <a:ext cx="731160" cy="292320"/>
          </a:xfrm>
          <a:prstGeom prst="roundRect">
            <a:avLst>
              <a:gd name="adj" fmla="val 12500"/>
            </a:avLst>
          </a:prstGeom>
          <a:solidFill>
            <a:srgbClr val="0c3b25"/>
          </a:solidFill>
          <a:ln w="12700">
            <a:solidFill>
              <a:srgbClr val="cdfc5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924" name="Text 22"/>
          <p:cNvSpPr/>
          <p:nvPr/>
        </p:nvSpPr>
        <p:spPr>
          <a:xfrm>
            <a:off x="4399200" y="2432160"/>
            <a:ext cx="73116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000" strike="noStrike" u="none">
                <a:solidFill>
                  <a:srgbClr val="cdfc57"/>
                </a:solidFill>
                <a:effectLst/>
                <a:uFillTx/>
                <a:latin typeface="Calibri"/>
                <a:ea typeface="Calibri"/>
              </a:rPr>
              <a:t>2029</a:t>
            </a:r>
            <a:endParaRPr b="0" lang="en-US" sz="1000" strike="noStrike" u="none">
              <a:solidFill>
                <a:srgbClr val="ffffff"/>
              </a:solidFill>
              <a:effectLst/>
              <a:uFillTx/>
              <a:latin typeface="Arial"/>
            </a:endParaRPr>
          </a:p>
        </p:txBody>
      </p:sp>
      <p:sp>
        <p:nvSpPr>
          <p:cNvPr id="4925" name="Text 23"/>
          <p:cNvSpPr/>
          <p:nvPr/>
        </p:nvSpPr>
        <p:spPr>
          <a:xfrm>
            <a:off x="4399200" y="2889360"/>
            <a:ext cx="3393000" cy="3837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600" strike="noStrike" u="none">
                <a:solidFill>
                  <a:srgbClr val="ffffff"/>
                </a:solidFill>
                <a:effectLst/>
                <a:uFillTx/>
                <a:latin typeface="Calibri"/>
                <a:ea typeface="Calibri"/>
              </a:rPr>
              <a:t>Industrialise intelligence</a:t>
            </a:r>
            <a:endParaRPr b="0" lang="en-US" sz="1600" strike="noStrike" u="none">
              <a:solidFill>
                <a:srgbClr val="ffffff"/>
              </a:solidFill>
              <a:effectLst/>
              <a:uFillTx/>
              <a:latin typeface="Arial"/>
            </a:endParaRPr>
          </a:p>
        </p:txBody>
      </p:sp>
      <p:sp>
        <p:nvSpPr>
          <p:cNvPr id="4926" name="Text 24"/>
          <p:cNvSpPr/>
          <p:nvPr/>
        </p:nvSpPr>
        <p:spPr>
          <a:xfrm>
            <a:off x="4399200" y="3310200"/>
            <a:ext cx="3393000" cy="59400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000" strike="noStrike" u="none">
                <a:solidFill>
                  <a:srgbClr val="bfd9c9"/>
                </a:solidFill>
                <a:effectLst/>
                <a:uFillTx/>
                <a:latin typeface="Calibri"/>
                <a:ea typeface="Calibri"/>
              </a:rPr>
              <a:t>Turn shared context into decision support that works across every product and workflow.</a:t>
            </a:r>
            <a:endParaRPr b="0" lang="en-US" sz="1000" strike="noStrike" u="none">
              <a:solidFill>
                <a:srgbClr val="ffffff"/>
              </a:solidFill>
              <a:effectLst/>
              <a:uFillTx/>
              <a:latin typeface="Arial"/>
            </a:endParaRPr>
          </a:p>
        </p:txBody>
      </p:sp>
      <p:sp>
        <p:nvSpPr>
          <p:cNvPr id="4927" name="Shape 25"/>
          <p:cNvSpPr/>
          <p:nvPr/>
        </p:nvSpPr>
        <p:spPr>
          <a:xfrm>
            <a:off x="4398840" y="3977640"/>
            <a:ext cx="3393360" cy="360"/>
          </a:xfrm>
          <a:prstGeom prst="line">
            <a:avLst/>
          </a:prstGeom>
          <a:ln w="6350">
            <a:solidFill>
              <a:srgbClr val="315d47"/>
            </a:solidFill>
            <a:round/>
          </a:ln>
        </p:spPr>
        <p:style>
          <a:lnRef idx="0"/>
          <a:fillRef idx="0"/>
          <a:effectRef idx="0"/>
          <a:fontRef idx="minor"/>
        </p:style>
        <p:txBody>
          <a:bodyPr lIns="90000" rIns="90000" tIns="-44640" bIns="-44640" anchor="t" anchorCtr="1">
            <a:noAutofit/>
          </a:bodyPr>
          <a:p>
            <a:endParaRPr b="0" lang="en-US" sz="1800" strike="noStrike" u="none">
              <a:solidFill>
                <a:srgbClr val="ffffff"/>
              </a:solidFill>
              <a:effectLst/>
              <a:uFillTx/>
              <a:latin typeface="Arial"/>
            </a:endParaRPr>
          </a:p>
        </p:txBody>
      </p:sp>
      <p:sp>
        <p:nvSpPr>
          <p:cNvPr id="4928" name="Shape 26"/>
          <p:cNvSpPr/>
          <p:nvPr/>
        </p:nvSpPr>
        <p:spPr>
          <a:xfrm>
            <a:off x="4399200" y="4114800"/>
            <a:ext cx="54360" cy="54360"/>
          </a:xfrm>
          <a:prstGeom prst="ellipse">
            <a:avLst/>
          </a:prstGeom>
          <a:solidFill>
            <a:srgbClr val="3dcd58"/>
          </a:solidFill>
          <a:ln w="12700">
            <a:solidFill>
              <a:srgbClr val="3dcd58"/>
            </a:solidFill>
            <a:round/>
          </a:ln>
        </p:spPr>
        <p:style>
          <a:lnRef idx="0"/>
          <a:fillRef idx="0"/>
          <a:effectRef idx="0"/>
          <a:fontRef idx="minor"/>
        </p:style>
        <p:txBody>
          <a:bodyPr lIns="90000" rIns="90000" tIns="-6480" bIns="-6480" anchor="t">
            <a:noAutofit/>
          </a:bodyPr>
          <a:p>
            <a:endParaRPr b="0" lang="en-US" sz="1800" strike="noStrike" u="none">
              <a:solidFill>
                <a:srgbClr val="000000"/>
              </a:solidFill>
              <a:effectLst/>
              <a:uFillTx/>
              <a:latin typeface="Arial"/>
            </a:endParaRPr>
          </a:p>
        </p:txBody>
      </p:sp>
      <p:sp>
        <p:nvSpPr>
          <p:cNvPr id="4929" name="Text 27"/>
          <p:cNvSpPr/>
          <p:nvPr/>
        </p:nvSpPr>
        <p:spPr>
          <a:xfrm>
            <a:off x="4545360" y="4060080"/>
            <a:ext cx="3246840" cy="2923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900" strike="noStrike" u="none">
                <a:solidFill>
                  <a:srgbClr val="ffffff"/>
                </a:solidFill>
                <a:effectLst/>
                <a:uFillTx/>
                <a:latin typeface="Calibri"/>
                <a:ea typeface="Calibri"/>
              </a:rPr>
              <a:t>Cross-domain scenarios connect cost, carbon, energy and risk</a:t>
            </a:r>
            <a:endParaRPr b="0" lang="en-US" sz="900" strike="noStrike" u="none">
              <a:solidFill>
                <a:srgbClr val="ffffff"/>
              </a:solidFill>
              <a:effectLst/>
              <a:uFillTx/>
              <a:latin typeface="Arial"/>
            </a:endParaRPr>
          </a:p>
        </p:txBody>
      </p:sp>
      <p:sp>
        <p:nvSpPr>
          <p:cNvPr id="4930" name="Shape 28"/>
          <p:cNvSpPr/>
          <p:nvPr/>
        </p:nvSpPr>
        <p:spPr>
          <a:xfrm>
            <a:off x="4398840" y="4443840"/>
            <a:ext cx="3393360" cy="360"/>
          </a:xfrm>
          <a:prstGeom prst="line">
            <a:avLst/>
          </a:prstGeom>
          <a:ln w="6350">
            <a:solidFill>
              <a:srgbClr val="315d47"/>
            </a:solidFill>
            <a:round/>
          </a:ln>
        </p:spPr>
        <p:style>
          <a:lnRef idx="0"/>
          <a:fillRef idx="0"/>
          <a:effectRef idx="0"/>
          <a:fontRef idx="minor"/>
        </p:style>
        <p:txBody>
          <a:bodyPr lIns="90000" rIns="90000" tIns="-44640" bIns="-44640" anchor="t" anchorCtr="1">
            <a:noAutofit/>
          </a:bodyPr>
          <a:p>
            <a:endParaRPr b="0" lang="en-US" sz="1800" strike="noStrike" u="none">
              <a:solidFill>
                <a:srgbClr val="ffffff"/>
              </a:solidFill>
              <a:effectLst/>
              <a:uFillTx/>
              <a:latin typeface="Arial"/>
            </a:endParaRPr>
          </a:p>
        </p:txBody>
      </p:sp>
      <p:sp>
        <p:nvSpPr>
          <p:cNvPr id="4931" name="Shape 29"/>
          <p:cNvSpPr/>
          <p:nvPr/>
        </p:nvSpPr>
        <p:spPr>
          <a:xfrm>
            <a:off x="4399200" y="4581000"/>
            <a:ext cx="54360" cy="54360"/>
          </a:xfrm>
          <a:prstGeom prst="ellipse">
            <a:avLst/>
          </a:prstGeom>
          <a:solidFill>
            <a:srgbClr val="3dcd58"/>
          </a:solidFill>
          <a:ln w="12700">
            <a:solidFill>
              <a:srgbClr val="3dcd58"/>
            </a:solidFill>
            <a:round/>
          </a:ln>
        </p:spPr>
        <p:style>
          <a:lnRef idx="0"/>
          <a:fillRef idx="0"/>
          <a:effectRef idx="0"/>
          <a:fontRef idx="minor"/>
        </p:style>
        <p:txBody>
          <a:bodyPr lIns="90000" rIns="90000" tIns="-6480" bIns="-6480" anchor="t">
            <a:noAutofit/>
          </a:bodyPr>
          <a:p>
            <a:endParaRPr b="0" lang="en-US" sz="1800" strike="noStrike" u="none">
              <a:solidFill>
                <a:srgbClr val="000000"/>
              </a:solidFill>
              <a:effectLst/>
              <a:uFillTx/>
              <a:latin typeface="Arial"/>
            </a:endParaRPr>
          </a:p>
        </p:txBody>
      </p:sp>
      <p:sp>
        <p:nvSpPr>
          <p:cNvPr id="4932" name="Text 30"/>
          <p:cNvSpPr/>
          <p:nvPr/>
        </p:nvSpPr>
        <p:spPr>
          <a:xfrm>
            <a:off x="4545360" y="4526280"/>
            <a:ext cx="3246840" cy="2923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900" strike="noStrike" u="none">
                <a:solidFill>
                  <a:srgbClr val="ffffff"/>
                </a:solidFill>
                <a:effectLst/>
                <a:uFillTx/>
                <a:latin typeface="Calibri"/>
                <a:ea typeface="Calibri"/>
              </a:rPr>
              <a:t>Sera orchestrates recommendations across the portfolio</a:t>
            </a:r>
            <a:endParaRPr b="0" lang="en-US" sz="900" strike="noStrike" u="none">
              <a:solidFill>
                <a:srgbClr val="ffffff"/>
              </a:solidFill>
              <a:effectLst/>
              <a:uFillTx/>
              <a:latin typeface="Arial"/>
            </a:endParaRPr>
          </a:p>
        </p:txBody>
      </p:sp>
      <p:sp>
        <p:nvSpPr>
          <p:cNvPr id="4933" name="Shape 31"/>
          <p:cNvSpPr/>
          <p:nvPr/>
        </p:nvSpPr>
        <p:spPr>
          <a:xfrm>
            <a:off x="4398840" y="4910040"/>
            <a:ext cx="3393360" cy="360"/>
          </a:xfrm>
          <a:prstGeom prst="line">
            <a:avLst/>
          </a:prstGeom>
          <a:ln w="6350">
            <a:solidFill>
              <a:srgbClr val="315d47"/>
            </a:solidFill>
            <a:round/>
          </a:ln>
        </p:spPr>
        <p:style>
          <a:lnRef idx="0"/>
          <a:fillRef idx="0"/>
          <a:effectRef idx="0"/>
          <a:fontRef idx="minor"/>
        </p:style>
        <p:txBody>
          <a:bodyPr lIns="90000" rIns="90000" tIns="-44640" bIns="-44640" anchor="t" anchorCtr="1">
            <a:noAutofit/>
          </a:bodyPr>
          <a:p>
            <a:endParaRPr b="0" lang="en-US" sz="1800" strike="noStrike" u="none">
              <a:solidFill>
                <a:srgbClr val="ffffff"/>
              </a:solidFill>
              <a:effectLst/>
              <a:uFillTx/>
              <a:latin typeface="Arial"/>
            </a:endParaRPr>
          </a:p>
        </p:txBody>
      </p:sp>
      <p:sp>
        <p:nvSpPr>
          <p:cNvPr id="4934" name="Shape 32"/>
          <p:cNvSpPr/>
          <p:nvPr/>
        </p:nvSpPr>
        <p:spPr>
          <a:xfrm>
            <a:off x="4399200" y="5047560"/>
            <a:ext cx="54360" cy="54360"/>
          </a:xfrm>
          <a:prstGeom prst="ellipse">
            <a:avLst/>
          </a:prstGeom>
          <a:solidFill>
            <a:srgbClr val="3dcd58"/>
          </a:solidFill>
          <a:ln w="12700">
            <a:solidFill>
              <a:srgbClr val="3dcd58"/>
            </a:solidFill>
            <a:round/>
          </a:ln>
        </p:spPr>
        <p:style>
          <a:lnRef idx="0"/>
          <a:fillRef idx="0"/>
          <a:effectRef idx="0"/>
          <a:fontRef idx="minor"/>
        </p:style>
        <p:txBody>
          <a:bodyPr lIns="90000" rIns="90000" tIns="-6480" bIns="-6480" anchor="t">
            <a:noAutofit/>
          </a:bodyPr>
          <a:p>
            <a:endParaRPr b="0" lang="en-US" sz="1800" strike="noStrike" u="none">
              <a:solidFill>
                <a:srgbClr val="000000"/>
              </a:solidFill>
              <a:effectLst/>
              <a:uFillTx/>
              <a:latin typeface="Arial"/>
            </a:endParaRPr>
          </a:p>
        </p:txBody>
      </p:sp>
      <p:sp>
        <p:nvSpPr>
          <p:cNvPr id="4935" name="Text 33"/>
          <p:cNvSpPr/>
          <p:nvPr/>
        </p:nvSpPr>
        <p:spPr>
          <a:xfrm>
            <a:off x="4545360" y="4992480"/>
            <a:ext cx="3246840" cy="2923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900" strike="noStrike" u="none">
                <a:solidFill>
                  <a:srgbClr val="ffffff"/>
                </a:solidFill>
                <a:effectLst/>
                <a:uFillTx/>
                <a:latin typeface="Calibri"/>
                <a:ea typeface="Calibri"/>
              </a:rPr>
              <a:t>Predictive controls surface value and exposure earlier</a:t>
            </a:r>
            <a:endParaRPr b="0" lang="en-US" sz="900" strike="noStrike" u="none">
              <a:solidFill>
                <a:srgbClr val="ffffff"/>
              </a:solidFill>
              <a:effectLst/>
              <a:uFillTx/>
              <a:latin typeface="Arial"/>
            </a:endParaRPr>
          </a:p>
        </p:txBody>
      </p:sp>
      <p:sp>
        <p:nvSpPr>
          <p:cNvPr id="4936" name="Shape 34"/>
          <p:cNvSpPr/>
          <p:nvPr/>
        </p:nvSpPr>
        <p:spPr>
          <a:xfrm>
            <a:off x="8176320" y="2267640"/>
            <a:ext cx="3393360" cy="360"/>
          </a:xfrm>
          <a:prstGeom prst="line">
            <a:avLst/>
          </a:prstGeom>
          <a:ln w="10160">
            <a:solidFill>
              <a:srgbClr val="5e806e"/>
            </a:solidFill>
            <a:round/>
          </a:ln>
        </p:spPr>
        <p:style>
          <a:lnRef idx="0"/>
          <a:fillRef idx="0"/>
          <a:effectRef idx="0"/>
          <a:fontRef idx="minor"/>
        </p:style>
        <p:txBody>
          <a:bodyPr lIns="90000" rIns="90000" tIns="-44640" bIns="-44640" anchor="t" anchorCtr="1">
            <a:noAutofit/>
          </a:bodyPr>
          <a:p>
            <a:endParaRPr b="0" lang="en-US" sz="1800" strike="noStrike" u="none">
              <a:solidFill>
                <a:srgbClr val="ffffff"/>
              </a:solidFill>
              <a:effectLst/>
              <a:uFillTx/>
              <a:latin typeface="Arial"/>
            </a:endParaRPr>
          </a:p>
        </p:txBody>
      </p:sp>
      <p:sp>
        <p:nvSpPr>
          <p:cNvPr id="4937" name="Shape 35"/>
          <p:cNvSpPr/>
          <p:nvPr/>
        </p:nvSpPr>
        <p:spPr>
          <a:xfrm>
            <a:off x="8176680" y="2432160"/>
            <a:ext cx="731160" cy="292320"/>
          </a:xfrm>
          <a:prstGeom prst="roundRect">
            <a:avLst>
              <a:gd name="adj" fmla="val 12500"/>
            </a:avLst>
          </a:prstGeom>
          <a:solidFill>
            <a:srgbClr val="0c3b25"/>
          </a:solidFill>
          <a:ln w="12700">
            <a:solidFill>
              <a:srgbClr val="ffb04c"/>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4938" name="Text 36"/>
          <p:cNvSpPr/>
          <p:nvPr/>
        </p:nvSpPr>
        <p:spPr>
          <a:xfrm>
            <a:off x="8176680" y="2432160"/>
            <a:ext cx="73116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000" strike="noStrike" u="none">
                <a:solidFill>
                  <a:srgbClr val="ffb04c"/>
                </a:solidFill>
                <a:effectLst/>
                <a:uFillTx/>
                <a:latin typeface="Calibri"/>
                <a:ea typeface="Calibri"/>
              </a:rPr>
              <a:t>2030+</a:t>
            </a:r>
            <a:endParaRPr b="0" lang="en-US" sz="1000" strike="noStrike" u="none">
              <a:solidFill>
                <a:srgbClr val="ffffff"/>
              </a:solidFill>
              <a:effectLst/>
              <a:uFillTx/>
              <a:latin typeface="Arial"/>
            </a:endParaRPr>
          </a:p>
        </p:txBody>
      </p:sp>
      <p:sp>
        <p:nvSpPr>
          <p:cNvPr id="4939" name="Text 37"/>
          <p:cNvSpPr/>
          <p:nvPr/>
        </p:nvSpPr>
        <p:spPr>
          <a:xfrm>
            <a:off x="8176680" y="2889360"/>
            <a:ext cx="3393000" cy="3837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600" strike="noStrike" u="none">
                <a:solidFill>
                  <a:srgbClr val="ffffff"/>
                </a:solidFill>
                <a:effectLst/>
                <a:uFillTx/>
                <a:latin typeface="Calibri"/>
                <a:ea typeface="Calibri"/>
              </a:rPr>
              <a:t>Autonomous value</a:t>
            </a:r>
            <a:endParaRPr b="0" lang="en-US" sz="1600" strike="noStrike" u="none">
              <a:solidFill>
                <a:srgbClr val="ffffff"/>
              </a:solidFill>
              <a:effectLst/>
              <a:uFillTx/>
              <a:latin typeface="Arial"/>
            </a:endParaRPr>
          </a:p>
        </p:txBody>
      </p:sp>
      <p:sp>
        <p:nvSpPr>
          <p:cNvPr id="4940" name="Text 38"/>
          <p:cNvSpPr/>
          <p:nvPr/>
        </p:nvSpPr>
        <p:spPr>
          <a:xfrm>
            <a:off x="8176680" y="3310200"/>
            <a:ext cx="3393000" cy="59400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000" strike="noStrike" u="none">
                <a:solidFill>
                  <a:srgbClr val="bfd9c9"/>
                </a:solidFill>
                <a:effectLst/>
                <a:uFillTx/>
                <a:latin typeface="Calibri"/>
                <a:ea typeface="Calibri"/>
              </a:rPr>
              <a:t>Move from insight to governed action, with humans setting ambition, guardrails and accountability.</a:t>
            </a:r>
            <a:endParaRPr b="0" lang="en-US" sz="1000" strike="noStrike" u="none">
              <a:solidFill>
                <a:srgbClr val="ffffff"/>
              </a:solidFill>
              <a:effectLst/>
              <a:uFillTx/>
              <a:latin typeface="Arial"/>
            </a:endParaRPr>
          </a:p>
        </p:txBody>
      </p:sp>
      <p:sp>
        <p:nvSpPr>
          <p:cNvPr id="4941" name="Shape 39"/>
          <p:cNvSpPr/>
          <p:nvPr/>
        </p:nvSpPr>
        <p:spPr>
          <a:xfrm>
            <a:off x="8176320" y="3977640"/>
            <a:ext cx="3393360" cy="360"/>
          </a:xfrm>
          <a:prstGeom prst="line">
            <a:avLst/>
          </a:prstGeom>
          <a:ln w="6350">
            <a:solidFill>
              <a:srgbClr val="315d47"/>
            </a:solidFill>
            <a:round/>
          </a:ln>
        </p:spPr>
        <p:style>
          <a:lnRef idx="0"/>
          <a:fillRef idx="0"/>
          <a:effectRef idx="0"/>
          <a:fontRef idx="minor"/>
        </p:style>
        <p:txBody>
          <a:bodyPr lIns="90000" rIns="90000" tIns="-44640" bIns="-44640" anchor="t" anchorCtr="1">
            <a:noAutofit/>
          </a:bodyPr>
          <a:p>
            <a:endParaRPr b="0" lang="en-US" sz="1800" strike="noStrike" u="none">
              <a:solidFill>
                <a:srgbClr val="ffffff"/>
              </a:solidFill>
              <a:effectLst/>
              <a:uFillTx/>
              <a:latin typeface="Arial"/>
            </a:endParaRPr>
          </a:p>
        </p:txBody>
      </p:sp>
      <p:sp>
        <p:nvSpPr>
          <p:cNvPr id="4942" name="Shape 40"/>
          <p:cNvSpPr/>
          <p:nvPr/>
        </p:nvSpPr>
        <p:spPr>
          <a:xfrm>
            <a:off x="8176680" y="4114800"/>
            <a:ext cx="54360" cy="54360"/>
          </a:xfrm>
          <a:prstGeom prst="ellipse">
            <a:avLst/>
          </a:prstGeom>
          <a:solidFill>
            <a:srgbClr val="3dcd58"/>
          </a:solidFill>
          <a:ln w="12700">
            <a:solidFill>
              <a:srgbClr val="3dcd58"/>
            </a:solidFill>
            <a:round/>
          </a:ln>
        </p:spPr>
        <p:style>
          <a:lnRef idx="0"/>
          <a:fillRef idx="0"/>
          <a:effectRef idx="0"/>
          <a:fontRef idx="minor"/>
        </p:style>
        <p:txBody>
          <a:bodyPr lIns="90000" rIns="90000" tIns="-6480" bIns="-6480" anchor="t">
            <a:noAutofit/>
          </a:bodyPr>
          <a:p>
            <a:endParaRPr b="0" lang="en-US" sz="1800" strike="noStrike" u="none">
              <a:solidFill>
                <a:srgbClr val="000000"/>
              </a:solidFill>
              <a:effectLst/>
              <a:uFillTx/>
              <a:latin typeface="Arial"/>
            </a:endParaRPr>
          </a:p>
        </p:txBody>
      </p:sp>
      <p:sp>
        <p:nvSpPr>
          <p:cNvPr id="4943" name="Text 41"/>
          <p:cNvSpPr/>
          <p:nvPr/>
        </p:nvSpPr>
        <p:spPr>
          <a:xfrm>
            <a:off x="8322840" y="4060080"/>
            <a:ext cx="3246840" cy="2923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900" strike="noStrike" u="none">
                <a:solidFill>
                  <a:srgbClr val="ffffff"/>
                </a:solidFill>
                <a:effectLst/>
                <a:uFillTx/>
                <a:latin typeface="Calibri"/>
                <a:ea typeface="Calibri"/>
              </a:rPr>
              <a:t>Continuous optimisation of energy, efficiency and sustainability</a:t>
            </a:r>
            <a:endParaRPr b="0" lang="en-US" sz="900" strike="noStrike" u="none">
              <a:solidFill>
                <a:srgbClr val="ffffff"/>
              </a:solidFill>
              <a:effectLst/>
              <a:uFillTx/>
              <a:latin typeface="Arial"/>
            </a:endParaRPr>
          </a:p>
        </p:txBody>
      </p:sp>
      <p:sp>
        <p:nvSpPr>
          <p:cNvPr id="4944" name="Shape 42"/>
          <p:cNvSpPr/>
          <p:nvPr/>
        </p:nvSpPr>
        <p:spPr>
          <a:xfrm>
            <a:off x="8176320" y="4443840"/>
            <a:ext cx="3393360" cy="360"/>
          </a:xfrm>
          <a:prstGeom prst="line">
            <a:avLst/>
          </a:prstGeom>
          <a:ln w="6350">
            <a:solidFill>
              <a:srgbClr val="315d47"/>
            </a:solidFill>
            <a:round/>
          </a:ln>
        </p:spPr>
        <p:style>
          <a:lnRef idx="0"/>
          <a:fillRef idx="0"/>
          <a:effectRef idx="0"/>
          <a:fontRef idx="minor"/>
        </p:style>
        <p:txBody>
          <a:bodyPr lIns="90000" rIns="90000" tIns="-44640" bIns="-44640" anchor="t" anchorCtr="1">
            <a:noAutofit/>
          </a:bodyPr>
          <a:p>
            <a:endParaRPr b="0" lang="en-US" sz="1800" strike="noStrike" u="none">
              <a:solidFill>
                <a:srgbClr val="ffffff"/>
              </a:solidFill>
              <a:effectLst/>
              <a:uFillTx/>
              <a:latin typeface="Arial"/>
            </a:endParaRPr>
          </a:p>
        </p:txBody>
      </p:sp>
      <p:sp>
        <p:nvSpPr>
          <p:cNvPr id="4945" name="Shape 43"/>
          <p:cNvSpPr/>
          <p:nvPr/>
        </p:nvSpPr>
        <p:spPr>
          <a:xfrm>
            <a:off x="8176680" y="4581000"/>
            <a:ext cx="54360" cy="54360"/>
          </a:xfrm>
          <a:prstGeom prst="ellipse">
            <a:avLst/>
          </a:prstGeom>
          <a:solidFill>
            <a:srgbClr val="3dcd58"/>
          </a:solidFill>
          <a:ln w="12700">
            <a:solidFill>
              <a:srgbClr val="3dcd58"/>
            </a:solidFill>
            <a:round/>
          </a:ln>
        </p:spPr>
        <p:style>
          <a:lnRef idx="0"/>
          <a:fillRef idx="0"/>
          <a:effectRef idx="0"/>
          <a:fontRef idx="minor"/>
        </p:style>
        <p:txBody>
          <a:bodyPr lIns="90000" rIns="90000" tIns="-6480" bIns="-6480" anchor="t">
            <a:noAutofit/>
          </a:bodyPr>
          <a:p>
            <a:endParaRPr b="0" lang="en-US" sz="1800" strike="noStrike" u="none">
              <a:solidFill>
                <a:srgbClr val="000000"/>
              </a:solidFill>
              <a:effectLst/>
              <a:uFillTx/>
              <a:latin typeface="Arial"/>
            </a:endParaRPr>
          </a:p>
        </p:txBody>
      </p:sp>
      <p:sp>
        <p:nvSpPr>
          <p:cNvPr id="4946" name="Text 44"/>
          <p:cNvSpPr/>
          <p:nvPr/>
        </p:nvSpPr>
        <p:spPr>
          <a:xfrm>
            <a:off x="8322840" y="4526280"/>
            <a:ext cx="3246840" cy="2923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900" strike="noStrike" u="none">
                <a:solidFill>
                  <a:srgbClr val="ffffff"/>
                </a:solidFill>
                <a:effectLst/>
                <a:uFillTx/>
                <a:latin typeface="Calibri"/>
                <a:ea typeface="Calibri"/>
              </a:rPr>
              <a:t>Closed-loop execution with evidence and assurance by design</a:t>
            </a:r>
            <a:endParaRPr b="0" lang="en-US" sz="900" strike="noStrike" u="none">
              <a:solidFill>
                <a:srgbClr val="ffffff"/>
              </a:solidFill>
              <a:effectLst/>
              <a:uFillTx/>
              <a:latin typeface="Arial"/>
            </a:endParaRPr>
          </a:p>
        </p:txBody>
      </p:sp>
      <p:sp>
        <p:nvSpPr>
          <p:cNvPr id="4947" name="Shape 45"/>
          <p:cNvSpPr/>
          <p:nvPr/>
        </p:nvSpPr>
        <p:spPr>
          <a:xfrm>
            <a:off x="8176320" y="4910040"/>
            <a:ext cx="3393360" cy="360"/>
          </a:xfrm>
          <a:prstGeom prst="line">
            <a:avLst/>
          </a:prstGeom>
          <a:ln w="6350">
            <a:solidFill>
              <a:srgbClr val="315d47"/>
            </a:solidFill>
            <a:round/>
          </a:ln>
        </p:spPr>
        <p:style>
          <a:lnRef idx="0"/>
          <a:fillRef idx="0"/>
          <a:effectRef idx="0"/>
          <a:fontRef idx="minor"/>
        </p:style>
        <p:txBody>
          <a:bodyPr lIns="90000" rIns="90000" tIns="-44640" bIns="-44640" anchor="t" anchorCtr="1">
            <a:noAutofit/>
          </a:bodyPr>
          <a:p>
            <a:endParaRPr b="0" lang="en-US" sz="1800" strike="noStrike" u="none">
              <a:solidFill>
                <a:srgbClr val="ffffff"/>
              </a:solidFill>
              <a:effectLst/>
              <a:uFillTx/>
              <a:latin typeface="Arial"/>
            </a:endParaRPr>
          </a:p>
        </p:txBody>
      </p:sp>
      <p:sp>
        <p:nvSpPr>
          <p:cNvPr id="4948" name="Shape 46"/>
          <p:cNvSpPr/>
          <p:nvPr/>
        </p:nvSpPr>
        <p:spPr>
          <a:xfrm>
            <a:off x="8176680" y="5047560"/>
            <a:ext cx="54360" cy="54360"/>
          </a:xfrm>
          <a:prstGeom prst="ellipse">
            <a:avLst/>
          </a:prstGeom>
          <a:solidFill>
            <a:srgbClr val="3dcd58"/>
          </a:solidFill>
          <a:ln w="12700">
            <a:solidFill>
              <a:srgbClr val="3dcd58"/>
            </a:solidFill>
            <a:round/>
          </a:ln>
        </p:spPr>
        <p:style>
          <a:lnRef idx="0"/>
          <a:fillRef idx="0"/>
          <a:effectRef idx="0"/>
          <a:fontRef idx="minor"/>
        </p:style>
        <p:txBody>
          <a:bodyPr lIns="90000" rIns="90000" tIns="-6480" bIns="-6480" anchor="t">
            <a:noAutofit/>
          </a:bodyPr>
          <a:p>
            <a:endParaRPr b="0" lang="en-US" sz="1800" strike="noStrike" u="none">
              <a:solidFill>
                <a:srgbClr val="000000"/>
              </a:solidFill>
              <a:effectLst/>
              <a:uFillTx/>
              <a:latin typeface="Arial"/>
            </a:endParaRPr>
          </a:p>
        </p:txBody>
      </p:sp>
      <p:sp>
        <p:nvSpPr>
          <p:cNvPr id="4949" name="Text 47"/>
          <p:cNvSpPr/>
          <p:nvPr/>
        </p:nvSpPr>
        <p:spPr>
          <a:xfrm>
            <a:off x="8322840" y="4992480"/>
            <a:ext cx="3246840" cy="2923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900" strike="noStrike" u="none">
                <a:solidFill>
                  <a:srgbClr val="ffffff"/>
                </a:solidFill>
                <a:effectLst/>
                <a:uFillTx/>
                <a:latin typeface="Calibri"/>
                <a:ea typeface="Calibri"/>
              </a:rPr>
              <a:t>Outcome-led services powered by the RA+ intelligence layer</a:t>
            </a:r>
            <a:endParaRPr b="0" lang="en-US" sz="900" strike="noStrike" u="none">
              <a:solidFill>
                <a:srgbClr val="ffffff"/>
              </a:solidFill>
              <a:effectLst/>
              <a:uFillTx/>
              <a:latin typeface="Arial"/>
            </a:endParaRPr>
          </a:p>
        </p:txBody>
      </p:sp>
      <p:sp>
        <p:nvSpPr>
          <p:cNvPr id="4950" name="Shape 48"/>
          <p:cNvSpPr/>
          <p:nvPr/>
        </p:nvSpPr>
        <p:spPr>
          <a:xfrm>
            <a:off x="621720" y="5275800"/>
            <a:ext cx="10947960" cy="360"/>
          </a:xfrm>
          <a:prstGeom prst="line">
            <a:avLst/>
          </a:prstGeom>
          <a:ln w="10160">
            <a:solidFill>
              <a:srgbClr val="5e806e"/>
            </a:solidFill>
            <a:round/>
          </a:ln>
        </p:spPr>
        <p:style>
          <a:lnRef idx="0"/>
          <a:fillRef idx="0"/>
          <a:effectRef idx="0"/>
          <a:fontRef idx="minor"/>
        </p:style>
        <p:txBody>
          <a:bodyPr lIns="90000" rIns="90000" tIns="-44640" bIns="-44640" anchor="t" anchorCtr="1">
            <a:noAutofit/>
          </a:bodyPr>
          <a:p>
            <a:endParaRPr b="0" lang="en-US" sz="1800" strike="noStrike" u="none">
              <a:solidFill>
                <a:srgbClr val="ffffff"/>
              </a:solidFill>
              <a:effectLst/>
              <a:uFillTx/>
              <a:latin typeface="Arial"/>
            </a:endParaRPr>
          </a:p>
        </p:txBody>
      </p:sp>
      <p:sp>
        <p:nvSpPr>
          <p:cNvPr id="4951" name="Text 49"/>
          <p:cNvSpPr/>
          <p:nvPr/>
        </p:nvSpPr>
        <p:spPr>
          <a:xfrm>
            <a:off x="621720" y="5403960"/>
            <a:ext cx="182844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81" strike="noStrike" u="none">
                <a:solidFill>
                  <a:srgbClr val="cdfc57"/>
                </a:solidFill>
                <a:effectLst/>
                <a:uFillTx/>
                <a:latin typeface="Calibri"/>
                <a:ea typeface="Calibri"/>
              </a:rPr>
              <a:t>STRATEGIC DRIVERS</a:t>
            </a:r>
            <a:endParaRPr b="0" lang="en-US" sz="900" strike="noStrike" u="none">
              <a:solidFill>
                <a:srgbClr val="ffffff"/>
              </a:solidFill>
              <a:effectLst/>
              <a:uFillTx/>
              <a:latin typeface="Arial"/>
            </a:endParaRPr>
          </a:p>
        </p:txBody>
      </p:sp>
      <p:sp>
        <p:nvSpPr>
          <p:cNvPr id="4952" name="Text 50"/>
          <p:cNvSpPr/>
          <p:nvPr/>
        </p:nvSpPr>
        <p:spPr>
          <a:xfrm>
            <a:off x="621720" y="5669280"/>
            <a:ext cx="2530800" cy="22824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100" strike="noStrike" u="none">
                <a:solidFill>
                  <a:srgbClr val="ffffff"/>
                </a:solidFill>
                <a:effectLst/>
                <a:uFillTx/>
                <a:latin typeface="Calibri"/>
                <a:ea typeface="Calibri"/>
              </a:rPr>
              <a:t>Customer economics</a:t>
            </a:r>
            <a:endParaRPr b="0" lang="en-US" sz="1100" strike="noStrike" u="none">
              <a:solidFill>
                <a:srgbClr val="ffffff"/>
              </a:solidFill>
              <a:effectLst/>
              <a:uFillTx/>
              <a:latin typeface="Arial"/>
            </a:endParaRPr>
          </a:p>
        </p:txBody>
      </p:sp>
      <p:sp>
        <p:nvSpPr>
          <p:cNvPr id="4953" name="Text 51"/>
          <p:cNvSpPr/>
          <p:nvPr/>
        </p:nvSpPr>
        <p:spPr>
          <a:xfrm>
            <a:off x="621720" y="5934600"/>
            <a:ext cx="2530800" cy="36540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850" strike="noStrike" u="none">
                <a:solidFill>
                  <a:srgbClr val="bfd9c9"/>
                </a:solidFill>
                <a:effectLst/>
                <a:uFillTx/>
                <a:latin typeface="Calibri"/>
                <a:ea typeface="Calibri"/>
              </a:rPr>
              <a:t>Convert fragmented spend into measurable enterprise value.</a:t>
            </a:r>
            <a:endParaRPr b="0" lang="en-US" sz="850" strike="noStrike" u="none">
              <a:solidFill>
                <a:srgbClr val="ffffff"/>
              </a:solidFill>
              <a:effectLst/>
              <a:uFillTx/>
              <a:latin typeface="Arial"/>
            </a:endParaRPr>
          </a:p>
        </p:txBody>
      </p:sp>
      <p:sp>
        <p:nvSpPr>
          <p:cNvPr id="4954" name="Text 52"/>
          <p:cNvSpPr/>
          <p:nvPr/>
        </p:nvSpPr>
        <p:spPr>
          <a:xfrm>
            <a:off x="3427560" y="5669280"/>
            <a:ext cx="2530800" cy="22824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100" strike="noStrike" u="none">
                <a:solidFill>
                  <a:srgbClr val="ffffff"/>
                </a:solidFill>
                <a:effectLst/>
                <a:uFillTx/>
                <a:latin typeface="Calibri"/>
                <a:ea typeface="Calibri"/>
              </a:rPr>
              <a:t>Regulation and trust</a:t>
            </a:r>
            <a:endParaRPr b="0" lang="en-US" sz="1100" strike="noStrike" u="none">
              <a:solidFill>
                <a:srgbClr val="ffffff"/>
              </a:solidFill>
              <a:effectLst/>
              <a:uFillTx/>
              <a:latin typeface="Arial"/>
            </a:endParaRPr>
          </a:p>
        </p:txBody>
      </p:sp>
      <p:sp>
        <p:nvSpPr>
          <p:cNvPr id="4955" name="Text 53"/>
          <p:cNvSpPr/>
          <p:nvPr/>
        </p:nvSpPr>
        <p:spPr>
          <a:xfrm>
            <a:off x="3427560" y="5934600"/>
            <a:ext cx="2530800" cy="36540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850" strike="noStrike" u="none">
                <a:solidFill>
                  <a:srgbClr val="bfd9c9"/>
                </a:solidFill>
                <a:effectLst/>
                <a:uFillTx/>
                <a:latin typeface="Calibri"/>
                <a:ea typeface="Calibri"/>
              </a:rPr>
              <a:t>Keep every decision traceable, defensible and disclosure ready.</a:t>
            </a:r>
            <a:endParaRPr b="0" lang="en-US" sz="850" strike="noStrike" u="none">
              <a:solidFill>
                <a:srgbClr val="ffffff"/>
              </a:solidFill>
              <a:effectLst/>
              <a:uFillTx/>
              <a:latin typeface="Arial"/>
            </a:endParaRPr>
          </a:p>
        </p:txBody>
      </p:sp>
      <p:sp>
        <p:nvSpPr>
          <p:cNvPr id="4956" name="Text 54"/>
          <p:cNvSpPr/>
          <p:nvPr/>
        </p:nvSpPr>
        <p:spPr>
          <a:xfrm>
            <a:off x="6233040" y="5669280"/>
            <a:ext cx="2530800" cy="22824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100" strike="noStrike" u="none">
                <a:solidFill>
                  <a:srgbClr val="ffffff"/>
                </a:solidFill>
                <a:effectLst/>
                <a:uFillTx/>
                <a:latin typeface="Calibri"/>
                <a:ea typeface="Calibri"/>
              </a:rPr>
              <a:t>AI-native differentiation</a:t>
            </a:r>
            <a:endParaRPr b="0" lang="en-US" sz="1100" strike="noStrike" u="none">
              <a:solidFill>
                <a:srgbClr val="ffffff"/>
              </a:solidFill>
              <a:effectLst/>
              <a:uFillTx/>
              <a:latin typeface="Arial"/>
            </a:endParaRPr>
          </a:p>
        </p:txBody>
      </p:sp>
      <p:sp>
        <p:nvSpPr>
          <p:cNvPr id="4957" name="Text 55"/>
          <p:cNvSpPr/>
          <p:nvPr/>
        </p:nvSpPr>
        <p:spPr>
          <a:xfrm>
            <a:off x="6233040" y="5934600"/>
            <a:ext cx="2530800" cy="36540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850" strike="noStrike" u="none">
                <a:solidFill>
                  <a:srgbClr val="bfd9c9"/>
                </a:solidFill>
                <a:effectLst/>
                <a:uFillTx/>
                <a:latin typeface="Calibri"/>
                <a:ea typeface="Calibri"/>
              </a:rPr>
              <a:t>Use shared context to move from copilots to governed agents.</a:t>
            </a:r>
            <a:endParaRPr b="0" lang="en-US" sz="850" strike="noStrike" u="none">
              <a:solidFill>
                <a:srgbClr val="ffffff"/>
              </a:solidFill>
              <a:effectLst/>
              <a:uFillTx/>
              <a:latin typeface="Arial"/>
            </a:endParaRPr>
          </a:p>
        </p:txBody>
      </p:sp>
      <p:sp>
        <p:nvSpPr>
          <p:cNvPr id="4958" name="Text 56"/>
          <p:cNvSpPr/>
          <p:nvPr/>
        </p:nvSpPr>
        <p:spPr>
          <a:xfrm>
            <a:off x="9038520" y="5669280"/>
            <a:ext cx="2530800" cy="22824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100" strike="noStrike" u="none">
                <a:solidFill>
                  <a:srgbClr val="ffffff"/>
                </a:solidFill>
                <a:effectLst/>
                <a:uFillTx/>
                <a:latin typeface="Calibri"/>
                <a:ea typeface="Calibri"/>
              </a:rPr>
              <a:t>Platform leverage</a:t>
            </a:r>
            <a:endParaRPr b="0" lang="en-US" sz="1100" strike="noStrike" u="none">
              <a:solidFill>
                <a:srgbClr val="ffffff"/>
              </a:solidFill>
              <a:effectLst/>
              <a:uFillTx/>
              <a:latin typeface="Arial"/>
            </a:endParaRPr>
          </a:p>
        </p:txBody>
      </p:sp>
      <p:sp>
        <p:nvSpPr>
          <p:cNvPr id="4959" name="Text 57"/>
          <p:cNvSpPr/>
          <p:nvPr/>
        </p:nvSpPr>
        <p:spPr>
          <a:xfrm>
            <a:off x="9038520" y="5934600"/>
            <a:ext cx="2530800" cy="36540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850" strike="noStrike" u="none">
                <a:solidFill>
                  <a:srgbClr val="bfd9c9"/>
                </a:solidFill>
                <a:effectLst/>
                <a:uFillTx/>
                <a:latin typeface="Calibri"/>
                <a:ea typeface="Calibri"/>
              </a:rPr>
              <a:t>Build core capabilities once, then compound them across every product.</a:t>
            </a:r>
            <a:endParaRPr b="0" lang="en-US" sz="850" strike="noStrike" u="none">
              <a:solidFill>
                <a:srgbClr val="ffffff"/>
              </a:solidFill>
              <a:effectLst/>
              <a:uFillTx/>
              <a:latin typeface="Arial"/>
            </a:endParaRPr>
          </a:p>
        </p:txBody>
      </p:sp>
      <p:sp>
        <p:nvSpPr>
          <p:cNvPr id="4960" name="Text 58"/>
          <p:cNvSpPr/>
          <p:nvPr/>
        </p:nvSpPr>
        <p:spPr>
          <a:xfrm>
            <a:off x="621720" y="6464880"/>
            <a:ext cx="9875160" cy="18252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i="1" lang="en-US" sz="700" strike="noStrike" u="none">
                <a:solidFill>
                  <a:srgbClr val="769585"/>
                </a:solidFill>
                <a:effectLst/>
                <a:uFillTx/>
                <a:latin typeface="Calibri"/>
                <a:ea typeface="Calibri"/>
              </a:rPr>
              <a:t>Strategic direction beyond 2027. Sequencing and investment gates remain subject to customer validation, architecture readiness and annual portfolio decisions.</a:t>
            </a:r>
            <a:endParaRPr b="0" lang="en-US" sz="700" strike="noStrike" u="none">
              <a:solidFill>
                <a:srgbClr val="ffffff"/>
              </a:solidFill>
              <a:effectLst/>
              <a:uFillTx/>
              <a:latin typeface="Arial"/>
            </a:endParaRPr>
          </a:p>
        </p:txBody>
      </p:sp>
      <p:sp>
        <p:nvSpPr>
          <p:cNvPr id="4961" name="PlaceHolder 1"/>
          <p:cNvSpPr>
            <a:spLocks noGrp="1"/>
          </p:cNvSpPr>
          <p:nvPr>
            <p:ph type="sldNum" idx="108"/>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3dcd58"/>
                </a:solidFill>
                <a:effectLst/>
                <a:uFillTx/>
                <a:latin typeface="Calibri"/>
                <a:ea typeface="Calibri"/>
              </a:defRPr>
            </a:lvl1pPr>
          </a:lstStyle>
          <a:p>
            <a:pPr indent="0" algn="r" defTabSz="914400">
              <a:lnSpc>
                <a:spcPct val="100000"/>
              </a:lnSpc>
              <a:buNone/>
            </a:pPr>
            <a:fld id="{FE7389CB-BD98-4AEA-AFAC-4F306A1C4121}" type="slidenum">
              <a:rPr b="1" lang="en-US" sz="800" strike="noStrike" u="none">
                <a:solidFill>
                  <a:srgbClr val="3dcd58"/>
                </a:solidFill>
                <a:effectLst/>
                <a:uFillTx/>
                <a:latin typeface="Calibri"/>
                <a:ea typeface="Calibri"/>
              </a:rPr>
              <a:t>&lt;number&gt;</a:t>
            </a:fld>
            <a:endParaRPr b="0" lang="en-US" sz="800" strike="noStrike" u="non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1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5730"/>
        </a:solidFill>
      </p:bgPr>
    </p:bg>
    <p:spTree>
      <p:nvGrpSpPr>
        <p:cNvPr id="1" name=""/>
        <p:cNvGrpSpPr/>
        <p:nvPr/>
      </p:nvGrpSpPr>
      <p:grpSpPr>
        <a:xfrm>
          <a:off x="0" y="0"/>
          <a:ext cx="0" cy="0"/>
          <a:chOff x="0" y="0"/>
          <a:chExt cx="0" cy="0"/>
        </a:xfrm>
      </p:grpSpPr>
      <p:sp>
        <p:nvSpPr>
          <p:cNvPr id="4962"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4963"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4964" name="Shape 2"/>
          <p:cNvSpPr/>
          <p:nvPr/>
        </p:nvSpPr>
        <p:spPr>
          <a:xfrm>
            <a:off x="8641080" y="822960"/>
            <a:ext cx="360" cy="5212080"/>
          </a:xfrm>
          <a:prstGeom prst="line">
            <a:avLst/>
          </a:prstGeom>
          <a:ln w="12700">
            <a:solidFill>
              <a:srgbClr val="2c8058"/>
            </a:solidFill>
            <a:round/>
          </a:ln>
        </p:spPr>
        <p:style>
          <a:lnRef idx="0"/>
          <a:fillRef idx="0"/>
          <a:effectRef idx="0"/>
          <a:fontRef idx="minor"/>
        </p:style>
        <p:txBody>
          <a:bodyPr lIns="90000" rIns="90000" tIns="45000" bIns="45000" anchor="t" anchorCtr="1">
            <a:noAutofit/>
          </a:bodyPr>
          <a:p>
            <a:endParaRPr b="0" lang="en-US" sz="1800" strike="noStrike" u="none">
              <a:solidFill>
                <a:srgbClr val="ffffff"/>
              </a:solidFill>
              <a:effectLst/>
              <a:uFillTx/>
              <a:latin typeface="Arial"/>
            </a:endParaRPr>
          </a:p>
        </p:txBody>
      </p:sp>
      <p:sp>
        <p:nvSpPr>
          <p:cNvPr id="4965" name="Text 3"/>
          <p:cNvSpPr/>
          <p:nvPr/>
        </p:nvSpPr>
        <p:spPr>
          <a:xfrm>
            <a:off x="9144000" y="841320"/>
            <a:ext cx="2194200" cy="22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81" strike="noStrike" u="none">
                <a:solidFill>
                  <a:srgbClr val="bfe6ce"/>
                </a:solidFill>
                <a:effectLst/>
                <a:uFillTx/>
                <a:latin typeface="Calibri"/>
                <a:ea typeface="Calibri"/>
              </a:rPr>
              <a:t>RA+ ROADMAP</a:t>
            </a:r>
            <a:endParaRPr b="0" lang="en-US" sz="900" strike="noStrike" u="none">
              <a:solidFill>
                <a:srgbClr val="ffffff"/>
              </a:solidFill>
              <a:effectLst/>
              <a:uFillTx/>
              <a:latin typeface="Arial"/>
            </a:endParaRPr>
          </a:p>
        </p:txBody>
      </p:sp>
      <p:sp>
        <p:nvSpPr>
          <p:cNvPr id="4966" name="Text 4"/>
          <p:cNvSpPr/>
          <p:nvPr/>
        </p:nvSpPr>
        <p:spPr>
          <a:xfrm>
            <a:off x="9144000" y="1325880"/>
            <a:ext cx="2194200" cy="1462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3600" strike="noStrike" u="none">
                <a:solidFill>
                  <a:srgbClr val="ffffff"/>
                </a:solidFill>
                <a:effectLst/>
                <a:uFillTx/>
                <a:latin typeface="Calibri"/>
                <a:ea typeface="Calibri"/>
              </a:rPr>
              <a:t>2026</a:t>
            </a:r>
            <a:endParaRPr b="0" lang="en-US" sz="3600" strike="noStrike" u="none">
              <a:solidFill>
                <a:srgbClr val="ffffff"/>
              </a:solidFill>
              <a:effectLst/>
              <a:uFillTx/>
              <a:latin typeface="Arial"/>
            </a:endParaRPr>
          </a:p>
          <a:p>
            <a:pPr defTabSz="914400">
              <a:lnSpc>
                <a:spcPct val="100000"/>
              </a:lnSpc>
              <a:tabLst>
                <a:tab algn="l" pos="0"/>
              </a:tabLst>
            </a:pPr>
            <a:r>
              <a:rPr b="1" lang="en-US" sz="3600" strike="noStrike" u="none">
                <a:solidFill>
                  <a:srgbClr val="ffffff"/>
                </a:solidFill>
                <a:effectLst/>
                <a:uFillTx/>
                <a:latin typeface="Calibri"/>
                <a:ea typeface="Calibri"/>
              </a:rPr>
              <a:t>2027</a:t>
            </a:r>
            <a:endParaRPr b="0" lang="en-US" sz="3600" strike="noStrike" u="none">
              <a:solidFill>
                <a:srgbClr val="ffffff"/>
              </a:solidFill>
              <a:effectLst/>
              <a:uFillTx/>
              <a:latin typeface="Arial"/>
            </a:endParaRPr>
          </a:p>
        </p:txBody>
      </p:sp>
      <p:sp>
        <p:nvSpPr>
          <p:cNvPr id="4967" name="Text 5"/>
          <p:cNvSpPr/>
          <p:nvPr/>
        </p:nvSpPr>
        <p:spPr>
          <a:xfrm>
            <a:off x="621720" y="960120"/>
            <a:ext cx="71319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221" strike="noStrike" u="none">
                <a:solidFill>
                  <a:srgbClr val="bfe6ce"/>
                </a:solidFill>
                <a:effectLst/>
                <a:uFillTx/>
                <a:latin typeface="Calibri"/>
                <a:ea typeface="Calibri"/>
              </a:rPr>
              <a:t>APPENDIX</a:t>
            </a:r>
            <a:endParaRPr b="0" lang="en-US" sz="1100" strike="noStrike" u="none">
              <a:solidFill>
                <a:srgbClr val="ffffff"/>
              </a:solidFill>
              <a:effectLst/>
              <a:uFillTx/>
              <a:latin typeface="Arial"/>
            </a:endParaRPr>
          </a:p>
        </p:txBody>
      </p:sp>
      <p:sp>
        <p:nvSpPr>
          <p:cNvPr id="4968" name="Text 6"/>
          <p:cNvSpPr/>
          <p:nvPr/>
        </p:nvSpPr>
        <p:spPr>
          <a:xfrm>
            <a:off x="621720" y="1508760"/>
            <a:ext cx="191988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5800" strike="noStrike" u="none">
                <a:solidFill>
                  <a:srgbClr val="3dcd58"/>
                </a:solidFill>
                <a:effectLst/>
                <a:uFillTx/>
                <a:latin typeface="Calibri"/>
                <a:ea typeface="Calibri"/>
              </a:rPr>
              <a:t>05b</a:t>
            </a:r>
            <a:endParaRPr b="0" lang="en-US" sz="5800" strike="noStrike" u="none">
              <a:solidFill>
                <a:srgbClr val="ffffff"/>
              </a:solidFill>
              <a:effectLst/>
              <a:uFillTx/>
              <a:latin typeface="Arial"/>
            </a:endParaRPr>
          </a:p>
        </p:txBody>
      </p:sp>
      <p:sp>
        <p:nvSpPr>
          <p:cNvPr id="4969" name="Text 7"/>
          <p:cNvSpPr/>
          <p:nvPr/>
        </p:nvSpPr>
        <p:spPr>
          <a:xfrm>
            <a:off x="621720" y="2606040"/>
            <a:ext cx="7406280" cy="11426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ffffff"/>
                </a:solidFill>
                <a:effectLst/>
                <a:uFillTx/>
                <a:latin typeface="Calibri"/>
                <a:ea typeface="Calibri"/>
              </a:rPr>
              <a:t>Energy &amp; Efficiency product roadmaps</a:t>
            </a:r>
            <a:endParaRPr b="0" lang="en-US" sz="3200" strike="noStrike" u="none">
              <a:solidFill>
                <a:srgbClr val="ffffff"/>
              </a:solidFill>
              <a:effectLst/>
              <a:uFillTx/>
              <a:latin typeface="Arial"/>
            </a:endParaRPr>
          </a:p>
        </p:txBody>
      </p:sp>
      <p:sp>
        <p:nvSpPr>
          <p:cNvPr id="4970" name="Text 8"/>
          <p:cNvSpPr/>
          <p:nvPr/>
        </p:nvSpPr>
        <p:spPr>
          <a:xfrm>
            <a:off x="621720" y="4005000"/>
            <a:ext cx="704052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400" strike="noStrike" u="none">
                <a:solidFill>
                  <a:srgbClr val="d6eadf"/>
                </a:solidFill>
                <a:effectLst/>
                <a:uFillTx/>
                <a:latin typeface="Calibri"/>
                <a:ea typeface="Calibri"/>
              </a:rPr>
              <a:t>One page per product, in family order, with its own milestones. Full detail lives on the product pages linked from the roadmap gap matrix.</a:t>
            </a:r>
            <a:endParaRPr b="0" lang="en-US" sz="14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971"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4972"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4973" name="Shape 2"/>
          <p:cNvSpPr/>
          <p:nvPr/>
        </p:nvSpPr>
        <p:spPr>
          <a:xfrm>
            <a:off x="621720" y="311040"/>
            <a:ext cx="334188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974" name="Text 3"/>
          <p:cNvSpPr/>
          <p:nvPr/>
        </p:nvSpPr>
        <p:spPr>
          <a:xfrm>
            <a:off x="804600" y="329040"/>
            <a:ext cx="301248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ENERGY &amp; EFFICIENCY ROADMAP</a:t>
            </a:r>
            <a:endParaRPr b="0" lang="en-US" sz="950" strike="noStrike" u="none">
              <a:solidFill>
                <a:srgbClr val="000000"/>
              </a:solidFill>
              <a:effectLst/>
              <a:uFillTx/>
              <a:latin typeface="Arial"/>
            </a:endParaRPr>
          </a:p>
        </p:txBody>
      </p:sp>
      <p:sp>
        <p:nvSpPr>
          <p:cNvPr id="4975"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Energy Efficiency</a:t>
            </a:r>
            <a:endParaRPr b="0" lang="en-US" sz="3200" strike="noStrike" u="none">
              <a:solidFill>
                <a:srgbClr val="000000"/>
              </a:solidFill>
              <a:effectLst/>
              <a:uFillTx/>
              <a:latin typeface="Arial"/>
            </a:endParaRPr>
          </a:p>
        </p:txBody>
      </p:sp>
      <p:sp>
        <p:nvSpPr>
          <p:cNvPr id="4976"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From measure library to funded, verified savings</a:t>
            </a:r>
            <a:endParaRPr b="0" lang="en-US" sz="1250" strike="noStrike" u="none">
              <a:solidFill>
                <a:srgbClr val="000000"/>
              </a:solidFill>
              <a:effectLst/>
              <a:uFillTx/>
              <a:latin typeface="Arial"/>
            </a:endParaRPr>
          </a:p>
        </p:txBody>
      </p:sp>
      <p:sp>
        <p:nvSpPr>
          <p:cNvPr id="4977"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4978" name="Shape 7"/>
          <p:cNvSpPr/>
          <p:nvPr/>
        </p:nvSpPr>
        <p:spPr>
          <a:xfrm>
            <a:off x="6217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979"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4980"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Q4 2026</a:t>
            </a:r>
            <a:endParaRPr b="0" lang="en-US" sz="900" strike="noStrike" u="none">
              <a:solidFill>
                <a:srgbClr val="000000"/>
              </a:solidFill>
              <a:effectLst/>
              <a:uFillTx/>
              <a:latin typeface="Arial"/>
            </a:endParaRPr>
          </a:p>
        </p:txBody>
      </p:sp>
      <p:sp>
        <p:nvSpPr>
          <p:cNvPr id="4981"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Recommendations launch</a:t>
            </a:r>
            <a:endParaRPr b="0" lang="en-US" sz="1600" strike="noStrike" u="none">
              <a:solidFill>
                <a:srgbClr val="000000"/>
              </a:solidFill>
              <a:effectLst/>
              <a:uFillTx/>
              <a:latin typeface="Arial"/>
            </a:endParaRPr>
          </a:p>
        </p:txBody>
      </p:sp>
      <p:sp>
        <p:nvSpPr>
          <p:cNvPr id="4982" name="Text 11"/>
          <p:cNvSpPr/>
          <p:nvPr/>
        </p:nvSpPr>
        <p:spPr>
          <a:xfrm>
            <a:off x="8229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Recommendations engine with energy, carbon and cost cobenefits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ECM library first release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Advanced scenario analysis and decarbonization planning, initiatives and actions management</a:t>
            </a:r>
            <a:endParaRPr b="0" lang="en-US" sz="1100" strike="noStrike" u="none">
              <a:solidFill>
                <a:srgbClr val="000000"/>
              </a:solidFill>
              <a:effectLst/>
              <a:uFillTx/>
              <a:latin typeface="Arial"/>
            </a:endParaRPr>
          </a:p>
        </p:txBody>
      </p:sp>
      <p:sp>
        <p:nvSpPr>
          <p:cNvPr id="4983" name="Shape 12"/>
          <p:cNvSpPr/>
          <p:nvPr/>
        </p:nvSpPr>
        <p:spPr>
          <a:xfrm>
            <a:off x="342756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984" name="Shape 13"/>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4985" name="Text 14"/>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H1 2027</a:t>
            </a:r>
            <a:endParaRPr b="0" lang="en-US" sz="900" strike="noStrike" u="none">
              <a:solidFill>
                <a:srgbClr val="000000"/>
              </a:solidFill>
              <a:effectLst/>
              <a:uFillTx/>
              <a:latin typeface="Arial"/>
            </a:endParaRPr>
          </a:p>
        </p:txBody>
      </p:sp>
      <p:sp>
        <p:nvSpPr>
          <p:cNvPr id="4986" name="Text 15"/>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Depth</a:t>
            </a:r>
            <a:endParaRPr b="0" lang="en-US" sz="1600" strike="noStrike" u="none">
              <a:solidFill>
                <a:srgbClr val="000000"/>
              </a:solidFill>
              <a:effectLst/>
              <a:uFillTx/>
              <a:latin typeface="Arial"/>
            </a:endParaRPr>
          </a:p>
        </p:txBody>
      </p:sp>
      <p:sp>
        <p:nvSpPr>
          <p:cNvPr id="4987" name="Text 16"/>
          <p:cNvSpPr/>
          <p:nvPr/>
        </p:nvSpPr>
        <p:spPr>
          <a:xfrm>
            <a:off x="362844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Advanced ECM library covering energy and carbon cobenefits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Audit digitization: findings captured once, reused across sites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Measure level costing and payback</a:t>
            </a:r>
            <a:endParaRPr b="0" lang="en-US" sz="1100" strike="noStrike" u="none">
              <a:solidFill>
                <a:srgbClr val="000000"/>
              </a:solidFill>
              <a:effectLst/>
              <a:uFillTx/>
              <a:latin typeface="Arial"/>
            </a:endParaRPr>
          </a:p>
        </p:txBody>
      </p:sp>
      <p:sp>
        <p:nvSpPr>
          <p:cNvPr id="4988" name="Shape 17"/>
          <p:cNvSpPr/>
          <p:nvPr/>
        </p:nvSpPr>
        <p:spPr>
          <a:xfrm>
            <a:off x="623304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989" name="Shape 18"/>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4990" name="Text 19"/>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H2 2027</a:t>
            </a:r>
            <a:endParaRPr b="0" lang="en-US" sz="900" strike="noStrike" u="none">
              <a:solidFill>
                <a:srgbClr val="000000"/>
              </a:solidFill>
              <a:effectLst/>
              <a:uFillTx/>
              <a:latin typeface="Arial"/>
            </a:endParaRPr>
          </a:p>
        </p:txBody>
      </p:sp>
      <p:sp>
        <p:nvSpPr>
          <p:cNvPr id="4991" name="Text 20"/>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Verification</a:t>
            </a:r>
            <a:endParaRPr b="0" lang="en-US" sz="1600" strike="noStrike" u="none">
              <a:solidFill>
                <a:srgbClr val="000000"/>
              </a:solidFill>
              <a:effectLst/>
              <a:uFillTx/>
              <a:latin typeface="Arial"/>
            </a:endParaRPr>
          </a:p>
        </p:txBody>
      </p:sp>
      <p:sp>
        <p:nvSpPr>
          <p:cNvPr id="4992" name="Text 21"/>
          <p:cNvSpPr/>
          <p:nvPr/>
        </p:nvSpPr>
        <p:spPr>
          <a:xfrm>
            <a:off x="643428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Savings verification against M&amp;V baselines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Portfolio level programme tracking</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Recommendation ranking by value at risk and payback</a:t>
            </a:r>
            <a:endParaRPr b="0" lang="en-US" sz="1100" strike="noStrike" u="none">
              <a:solidFill>
                <a:srgbClr val="000000"/>
              </a:solidFill>
              <a:effectLst/>
              <a:uFillTx/>
              <a:latin typeface="Arial"/>
            </a:endParaRPr>
          </a:p>
        </p:txBody>
      </p:sp>
      <p:sp>
        <p:nvSpPr>
          <p:cNvPr id="4993" name="Shape 22"/>
          <p:cNvSpPr/>
          <p:nvPr/>
        </p:nvSpPr>
        <p:spPr>
          <a:xfrm>
            <a:off x="90385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994" name="Shape 23"/>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4995" name="Text 24"/>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2028 AND BEYOND</a:t>
            </a:r>
            <a:endParaRPr b="0" lang="en-US" sz="900" strike="noStrike" u="none">
              <a:solidFill>
                <a:srgbClr val="000000"/>
              </a:solidFill>
              <a:effectLst/>
              <a:uFillTx/>
              <a:latin typeface="Arial"/>
            </a:endParaRPr>
          </a:p>
        </p:txBody>
      </p:sp>
      <p:sp>
        <p:nvSpPr>
          <p:cNvPr id="4996" name="Text 25"/>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Directional</a:t>
            </a:r>
            <a:endParaRPr b="0" lang="en-US" sz="1600" strike="noStrike" u="none">
              <a:solidFill>
                <a:srgbClr val="000000"/>
              </a:solidFill>
              <a:effectLst/>
              <a:uFillTx/>
              <a:latin typeface="Arial"/>
            </a:endParaRPr>
          </a:p>
        </p:txBody>
      </p:sp>
      <p:sp>
        <p:nvSpPr>
          <p:cNvPr id="4997" name="Text 26"/>
          <p:cNvSpPr/>
          <p:nvPr/>
        </p:nvSpPr>
        <p:spPr>
          <a:xfrm>
            <a:off x="92397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AI generated measure recommendations tuned to site behaviour</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Closed loop from recommendation to capital plan to verified saving</a:t>
            </a:r>
            <a:endParaRPr b="0" lang="en-US" sz="1100" strike="noStrike" u="none">
              <a:solidFill>
                <a:srgbClr val="000000"/>
              </a:solidFill>
              <a:effectLst/>
              <a:uFillTx/>
              <a:latin typeface="Arial"/>
            </a:endParaRPr>
          </a:p>
        </p:txBody>
      </p:sp>
      <p:sp>
        <p:nvSpPr>
          <p:cNvPr id="4998" name="Shape 27"/>
          <p:cNvSpPr/>
          <p:nvPr/>
        </p:nvSpPr>
        <p:spPr>
          <a:xfrm>
            <a:off x="621720" y="5650920"/>
            <a:ext cx="10947600" cy="585000"/>
          </a:xfrm>
          <a:prstGeom prst="roundRect">
            <a:avLst>
              <a:gd name="adj" fmla="val 12500"/>
            </a:avLst>
          </a:prstGeom>
          <a:solidFill>
            <a:srgbClr val="effaf1"/>
          </a:solidFill>
          <a:ln w="12700">
            <a:solidFill>
              <a:srgbClr val="bce8c9"/>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4999" name="Shape 28"/>
          <p:cNvSpPr/>
          <p:nvPr/>
        </p:nvSpPr>
        <p:spPr>
          <a:xfrm>
            <a:off x="676800" y="5760720"/>
            <a:ext cx="45360" cy="3654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000" name="Text 29"/>
          <p:cNvSpPr/>
          <p:nvPr/>
        </p:nvSpPr>
        <p:spPr>
          <a:xfrm>
            <a:off x="859680" y="5650920"/>
            <a:ext cx="10527120" cy="585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050" strike="noStrike" u="none">
                <a:solidFill>
                  <a:srgbClr val="3a423c"/>
                </a:solidFill>
                <a:effectLst/>
                <a:uFillTx/>
                <a:latin typeface="Calibri"/>
                <a:ea typeface="Calibri"/>
              </a:rPr>
              <a:t>Capability position: Market leading. Recommendations launch in Q4 2026 and no rival links energy, carbon and cost cobenefits on one platform today. Product page: /energy-products/energy-efficiency. Roadmap gap matrix: /competitor-matrix.</a:t>
            </a:r>
            <a:endParaRPr b="0" lang="en-US" sz="1050" strike="noStrike" u="none">
              <a:solidFill>
                <a:srgbClr val="000000"/>
              </a:solidFill>
              <a:effectLst/>
              <a:uFillTx/>
              <a:latin typeface="Arial"/>
            </a:endParaRPr>
          </a:p>
        </p:txBody>
      </p:sp>
      <p:sp>
        <p:nvSpPr>
          <p:cNvPr id="5001" name="Shape 30"/>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002" name="Text 31"/>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5003" name="Text 32"/>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5004" name="PlaceHolder 1"/>
          <p:cNvSpPr>
            <a:spLocks noGrp="1"/>
          </p:cNvSpPr>
          <p:nvPr>
            <p:ph type="sldNum" idx="109"/>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2EA46200-3B98-455C-8F0D-D5831AF0105B}"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005"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5006"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5007" name="Shape 2"/>
          <p:cNvSpPr/>
          <p:nvPr/>
        </p:nvSpPr>
        <p:spPr>
          <a:xfrm>
            <a:off x="621720" y="311040"/>
            <a:ext cx="334188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008" name="Text 3"/>
          <p:cNvSpPr/>
          <p:nvPr/>
        </p:nvSpPr>
        <p:spPr>
          <a:xfrm>
            <a:off x="804600" y="329040"/>
            <a:ext cx="301248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ENERGY &amp; EFFICIENCY ROADMAP</a:t>
            </a:r>
            <a:endParaRPr b="0" lang="en-US" sz="950" strike="noStrike" u="none">
              <a:solidFill>
                <a:srgbClr val="000000"/>
              </a:solidFill>
              <a:effectLst/>
              <a:uFillTx/>
              <a:latin typeface="Arial"/>
            </a:endParaRPr>
          </a:p>
        </p:txBody>
      </p:sp>
      <p:sp>
        <p:nvSpPr>
          <p:cNvPr id="5009"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Capital Asset Planning</a:t>
            </a:r>
            <a:endParaRPr b="0" lang="en-US" sz="3200" strike="noStrike" u="none">
              <a:solidFill>
                <a:srgbClr val="000000"/>
              </a:solidFill>
              <a:effectLst/>
              <a:uFillTx/>
              <a:latin typeface="Arial"/>
            </a:endParaRPr>
          </a:p>
        </p:txBody>
      </p:sp>
      <p:sp>
        <p:nvSpPr>
          <p:cNvPr id="5010"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Turning measures and risk into a funded capital plan</a:t>
            </a:r>
            <a:endParaRPr b="0" lang="en-US" sz="1250" strike="noStrike" u="none">
              <a:solidFill>
                <a:srgbClr val="000000"/>
              </a:solidFill>
              <a:effectLst/>
              <a:uFillTx/>
              <a:latin typeface="Arial"/>
            </a:endParaRPr>
          </a:p>
        </p:txBody>
      </p:sp>
      <p:sp>
        <p:nvSpPr>
          <p:cNvPr id="5011"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012" name="Shape 7"/>
          <p:cNvSpPr/>
          <p:nvPr/>
        </p:nvSpPr>
        <p:spPr>
          <a:xfrm>
            <a:off x="6217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013"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014"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Q4 2026</a:t>
            </a:r>
            <a:endParaRPr b="0" lang="en-US" sz="900" strike="noStrike" u="none">
              <a:solidFill>
                <a:srgbClr val="000000"/>
              </a:solidFill>
              <a:effectLst/>
              <a:uFillTx/>
              <a:latin typeface="Arial"/>
            </a:endParaRPr>
          </a:p>
        </p:txBody>
      </p:sp>
      <p:sp>
        <p:nvSpPr>
          <p:cNvPr id="5015"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Register</a:t>
            </a:r>
            <a:endParaRPr b="0" lang="en-US" sz="1600" strike="noStrike" u="none">
              <a:solidFill>
                <a:srgbClr val="000000"/>
              </a:solidFill>
              <a:effectLst/>
              <a:uFillTx/>
              <a:latin typeface="Arial"/>
            </a:endParaRPr>
          </a:p>
        </p:txBody>
      </p:sp>
      <p:sp>
        <p:nvSpPr>
          <p:cNvPr id="5016" name="Text 11"/>
          <p:cNvSpPr/>
          <p:nvPr/>
        </p:nvSpPr>
        <p:spPr>
          <a:xfrm>
            <a:off x="8229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Asset register aligned to the shared hierarchy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Condition and criticality attributes</a:t>
            </a:r>
            <a:endParaRPr b="0" lang="en-US" sz="1100" strike="noStrike" u="none">
              <a:solidFill>
                <a:srgbClr val="000000"/>
              </a:solidFill>
              <a:effectLst/>
              <a:uFillTx/>
              <a:latin typeface="Arial"/>
            </a:endParaRPr>
          </a:p>
        </p:txBody>
      </p:sp>
      <p:sp>
        <p:nvSpPr>
          <p:cNvPr id="5017" name="Shape 12"/>
          <p:cNvSpPr/>
          <p:nvPr/>
        </p:nvSpPr>
        <p:spPr>
          <a:xfrm>
            <a:off x="342756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018" name="Shape 13"/>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019" name="Text 14"/>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H1 2027</a:t>
            </a:r>
            <a:endParaRPr b="0" lang="en-US" sz="900" strike="noStrike" u="none">
              <a:solidFill>
                <a:srgbClr val="000000"/>
              </a:solidFill>
              <a:effectLst/>
              <a:uFillTx/>
              <a:latin typeface="Arial"/>
            </a:endParaRPr>
          </a:p>
        </p:txBody>
      </p:sp>
      <p:sp>
        <p:nvSpPr>
          <p:cNvPr id="5020" name="Text 15"/>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Planning</a:t>
            </a:r>
            <a:endParaRPr b="0" lang="en-US" sz="1600" strike="noStrike" u="none">
              <a:solidFill>
                <a:srgbClr val="000000"/>
              </a:solidFill>
              <a:effectLst/>
              <a:uFillTx/>
              <a:latin typeface="Arial"/>
            </a:endParaRPr>
          </a:p>
        </p:txBody>
      </p:sp>
      <p:sp>
        <p:nvSpPr>
          <p:cNvPr id="5021" name="Text 16"/>
          <p:cNvSpPr/>
          <p:nvPr/>
        </p:nvSpPr>
        <p:spPr>
          <a:xfrm>
            <a:off x="362844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Replacement and renewal planning</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Capital pipeline fed by ranked efficiency measures</a:t>
            </a:r>
            <a:endParaRPr b="0" lang="en-US" sz="1100" strike="noStrike" u="none">
              <a:solidFill>
                <a:srgbClr val="000000"/>
              </a:solidFill>
              <a:effectLst/>
              <a:uFillTx/>
              <a:latin typeface="Arial"/>
            </a:endParaRPr>
          </a:p>
        </p:txBody>
      </p:sp>
      <p:sp>
        <p:nvSpPr>
          <p:cNvPr id="5022" name="Shape 17"/>
          <p:cNvSpPr/>
          <p:nvPr/>
        </p:nvSpPr>
        <p:spPr>
          <a:xfrm>
            <a:off x="623304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023" name="Shape 18"/>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024" name="Text 19"/>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H2 2027</a:t>
            </a:r>
            <a:endParaRPr b="0" lang="en-US" sz="900" strike="noStrike" u="none">
              <a:solidFill>
                <a:srgbClr val="000000"/>
              </a:solidFill>
              <a:effectLst/>
              <a:uFillTx/>
              <a:latin typeface="Arial"/>
            </a:endParaRPr>
          </a:p>
        </p:txBody>
      </p:sp>
      <p:sp>
        <p:nvSpPr>
          <p:cNvPr id="5025" name="Text 20"/>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Prioritisation</a:t>
            </a:r>
            <a:endParaRPr b="0" lang="en-US" sz="1600" strike="noStrike" u="none">
              <a:solidFill>
                <a:srgbClr val="000000"/>
              </a:solidFill>
              <a:effectLst/>
              <a:uFillTx/>
              <a:latin typeface="Arial"/>
            </a:endParaRPr>
          </a:p>
        </p:txBody>
      </p:sp>
      <p:sp>
        <p:nvSpPr>
          <p:cNvPr id="5026" name="Text 21"/>
          <p:cNvSpPr/>
          <p:nvPr/>
        </p:nvSpPr>
        <p:spPr>
          <a:xfrm>
            <a:off x="643428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Prioritisation by payback, carbon and value at risk</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Multi year capital scenarios</a:t>
            </a:r>
            <a:endParaRPr b="0" lang="en-US" sz="1100" strike="noStrike" u="none">
              <a:solidFill>
                <a:srgbClr val="000000"/>
              </a:solidFill>
              <a:effectLst/>
              <a:uFillTx/>
              <a:latin typeface="Arial"/>
            </a:endParaRPr>
          </a:p>
        </p:txBody>
      </p:sp>
      <p:sp>
        <p:nvSpPr>
          <p:cNvPr id="5027" name="Shape 22"/>
          <p:cNvSpPr/>
          <p:nvPr/>
        </p:nvSpPr>
        <p:spPr>
          <a:xfrm>
            <a:off x="90385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028" name="Shape 23"/>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029" name="Text 24"/>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2028 AND BEYOND</a:t>
            </a:r>
            <a:endParaRPr b="0" lang="en-US" sz="900" strike="noStrike" u="none">
              <a:solidFill>
                <a:srgbClr val="000000"/>
              </a:solidFill>
              <a:effectLst/>
              <a:uFillTx/>
              <a:latin typeface="Arial"/>
            </a:endParaRPr>
          </a:p>
        </p:txBody>
      </p:sp>
      <p:sp>
        <p:nvSpPr>
          <p:cNvPr id="5030" name="Text 25"/>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Directional</a:t>
            </a:r>
            <a:endParaRPr b="0" lang="en-US" sz="1600" strike="noStrike" u="none">
              <a:solidFill>
                <a:srgbClr val="000000"/>
              </a:solidFill>
              <a:effectLst/>
              <a:uFillTx/>
              <a:latin typeface="Arial"/>
            </a:endParaRPr>
          </a:p>
        </p:txBody>
      </p:sp>
      <p:sp>
        <p:nvSpPr>
          <p:cNvPr id="5031" name="Text 26"/>
          <p:cNvSpPr/>
          <p:nvPr/>
        </p:nvSpPr>
        <p:spPr>
          <a:xfrm>
            <a:off x="92397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Portfolio optimisation across efficiency, electrification and resilience</a:t>
            </a:r>
            <a:endParaRPr b="0" lang="en-US" sz="1100" strike="noStrike" u="none">
              <a:solidFill>
                <a:srgbClr val="000000"/>
              </a:solidFill>
              <a:effectLst/>
              <a:uFillTx/>
              <a:latin typeface="Arial"/>
            </a:endParaRPr>
          </a:p>
        </p:txBody>
      </p:sp>
      <p:sp>
        <p:nvSpPr>
          <p:cNvPr id="5032" name="Shape 27"/>
          <p:cNvSpPr/>
          <p:nvPr/>
        </p:nvSpPr>
        <p:spPr>
          <a:xfrm>
            <a:off x="621720" y="5650920"/>
            <a:ext cx="10947600" cy="585000"/>
          </a:xfrm>
          <a:prstGeom prst="roundRect">
            <a:avLst>
              <a:gd name="adj" fmla="val 12500"/>
            </a:avLst>
          </a:prstGeom>
          <a:solidFill>
            <a:srgbClr val="effaf1"/>
          </a:solidFill>
          <a:ln w="12700">
            <a:solidFill>
              <a:srgbClr val="bce8c9"/>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033" name="Shape 28"/>
          <p:cNvSpPr/>
          <p:nvPr/>
        </p:nvSpPr>
        <p:spPr>
          <a:xfrm>
            <a:off x="676800" y="5760720"/>
            <a:ext cx="45360" cy="3654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034" name="Text 29"/>
          <p:cNvSpPr/>
          <p:nvPr/>
        </p:nvSpPr>
        <p:spPr>
          <a:xfrm>
            <a:off x="859680" y="5650920"/>
            <a:ext cx="10527120" cy="585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050" strike="noStrike" u="none">
                <a:solidFill>
                  <a:srgbClr val="3a423c"/>
                </a:solidFill>
                <a:effectLst/>
                <a:uFillTx/>
                <a:latin typeface="Calibri"/>
                <a:ea typeface="Calibri"/>
              </a:rPr>
              <a:t>Capability position: On parity. Asset planning tools exist. Ours is the one where the plan is fed by carbon, efficiency and priced climate risk. Product page: /energy-products/capital-asset-planning. Roadmap gap matrix: /competitor-matrix.</a:t>
            </a:r>
            <a:endParaRPr b="0" lang="en-US" sz="1050" strike="noStrike" u="none">
              <a:solidFill>
                <a:srgbClr val="000000"/>
              </a:solidFill>
              <a:effectLst/>
              <a:uFillTx/>
              <a:latin typeface="Arial"/>
            </a:endParaRPr>
          </a:p>
        </p:txBody>
      </p:sp>
      <p:sp>
        <p:nvSpPr>
          <p:cNvPr id="5035" name="Shape 30"/>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036" name="Text 31"/>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5037" name="Text 32"/>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5038" name="PlaceHolder 1"/>
          <p:cNvSpPr>
            <a:spLocks noGrp="1"/>
          </p:cNvSpPr>
          <p:nvPr>
            <p:ph type="sldNum" idx="110"/>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DDB4B6E7-4A13-493A-B02B-2FC8CDA4F9EA}"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039"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5040"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5041" name="Shape 2"/>
          <p:cNvSpPr/>
          <p:nvPr/>
        </p:nvSpPr>
        <p:spPr>
          <a:xfrm>
            <a:off x="621720" y="311040"/>
            <a:ext cx="334188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042" name="Text 3"/>
          <p:cNvSpPr/>
          <p:nvPr/>
        </p:nvSpPr>
        <p:spPr>
          <a:xfrm>
            <a:off x="804600" y="329040"/>
            <a:ext cx="301248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ENERGY &amp; EFFICIENCY ROADMAP</a:t>
            </a:r>
            <a:endParaRPr b="0" lang="en-US" sz="950" strike="noStrike" u="none">
              <a:solidFill>
                <a:srgbClr val="000000"/>
              </a:solidFill>
              <a:effectLst/>
              <a:uFillTx/>
              <a:latin typeface="Arial"/>
            </a:endParaRPr>
          </a:p>
        </p:txBody>
      </p:sp>
      <p:sp>
        <p:nvSpPr>
          <p:cNvPr id="5043"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Metering &amp; Interval Data</a:t>
            </a:r>
            <a:endParaRPr b="0" lang="en-US" sz="3200" strike="noStrike" u="none">
              <a:solidFill>
                <a:srgbClr val="000000"/>
              </a:solidFill>
              <a:effectLst/>
              <a:uFillTx/>
              <a:latin typeface="Arial"/>
            </a:endParaRPr>
          </a:p>
        </p:txBody>
      </p:sp>
      <p:sp>
        <p:nvSpPr>
          <p:cNvPr id="5044"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The data spine every energy and carbon product feeds from</a:t>
            </a:r>
            <a:endParaRPr b="0" lang="en-US" sz="1250" strike="noStrike" u="none">
              <a:solidFill>
                <a:srgbClr val="000000"/>
              </a:solidFill>
              <a:effectLst/>
              <a:uFillTx/>
              <a:latin typeface="Arial"/>
            </a:endParaRPr>
          </a:p>
        </p:txBody>
      </p:sp>
      <p:sp>
        <p:nvSpPr>
          <p:cNvPr id="5045"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046" name="Shape 7"/>
          <p:cNvSpPr/>
          <p:nvPr/>
        </p:nvSpPr>
        <p:spPr>
          <a:xfrm>
            <a:off x="6217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047"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048"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Q3 AND Q4 2026</a:t>
            </a:r>
            <a:endParaRPr b="0" lang="en-US" sz="900" strike="noStrike" u="none">
              <a:solidFill>
                <a:srgbClr val="000000"/>
              </a:solidFill>
              <a:effectLst/>
              <a:uFillTx/>
              <a:latin typeface="Arial"/>
            </a:endParaRPr>
          </a:p>
        </p:txBody>
      </p:sp>
      <p:sp>
        <p:nvSpPr>
          <p:cNvPr id="5049"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Foundations</a:t>
            </a:r>
            <a:endParaRPr b="0" lang="en-US" sz="1600" strike="noStrike" u="none">
              <a:solidFill>
                <a:srgbClr val="000000"/>
              </a:solidFill>
              <a:effectLst/>
              <a:uFillTx/>
              <a:latin typeface="Arial"/>
            </a:endParaRPr>
          </a:p>
        </p:txBody>
      </p:sp>
      <p:sp>
        <p:nvSpPr>
          <p:cNvPr id="5050" name="Text 11"/>
          <p:cNvSpPr/>
          <p:nvPr/>
        </p:nvSpPr>
        <p:spPr>
          <a:xfrm>
            <a:off x="8229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Shared site, meter and asset hierarchy on the core platform</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Interval data capture and utility connectivity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Data quality assurance rules on incoming meter streams</a:t>
            </a:r>
            <a:endParaRPr b="0" lang="en-US" sz="1100" strike="noStrike" u="none">
              <a:solidFill>
                <a:srgbClr val="000000"/>
              </a:solidFill>
              <a:effectLst/>
              <a:uFillTx/>
              <a:latin typeface="Arial"/>
            </a:endParaRPr>
          </a:p>
        </p:txBody>
      </p:sp>
      <p:sp>
        <p:nvSpPr>
          <p:cNvPr id="5051" name="Shape 12"/>
          <p:cNvSpPr/>
          <p:nvPr/>
        </p:nvSpPr>
        <p:spPr>
          <a:xfrm>
            <a:off x="342756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052" name="Shape 13"/>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053" name="Text 14"/>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H1 2027</a:t>
            </a:r>
            <a:endParaRPr b="0" lang="en-US" sz="900" strike="noStrike" u="none">
              <a:solidFill>
                <a:srgbClr val="000000"/>
              </a:solidFill>
              <a:effectLst/>
              <a:uFillTx/>
              <a:latin typeface="Arial"/>
            </a:endParaRPr>
          </a:p>
        </p:txBody>
      </p:sp>
      <p:sp>
        <p:nvSpPr>
          <p:cNvPr id="5054" name="Text 15"/>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Granularity</a:t>
            </a:r>
            <a:endParaRPr b="0" lang="en-US" sz="1600" strike="noStrike" u="none">
              <a:solidFill>
                <a:srgbClr val="000000"/>
              </a:solidFill>
              <a:effectLst/>
              <a:uFillTx/>
              <a:latin typeface="Arial"/>
            </a:endParaRPr>
          </a:p>
        </p:txBody>
      </p:sp>
      <p:sp>
        <p:nvSpPr>
          <p:cNvPr id="5055" name="Text 16"/>
          <p:cNvSpPr/>
          <p:nvPr/>
        </p:nvSpPr>
        <p:spPr>
          <a:xfrm>
            <a:off x="362844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M&amp;V baselines and normalisation for savings measurement</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Hourly emissions signals published to Carbon Performance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Self serve connector onboarding for new meter sources</a:t>
            </a:r>
            <a:endParaRPr b="0" lang="en-US" sz="1100" strike="noStrike" u="none">
              <a:solidFill>
                <a:srgbClr val="000000"/>
              </a:solidFill>
              <a:effectLst/>
              <a:uFillTx/>
              <a:latin typeface="Arial"/>
            </a:endParaRPr>
          </a:p>
        </p:txBody>
      </p:sp>
      <p:sp>
        <p:nvSpPr>
          <p:cNvPr id="5056" name="Shape 17"/>
          <p:cNvSpPr/>
          <p:nvPr/>
        </p:nvSpPr>
        <p:spPr>
          <a:xfrm>
            <a:off x="623304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057" name="Shape 18"/>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058" name="Text 19"/>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H2 2027</a:t>
            </a:r>
            <a:endParaRPr b="0" lang="en-US" sz="900" strike="noStrike" u="none">
              <a:solidFill>
                <a:srgbClr val="000000"/>
              </a:solidFill>
              <a:effectLst/>
              <a:uFillTx/>
              <a:latin typeface="Arial"/>
            </a:endParaRPr>
          </a:p>
        </p:txBody>
      </p:sp>
      <p:sp>
        <p:nvSpPr>
          <p:cNvPr id="5059" name="Text 20"/>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Scale</a:t>
            </a:r>
            <a:endParaRPr b="0" lang="en-US" sz="1600" strike="noStrike" u="none">
              <a:solidFill>
                <a:srgbClr val="000000"/>
              </a:solidFill>
              <a:effectLst/>
              <a:uFillTx/>
              <a:latin typeface="Arial"/>
            </a:endParaRPr>
          </a:p>
        </p:txBody>
      </p:sp>
      <p:sp>
        <p:nvSpPr>
          <p:cNvPr id="5060" name="Text 21"/>
          <p:cNvSpPr/>
          <p:nvPr/>
        </p:nvSpPr>
        <p:spPr>
          <a:xfrm>
            <a:off x="643428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Portfolio scale ingestion with lineage and audit trail</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Gap filling and estimation with method transparency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Interval data available to every product through the shared spine</a:t>
            </a:r>
            <a:endParaRPr b="0" lang="en-US" sz="1100" strike="noStrike" u="none">
              <a:solidFill>
                <a:srgbClr val="000000"/>
              </a:solidFill>
              <a:effectLst/>
              <a:uFillTx/>
              <a:latin typeface="Arial"/>
            </a:endParaRPr>
          </a:p>
        </p:txBody>
      </p:sp>
      <p:sp>
        <p:nvSpPr>
          <p:cNvPr id="5061" name="Shape 22"/>
          <p:cNvSpPr/>
          <p:nvPr/>
        </p:nvSpPr>
        <p:spPr>
          <a:xfrm>
            <a:off x="90385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062" name="Shape 23"/>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063" name="Text 24"/>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2028 AND BEYOND</a:t>
            </a:r>
            <a:endParaRPr b="0" lang="en-US" sz="900" strike="noStrike" u="none">
              <a:solidFill>
                <a:srgbClr val="000000"/>
              </a:solidFill>
              <a:effectLst/>
              <a:uFillTx/>
              <a:latin typeface="Arial"/>
            </a:endParaRPr>
          </a:p>
        </p:txBody>
      </p:sp>
      <p:sp>
        <p:nvSpPr>
          <p:cNvPr id="5064" name="Text 25"/>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Directional</a:t>
            </a:r>
            <a:endParaRPr b="0" lang="en-US" sz="1600" strike="noStrike" u="none">
              <a:solidFill>
                <a:srgbClr val="000000"/>
              </a:solidFill>
              <a:effectLst/>
              <a:uFillTx/>
              <a:latin typeface="Arial"/>
            </a:endParaRPr>
          </a:p>
        </p:txBody>
      </p:sp>
      <p:sp>
        <p:nvSpPr>
          <p:cNvPr id="5065" name="Text 26"/>
          <p:cNvSpPr/>
          <p:nvPr/>
        </p:nvSpPr>
        <p:spPr>
          <a:xfrm>
            <a:off x="92397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Near real time signals for flexibility and DER dispatch</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Anomaly detection on meter behaviour</a:t>
            </a:r>
            <a:endParaRPr b="0" lang="en-US" sz="1100" strike="noStrike" u="none">
              <a:solidFill>
                <a:srgbClr val="000000"/>
              </a:solidFill>
              <a:effectLst/>
              <a:uFillTx/>
              <a:latin typeface="Arial"/>
            </a:endParaRPr>
          </a:p>
        </p:txBody>
      </p:sp>
      <p:sp>
        <p:nvSpPr>
          <p:cNvPr id="5066" name="Shape 27"/>
          <p:cNvSpPr/>
          <p:nvPr/>
        </p:nvSpPr>
        <p:spPr>
          <a:xfrm>
            <a:off x="621720" y="5650920"/>
            <a:ext cx="10947600" cy="585000"/>
          </a:xfrm>
          <a:prstGeom prst="roundRect">
            <a:avLst>
              <a:gd name="adj" fmla="val 12500"/>
            </a:avLst>
          </a:prstGeom>
          <a:solidFill>
            <a:srgbClr val="effaf1"/>
          </a:solidFill>
          <a:ln w="12700">
            <a:solidFill>
              <a:srgbClr val="bce8c9"/>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067" name="Shape 28"/>
          <p:cNvSpPr/>
          <p:nvPr/>
        </p:nvSpPr>
        <p:spPr>
          <a:xfrm>
            <a:off x="676800" y="5760720"/>
            <a:ext cx="45360" cy="3654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068" name="Text 29"/>
          <p:cNvSpPr/>
          <p:nvPr/>
        </p:nvSpPr>
        <p:spPr>
          <a:xfrm>
            <a:off x="859680" y="5650920"/>
            <a:ext cx="10527120" cy="585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050" strike="noStrike" u="none">
                <a:solidFill>
                  <a:srgbClr val="3a423c"/>
                </a:solidFill>
                <a:effectLst/>
                <a:uFillTx/>
                <a:latin typeface="Calibri"/>
                <a:ea typeface="Calibri"/>
              </a:rPr>
              <a:t>Capability position: On parity. Rivals capture interval data well. Our advantage is not the capture, it is that the same interval data lands in a governed carbon inventory. Product page: /energy-products/metering-interval-data. Roadmap gap matrix: /competitor-matrix.</a:t>
            </a:r>
            <a:endParaRPr b="0" lang="en-US" sz="1050" strike="noStrike" u="none">
              <a:solidFill>
                <a:srgbClr val="000000"/>
              </a:solidFill>
              <a:effectLst/>
              <a:uFillTx/>
              <a:latin typeface="Arial"/>
            </a:endParaRPr>
          </a:p>
        </p:txBody>
      </p:sp>
      <p:sp>
        <p:nvSpPr>
          <p:cNvPr id="5069" name="Shape 30"/>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070" name="Text 31"/>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5071" name="Text 32"/>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5072" name="PlaceHolder 1"/>
          <p:cNvSpPr>
            <a:spLocks noGrp="1"/>
          </p:cNvSpPr>
          <p:nvPr>
            <p:ph type="sldNum" idx="111"/>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9D922413-D855-49BD-9484-D7E6ADA71FE4}"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073"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5074"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5075" name="Shape 2"/>
          <p:cNvSpPr/>
          <p:nvPr/>
        </p:nvSpPr>
        <p:spPr>
          <a:xfrm>
            <a:off x="621720" y="311040"/>
            <a:ext cx="334188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076" name="Text 3"/>
          <p:cNvSpPr/>
          <p:nvPr/>
        </p:nvSpPr>
        <p:spPr>
          <a:xfrm>
            <a:off x="804600" y="329040"/>
            <a:ext cx="301248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ENERGY &amp; EFFICIENCY ROADMAP</a:t>
            </a:r>
            <a:endParaRPr b="0" lang="en-US" sz="950" strike="noStrike" u="none">
              <a:solidFill>
                <a:srgbClr val="000000"/>
              </a:solidFill>
              <a:effectLst/>
              <a:uFillTx/>
              <a:latin typeface="Arial"/>
            </a:endParaRPr>
          </a:p>
        </p:txBody>
      </p:sp>
      <p:sp>
        <p:nvSpPr>
          <p:cNvPr id="5077"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Energy Portfolio Management</a:t>
            </a:r>
            <a:endParaRPr b="0" lang="en-US" sz="3200" strike="noStrike" u="none">
              <a:solidFill>
                <a:srgbClr val="000000"/>
              </a:solidFill>
              <a:effectLst/>
              <a:uFillTx/>
              <a:latin typeface="Arial"/>
            </a:endParaRPr>
          </a:p>
        </p:txBody>
      </p:sp>
      <p:sp>
        <p:nvSpPr>
          <p:cNvPr id="5078"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Budgets, reforecasts and spend under management</a:t>
            </a:r>
            <a:endParaRPr b="0" lang="en-US" sz="1250" strike="noStrike" u="none">
              <a:solidFill>
                <a:srgbClr val="000000"/>
              </a:solidFill>
              <a:effectLst/>
              <a:uFillTx/>
              <a:latin typeface="Arial"/>
            </a:endParaRPr>
          </a:p>
        </p:txBody>
      </p:sp>
      <p:sp>
        <p:nvSpPr>
          <p:cNvPr id="5079"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080" name="Shape 7"/>
          <p:cNvSpPr/>
          <p:nvPr/>
        </p:nvSpPr>
        <p:spPr>
          <a:xfrm>
            <a:off x="6217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081"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082"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Q4 2026</a:t>
            </a:r>
            <a:endParaRPr b="0" lang="en-US" sz="900" strike="noStrike" u="none">
              <a:solidFill>
                <a:srgbClr val="000000"/>
              </a:solidFill>
              <a:effectLst/>
              <a:uFillTx/>
              <a:latin typeface="Arial"/>
            </a:endParaRPr>
          </a:p>
        </p:txBody>
      </p:sp>
      <p:sp>
        <p:nvSpPr>
          <p:cNvPr id="5083"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Contracts and spend</a:t>
            </a:r>
            <a:endParaRPr b="0" lang="en-US" sz="1600" strike="noStrike" u="none">
              <a:solidFill>
                <a:srgbClr val="000000"/>
              </a:solidFill>
              <a:effectLst/>
              <a:uFillTx/>
              <a:latin typeface="Arial"/>
            </a:endParaRPr>
          </a:p>
        </p:txBody>
      </p:sp>
      <p:sp>
        <p:nvSpPr>
          <p:cNvPr id="5084" name="Text 11"/>
          <p:cNvSpPr/>
          <p:nvPr/>
        </p:nvSpPr>
        <p:spPr>
          <a:xfrm>
            <a:off x="8229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Contract and spend visibility across the portfolio</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Spend under management reporting</a:t>
            </a:r>
            <a:endParaRPr b="0" lang="en-US" sz="1100" strike="noStrike" u="none">
              <a:solidFill>
                <a:srgbClr val="000000"/>
              </a:solidFill>
              <a:effectLst/>
              <a:uFillTx/>
              <a:latin typeface="Arial"/>
            </a:endParaRPr>
          </a:p>
        </p:txBody>
      </p:sp>
      <p:sp>
        <p:nvSpPr>
          <p:cNvPr id="5085" name="Shape 12"/>
          <p:cNvSpPr/>
          <p:nvPr/>
        </p:nvSpPr>
        <p:spPr>
          <a:xfrm>
            <a:off x="342756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086" name="Shape 13"/>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087" name="Text 14"/>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H1 2027</a:t>
            </a:r>
            <a:endParaRPr b="0" lang="en-US" sz="900" strike="noStrike" u="none">
              <a:solidFill>
                <a:srgbClr val="000000"/>
              </a:solidFill>
              <a:effectLst/>
              <a:uFillTx/>
              <a:latin typeface="Arial"/>
            </a:endParaRPr>
          </a:p>
        </p:txBody>
      </p:sp>
      <p:sp>
        <p:nvSpPr>
          <p:cNvPr id="5088" name="Text 15"/>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Budgets</a:t>
            </a:r>
            <a:endParaRPr b="0" lang="en-US" sz="1600" strike="noStrike" u="none">
              <a:solidFill>
                <a:srgbClr val="000000"/>
              </a:solidFill>
              <a:effectLst/>
              <a:uFillTx/>
              <a:latin typeface="Arial"/>
            </a:endParaRPr>
          </a:p>
        </p:txBody>
      </p:sp>
      <p:sp>
        <p:nvSpPr>
          <p:cNvPr id="5089" name="Text 16"/>
          <p:cNvSpPr/>
          <p:nvPr/>
        </p:nvSpPr>
        <p:spPr>
          <a:xfrm>
            <a:off x="362844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Energy budgets by site and cost centre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Budget versus actual with variance explained</a:t>
            </a:r>
            <a:endParaRPr b="0" lang="en-US" sz="1100" strike="noStrike" u="none">
              <a:solidFill>
                <a:srgbClr val="000000"/>
              </a:solidFill>
              <a:effectLst/>
              <a:uFillTx/>
              <a:latin typeface="Arial"/>
            </a:endParaRPr>
          </a:p>
        </p:txBody>
      </p:sp>
      <p:sp>
        <p:nvSpPr>
          <p:cNvPr id="5090" name="Shape 17"/>
          <p:cNvSpPr/>
          <p:nvPr/>
        </p:nvSpPr>
        <p:spPr>
          <a:xfrm>
            <a:off x="623304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091" name="Shape 18"/>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092" name="Text 19"/>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H2 2027</a:t>
            </a:r>
            <a:endParaRPr b="0" lang="en-US" sz="900" strike="noStrike" u="none">
              <a:solidFill>
                <a:srgbClr val="000000"/>
              </a:solidFill>
              <a:effectLst/>
              <a:uFillTx/>
              <a:latin typeface="Arial"/>
            </a:endParaRPr>
          </a:p>
        </p:txBody>
      </p:sp>
      <p:sp>
        <p:nvSpPr>
          <p:cNvPr id="5093" name="Text 20"/>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Reforecasting</a:t>
            </a:r>
            <a:endParaRPr b="0" lang="en-US" sz="1600" strike="noStrike" u="none">
              <a:solidFill>
                <a:srgbClr val="000000"/>
              </a:solidFill>
              <a:effectLst/>
              <a:uFillTx/>
              <a:latin typeface="Arial"/>
            </a:endParaRPr>
          </a:p>
        </p:txBody>
      </p:sp>
      <p:sp>
        <p:nvSpPr>
          <p:cNvPr id="5094" name="Text 21"/>
          <p:cNvSpPr/>
          <p:nvPr/>
        </p:nvSpPr>
        <p:spPr>
          <a:xfrm>
            <a:off x="643428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Rolling reforecasts driven by consumption and price signals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Scenario budgets under different price paths</a:t>
            </a:r>
            <a:endParaRPr b="0" lang="en-US" sz="1100" strike="noStrike" u="none">
              <a:solidFill>
                <a:srgbClr val="000000"/>
              </a:solidFill>
              <a:effectLst/>
              <a:uFillTx/>
              <a:latin typeface="Arial"/>
            </a:endParaRPr>
          </a:p>
        </p:txBody>
      </p:sp>
      <p:sp>
        <p:nvSpPr>
          <p:cNvPr id="5095" name="Shape 22"/>
          <p:cNvSpPr/>
          <p:nvPr/>
        </p:nvSpPr>
        <p:spPr>
          <a:xfrm>
            <a:off x="90385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096" name="Shape 23"/>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097" name="Text 24"/>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2028 AND BEYOND</a:t>
            </a:r>
            <a:endParaRPr b="0" lang="en-US" sz="900" strike="noStrike" u="none">
              <a:solidFill>
                <a:srgbClr val="000000"/>
              </a:solidFill>
              <a:effectLst/>
              <a:uFillTx/>
              <a:latin typeface="Arial"/>
            </a:endParaRPr>
          </a:p>
        </p:txBody>
      </p:sp>
      <p:sp>
        <p:nvSpPr>
          <p:cNvPr id="5098" name="Text 25"/>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Directional</a:t>
            </a:r>
            <a:endParaRPr b="0" lang="en-US" sz="1600" strike="noStrike" u="none">
              <a:solidFill>
                <a:srgbClr val="000000"/>
              </a:solidFill>
              <a:effectLst/>
              <a:uFillTx/>
              <a:latin typeface="Arial"/>
            </a:endParaRPr>
          </a:p>
        </p:txBody>
      </p:sp>
      <p:sp>
        <p:nvSpPr>
          <p:cNvPr id="5099" name="Text 26"/>
          <p:cNvSpPr/>
          <p:nvPr/>
        </p:nvSpPr>
        <p:spPr>
          <a:xfrm>
            <a:off x="92397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Hedging and exposure views alongside sourcing</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Capital and operating plans on one energy view</a:t>
            </a:r>
            <a:endParaRPr b="0" lang="en-US" sz="1100" strike="noStrike" u="none">
              <a:solidFill>
                <a:srgbClr val="000000"/>
              </a:solidFill>
              <a:effectLst/>
              <a:uFillTx/>
              <a:latin typeface="Arial"/>
            </a:endParaRPr>
          </a:p>
        </p:txBody>
      </p:sp>
      <p:sp>
        <p:nvSpPr>
          <p:cNvPr id="5100" name="Shape 27"/>
          <p:cNvSpPr/>
          <p:nvPr/>
        </p:nvSpPr>
        <p:spPr>
          <a:xfrm>
            <a:off x="621720" y="5650920"/>
            <a:ext cx="10947600" cy="585000"/>
          </a:xfrm>
          <a:prstGeom prst="roundRect">
            <a:avLst>
              <a:gd name="adj" fmla="val 12500"/>
            </a:avLst>
          </a:prstGeom>
          <a:solidFill>
            <a:srgbClr val="effaf1"/>
          </a:solidFill>
          <a:ln w="12700">
            <a:solidFill>
              <a:srgbClr val="bce8c9"/>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101" name="Shape 28"/>
          <p:cNvSpPr/>
          <p:nvPr/>
        </p:nvSpPr>
        <p:spPr>
          <a:xfrm>
            <a:off x="676800" y="5760720"/>
            <a:ext cx="45360" cy="3654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102" name="Text 29"/>
          <p:cNvSpPr/>
          <p:nvPr/>
        </p:nvSpPr>
        <p:spPr>
          <a:xfrm>
            <a:off x="859680" y="5650920"/>
            <a:ext cx="10527120" cy="585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050" strike="noStrike" u="none">
                <a:solidFill>
                  <a:srgbClr val="3a423c"/>
                </a:solidFill>
                <a:effectLst/>
                <a:uFillTx/>
                <a:latin typeface="Calibri"/>
                <a:ea typeface="Calibri"/>
              </a:rPr>
              <a:t>Capability position: Market leading. Budget and reforecast workflows are thin across the peer set, and they are the CFO's language. Product page: /energy-products/energy-portfolio-management. Roadmap gap matrix: /competitor-matrix.</a:t>
            </a:r>
            <a:endParaRPr b="0" lang="en-US" sz="1050" strike="noStrike" u="none">
              <a:solidFill>
                <a:srgbClr val="000000"/>
              </a:solidFill>
              <a:effectLst/>
              <a:uFillTx/>
              <a:latin typeface="Arial"/>
            </a:endParaRPr>
          </a:p>
        </p:txBody>
      </p:sp>
      <p:sp>
        <p:nvSpPr>
          <p:cNvPr id="5103" name="Shape 30"/>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104" name="Text 31"/>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5105" name="Text 32"/>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5106" name="PlaceHolder 1"/>
          <p:cNvSpPr>
            <a:spLocks noGrp="1"/>
          </p:cNvSpPr>
          <p:nvPr>
            <p:ph type="sldNum" idx="112"/>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5BD04F47-B77F-433E-BF5A-02BF05E8AF54}"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107"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5108"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5109" name="Shape 2"/>
          <p:cNvSpPr/>
          <p:nvPr/>
        </p:nvSpPr>
        <p:spPr>
          <a:xfrm>
            <a:off x="621720" y="311040"/>
            <a:ext cx="334188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110" name="Text 3"/>
          <p:cNvSpPr/>
          <p:nvPr/>
        </p:nvSpPr>
        <p:spPr>
          <a:xfrm>
            <a:off x="804600" y="329040"/>
            <a:ext cx="301248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ENERGY &amp; EFFICIENCY ROADMAP</a:t>
            </a:r>
            <a:endParaRPr b="0" lang="en-US" sz="950" strike="noStrike" u="none">
              <a:solidFill>
                <a:srgbClr val="000000"/>
              </a:solidFill>
              <a:effectLst/>
              <a:uFillTx/>
              <a:latin typeface="Arial"/>
            </a:endParaRPr>
          </a:p>
        </p:txBody>
      </p:sp>
      <p:sp>
        <p:nvSpPr>
          <p:cNvPr id="5111"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Utility Data Management</a:t>
            </a:r>
            <a:endParaRPr b="0" lang="en-US" sz="3200" strike="noStrike" u="none">
              <a:solidFill>
                <a:srgbClr val="000000"/>
              </a:solidFill>
              <a:effectLst/>
              <a:uFillTx/>
              <a:latin typeface="Arial"/>
            </a:endParaRPr>
          </a:p>
        </p:txBody>
      </p:sp>
      <p:sp>
        <p:nvSpPr>
          <p:cNvPr id="5112"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Invoices, cost allocation and variance explained</a:t>
            </a:r>
            <a:endParaRPr b="0" lang="en-US" sz="1250" strike="noStrike" u="none">
              <a:solidFill>
                <a:srgbClr val="000000"/>
              </a:solidFill>
              <a:effectLst/>
              <a:uFillTx/>
              <a:latin typeface="Arial"/>
            </a:endParaRPr>
          </a:p>
        </p:txBody>
      </p:sp>
      <p:sp>
        <p:nvSpPr>
          <p:cNvPr id="5113"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114" name="Shape 7"/>
          <p:cNvSpPr/>
          <p:nvPr/>
        </p:nvSpPr>
        <p:spPr>
          <a:xfrm>
            <a:off x="6217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115"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116"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Q3 AND Q4 2026</a:t>
            </a:r>
            <a:endParaRPr b="0" lang="en-US" sz="900" strike="noStrike" u="none">
              <a:solidFill>
                <a:srgbClr val="000000"/>
              </a:solidFill>
              <a:effectLst/>
              <a:uFillTx/>
              <a:latin typeface="Arial"/>
            </a:endParaRPr>
          </a:p>
        </p:txBody>
      </p:sp>
      <p:sp>
        <p:nvSpPr>
          <p:cNvPr id="5117"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Foundations</a:t>
            </a:r>
            <a:endParaRPr b="0" lang="en-US" sz="1600" strike="noStrike" u="none">
              <a:solidFill>
                <a:srgbClr val="000000"/>
              </a:solidFill>
              <a:effectLst/>
              <a:uFillTx/>
              <a:latin typeface="Arial"/>
            </a:endParaRPr>
          </a:p>
        </p:txBody>
      </p:sp>
      <p:sp>
        <p:nvSpPr>
          <p:cNvPr id="5118" name="Text 11"/>
          <p:cNvSpPr/>
          <p:nvPr/>
        </p:nvSpPr>
        <p:spPr>
          <a:xfrm>
            <a:off x="8229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Invoice capture and validation on the shared hierarchy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Cost allocation to sites, cost centres and legal entities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Data quality assurance on incoming bills</a:t>
            </a:r>
            <a:endParaRPr b="0" lang="en-US" sz="1100" strike="noStrike" u="none">
              <a:solidFill>
                <a:srgbClr val="000000"/>
              </a:solidFill>
              <a:effectLst/>
              <a:uFillTx/>
              <a:latin typeface="Arial"/>
            </a:endParaRPr>
          </a:p>
        </p:txBody>
      </p:sp>
      <p:sp>
        <p:nvSpPr>
          <p:cNvPr id="5119" name="Shape 12"/>
          <p:cNvSpPr/>
          <p:nvPr/>
        </p:nvSpPr>
        <p:spPr>
          <a:xfrm>
            <a:off x="342756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120" name="Shape 13"/>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121" name="Text 14"/>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H1 2027</a:t>
            </a:r>
            <a:endParaRPr b="0" lang="en-US" sz="900" strike="noStrike" u="none">
              <a:solidFill>
                <a:srgbClr val="000000"/>
              </a:solidFill>
              <a:effectLst/>
              <a:uFillTx/>
              <a:latin typeface="Arial"/>
            </a:endParaRPr>
          </a:p>
        </p:txBody>
      </p:sp>
      <p:sp>
        <p:nvSpPr>
          <p:cNvPr id="5122" name="Text 15"/>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Advanced processing</a:t>
            </a:r>
            <a:endParaRPr b="0" lang="en-US" sz="1600" strike="noStrike" u="none">
              <a:solidFill>
                <a:srgbClr val="000000"/>
              </a:solidFill>
              <a:effectLst/>
              <a:uFillTx/>
              <a:latin typeface="Arial"/>
            </a:endParaRPr>
          </a:p>
        </p:txBody>
      </p:sp>
      <p:sp>
        <p:nvSpPr>
          <p:cNvPr id="5123" name="Text 16"/>
          <p:cNvSpPr/>
          <p:nvPr/>
        </p:nvSpPr>
        <p:spPr>
          <a:xfrm>
            <a:off x="362844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Advanced invoice processing with exception handling</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Rate and tariff modelling</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Cost and consumption reconciliation against interval data</a:t>
            </a:r>
            <a:endParaRPr b="0" lang="en-US" sz="1100" strike="noStrike" u="none">
              <a:solidFill>
                <a:srgbClr val="000000"/>
              </a:solidFill>
              <a:effectLst/>
              <a:uFillTx/>
              <a:latin typeface="Arial"/>
            </a:endParaRPr>
          </a:p>
        </p:txBody>
      </p:sp>
      <p:sp>
        <p:nvSpPr>
          <p:cNvPr id="5124" name="Shape 17"/>
          <p:cNvSpPr/>
          <p:nvPr/>
        </p:nvSpPr>
        <p:spPr>
          <a:xfrm>
            <a:off x="623304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125" name="Shape 18"/>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126" name="Text 19"/>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H2 2027</a:t>
            </a:r>
            <a:endParaRPr b="0" lang="en-US" sz="900" strike="noStrike" u="none">
              <a:solidFill>
                <a:srgbClr val="000000"/>
              </a:solidFill>
              <a:effectLst/>
              <a:uFillTx/>
              <a:latin typeface="Arial"/>
            </a:endParaRPr>
          </a:p>
        </p:txBody>
      </p:sp>
      <p:sp>
        <p:nvSpPr>
          <p:cNvPr id="5127" name="Text 20"/>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Explanation</a:t>
            </a:r>
            <a:endParaRPr b="0" lang="en-US" sz="1600" strike="noStrike" u="none">
              <a:solidFill>
                <a:srgbClr val="000000"/>
              </a:solidFill>
              <a:effectLst/>
              <a:uFillTx/>
              <a:latin typeface="Arial"/>
            </a:endParaRPr>
          </a:p>
        </p:txBody>
      </p:sp>
      <p:sp>
        <p:nvSpPr>
          <p:cNvPr id="5128" name="Text 21"/>
          <p:cNvSpPr/>
          <p:nvPr/>
        </p:nvSpPr>
        <p:spPr>
          <a:xfrm>
            <a:off x="643428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Variance explained: price, volume and weather effects separated</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Accrual and estimation for missing bills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Audit trail on every adjustment</a:t>
            </a:r>
            <a:endParaRPr b="0" lang="en-US" sz="1100" strike="noStrike" u="none">
              <a:solidFill>
                <a:srgbClr val="000000"/>
              </a:solidFill>
              <a:effectLst/>
              <a:uFillTx/>
              <a:latin typeface="Arial"/>
            </a:endParaRPr>
          </a:p>
        </p:txBody>
      </p:sp>
      <p:sp>
        <p:nvSpPr>
          <p:cNvPr id="5129" name="Shape 22"/>
          <p:cNvSpPr/>
          <p:nvPr/>
        </p:nvSpPr>
        <p:spPr>
          <a:xfrm>
            <a:off x="90385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130" name="Shape 23"/>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131" name="Text 24"/>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2028 AND BEYOND</a:t>
            </a:r>
            <a:endParaRPr b="0" lang="en-US" sz="900" strike="noStrike" u="none">
              <a:solidFill>
                <a:srgbClr val="000000"/>
              </a:solidFill>
              <a:effectLst/>
              <a:uFillTx/>
              <a:latin typeface="Arial"/>
            </a:endParaRPr>
          </a:p>
        </p:txBody>
      </p:sp>
      <p:sp>
        <p:nvSpPr>
          <p:cNvPr id="5132" name="Text 25"/>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Directional</a:t>
            </a:r>
            <a:endParaRPr b="0" lang="en-US" sz="1600" strike="noStrike" u="none">
              <a:solidFill>
                <a:srgbClr val="000000"/>
              </a:solidFill>
              <a:effectLst/>
              <a:uFillTx/>
              <a:latin typeface="Arial"/>
            </a:endParaRPr>
          </a:p>
        </p:txBody>
      </p:sp>
      <p:sp>
        <p:nvSpPr>
          <p:cNvPr id="5133" name="Text 26"/>
          <p:cNvSpPr/>
          <p:nvPr/>
        </p:nvSpPr>
        <p:spPr>
          <a:xfrm>
            <a:off x="92397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Automated dispute and recovery workflows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AI assisted anomaly detection on billing</a:t>
            </a:r>
            <a:endParaRPr b="0" lang="en-US" sz="1100" strike="noStrike" u="none">
              <a:solidFill>
                <a:srgbClr val="000000"/>
              </a:solidFill>
              <a:effectLst/>
              <a:uFillTx/>
              <a:latin typeface="Arial"/>
            </a:endParaRPr>
          </a:p>
        </p:txBody>
      </p:sp>
      <p:sp>
        <p:nvSpPr>
          <p:cNvPr id="5134" name="Shape 27"/>
          <p:cNvSpPr/>
          <p:nvPr/>
        </p:nvSpPr>
        <p:spPr>
          <a:xfrm>
            <a:off x="621720" y="5650920"/>
            <a:ext cx="10947600" cy="585000"/>
          </a:xfrm>
          <a:prstGeom prst="roundRect">
            <a:avLst>
              <a:gd name="adj" fmla="val 12500"/>
            </a:avLst>
          </a:prstGeom>
          <a:solidFill>
            <a:srgbClr val="effaf1"/>
          </a:solidFill>
          <a:ln w="12700">
            <a:solidFill>
              <a:srgbClr val="bce8c9"/>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135" name="Shape 28"/>
          <p:cNvSpPr/>
          <p:nvPr/>
        </p:nvSpPr>
        <p:spPr>
          <a:xfrm>
            <a:off x="676800" y="5760720"/>
            <a:ext cx="45360" cy="3654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136" name="Text 29"/>
          <p:cNvSpPr/>
          <p:nvPr/>
        </p:nvSpPr>
        <p:spPr>
          <a:xfrm>
            <a:off x="859680" y="5650920"/>
            <a:ext cx="10527120" cy="585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050" strike="noStrike" u="none">
                <a:solidFill>
                  <a:srgbClr val="3a423c"/>
                </a:solidFill>
                <a:effectLst/>
                <a:uFillTx/>
                <a:latin typeface="Calibri"/>
                <a:ea typeface="Calibri"/>
              </a:rPr>
              <a:t>Capability position: On parity. EnergyCAP is the category benchmark for bill accounting. We match it and connect it to carbon and efficiency. Product page: /energy-products/utility-data-management. Roadmap gap matrix: /competitor-matrix.</a:t>
            </a:r>
            <a:endParaRPr b="0" lang="en-US" sz="1050" strike="noStrike" u="none">
              <a:solidFill>
                <a:srgbClr val="000000"/>
              </a:solidFill>
              <a:effectLst/>
              <a:uFillTx/>
              <a:latin typeface="Arial"/>
            </a:endParaRPr>
          </a:p>
        </p:txBody>
      </p:sp>
      <p:sp>
        <p:nvSpPr>
          <p:cNvPr id="5137" name="Shape 30"/>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138" name="Text 31"/>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5139" name="Text 32"/>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5140" name="PlaceHolder 1"/>
          <p:cNvSpPr>
            <a:spLocks noGrp="1"/>
          </p:cNvSpPr>
          <p:nvPr>
            <p:ph type="sldNum" idx="113"/>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088970A0-F3A2-4EDD-92D3-7BE34687378E}"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141"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5142"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5143" name="Shape 2"/>
          <p:cNvSpPr/>
          <p:nvPr/>
        </p:nvSpPr>
        <p:spPr>
          <a:xfrm>
            <a:off x="621720" y="311040"/>
            <a:ext cx="334188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144" name="Text 3"/>
          <p:cNvSpPr/>
          <p:nvPr/>
        </p:nvSpPr>
        <p:spPr>
          <a:xfrm>
            <a:off x="804600" y="329040"/>
            <a:ext cx="301248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ENERGY &amp; EFFICIENCY ROADMAP</a:t>
            </a:r>
            <a:endParaRPr b="0" lang="en-US" sz="950" strike="noStrike" u="none">
              <a:solidFill>
                <a:srgbClr val="000000"/>
              </a:solidFill>
              <a:effectLst/>
              <a:uFillTx/>
              <a:latin typeface="Arial"/>
            </a:endParaRPr>
          </a:p>
        </p:txBody>
      </p:sp>
      <p:sp>
        <p:nvSpPr>
          <p:cNvPr id="5145"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Budget &amp; Tariff Intelligence</a:t>
            </a:r>
            <a:endParaRPr b="0" lang="en-US" sz="3200" strike="noStrike" u="none">
              <a:solidFill>
                <a:srgbClr val="000000"/>
              </a:solidFill>
              <a:effectLst/>
              <a:uFillTx/>
              <a:latin typeface="Arial"/>
            </a:endParaRPr>
          </a:p>
        </p:txBody>
      </p:sp>
      <p:sp>
        <p:nvSpPr>
          <p:cNvPr id="5146"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Tariffs, budgets and price exposure made legible</a:t>
            </a:r>
            <a:endParaRPr b="0" lang="en-US" sz="1250" strike="noStrike" u="none">
              <a:solidFill>
                <a:srgbClr val="000000"/>
              </a:solidFill>
              <a:effectLst/>
              <a:uFillTx/>
              <a:latin typeface="Arial"/>
            </a:endParaRPr>
          </a:p>
        </p:txBody>
      </p:sp>
      <p:sp>
        <p:nvSpPr>
          <p:cNvPr id="5147"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148" name="Shape 7"/>
          <p:cNvSpPr/>
          <p:nvPr/>
        </p:nvSpPr>
        <p:spPr>
          <a:xfrm>
            <a:off x="6217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149"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150"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Q3 AND Q4 2026</a:t>
            </a:r>
            <a:endParaRPr b="0" lang="en-US" sz="900" strike="noStrike" u="none">
              <a:solidFill>
                <a:srgbClr val="000000"/>
              </a:solidFill>
              <a:effectLst/>
              <a:uFillTx/>
              <a:latin typeface="Arial"/>
            </a:endParaRPr>
          </a:p>
        </p:txBody>
      </p:sp>
      <p:sp>
        <p:nvSpPr>
          <p:cNvPr id="5151"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Foundations</a:t>
            </a:r>
            <a:endParaRPr b="0" lang="en-US" sz="1600" strike="noStrike" u="none">
              <a:solidFill>
                <a:srgbClr val="000000"/>
              </a:solidFill>
              <a:effectLst/>
              <a:uFillTx/>
              <a:latin typeface="Arial"/>
            </a:endParaRPr>
          </a:p>
        </p:txBody>
      </p:sp>
      <p:sp>
        <p:nvSpPr>
          <p:cNvPr id="5152" name="Text 11"/>
          <p:cNvSpPr/>
          <p:nvPr/>
        </p:nvSpPr>
        <p:spPr>
          <a:xfrm>
            <a:off x="8229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Tariff library and rate structures on the shared hierarchy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Budget build from validated bill and interval history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Price and volume split available to Finance reporting</a:t>
            </a:r>
            <a:endParaRPr b="0" lang="en-US" sz="1100" strike="noStrike" u="none">
              <a:solidFill>
                <a:srgbClr val="000000"/>
              </a:solidFill>
              <a:effectLst/>
              <a:uFillTx/>
              <a:latin typeface="Arial"/>
            </a:endParaRPr>
          </a:p>
        </p:txBody>
      </p:sp>
      <p:sp>
        <p:nvSpPr>
          <p:cNvPr id="5153" name="Shape 12"/>
          <p:cNvSpPr/>
          <p:nvPr/>
        </p:nvSpPr>
        <p:spPr>
          <a:xfrm>
            <a:off x="342756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154" name="Shape 13"/>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155" name="Text 14"/>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H1 2027</a:t>
            </a:r>
            <a:endParaRPr b="0" lang="en-US" sz="900" strike="noStrike" u="none">
              <a:solidFill>
                <a:srgbClr val="000000"/>
              </a:solidFill>
              <a:effectLst/>
              <a:uFillTx/>
              <a:latin typeface="Arial"/>
            </a:endParaRPr>
          </a:p>
        </p:txBody>
      </p:sp>
      <p:sp>
        <p:nvSpPr>
          <p:cNvPr id="5156" name="Text 15"/>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Intelligence</a:t>
            </a:r>
            <a:endParaRPr b="0" lang="en-US" sz="1600" strike="noStrike" u="none">
              <a:solidFill>
                <a:srgbClr val="000000"/>
              </a:solidFill>
              <a:effectLst/>
              <a:uFillTx/>
              <a:latin typeface="Arial"/>
            </a:endParaRPr>
          </a:p>
        </p:txBody>
      </p:sp>
      <p:sp>
        <p:nvSpPr>
          <p:cNvPr id="5157" name="Text 16"/>
          <p:cNvSpPr/>
          <p:nvPr/>
        </p:nvSpPr>
        <p:spPr>
          <a:xfrm>
            <a:off x="362844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Rate optimisation and tariff switching analysis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Reforecasting against market curves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Exposure view across fixed, indexed and hedged volumes</a:t>
            </a:r>
            <a:endParaRPr b="0" lang="en-US" sz="1100" strike="noStrike" u="none">
              <a:solidFill>
                <a:srgbClr val="000000"/>
              </a:solidFill>
              <a:effectLst/>
              <a:uFillTx/>
              <a:latin typeface="Arial"/>
            </a:endParaRPr>
          </a:p>
        </p:txBody>
      </p:sp>
      <p:sp>
        <p:nvSpPr>
          <p:cNvPr id="5158" name="Shape 17"/>
          <p:cNvSpPr/>
          <p:nvPr/>
        </p:nvSpPr>
        <p:spPr>
          <a:xfrm>
            <a:off x="623304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159" name="Shape 18"/>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160" name="Text 19"/>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H2 2027</a:t>
            </a:r>
            <a:endParaRPr b="0" lang="en-US" sz="900" strike="noStrike" u="none">
              <a:solidFill>
                <a:srgbClr val="000000"/>
              </a:solidFill>
              <a:effectLst/>
              <a:uFillTx/>
              <a:latin typeface="Arial"/>
            </a:endParaRPr>
          </a:p>
        </p:txBody>
      </p:sp>
      <p:sp>
        <p:nvSpPr>
          <p:cNvPr id="5161" name="Text 20"/>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Scale</a:t>
            </a:r>
            <a:endParaRPr b="0" lang="en-US" sz="1600" strike="noStrike" u="none">
              <a:solidFill>
                <a:srgbClr val="000000"/>
              </a:solidFill>
              <a:effectLst/>
              <a:uFillTx/>
              <a:latin typeface="Arial"/>
            </a:endParaRPr>
          </a:p>
        </p:txBody>
      </p:sp>
      <p:sp>
        <p:nvSpPr>
          <p:cNvPr id="5162" name="Text 21"/>
          <p:cNvSpPr/>
          <p:nvPr/>
        </p:nvSpPr>
        <p:spPr>
          <a:xfrm>
            <a:off x="643428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Scenario budgets across portfolios and legal entities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Tariff impact on efficiency and flexibility business cases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Audit trail on every budget assumption</a:t>
            </a:r>
            <a:endParaRPr b="0" lang="en-US" sz="1100" strike="noStrike" u="none">
              <a:solidFill>
                <a:srgbClr val="000000"/>
              </a:solidFill>
              <a:effectLst/>
              <a:uFillTx/>
              <a:latin typeface="Arial"/>
            </a:endParaRPr>
          </a:p>
        </p:txBody>
      </p:sp>
      <p:sp>
        <p:nvSpPr>
          <p:cNvPr id="5163" name="Shape 22"/>
          <p:cNvSpPr/>
          <p:nvPr/>
        </p:nvSpPr>
        <p:spPr>
          <a:xfrm>
            <a:off x="90385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164" name="Shape 23"/>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165" name="Text 24"/>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2028 AND BEYOND</a:t>
            </a:r>
            <a:endParaRPr b="0" lang="en-US" sz="900" strike="noStrike" u="none">
              <a:solidFill>
                <a:srgbClr val="000000"/>
              </a:solidFill>
              <a:effectLst/>
              <a:uFillTx/>
              <a:latin typeface="Arial"/>
            </a:endParaRPr>
          </a:p>
        </p:txBody>
      </p:sp>
      <p:sp>
        <p:nvSpPr>
          <p:cNvPr id="5166" name="Text 25"/>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Directional</a:t>
            </a:r>
            <a:endParaRPr b="0" lang="en-US" sz="1600" strike="noStrike" u="none">
              <a:solidFill>
                <a:srgbClr val="000000"/>
              </a:solidFill>
              <a:effectLst/>
              <a:uFillTx/>
              <a:latin typeface="Arial"/>
            </a:endParaRPr>
          </a:p>
        </p:txBody>
      </p:sp>
      <p:sp>
        <p:nvSpPr>
          <p:cNvPr id="5167" name="Text 26"/>
          <p:cNvSpPr/>
          <p:nvPr/>
        </p:nvSpPr>
        <p:spPr>
          <a:xfrm>
            <a:off x="92397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AI assisted tariff recommendation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Continuous budget to actual monitoring with alerting</a:t>
            </a:r>
            <a:endParaRPr b="0" lang="en-US" sz="1100" strike="noStrike" u="none">
              <a:solidFill>
                <a:srgbClr val="000000"/>
              </a:solidFill>
              <a:effectLst/>
              <a:uFillTx/>
              <a:latin typeface="Arial"/>
            </a:endParaRPr>
          </a:p>
        </p:txBody>
      </p:sp>
      <p:sp>
        <p:nvSpPr>
          <p:cNvPr id="5168" name="Shape 27"/>
          <p:cNvSpPr/>
          <p:nvPr/>
        </p:nvSpPr>
        <p:spPr>
          <a:xfrm>
            <a:off x="621720" y="5650920"/>
            <a:ext cx="10947600" cy="585000"/>
          </a:xfrm>
          <a:prstGeom prst="roundRect">
            <a:avLst>
              <a:gd name="adj" fmla="val 12500"/>
            </a:avLst>
          </a:prstGeom>
          <a:solidFill>
            <a:srgbClr val="effaf1"/>
          </a:solidFill>
          <a:ln w="12700">
            <a:solidFill>
              <a:srgbClr val="bce8c9"/>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169" name="Shape 28"/>
          <p:cNvSpPr/>
          <p:nvPr/>
        </p:nvSpPr>
        <p:spPr>
          <a:xfrm>
            <a:off x="676800" y="5760720"/>
            <a:ext cx="45360" cy="3654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170" name="Text 29"/>
          <p:cNvSpPr/>
          <p:nvPr/>
        </p:nvSpPr>
        <p:spPr>
          <a:xfrm>
            <a:off x="859680" y="5650920"/>
            <a:ext cx="10527120" cy="585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050" strike="noStrike" u="none">
                <a:solidFill>
                  <a:srgbClr val="3a423c"/>
                </a:solidFill>
                <a:effectLst/>
                <a:uFillTx/>
                <a:latin typeface="Calibri"/>
                <a:ea typeface="Calibri"/>
              </a:rPr>
              <a:t>Capability position: Closing gap. Tariff libraries are mature in the bill accounting field. Our wedge is joining tariff logic to interval data, budgets and carbon on one platform. Product page: /energy-products/budget-tariff-intelligence. Roadmap gap matrix: /competitor-matrix.</a:t>
            </a:r>
            <a:endParaRPr b="0" lang="en-US" sz="1050" strike="noStrike" u="none">
              <a:solidFill>
                <a:srgbClr val="000000"/>
              </a:solidFill>
              <a:effectLst/>
              <a:uFillTx/>
              <a:latin typeface="Arial"/>
            </a:endParaRPr>
          </a:p>
        </p:txBody>
      </p:sp>
      <p:sp>
        <p:nvSpPr>
          <p:cNvPr id="5171" name="Shape 30"/>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172" name="Text 31"/>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5173" name="Text 32"/>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5174" name="PlaceHolder 1"/>
          <p:cNvSpPr>
            <a:spLocks noGrp="1"/>
          </p:cNvSpPr>
          <p:nvPr>
            <p:ph type="sldNum" idx="114"/>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0A7A6C3B-2A6B-4EF5-B087-43ED8754A626}"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175"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5176"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5177" name="Shape 2"/>
          <p:cNvSpPr/>
          <p:nvPr/>
        </p:nvSpPr>
        <p:spPr>
          <a:xfrm>
            <a:off x="621720" y="311040"/>
            <a:ext cx="334188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178" name="Text 3"/>
          <p:cNvSpPr/>
          <p:nvPr/>
        </p:nvSpPr>
        <p:spPr>
          <a:xfrm>
            <a:off x="804600" y="329040"/>
            <a:ext cx="301248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ENERGY &amp; EFFICIENCY ROADMAP</a:t>
            </a:r>
            <a:endParaRPr b="0" lang="en-US" sz="950" strike="noStrike" u="none">
              <a:solidFill>
                <a:srgbClr val="000000"/>
              </a:solidFill>
              <a:effectLst/>
              <a:uFillTx/>
              <a:latin typeface="Arial"/>
            </a:endParaRPr>
          </a:p>
        </p:txBody>
      </p:sp>
      <p:sp>
        <p:nvSpPr>
          <p:cNvPr id="5179"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Energy Sourcing</a:t>
            </a:r>
            <a:endParaRPr b="0" lang="en-US" sz="3200" strike="noStrike" u="none">
              <a:solidFill>
                <a:srgbClr val="000000"/>
              </a:solidFill>
              <a:effectLst/>
              <a:uFillTx/>
              <a:latin typeface="Arial"/>
            </a:endParaRPr>
          </a:p>
        </p:txBody>
      </p:sp>
      <p:sp>
        <p:nvSpPr>
          <p:cNvPr id="5180"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Buying energy with the carbon consequence visible</a:t>
            </a:r>
            <a:endParaRPr b="0" lang="en-US" sz="1250" strike="noStrike" u="none">
              <a:solidFill>
                <a:srgbClr val="000000"/>
              </a:solidFill>
              <a:effectLst/>
              <a:uFillTx/>
              <a:latin typeface="Arial"/>
            </a:endParaRPr>
          </a:p>
        </p:txBody>
      </p:sp>
      <p:sp>
        <p:nvSpPr>
          <p:cNvPr id="5181"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182" name="Shape 7"/>
          <p:cNvSpPr/>
          <p:nvPr/>
        </p:nvSpPr>
        <p:spPr>
          <a:xfrm>
            <a:off x="6217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183"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184"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Q4 2026</a:t>
            </a:r>
            <a:endParaRPr b="0" lang="en-US" sz="900" strike="noStrike" u="none">
              <a:solidFill>
                <a:srgbClr val="000000"/>
              </a:solidFill>
              <a:effectLst/>
              <a:uFillTx/>
              <a:latin typeface="Arial"/>
            </a:endParaRPr>
          </a:p>
        </p:txBody>
      </p:sp>
      <p:sp>
        <p:nvSpPr>
          <p:cNvPr id="5185"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Contracts</a:t>
            </a:r>
            <a:endParaRPr b="0" lang="en-US" sz="1600" strike="noStrike" u="none">
              <a:solidFill>
                <a:srgbClr val="000000"/>
              </a:solidFill>
              <a:effectLst/>
              <a:uFillTx/>
              <a:latin typeface="Arial"/>
            </a:endParaRPr>
          </a:p>
        </p:txBody>
      </p:sp>
      <p:sp>
        <p:nvSpPr>
          <p:cNvPr id="5186" name="Text 11"/>
          <p:cNvSpPr/>
          <p:nvPr/>
        </p:nvSpPr>
        <p:spPr>
          <a:xfrm>
            <a:off x="8229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Supplier and contract register</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Metered energy, EAC and PPA management fed by the Schneider energy expertise</a:t>
            </a:r>
            <a:endParaRPr b="0" lang="en-US" sz="1100" strike="noStrike" u="none">
              <a:solidFill>
                <a:srgbClr val="000000"/>
              </a:solidFill>
              <a:effectLst/>
              <a:uFillTx/>
              <a:latin typeface="Arial"/>
            </a:endParaRPr>
          </a:p>
        </p:txBody>
      </p:sp>
      <p:sp>
        <p:nvSpPr>
          <p:cNvPr id="5187" name="Shape 12"/>
          <p:cNvSpPr/>
          <p:nvPr/>
        </p:nvSpPr>
        <p:spPr>
          <a:xfrm>
            <a:off x="342756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188" name="Shape 13"/>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189" name="Text 14"/>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H1 2027</a:t>
            </a:r>
            <a:endParaRPr b="0" lang="en-US" sz="900" strike="noStrike" u="none">
              <a:solidFill>
                <a:srgbClr val="000000"/>
              </a:solidFill>
              <a:effectLst/>
              <a:uFillTx/>
              <a:latin typeface="Arial"/>
            </a:endParaRPr>
          </a:p>
        </p:txBody>
      </p:sp>
      <p:sp>
        <p:nvSpPr>
          <p:cNvPr id="5190" name="Text 15"/>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Decision support</a:t>
            </a:r>
            <a:endParaRPr b="0" lang="en-US" sz="1600" strike="noStrike" u="none">
              <a:solidFill>
                <a:srgbClr val="000000"/>
              </a:solidFill>
              <a:effectLst/>
              <a:uFillTx/>
              <a:latin typeface="Arial"/>
            </a:endParaRPr>
          </a:p>
        </p:txBody>
      </p:sp>
      <p:sp>
        <p:nvSpPr>
          <p:cNvPr id="5191" name="Text 16"/>
          <p:cNvSpPr/>
          <p:nvPr/>
        </p:nvSpPr>
        <p:spPr>
          <a:xfrm>
            <a:off x="362844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Sourcing options compared on price and carbon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Contract coverage and exposure views</a:t>
            </a:r>
            <a:endParaRPr b="0" lang="en-US" sz="1100" strike="noStrike" u="none">
              <a:solidFill>
                <a:srgbClr val="000000"/>
              </a:solidFill>
              <a:effectLst/>
              <a:uFillTx/>
              <a:latin typeface="Arial"/>
            </a:endParaRPr>
          </a:p>
        </p:txBody>
      </p:sp>
      <p:sp>
        <p:nvSpPr>
          <p:cNvPr id="5192" name="Shape 17"/>
          <p:cNvSpPr/>
          <p:nvPr/>
        </p:nvSpPr>
        <p:spPr>
          <a:xfrm>
            <a:off x="623304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193" name="Shape 18"/>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194" name="Text 19"/>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H2 2027</a:t>
            </a:r>
            <a:endParaRPr b="0" lang="en-US" sz="900" strike="noStrike" u="none">
              <a:solidFill>
                <a:srgbClr val="000000"/>
              </a:solidFill>
              <a:effectLst/>
              <a:uFillTx/>
              <a:latin typeface="Arial"/>
            </a:endParaRPr>
          </a:p>
        </p:txBody>
      </p:sp>
      <p:sp>
        <p:nvSpPr>
          <p:cNvPr id="5195" name="Text 20"/>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Integration</a:t>
            </a:r>
            <a:endParaRPr b="0" lang="en-US" sz="1600" strike="noStrike" u="none">
              <a:solidFill>
                <a:srgbClr val="000000"/>
              </a:solidFill>
              <a:effectLst/>
              <a:uFillTx/>
              <a:latin typeface="Arial"/>
            </a:endParaRPr>
          </a:p>
        </p:txBody>
      </p:sp>
      <p:sp>
        <p:nvSpPr>
          <p:cNvPr id="5196" name="Text 21"/>
          <p:cNvSpPr/>
          <p:nvPr/>
        </p:nvSpPr>
        <p:spPr>
          <a:xfrm>
            <a:off x="643428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Sourcing decisions reflected in market based Scope 2 automatically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Renewal calendar and exposure alerts</a:t>
            </a:r>
            <a:endParaRPr b="0" lang="en-US" sz="1100" strike="noStrike" u="none">
              <a:solidFill>
                <a:srgbClr val="000000"/>
              </a:solidFill>
              <a:effectLst/>
              <a:uFillTx/>
              <a:latin typeface="Arial"/>
            </a:endParaRPr>
          </a:p>
        </p:txBody>
      </p:sp>
      <p:sp>
        <p:nvSpPr>
          <p:cNvPr id="5197" name="Shape 22"/>
          <p:cNvSpPr/>
          <p:nvPr/>
        </p:nvSpPr>
        <p:spPr>
          <a:xfrm>
            <a:off x="90385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198" name="Shape 23"/>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199" name="Text 24"/>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2028 AND BEYOND</a:t>
            </a:r>
            <a:endParaRPr b="0" lang="en-US" sz="900" strike="noStrike" u="none">
              <a:solidFill>
                <a:srgbClr val="000000"/>
              </a:solidFill>
              <a:effectLst/>
              <a:uFillTx/>
              <a:latin typeface="Arial"/>
            </a:endParaRPr>
          </a:p>
        </p:txBody>
      </p:sp>
      <p:sp>
        <p:nvSpPr>
          <p:cNvPr id="5200" name="Text 25"/>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Directional</a:t>
            </a:r>
            <a:endParaRPr b="0" lang="en-US" sz="1600" strike="noStrike" u="none">
              <a:solidFill>
                <a:srgbClr val="000000"/>
              </a:solidFill>
              <a:effectLst/>
              <a:uFillTx/>
              <a:latin typeface="Arial"/>
            </a:endParaRPr>
          </a:p>
        </p:txBody>
      </p:sp>
      <p:sp>
        <p:nvSpPr>
          <p:cNvPr id="5201" name="Text 26"/>
          <p:cNvSpPr/>
          <p:nvPr/>
        </p:nvSpPr>
        <p:spPr>
          <a:xfrm>
            <a:off x="92397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Portfolio level sourcing optimisation across markets</a:t>
            </a:r>
            <a:endParaRPr b="0" lang="en-US" sz="1100" strike="noStrike" u="none">
              <a:solidFill>
                <a:srgbClr val="000000"/>
              </a:solidFill>
              <a:effectLst/>
              <a:uFillTx/>
              <a:latin typeface="Arial"/>
            </a:endParaRPr>
          </a:p>
        </p:txBody>
      </p:sp>
      <p:sp>
        <p:nvSpPr>
          <p:cNvPr id="5202" name="Shape 27"/>
          <p:cNvSpPr/>
          <p:nvPr/>
        </p:nvSpPr>
        <p:spPr>
          <a:xfrm>
            <a:off x="621720" y="5650920"/>
            <a:ext cx="10947600" cy="585000"/>
          </a:xfrm>
          <a:prstGeom prst="roundRect">
            <a:avLst>
              <a:gd name="adj" fmla="val 12500"/>
            </a:avLst>
          </a:prstGeom>
          <a:solidFill>
            <a:srgbClr val="effaf1"/>
          </a:solidFill>
          <a:ln w="12700">
            <a:solidFill>
              <a:srgbClr val="bce8c9"/>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203" name="Shape 28"/>
          <p:cNvSpPr/>
          <p:nvPr/>
        </p:nvSpPr>
        <p:spPr>
          <a:xfrm>
            <a:off x="676800" y="5760720"/>
            <a:ext cx="45360" cy="3654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204" name="Text 29"/>
          <p:cNvSpPr/>
          <p:nvPr/>
        </p:nvSpPr>
        <p:spPr>
          <a:xfrm>
            <a:off x="859680" y="5650920"/>
            <a:ext cx="10527120" cy="585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050" strike="noStrike" u="none">
                <a:solidFill>
                  <a:srgbClr val="3a423c"/>
                </a:solidFill>
                <a:effectLst/>
                <a:uFillTx/>
                <a:latin typeface="Calibri"/>
                <a:ea typeface="Calibri"/>
              </a:rPr>
              <a:t>Capability position: Market leading. Schneider energy expertise plus the platform is a combination the software only rivals cannot assemble. Product page: /energy-products/energy-sourcing. Roadmap gap matrix: /competitor-matrix.</a:t>
            </a:r>
            <a:endParaRPr b="0" lang="en-US" sz="1050" strike="noStrike" u="none">
              <a:solidFill>
                <a:srgbClr val="000000"/>
              </a:solidFill>
              <a:effectLst/>
              <a:uFillTx/>
              <a:latin typeface="Arial"/>
            </a:endParaRPr>
          </a:p>
        </p:txBody>
      </p:sp>
      <p:sp>
        <p:nvSpPr>
          <p:cNvPr id="5205" name="Shape 30"/>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206" name="Text 31"/>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5207" name="Text 32"/>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5208" name="PlaceHolder 1"/>
          <p:cNvSpPr>
            <a:spLocks noGrp="1"/>
          </p:cNvSpPr>
          <p:nvPr>
            <p:ph type="sldNum" idx="115"/>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DA0CFE42-891A-47AF-9118-9963351EB411}"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209"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5210"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5211" name="Shape 2"/>
          <p:cNvSpPr/>
          <p:nvPr/>
        </p:nvSpPr>
        <p:spPr>
          <a:xfrm>
            <a:off x="621720" y="311040"/>
            <a:ext cx="334188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212" name="Text 3"/>
          <p:cNvSpPr/>
          <p:nvPr/>
        </p:nvSpPr>
        <p:spPr>
          <a:xfrm>
            <a:off x="804600" y="329040"/>
            <a:ext cx="301248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ENERGY &amp; EFFICIENCY ROADMAP</a:t>
            </a:r>
            <a:endParaRPr b="0" lang="en-US" sz="950" strike="noStrike" u="none">
              <a:solidFill>
                <a:srgbClr val="000000"/>
              </a:solidFill>
              <a:effectLst/>
              <a:uFillTx/>
              <a:latin typeface="Arial"/>
            </a:endParaRPr>
          </a:p>
        </p:txBody>
      </p:sp>
      <p:sp>
        <p:nvSpPr>
          <p:cNvPr id="5213"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Renewables &amp; EACs</a:t>
            </a:r>
            <a:endParaRPr b="0" lang="en-US" sz="3200" strike="noStrike" u="none">
              <a:solidFill>
                <a:srgbClr val="000000"/>
              </a:solidFill>
              <a:effectLst/>
              <a:uFillTx/>
              <a:latin typeface="Arial"/>
            </a:endParaRPr>
          </a:p>
        </p:txBody>
      </p:sp>
      <p:sp>
        <p:nvSpPr>
          <p:cNvPr id="5214"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Instruments tracked, retired and defensible</a:t>
            </a:r>
            <a:endParaRPr b="0" lang="en-US" sz="1250" strike="noStrike" u="none">
              <a:solidFill>
                <a:srgbClr val="000000"/>
              </a:solidFill>
              <a:effectLst/>
              <a:uFillTx/>
              <a:latin typeface="Arial"/>
            </a:endParaRPr>
          </a:p>
        </p:txBody>
      </p:sp>
      <p:sp>
        <p:nvSpPr>
          <p:cNvPr id="5215"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216" name="Shape 7"/>
          <p:cNvSpPr/>
          <p:nvPr/>
        </p:nvSpPr>
        <p:spPr>
          <a:xfrm>
            <a:off x="6217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217"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218"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Q4 2026</a:t>
            </a:r>
            <a:endParaRPr b="0" lang="en-US" sz="900" strike="noStrike" u="none">
              <a:solidFill>
                <a:srgbClr val="000000"/>
              </a:solidFill>
              <a:effectLst/>
              <a:uFillTx/>
              <a:latin typeface="Arial"/>
            </a:endParaRPr>
          </a:p>
        </p:txBody>
      </p:sp>
      <p:sp>
        <p:nvSpPr>
          <p:cNvPr id="5219"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Instrument register</a:t>
            </a:r>
            <a:endParaRPr b="0" lang="en-US" sz="1600" strike="noStrike" u="none">
              <a:solidFill>
                <a:srgbClr val="000000"/>
              </a:solidFill>
              <a:effectLst/>
              <a:uFillTx/>
              <a:latin typeface="Arial"/>
            </a:endParaRPr>
          </a:p>
        </p:txBody>
      </p:sp>
      <p:sp>
        <p:nvSpPr>
          <p:cNvPr id="5220" name="Text 11"/>
          <p:cNvSpPr/>
          <p:nvPr/>
        </p:nvSpPr>
        <p:spPr>
          <a:xfrm>
            <a:off x="8229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EAC and PPA register with contract linkage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Allocation to sites and reporting entities</a:t>
            </a:r>
            <a:endParaRPr b="0" lang="en-US" sz="1100" strike="noStrike" u="none">
              <a:solidFill>
                <a:srgbClr val="000000"/>
              </a:solidFill>
              <a:effectLst/>
              <a:uFillTx/>
              <a:latin typeface="Arial"/>
            </a:endParaRPr>
          </a:p>
        </p:txBody>
      </p:sp>
      <p:sp>
        <p:nvSpPr>
          <p:cNvPr id="5221" name="Shape 12"/>
          <p:cNvSpPr/>
          <p:nvPr/>
        </p:nvSpPr>
        <p:spPr>
          <a:xfrm>
            <a:off x="342756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222" name="Shape 13"/>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223" name="Text 14"/>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H1 2027</a:t>
            </a:r>
            <a:endParaRPr b="0" lang="en-US" sz="900" strike="noStrike" u="none">
              <a:solidFill>
                <a:srgbClr val="000000"/>
              </a:solidFill>
              <a:effectLst/>
              <a:uFillTx/>
              <a:latin typeface="Arial"/>
            </a:endParaRPr>
          </a:p>
        </p:txBody>
      </p:sp>
      <p:sp>
        <p:nvSpPr>
          <p:cNvPr id="5224" name="Text 15"/>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Assurance</a:t>
            </a:r>
            <a:endParaRPr b="0" lang="en-US" sz="1600" strike="noStrike" u="none">
              <a:solidFill>
                <a:srgbClr val="000000"/>
              </a:solidFill>
              <a:effectLst/>
              <a:uFillTx/>
              <a:latin typeface="Arial"/>
            </a:endParaRPr>
          </a:p>
        </p:txBody>
      </p:sp>
      <p:sp>
        <p:nvSpPr>
          <p:cNvPr id="5225" name="Text 16"/>
          <p:cNvSpPr/>
          <p:nvPr/>
        </p:nvSpPr>
        <p:spPr>
          <a:xfrm>
            <a:off x="362844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Retirement tracking with evidence and audit trail</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Double counting controls</a:t>
            </a:r>
            <a:endParaRPr b="0" lang="en-US" sz="1100" strike="noStrike" u="none">
              <a:solidFill>
                <a:srgbClr val="000000"/>
              </a:solidFill>
              <a:effectLst/>
              <a:uFillTx/>
              <a:latin typeface="Arial"/>
            </a:endParaRPr>
          </a:p>
        </p:txBody>
      </p:sp>
      <p:sp>
        <p:nvSpPr>
          <p:cNvPr id="5226" name="Shape 17"/>
          <p:cNvSpPr/>
          <p:nvPr/>
        </p:nvSpPr>
        <p:spPr>
          <a:xfrm>
            <a:off x="623304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227" name="Shape 18"/>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228" name="Text 19"/>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H2 2027</a:t>
            </a:r>
            <a:endParaRPr b="0" lang="en-US" sz="900" strike="noStrike" u="none">
              <a:solidFill>
                <a:srgbClr val="000000"/>
              </a:solidFill>
              <a:effectLst/>
              <a:uFillTx/>
              <a:latin typeface="Arial"/>
            </a:endParaRPr>
          </a:p>
        </p:txBody>
      </p:sp>
      <p:sp>
        <p:nvSpPr>
          <p:cNvPr id="5229" name="Text 20"/>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Matching</a:t>
            </a:r>
            <a:endParaRPr b="0" lang="en-US" sz="1600" strike="noStrike" u="none">
              <a:solidFill>
                <a:srgbClr val="000000"/>
              </a:solidFill>
              <a:effectLst/>
              <a:uFillTx/>
              <a:latin typeface="Arial"/>
            </a:endParaRPr>
          </a:p>
        </p:txBody>
      </p:sp>
      <p:sp>
        <p:nvSpPr>
          <p:cNvPr id="5230" name="Text 21"/>
          <p:cNvSpPr/>
          <p:nvPr/>
        </p:nvSpPr>
        <p:spPr>
          <a:xfrm>
            <a:off x="643428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Time matched allocation using interval data</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Residual mix and gap reporting</a:t>
            </a:r>
            <a:endParaRPr b="0" lang="en-US" sz="1100" strike="noStrike" u="none">
              <a:solidFill>
                <a:srgbClr val="000000"/>
              </a:solidFill>
              <a:effectLst/>
              <a:uFillTx/>
              <a:latin typeface="Arial"/>
            </a:endParaRPr>
          </a:p>
        </p:txBody>
      </p:sp>
      <p:sp>
        <p:nvSpPr>
          <p:cNvPr id="5231" name="Shape 22"/>
          <p:cNvSpPr/>
          <p:nvPr/>
        </p:nvSpPr>
        <p:spPr>
          <a:xfrm>
            <a:off x="90385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232" name="Shape 23"/>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233" name="Text 24"/>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2028 AND BEYOND</a:t>
            </a:r>
            <a:endParaRPr b="0" lang="en-US" sz="900" strike="noStrike" u="none">
              <a:solidFill>
                <a:srgbClr val="000000"/>
              </a:solidFill>
              <a:effectLst/>
              <a:uFillTx/>
              <a:latin typeface="Arial"/>
            </a:endParaRPr>
          </a:p>
        </p:txBody>
      </p:sp>
      <p:sp>
        <p:nvSpPr>
          <p:cNvPr id="5234" name="Text 25"/>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Directional</a:t>
            </a:r>
            <a:endParaRPr b="0" lang="en-US" sz="1600" strike="noStrike" u="none">
              <a:solidFill>
                <a:srgbClr val="000000"/>
              </a:solidFill>
              <a:effectLst/>
              <a:uFillTx/>
              <a:latin typeface="Arial"/>
            </a:endParaRPr>
          </a:p>
        </p:txBody>
      </p:sp>
      <p:sp>
        <p:nvSpPr>
          <p:cNvPr id="5235" name="Text 26"/>
          <p:cNvSpPr/>
          <p:nvPr/>
        </p:nvSpPr>
        <p:spPr>
          <a:xfrm>
            <a:off x="92397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Hourly matched clean energy claims at portfolio scale</a:t>
            </a:r>
            <a:endParaRPr b="0" lang="en-US" sz="1100" strike="noStrike" u="none">
              <a:solidFill>
                <a:srgbClr val="000000"/>
              </a:solidFill>
              <a:effectLst/>
              <a:uFillTx/>
              <a:latin typeface="Arial"/>
            </a:endParaRPr>
          </a:p>
        </p:txBody>
      </p:sp>
      <p:sp>
        <p:nvSpPr>
          <p:cNvPr id="5236" name="Shape 27"/>
          <p:cNvSpPr/>
          <p:nvPr/>
        </p:nvSpPr>
        <p:spPr>
          <a:xfrm>
            <a:off x="621720" y="5650920"/>
            <a:ext cx="10947600" cy="585000"/>
          </a:xfrm>
          <a:prstGeom prst="roundRect">
            <a:avLst>
              <a:gd name="adj" fmla="val 12500"/>
            </a:avLst>
          </a:prstGeom>
          <a:solidFill>
            <a:srgbClr val="effaf1"/>
          </a:solidFill>
          <a:ln w="12700">
            <a:solidFill>
              <a:srgbClr val="bce8c9"/>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237" name="Shape 28"/>
          <p:cNvSpPr/>
          <p:nvPr/>
        </p:nvSpPr>
        <p:spPr>
          <a:xfrm>
            <a:off x="676800" y="5760720"/>
            <a:ext cx="45360" cy="3654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238" name="Text 29"/>
          <p:cNvSpPr/>
          <p:nvPr/>
        </p:nvSpPr>
        <p:spPr>
          <a:xfrm>
            <a:off x="859680" y="5650920"/>
            <a:ext cx="10527120" cy="585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050" strike="noStrike" u="none">
                <a:solidFill>
                  <a:srgbClr val="3a423c"/>
                </a:solidFill>
                <a:effectLst/>
                <a:uFillTx/>
                <a:latin typeface="Calibri"/>
                <a:ea typeface="Calibri"/>
              </a:rPr>
              <a:t>Capability position: Market leading. Instrument management tied directly to the inventory and its audit trail is rare in the peer set. Product page: /energy-products/renewables-eacs. Roadmap gap matrix: /competitor-matrix.</a:t>
            </a:r>
            <a:endParaRPr b="0" lang="en-US" sz="1050" strike="noStrike" u="none">
              <a:solidFill>
                <a:srgbClr val="000000"/>
              </a:solidFill>
              <a:effectLst/>
              <a:uFillTx/>
              <a:latin typeface="Arial"/>
            </a:endParaRPr>
          </a:p>
        </p:txBody>
      </p:sp>
      <p:sp>
        <p:nvSpPr>
          <p:cNvPr id="5239" name="Shape 30"/>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240" name="Text 31"/>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5241" name="Text 32"/>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5242" name="PlaceHolder 1"/>
          <p:cNvSpPr>
            <a:spLocks noGrp="1"/>
          </p:cNvSpPr>
          <p:nvPr>
            <p:ph type="sldNum" idx="116"/>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E010AB00-854A-434C-9A14-48F8302629BC}"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243"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5244"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5245" name="Shape 2"/>
          <p:cNvSpPr/>
          <p:nvPr/>
        </p:nvSpPr>
        <p:spPr>
          <a:xfrm>
            <a:off x="621720" y="311040"/>
            <a:ext cx="334188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246" name="Text 3"/>
          <p:cNvSpPr/>
          <p:nvPr/>
        </p:nvSpPr>
        <p:spPr>
          <a:xfrm>
            <a:off x="804600" y="329040"/>
            <a:ext cx="301248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ENERGY &amp; EFFICIENCY ROADMAP</a:t>
            </a:r>
            <a:endParaRPr b="0" lang="en-US" sz="950" strike="noStrike" u="none">
              <a:solidFill>
                <a:srgbClr val="000000"/>
              </a:solidFill>
              <a:effectLst/>
              <a:uFillTx/>
              <a:latin typeface="Arial"/>
            </a:endParaRPr>
          </a:p>
        </p:txBody>
      </p:sp>
      <p:sp>
        <p:nvSpPr>
          <p:cNvPr id="5247"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Demand Response &amp; Flexibility</a:t>
            </a:r>
            <a:endParaRPr b="0" lang="en-US" sz="3200" strike="noStrike" u="none">
              <a:solidFill>
                <a:srgbClr val="000000"/>
              </a:solidFill>
              <a:effectLst/>
              <a:uFillTx/>
              <a:latin typeface="Arial"/>
            </a:endParaRPr>
          </a:p>
        </p:txBody>
      </p:sp>
      <p:sp>
        <p:nvSpPr>
          <p:cNvPr id="5248"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Turning load into a revenue and resilience asset</a:t>
            </a:r>
            <a:endParaRPr b="0" lang="en-US" sz="1250" strike="noStrike" u="none">
              <a:solidFill>
                <a:srgbClr val="000000"/>
              </a:solidFill>
              <a:effectLst/>
              <a:uFillTx/>
              <a:latin typeface="Arial"/>
            </a:endParaRPr>
          </a:p>
        </p:txBody>
      </p:sp>
      <p:sp>
        <p:nvSpPr>
          <p:cNvPr id="5249"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250" name="Shape 7"/>
          <p:cNvSpPr/>
          <p:nvPr/>
        </p:nvSpPr>
        <p:spPr>
          <a:xfrm>
            <a:off x="6217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251"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252"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Q4 2026</a:t>
            </a:r>
            <a:endParaRPr b="0" lang="en-US" sz="900" strike="noStrike" u="none">
              <a:solidFill>
                <a:srgbClr val="000000"/>
              </a:solidFill>
              <a:effectLst/>
              <a:uFillTx/>
              <a:latin typeface="Arial"/>
            </a:endParaRPr>
          </a:p>
        </p:txBody>
      </p:sp>
      <p:sp>
        <p:nvSpPr>
          <p:cNvPr id="5253"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Visibility</a:t>
            </a:r>
            <a:endParaRPr b="0" lang="en-US" sz="1600" strike="noStrike" u="none">
              <a:solidFill>
                <a:srgbClr val="000000"/>
              </a:solidFill>
              <a:effectLst/>
              <a:uFillTx/>
              <a:latin typeface="Arial"/>
            </a:endParaRPr>
          </a:p>
        </p:txBody>
      </p:sp>
      <p:sp>
        <p:nvSpPr>
          <p:cNvPr id="5254" name="Text 11"/>
          <p:cNvSpPr/>
          <p:nvPr/>
        </p:nvSpPr>
        <p:spPr>
          <a:xfrm>
            <a:off x="8229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Load profile and peak analysis from interval data</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Flexibility potential assessment by site</a:t>
            </a:r>
            <a:endParaRPr b="0" lang="en-US" sz="1100" strike="noStrike" u="none">
              <a:solidFill>
                <a:srgbClr val="000000"/>
              </a:solidFill>
              <a:effectLst/>
              <a:uFillTx/>
              <a:latin typeface="Arial"/>
            </a:endParaRPr>
          </a:p>
        </p:txBody>
      </p:sp>
      <p:sp>
        <p:nvSpPr>
          <p:cNvPr id="5255" name="Shape 12"/>
          <p:cNvSpPr/>
          <p:nvPr/>
        </p:nvSpPr>
        <p:spPr>
          <a:xfrm>
            <a:off x="342756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256" name="Shape 13"/>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257" name="Text 14"/>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H1 2027</a:t>
            </a:r>
            <a:endParaRPr b="0" lang="en-US" sz="900" strike="noStrike" u="none">
              <a:solidFill>
                <a:srgbClr val="000000"/>
              </a:solidFill>
              <a:effectLst/>
              <a:uFillTx/>
              <a:latin typeface="Arial"/>
            </a:endParaRPr>
          </a:p>
        </p:txBody>
      </p:sp>
      <p:sp>
        <p:nvSpPr>
          <p:cNvPr id="5258" name="Text 15"/>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Programmes</a:t>
            </a:r>
            <a:endParaRPr b="0" lang="en-US" sz="1600" strike="noStrike" u="none">
              <a:solidFill>
                <a:srgbClr val="000000"/>
              </a:solidFill>
              <a:effectLst/>
              <a:uFillTx/>
              <a:latin typeface="Arial"/>
            </a:endParaRPr>
          </a:p>
        </p:txBody>
      </p:sp>
      <p:sp>
        <p:nvSpPr>
          <p:cNvPr id="5259" name="Text 16"/>
          <p:cNvSpPr/>
          <p:nvPr/>
        </p:nvSpPr>
        <p:spPr>
          <a:xfrm>
            <a:off x="362844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Demand response programme enrolment and tracking</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Peak shaving recommendations with cost impact</a:t>
            </a:r>
            <a:endParaRPr b="0" lang="en-US" sz="1100" strike="noStrike" u="none">
              <a:solidFill>
                <a:srgbClr val="000000"/>
              </a:solidFill>
              <a:effectLst/>
              <a:uFillTx/>
              <a:latin typeface="Arial"/>
            </a:endParaRPr>
          </a:p>
        </p:txBody>
      </p:sp>
      <p:sp>
        <p:nvSpPr>
          <p:cNvPr id="5260" name="Shape 17"/>
          <p:cNvSpPr/>
          <p:nvPr/>
        </p:nvSpPr>
        <p:spPr>
          <a:xfrm>
            <a:off x="623304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261" name="Shape 18"/>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262" name="Text 19"/>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H2 2027</a:t>
            </a:r>
            <a:endParaRPr b="0" lang="en-US" sz="900" strike="noStrike" u="none">
              <a:solidFill>
                <a:srgbClr val="000000"/>
              </a:solidFill>
              <a:effectLst/>
              <a:uFillTx/>
              <a:latin typeface="Arial"/>
            </a:endParaRPr>
          </a:p>
        </p:txBody>
      </p:sp>
      <p:sp>
        <p:nvSpPr>
          <p:cNvPr id="5263" name="Text 20"/>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Monetization</a:t>
            </a:r>
            <a:endParaRPr b="0" lang="en-US" sz="1600" strike="noStrike" u="none">
              <a:solidFill>
                <a:srgbClr val="000000"/>
              </a:solidFill>
              <a:effectLst/>
              <a:uFillTx/>
              <a:latin typeface="Arial"/>
            </a:endParaRPr>
          </a:p>
        </p:txBody>
      </p:sp>
      <p:sp>
        <p:nvSpPr>
          <p:cNvPr id="5264" name="Text 21"/>
          <p:cNvSpPr/>
          <p:nvPr/>
        </p:nvSpPr>
        <p:spPr>
          <a:xfrm>
            <a:off x="643428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Event performance and settlement visibility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Avoided cost and avoided emissions reporting</a:t>
            </a:r>
            <a:endParaRPr b="0" lang="en-US" sz="1100" strike="noStrike" u="none">
              <a:solidFill>
                <a:srgbClr val="000000"/>
              </a:solidFill>
              <a:effectLst/>
              <a:uFillTx/>
              <a:latin typeface="Arial"/>
            </a:endParaRPr>
          </a:p>
        </p:txBody>
      </p:sp>
      <p:sp>
        <p:nvSpPr>
          <p:cNvPr id="5265" name="Shape 22"/>
          <p:cNvSpPr/>
          <p:nvPr/>
        </p:nvSpPr>
        <p:spPr>
          <a:xfrm>
            <a:off x="90385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266" name="Shape 23"/>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267" name="Text 24"/>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2028 AND BEYOND</a:t>
            </a:r>
            <a:endParaRPr b="0" lang="en-US" sz="900" strike="noStrike" u="none">
              <a:solidFill>
                <a:srgbClr val="000000"/>
              </a:solidFill>
              <a:effectLst/>
              <a:uFillTx/>
              <a:latin typeface="Arial"/>
            </a:endParaRPr>
          </a:p>
        </p:txBody>
      </p:sp>
      <p:sp>
        <p:nvSpPr>
          <p:cNvPr id="5268" name="Text 25"/>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Directional</a:t>
            </a:r>
            <a:endParaRPr b="0" lang="en-US" sz="1600" strike="noStrike" u="none">
              <a:solidFill>
                <a:srgbClr val="000000"/>
              </a:solidFill>
              <a:effectLst/>
              <a:uFillTx/>
              <a:latin typeface="Arial"/>
            </a:endParaRPr>
          </a:p>
        </p:txBody>
      </p:sp>
      <p:sp>
        <p:nvSpPr>
          <p:cNvPr id="5269" name="Text 26"/>
          <p:cNvSpPr/>
          <p:nvPr/>
        </p:nvSpPr>
        <p:spPr>
          <a:xfrm>
            <a:off x="92397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Automated dispatch across DER and controllable load</a:t>
            </a:r>
            <a:endParaRPr b="0" lang="en-US" sz="1100" strike="noStrike" u="none">
              <a:solidFill>
                <a:srgbClr val="000000"/>
              </a:solidFill>
              <a:effectLst/>
              <a:uFillTx/>
              <a:latin typeface="Arial"/>
            </a:endParaRPr>
          </a:p>
        </p:txBody>
      </p:sp>
      <p:sp>
        <p:nvSpPr>
          <p:cNvPr id="5270" name="Shape 27"/>
          <p:cNvSpPr/>
          <p:nvPr/>
        </p:nvSpPr>
        <p:spPr>
          <a:xfrm>
            <a:off x="621720" y="5650920"/>
            <a:ext cx="10947600" cy="585000"/>
          </a:xfrm>
          <a:prstGeom prst="roundRect">
            <a:avLst>
              <a:gd name="adj" fmla="val 12500"/>
            </a:avLst>
          </a:prstGeom>
          <a:solidFill>
            <a:srgbClr val="effaf1"/>
          </a:solidFill>
          <a:ln w="12700">
            <a:solidFill>
              <a:srgbClr val="bce8c9"/>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271" name="Shape 28"/>
          <p:cNvSpPr/>
          <p:nvPr/>
        </p:nvSpPr>
        <p:spPr>
          <a:xfrm>
            <a:off x="676800" y="5760720"/>
            <a:ext cx="45360" cy="3654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272" name="Text 29"/>
          <p:cNvSpPr/>
          <p:nvPr/>
        </p:nvSpPr>
        <p:spPr>
          <a:xfrm>
            <a:off x="859680" y="5650920"/>
            <a:ext cx="10527120" cy="585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050" strike="noStrike" u="none">
                <a:solidFill>
                  <a:srgbClr val="3a423c"/>
                </a:solidFill>
                <a:effectLst/>
                <a:uFillTx/>
                <a:latin typeface="Calibri"/>
                <a:ea typeface="Calibri"/>
              </a:rPr>
              <a:t>Capability position: Market leading. Flexibility monetization sitting next to carbon and efficiency on one platform has no direct equivalent in the peer set. Product page: /energy-products/demand-response-flexibility. Roadmap gap matrix: /competitor-matrix.</a:t>
            </a:r>
            <a:endParaRPr b="0" lang="en-US" sz="1050" strike="noStrike" u="none">
              <a:solidFill>
                <a:srgbClr val="000000"/>
              </a:solidFill>
              <a:effectLst/>
              <a:uFillTx/>
              <a:latin typeface="Arial"/>
            </a:endParaRPr>
          </a:p>
        </p:txBody>
      </p:sp>
      <p:sp>
        <p:nvSpPr>
          <p:cNvPr id="5273" name="Shape 30"/>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274" name="Text 31"/>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5275" name="Text 32"/>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5276" name="PlaceHolder 1"/>
          <p:cNvSpPr>
            <a:spLocks noGrp="1"/>
          </p:cNvSpPr>
          <p:nvPr>
            <p:ph type="sldNum" idx="117"/>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D87874C5-718D-496F-AD8E-6D7D1E981F61}"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277"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5278"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5279" name="Shape 2"/>
          <p:cNvSpPr/>
          <p:nvPr/>
        </p:nvSpPr>
        <p:spPr>
          <a:xfrm>
            <a:off x="621720" y="311040"/>
            <a:ext cx="334188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280" name="Text 3"/>
          <p:cNvSpPr/>
          <p:nvPr/>
        </p:nvSpPr>
        <p:spPr>
          <a:xfrm>
            <a:off x="804600" y="329040"/>
            <a:ext cx="301248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ENERGY &amp; EFFICIENCY ROADMAP</a:t>
            </a:r>
            <a:endParaRPr b="0" lang="en-US" sz="950" strike="noStrike" u="none">
              <a:solidFill>
                <a:srgbClr val="000000"/>
              </a:solidFill>
              <a:effectLst/>
              <a:uFillTx/>
              <a:latin typeface="Arial"/>
            </a:endParaRPr>
          </a:p>
        </p:txBody>
      </p:sp>
      <p:sp>
        <p:nvSpPr>
          <p:cNvPr id="5281"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Electrification &amp; DER Management</a:t>
            </a:r>
            <a:endParaRPr b="0" lang="en-US" sz="3200" strike="noStrike" u="none">
              <a:solidFill>
                <a:srgbClr val="000000"/>
              </a:solidFill>
              <a:effectLst/>
              <a:uFillTx/>
              <a:latin typeface="Arial"/>
            </a:endParaRPr>
          </a:p>
        </p:txBody>
      </p:sp>
      <p:sp>
        <p:nvSpPr>
          <p:cNvPr id="5282"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EV charging, solar and storage on the same platform as the plan</a:t>
            </a:r>
            <a:endParaRPr b="0" lang="en-US" sz="1250" strike="noStrike" u="none">
              <a:solidFill>
                <a:srgbClr val="000000"/>
              </a:solidFill>
              <a:effectLst/>
              <a:uFillTx/>
              <a:latin typeface="Arial"/>
            </a:endParaRPr>
          </a:p>
        </p:txBody>
      </p:sp>
      <p:sp>
        <p:nvSpPr>
          <p:cNvPr id="5283"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284" name="Shape 7"/>
          <p:cNvSpPr/>
          <p:nvPr/>
        </p:nvSpPr>
        <p:spPr>
          <a:xfrm>
            <a:off x="6217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285"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286"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Q4 2026</a:t>
            </a:r>
            <a:endParaRPr b="0" lang="en-US" sz="900" strike="noStrike" u="none">
              <a:solidFill>
                <a:srgbClr val="000000"/>
              </a:solidFill>
              <a:effectLst/>
              <a:uFillTx/>
              <a:latin typeface="Arial"/>
            </a:endParaRPr>
          </a:p>
        </p:txBody>
      </p:sp>
      <p:sp>
        <p:nvSpPr>
          <p:cNvPr id="5287"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Inventory</a:t>
            </a:r>
            <a:endParaRPr b="0" lang="en-US" sz="1600" strike="noStrike" u="none">
              <a:solidFill>
                <a:srgbClr val="000000"/>
              </a:solidFill>
              <a:effectLst/>
              <a:uFillTx/>
              <a:latin typeface="Arial"/>
            </a:endParaRPr>
          </a:p>
        </p:txBody>
      </p:sp>
      <p:sp>
        <p:nvSpPr>
          <p:cNvPr id="5288" name="Text 11"/>
          <p:cNvSpPr/>
          <p:nvPr/>
        </p:nvSpPr>
        <p:spPr>
          <a:xfrm>
            <a:off x="8229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DER and charging asset inventory on the shared register</a:t>
            </a:r>
            <a:endParaRPr b="0" lang="en-US" sz="1100" strike="noStrike" u="none">
              <a:solidFill>
                <a:srgbClr val="000000"/>
              </a:solidFill>
              <a:effectLst/>
              <a:uFillTx/>
              <a:latin typeface="Arial"/>
            </a:endParaRPr>
          </a:p>
        </p:txBody>
      </p:sp>
      <p:sp>
        <p:nvSpPr>
          <p:cNvPr id="5289" name="Shape 12"/>
          <p:cNvSpPr/>
          <p:nvPr/>
        </p:nvSpPr>
        <p:spPr>
          <a:xfrm>
            <a:off x="342756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290" name="Shape 13"/>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291" name="Text 14"/>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H1 2027</a:t>
            </a:r>
            <a:endParaRPr b="0" lang="en-US" sz="900" strike="noStrike" u="none">
              <a:solidFill>
                <a:srgbClr val="000000"/>
              </a:solidFill>
              <a:effectLst/>
              <a:uFillTx/>
              <a:latin typeface="Arial"/>
            </a:endParaRPr>
          </a:p>
        </p:txBody>
      </p:sp>
      <p:sp>
        <p:nvSpPr>
          <p:cNvPr id="5292" name="Text 15"/>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Performance</a:t>
            </a:r>
            <a:endParaRPr b="0" lang="en-US" sz="1600" strike="noStrike" u="none">
              <a:solidFill>
                <a:srgbClr val="000000"/>
              </a:solidFill>
              <a:effectLst/>
              <a:uFillTx/>
              <a:latin typeface="Arial"/>
            </a:endParaRPr>
          </a:p>
        </p:txBody>
      </p:sp>
      <p:sp>
        <p:nvSpPr>
          <p:cNvPr id="5293" name="Text 16"/>
          <p:cNvSpPr/>
          <p:nvPr/>
        </p:nvSpPr>
        <p:spPr>
          <a:xfrm>
            <a:off x="362844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On site generation and storage performance monitoring</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EV charging consumption and cost visibility</a:t>
            </a:r>
            <a:endParaRPr b="0" lang="en-US" sz="1100" strike="noStrike" u="none">
              <a:solidFill>
                <a:srgbClr val="000000"/>
              </a:solidFill>
              <a:effectLst/>
              <a:uFillTx/>
              <a:latin typeface="Arial"/>
            </a:endParaRPr>
          </a:p>
        </p:txBody>
      </p:sp>
      <p:sp>
        <p:nvSpPr>
          <p:cNvPr id="5294" name="Shape 17"/>
          <p:cNvSpPr/>
          <p:nvPr/>
        </p:nvSpPr>
        <p:spPr>
          <a:xfrm>
            <a:off x="623304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295" name="Shape 18"/>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296" name="Text 19"/>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H2 2027</a:t>
            </a:r>
            <a:endParaRPr b="0" lang="en-US" sz="900" strike="noStrike" u="none">
              <a:solidFill>
                <a:srgbClr val="000000"/>
              </a:solidFill>
              <a:effectLst/>
              <a:uFillTx/>
              <a:latin typeface="Arial"/>
            </a:endParaRPr>
          </a:p>
        </p:txBody>
      </p:sp>
      <p:sp>
        <p:nvSpPr>
          <p:cNvPr id="5297" name="Text 20"/>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Planning</a:t>
            </a:r>
            <a:endParaRPr b="0" lang="en-US" sz="1600" strike="noStrike" u="none">
              <a:solidFill>
                <a:srgbClr val="000000"/>
              </a:solidFill>
              <a:effectLst/>
              <a:uFillTx/>
              <a:latin typeface="Arial"/>
            </a:endParaRPr>
          </a:p>
        </p:txBody>
      </p:sp>
      <p:sp>
        <p:nvSpPr>
          <p:cNvPr id="5298" name="Text 21"/>
          <p:cNvSpPr/>
          <p:nvPr/>
        </p:nvSpPr>
        <p:spPr>
          <a:xfrm>
            <a:off x="643428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Electrification scenarios with cost and carbon outcomes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Self consumption and export optimisation views</a:t>
            </a:r>
            <a:endParaRPr b="0" lang="en-US" sz="1100" strike="noStrike" u="none">
              <a:solidFill>
                <a:srgbClr val="000000"/>
              </a:solidFill>
              <a:effectLst/>
              <a:uFillTx/>
              <a:latin typeface="Arial"/>
            </a:endParaRPr>
          </a:p>
        </p:txBody>
      </p:sp>
      <p:sp>
        <p:nvSpPr>
          <p:cNvPr id="5299" name="Shape 22"/>
          <p:cNvSpPr/>
          <p:nvPr/>
        </p:nvSpPr>
        <p:spPr>
          <a:xfrm>
            <a:off x="90385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300" name="Shape 23"/>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301" name="Text 24"/>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2028 AND BEYOND</a:t>
            </a:r>
            <a:endParaRPr b="0" lang="en-US" sz="900" strike="noStrike" u="none">
              <a:solidFill>
                <a:srgbClr val="000000"/>
              </a:solidFill>
              <a:effectLst/>
              <a:uFillTx/>
              <a:latin typeface="Arial"/>
            </a:endParaRPr>
          </a:p>
        </p:txBody>
      </p:sp>
      <p:sp>
        <p:nvSpPr>
          <p:cNvPr id="5302" name="Text 25"/>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Directional</a:t>
            </a:r>
            <a:endParaRPr b="0" lang="en-US" sz="1600" strike="noStrike" u="none">
              <a:solidFill>
                <a:srgbClr val="000000"/>
              </a:solidFill>
              <a:effectLst/>
              <a:uFillTx/>
              <a:latin typeface="Arial"/>
            </a:endParaRPr>
          </a:p>
        </p:txBody>
      </p:sp>
      <p:sp>
        <p:nvSpPr>
          <p:cNvPr id="5303" name="Text 26"/>
          <p:cNvSpPr/>
          <p:nvPr/>
        </p:nvSpPr>
        <p:spPr>
          <a:xfrm>
            <a:off x="92397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Coordinated DER dispatch alongside demand response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Fleet electrification planning at portfolio scale</a:t>
            </a:r>
            <a:endParaRPr b="0" lang="en-US" sz="1100" strike="noStrike" u="none">
              <a:solidFill>
                <a:srgbClr val="000000"/>
              </a:solidFill>
              <a:effectLst/>
              <a:uFillTx/>
              <a:latin typeface="Arial"/>
            </a:endParaRPr>
          </a:p>
        </p:txBody>
      </p:sp>
      <p:sp>
        <p:nvSpPr>
          <p:cNvPr id="5304" name="Shape 27"/>
          <p:cNvSpPr/>
          <p:nvPr/>
        </p:nvSpPr>
        <p:spPr>
          <a:xfrm>
            <a:off x="621720" y="5650920"/>
            <a:ext cx="10947600" cy="585000"/>
          </a:xfrm>
          <a:prstGeom prst="roundRect">
            <a:avLst>
              <a:gd name="adj" fmla="val 12500"/>
            </a:avLst>
          </a:prstGeom>
          <a:solidFill>
            <a:srgbClr val="effaf1"/>
          </a:solidFill>
          <a:ln w="12700">
            <a:solidFill>
              <a:srgbClr val="bce8c9"/>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305" name="Shape 28"/>
          <p:cNvSpPr/>
          <p:nvPr/>
        </p:nvSpPr>
        <p:spPr>
          <a:xfrm>
            <a:off x="676800" y="5760720"/>
            <a:ext cx="45360" cy="3654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306" name="Text 29"/>
          <p:cNvSpPr/>
          <p:nvPr/>
        </p:nvSpPr>
        <p:spPr>
          <a:xfrm>
            <a:off x="859680" y="5650920"/>
            <a:ext cx="10527120" cy="585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050" strike="noStrike" u="none">
                <a:solidFill>
                  <a:srgbClr val="3a423c"/>
                </a:solidFill>
                <a:effectLst/>
                <a:uFillTx/>
                <a:latin typeface="Calibri"/>
                <a:ea typeface="Calibri"/>
              </a:rPr>
              <a:t>Capability position: Closing gap. This is the area where we are honestly behind the specialists, and the roadmap treats it as a 2027 and 2028 build. Product page: /energy-products/electrification-der. Roadmap gap matrix: /competitor-matrix.</a:t>
            </a:r>
            <a:endParaRPr b="0" lang="en-US" sz="1050" strike="noStrike" u="none">
              <a:solidFill>
                <a:srgbClr val="000000"/>
              </a:solidFill>
              <a:effectLst/>
              <a:uFillTx/>
              <a:latin typeface="Arial"/>
            </a:endParaRPr>
          </a:p>
        </p:txBody>
      </p:sp>
      <p:sp>
        <p:nvSpPr>
          <p:cNvPr id="5307" name="Shape 30"/>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308" name="Text 31"/>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5309" name="Text 32"/>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5310" name="PlaceHolder 1"/>
          <p:cNvSpPr>
            <a:spLocks noGrp="1"/>
          </p:cNvSpPr>
          <p:nvPr>
            <p:ph type="sldNum" idx="118"/>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13A1989D-A939-421C-BE5C-D222001AB780}"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5730"/>
        </a:solidFill>
      </p:bgPr>
    </p:bg>
    <p:spTree>
      <p:nvGrpSpPr>
        <p:cNvPr id="1" name=""/>
        <p:cNvGrpSpPr/>
        <p:nvPr/>
      </p:nvGrpSpPr>
      <p:grpSpPr>
        <a:xfrm>
          <a:off x="0" y="0"/>
          <a:ext cx="0" cy="0"/>
          <a:chOff x="0" y="0"/>
          <a:chExt cx="0" cy="0"/>
        </a:xfrm>
      </p:grpSpPr>
      <p:sp>
        <p:nvSpPr>
          <p:cNvPr id="5311"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5312"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5313" name="Shape 2"/>
          <p:cNvSpPr/>
          <p:nvPr/>
        </p:nvSpPr>
        <p:spPr>
          <a:xfrm>
            <a:off x="8641080" y="822960"/>
            <a:ext cx="360" cy="5212080"/>
          </a:xfrm>
          <a:prstGeom prst="line">
            <a:avLst/>
          </a:prstGeom>
          <a:ln w="12700">
            <a:solidFill>
              <a:srgbClr val="2c8058"/>
            </a:solidFill>
            <a:round/>
          </a:ln>
        </p:spPr>
        <p:style>
          <a:lnRef idx="0"/>
          <a:fillRef idx="0"/>
          <a:effectRef idx="0"/>
          <a:fontRef idx="minor"/>
        </p:style>
        <p:txBody>
          <a:bodyPr lIns="90000" rIns="90000" tIns="45000" bIns="45000" anchor="t" anchorCtr="1">
            <a:noAutofit/>
          </a:bodyPr>
          <a:p>
            <a:endParaRPr b="0" lang="en-US" sz="1800" strike="noStrike" u="none">
              <a:solidFill>
                <a:srgbClr val="ffffff"/>
              </a:solidFill>
              <a:effectLst/>
              <a:uFillTx/>
              <a:latin typeface="Arial"/>
            </a:endParaRPr>
          </a:p>
        </p:txBody>
      </p:sp>
      <p:sp>
        <p:nvSpPr>
          <p:cNvPr id="5314" name="Text 3"/>
          <p:cNvSpPr/>
          <p:nvPr/>
        </p:nvSpPr>
        <p:spPr>
          <a:xfrm>
            <a:off x="9144000" y="841320"/>
            <a:ext cx="2194200" cy="22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81" strike="noStrike" u="none">
                <a:solidFill>
                  <a:srgbClr val="bfe6ce"/>
                </a:solidFill>
                <a:effectLst/>
                <a:uFillTx/>
                <a:latin typeface="Calibri"/>
                <a:ea typeface="Calibri"/>
              </a:rPr>
              <a:t>RA+ ROADMAP</a:t>
            </a:r>
            <a:endParaRPr b="0" lang="en-US" sz="900" strike="noStrike" u="none">
              <a:solidFill>
                <a:srgbClr val="ffffff"/>
              </a:solidFill>
              <a:effectLst/>
              <a:uFillTx/>
              <a:latin typeface="Arial"/>
            </a:endParaRPr>
          </a:p>
        </p:txBody>
      </p:sp>
      <p:sp>
        <p:nvSpPr>
          <p:cNvPr id="5315" name="Text 4"/>
          <p:cNvSpPr/>
          <p:nvPr/>
        </p:nvSpPr>
        <p:spPr>
          <a:xfrm>
            <a:off x="9144000" y="1325880"/>
            <a:ext cx="2194200" cy="1462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3600" strike="noStrike" u="none">
                <a:solidFill>
                  <a:srgbClr val="ffffff"/>
                </a:solidFill>
                <a:effectLst/>
                <a:uFillTx/>
                <a:latin typeface="Calibri"/>
                <a:ea typeface="Calibri"/>
              </a:rPr>
              <a:t>2026</a:t>
            </a:r>
            <a:endParaRPr b="0" lang="en-US" sz="3600" strike="noStrike" u="none">
              <a:solidFill>
                <a:srgbClr val="ffffff"/>
              </a:solidFill>
              <a:effectLst/>
              <a:uFillTx/>
              <a:latin typeface="Arial"/>
            </a:endParaRPr>
          </a:p>
          <a:p>
            <a:pPr defTabSz="914400">
              <a:lnSpc>
                <a:spcPct val="100000"/>
              </a:lnSpc>
              <a:tabLst>
                <a:tab algn="l" pos="0"/>
              </a:tabLst>
            </a:pPr>
            <a:r>
              <a:rPr b="1" lang="en-US" sz="3600" strike="noStrike" u="none">
                <a:solidFill>
                  <a:srgbClr val="ffffff"/>
                </a:solidFill>
                <a:effectLst/>
                <a:uFillTx/>
                <a:latin typeface="Calibri"/>
                <a:ea typeface="Calibri"/>
              </a:rPr>
              <a:t>2027</a:t>
            </a:r>
            <a:endParaRPr b="0" lang="en-US" sz="3600" strike="noStrike" u="none">
              <a:solidFill>
                <a:srgbClr val="ffffff"/>
              </a:solidFill>
              <a:effectLst/>
              <a:uFillTx/>
              <a:latin typeface="Arial"/>
            </a:endParaRPr>
          </a:p>
        </p:txBody>
      </p:sp>
      <p:sp>
        <p:nvSpPr>
          <p:cNvPr id="5316" name="Text 5"/>
          <p:cNvSpPr/>
          <p:nvPr/>
        </p:nvSpPr>
        <p:spPr>
          <a:xfrm>
            <a:off x="621720" y="960120"/>
            <a:ext cx="71319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221" strike="noStrike" u="none">
                <a:solidFill>
                  <a:srgbClr val="bfe6ce"/>
                </a:solidFill>
                <a:effectLst/>
                <a:uFillTx/>
                <a:latin typeface="Calibri"/>
                <a:ea typeface="Calibri"/>
              </a:rPr>
              <a:t>APPENDIX</a:t>
            </a:r>
            <a:endParaRPr b="0" lang="en-US" sz="1100" strike="noStrike" u="none">
              <a:solidFill>
                <a:srgbClr val="ffffff"/>
              </a:solidFill>
              <a:effectLst/>
              <a:uFillTx/>
              <a:latin typeface="Arial"/>
            </a:endParaRPr>
          </a:p>
        </p:txBody>
      </p:sp>
      <p:sp>
        <p:nvSpPr>
          <p:cNvPr id="5317" name="Text 6"/>
          <p:cNvSpPr/>
          <p:nvPr/>
        </p:nvSpPr>
        <p:spPr>
          <a:xfrm>
            <a:off x="621720" y="1508760"/>
            <a:ext cx="191988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5800" strike="noStrike" u="none">
                <a:solidFill>
                  <a:srgbClr val="3dcd58"/>
                </a:solidFill>
                <a:effectLst/>
                <a:uFillTx/>
                <a:latin typeface="Calibri"/>
                <a:ea typeface="Calibri"/>
              </a:rPr>
              <a:t>05c</a:t>
            </a:r>
            <a:endParaRPr b="0" lang="en-US" sz="5800" strike="noStrike" u="none">
              <a:solidFill>
                <a:srgbClr val="ffffff"/>
              </a:solidFill>
              <a:effectLst/>
              <a:uFillTx/>
              <a:latin typeface="Arial"/>
            </a:endParaRPr>
          </a:p>
        </p:txBody>
      </p:sp>
      <p:sp>
        <p:nvSpPr>
          <p:cNvPr id="5318" name="Text 7"/>
          <p:cNvSpPr/>
          <p:nvPr/>
        </p:nvSpPr>
        <p:spPr>
          <a:xfrm>
            <a:off x="621720" y="2606040"/>
            <a:ext cx="7406280" cy="11426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ffffff"/>
                </a:solidFill>
                <a:effectLst/>
                <a:uFillTx/>
                <a:latin typeface="Calibri"/>
                <a:ea typeface="Calibri"/>
              </a:rPr>
              <a:t>Sustainability product roadmaps</a:t>
            </a:r>
            <a:endParaRPr b="0" lang="en-US" sz="3200" strike="noStrike" u="none">
              <a:solidFill>
                <a:srgbClr val="ffffff"/>
              </a:solidFill>
              <a:effectLst/>
              <a:uFillTx/>
              <a:latin typeface="Arial"/>
            </a:endParaRPr>
          </a:p>
        </p:txBody>
      </p:sp>
      <p:sp>
        <p:nvSpPr>
          <p:cNvPr id="5319" name="Text 8"/>
          <p:cNvSpPr/>
          <p:nvPr/>
        </p:nvSpPr>
        <p:spPr>
          <a:xfrm>
            <a:off x="621720" y="4005000"/>
            <a:ext cx="704052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400" strike="noStrike" u="none">
                <a:solidFill>
                  <a:srgbClr val="d6eadf"/>
                </a:solidFill>
                <a:effectLst/>
                <a:uFillTx/>
                <a:latin typeface="Calibri"/>
                <a:ea typeface="Calibri"/>
              </a:rPr>
              <a:t>One page per product, in family order: Carbon Performance, Supply Chain, Reporting and Compliance, Climate Risk, then the shared products. Full detail lives on the product pages linked from the roadmap gap matrix.</a:t>
            </a:r>
            <a:endParaRPr b="0" lang="en-US" sz="14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320"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5321"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5322" name="Shape 2"/>
          <p:cNvSpPr/>
          <p:nvPr/>
        </p:nvSpPr>
        <p:spPr>
          <a:xfrm>
            <a:off x="621720" y="311040"/>
            <a:ext cx="475452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323" name="Text 3"/>
          <p:cNvSpPr/>
          <p:nvPr/>
        </p:nvSpPr>
        <p:spPr>
          <a:xfrm>
            <a:off x="804600" y="329040"/>
            <a:ext cx="442548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SUSTAINABILITY ROADMAP | CARBON PERFORMANCE</a:t>
            </a:r>
            <a:endParaRPr b="0" lang="en-US" sz="950" strike="noStrike" u="none">
              <a:solidFill>
                <a:srgbClr val="000000"/>
              </a:solidFill>
              <a:effectLst/>
              <a:uFillTx/>
              <a:latin typeface="Arial"/>
            </a:endParaRPr>
          </a:p>
        </p:txBody>
      </p:sp>
      <p:sp>
        <p:nvSpPr>
          <p:cNvPr id="5324"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Carbon Inventory</a:t>
            </a:r>
            <a:endParaRPr b="0" lang="en-US" sz="3200" strike="noStrike" u="none">
              <a:solidFill>
                <a:srgbClr val="000000"/>
              </a:solidFill>
              <a:effectLst/>
              <a:uFillTx/>
              <a:latin typeface="Arial"/>
            </a:endParaRPr>
          </a:p>
        </p:txBody>
      </p:sp>
      <p:sp>
        <p:nvSpPr>
          <p:cNvPr id="5325"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The governed inventory every other product consumes</a:t>
            </a:r>
            <a:endParaRPr b="0" lang="en-US" sz="1250" strike="noStrike" u="none">
              <a:solidFill>
                <a:srgbClr val="000000"/>
              </a:solidFill>
              <a:effectLst/>
              <a:uFillTx/>
              <a:latin typeface="Arial"/>
            </a:endParaRPr>
          </a:p>
        </p:txBody>
      </p:sp>
      <p:sp>
        <p:nvSpPr>
          <p:cNvPr id="5326"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327" name="Shape 7"/>
          <p:cNvSpPr/>
          <p:nvPr/>
        </p:nvSpPr>
        <p:spPr>
          <a:xfrm>
            <a:off x="6217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328"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329"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Q3 2026</a:t>
            </a:r>
            <a:endParaRPr b="0" lang="en-US" sz="900" strike="noStrike" u="none">
              <a:solidFill>
                <a:srgbClr val="000000"/>
              </a:solidFill>
              <a:effectLst/>
              <a:uFillTx/>
              <a:latin typeface="Arial"/>
            </a:endParaRPr>
          </a:p>
        </p:txBody>
      </p:sp>
      <p:sp>
        <p:nvSpPr>
          <p:cNvPr id="5330"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Now</a:t>
            </a:r>
            <a:endParaRPr b="0" lang="en-US" sz="1600" strike="noStrike" u="none">
              <a:solidFill>
                <a:srgbClr val="000000"/>
              </a:solidFill>
              <a:effectLst/>
              <a:uFillTx/>
              <a:latin typeface="Arial"/>
            </a:endParaRPr>
          </a:p>
        </p:txBody>
      </p:sp>
      <p:sp>
        <p:nvSpPr>
          <p:cNvPr id="5331" name="Text 11"/>
          <p:cNvSpPr/>
          <p:nvPr/>
        </p:nvSpPr>
        <p:spPr>
          <a:xfrm>
            <a:off x="8229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Sold product emissions: Scope 3 categories 10, 11 and 12</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Inventory revamp with clarity and per gas breakdown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Pre-calculated emissions import for client calculated data</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System admin improvements: config engine, calc methods, templates</a:t>
            </a:r>
            <a:endParaRPr b="0" lang="en-US" sz="1100" strike="noStrike" u="none">
              <a:solidFill>
                <a:srgbClr val="000000"/>
              </a:solidFill>
              <a:effectLst/>
              <a:uFillTx/>
              <a:latin typeface="Arial"/>
            </a:endParaRPr>
          </a:p>
        </p:txBody>
      </p:sp>
      <p:sp>
        <p:nvSpPr>
          <p:cNvPr id="5332" name="Shape 12"/>
          <p:cNvSpPr/>
          <p:nvPr/>
        </p:nvSpPr>
        <p:spPr>
          <a:xfrm>
            <a:off x="342756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333" name="Shape 13"/>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334" name="Text 14"/>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Q4 2026</a:t>
            </a:r>
            <a:endParaRPr b="0" lang="en-US" sz="900" strike="noStrike" u="none">
              <a:solidFill>
                <a:srgbClr val="000000"/>
              </a:solidFill>
              <a:effectLst/>
              <a:uFillTx/>
              <a:latin typeface="Arial"/>
            </a:endParaRPr>
          </a:p>
        </p:txBody>
      </p:sp>
      <p:sp>
        <p:nvSpPr>
          <p:cNvPr id="5335" name="Text 15"/>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Next</a:t>
            </a:r>
            <a:endParaRPr b="0" lang="en-US" sz="1600" strike="noStrike" u="none">
              <a:solidFill>
                <a:srgbClr val="000000"/>
              </a:solidFill>
              <a:effectLst/>
              <a:uFillTx/>
              <a:latin typeface="Arial"/>
            </a:endParaRPr>
          </a:p>
        </p:txBody>
      </p:sp>
      <p:sp>
        <p:nvSpPr>
          <p:cNvPr id="5336" name="Text 16"/>
          <p:cNvSpPr/>
          <p:nvPr/>
        </p:nvSpPr>
        <p:spPr>
          <a:xfrm>
            <a:off x="362844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Base year, exclusions and materiality for GHGP compliant boundaries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Thermal source attribution for a defensible Scope 1 and 2 split</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Refrigerant leakage to usage: Scope 1 fugitive emissions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Employee commuting and working from home: Scope 3 category 7</a:t>
            </a:r>
            <a:endParaRPr b="0" lang="en-US" sz="1100" strike="noStrike" u="none">
              <a:solidFill>
                <a:srgbClr val="000000"/>
              </a:solidFill>
              <a:effectLst/>
              <a:uFillTx/>
              <a:latin typeface="Arial"/>
            </a:endParaRPr>
          </a:p>
        </p:txBody>
      </p:sp>
      <p:sp>
        <p:nvSpPr>
          <p:cNvPr id="5337" name="Shape 17"/>
          <p:cNvSpPr/>
          <p:nvPr/>
        </p:nvSpPr>
        <p:spPr>
          <a:xfrm>
            <a:off x="623304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338" name="Shape 18"/>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339" name="Text 19"/>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2027 H1</a:t>
            </a:r>
            <a:endParaRPr b="0" lang="en-US" sz="900" strike="noStrike" u="none">
              <a:solidFill>
                <a:srgbClr val="000000"/>
              </a:solidFill>
              <a:effectLst/>
              <a:uFillTx/>
              <a:latin typeface="Arial"/>
            </a:endParaRPr>
          </a:p>
        </p:txBody>
      </p:sp>
      <p:sp>
        <p:nvSpPr>
          <p:cNvPr id="5340" name="Text 20"/>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Later</a:t>
            </a:r>
            <a:endParaRPr b="0" lang="en-US" sz="1600" strike="noStrike" u="none">
              <a:solidFill>
                <a:srgbClr val="000000"/>
              </a:solidFill>
              <a:effectLst/>
              <a:uFillTx/>
              <a:latin typeface="Arial"/>
            </a:endParaRPr>
          </a:p>
        </p:txBody>
      </p:sp>
      <p:sp>
        <p:nvSpPr>
          <p:cNvPr id="5341" name="Text 21"/>
          <p:cNvSpPr/>
          <p:nvPr/>
        </p:nvSpPr>
        <p:spPr>
          <a:xfrm>
            <a:off x="643428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Category 4 and 9 product linked transport: upstream and downstream transport</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Financial and equity consolidation across ownership boundaries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Waste emission estimation: Scope 3 category 5</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Improved method transparency per data point</a:t>
            </a:r>
            <a:endParaRPr b="0" lang="en-US" sz="1100" strike="noStrike" u="none">
              <a:solidFill>
                <a:srgbClr val="000000"/>
              </a:solidFill>
              <a:effectLst/>
              <a:uFillTx/>
              <a:latin typeface="Arial"/>
            </a:endParaRPr>
          </a:p>
        </p:txBody>
      </p:sp>
      <p:sp>
        <p:nvSpPr>
          <p:cNvPr id="5342" name="Shape 22"/>
          <p:cNvSpPr/>
          <p:nvPr/>
        </p:nvSpPr>
        <p:spPr>
          <a:xfrm>
            <a:off x="90385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343" name="Shape 23"/>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344" name="Text 24"/>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2027 H2</a:t>
            </a:r>
            <a:endParaRPr b="0" lang="en-US" sz="900" strike="noStrike" u="none">
              <a:solidFill>
                <a:srgbClr val="000000"/>
              </a:solidFill>
              <a:effectLst/>
              <a:uFillTx/>
              <a:latin typeface="Arial"/>
            </a:endParaRPr>
          </a:p>
        </p:txBody>
      </p:sp>
      <p:sp>
        <p:nvSpPr>
          <p:cNvPr id="5345" name="Text 25"/>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Later</a:t>
            </a:r>
            <a:endParaRPr b="0" lang="en-US" sz="1600" strike="noStrike" u="none">
              <a:solidFill>
                <a:srgbClr val="000000"/>
              </a:solidFill>
              <a:effectLst/>
              <a:uFillTx/>
              <a:latin typeface="Arial"/>
            </a:endParaRPr>
          </a:p>
        </p:txBody>
      </p:sp>
      <p:sp>
        <p:nvSpPr>
          <p:cNvPr id="5346" name="Text 26"/>
          <p:cNvSpPr/>
          <p:nvPr/>
        </p:nvSpPr>
        <p:spPr>
          <a:xfrm>
            <a:off x="92397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Category 15 investments: PCAF aligned financed emissions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FLAG segmentation for specialised standards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Dedicated auditor experience: variance checks, reports and status</a:t>
            </a:r>
            <a:endParaRPr b="0" lang="en-US" sz="1100" strike="noStrike" u="none">
              <a:solidFill>
                <a:srgbClr val="000000"/>
              </a:solidFill>
              <a:effectLst/>
              <a:uFillTx/>
              <a:latin typeface="Arial"/>
            </a:endParaRPr>
          </a:p>
        </p:txBody>
      </p:sp>
      <p:sp>
        <p:nvSpPr>
          <p:cNvPr id="5347" name="Shape 27"/>
          <p:cNvSpPr/>
          <p:nvPr/>
        </p:nvSpPr>
        <p:spPr>
          <a:xfrm>
            <a:off x="621720" y="5650920"/>
            <a:ext cx="10947600" cy="585000"/>
          </a:xfrm>
          <a:prstGeom prst="roundRect">
            <a:avLst>
              <a:gd name="adj" fmla="val 12500"/>
            </a:avLst>
          </a:prstGeom>
          <a:solidFill>
            <a:srgbClr val="effaf1"/>
          </a:solidFill>
          <a:ln w="12700">
            <a:solidFill>
              <a:srgbClr val="bce8c9"/>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348" name="Shape 28"/>
          <p:cNvSpPr/>
          <p:nvPr/>
        </p:nvSpPr>
        <p:spPr>
          <a:xfrm>
            <a:off x="676800" y="5760720"/>
            <a:ext cx="45360" cy="3654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349" name="Text 29"/>
          <p:cNvSpPr/>
          <p:nvPr/>
        </p:nvSpPr>
        <p:spPr>
          <a:xfrm>
            <a:off x="859680" y="5650920"/>
            <a:ext cx="10527120" cy="585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050" strike="noStrike" u="none">
                <a:solidFill>
                  <a:srgbClr val="3a423c"/>
                </a:solidFill>
                <a:effectLst/>
                <a:uFillTx/>
                <a:latin typeface="Calibri"/>
                <a:ea typeface="Calibri"/>
              </a:rPr>
              <a:t>Capability position: Market leading. Depth of operational and energy grade data feeding one governed inventory is our strongest position in the sustainability family. Product page: /sustainability-products/carbon-inventory. Roadmap gap matrix: /competitor-matrix.</a:t>
            </a:r>
            <a:endParaRPr b="0" lang="en-US" sz="1050" strike="noStrike" u="none">
              <a:solidFill>
                <a:srgbClr val="000000"/>
              </a:solidFill>
              <a:effectLst/>
              <a:uFillTx/>
              <a:latin typeface="Arial"/>
            </a:endParaRPr>
          </a:p>
        </p:txBody>
      </p:sp>
      <p:sp>
        <p:nvSpPr>
          <p:cNvPr id="5350" name="Shape 30"/>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351" name="Text 31"/>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5352" name="Text 32"/>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5353" name="PlaceHolder 1"/>
          <p:cNvSpPr>
            <a:spLocks noGrp="1"/>
          </p:cNvSpPr>
          <p:nvPr>
            <p:ph type="sldNum" idx="119"/>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7957AE39-3ED0-4B58-A861-7EF4ED7D60F2}"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354"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5355"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5356" name="Shape 2"/>
          <p:cNvSpPr/>
          <p:nvPr/>
        </p:nvSpPr>
        <p:spPr>
          <a:xfrm>
            <a:off x="621720" y="311040"/>
            <a:ext cx="475452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357" name="Text 3"/>
          <p:cNvSpPr/>
          <p:nvPr/>
        </p:nvSpPr>
        <p:spPr>
          <a:xfrm>
            <a:off x="804600" y="329040"/>
            <a:ext cx="442548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SUSTAINABILITY ROADMAP | CARBON PERFORMANCE</a:t>
            </a:r>
            <a:endParaRPr b="0" lang="en-US" sz="950" strike="noStrike" u="none">
              <a:solidFill>
                <a:srgbClr val="000000"/>
              </a:solidFill>
              <a:effectLst/>
              <a:uFillTx/>
              <a:latin typeface="Arial"/>
            </a:endParaRPr>
          </a:p>
        </p:txBody>
      </p:sp>
      <p:sp>
        <p:nvSpPr>
          <p:cNvPr id="5358"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Decarbonization Planning &amp; Initiatives</a:t>
            </a:r>
            <a:endParaRPr b="0" lang="en-US" sz="3200" strike="noStrike" u="none">
              <a:solidFill>
                <a:srgbClr val="000000"/>
              </a:solidFill>
              <a:effectLst/>
              <a:uFillTx/>
              <a:latin typeface="Arial"/>
            </a:endParaRPr>
          </a:p>
        </p:txBody>
      </p:sp>
      <p:sp>
        <p:nvSpPr>
          <p:cNvPr id="5359"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From a number to a funded plan</a:t>
            </a:r>
            <a:endParaRPr b="0" lang="en-US" sz="1250" strike="noStrike" u="none">
              <a:solidFill>
                <a:srgbClr val="000000"/>
              </a:solidFill>
              <a:effectLst/>
              <a:uFillTx/>
              <a:latin typeface="Arial"/>
            </a:endParaRPr>
          </a:p>
        </p:txBody>
      </p:sp>
      <p:sp>
        <p:nvSpPr>
          <p:cNvPr id="5360"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361" name="Shape 7"/>
          <p:cNvSpPr/>
          <p:nvPr/>
        </p:nvSpPr>
        <p:spPr>
          <a:xfrm>
            <a:off x="6217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362"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363"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Q3 2026</a:t>
            </a:r>
            <a:endParaRPr b="0" lang="en-US" sz="900" strike="noStrike" u="none">
              <a:solidFill>
                <a:srgbClr val="000000"/>
              </a:solidFill>
              <a:effectLst/>
              <a:uFillTx/>
              <a:latin typeface="Arial"/>
            </a:endParaRPr>
          </a:p>
        </p:txBody>
      </p:sp>
      <p:sp>
        <p:nvSpPr>
          <p:cNvPr id="5364"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Now</a:t>
            </a:r>
            <a:endParaRPr b="0" lang="en-US" sz="1600" strike="noStrike" u="none">
              <a:solidFill>
                <a:srgbClr val="000000"/>
              </a:solidFill>
              <a:effectLst/>
              <a:uFillTx/>
              <a:latin typeface="Arial"/>
            </a:endParaRPr>
          </a:p>
        </p:txBody>
      </p:sp>
      <p:sp>
        <p:nvSpPr>
          <p:cNvPr id="5365" name="Text 11"/>
          <p:cNvSpPr/>
          <p:nvPr/>
        </p:nvSpPr>
        <p:spPr>
          <a:xfrm>
            <a:off x="8229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Reduction levers modelled on the current inventory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Initiative tracking against baseline and target</a:t>
            </a:r>
            <a:endParaRPr b="0" lang="en-US" sz="1100" strike="noStrike" u="none">
              <a:solidFill>
                <a:srgbClr val="000000"/>
              </a:solidFill>
              <a:effectLst/>
              <a:uFillTx/>
              <a:latin typeface="Arial"/>
            </a:endParaRPr>
          </a:p>
        </p:txBody>
      </p:sp>
      <p:sp>
        <p:nvSpPr>
          <p:cNvPr id="5366" name="Shape 12"/>
          <p:cNvSpPr/>
          <p:nvPr/>
        </p:nvSpPr>
        <p:spPr>
          <a:xfrm>
            <a:off x="342756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367" name="Shape 13"/>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368" name="Text 14"/>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Q4 2026</a:t>
            </a:r>
            <a:endParaRPr b="0" lang="en-US" sz="900" strike="noStrike" u="none">
              <a:solidFill>
                <a:srgbClr val="000000"/>
              </a:solidFill>
              <a:effectLst/>
              <a:uFillTx/>
              <a:latin typeface="Arial"/>
            </a:endParaRPr>
          </a:p>
        </p:txBody>
      </p:sp>
      <p:sp>
        <p:nvSpPr>
          <p:cNvPr id="5369" name="Text 15"/>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Next</a:t>
            </a:r>
            <a:endParaRPr b="0" lang="en-US" sz="1600" strike="noStrike" u="none">
              <a:solidFill>
                <a:srgbClr val="000000"/>
              </a:solidFill>
              <a:effectLst/>
              <a:uFillTx/>
              <a:latin typeface="Arial"/>
            </a:endParaRPr>
          </a:p>
        </p:txBody>
      </p:sp>
      <p:sp>
        <p:nvSpPr>
          <p:cNvPr id="5370" name="Text 16"/>
          <p:cNvSpPr/>
          <p:nvPr/>
        </p:nvSpPr>
        <p:spPr>
          <a:xfrm>
            <a:off x="362844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Advanced scenario analysis and decarbonization planning</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Initiatives and actions management end to end</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Marginal abatement view across energy and carbon levers</a:t>
            </a:r>
            <a:endParaRPr b="0" lang="en-US" sz="1100" strike="noStrike" u="none">
              <a:solidFill>
                <a:srgbClr val="000000"/>
              </a:solidFill>
              <a:effectLst/>
              <a:uFillTx/>
              <a:latin typeface="Arial"/>
            </a:endParaRPr>
          </a:p>
        </p:txBody>
      </p:sp>
      <p:sp>
        <p:nvSpPr>
          <p:cNvPr id="5371" name="Shape 17"/>
          <p:cNvSpPr/>
          <p:nvPr/>
        </p:nvSpPr>
        <p:spPr>
          <a:xfrm>
            <a:off x="623304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372" name="Shape 18"/>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373" name="Text 19"/>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2027 H1</a:t>
            </a:r>
            <a:endParaRPr b="0" lang="en-US" sz="900" strike="noStrike" u="none">
              <a:solidFill>
                <a:srgbClr val="000000"/>
              </a:solidFill>
              <a:effectLst/>
              <a:uFillTx/>
              <a:latin typeface="Arial"/>
            </a:endParaRPr>
          </a:p>
        </p:txBody>
      </p:sp>
      <p:sp>
        <p:nvSpPr>
          <p:cNvPr id="5374" name="Text 20"/>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Later</a:t>
            </a:r>
            <a:endParaRPr b="0" lang="en-US" sz="1600" strike="noStrike" u="none">
              <a:solidFill>
                <a:srgbClr val="000000"/>
              </a:solidFill>
              <a:effectLst/>
              <a:uFillTx/>
              <a:latin typeface="Arial"/>
            </a:endParaRPr>
          </a:p>
        </p:txBody>
      </p:sp>
      <p:sp>
        <p:nvSpPr>
          <p:cNvPr id="5375" name="Text 21"/>
          <p:cNvSpPr/>
          <p:nvPr/>
        </p:nvSpPr>
        <p:spPr>
          <a:xfrm>
            <a:off x="643428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Advanced ECM library: energy and carbon cobenefits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Measure level costing, payback and savings verification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Rebaselining aware plans so targets survive structural change</a:t>
            </a:r>
            <a:endParaRPr b="0" lang="en-US" sz="1100" strike="noStrike" u="none">
              <a:solidFill>
                <a:srgbClr val="000000"/>
              </a:solidFill>
              <a:effectLst/>
              <a:uFillTx/>
              <a:latin typeface="Arial"/>
            </a:endParaRPr>
          </a:p>
        </p:txBody>
      </p:sp>
      <p:sp>
        <p:nvSpPr>
          <p:cNvPr id="5376" name="Shape 22"/>
          <p:cNvSpPr/>
          <p:nvPr/>
        </p:nvSpPr>
        <p:spPr>
          <a:xfrm>
            <a:off x="90385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377" name="Shape 23"/>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378" name="Text 24"/>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2027 H2</a:t>
            </a:r>
            <a:endParaRPr b="0" lang="en-US" sz="900" strike="noStrike" u="none">
              <a:solidFill>
                <a:srgbClr val="000000"/>
              </a:solidFill>
              <a:effectLst/>
              <a:uFillTx/>
              <a:latin typeface="Arial"/>
            </a:endParaRPr>
          </a:p>
        </p:txBody>
      </p:sp>
      <p:sp>
        <p:nvSpPr>
          <p:cNvPr id="5379" name="Text 25"/>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Later</a:t>
            </a:r>
            <a:endParaRPr b="0" lang="en-US" sz="1600" strike="noStrike" u="none">
              <a:solidFill>
                <a:srgbClr val="000000"/>
              </a:solidFill>
              <a:effectLst/>
              <a:uFillTx/>
              <a:latin typeface="Arial"/>
            </a:endParaRPr>
          </a:p>
        </p:txBody>
      </p:sp>
      <p:sp>
        <p:nvSpPr>
          <p:cNvPr id="5380" name="Text 26"/>
          <p:cNvSpPr/>
          <p:nvPr/>
        </p:nvSpPr>
        <p:spPr>
          <a:xfrm>
            <a:off x="92397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Capital plan integration with climate risk adaptation actions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Portfolio level programme tracking and variance reporting</a:t>
            </a:r>
            <a:endParaRPr b="0" lang="en-US" sz="1100" strike="noStrike" u="none">
              <a:solidFill>
                <a:srgbClr val="000000"/>
              </a:solidFill>
              <a:effectLst/>
              <a:uFillTx/>
              <a:latin typeface="Arial"/>
            </a:endParaRPr>
          </a:p>
        </p:txBody>
      </p:sp>
      <p:sp>
        <p:nvSpPr>
          <p:cNvPr id="5381" name="Shape 27"/>
          <p:cNvSpPr/>
          <p:nvPr/>
        </p:nvSpPr>
        <p:spPr>
          <a:xfrm>
            <a:off x="621720" y="5650920"/>
            <a:ext cx="10947600" cy="585000"/>
          </a:xfrm>
          <a:prstGeom prst="roundRect">
            <a:avLst>
              <a:gd name="adj" fmla="val 12500"/>
            </a:avLst>
          </a:prstGeom>
          <a:solidFill>
            <a:srgbClr val="effaf1"/>
          </a:solidFill>
          <a:ln w="12700">
            <a:solidFill>
              <a:srgbClr val="bce8c9"/>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382" name="Shape 28"/>
          <p:cNvSpPr/>
          <p:nvPr/>
        </p:nvSpPr>
        <p:spPr>
          <a:xfrm>
            <a:off x="676800" y="5760720"/>
            <a:ext cx="45360" cy="3654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383" name="Text 29"/>
          <p:cNvSpPr/>
          <p:nvPr/>
        </p:nvSpPr>
        <p:spPr>
          <a:xfrm>
            <a:off x="859680" y="5650920"/>
            <a:ext cx="10527120" cy="585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050" strike="noStrike" u="none">
                <a:solidFill>
                  <a:srgbClr val="3a423c"/>
                </a:solidFill>
                <a:effectLst/>
                <a:uFillTx/>
                <a:latin typeface="Calibri"/>
                <a:ea typeface="Calibri"/>
              </a:rPr>
              <a:t>Capability position: Closing gap. Rivals model reduction well. Our advantage is that plans are built on operated energy data and executed through the same platform. Product page: /sustainability-products/decarbonization-planning. Roadmap gap matrix: /competitor-matrix.</a:t>
            </a:r>
            <a:endParaRPr b="0" lang="en-US" sz="1050" strike="noStrike" u="none">
              <a:solidFill>
                <a:srgbClr val="000000"/>
              </a:solidFill>
              <a:effectLst/>
              <a:uFillTx/>
              <a:latin typeface="Arial"/>
            </a:endParaRPr>
          </a:p>
        </p:txBody>
      </p:sp>
      <p:sp>
        <p:nvSpPr>
          <p:cNvPr id="5384" name="Shape 30"/>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385" name="Text 31"/>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5386" name="Text 32"/>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5387" name="PlaceHolder 1"/>
          <p:cNvSpPr>
            <a:spLocks noGrp="1"/>
          </p:cNvSpPr>
          <p:nvPr>
            <p:ph type="sldNum" idx="120"/>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7500DBEF-DF88-41F3-8D7B-079C7D372B31}"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388"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5389"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5390" name="Shape 2"/>
          <p:cNvSpPr/>
          <p:nvPr/>
        </p:nvSpPr>
        <p:spPr>
          <a:xfrm>
            <a:off x="621720" y="311040"/>
            <a:ext cx="475452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391" name="Text 3"/>
          <p:cNvSpPr/>
          <p:nvPr/>
        </p:nvSpPr>
        <p:spPr>
          <a:xfrm>
            <a:off x="804600" y="329040"/>
            <a:ext cx="442548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SUSTAINABILITY ROADMAP | CARBON PERFORMANCE</a:t>
            </a:r>
            <a:endParaRPr b="0" lang="en-US" sz="950" strike="noStrike" u="none">
              <a:solidFill>
                <a:srgbClr val="000000"/>
              </a:solidFill>
              <a:effectLst/>
              <a:uFillTx/>
              <a:latin typeface="Arial"/>
            </a:endParaRPr>
          </a:p>
        </p:txBody>
      </p:sp>
      <p:sp>
        <p:nvSpPr>
          <p:cNvPr id="5392"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EAC &amp; PPA Management</a:t>
            </a:r>
            <a:endParaRPr b="0" lang="en-US" sz="3200" strike="noStrike" u="none">
              <a:solidFill>
                <a:srgbClr val="000000"/>
              </a:solidFill>
              <a:effectLst/>
              <a:uFillTx/>
              <a:latin typeface="Arial"/>
            </a:endParaRPr>
          </a:p>
        </p:txBody>
      </p:sp>
      <p:sp>
        <p:nvSpPr>
          <p:cNvPr id="5393"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Market based Scope 2 that survives assurance</a:t>
            </a:r>
            <a:endParaRPr b="0" lang="en-US" sz="1250" strike="noStrike" u="none">
              <a:solidFill>
                <a:srgbClr val="000000"/>
              </a:solidFill>
              <a:effectLst/>
              <a:uFillTx/>
              <a:latin typeface="Arial"/>
            </a:endParaRPr>
          </a:p>
        </p:txBody>
      </p:sp>
      <p:sp>
        <p:nvSpPr>
          <p:cNvPr id="5394"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395" name="Shape 7"/>
          <p:cNvSpPr/>
          <p:nvPr/>
        </p:nvSpPr>
        <p:spPr>
          <a:xfrm>
            <a:off x="6217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396"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397"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Q3 2026</a:t>
            </a:r>
            <a:endParaRPr b="0" lang="en-US" sz="900" strike="noStrike" u="none">
              <a:solidFill>
                <a:srgbClr val="000000"/>
              </a:solidFill>
              <a:effectLst/>
              <a:uFillTx/>
              <a:latin typeface="Arial"/>
            </a:endParaRPr>
          </a:p>
        </p:txBody>
      </p:sp>
      <p:sp>
        <p:nvSpPr>
          <p:cNvPr id="5398"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Now</a:t>
            </a:r>
            <a:endParaRPr b="0" lang="en-US" sz="1600" strike="noStrike" u="none">
              <a:solidFill>
                <a:srgbClr val="000000"/>
              </a:solidFill>
              <a:effectLst/>
              <a:uFillTx/>
              <a:latin typeface="Arial"/>
            </a:endParaRPr>
          </a:p>
        </p:txBody>
      </p:sp>
      <p:sp>
        <p:nvSpPr>
          <p:cNvPr id="5399" name="Text 11"/>
          <p:cNvSpPr/>
          <p:nvPr/>
        </p:nvSpPr>
        <p:spPr>
          <a:xfrm>
            <a:off x="8229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Contract and certificate records against the shared site hierarchy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Location based and market based Scope 2 side by side</a:t>
            </a:r>
            <a:endParaRPr b="0" lang="en-US" sz="1100" strike="noStrike" u="none">
              <a:solidFill>
                <a:srgbClr val="000000"/>
              </a:solidFill>
              <a:effectLst/>
              <a:uFillTx/>
              <a:latin typeface="Arial"/>
            </a:endParaRPr>
          </a:p>
        </p:txBody>
      </p:sp>
      <p:sp>
        <p:nvSpPr>
          <p:cNvPr id="5400" name="Shape 12"/>
          <p:cNvSpPr/>
          <p:nvPr/>
        </p:nvSpPr>
        <p:spPr>
          <a:xfrm>
            <a:off x="342756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401" name="Shape 13"/>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402" name="Text 14"/>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Q4 2026</a:t>
            </a:r>
            <a:endParaRPr b="0" lang="en-US" sz="900" strike="noStrike" u="none">
              <a:solidFill>
                <a:srgbClr val="000000"/>
              </a:solidFill>
              <a:effectLst/>
              <a:uFillTx/>
              <a:latin typeface="Arial"/>
            </a:endParaRPr>
          </a:p>
        </p:txBody>
      </p:sp>
      <p:sp>
        <p:nvSpPr>
          <p:cNvPr id="5403" name="Text 15"/>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Next</a:t>
            </a:r>
            <a:endParaRPr b="0" lang="en-US" sz="1600" strike="noStrike" u="none">
              <a:solidFill>
                <a:srgbClr val="000000"/>
              </a:solidFill>
              <a:effectLst/>
              <a:uFillTx/>
              <a:latin typeface="Arial"/>
            </a:endParaRPr>
          </a:p>
        </p:txBody>
      </p:sp>
      <p:sp>
        <p:nvSpPr>
          <p:cNvPr id="5404" name="Text 16"/>
          <p:cNvSpPr/>
          <p:nvPr/>
        </p:nvSpPr>
        <p:spPr>
          <a:xfrm>
            <a:off x="362844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EAC and PPA management for market based Scope 2 coverage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Allocation rules across entities, sites and reporting boundaries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Retirement and claim evidence captured with the certificate</a:t>
            </a:r>
            <a:endParaRPr b="0" lang="en-US" sz="1100" strike="noStrike" u="none">
              <a:solidFill>
                <a:srgbClr val="000000"/>
              </a:solidFill>
              <a:effectLst/>
              <a:uFillTx/>
              <a:latin typeface="Arial"/>
            </a:endParaRPr>
          </a:p>
        </p:txBody>
      </p:sp>
      <p:sp>
        <p:nvSpPr>
          <p:cNvPr id="5405" name="Shape 17"/>
          <p:cNvSpPr/>
          <p:nvPr/>
        </p:nvSpPr>
        <p:spPr>
          <a:xfrm>
            <a:off x="623304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406" name="Shape 18"/>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407" name="Text 19"/>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2027 H1</a:t>
            </a:r>
            <a:endParaRPr b="0" lang="en-US" sz="900" strike="noStrike" u="none">
              <a:solidFill>
                <a:srgbClr val="000000"/>
              </a:solidFill>
              <a:effectLst/>
              <a:uFillTx/>
              <a:latin typeface="Arial"/>
            </a:endParaRPr>
          </a:p>
        </p:txBody>
      </p:sp>
      <p:sp>
        <p:nvSpPr>
          <p:cNvPr id="5408" name="Text 20"/>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Later</a:t>
            </a:r>
            <a:endParaRPr b="0" lang="en-US" sz="1600" strike="noStrike" u="none">
              <a:solidFill>
                <a:srgbClr val="000000"/>
              </a:solidFill>
              <a:effectLst/>
              <a:uFillTx/>
              <a:latin typeface="Arial"/>
            </a:endParaRPr>
          </a:p>
        </p:txBody>
      </p:sp>
      <p:sp>
        <p:nvSpPr>
          <p:cNvPr id="5409" name="Text 21"/>
          <p:cNvSpPr/>
          <p:nvPr/>
        </p:nvSpPr>
        <p:spPr>
          <a:xfrm>
            <a:off x="643428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Hourly emissions matching against consumption intervals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Contract forecasting and coverage gap alerts</a:t>
            </a:r>
            <a:endParaRPr b="0" lang="en-US" sz="1100" strike="noStrike" u="none">
              <a:solidFill>
                <a:srgbClr val="000000"/>
              </a:solidFill>
              <a:effectLst/>
              <a:uFillTx/>
              <a:latin typeface="Arial"/>
            </a:endParaRPr>
          </a:p>
        </p:txBody>
      </p:sp>
      <p:sp>
        <p:nvSpPr>
          <p:cNvPr id="5410" name="Shape 22"/>
          <p:cNvSpPr/>
          <p:nvPr/>
        </p:nvSpPr>
        <p:spPr>
          <a:xfrm>
            <a:off x="90385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411" name="Shape 23"/>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412" name="Text 24"/>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2027 H2</a:t>
            </a:r>
            <a:endParaRPr b="0" lang="en-US" sz="900" strike="noStrike" u="none">
              <a:solidFill>
                <a:srgbClr val="000000"/>
              </a:solidFill>
              <a:effectLst/>
              <a:uFillTx/>
              <a:latin typeface="Arial"/>
            </a:endParaRPr>
          </a:p>
        </p:txBody>
      </p:sp>
      <p:sp>
        <p:nvSpPr>
          <p:cNvPr id="5413" name="Text 25"/>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Later</a:t>
            </a:r>
            <a:endParaRPr b="0" lang="en-US" sz="1600" strike="noStrike" u="none">
              <a:solidFill>
                <a:srgbClr val="000000"/>
              </a:solidFill>
              <a:effectLst/>
              <a:uFillTx/>
              <a:latin typeface="Arial"/>
            </a:endParaRPr>
          </a:p>
        </p:txBody>
      </p:sp>
      <p:sp>
        <p:nvSpPr>
          <p:cNvPr id="5414" name="Text 26"/>
          <p:cNvSpPr/>
          <p:nvPr/>
        </p:nvSpPr>
        <p:spPr>
          <a:xfrm>
            <a:off x="92397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Assurance grade claim packs for market based reporting</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Sourcing scenarios weighed against efficiency and flexibility</a:t>
            </a:r>
            <a:endParaRPr b="0" lang="en-US" sz="1100" strike="noStrike" u="none">
              <a:solidFill>
                <a:srgbClr val="000000"/>
              </a:solidFill>
              <a:effectLst/>
              <a:uFillTx/>
              <a:latin typeface="Arial"/>
            </a:endParaRPr>
          </a:p>
        </p:txBody>
      </p:sp>
      <p:sp>
        <p:nvSpPr>
          <p:cNvPr id="5415" name="Shape 27"/>
          <p:cNvSpPr/>
          <p:nvPr/>
        </p:nvSpPr>
        <p:spPr>
          <a:xfrm>
            <a:off x="621720" y="5650920"/>
            <a:ext cx="10947600" cy="585000"/>
          </a:xfrm>
          <a:prstGeom prst="roundRect">
            <a:avLst>
              <a:gd name="adj" fmla="val 12500"/>
            </a:avLst>
          </a:prstGeom>
          <a:solidFill>
            <a:srgbClr val="effaf1"/>
          </a:solidFill>
          <a:ln w="12700">
            <a:solidFill>
              <a:srgbClr val="bce8c9"/>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416" name="Shape 28"/>
          <p:cNvSpPr/>
          <p:nvPr/>
        </p:nvSpPr>
        <p:spPr>
          <a:xfrm>
            <a:off x="676800" y="5760720"/>
            <a:ext cx="45360" cy="3654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417" name="Text 29"/>
          <p:cNvSpPr/>
          <p:nvPr/>
        </p:nvSpPr>
        <p:spPr>
          <a:xfrm>
            <a:off x="859680" y="5650920"/>
            <a:ext cx="10527120" cy="585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050" strike="noStrike" u="none">
                <a:solidFill>
                  <a:srgbClr val="3a423c"/>
                </a:solidFill>
                <a:effectLst/>
                <a:uFillTx/>
                <a:latin typeface="Calibri"/>
                <a:ea typeface="Calibri"/>
              </a:rPr>
              <a:t>Capability position: Closing gap. Certificate specialists are deeper on sourcing. We win by connecting the certificate to the inventory and the disclosure without reconciliation. Product page: /sustainability-products/eac-ppa-management. Roadmap gap matrix: /competitor-matrix.</a:t>
            </a:r>
            <a:endParaRPr b="0" lang="en-US" sz="1050" strike="noStrike" u="none">
              <a:solidFill>
                <a:srgbClr val="000000"/>
              </a:solidFill>
              <a:effectLst/>
              <a:uFillTx/>
              <a:latin typeface="Arial"/>
            </a:endParaRPr>
          </a:p>
        </p:txBody>
      </p:sp>
      <p:sp>
        <p:nvSpPr>
          <p:cNvPr id="5418" name="Shape 30"/>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419" name="Text 31"/>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5420" name="Text 32"/>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5421" name="PlaceHolder 1"/>
          <p:cNvSpPr>
            <a:spLocks noGrp="1"/>
          </p:cNvSpPr>
          <p:nvPr>
            <p:ph type="sldNum" idx="121"/>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9FECBD02-B47B-46A2-BD45-DF2C47AD64B5}"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422"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5423"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5424" name="Shape 2"/>
          <p:cNvSpPr/>
          <p:nvPr/>
        </p:nvSpPr>
        <p:spPr>
          <a:xfrm>
            <a:off x="621720" y="311040"/>
            <a:ext cx="439344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425" name="Text 3"/>
          <p:cNvSpPr/>
          <p:nvPr/>
        </p:nvSpPr>
        <p:spPr>
          <a:xfrm>
            <a:off x="804600" y="329040"/>
            <a:ext cx="406404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SUSTAINABILITY ROADMAP | SUPPLY CHAIN</a:t>
            </a:r>
            <a:endParaRPr b="0" lang="en-US" sz="950" strike="noStrike" u="none">
              <a:solidFill>
                <a:srgbClr val="000000"/>
              </a:solidFill>
              <a:effectLst/>
              <a:uFillTx/>
              <a:latin typeface="Arial"/>
            </a:endParaRPr>
          </a:p>
        </p:txBody>
      </p:sp>
      <p:sp>
        <p:nvSpPr>
          <p:cNvPr id="5426"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Supplier Engagement</a:t>
            </a:r>
            <a:endParaRPr b="0" lang="en-US" sz="3200" strike="noStrike" u="none">
              <a:solidFill>
                <a:srgbClr val="000000"/>
              </a:solidFill>
              <a:effectLst/>
              <a:uFillTx/>
              <a:latin typeface="Arial"/>
            </a:endParaRPr>
          </a:p>
        </p:txBody>
      </p:sp>
      <p:sp>
        <p:nvSpPr>
          <p:cNvPr id="5427"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Reach suppliers, get data, drive abatement</a:t>
            </a:r>
            <a:endParaRPr b="0" lang="en-US" sz="1250" strike="noStrike" u="none">
              <a:solidFill>
                <a:srgbClr val="000000"/>
              </a:solidFill>
              <a:effectLst/>
              <a:uFillTx/>
              <a:latin typeface="Arial"/>
            </a:endParaRPr>
          </a:p>
        </p:txBody>
      </p:sp>
      <p:sp>
        <p:nvSpPr>
          <p:cNvPr id="5428"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429" name="Shape 7"/>
          <p:cNvSpPr/>
          <p:nvPr/>
        </p:nvSpPr>
        <p:spPr>
          <a:xfrm>
            <a:off x="6217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430"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431"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Q3 2026</a:t>
            </a:r>
            <a:endParaRPr b="0" lang="en-US" sz="900" strike="noStrike" u="none">
              <a:solidFill>
                <a:srgbClr val="000000"/>
              </a:solidFill>
              <a:effectLst/>
              <a:uFillTx/>
              <a:latin typeface="Arial"/>
            </a:endParaRPr>
          </a:p>
        </p:txBody>
      </p:sp>
      <p:sp>
        <p:nvSpPr>
          <p:cNvPr id="5432"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Now</a:t>
            </a:r>
            <a:endParaRPr b="0" lang="en-US" sz="1600" strike="noStrike" u="none">
              <a:solidFill>
                <a:srgbClr val="000000"/>
              </a:solidFill>
              <a:effectLst/>
              <a:uFillTx/>
              <a:latin typeface="Arial"/>
            </a:endParaRPr>
          </a:p>
        </p:txBody>
      </p:sp>
      <p:sp>
        <p:nvSpPr>
          <p:cNvPr id="5433" name="Text 11"/>
          <p:cNvSpPr/>
          <p:nvPr/>
        </p:nvSpPr>
        <p:spPr>
          <a:xfrm>
            <a:off x="8229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Supplier onboarding and network reach through Zeigo</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Custom campaigns with reusable questionnaire templates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Response tracking and supplier data quality checks</a:t>
            </a:r>
            <a:endParaRPr b="0" lang="en-US" sz="1100" strike="noStrike" u="none">
              <a:solidFill>
                <a:srgbClr val="000000"/>
              </a:solidFill>
              <a:effectLst/>
              <a:uFillTx/>
              <a:latin typeface="Arial"/>
            </a:endParaRPr>
          </a:p>
        </p:txBody>
      </p:sp>
      <p:sp>
        <p:nvSpPr>
          <p:cNvPr id="5434" name="Shape 12"/>
          <p:cNvSpPr/>
          <p:nvPr/>
        </p:nvSpPr>
        <p:spPr>
          <a:xfrm>
            <a:off x="342756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435" name="Shape 13"/>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436" name="Text 14"/>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Q4 2026</a:t>
            </a:r>
            <a:endParaRPr b="0" lang="en-US" sz="900" strike="noStrike" u="none">
              <a:solidFill>
                <a:srgbClr val="000000"/>
              </a:solidFill>
              <a:effectLst/>
              <a:uFillTx/>
              <a:latin typeface="Arial"/>
            </a:endParaRPr>
          </a:p>
        </p:txBody>
      </p:sp>
      <p:sp>
        <p:nvSpPr>
          <p:cNvPr id="5437" name="Text 15"/>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Next</a:t>
            </a:r>
            <a:endParaRPr b="0" lang="en-US" sz="1600" strike="noStrike" u="none">
              <a:solidFill>
                <a:srgbClr val="000000"/>
              </a:solidFill>
              <a:effectLst/>
              <a:uFillTx/>
              <a:latin typeface="Arial"/>
            </a:endParaRPr>
          </a:p>
        </p:txBody>
      </p:sp>
      <p:sp>
        <p:nvSpPr>
          <p:cNvPr id="5438" name="Text 16"/>
          <p:cNvSpPr/>
          <p:nvPr/>
        </p:nvSpPr>
        <p:spPr>
          <a:xfrm>
            <a:off x="362844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Supplier specific factors replacing spend based estimates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Advanced campaign management with approval hierarchies and bulk assignment</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Supplier emissions abatement tracking</a:t>
            </a:r>
            <a:endParaRPr b="0" lang="en-US" sz="1100" strike="noStrike" u="none">
              <a:solidFill>
                <a:srgbClr val="000000"/>
              </a:solidFill>
              <a:effectLst/>
              <a:uFillTx/>
              <a:latin typeface="Arial"/>
            </a:endParaRPr>
          </a:p>
        </p:txBody>
      </p:sp>
      <p:sp>
        <p:nvSpPr>
          <p:cNvPr id="5439" name="Shape 17"/>
          <p:cNvSpPr/>
          <p:nvPr/>
        </p:nvSpPr>
        <p:spPr>
          <a:xfrm>
            <a:off x="623304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440" name="Shape 18"/>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441" name="Text 19"/>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2027 H1</a:t>
            </a:r>
            <a:endParaRPr b="0" lang="en-US" sz="900" strike="noStrike" u="none">
              <a:solidFill>
                <a:srgbClr val="000000"/>
              </a:solidFill>
              <a:effectLst/>
              <a:uFillTx/>
              <a:latin typeface="Arial"/>
            </a:endParaRPr>
          </a:p>
        </p:txBody>
      </p:sp>
      <p:sp>
        <p:nvSpPr>
          <p:cNvPr id="5442" name="Text 20"/>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Later</a:t>
            </a:r>
            <a:endParaRPr b="0" lang="en-US" sz="1600" strike="noStrike" u="none">
              <a:solidFill>
                <a:srgbClr val="000000"/>
              </a:solidFill>
              <a:effectLst/>
              <a:uFillTx/>
              <a:latin typeface="Arial"/>
            </a:endParaRPr>
          </a:p>
        </p:txBody>
      </p:sp>
      <p:sp>
        <p:nvSpPr>
          <p:cNvPr id="5443" name="Text 21"/>
          <p:cNvSpPr/>
          <p:nvPr/>
        </p:nvSpPr>
        <p:spPr>
          <a:xfrm>
            <a:off x="643428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Supply chain PCF integration into the carbon inventory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Supplier segmentation by hotspot and influence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Engagement programmes tied to procurement decisions</a:t>
            </a:r>
            <a:endParaRPr b="0" lang="en-US" sz="1100" strike="noStrike" u="none">
              <a:solidFill>
                <a:srgbClr val="000000"/>
              </a:solidFill>
              <a:effectLst/>
              <a:uFillTx/>
              <a:latin typeface="Arial"/>
            </a:endParaRPr>
          </a:p>
        </p:txBody>
      </p:sp>
      <p:sp>
        <p:nvSpPr>
          <p:cNvPr id="5444" name="Shape 22"/>
          <p:cNvSpPr/>
          <p:nvPr/>
        </p:nvSpPr>
        <p:spPr>
          <a:xfrm>
            <a:off x="90385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445" name="Shape 23"/>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446" name="Text 24"/>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2027 H2</a:t>
            </a:r>
            <a:endParaRPr b="0" lang="en-US" sz="900" strike="noStrike" u="none">
              <a:solidFill>
                <a:srgbClr val="000000"/>
              </a:solidFill>
              <a:effectLst/>
              <a:uFillTx/>
              <a:latin typeface="Arial"/>
            </a:endParaRPr>
          </a:p>
        </p:txBody>
      </p:sp>
      <p:sp>
        <p:nvSpPr>
          <p:cNvPr id="5447" name="Text 25"/>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Later</a:t>
            </a:r>
            <a:endParaRPr b="0" lang="en-US" sz="1600" strike="noStrike" u="none">
              <a:solidFill>
                <a:srgbClr val="000000"/>
              </a:solidFill>
              <a:effectLst/>
              <a:uFillTx/>
              <a:latin typeface="Arial"/>
            </a:endParaRPr>
          </a:p>
        </p:txBody>
      </p:sp>
      <p:sp>
        <p:nvSpPr>
          <p:cNvPr id="5448" name="Text 26"/>
          <p:cNvSpPr/>
          <p:nvPr/>
        </p:nvSpPr>
        <p:spPr>
          <a:xfrm>
            <a:off x="92397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Abatement commitments tracked to delivered reductions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Supplier data reuse across disclosure frameworks</a:t>
            </a:r>
            <a:endParaRPr b="0" lang="en-US" sz="1100" strike="noStrike" u="none">
              <a:solidFill>
                <a:srgbClr val="000000"/>
              </a:solidFill>
              <a:effectLst/>
              <a:uFillTx/>
              <a:latin typeface="Arial"/>
            </a:endParaRPr>
          </a:p>
        </p:txBody>
      </p:sp>
      <p:sp>
        <p:nvSpPr>
          <p:cNvPr id="5449" name="Shape 27"/>
          <p:cNvSpPr/>
          <p:nvPr/>
        </p:nvSpPr>
        <p:spPr>
          <a:xfrm>
            <a:off x="621720" y="5650920"/>
            <a:ext cx="10947600" cy="585000"/>
          </a:xfrm>
          <a:prstGeom prst="roundRect">
            <a:avLst>
              <a:gd name="adj" fmla="val 12500"/>
            </a:avLst>
          </a:prstGeom>
          <a:solidFill>
            <a:srgbClr val="effaf1"/>
          </a:solidFill>
          <a:ln w="12700">
            <a:solidFill>
              <a:srgbClr val="bce8c9"/>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450" name="Shape 28"/>
          <p:cNvSpPr/>
          <p:nvPr/>
        </p:nvSpPr>
        <p:spPr>
          <a:xfrm>
            <a:off x="676800" y="5760720"/>
            <a:ext cx="45360" cy="3654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451" name="Text 29"/>
          <p:cNvSpPr/>
          <p:nvPr/>
        </p:nvSpPr>
        <p:spPr>
          <a:xfrm>
            <a:off x="859680" y="5650920"/>
            <a:ext cx="10527120" cy="585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050" strike="noStrike" u="none">
                <a:solidFill>
                  <a:srgbClr val="3a423c"/>
                </a:solidFill>
                <a:effectLst/>
                <a:uFillTx/>
                <a:latin typeface="Calibri"/>
                <a:ea typeface="Calibri"/>
              </a:rPr>
              <a:t>Capability position: Market leading. Network reach combined with a governed inventory destination is a position few rivals can match. Product page: /sustainability-products/supplier-engagement. Roadmap gap matrix: /competitor-matrix.</a:t>
            </a:r>
            <a:endParaRPr b="0" lang="en-US" sz="1050" strike="noStrike" u="none">
              <a:solidFill>
                <a:srgbClr val="000000"/>
              </a:solidFill>
              <a:effectLst/>
              <a:uFillTx/>
              <a:latin typeface="Arial"/>
            </a:endParaRPr>
          </a:p>
        </p:txBody>
      </p:sp>
      <p:sp>
        <p:nvSpPr>
          <p:cNvPr id="5452" name="Shape 30"/>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453" name="Text 31"/>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5454" name="Text 32"/>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5455" name="PlaceHolder 1"/>
          <p:cNvSpPr>
            <a:spLocks noGrp="1"/>
          </p:cNvSpPr>
          <p:nvPr>
            <p:ph type="sldNum" idx="122"/>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47A7E67F-B11A-4D92-88B0-50E8BE9B9134}"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456"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5457"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5458" name="Shape 2"/>
          <p:cNvSpPr/>
          <p:nvPr/>
        </p:nvSpPr>
        <p:spPr>
          <a:xfrm>
            <a:off x="621720" y="311040"/>
            <a:ext cx="439344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459" name="Text 3"/>
          <p:cNvSpPr/>
          <p:nvPr/>
        </p:nvSpPr>
        <p:spPr>
          <a:xfrm>
            <a:off x="804600" y="329040"/>
            <a:ext cx="406404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SUSTAINABILITY ROADMAP | SUPPLY CHAIN</a:t>
            </a:r>
            <a:endParaRPr b="0" lang="en-US" sz="950" strike="noStrike" u="none">
              <a:solidFill>
                <a:srgbClr val="000000"/>
              </a:solidFill>
              <a:effectLst/>
              <a:uFillTx/>
              <a:latin typeface="Arial"/>
            </a:endParaRPr>
          </a:p>
        </p:txBody>
      </p:sp>
      <p:sp>
        <p:nvSpPr>
          <p:cNvPr id="5460"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Product Carbon Footprint</a:t>
            </a:r>
            <a:endParaRPr b="0" lang="en-US" sz="3200" strike="noStrike" u="none">
              <a:solidFill>
                <a:srgbClr val="000000"/>
              </a:solidFill>
              <a:effectLst/>
              <a:uFillTx/>
              <a:latin typeface="Arial"/>
            </a:endParaRPr>
          </a:p>
        </p:txBody>
      </p:sp>
      <p:sp>
        <p:nvSpPr>
          <p:cNvPr id="5461"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Product level footprints as a self serve product</a:t>
            </a:r>
            <a:endParaRPr b="0" lang="en-US" sz="1250" strike="noStrike" u="none">
              <a:solidFill>
                <a:srgbClr val="000000"/>
              </a:solidFill>
              <a:effectLst/>
              <a:uFillTx/>
              <a:latin typeface="Arial"/>
            </a:endParaRPr>
          </a:p>
        </p:txBody>
      </p:sp>
      <p:sp>
        <p:nvSpPr>
          <p:cNvPr id="5462"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463" name="Shape 7"/>
          <p:cNvSpPr/>
          <p:nvPr/>
        </p:nvSpPr>
        <p:spPr>
          <a:xfrm>
            <a:off x="6217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464"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465"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Q3 2026</a:t>
            </a:r>
            <a:endParaRPr b="0" lang="en-US" sz="900" strike="noStrike" u="none">
              <a:solidFill>
                <a:srgbClr val="000000"/>
              </a:solidFill>
              <a:effectLst/>
              <a:uFillTx/>
              <a:latin typeface="Arial"/>
            </a:endParaRPr>
          </a:p>
        </p:txBody>
      </p:sp>
      <p:sp>
        <p:nvSpPr>
          <p:cNvPr id="5466"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Now</a:t>
            </a:r>
            <a:endParaRPr b="0" lang="en-US" sz="1600" strike="noStrike" u="none">
              <a:solidFill>
                <a:srgbClr val="000000"/>
              </a:solidFill>
              <a:effectLst/>
              <a:uFillTx/>
              <a:latin typeface="Arial"/>
            </a:endParaRPr>
          </a:p>
        </p:txBody>
      </p:sp>
      <p:sp>
        <p:nvSpPr>
          <p:cNvPr id="5467" name="Text 11"/>
          <p:cNvSpPr/>
          <p:nvPr/>
        </p:nvSpPr>
        <p:spPr>
          <a:xfrm>
            <a:off x="8229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Product footprint calculation on shared factors and methods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Bill of materials and process data capture</a:t>
            </a:r>
            <a:endParaRPr b="0" lang="en-US" sz="1100" strike="noStrike" u="none">
              <a:solidFill>
                <a:srgbClr val="000000"/>
              </a:solidFill>
              <a:effectLst/>
              <a:uFillTx/>
              <a:latin typeface="Arial"/>
            </a:endParaRPr>
          </a:p>
        </p:txBody>
      </p:sp>
      <p:sp>
        <p:nvSpPr>
          <p:cNvPr id="5468" name="Shape 12"/>
          <p:cNvSpPr/>
          <p:nvPr/>
        </p:nvSpPr>
        <p:spPr>
          <a:xfrm>
            <a:off x="342756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469" name="Shape 13"/>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470" name="Text 14"/>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Q4 2026</a:t>
            </a:r>
            <a:endParaRPr b="0" lang="en-US" sz="900" strike="noStrike" u="none">
              <a:solidFill>
                <a:srgbClr val="000000"/>
              </a:solidFill>
              <a:effectLst/>
              <a:uFillTx/>
              <a:latin typeface="Arial"/>
            </a:endParaRPr>
          </a:p>
        </p:txBody>
      </p:sp>
      <p:sp>
        <p:nvSpPr>
          <p:cNvPr id="5471" name="Text 15"/>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Next</a:t>
            </a:r>
            <a:endParaRPr b="0" lang="en-US" sz="1600" strike="noStrike" u="none">
              <a:solidFill>
                <a:srgbClr val="000000"/>
              </a:solidFill>
              <a:effectLst/>
              <a:uFillTx/>
              <a:latin typeface="Arial"/>
            </a:endParaRPr>
          </a:p>
        </p:txBody>
      </p:sp>
      <p:sp>
        <p:nvSpPr>
          <p:cNvPr id="5472" name="Text 16"/>
          <p:cNvSpPr/>
          <p:nvPr/>
        </p:nvSpPr>
        <p:spPr>
          <a:xfrm>
            <a:off x="362844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ECLR as a full self serve product with scalable performance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Template driven product models for repeat categories</a:t>
            </a:r>
            <a:endParaRPr b="0" lang="en-US" sz="1100" strike="noStrike" u="none">
              <a:solidFill>
                <a:srgbClr val="000000"/>
              </a:solidFill>
              <a:effectLst/>
              <a:uFillTx/>
              <a:latin typeface="Arial"/>
            </a:endParaRPr>
          </a:p>
        </p:txBody>
      </p:sp>
      <p:sp>
        <p:nvSpPr>
          <p:cNvPr id="5473" name="Shape 17"/>
          <p:cNvSpPr/>
          <p:nvPr/>
        </p:nvSpPr>
        <p:spPr>
          <a:xfrm>
            <a:off x="623304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474" name="Shape 18"/>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475" name="Text 19"/>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2027 H1</a:t>
            </a:r>
            <a:endParaRPr b="0" lang="en-US" sz="900" strike="noStrike" u="none">
              <a:solidFill>
                <a:srgbClr val="000000"/>
              </a:solidFill>
              <a:effectLst/>
              <a:uFillTx/>
              <a:latin typeface="Arial"/>
            </a:endParaRPr>
          </a:p>
        </p:txBody>
      </p:sp>
      <p:sp>
        <p:nvSpPr>
          <p:cNvPr id="5476" name="Text 20"/>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Later</a:t>
            </a:r>
            <a:endParaRPr b="0" lang="en-US" sz="1600" strike="noStrike" u="none">
              <a:solidFill>
                <a:srgbClr val="000000"/>
              </a:solidFill>
              <a:effectLst/>
              <a:uFillTx/>
              <a:latin typeface="Arial"/>
            </a:endParaRPr>
          </a:p>
        </p:txBody>
      </p:sp>
      <p:sp>
        <p:nvSpPr>
          <p:cNvPr id="5477" name="Text 21"/>
          <p:cNvSpPr/>
          <p:nvPr/>
        </p:nvSpPr>
        <p:spPr>
          <a:xfrm>
            <a:off x="643428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Supply chain PCF integration with supplier specific factors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Method transparency per data point on product results</a:t>
            </a:r>
            <a:endParaRPr b="0" lang="en-US" sz="1100" strike="noStrike" u="none">
              <a:solidFill>
                <a:srgbClr val="000000"/>
              </a:solidFill>
              <a:effectLst/>
              <a:uFillTx/>
              <a:latin typeface="Arial"/>
            </a:endParaRPr>
          </a:p>
        </p:txBody>
      </p:sp>
      <p:sp>
        <p:nvSpPr>
          <p:cNvPr id="5478" name="Shape 22"/>
          <p:cNvSpPr/>
          <p:nvPr/>
        </p:nvSpPr>
        <p:spPr>
          <a:xfrm>
            <a:off x="90385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479" name="Shape 23"/>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480" name="Text 24"/>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2027 H2</a:t>
            </a:r>
            <a:endParaRPr b="0" lang="en-US" sz="900" strike="noStrike" u="none">
              <a:solidFill>
                <a:srgbClr val="000000"/>
              </a:solidFill>
              <a:effectLst/>
              <a:uFillTx/>
              <a:latin typeface="Arial"/>
            </a:endParaRPr>
          </a:p>
        </p:txBody>
      </p:sp>
      <p:sp>
        <p:nvSpPr>
          <p:cNvPr id="5481" name="Text 25"/>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Later</a:t>
            </a:r>
            <a:endParaRPr b="0" lang="en-US" sz="1600" strike="noStrike" u="none">
              <a:solidFill>
                <a:srgbClr val="000000"/>
              </a:solidFill>
              <a:effectLst/>
              <a:uFillTx/>
              <a:latin typeface="Arial"/>
            </a:endParaRPr>
          </a:p>
        </p:txBody>
      </p:sp>
      <p:sp>
        <p:nvSpPr>
          <p:cNvPr id="5482" name="Text 26"/>
          <p:cNvSpPr/>
          <p:nvPr/>
        </p:nvSpPr>
        <p:spPr>
          <a:xfrm>
            <a:off x="92397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Customer facing footprint sharing and digital product data</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Footprint reuse across regulatory product requirements</a:t>
            </a:r>
            <a:endParaRPr b="0" lang="en-US" sz="1100" strike="noStrike" u="none">
              <a:solidFill>
                <a:srgbClr val="000000"/>
              </a:solidFill>
              <a:effectLst/>
              <a:uFillTx/>
              <a:latin typeface="Arial"/>
            </a:endParaRPr>
          </a:p>
        </p:txBody>
      </p:sp>
      <p:sp>
        <p:nvSpPr>
          <p:cNvPr id="5483" name="Shape 27"/>
          <p:cNvSpPr/>
          <p:nvPr/>
        </p:nvSpPr>
        <p:spPr>
          <a:xfrm>
            <a:off x="621720" y="5650920"/>
            <a:ext cx="10947600" cy="585000"/>
          </a:xfrm>
          <a:prstGeom prst="roundRect">
            <a:avLst>
              <a:gd name="adj" fmla="val 12500"/>
            </a:avLst>
          </a:prstGeom>
          <a:solidFill>
            <a:srgbClr val="effaf1"/>
          </a:solidFill>
          <a:ln w="12700">
            <a:solidFill>
              <a:srgbClr val="bce8c9"/>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484" name="Shape 28"/>
          <p:cNvSpPr/>
          <p:nvPr/>
        </p:nvSpPr>
        <p:spPr>
          <a:xfrm>
            <a:off x="676800" y="5760720"/>
            <a:ext cx="45360" cy="3654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485" name="Text 29"/>
          <p:cNvSpPr/>
          <p:nvPr/>
        </p:nvSpPr>
        <p:spPr>
          <a:xfrm>
            <a:off x="859680" y="5650920"/>
            <a:ext cx="10527120" cy="585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050" strike="noStrike" u="none">
                <a:solidFill>
                  <a:srgbClr val="3a423c"/>
                </a:solidFill>
                <a:effectLst/>
                <a:uFillTx/>
                <a:latin typeface="Calibri"/>
                <a:ea typeface="Calibri"/>
              </a:rPr>
              <a:t>Capability position: Closing gap. LCA specialists remain the depth benchmark. Our bet is self serve scale and reuse of the same factors and hierarchy as the corporate inventory. Product page: /sustainability-products/product-carbon-footprint. Roadmap gap matrix: /competitor-matrix.</a:t>
            </a:r>
            <a:endParaRPr b="0" lang="en-US" sz="1050" strike="noStrike" u="none">
              <a:solidFill>
                <a:srgbClr val="000000"/>
              </a:solidFill>
              <a:effectLst/>
              <a:uFillTx/>
              <a:latin typeface="Arial"/>
            </a:endParaRPr>
          </a:p>
        </p:txBody>
      </p:sp>
      <p:sp>
        <p:nvSpPr>
          <p:cNvPr id="5486" name="Shape 30"/>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487" name="Text 31"/>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5488" name="Text 32"/>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5489" name="PlaceHolder 1"/>
          <p:cNvSpPr>
            <a:spLocks noGrp="1"/>
          </p:cNvSpPr>
          <p:nvPr>
            <p:ph type="sldNum" idx="123"/>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E35609C9-2848-4E75-ABDF-3E42132DD5CB}"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490"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5491"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5492" name="Shape 2"/>
          <p:cNvSpPr/>
          <p:nvPr/>
        </p:nvSpPr>
        <p:spPr>
          <a:xfrm>
            <a:off x="621720" y="311040"/>
            <a:ext cx="475452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493" name="Text 3"/>
          <p:cNvSpPr/>
          <p:nvPr/>
        </p:nvSpPr>
        <p:spPr>
          <a:xfrm>
            <a:off x="804600" y="329040"/>
            <a:ext cx="442548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SUSTAINABILITY ROADMAP | REPORTING &amp; COMPLIANCE</a:t>
            </a:r>
            <a:endParaRPr b="0" lang="en-US" sz="950" strike="noStrike" u="none">
              <a:solidFill>
                <a:srgbClr val="000000"/>
              </a:solidFill>
              <a:effectLst/>
              <a:uFillTx/>
              <a:latin typeface="Arial"/>
            </a:endParaRPr>
          </a:p>
        </p:txBody>
      </p:sp>
      <p:sp>
        <p:nvSpPr>
          <p:cNvPr id="5494"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Disclosure Management</a:t>
            </a:r>
            <a:endParaRPr b="0" lang="en-US" sz="3200" strike="noStrike" u="none">
              <a:solidFill>
                <a:srgbClr val="000000"/>
              </a:solidFill>
              <a:effectLst/>
              <a:uFillTx/>
              <a:latin typeface="Arial"/>
            </a:endParaRPr>
          </a:p>
        </p:txBody>
      </p:sp>
      <p:sp>
        <p:nvSpPr>
          <p:cNvPr id="5495"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Configure, collect, disclose end to end</a:t>
            </a:r>
            <a:endParaRPr b="0" lang="en-US" sz="1250" strike="noStrike" u="none">
              <a:solidFill>
                <a:srgbClr val="000000"/>
              </a:solidFill>
              <a:effectLst/>
              <a:uFillTx/>
              <a:latin typeface="Arial"/>
            </a:endParaRPr>
          </a:p>
        </p:txBody>
      </p:sp>
      <p:sp>
        <p:nvSpPr>
          <p:cNvPr id="5496"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497" name="Shape 7"/>
          <p:cNvSpPr/>
          <p:nvPr/>
        </p:nvSpPr>
        <p:spPr>
          <a:xfrm>
            <a:off x="6217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498"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499"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Q3 2026</a:t>
            </a:r>
            <a:endParaRPr b="0" lang="en-US" sz="900" strike="noStrike" u="none">
              <a:solidFill>
                <a:srgbClr val="000000"/>
              </a:solidFill>
              <a:effectLst/>
              <a:uFillTx/>
              <a:latin typeface="Arial"/>
            </a:endParaRPr>
          </a:p>
        </p:txBody>
      </p:sp>
      <p:sp>
        <p:nvSpPr>
          <p:cNvPr id="5500"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Now</a:t>
            </a:r>
            <a:endParaRPr b="0" lang="en-US" sz="1600" strike="noStrike" u="none">
              <a:solidFill>
                <a:srgbClr val="000000"/>
              </a:solidFill>
              <a:effectLst/>
              <a:uFillTx/>
              <a:latin typeface="Arial"/>
            </a:endParaRPr>
          </a:p>
        </p:txBody>
      </p:sp>
      <p:sp>
        <p:nvSpPr>
          <p:cNvPr id="5501" name="Text 11"/>
          <p:cNvSpPr/>
          <p:nvPr/>
        </p:nvSpPr>
        <p:spPr>
          <a:xfrm>
            <a:off x="8229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Set foundations: configure, collect, disclose end to end</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Framework content for CSRD and ESRS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Evidence and audit trail on disclosed figures</a:t>
            </a:r>
            <a:endParaRPr b="0" lang="en-US" sz="1100" strike="noStrike" u="none">
              <a:solidFill>
                <a:srgbClr val="000000"/>
              </a:solidFill>
              <a:effectLst/>
              <a:uFillTx/>
              <a:latin typeface="Arial"/>
            </a:endParaRPr>
          </a:p>
        </p:txBody>
      </p:sp>
      <p:sp>
        <p:nvSpPr>
          <p:cNvPr id="5502" name="Shape 12"/>
          <p:cNvSpPr/>
          <p:nvPr/>
        </p:nvSpPr>
        <p:spPr>
          <a:xfrm>
            <a:off x="342756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503" name="Shape 13"/>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504" name="Text 14"/>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Q4 2026</a:t>
            </a:r>
            <a:endParaRPr b="0" lang="en-US" sz="900" strike="noStrike" u="none">
              <a:solidFill>
                <a:srgbClr val="000000"/>
              </a:solidFill>
              <a:effectLst/>
              <a:uFillTx/>
              <a:latin typeface="Arial"/>
            </a:endParaRPr>
          </a:p>
        </p:txBody>
      </p:sp>
      <p:sp>
        <p:nvSpPr>
          <p:cNvPr id="5505" name="Text 15"/>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Next</a:t>
            </a:r>
            <a:endParaRPr b="0" lang="en-US" sz="1600" strike="noStrike" u="none">
              <a:solidFill>
                <a:srgbClr val="000000"/>
              </a:solidFill>
              <a:effectLst/>
              <a:uFillTx/>
              <a:latin typeface="Arial"/>
            </a:endParaRPr>
          </a:p>
        </p:txBody>
      </p:sp>
      <p:sp>
        <p:nvSpPr>
          <p:cNvPr id="5506" name="Text 16"/>
          <p:cNvSpPr/>
          <p:nvPr/>
        </p:nvSpPr>
        <p:spPr>
          <a:xfrm>
            <a:off x="362844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Indicator library foundation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Approval hierarchies and bulk assignment</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Advanced campaign management for data collection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Advanced data ingestion and transformation rules</a:t>
            </a:r>
            <a:endParaRPr b="0" lang="en-US" sz="1100" strike="noStrike" u="none">
              <a:solidFill>
                <a:srgbClr val="000000"/>
              </a:solidFill>
              <a:effectLst/>
              <a:uFillTx/>
              <a:latin typeface="Arial"/>
            </a:endParaRPr>
          </a:p>
        </p:txBody>
      </p:sp>
      <p:sp>
        <p:nvSpPr>
          <p:cNvPr id="5507" name="Shape 17"/>
          <p:cNvSpPr/>
          <p:nvPr/>
        </p:nvSpPr>
        <p:spPr>
          <a:xfrm>
            <a:off x="623304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508" name="Shape 18"/>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509" name="Text 19"/>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2027 H1</a:t>
            </a:r>
            <a:endParaRPr b="0" lang="en-US" sz="900" strike="noStrike" u="none">
              <a:solidFill>
                <a:srgbClr val="000000"/>
              </a:solidFill>
              <a:effectLst/>
              <a:uFillTx/>
              <a:latin typeface="Arial"/>
            </a:endParaRPr>
          </a:p>
        </p:txBody>
      </p:sp>
      <p:sp>
        <p:nvSpPr>
          <p:cNvPr id="5510" name="Text 20"/>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Later</a:t>
            </a:r>
            <a:endParaRPr b="0" lang="en-US" sz="1600" strike="noStrike" u="none">
              <a:solidFill>
                <a:srgbClr val="000000"/>
              </a:solidFill>
              <a:effectLst/>
              <a:uFillTx/>
              <a:latin typeface="Arial"/>
            </a:endParaRPr>
          </a:p>
        </p:txBody>
      </p:sp>
      <p:sp>
        <p:nvSpPr>
          <p:cNvPr id="5511" name="Text 21"/>
          <p:cNvSpPr/>
          <p:nvPr/>
        </p:nvSpPr>
        <p:spPr>
          <a:xfrm>
            <a:off x="643428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SE migration and CSRD milestone in Q1 2027</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IFRS S1 and S2 and EU Taxonomy coverage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AI assisted narrative drafting with source traceability</a:t>
            </a:r>
            <a:endParaRPr b="0" lang="en-US" sz="1100" strike="noStrike" u="none">
              <a:solidFill>
                <a:srgbClr val="000000"/>
              </a:solidFill>
              <a:effectLst/>
              <a:uFillTx/>
              <a:latin typeface="Arial"/>
            </a:endParaRPr>
          </a:p>
        </p:txBody>
      </p:sp>
      <p:sp>
        <p:nvSpPr>
          <p:cNvPr id="5512" name="Shape 22"/>
          <p:cNvSpPr/>
          <p:nvPr/>
        </p:nvSpPr>
        <p:spPr>
          <a:xfrm>
            <a:off x="90385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513" name="Shape 23"/>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514" name="Text 24"/>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2027 H2</a:t>
            </a:r>
            <a:endParaRPr b="0" lang="en-US" sz="900" strike="noStrike" u="none">
              <a:solidFill>
                <a:srgbClr val="000000"/>
              </a:solidFill>
              <a:effectLst/>
              <a:uFillTx/>
              <a:latin typeface="Arial"/>
            </a:endParaRPr>
          </a:p>
        </p:txBody>
      </p:sp>
      <p:sp>
        <p:nvSpPr>
          <p:cNvPr id="5515" name="Text 25"/>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Later</a:t>
            </a:r>
            <a:endParaRPr b="0" lang="en-US" sz="1600" strike="noStrike" u="none">
              <a:solidFill>
                <a:srgbClr val="000000"/>
              </a:solidFill>
              <a:effectLst/>
              <a:uFillTx/>
              <a:latin typeface="Arial"/>
            </a:endParaRPr>
          </a:p>
        </p:txBody>
      </p:sp>
      <p:sp>
        <p:nvSpPr>
          <p:cNvPr id="5516" name="Text 26"/>
          <p:cNvSpPr/>
          <p:nvPr/>
        </p:nvSpPr>
        <p:spPr>
          <a:xfrm>
            <a:off x="92397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Assurance workflow with auditor access and status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Multi framework reuse of a single collected indicator</a:t>
            </a:r>
            <a:endParaRPr b="0" lang="en-US" sz="1100" strike="noStrike" u="none">
              <a:solidFill>
                <a:srgbClr val="000000"/>
              </a:solidFill>
              <a:effectLst/>
              <a:uFillTx/>
              <a:latin typeface="Arial"/>
            </a:endParaRPr>
          </a:p>
        </p:txBody>
      </p:sp>
      <p:sp>
        <p:nvSpPr>
          <p:cNvPr id="5517" name="Shape 27"/>
          <p:cNvSpPr/>
          <p:nvPr/>
        </p:nvSpPr>
        <p:spPr>
          <a:xfrm>
            <a:off x="621720" y="5650920"/>
            <a:ext cx="10947600" cy="585000"/>
          </a:xfrm>
          <a:prstGeom prst="roundRect">
            <a:avLst>
              <a:gd name="adj" fmla="val 12500"/>
            </a:avLst>
          </a:prstGeom>
          <a:solidFill>
            <a:srgbClr val="effaf1"/>
          </a:solidFill>
          <a:ln w="12700">
            <a:solidFill>
              <a:srgbClr val="bce8c9"/>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518" name="Shape 28"/>
          <p:cNvSpPr/>
          <p:nvPr/>
        </p:nvSpPr>
        <p:spPr>
          <a:xfrm>
            <a:off x="676800" y="5760720"/>
            <a:ext cx="45360" cy="3654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519" name="Text 29"/>
          <p:cNvSpPr/>
          <p:nvPr/>
        </p:nvSpPr>
        <p:spPr>
          <a:xfrm>
            <a:off x="859680" y="5650920"/>
            <a:ext cx="10527120" cy="585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050" strike="noStrike" u="none">
                <a:solidFill>
                  <a:srgbClr val="3a423c"/>
                </a:solidFill>
                <a:effectLst/>
                <a:uFillTx/>
                <a:latin typeface="Calibri"/>
                <a:ea typeface="Calibri"/>
              </a:rPr>
              <a:t>Capability position: On parity. Disclosure tooling is a crowded, maturing market. Our edge is that the data arrives from products we already own. Product page: /sustainability-products/disclosure-management. Roadmap gap matrix: /competitor-matrix.</a:t>
            </a:r>
            <a:endParaRPr b="0" lang="en-US" sz="1050" strike="noStrike" u="none">
              <a:solidFill>
                <a:srgbClr val="000000"/>
              </a:solidFill>
              <a:effectLst/>
              <a:uFillTx/>
              <a:latin typeface="Arial"/>
            </a:endParaRPr>
          </a:p>
        </p:txBody>
      </p:sp>
      <p:sp>
        <p:nvSpPr>
          <p:cNvPr id="5520" name="Shape 30"/>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521" name="Text 31"/>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5522" name="Text 32"/>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5523" name="PlaceHolder 1"/>
          <p:cNvSpPr>
            <a:spLocks noGrp="1"/>
          </p:cNvSpPr>
          <p:nvPr>
            <p:ph type="sldNum" idx="124"/>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46762669-867E-4A9A-8E80-0BD921CF861B}"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524"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5525"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5526" name="Shape 2"/>
          <p:cNvSpPr/>
          <p:nvPr/>
        </p:nvSpPr>
        <p:spPr>
          <a:xfrm>
            <a:off x="621720" y="311040"/>
            <a:ext cx="475452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527" name="Text 3"/>
          <p:cNvSpPr/>
          <p:nvPr/>
        </p:nvSpPr>
        <p:spPr>
          <a:xfrm>
            <a:off x="804600" y="329040"/>
            <a:ext cx="442548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SUSTAINABILITY ROADMAP | REPORTING &amp; COMPLIANCE</a:t>
            </a:r>
            <a:endParaRPr b="0" lang="en-US" sz="950" strike="noStrike" u="none">
              <a:solidFill>
                <a:srgbClr val="000000"/>
              </a:solidFill>
              <a:effectLst/>
              <a:uFillTx/>
              <a:latin typeface="Arial"/>
            </a:endParaRPr>
          </a:p>
        </p:txBody>
      </p:sp>
      <p:sp>
        <p:nvSpPr>
          <p:cNvPr id="5528"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Indicator &amp; Data Management</a:t>
            </a:r>
            <a:endParaRPr b="0" lang="en-US" sz="3200" strike="noStrike" u="none">
              <a:solidFill>
                <a:srgbClr val="000000"/>
              </a:solidFill>
              <a:effectLst/>
              <a:uFillTx/>
              <a:latin typeface="Arial"/>
            </a:endParaRPr>
          </a:p>
        </p:txBody>
      </p:sp>
      <p:sp>
        <p:nvSpPr>
          <p:cNvPr id="5529"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Collect once, govern everywhere</a:t>
            </a:r>
            <a:endParaRPr b="0" lang="en-US" sz="1250" strike="noStrike" u="none">
              <a:solidFill>
                <a:srgbClr val="000000"/>
              </a:solidFill>
              <a:effectLst/>
              <a:uFillTx/>
              <a:latin typeface="Arial"/>
            </a:endParaRPr>
          </a:p>
        </p:txBody>
      </p:sp>
      <p:sp>
        <p:nvSpPr>
          <p:cNvPr id="5530"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531" name="Shape 7"/>
          <p:cNvSpPr/>
          <p:nvPr/>
        </p:nvSpPr>
        <p:spPr>
          <a:xfrm>
            <a:off x="6217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532"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533"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Q3 2026</a:t>
            </a:r>
            <a:endParaRPr b="0" lang="en-US" sz="900" strike="noStrike" u="none">
              <a:solidFill>
                <a:srgbClr val="000000"/>
              </a:solidFill>
              <a:effectLst/>
              <a:uFillTx/>
              <a:latin typeface="Arial"/>
            </a:endParaRPr>
          </a:p>
        </p:txBody>
      </p:sp>
      <p:sp>
        <p:nvSpPr>
          <p:cNvPr id="5534"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Now</a:t>
            </a:r>
            <a:endParaRPr b="0" lang="en-US" sz="1600" strike="noStrike" u="none">
              <a:solidFill>
                <a:srgbClr val="000000"/>
              </a:solidFill>
              <a:effectLst/>
              <a:uFillTx/>
              <a:latin typeface="Arial"/>
            </a:endParaRPr>
          </a:p>
        </p:txBody>
      </p:sp>
      <p:sp>
        <p:nvSpPr>
          <p:cNvPr id="5535" name="Text 11"/>
          <p:cNvSpPr/>
          <p:nvPr/>
        </p:nvSpPr>
        <p:spPr>
          <a:xfrm>
            <a:off x="8229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Core platform foundations built for hierarchy, factors and calculation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Data quality rules on incoming records</a:t>
            </a:r>
            <a:endParaRPr b="0" lang="en-US" sz="1100" strike="noStrike" u="none">
              <a:solidFill>
                <a:srgbClr val="000000"/>
              </a:solidFill>
              <a:effectLst/>
              <a:uFillTx/>
              <a:latin typeface="Arial"/>
            </a:endParaRPr>
          </a:p>
        </p:txBody>
      </p:sp>
      <p:sp>
        <p:nvSpPr>
          <p:cNvPr id="5536" name="Shape 12"/>
          <p:cNvSpPr/>
          <p:nvPr/>
        </p:nvSpPr>
        <p:spPr>
          <a:xfrm>
            <a:off x="342756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537" name="Shape 13"/>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538" name="Text 14"/>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Q4 2026</a:t>
            </a:r>
            <a:endParaRPr b="0" lang="en-US" sz="900" strike="noStrike" u="none">
              <a:solidFill>
                <a:srgbClr val="000000"/>
              </a:solidFill>
              <a:effectLst/>
              <a:uFillTx/>
              <a:latin typeface="Arial"/>
            </a:endParaRPr>
          </a:p>
        </p:txBody>
      </p:sp>
      <p:sp>
        <p:nvSpPr>
          <p:cNvPr id="5539" name="Text 15"/>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Next</a:t>
            </a:r>
            <a:endParaRPr b="0" lang="en-US" sz="1600" strike="noStrike" u="none">
              <a:solidFill>
                <a:srgbClr val="000000"/>
              </a:solidFill>
              <a:effectLst/>
              <a:uFillTx/>
              <a:latin typeface="Arial"/>
            </a:endParaRPr>
          </a:p>
        </p:txBody>
      </p:sp>
      <p:sp>
        <p:nvSpPr>
          <p:cNvPr id="5540" name="Text 16"/>
          <p:cNvSpPr/>
          <p:nvPr/>
        </p:nvSpPr>
        <p:spPr>
          <a:xfrm>
            <a:off x="362844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Indicator library foundation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Approval hierarchies and bulk assignment</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Advanced data ingestion and transformation rules</a:t>
            </a:r>
            <a:endParaRPr b="0" lang="en-US" sz="1100" strike="noStrike" u="none">
              <a:solidFill>
                <a:srgbClr val="000000"/>
              </a:solidFill>
              <a:effectLst/>
              <a:uFillTx/>
              <a:latin typeface="Arial"/>
            </a:endParaRPr>
          </a:p>
        </p:txBody>
      </p:sp>
      <p:sp>
        <p:nvSpPr>
          <p:cNvPr id="5541" name="Shape 17"/>
          <p:cNvSpPr/>
          <p:nvPr/>
        </p:nvSpPr>
        <p:spPr>
          <a:xfrm>
            <a:off x="623304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542" name="Shape 18"/>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543" name="Text 19"/>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2027 H1</a:t>
            </a:r>
            <a:endParaRPr b="0" lang="en-US" sz="900" strike="noStrike" u="none">
              <a:solidFill>
                <a:srgbClr val="000000"/>
              </a:solidFill>
              <a:effectLst/>
              <a:uFillTx/>
              <a:latin typeface="Arial"/>
            </a:endParaRPr>
          </a:p>
        </p:txBody>
      </p:sp>
      <p:sp>
        <p:nvSpPr>
          <p:cNvPr id="5544" name="Text 20"/>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Later</a:t>
            </a:r>
            <a:endParaRPr b="0" lang="en-US" sz="1600" strike="noStrike" u="none">
              <a:solidFill>
                <a:srgbClr val="000000"/>
              </a:solidFill>
              <a:effectLst/>
              <a:uFillTx/>
              <a:latin typeface="Arial"/>
            </a:endParaRPr>
          </a:p>
        </p:txBody>
      </p:sp>
      <p:sp>
        <p:nvSpPr>
          <p:cNvPr id="5545" name="Text 21"/>
          <p:cNvSpPr/>
          <p:nvPr/>
        </p:nvSpPr>
        <p:spPr>
          <a:xfrm>
            <a:off x="643428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Advanced campaign management across entities and regions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Lineage and evidence surfaced on every indicator</a:t>
            </a:r>
            <a:endParaRPr b="0" lang="en-US" sz="1100" strike="noStrike" u="none">
              <a:solidFill>
                <a:srgbClr val="000000"/>
              </a:solidFill>
              <a:effectLst/>
              <a:uFillTx/>
              <a:latin typeface="Arial"/>
            </a:endParaRPr>
          </a:p>
        </p:txBody>
      </p:sp>
      <p:sp>
        <p:nvSpPr>
          <p:cNvPr id="5546" name="Shape 22"/>
          <p:cNvSpPr/>
          <p:nvPr/>
        </p:nvSpPr>
        <p:spPr>
          <a:xfrm>
            <a:off x="90385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547" name="Shape 23"/>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548" name="Text 24"/>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2027 H2</a:t>
            </a:r>
            <a:endParaRPr b="0" lang="en-US" sz="900" strike="noStrike" u="none">
              <a:solidFill>
                <a:srgbClr val="000000"/>
              </a:solidFill>
              <a:effectLst/>
              <a:uFillTx/>
              <a:latin typeface="Arial"/>
            </a:endParaRPr>
          </a:p>
        </p:txBody>
      </p:sp>
      <p:sp>
        <p:nvSpPr>
          <p:cNvPr id="5549" name="Text 25"/>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Later</a:t>
            </a:r>
            <a:endParaRPr b="0" lang="en-US" sz="1600" strike="noStrike" u="none">
              <a:solidFill>
                <a:srgbClr val="000000"/>
              </a:solidFill>
              <a:effectLst/>
              <a:uFillTx/>
              <a:latin typeface="Arial"/>
            </a:endParaRPr>
          </a:p>
        </p:txBody>
      </p:sp>
      <p:sp>
        <p:nvSpPr>
          <p:cNvPr id="5550" name="Text 26"/>
          <p:cNvSpPr/>
          <p:nvPr/>
        </p:nvSpPr>
        <p:spPr>
          <a:xfrm>
            <a:off x="92397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Enterprise scale performance for very large indicator sets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Reuse of indicators across regulated and voluntary outputs</a:t>
            </a:r>
            <a:endParaRPr b="0" lang="en-US" sz="1100" strike="noStrike" u="none">
              <a:solidFill>
                <a:srgbClr val="000000"/>
              </a:solidFill>
              <a:effectLst/>
              <a:uFillTx/>
              <a:latin typeface="Arial"/>
            </a:endParaRPr>
          </a:p>
        </p:txBody>
      </p:sp>
      <p:sp>
        <p:nvSpPr>
          <p:cNvPr id="5551" name="Shape 27"/>
          <p:cNvSpPr/>
          <p:nvPr/>
        </p:nvSpPr>
        <p:spPr>
          <a:xfrm>
            <a:off x="621720" y="5650920"/>
            <a:ext cx="10947600" cy="585000"/>
          </a:xfrm>
          <a:prstGeom prst="roundRect">
            <a:avLst>
              <a:gd name="adj" fmla="val 12500"/>
            </a:avLst>
          </a:prstGeom>
          <a:solidFill>
            <a:srgbClr val="effaf1"/>
          </a:solidFill>
          <a:ln w="12700">
            <a:solidFill>
              <a:srgbClr val="bce8c9"/>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552" name="Shape 28"/>
          <p:cNvSpPr/>
          <p:nvPr/>
        </p:nvSpPr>
        <p:spPr>
          <a:xfrm>
            <a:off x="676800" y="5760720"/>
            <a:ext cx="45360" cy="3654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553" name="Text 29"/>
          <p:cNvSpPr/>
          <p:nvPr/>
        </p:nvSpPr>
        <p:spPr>
          <a:xfrm>
            <a:off x="859680" y="5650920"/>
            <a:ext cx="10527120" cy="585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050" strike="noStrike" u="none">
                <a:solidFill>
                  <a:srgbClr val="3a423c"/>
                </a:solidFill>
                <a:effectLst/>
                <a:uFillTx/>
                <a:latin typeface="Calibri"/>
                <a:ea typeface="Calibri"/>
              </a:rPr>
              <a:t>Capability position: On parity. Data collection tooling is table stakes. Depth of transformation rules and quality controls is where we differentiate. Product page: /sustainability-products/indicator-data-management. Roadmap gap matrix: /competitor-matrix.</a:t>
            </a:r>
            <a:endParaRPr b="0" lang="en-US" sz="1050" strike="noStrike" u="none">
              <a:solidFill>
                <a:srgbClr val="000000"/>
              </a:solidFill>
              <a:effectLst/>
              <a:uFillTx/>
              <a:latin typeface="Arial"/>
            </a:endParaRPr>
          </a:p>
        </p:txBody>
      </p:sp>
      <p:sp>
        <p:nvSpPr>
          <p:cNvPr id="5554" name="Shape 30"/>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555" name="Text 31"/>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5556" name="Text 32"/>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5557" name="PlaceHolder 1"/>
          <p:cNvSpPr>
            <a:spLocks noGrp="1"/>
          </p:cNvSpPr>
          <p:nvPr>
            <p:ph type="sldNum" idx="125"/>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C2CBFF22-5345-4DC6-9194-DDF6A02C6F2B}"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558"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5559"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5560" name="Shape 2"/>
          <p:cNvSpPr/>
          <p:nvPr/>
        </p:nvSpPr>
        <p:spPr>
          <a:xfrm>
            <a:off x="621720" y="311040"/>
            <a:ext cx="439344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561" name="Text 3"/>
          <p:cNvSpPr/>
          <p:nvPr/>
        </p:nvSpPr>
        <p:spPr>
          <a:xfrm>
            <a:off x="804600" y="329040"/>
            <a:ext cx="406404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SUSTAINABILITY ROADMAP | CLIMATE RISK</a:t>
            </a:r>
            <a:endParaRPr b="0" lang="en-US" sz="950" strike="noStrike" u="none">
              <a:solidFill>
                <a:srgbClr val="000000"/>
              </a:solidFill>
              <a:effectLst/>
              <a:uFillTx/>
              <a:latin typeface="Arial"/>
            </a:endParaRPr>
          </a:p>
        </p:txBody>
      </p:sp>
      <p:sp>
        <p:nvSpPr>
          <p:cNvPr id="5562"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Climate Risk &amp; Adaptation</a:t>
            </a:r>
            <a:endParaRPr b="0" lang="en-US" sz="3200" strike="noStrike" u="none">
              <a:solidFill>
                <a:srgbClr val="000000"/>
              </a:solidFill>
              <a:effectLst/>
              <a:uFillTx/>
              <a:latin typeface="Arial"/>
            </a:endParaRPr>
          </a:p>
        </p:txBody>
      </p:sp>
      <p:sp>
        <p:nvSpPr>
          <p:cNvPr id="5563"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From hazard maps to priced risk and funded adaptation</a:t>
            </a:r>
            <a:endParaRPr b="0" lang="en-US" sz="1250" strike="noStrike" u="none">
              <a:solidFill>
                <a:srgbClr val="000000"/>
              </a:solidFill>
              <a:effectLst/>
              <a:uFillTx/>
              <a:latin typeface="Arial"/>
            </a:endParaRPr>
          </a:p>
        </p:txBody>
      </p:sp>
      <p:sp>
        <p:nvSpPr>
          <p:cNvPr id="5564"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565" name="Shape 7"/>
          <p:cNvSpPr/>
          <p:nvPr/>
        </p:nvSpPr>
        <p:spPr>
          <a:xfrm>
            <a:off x="6217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566"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567"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Q4 2026</a:t>
            </a:r>
            <a:endParaRPr b="0" lang="en-US" sz="900" strike="noStrike" u="none">
              <a:solidFill>
                <a:srgbClr val="000000"/>
              </a:solidFill>
              <a:effectLst/>
              <a:uFillTx/>
              <a:latin typeface="Arial"/>
            </a:endParaRPr>
          </a:p>
        </p:txBody>
      </p:sp>
      <p:sp>
        <p:nvSpPr>
          <p:cNvPr id="5568"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Now</a:t>
            </a:r>
            <a:endParaRPr b="0" lang="en-US" sz="1600" strike="noStrike" u="none">
              <a:solidFill>
                <a:srgbClr val="000000"/>
              </a:solidFill>
              <a:effectLst/>
              <a:uFillTx/>
              <a:latin typeface="Arial"/>
            </a:endParaRPr>
          </a:p>
        </p:txBody>
      </p:sp>
      <p:sp>
        <p:nvSpPr>
          <p:cNvPr id="5569" name="Text 11"/>
          <p:cNvSpPr/>
          <p:nvPr/>
        </p:nvSpPr>
        <p:spPr>
          <a:xfrm>
            <a:off x="8229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Hazard exposure across the shared site and asset hierarchy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Scenario and time horizon selection aligned to disclosure needs</a:t>
            </a:r>
            <a:endParaRPr b="0" lang="en-US" sz="1100" strike="noStrike" u="none">
              <a:solidFill>
                <a:srgbClr val="000000"/>
              </a:solidFill>
              <a:effectLst/>
              <a:uFillTx/>
              <a:latin typeface="Arial"/>
            </a:endParaRPr>
          </a:p>
        </p:txBody>
      </p:sp>
      <p:sp>
        <p:nvSpPr>
          <p:cNvPr id="5570" name="Shape 12"/>
          <p:cNvSpPr/>
          <p:nvPr/>
        </p:nvSpPr>
        <p:spPr>
          <a:xfrm>
            <a:off x="342756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571" name="Shape 13"/>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572" name="Text 14"/>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2027 H1</a:t>
            </a:r>
            <a:endParaRPr b="0" lang="en-US" sz="900" strike="noStrike" u="none">
              <a:solidFill>
                <a:srgbClr val="000000"/>
              </a:solidFill>
              <a:effectLst/>
              <a:uFillTx/>
              <a:latin typeface="Arial"/>
            </a:endParaRPr>
          </a:p>
        </p:txBody>
      </p:sp>
      <p:sp>
        <p:nvSpPr>
          <p:cNvPr id="5573" name="Text 15"/>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Next</a:t>
            </a:r>
            <a:endParaRPr b="0" lang="en-US" sz="1600" strike="noStrike" u="none">
              <a:solidFill>
                <a:srgbClr val="000000"/>
              </a:solidFill>
              <a:effectLst/>
              <a:uFillTx/>
              <a:latin typeface="Arial"/>
            </a:endParaRPr>
          </a:p>
        </p:txBody>
      </p:sp>
      <p:sp>
        <p:nvSpPr>
          <p:cNvPr id="5574" name="Text 16"/>
          <p:cNvSpPr/>
          <p:nvPr/>
        </p:nvSpPr>
        <p:spPr>
          <a:xfrm>
            <a:off x="362844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ClimVar: value at risk in financial terms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Adaptation action library linked to exposed assets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Risk data flowing into Reporting &amp; Compliance as financial values</a:t>
            </a:r>
            <a:endParaRPr b="0" lang="en-US" sz="1100" strike="noStrike" u="none">
              <a:solidFill>
                <a:srgbClr val="000000"/>
              </a:solidFill>
              <a:effectLst/>
              <a:uFillTx/>
              <a:latin typeface="Arial"/>
            </a:endParaRPr>
          </a:p>
        </p:txBody>
      </p:sp>
      <p:sp>
        <p:nvSpPr>
          <p:cNvPr id="5575" name="Shape 17"/>
          <p:cNvSpPr/>
          <p:nvPr/>
        </p:nvSpPr>
        <p:spPr>
          <a:xfrm>
            <a:off x="623304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576" name="Shape 18"/>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577" name="Text 19"/>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2027 H2</a:t>
            </a:r>
            <a:endParaRPr b="0" lang="en-US" sz="900" strike="noStrike" u="none">
              <a:solidFill>
                <a:srgbClr val="000000"/>
              </a:solidFill>
              <a:effectLst/>
              <a:uFillTx/>
              <a:latin typeface="Arial"/>
            </a:endParaRPr>
          </a:p>
        </p:txBody>
      </p:sp>
      <p:sp>
        <p:nvSpPr>
          <p:cNvPr id="5578" name="Text 20"/>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Later</a:t>
            </a:r>
            <a:endParaRPr b="0" lang="en-US" sz="1600" strike="noStrike" u="none">
              <a:solidFill>
                <a:srgbClr val="000000"/>
              </a:solidFill>
              <a:effectLst/>
              <a:uFillTx/>
              <a:latin typeface="Arial"/>
            </a:endParaRPr>
          </a:p>
        </p:txBody>
      </p:sp>
      <p:sp>
        <p:nvSpPr>
          <p:cNvPr id="5579" name="Text 21"/>
          <p:cNvSpPr/>
          <p:nvPr/>
        </p:nvSpPr>
        <p:spPr>
          <a:xfrm>
            <a:off x="643428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Adaptation actions funded through the capital plan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Transition risk alongside physical risk</a:t>
            </a:r>
            <a:endParaRPr b="0" lang="en-US" sz="1100" strike="noStrike" u="none">
              <a:solidFill>
                <a:srgbClr val="000000"/>
              </a:solidFill>
              <a:effectLst/>
              <a:uFillTx/>
              <a:latin typeface="Arial"/>
            </a:endParaRPr>
          </a:p>
        </p:txBody>
      </p:sp>
      <p:sp>
        <p:nvSpPr>
          <p:cNvPr id="5580" name="Shape 22"/>
          <p:cNvSpPr/>
          <p:nvPr/>
        </p:nvSpPr>
        <p:spPr>
          <a:xfrm>
            <a:off x="90385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581" name="Shape 23"/>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582" name="Text 24"/>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2028</a:t>
            </a:r>
            <a:endParaRPr b="0" lang="en-US" sz="900" strike="noStrike" u="none">
              <a:solidFill>
                <a:srgbClr val="000000"/>
              </a:solidFill>
              <a:effectLst/>
              <a:uFillTx/>
              <a:latin typeface="Arial"/>
            </a:endParaRPr>
          </a:p>
        </p:txBody>
      </p:sp>
      <p:sp>
        <p:nvSpPr>
          <p:cNvPr id="5583" name="Text 25"/>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Directional</a:t>
            </a:r>
            <a:endParaRPr b="0" lang="en-US" sz="1600" strike="noStrike" u="none">
              <a:solidFill>
                <a:srgbClr val="000000"/>
              </a:solidFill>
              <a:effectLst/>
              <a:uFillTx/>
              <a:latin typeface="Arial"/>
            </a:endParaRPr>
          </a:p>
        </p:txBody>
      </p:sp>
      <p:sp>
        <p:nvSpPr>
          <p:cNvPr id="5584" name="Text 26"/>
          <p:cNvSpPr/>
          <p:nvPr/>
        </p:nvSpPr>
        <p:spPr>
          <a:xfrm>
            <a:off x="92397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Priced risk and funded adaptation as a standard planning input</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Value chain risk beyond owned assets</a:t>
            </a:r>
            <a:endParaRPr b="0" lang="en-US" sz="1100" strike="noStrike" u="none">
              <a:solidFill>
                <a:srgbClr val="000000"/>
              </a:solidFill>
              <a:effectLst/>
              <a:uFillTx/>
              <a:latin typeface="Arial"/>
            </a:endParaRPr>
          </a:p>
        </p:txBody>
      </p:sp>
      <p:sp>
        <p:nvSpPr>
          <p:cNvPr id="5585" name="Shape 27"/>
          <p:cNvSpPr/>
          <p:nvPr/>
        </p:nvSpPr>
        <p:spPr>
          <a:xfrm>
            <a:off x="621720" y="5650920"/>
            <a:ext cx="10947600" cy="585000"/>
          </a:xfrm>
          <a:prstGeom prst="roundRect">
            <a:avLst>
              <a:gd name="adj" fmla="val 12500"/>
            </a:avLst>
          </a:prstGeom>
          <a:solidFill>
            <a:srgbClr val="effaf1"/>
          </a:solidFill>
          <a:ln w="12700">
            <a:solidFill>
              <a:srgbClr val="bce8c9"/>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586" name="Shape 28"/>
          <p:cNvSpPr/>
          <p:nvPr/>
        </p:nvSpPr>
        <p:spPr>
          <a:xfrm>
            <a:off x="676800" y="5760720"/>
            <a:ext cx="45360" cy="3654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587" name="Text 29"/>
          <p:cNvSpPr/>
          <p:nvPr/>
        </p:nvSpPr>
        <p:spPr>
          <a:xfrm>
            <a:off x="859680" y="5650920"/>
            <a:ext cx="10527120" cy="585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050" strike="noStrike" u="none">
                <a:solidFill>
                  <a:srgbClr val="3a423c"/>
                </a:solidFill>
                <a:effectLst/>
                <a:uFillTx/>
                <a:latin typeface="Calibri"/>
                <a:ea typeface="Calibri"/>
              </a:rPr>
              <a:t>Capability position: Closing gap. Specialists lead on hazard science. Our bet is pricing the risk in financial terms and connecting it to capital planning. Product page: /sustainability-products/climate-risk-adaptation. Roadmap gap matrix: /competitor-matrix.</a:t>
            </a:r>
            <a:endParaRPr b="0" lang="en-US" sz="1050" strike="noStrike" u="none">
              <a:solidFill>
                <a:srgbClr val="000000"/>
              </a:solidFill>
              <a:effectLst/>
              <a:uFillTx/>
              <a:latin typeface="Arial"/>
            </a:endParaRPr>
          </a:p>
        </p:txBody>
      </p:sp>
      <p:sp>
        <p:nvSpPr>
          <p:cNvPr id="5588" name="Shape 30"/>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589" name="Text 31"/>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5590" name="Text 32"/>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5591" name="PlaceHolder 1"/>
          <p:cNvSpPr>
            <a:spLocks noGrp="1"/>
          </p:cNvSpPr>
          <p:nvPr>
            <p:ph type="sldNum" idx="126"/>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ECF01B98-1E85-47B4-A32A-B6D093D267FE}"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592"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5593"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5594" name="Shape 2"/>
          <p:cNvSpPr/>
          <p:nvPr/>
        </p:nvSpPr>
        <p:spPr>
          <a:xfrm>
            <a:off x="621720" y="311040"/>
            <a:ext cx="475452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595" name="Text 3"/>
          <p:cNvSpPr/>
          <p:nvPr/>
        </p:nvSpPr>
        <p:spPr>
          <a:xfrm>
            <a:off x="804600" y="329040"/>
            <a:ext cx="442548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SUSTAINABILITY ROADMAP | RA+ SUSTAINABILITY</a:t>
            </a:r>
            <a:endParaRPr b="0" lang="en-US" sz="950" strike="noStrike" u="none">
              <a:solidFill>
                <a:srgbClr val="000000"/>
              </a:solidFill>
              <a:effectLst/>
              <a:uFillTx/>
              <a:latin typeface="Arial"/>
            </a:endParaRPr>
          </a:p>
        </p:txBody>
      </p:sp>
      <p:sp>
        <p:nvSpPr>
          <p:cNvPr id="5596"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Strategy</a:t>
            </a:r>
            <a:endParaRPr b="0" lang="en-US" sz="3200" strike="noStrike" u="none">
              <a:solidFill>
                <a:srgbClr val="000000"/>
              </a:solidFill>
              <a:effectLst/>
              <a:uFillTx/>
              <a:latin typeface="Arial"/>
            </a:endParaRPr>
          </a:p>
        </p:txBody>
      </p:sp>
      <p:sp>
        <p:nvSpPr>
          <p:cNvPr id="5597"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Targets, materiality and the transition plan in one place</a:t>
            </a:r>
            <a:endParaRPr b="0" lang="en-US" sz="1250" strike="noStrike" u="none">
              <a:solidFill>
                <a:srgbClr val="000000"/>
              </a:solidFill>
              <a:effectLst/>
              <a:uFillTx/>
              <a:latin typeface="Arial"/>
            </a:endParaRPr>
          </a:p>
        </p:txBody>
      </p:sp>
      <p:sp>
        <p:nvSpPr>
          <p:cNvPr id="5598"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599" name="Shape 7"/>
          <p:cNvSpPr/>
          <p:nvPr/>
        </p:nvSpPr>
        <p:spPr>
          <a:xfrm>
            <a:off x="6217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600"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601"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Q4 2026</a:t>
            </a:r>
            <a:endParaRPr b="0" lang="en-US" sz="900" strike="noStrike" u="none">
              <a:solidFill>
                <a:srgbClr val="000000"/>
              </a:solidFill>
              <a:effectLst/>
              <a:uFillTx/>
              <a:latin typeface="Arial"/>
            </a:endParaRPr>
          </a:p>
        </p:txBody>
      </p:sp>
      <p:sp>
        <p:nvSpPr>
          <p:cNvPr id="5602"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Now</a:t>
            </a:r>
            <a:endParaRPr b="0" lang="en-US" sz="1600" strike="noStrike" u="none">
              <a:solidFill>
                <a:srgbClr val="000000"/>
              </a:solidFill>
              <a:effectLst/>
              <a:uFillTx/>
              <a:latin typeface="Arial"/>
            </a:endParaRPr>
          </a:p>
        </p:txBody>
      </p:sp>
      <p:sp>
        <p:nvSpPr>
          <p:cNvPr id="5603" name="Text 11"/>
          <p:cNvSpPr/>
          <p:nvPr/>
        </p:nvSpPr>
        <p:spPr>
          <a:xfrm>
            <a:off x="8229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Target setting against the governed inventory baseline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Materiality assessment aligned to disclosure requirements</a:t>
            </a:r>
            <a:endParaRPr b="0" lang="en-US" sz="1100" strike="noStrike" u="none">
              <a:solidFill>
                <a:srgbClr val="000000"/>
              </a:solidFill>
              <a:effectLst/>
              <a:uFillTx/>
              <a:latin typeface="Arial"/>
            </a:endParaRPr>
          </a:p>
        </p:txBody>
      </p:sp>
      <p:sp>
        <p:nvSpPr>
          <p:cNvPr id="5604" name="Shape 12"/>
          <p:cNvSpPr/>
          <p:nvPr/>
        </p:nvSpPr>
        <p:spPr>
          <a:xfrm>
            <a:off x="342756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605" name="Shape 13"/>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606" name="Text 14"/>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2027 H1</a:t>
            </a:r>
            <a:endParaRPr b="0" lang="en-US" sz="900" strike="noStrike" u="none">
              <a:solidFill>
                <a:srgbClr val="000000"/>
              </a:solidFill>
              <a:effectLst/>
              <a:uFillTx/>
              <a:latin typeface="Arial"/>
            </a:endParaRPr>
          </a:p>
        </p:txBody>
      </p:sp>
      <p:sp>
        <p:nvSpPr>
          <p:cNvPr id="5607" name="Text 15"/>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Next</a:t>
            </a:r>
            <a:endParaRPr b="0" lang="en-US" sz="1600" strike="noStrike" u="none">
              <a:solidFill>
                <a:srgbClr val="000000"/>
              </a:solidFill>
              <a:effectLst/>
              <a:uFillTx/>
              <a:latin typeface="Arial"/>
            </a:endParaRPr>
          </a:p>
        </p:txBody>
      </p:sp>
      <p:sp>
        <p:nvSpPr>
          <p:cNvPr id="5608" name="Text 16"/>
          <p:cNvSpPr/>
          <p:nvPr/>
        </p:nvSpPr>
        <p:spPr>
          <a:xfrm>
            <a:off x="362844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Transition plan built from committed initiatives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Rebaselining aware targets that survive structural change</a:t>
            </a:r>
            <a:endParaRPr b="0" lang="en-US" sz="1100" strike="noStrike" u="none">
              <a:solidFill>
                <a:srgbClr val="000000"/>
              </a:solidFill>
              <a:effectLst/>
              <a:uFillTx/>
              <a:latin typeface="Arial"/>
            </a:endParaRPr>
          </a:p>
        </p:txBody>
      </p:sp>
      <p:sp>
        <p:nvSpPr>
          <p:cNvPr id="5609" name="Shape 17"/>
          <p:cNvSpPr/>
          <p:nvPr/>
        </p:nvSpPr>
        <p:spPr>
          <a:xfrm>
            <a:off x="623304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610" name="Shape 18"/>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611" name="Text 19"/>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2027 H2</a:t>
            </a:r>
            <a:endParaRPr b="0" lang="en-US" sz="900" strike="noStrike" u="none">
              <a:solidFill>
                <a:srgbClr val="000000"/>
              </a:solidFill>
              <a:effectLst/>
              <a:uFillTx/>
              <a:latin typeface="Arial"/>
            </a:endParaRPr>
          </a:p>
        </p:txBody>
      </p:sp>
      <p:sp>
        <p:nvSpPr>
          <p:cNvPr id="5612" name="Text 20"/>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Later</a:t>
            </a:r>
            <a:endParaRPr b="0" lang="en-US" sz="1600" strike="noStrike" u="none">
              <a:solidFill>
                <a:srgbClr val="000000"/>
              </a:solidFill>
              <a:effectLst/>
              <a:uFillTx/>
              <a:latin typeface="Arial"/>
            </a:endParaRPr>
          </a:p>
        </p:txBody>
      </p:sp>
      <p:sp>
        <p:nvSpPr>
          <p:cNvPr id="5613" name="Text 21"/>
          <p:cNvSpPr/>
          <p:nvPr/>
        </p:nvSpPr>
        <p:spPr>
          <a:xfrm>
            <a:off x="643428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Strategy statements qualified against inventory evidence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Scenario informed target revision with climate risk inputs</a:t>
            </a:r>
            <a:endParaRPr b="0" lang="en-US" sz="1100" strike="noStrike" u="none">
              <a:solidFill>
                <a:srgbClr val="000000"/>
              </a:solidFill>
              <a:effectLst/>
              <a:uFillTx/>
              <a:latin typeface="Arial"/>
            </a:endParaRPr>
          </a:p>
        </p:txBody>
      </p:sp>
      <p:sp>
        <p:nvSpPr>
          <p:cNvPr id="5614" name="Shape 22"/>
          <p:cNvSpPr/>
          <p:nvPr/>
        </p:nvSpPr>
        <p:spPr>
          <a:xfrm>
            <a:off x="90385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615" name="Shape 23"/>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616" name="Text 24"/>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2028</a:t>
            </a:r>
            <a:endParaRPr b="0" lang="en-US" sz="900" strike="noStrike" u="none">
              <a:solidFill>
                <a:srgbClr val="000000"/>
              </a:solidFill>
              <a:effectLst/>
              <a:uFillTx/>
              <a:latin typeface="Arial"/>
            </a:endParaRPr>
          </a:p>
        </p:txBody>
      </p:sp>
      <p:sp>
        <p:nvSpPr>
          <p:cNvPr id="5617" name="Text 25"/>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Directional</a:t>
            </a:r>
            <a:endParaRPr b="0" lang="en-US" sz="1600" strike="noStrike" u="none">
              <a:solidFill>
                <a:srgbClr val="000000"/>
              </a:solidFill>
              <a:effectLst/>
              <a:uFillTx/>
              <a:latin typeface="Arial"/>
            </a:endParaRPr>
          </a:p>
        </p:txBody>
      </p:sp>
      <p:sp>
        <p:nvSpPr>
          <p:cNvPr id="5618" name="Text 26"/>
          <p:cNvSpPr/>
          <p:nvPr/>
        </p:nvSpPr>
        <p:spPr>
          <a:xfrm>
            <a:off x="92397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Continuous planning as data, risk and regulation change</a:t>
            </a:r>
            <a:endParaRPr b="0" lang="en-US" sz="1100" strike="noStrike" u="none">
              <a:solidFill>
                <a:srgbClr val="000000"/>
              </a:solidFill>
              <a:effectLst/>
              <a:uFillTx/>
              <a:latin typeface="Arial"/>
            </a:endParaRPr>
          </a:p>
        </p:txBody>
      </p:sp>
      <p:sp>
        <p:nvSpPr>
          <p:cNvPr id="5619" name="Shape 27"/>
          <p:cNvSpPr/>
          <p:nvPr/>
        </p:nvSpPr>
        <p:spPr>
          <a:xfrm>
            <a:off x="621720" y="5650920"/>
            <a:ext cx="10947600" cy="585000"/>
          </a:xfrm>
          <a:prstGeom prst="roundRect">
            <a:avLst>
              <a:gd name="adj" fmla="val 12500"/>
            </a:avLst>
          </a:prstGeom>
          <a:solidFill>
            <a:srgbClr val="effaf1"/>
          </a:solidFill>
          <a:ln w="12700">
            <a:solidFill>
              <a:srgbClr val="bce8c9"/>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620" name="Shape 28"/>
          <p:cNvSpPr/>
          <p:nvPr/>
        </p:nvSpPr>
        <p:spPr>
          <a:xfrm>
            <a:off x="676800" y="5760720"/>
            <a:ext cx="45360" cy="3654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621" name="Text 29"/>
          <p:cNvSpPr/>
          <p:nvPr/>
        </p:nvSpPr>
        <p:spPr>
          <a:xfrm>
            <a:off x="859680" y="5650920"/>
            <a:ext cx="10527120" cy="585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050" strike="noStrike" u="none">
                <a:solidFill>
                  <a:srgbClr val="3a423c"/>
                </a:solidFill>
                <a:effectLst/>
                <a:uFillTx/>
                <a:latin typeface="Calibri"/>
                <a:ea typeface="Calibri"/>
              </a:rPr>
              <a:t>Capability position: Closing gap. Strategy tooling is often consulting led. Our edge is that targets and plans are wired to live data rather than a static model. Product page: /sustainability-products/sustainability-strategy. Roadmap gap matrix: /competitor-matrix.</a:t>
            </a:r>
            <a:endParaRPr b="0" lang="en-US" sz="1050" strike="noStrike" u="none">
              <a:solidFill>
                <a:srgbClr val="000000"/>
              </a:solidFill>
              <a:effectLst/>
              <a:uFillTx/>
              <a:latin typeface="Arial"/>
            </a:endParaRPr>
          </a:p>
        </p:txBody>
      </p:sp>
      <p:sp>
        <p:nvSpPr>
          <p:cNvPr id="5622" name="Shape 30"/>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623" name="Text 31"/>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5624" name="Text 32"/>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5625" name="PlaceHolder 1"/>
          <p:cNvSpPr>
            <a:spLocks noGrp="1"/>
          </p:cNvSpPr>
          <p:nvPr>
            <p:ph type="sldNum" idx="127"/>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08BFB1DE-AB2A-4D6A-800A-1B78D2328CF1}"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626"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5627"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5628" name="Shape 2"/>
          <p:cNvSpPr/>
          <p:nvPr/>
        </p:nvSpPr>
        <p:spPr>
          <a:xfrm>
            <a:off x="621720" y="311040"/>
            <a:ext cx="475452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629" name="Text 3"/>
          <p:cNvSpPr/>
          <p:nvPr/>
        </p:nvSpPr>
        <p:spPr>
          <a:xfrm>
            <a:off x="804600" y="329040"/>
            <a:ext cx="442548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SUSTAINABILITY ROADMAP | RA+ SUSTAINABILITY</a:t>
            </a:r>
            <a:endParaRPr b="0" lang="en-US" sz="950" strike="noStrike" u="none">
              <a:solidFill>
                <a:srgbClr val="000000"/>
              </a:solidFill>
              <a:effectLst/>
              <a:uFillTx/>
              <a:latin typeface="Arial"/>
            </a:endParaRPr>
          </a:p>
        </p:txBody>
      </p:sp>
      <p:sp>
        <p:nvSpPr>
          <p:cNvPr id="5630"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Utility Data Management</a:t>
            </a:r>
            <a:endParaRPr b="0" lang="en-US" sz="3200" strike="noStrike" u="none">
              <a:solidFill>
                <a:srgbClr val="000000"/>
              </a:solidFill>
              <a:effectLst/>
              <a:uFillTx/>
              <a:latin typeface="Arial"/>
            </a:endParaRPr>
          </a:p>
        </p:txBody>
      </p:sp>
      <p:sp>
        <p:nvSpPr>
          <p:cNvPr id="5631"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Invoices and cost allocation that keep the inventory complete</a:t>
            </a:r>
            <a:endParaRPr b="0" lang="en-US" sz="1250" strike="noStrike" u="none">
              <a:solidFill>
                <a:srgbClr val="000000"/>
              </a:solidFill>
              <a:effectLst/>
              <a:uFillTx/>
              <a:latin typeface="Arial"/>
            </a:endParaRPr>
          </a:p>
        </p:txBody>
      </p:sp>
      <p:sp>
        <p:nvSpPr>
          <p:cNvPr id="5632"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633" name="Shape 7"/>
          <p:cNvSpPr/>
          <p:nvPr/>
        </p:nvSpPr>
        <p:spPr>
          <a:xfrm>
            <a:off x="6217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634"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635"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Q3 AND Q4 2026</a:t>
            </a:r>
            <a:endParaRPr b="0" lang="en-US" sz="900" strike="noStrike" u="none">
              <a:solidFill>
                <a:srgbClr val="000000"/>
              </a:solidFill>
              <a:effectLst/>
              <a:uFillTx/>
              <a:latin typeface="Arial"/>
            </a:endParaRPr>
          </a:p>
        </p:txBody>
      </p:sp>
      <p:sp>
        <p:nvSpPr>
          <p:cNvPr id="5636"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Foundations</a:t>
            </a:r>
            <a:endParaRPr b="0" lang="en-US" sz="1600" strike="noStrike" u="none">
              <a:solidFill>
                <a:srgbClr val="000000"/>
              </a:solidFill>
              <a:effectLst/>
              <a:uFillTx/>
              <a:latin typeface="Arial"/>
            </a:endParaRPr>
          </a:p>
        </p:txBody>
      </p:sp>
      <p:sp>
        <p:nvSpPr>
          <p:cNvPr id="5637" name="Text 11"/>
          <p:cNvSpPr/>
          <p:nvPr/>
        </p:nvSpPr>
        <p:spPr>
          <a:xfrm>
            <a:off x="8229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Invoice capture and validation on the shared hierarchy</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Cost allocation to sites, cost centres and legal entities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Data quality assurance on incoming bills</a:t>
            </a:r>
            <a:endParaRPr b="0" lang="en-US" sz="1100" strike="noStrike" u="none">
              <a:solidFill>
                <a:srgbClr val="000000"/>
              </a:solidFill>
              <a:effectLst/>
              <a:uFillTx/>
              <a:latin typeface="Arial"/>
            </a:endParaRPr>
          </a:p>
        </p:txBody>
      </p:sp>
      <p:sp>
        <p:nvSpPr>
          <p:cNvPr id="5638" name="Shape 12"/>
          <p:cNvSpPr/>
          <p:nvPr/>
        </p:nvSpPr>
        <p:spPr>
          <a:xfrm>
            <a:off x="342756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639" name="Shape 13"/>
          <p:cNvSpPr/>
          <p:nvPr/>
        </p:nvSpPr>
        <p:spPr>
          <a:xfrm>
            <a:off x="342756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640" name="Text 14"/>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2027 H1</a:t>
            </a:r>
            <a:endParaRPr b="0" lang="en-US" sz="900" strike="noStrike" u="none">
              <a:solidFill>
                <a:srgbClr val="000000"/>
              </a:solidFill>
              <a:effectLst/>
              <a:uFillTx/>
              <a:latin typeface="Arial"/>
            </a:endParaRPr>
          </a:p>
        </p:txBody>
      </p:sp>
      <p:sp>
        <p:nvSpPr>
          <p:cNvPr id="5641" name="Text 15"/>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Advanced processing</a:t>
            </a:r>
            <a:endParaRPr b="0" lang="en-US" sz="1600" strike="noStrike" u="none">
              <a:solidFill>
                <a:srgbClr val="000000"/>
              </a:solidFill>
              <a:effectLst/>
              <a:uFillTx/>
              <a:latin typeface="Arial"/>
            </a:endParaRPr>
          </a:p>
        </p:txBody>
      </p:sp>
      <p:sp>
        <p:nvSpPr>
          <p:cNvPr id="5642" name="Text 16"/>
          <p:cNvSpPr/>
          <p:nvPr/>
        </p:nvSpPr>
        <p:spPr>
          <a:xfrm>
            <a:off x="362844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Advanced invoice processing with exception handling</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Rate and tariff modelling</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Cost and consumption reconciliation against interval data</a:t>
            </a:r>
            <a:endParaRPr b="0" lang="en-US" sz="1100" strike="noStrike" u="none">
              <a:solidFill>
                <a:srgbClr val="000000"/>
              </a:solidFill>
              <a:effectLst/>
              <a:uFillTx/>
              <a:latin typeface="Arial"/>
            </a:endParaRPr>
          </a:p>
        </p:txBody>
      </p:sp>
      <p:sp>
        <p:nvSpPr>
          <p:cNvPr id="5643" name="Shape 17"/>
          <p:cNvSpPr/>
          <p:nvPr/>
        </p:nvSpPr>
        <p:spPr>
          <a:xfrm>
            <a:off x="623304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644" name="Shape 18"/>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645" name="Text 19"/>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2027 H2</a:t>
            </a:r>
            <a:endParaRPr b="0" lang="en-US" sz="900" strike="noStrike" u="none">
              <a:solidFill>
                <a:srgbClr val="000000"/>
              </a:solidFill>
              <a:effectLst/>
              <a:uFillTx/>
              <a:latin typeface="Arial"/>
            </a:endParaRPr>
          </a:p>
        </p:txBody>
      </p:sp>
      <p:sp>
        <p:nvSpPr>
          <p:cNvPr id="5646" name="Text 20"/>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Explanation</a:t>
            </a:r>
            <a:endParaRPr b="0" lang="en-US" sz="1600" strike="noStrike" u="none">
              <a:solidFill>
                <a:srgbClr val="000000"/>
              </a:solidFill>
              <a:effectLst/>
              <a:uFillTx/>
              <a:latin typeface="Arial"/>
            </a:endParaRPr>
          </a:p>
        </p:txBody>
      </p:sp>
      <p:sp>
        <p:nvSpPr>
          <p:cNvPr id="5647" name="Text 21"/>
          <p:cNvSpPr/>
          <p:nvPr/>
        </p:nvSpPr>
        <p:spPr>
          <a:xfrm>
            <a:off x="643428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Variance explained: price, volume and weather effects separated</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Accrual and estimation for missing bills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Audit trail on every adjustment</a:t>
            </a:r>
            <a:endParaRPr b="0" lang="en-US" sz="1100" strike="noStrike" u="none">
              <a:solidFill>
                <a:srgbClr val="000000"/>
              </a:solidFill>
              <a:effectLst/>
              <a:uFillTx/>
              <a:latin typeface="Arial"/>
            </a:endParaRPr>
          </a:p>
        </p:txBody>
      </p:sp>
      <p:sp>
        <p:nvSpPr>
          <p:cNvPr id="5648" name="Shape 22"/>
          <p:cNvSpPr/>
          <p:nvPr/>
        </p:nvSpPr>
        <p:spPr>
          <a:xfrm>
            <a:off x="9038520" y="2084760"/>
            <a:ext cx="2530800" cy="341964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649" name="Shape 23"/>
          <p:cNvSpPr/>
          <p:nvPr/>
        </p:nvSpPr>
        <p:spPr>
          <a:xfrm>
            <a:off x="9038520" y="2084760"/>
            <a:ext cx="2530800" cy="72720"/>
          </a:xfrm>
          <a:prstGeom prst="rect">
            <a:avLst/>
          </a:prstGeom>
          <a:solidFill>
            <a:srgbClr val="275b7f"/>
          </a:solidFill>
          <a:ln w="12700">
            <a:solidFill>
              <a:srgbClr val="275b7f"/>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650" name="Text 24"/>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275b7f"/>
                </a:solidFill>
                <a:effectLst/>
                <a:uFillTx/>
                <a:latin typeface="Calibri"/>
                <a:ea typeface="Calibri"/>
              </a:rPr>
              <a:t>2028</a:t>
            </a:r>
            <a:endParaRPr b="0" lang="en-US" sz="900" strike="noStrike" u="none">
              <a:solidFill>
                <a:srgbClr val="000000"/>
              </a:solidFill>
              <a:effectLst/>
              <a:uFillTx/>
              <a:latin typeface="Arial"/>
            </a:endParaRPr>
          </a:p>
        </p:txBody>
      </p:sp>
      <p:sp>
        <p:nvSpPr>
          <p:cNvPr id="5651" name="Text 25"/>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Directional</a:t>
            </a:r>
            <a:endParaRPr b="0" lang="en-US" sz="1600" strike="noStrike" u="none">
              <a:solidFill>
                <a:srgbClr val="000000"/>
              </a:solidFill>
              <a:effectLst/>
              <a:uFillTx/>
              <a:latin typeface="Arial"/>
            </a:endParaRPr>
          </a:p>
        </p:txBody>
      </p:sp>
      <p:sp>
        <p:nvSpPr>
          <p:cNvPr id="5652" name="Text 26"/>
          <p:cNvSpPr/>
          <p:nvPr/>
        </p:nvSpPr>
        <p:spPr>
          <a:xfrm>
            <a:off x="9239760" y="3044880"/>
            <a:ext cx="2165040" cy="223992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Automated dispute and recovery workflows</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275b7f"/>
                </a:solidFill>
                <a:effectLst/>
                <a:uFillTx/>
                <a:latin typeface="Calibri"/>
                <a:ea typeface="Calibri"/>
              </a:rPr>
              <a:t>▪ </a:t>
            </a:r>
            <a:r>
              <a:rPr b="0" lang="en-US" sz="1100" strike="noStrike" u="none">
                <a:solidFill>
                  <a:srgbClr val="3a423c"/>
                </a:solidFill>
                <a:effectLst/>
                <a:uFillTx/>
                <a:latin typeface="Calibri"/>
                <a:ea typeface="Calibri"/>
              </a:rPr>
              <a:t>AI assisted anomaly detection on billing</a:t>
            </a:r>
            <a:endParaRPr b="0" lang="en-US" sz="1100" strike="noStrike" u="none">
              <a:solidFill>
                <a:srgbClr val="000000"/>
              </a:solidFill>
              <a:effectLst/>
              <a:uFillTx/>
              <a:latin typeface="Arial"/>
            </a:endParaRPr>
          </a:p>
        </p:txBody>
      </p:sp>
      <p:sp>
        <p:nvSpPr>
          <p:cNvPr id="5653" name="Shape 27"/>
          <p:cNvSpPr/>
          <p:nvPr/>
        </p:nvSpPr>
        <p:spPr>
          <a:xfrm>
            <a:off x="621720" y="5650920"/>
            <a:ext cx="10947600" cy="585000"/>
          </a:xfrm>
          <a:prstGeom prst="roundRect">
            <a:avLst>
              <a:gd name="adj" fmla="val 12500"/>
            </a:avLst>
          </a:prstGeom>
          <a:solidFill>
            <a:srgbClr val="effaf1"/>
          </a:solidFill>
          <a:ln w="12700">
            <a:solidFill>
              <a:srgbClr val="bce8c9"/>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654" name="Shape 28"/>
          <p:cNvSpPr/>
          <p:nvPr/>
        </p:nvSpPr>
        <p:spPr>
          <a:xfrm>
            <a:off x="676800" y="5760720"/>
            <a:ext cx="45360" cy="3654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655" name="Text 29"/>
          <p:cNvSpPr/>
          <p:nvPr/>
        </p:nvSpPr>
        <p:spPr>
          <a:xfrm>
            <a:off x="859680" y="5650920"/>
            <a:ext cx="10527120" cy="585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050" strike="noStrike" u="none">
                <a:solidFill>
                  <a:srgbClr val="3a423c"/>
                </a:solidFill>
                <a:effectLst/>
                <a:uFillTx/>
                <a:latin typeface="Calibri"/>
                <a:ea typeface="Calibri"/>
              </a:rPr>
              <a:t>Capability position: On parity. EnergyCAP is the category benchmark for bill accounting. We match it and connect bill data to the carbon inventory, which the specialists do not. Product page: /sustainability-products/utility-data-management. Roadmap gap matrix: /competitor-matrix.</a:t>
            </a:r>
            <a:endParaRPr b="0" lang="en-US" sz="1050" strike="noStrike" u="none">
              <a:solidFill>
                <a:srgbClr val="000000"/>
              </a:solidFill>
              <a:effectLst/>
              <a:uFillTx/>
              <a:latin typeface="Arial"/>
            </a:endParaRPr>
          </a:p>
        </p:txBody>
      </p:sp>
      <p:sp>
        <p:nvSpPr>
          <p:cNvPr id="5656" name="Shape 30"/>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657" name="Text 31"/>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5658" name="Text 32"/>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5659" name="PlaceHolder 1"/>
          <p:cNvSpPr>
            <a:spLocks noGrp="1"/>
          </p:cNvSpPr>
          <p:nvPr>
            <p:ph type="sldNum" idx="128"/>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FEFC5714-4A3C-4D5E-90B3-E00C7800916D}"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5730"/>
        </a:solidFill>
      </p:bgPr>
    </p:bg>
    <p:spTree>
      <p:nvGrpSpPr>
        <p:cNvPr id="1" name=""/>
        <p:cNvGrpSpPr/>
        <p:nvPr/>
      </p:nvGrpSpPr>
      <p:grpSpPr>
        <a:xfrm>
          <a:off x="0" y="0"/>
          <a:ext cx="0" cy="0"/>
          <a:chOff x="0" y="0"/>
          <a:chExt cx="0" cy="0"/>
        </a:xfrm>
      </p:grpSpPr>
      <p:sp>
        <p:nvSpPr>
          <p:cNvPr id="5660"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5661"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5662" name="Shape 2"/>
          <p:cNvSpPr/>
          <p:nvPr/>
        </p:nvSpPr>
        <p:spPr>
          <a:xfrm>
            <a:off x="8641080" y="822960"/>
            <a:ext cx="360" cy="5212080"/>
          </a:xfrm>
          <a:prstGeom prst="line">
            <a:avLst/>
          </a:prstGeom>
          <a:ln w="12700">
            <a:solidFill>
              <a:srgbClr val="2c8058"/>
            </a:solidFill>
            <a:round/>
          </a:ln>
        </p:spPr>
        <p:style>
          <a:lnRef idx="0"/>
          <a:fillRef idx="0"/>
          <a:effectRef idx="0"/>
          <a:fontRef idx="minor"/>
        </p:style>
        <p:txBody>
          <a:bodyPr lIns="90000" rIns="90000" tIns="45000" bIns="45000" anchor="t" anchorCtr="1">
            <a:noAutofit/>
          </a:bodyPr>
          <a:p>
            <a:endParaRPr b="0" lang="en-US" sz="1800" strike="noStrike" u="none">
              <a:solidFill>
                <a:srgbClr val="ffffff"/>
              </a:solidFill>
              <a:effectLst/>
              <a:uFillTx/>
              <a:latin typeface="Arial"/>
            </a:endParaRPr>
          </a:p>
        </p:txBody>
      </p:sp>
      <p:sp>
        <p:nvSpPr>
          <p:cNvPr id="5663" name="Text 3"/>
          <p:cNvSpPr/>
          <p:nvPr/>
        </p:nvSpPr>
        <p:spPr>
          <a:xfrm>
            <a:off x="9144000" y="841320"/>
            <a:ext cx="2194200" cy="22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81" strike="noStrike" u="none">
                <a:solidFill>
                  <a:srgbClr val="bfe6ce"/>
                </a:solidFill>
                <a:effectLst/>
                <a:uFillTx/>
                <a:latin typeface="Calibri"/>
                <a:ea typeface="Calibri"/>
              </a:rPr>
              <a:t>RA+ ROADMAP</a:t>
            </a:r>
            <a:endParaRPr b="0" lang="en-US" sz="900" strike="noStrike" u="none">
              <a:solidFill>
                <a:srgbClr val="ffffff"/>
              </a:solidFill>
              <a:effectLst/>
              <a:uFillTx/>
              <a:latin typeface="Arial"/>
            </a:endParaRPr>
          </a:p>
        </p:txBody>
      </p:sp>
      <p:sp>
        <p:nvSpPr>
          <p:cNvPr id="5664" name="Text 4"/>
          <p:cNvSpPr/>
          <p:nvPr/>
        </p:nvSpPr>
        <p:spPr>
          <a:xfrm>
            <a:off x="9144000" y="1325880"/>
            <a:ext cx="2194200" cy="146268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3600" strike="noStrike" u="none">
                <a:solidFill>
                  <a:srgbClr val="ffffff"/>
                </a:solidFill>
                <a:effectLst/>
                <a:uFillTx/>
                <a:latin typeface="Calibri"/>
                <a:ea typeface="Calibri"/>
              </a:rPr>
              <a:t>2026</a:t>
            </a:r>
            <a:endParaRPr b="0" lang="en-US" sz="3600" strike="noStrike" u="none">
              <a:solidFill>
                <a:srgbClr val="ffffff"/>
              </a:solidFill>
              <a:effectLst/>
              <a:uFillTx/>
              <a:latin typeface="Arial"/>
            </a:endParaRPr>
          </a:p>
          <a:p>
            <a:pPr defTabSz="914400">
              <a:lnSpc>
                <a:spcPct val="100000"/>
              </a:lnSpc>
              <a:tabLst>
                <a:tab algn="l" pos="0"/>
              </a:tabLst>
            </a:pPr>
            <a:r>
              <a:rPr b="1" lang="en-US" sz="3600" strike="noStrike" u="none">
                <a:solidFill>
                  <a:srgbClr val="ffffff"/>
                </a:solidFill>
                <a:effectLst/>
                <a:uFillTx/>
                <a:latin typeface="Calibri"/>
                <a:ea typeface="Calibri"/>
              </a:rPr>
              <a:t>2027</a:t>
            </a:r>
            <a:endParaRPr b="0" lang="en-US" sz="3600" strike="noStrike" u="none">
              <a:solidFill>
                <a:srgbClr val="ffffff"/>
              </a:solidFill>
              <a:effectLst/>
              <a:uFillTx/>
              <a:latin typeface="Arial"/>
            </a:endParaRPr>
          </a:p>
        </p:txBody>
      </p:sp>
      <p:sp>
        <p:nvSpPr>
          <p:cNvPr id="5665" name="Text 5"/>
          <p:cNvSpPr/>
          <p:nvPr/>
        </p:nvSpPr>
        <p:spPr>
          <a:xfrm>
            <a:off x="621720" y="960120"/>
            <a:ext cx="71319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100" spc="221" strike="noStrike" u="none">
                <a:solidFill>
                  <a:srgbClr val="bfe6ce"/>
                </a:solidFill>
                <a:effectLst/>
                <a:uFillTx/>
                <a:latin typeface="Calibri"/>
                <a:ea typeface="Calibri"/>
              </a:rPr>
              <a:t>AGENDA ITEM 6</a:t>
            </a:r>
            <a:endParaRPr b="0" lang="en-US" sz="1100" strike="noStrike" u="none">
              <a:solidFill>
                <a:srgbClr val="ffffff"/>
              </a:solidFill>
              <a:effectLst/>
              <a:uFillTx/>
              <a:latin typeface="Arial"/>
            </a:endParaRPr>
          </a:p>
        </p:txBody>
      </p:sp>
      <p:sp>
        <p:nvSpPr>
          <p:cNvPr id="5666" name="Text 6"/>
          <p:cNvSpPr/>
          <p:nvPr/>
        </p:nvSpPr>
        <p:spPr>
          <a:xfrm>
            <a:off x="621720" y="1508760"/>
            <a:ext cx="191988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5800" strike="noStrike" u="none">
                <a:solidFill>
                  <a:srgbClr val="3dcd58"/>
                </a:solidFill>
                <a:effectLst/>
                <a:uFillTx/>
                <a:latin typeface="Calibri"/>
                <a:ea typeface="Calibri"/>
              </a:rPr>
              <a:t>06</a:t>
            </a:r>
            <a:endParaRPr b="0" lang="en-US" sz="5800" strike="noStrike" u="none">
              <a:solidFill>
                <a:srgbClr val="ffffff"/>
              </a:solidFill>
              <a:effectLst/>
              <a:uFillTx/>
              <a:latin typeface="Arial"/>
            </a:endParaRPr>
          </a:p>
        </p:txBody>
      </p:sp>
      <p:sp>
        <p:nvSpPr>
          <p:cNvPr id="5667" name="Text 7"/>
          <p:cNvSpPr/>
          <p:nvPr/>
        </p:nvSpPr>
        <p:spPr>
          <a:xfrm>
            <a:off x="621720" y="2606040"/>
            <a:ext cx="7406280" cy="11426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ffffff"/>
                </a:solidFill>
                <a:effectLst/>
                <a:uFillTx/>
                <a:latin typeface="Calibri"/>
                <a:ea typeface="Calibri"/>
              </a:rPr>
              <a:t>Risks and decisions</a:t>
            </a:r>
            <a:endParaRPr b="0" lang="en-US" sz="3200" strike="noStrike" u="none">
              <a:solidFill>
                <a:srgbClr val="ffffff"/>
              </a:solidFill>
              <a:effectLst/>
              <a:uFillTx/>
              <a:latin typeface="Arial"/>
            </a:endParaRPr>
          </a:p>
        </p:txBody>
      </p:sp>
      <p:sp>
        <p:nvSpPr>
          <p:cNvPr id="5668" name="Text 8"/>
          <p:cNvSpPr/>
          <p:nvPr/>
        </p:nvSpPr>
        <p:spPr>
          <a:xfrm>
            <a:off x="621720" y="4005000"/>
            <a:ext cx="704052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400" strike="noStrike" u="none">
                <a:solidFill>
                  <a:srgbClr val="d6eadf"/>
                </a:solidFill>
                <a:effectLst/>
                <a:uFillTx/>
                <a:latin typeface="Calibri"/>
                <a:ea typeface="Calibri"/>
              </a:rPr>
              <a:t>What has to be true, and what we need from this room.</a:t>
            </a:r>
            <a:endParaRPr b="0" lang="en-US" sz="14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669"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5670"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5671" name="Shape 2"/>
          <p:cNvSpPr/>
          <p:nvPr/>
        </p:nvSpPr>
        <p:spPr>
          <a:xfrm>
            <a:off x="621720" y="311040"/>
            <a:ext cx="92304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672" name="Text 3"/>
          <p:cNvSpPr/>
          <p:nvPr/>
        </p:nvSpPr>
        <p:spPr>
          <a:xfrm>
            <a:off x="804600" y="329040"/>
            <a:ext cx="59400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RISK</a:t>
            </a:r>
            <a:endParaRPr b="0" lang="en-US" sz="950" strike="noStrike" u="none">
              <a:solidFill>
                <a:srgbClr val="000000"/>
              </a:solidFill>
              <a:effectLst/>
              <a:uFillTx/>
              <a:latin typeface="Arial"/>
            </a:endParaRPr>
          </a:p>
        </p:txBody>
      </p:sp>
      <p:sp>
        <p:nvSpPr>
          <p:cNvPr id="5673"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The four things that could break this plan</a:t>
            </a:r>
            <a:endParaRPr b="0" lang="en-US" sz="3200" strike="noStrike" u="none">
              <a:solidFill>
                <a:srgbClr val="000000"/>
              </a:solidFill>
              <a:effectLst/>
              <a:uFillTx/>
              <a:latin typeface="Arial"/>
            </a:endParaRPr>
          </a:p>
        </p:txBody>
      </p:sp>
      <p:sp>
        <p:nvSpPr>
          <p:cNvPr id="5674"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Each risk carries an owner and a mitigation already in motion.</a:t>
            </a:r>
            <a:endParaRPr b="0" lang="en-US" sz="1250" strike="noStrike" u="none">
              <a:solidFill>
                <a:srgbClr val="000000"/>
              </a:solidFill>
              <a:effectLst/>
              <a:uFillTx/>
              <a:latin typeface="Arial"/>
            </a:endParaRPr>
          </a:p>
        </p:txBody>
      </p:sp>
      <p:sp>
        <p:nvSpPr>
          <p:cNvPr id="5675"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676" name="Shape 7"/>
          <p:cNvSpPr/>
          <p:nvPr/>
        </p:nvSpPr>
        <p:spPr>
          <a:xfrm>
            <a:off x="6217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677" name="Shape 8"/>
          <p:cNvSpPr/>
          <p:nvPr/>
        </p:nvSpPr>
        <p:spPr>
          <a:xfrm>
            <a:off x="62172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678"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RISK 01</a:t>
            </a:r>
            <a:endParaRPr b="0" lang="en-US" sz="900" strike="noStrike" u="none">
              <a:solidFill>
                <a:srgbClr val="000000"/>
              </a:solidFill>
              <a:effectLst/>
              <a:uFillTx/>
              <a:latin typeface="Arial"/>
            </a:endParaRPr>
          </a:p>
        </p:txBody>
      </p:sp>
      <p:sp>
        <p:nvSpPr>
          <p:cNvPr id="5679"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Capacity overrun</a:t>
            </a:r>
            <a:endParaRPr b="0" lang="en-US" sz="1600" strike="noStrike" u="none">
              <a:solidFill>
                <a:srgbClr val="000000"/>
              </a:solidFill>
              <a:effectLst/>
              <a:uFillTx/>
              <a:latin typeface="Arial"/>
            </a:endParaRPr>
          </a:p>
        </p:txBody>
      </p:sp>
      <p:sp>
        <p:nvSpPr>
          <p:cNvPr id="5680" name="Text 11"/>
          <p:cNvSpPr/>
          <p:nvPr/>
        </p:nvSpPr>
        <p:spPr>
          <a:xfrm>
            <a:off x="804600" y="3044880"/>
            <a:ext cx="2165040" cy="639720"/>
          </a:xfrm>
          <a:prstGeom prst="rect">
            <a:avLst/>
          </a:prstGeom>
          <a:noFill/>
          <a:ln w="0">
            <a:noFill/>
          </a:ln>
        </p:spPr>
        <p:style>
          <a:lnRef idx="0"/>
          <a:fillRef idx="0"/>
          <a:effectRef idx="0"/>
          <a:fontRef idx="minor"/>
        </p:style>
        <p:txBody>
          <a:bodyPr lIns="0" rIns="0" tIns="0" bIns="0" anchor="t">
            <a:normAutofit lnSpcReduction="9999"/>
          </a:bodyPr>
          <a:p>
            <a:pPr defTabSz="914400">
              <a:lnSpc>
                <a:spcPct val="100000"/>
              </a:lnSpc>
              <a:tabLst>
                <a:tab algn="l" pos="0"/>
              </a:tabLst>
            </a:pPr>
            <a:r>
              <a:rPr b="0" lang="en-US" sz="1100" strike="noStrike" u="none">
                <a:solidFill>
                  <a:srgbClr val="5a625c"/>
                </a:solidFill>
                <a:effectLst/>
                <a:uFillTx/>
                <a:latin typeface="Calibri"/>
                <a:ea typeface="Calibri"/>
              </a:rPr>
              <a:t>127 Q4 slots against roughly 45 of capacity. Without a cut, everything slips a little and nothing lands.</a:t>
            </a:r>
            <a:endParaRPr b="0" lang="en-US" sz="1100" strike="noStrike" u="none">
              <a:solidFill>
                <a:srgbClr val="000000"/>
              </a:solidFill>
              <a:effectLst/>
              <a:uFillTx/>
              <a:latin typeface="Arial"/>
            </a:endParaRPr>
          </a:p>
        </p:txBody>
      </p:sp>
      <p:sp>
        <p:nvSpPr>
          <p:cNvPr id="5681" name="Text 12"/>
          <p:cNvSpPr/>
          <p:nvPr/>
        </p:nvSpPr>
        <p:spPr>
          <a:xfrm>
            <a:off x="82296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Mitigation: hold the ranked cut line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Owner: CP product leadership</a:t>
            </a:r>
            <a:endParaRPr b="0" lang="en-US" sz="1100" strike="noStrike" u="none">
              <a:solidFill>
                <a:srgbClr val="000000"/>
              </a:solidFill>
              <a:effectLst/>
              <a:uFillTx/>
              <a:latin typeface="Arial"/>
            </a:endParaRPr>
          </a:p>
        </p:txBody>
      </p:sp>
      <p:sp>
        <p:nvSpPr>
          <p:cNvPr id="5682" name="Shape 13"/>
          <p:cNvSpPr/>
          <p:nvPr/>
        </p:nvSpPr>
        <p:spPr>
          <a:xfrm>
            <a:off x="342756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683" name="Shape 14"/>
          <p:cNvSpPr/>
          <p:nvPr/>
        </p:nvSpPr>
        <p:spPr>
          <a:xfrm>
            <a:off x="342756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684" name="Text 15"/>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RISK 02</a:t>
            </a:r>
            <a:endParaRPr b="0" lang="en-US" sz="900" strike="noStrike" u="none">
              <a:solidFill>
                <a:srgbClr val="000000"/>
              </a:solidFill>
              <a:effectLst/>
              <a:uFillTx/>
              <a:latin typeface="Arial"/>
            </a:endParaRPr>
          </a:p>
        </p:txBody>
      </p:sp>
      <p:sp>
        <p:nvSpPr>
          <p:cNvPr id="5685" name="Text 16"/>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Unranked demand</a:t>
            </a:r>
            <a:endParaRPr b="0" lang="en-US" sz="1600" strike="noStrike" u="none">
              <a:solidFill>
                <a:srgbClr val="000000"/>
              </a:solidFill>
              <a:effectLst/>
              <a:uFillTx/>
              <a:latin typeface="Arial"/>
            </a:endParaRPr>
          </a:p>
        </p:txBody>
      </p:sp>
      <p:sp>
        <p:nvSpPr>
          <p:cNvPr id="5686" name="Text 17"/>
          <p:cNvSpPr/>
          <p:nvPr/>
        </p:nvSpPr>
        <p:spPr>
          <a:xfrm>
            <a:off x="3610440" y="3044880"/>
            <a:ext cx="2165040" cy="639720"/>
          </a:xfrm>
          <a:prstGeom prst="rect">
            <a:avLst/>
          </a:prstGeom>
          <a:noFill/>
          <a:ln w="0">
            <a:noFill/>
          </a:ln>
        </p:spPr>
        <p:style>
          <a:lnRef idx="0"/>
          <a:fillRef idx="0"/>
          <a:effectRef idx="0"/>
          <a:fontRef idx="minor"/>
        </p:style>
        <p:txBody>
          <a:bodyPr lIns="0" rIns="0" tIns="0" bIns="0" anchor="t">
            <a:normAutofit lnSpcReduction="9999"/>
          </a:bodyPr>
          <a:p>
            <a:pPr defTabSz="914400">
              <a:lnSpc>
                <a:spcPct val="100000"/>
              </a:lnSpc>
              <a:tabLst>
                <a:tab algn="l" pos="0"/>
              </a:tabLst>
            </a:pPr>
            <a:r>
              <a:rPr b="0" lang="en-US" sz="1100" strike="noStrike" u="none">
                <a:solidFill>
                  <a:srgbClr val="5a625c"/>
                </a:solidFill>
                <a:effectLst/>
                <a:uFillTx/>
                <a:latin typeface="Calibri"/>
                <a:ea typeface="Calibri"/>
              </a:rPr>
              <a:t>11 themes hold 27 Q4 solutions with no JPD rank, so they cannot be sequenced against everything else.</a:t>
            </a:r>
            <a:endParaRPr b="0" lang="en-US" sz="1100" strike="noStrike" u="none">
              <a:solidFill>
                <a:srgbClr val="000000"/>
              </a:solidFill>
              <a:effectLst/>
              <a:uFillTx/>
              <a:latin typeface="Arial"/>
            </a:endParaRPr>
          </a:p>
        </p:txBody>
      </p:sp>
      <p:sp>
        <p:nvSpPr>
          <p:cNvPr id="5687" name="Text 18"/>
          <p:cNvSpPr/>
          <p:nvPr/>
        </p:nvSpPr>
        <p:spPr>
          <a:xfrm>
            <a:off x="362844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Mitigation: rank all CP themes before Q4 lock</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Owner: CP product leadership</a:t>
            </a:r>
            <a:endParaRPr b="0" lang="en-US" sz="1100" strike="noStrike" u="none">
              <a:solidFill>
                <a:srgbClr val="000000"/>
              </a:solidFill>
              <a:effectLst/>
              <a:uFillTx/>
              <a:latin typeface="Arial"/>
            </a:endParaRPr>
          </a:p>
        </p:txBody>
      </p:sp>
      <p:sp>
        <p:nvSpPr>
          <p:cNvPr id="5688" name="Shape 19"/>
          <p:cNvSpPr/>
          <p:nvPr/>
        </p:nvSpPr>
        <p:spPr>
          <a:xfrm>
            <a:off x="623304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689" name="Shape 20"/>
          <p:cNvSpPr/>
          <p:nvPr/>
        </p:nvSpPr>
        <p:spPr>
          <a:xfrm>
            <a:off x="623304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690" name="Text 21"/>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RISK 03</a:t>
            </a:r>
            <a:endParaRPr b="0" lang="en-US" sz="900" strike="noStrike" u="none">
              <a:solidFill>
                <a:srgbClr val="000000"/>
              </a:solidFill>
              <a:effectLst/>
              <a:uFillTx/>
              <a:latin typeface="Arial"/>
            </a:endParaRPr>
          </a:p>
        </p:txBody>
      </p:sp>
      <p:sp>
        <p:nvSpPr>
          <p:cNvPr id="5691" name="Text 22"/>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Platform dependencies</a:t>
            </a:r>
            <a:endParaRPr b="0" lang="en-US" sz="1600" strike="noStrike" u="none">
              <a:solidFill>
                <a:srgbClr val="000000"/>
              </a:solidFill>
              <a:effectLst/>
              <a:uFillTx/>
              <a:latin typeface="Arial"/>
            </a:endParaRPr>
          </a:p>
        </p:txBody>
      </p:sp>
      <p:sp>
        <p:nvSpPr>
          <p:cNvPr id="5692" name="Text 23"/>
          <p:cNvSpPr/>
          <p:nvPr/>
        </p:nvSpPr>
        <p:spPr>
          <a:xfrm>
            <a:off x="641592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Ingestion, data quality and emission factor datasets sit outside CP delivery control.</a:t>
            </a:r>
            <a:endParaRPr b="0" lang="en-US" sz="1100" strike="noStrike" u="none">
              <a:solidFill>
                <a:srgbClr val="000000"/>
              </a:solidFill>
              <a:effectLst/>
              <a:uFillTx/>
              <a:latin typeface="Arial"/>
            </a:endParaRPr>
          </a:p>
        </p:txBody>
      </p:sp>
      <p:sp>
        <p:nvSpPr>
          <p:cNvPr id="5693" name="Text 24"/>
          <p:cNvSpPr/>
          <p:nvPr/>
        </p:nvSpPr>
        <p:spPr>
          <a:xfrm>
            <a:off x="643428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Mitigation: confirmed commitments per platform team</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Owner: platform PMs</a:t>
            </a:r>
            <a:endParaRPr b="0" lang="en-US" sz="1100" strike="noStrike" u="none">
              <a:solidFill>
                <a:srgbClr val="000000"/>
              </a:solidFill>
              <a:effectLst/>
              <a:uFillTx/>
              <a:latin typeface="Arial"/>
            </a:endParaRPr>
          </a:p>
        </p:txBody>
      </p:sp>
      <p:sp>
        <p:nvSpPr>
          <p:cNvPr id="5694" name="Shape 25"/>
          <p:cNvSpPr/>
          <p:nvPr/>
        </p:nvSpPr>
        <p:spPr>
          <a:xfrm>
            <a:off x="90385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695" name="Shape 26"/>
          <p:cNvSpPr/>
          <p:nvPr/>
        </p:nvSpPr>
        <p:spPr>
          <a:xfrm>
            <a:off x="9038520" y="2084760"/>
            <a:ext cx="2530800" cy="72720"/>
          </a:xfrm>
          <a:prstGeom prst="rect">
            <a:avLst/>
          </a:prstGeom>
          <a:solidFill>
            <a:srgbClr val="ffb04c"/>
          </a:solidFill>
          <a:ln w="12700">
            <a:solidFill>
              <a:srgbClr val="ffb04c"/>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696" name="Text 27"/>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ffb04c"/>
                </a:solidFill>
                <a:effectLst/>
                <a:uFillTx/>
                <a:latin typeface="Calibri"/>
                <a:ea typeface="Calibri"/>
              </a:rPr>
              <a:t>RISK 04</a:t>
            </a:r>
            <a:endParaRPr b="0" lang="en-US" sz="900" strike="noStrike" u="none">
              <a:solidFill>
                <a:srgbClr val="000000"/>
              </a:solidFill>
              <a:effectLst/>
              <a:uFillTx/>
              <a:latin typeface="Arial"/>
            </a:endParaRPr>
          </a:p>
        </p:txBody>
      </p:sp>
      <p:sp>
        <p:nvSpPr>
          <p:cNvPr id="5697" name="Text 28"/>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Hypercare drag</a:t>
            </a:r>
            <a:endParaRPr b="0" lang="en-US" sz="1600" strike="noStrike" u="none">
              <a:solidFill>
                <a:srgbClr val="000000"/>
              </a:solidFill>
              <a:effectLst/>
              <a:uFillTx/>
              <a:latin typeface="Arial"/>
            </a:endParaRPr>
          </a:p>
        </p:txBody>
      </p:sp>
      <p:sp>
        <p:nvSpPr>
          <p:cNvPr id="5698" name="Text 29"/>
          <p:cNvSpPr/>
          <p:nvPr/>
        </p:nvSpPr>
        <p:spPr>
          <a:xfrm>
            <a:off x="9221400" y="3044880"/>
            <a:ext cx="2165040" cy="639720"/>
          </a:xfrm>
          <a:prstGeom prst="rect">
            <a:avLst/>
          </a:prstGeom>
          <a:noFill/>
          <a:ln w="0">
            <a:noFill/>
          </a:ln>
        </p:spPr>
        <p:style>
          <a:lnRef idx="0"/>
          <a:fillRef idx="0"/>
          <a:effectRef idx="0"/>
          <a:fontRef idx="minor"/>
        </p:style>
        <p:txBody>
          <a:bodyPr lIns="0" rIns="0" tIns="0" bIns="0" anchor="t">
            <a:normAutofit lnSpcReduction="9999"/>
          </a:bodyPr>
          <a:p>
            <a:pPr defTabSz="914400">
              <a:lnSpc>
                <a:spcPct val="100000"/>
              </a:lnSpc>
              <a:tabLst>
                <a:tab algn="l" pos="0"/>
              </a:tabLst>
            </a:pPr>
            <a:r>
              <a:rPr b="0" lang="en-US" sz="1100" strike="noStrike" u="none">
                <a:solidFill>
                  <a:srgbClr val="5a625c"/>
                </a:solidFill>
                <a:effectLst/>
                <a:uFillTx/>
                <a:latin typeface="Calibri"/>
                <a:ea typeface="Calibri"/>
              </a:rPr>
              <a:t>Every methodology gap left open pulls delivery engineers into client escalations instead of roadmap work.</a:t>
            </a:r>
            <a:endParaRPr b="0" lang="en-US" sz="1100" strike="noStrike" u="none">
              <a:solidFill>
                <a:srgbClr val="000000"/>
              </a:solidFill>
              <a:effectLst/>
              <a:uFillTx/>
              <a:latin typeface="Arial"/>
            </a:endParaRPr>
          </a:p>
        </p:txBody>
      </p:sp>
      <p:sp>
        <p:nvSpPr>
          <p:cNvPr id="5699" name="Text 30"/>
          <p:cNvSpPr/>
          <p:nvPr/>
        </p:nvSpPr>
        <p:spPr>
          <a:xfrm>
            <a:off x="923976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Mitigation: the Q4 emission factor wedge</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ffb04c"/>
                </a:solidFill>
                <a:effectLst/>
                <a:uFillTx/>
                <a:latin typeface="Calibri"/>
                <a:ea typeface="Calibri"/>
              </a:rPr>
              <a:t>▪ </a:t>
            </a:r>
            <a:r>
              <a:rPr b="0" lang="en-US" sz="1100" strike="noStrike" u="none">
                <a:solidFill>
                  <a:srgbClr val="3a423c"/>
                </a:solidFill>
                <a:effectLst/>
                <a:uFillTx/>
                <a:latin typeface="Calibri"/>
                <a:ea typeface="Calibri"/>
              </a:rPr>
              <a:t>Owner: CP engineering and delivery</a:t>
            </a:r>
            <a:endParaRPr b="0" lang="en-US" sz="1100" strike="noStrike" u="none">
              <a:solidFill>
                <a:srgbClr val="000000"/>
              </a:solidFill>
              <a:effectLst/>
              <a:uFillTx/>
              <a:latin typeface="Arial"/>
            </a:endParaRPr>
          </a:p>
        </p:txBody>
      </p:sp>
      <p:sp>
        <p:nvSpPr>
          <p:cNvPr id="5700" name="Shape 31"/>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701" name="Text 32"/>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5702" name="Text 33"/>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5703" name="PlaceHolder 1"/>
          <p:cNvSpPr>
            <a:spLocks noGrp="1"/>
          </p:cNvSpPr>
          <p:nvPr>
            <p:ph type="sldNum" idx="129"/>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8A7ACA7F-781D-45ED-8F0A-E1A44946ECDF}"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704"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5705"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5706" name="Shape 2"/>
          <p:cNvSpPr/>
          <p:nvPr/>
        </p:nvSpPr>
        <p:spPr>
          <a:xfrm>
            <a:off x="621720" y="311040"/>
            <a:ext cx="165924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707" name="Text 3"/>
          <p:cNvSpPr/>
          <p:nvPr/>
        </p:nvSpPr>
        <p:spPr>
          <a:xfrm>
            <a:off x="804600" y="329040"/>
            <a:ext cx="133020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ASSUMPTIONS</a:t>
            </a:r>
            <a:endParaRPr b="0" lang="en-US" sz="950" strike="noStrike" u="none">
              <a:solidFill>
                <a:srgbClr val="000000"/>
              </a:solidFill>
              <a:effectLst/>
              <a:uFillTx/>
              <a:latin typeface="Arial"/>
            </a:endParaRPr>
          </a:p>
        </p:txBody>
      </p:sp>
      <p:sp>
        <p:nvSpPr>
          <p:cNvPr id="5708"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What has to be true</a:t>
            </a:r>
            <a:endParaRPr b="0" lang="en-US" sz="3200" strike="noStrike" u="none">
              <a:solidFill>
                <a:srgbClr val="000000"/>
              </a:solidFill>
              <a:effectLst/>
              <a:uFillTx/>
              <a:latin typeface="Arial"/>
            </a:endParaRPr>
          </a:p>
        </p:txBody>
      </p:sp>
      <p:sp>
        <p:nvSpPr>
          <p:cNvPr id="5709"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The plan holds only if these four conditions hold.</a:t>
            </a:r>
            <a:endParaRPr b="0" lang="en-US" sz="1250" strike="noStrike" u="none">
              <a:solidFill>
                <a:srgbClr val="000000"/>
              </a:solidFill>
              <a:effectLst/>
              <a:uFillTx/>
              <a:latin typeface="Arial"/>
            </a:endParaRPr>
          </a:p>
        </p:txBody>
      </p:sp>
      <p:sp>
        <p:nvSpPr>
          <p:cNvPr id="5710"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711" name="Shape 7"/>
          <p:cNvSpPr/>
          <p:nvPr/>
        </p:nvSpPr>
        <p:spPr>
          <a:xfrm>
            <a:off x="6217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712" name="Shape 8"/>
          <p:cNvSpPr/>
          <p:nvPr/>
        </p:nvSpPr>
        <p:spPr>
          <a:xfrm>
            <a:off x="62172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713" name="Text 9"/>
          <p:cNvSpPr/>
          <p:nvPr/>
        </p:nvSpPr>
        <p:spPr>
          <a:xfrm>
            <a:off x="8229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CONDITION 01</a:t>
            </a:r>
            <a:endParaRPr b="0" lang="en-US" sz="900" strike="noStrike" u="none">
              <a:solidFill>
                <a:srgbClr val="000000"/>
              </a:solidFill>
              <a:effectLst/>
              <a:uFillTx/>
              <a:latin typeface="Arial"/>
            </a:endParaRPr>
          </a:p>
        </p:txBody>
      </p:sp>
      <p:sp>
        <p:nvSpPr>
          <p:cNvPr id="5714" name="Text 10"/>
          <p:cNvSpPr/>
          <p:nvPr/>
        </p:nvSpPr>
        <p:spPr>
          <a:xfrm>
            <a:off x="8229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Core capacity is protected</a:t>
            </a:r>
            <a:endParaRPr b="0" lang="en-US" sz="1600" strike="noStrike" u="none">
              <a:solidFill>
                <a:srgbClr val="000000"/>
              </a:solidFill>
              <a:effectLst/>
              <a:uFillTx/>
              <a:latin typeface="Arial"/>
            </a:endParaRPr>
          </a:p>
        </p:txBody>
      </p:sp>
      <p:sp>
        <p:nvSpPr>
          <p:cNvPr id="5715" name="Text 11"/>
          <p:cNvSpPr/>
          <p:nvPr/>
        </p:nvSpPr>
        <p:spPr>
          <a:xfrm>
            <a:off x="80460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Roughly one third of capacity stays with Core Platform through 2027.</a:t>
            </a:r>
            <a:endParaRPr b="0" lang="en-US" sz="1100" strike="noStrike" u="none">
              <a:solidFill>
                <a:srgbClr val="000000"/>
              </a:solidFill>
              <a:effectLst/>
              <a:uFillTx/>
              <a:latin typeface="Arial"/>
            </a:endParaRPr>
          </a:p>
        </p:txBody>
      </p:sp>
      <p:sp>
        <p:nvSpPr>
          <p:cNvPr id="5716" name="Text 12"/>
          <p:cNvSpPr/>
          <p:nvPr/>
        </p:nvSpPr>
        <p:spPr>
          <a:xfrm>
            <a:off x="82296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Signal: core commitments delivered on plan</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Owner: platform leadership</a:t>
            </a:r>
            <a:endParaRPr b="0" lang="en-US" sz="1100" strike="noStrike" u="none">
              <a:solidFill>
                <a:srgbClr val="000000"/>
              </a:solidFill>
              <a:effectLst/>
              <a:uFillTx/>
              <a:latin typeface="Arial"/>
            </a:endParaRPr>
          </a:p>
        </p:txBody>
      </p:sp>
      <p:sp>
        <p:nvSpPr>
          <p:cNvPr id="5717" name="Shape 13"/>
          <p:cNvSpPr/>
          <p:nvPr/>
        </p:nvSpPr>
        <p:spPr>
          <a:xfrm>
            <a:off x="342756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718" name="Shape 14"/>
          <p:cNvSpPr/>
          <p:nvPr/>
        </p:nvSpPr>
        <p:spPr>
          <a:xfrm>
            <a:off x="3427560" y="2084760"/>
            <a:ext cx="2530800" cy="72720"/>
          </a:xfrm>
          <a:prstGeom prst="rect">
            <a:avLst/>
          </a:prstGeom>
          <a:solidFill>
            <a:srgbClr val="3dcd58"/>
          </a:solidFill>
          <a:ln w="12700">
            <a:solidFill>
              <a:srgbClr val="3dcd58"/>
            </a:solidFill>
            <a:round/>
          </a:ln>
        </p:spPr>
        <p:style>
          <a:lnRef idx="0"/>
          <a:fillRef idx="0"/>
          <a:effectRef idx="0"/>
          <a:fontRef idx="minor"/>
        </p:style>
        <p:txBody>
          <a:bodyPr lIns="90000" rIns="90000" tIns="28080" bIns="28080" anchor="t">
            <a:noAutofit/>
          </a:bodyPr>
          <a:p>
            <a:endParaRPr b="0" lang="en-US" sz="1800" strike="noStrike" u="none">
              <a:solidFill>
                <a:srgbClr val="000000"/>
              </a:solidFill>
              <a:effectLst/>
              <a:uFillTx/>
              <a:latin typeface="Arial"/>
            </a:endParaRPr>
          </a:p>
        </p:txBody>
      </p:sp>
      <p:sp>
        <p:nvSpPr>
          <p:cNvPr id="5719" name="Text 15"/>
          <p:cNvSpPr/>
          <p:nvPr/>
        </p:nvSpPr>
        <p:spPr>
          <a:xfrm>
            <a:off x="362844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3dcd58"/>
                </a:solidFill>
                <a:effectLst/>
                <a:uFillTx/>
                <a:latin typeface="Calibri"/>
                <a:ea typeface="Calibri"/>
              </a:rPr>
              <a:t>CONDITION 02</a:t>
            </a:r>
            <a:endParaRPr b="0" lang="en-US" sz="900" strike="noStrike" u="none">
              <a:solidFill>
                <a:srgbClr val="000000"/>
              </a:solidFill>
              <a:effectLst/>
              <a:uFillTx/>
              <a:latin typeface="Arial"/>
            </a:endParaRPr>
          </a:p>
        </p:txBody>
      </p:sp>
      <p:sp>
        <p:nvSpPr>
          <p:cNvPr id="5720" name="Text 16"/>
          <p:cNvSpPr/>
          <p:nvPr/>
        </p:nvSpPr>
        <p:spPr>
          <a:xfrm>
            <a:off x="362844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Migration lands on time</a:t>
            </a:r>
            <a:endParaRPr b="0" lang="en-US" sz="1600" strike="noStrike" u="none">
              <a:solidFill>
                <a:srgbClr val="000000"/>
              </a:solidFill>
              <a:effectLst/>
              <a:uFillTx/>
              <a:latin typeface="Arial"/>
            </a:endParaRPr>
          </a:p>
        </p:txBody>
      </p:sp>
      <p:sp>
        <p:nvSpPr>
          <p:cNvPr id="5721" name="Text 17"/>
          <p:cNvSpPr/>
          <p:nvPr/>
        </p:nvSpPr>
        <p:spPr>
          <a:xfrm>
            <a:off x="361044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The Schneider Electric migration and CSRD cycle completes in Q1 2027.</a:t>
            </a:r>
            <a:endParaRPr b="0" lang="en-US" sz="1100" strike="noStrike" u="none">
              <a:solidFill>
                <a:srgbClr val="000000"/>
              </a:solidFill>
              <a:effectLst/>
              <a:uFillTx/>
              <a:latin typeface="Arial"/>
            </a:endParaRPr>
          </a:p>
        </p:txBody>
      </p:sp>
      <p:sp>
        <p:nvSpPr>
          <p:cNvPr id="5722" name="Text 18"/>
          <p:cNvSpPr/>
          <p:nvPr/>
        </p:nvSpPr>
        <p:spPr>
          <a:xfrm>
            <a:off x="362844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Signal: cycle delivered with no reporting gap</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Owner: delivery and R&amp;C</a:t>
            </a:r>
            <a:endParaRPr b="0" lang="en-US" sz="1100" strike="noStrike" u="none">
              <a:solidFill>
                <a:srgbClr val="000000"/>
              </a:solidFill>
              <a:effectLst/>
              <a:uFillTx/>
              <a:latin typeface="Arial"/>
            </a:endParaRPr>
          </a:p>
        </p:txBody>
      </p:sp>
      <p:sp>
        <p:nvSpPr>
          <p:cNvPr id="5723" name="Shape 19"/>
          <p:cNvSpPr/>
          <p:nvPr/>
        </p:nvSpPr>
        <p:spPr>
          <a:xfrm>
            <a:off x="623304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724" name="Shape 20"/>
          <p:cNvSpPr/>
          <p:nvPr/>
        </p:nvSpPr>
        <p:spPr>
          <a:xfrm>
            <a:off x="623304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725" name="Text 21"/>
          <p:cNvSpPr/>
          <p:nvPr/>
        </p:nvSpPr>
        <p:spPr>
          <a:xfrm>
            <a:off x="643428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CONDITION 03</a:t>
            </a:r>
            <a:endParaRPr b="0" lang="en-US" sz="900" strike="noStrike" u="none">
              <a:solidFill>
                <a:srgbClr val="000000"/>
              </a:solidFill>
              <a:effectLst/>
              <a:uFillTx/>
              <a:latin typeface="Arial"/>
            </a:endParaRPr>
          </a:p>
        </p:txBody>
      </p:sp>
      <p:sp>
        <p:nvSpPr>
          <p:cNvPr id="5726" name="Text 22"/>
          <p:cNvSpPr/>
          <p:nvPr/>
        </p:nvSpPr>
        <p:spPr>
          <a:xfrm>
            <a:off x="643428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400" strike="noStrike" u="none">
                <a:solidFill>
                  <a:srgbClr val="1e2420"/>
                </a:solidFill>
                <a:effectLst/>
                <a:uFillTx/>
                <a:latin typeface="Calibri"/>
                <a:ea typeface="Calibri"/>
              </a:rPr>
              <a:t>Data quality reaches threshold</a:t>
            </a:r>
            <a:endParaRPr b="0" lang="en-US" sz="1400" strike="noStrike" u="none">
              <a:solidFill>
                <a:srgbClr val="000000"/>
              </a:solidFill>
              <a:effectLst/>
              <a:uFillTx/>
              <a:latin typeface="Arial"/>
            </a:endParaRPr>
          </a:p>
        </p:txBody>
      </p:sp>
      <p:sp>
        <p:nvSpPr>
          <p:cNvPr id="5727" name="Text 23"/>
          <p:cNvSpPr/>
          <p:nvPr/>
        </p:nvSpPr>
        <p:spPr>
          <a:xfrm>
            <a:off x="641592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Trusted inventory and lineage come before scaled AI and automation.</a:t>
            </a:r>
            <a:endParaRPr b="0" lang="en-US" sz="1100" strike="noStrike" u="none">
              <a:solidFill>
                <a:srgbClr val="000000"/>
              </a:solidFill>
              <a:effectLst/>
              <a:uFillTx/>
              <a:latin typeface="Arial"/>
            </a:endParaRPr>
          </a:p>
        </p:txBody>
      </p:sp>
      <p:sp>
        <p:nvSpPr>
          <p:cNvPr id="5728" name="Text 24"/>
          <p:cNvSpPr/>
          <p:nvPr/>
        </p:nvSpPr>
        <p:spPr>
          <a:xfrm>
            <a:off x="643428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Signal: agreed quality thresholds met</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Owner: Core Platform</a:t>
            </a:r>
            <a:endParaRPr b="0" lang="en-US" sz="1100" strike="noStrike" u="none">
              <a:solidFill>
                <a:srgbClr val="000000"/>
              </a:solidFill>
              <a:effectLst/>
              <a:uFillTx/>
              <a:latin typeface="Arial"/>
            </a:endParaRPr>
          </a:p>
        </p:txBody>
      </p:sp>
      <p:sp>
        <p:nvSpPr>
          <p:cNvPr id="5729" name="Shape 25"/>
          <p:cNvSpPr/>
          <p:nvPr/>
        </p:nvSpPr>
        <p:spPr>
          <a:xfrm>
            <a:off x="9038520" y="2084760"/>
            <a:ext cx="2530800" cy="4178520"/>
          </a:xfrm>
          <a:prstGeom prst="roundRect">
            <a:avLst>
              <a:gd name="adj" fmla="val 2167"/>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730" name="Shape 26"/>
          <p:cNvSpPr/>
          <p:nvPr/>
        </p:nvSpPr>
        <p:spPr>
          <a:xfrm>
            <a:off x="9038520" y="2084760"/>
            <a:ext cx="2530800" cy="72720"/>
          </a:xfrm>
          <a:prstGeom prst="rect">
            <a:avLst/>
          </a:prstGeom>
          <a:solidFill>
            <a:srgbClr val="007a27"/>
          </a:solidFill>
          <a:ln w="12700">
            <a:solidFill>
              <a:srgbClr val="007a27"/>
            </a:solidFill>
            <a:round/>
          </a:ln>
        </p:spPr>
        <p:style>
          <a:lnRef idx="0"/>
          <a:fillRef idx="0"/>
          <a:effectRef idx="0"/>
          <a:fontRef idx="minor"/>
        </p:style>
        <p:txBody>
          <a:bodyPr lIns="90000" rIns="90000" tIns="28080" bIns="28080" anchor="t">
            <a:noAutofit/>
          </a:bodyPr>
          <a:p>
            <a:endParaRPr b="0" lang="en-US" sz="1800" strike="noStrike" u="none">
              <a:solidFill>
                <a:srgbClr val="ffffff"/>
              </a:solidFill>
              <a:effectLst/>
              <a:uFillTx/>
              <a:latin typeface="Arial"/>
            </a:endParaRPr>
          </a:p>
        </p:txBody>
      </p:sp>
      <p:sp>
        <p:nvSpPr>
          <p:cNvPr id="5731" name="Text 27"/>
          <p:cNvSpPr/>
          <p:nvPr/>
        </p:nvSpPr>
        <p:spPr>
          <a:xfrm>
            <a:off x="9239760" y="2286000"/>
            <a:ext cx="2165040" cy="209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19" strike="noStrike" u="none">
                <a:solidFill>
                  <a:srgbClr val="007a27"/>
                </a:solidFill>
                <a:effectLst/>
                <a:uFillTx/>
                <a:latin typeface="Calibri"/>
                <a:ea typeface="Calibri"/>
              </a:rPr>
              <a:t>CONDITION 04</a:t>
            </a:r>
            <a:endParaRPr b="0" lang="en-US" sz="900" strike="noStrike" u="none">
              <a:solidFill>
                <a:srgbClr val="000000"/>
              </a:solidFill>
              <a:effectLst/>
              <a:uFillTx/>
              <a:latin typeface="Arial"/>
            </a:endParaRPr>
          </a:p>
        </p:txBody>
      </p:sp>
      <p:sp>
        <p:nvSpPr>
          <p:cNvPr id="5732" name="Text 28"/>
          <p:cNvSpPr/>
          <p:nvPr/>
        </p:nvSpPr>
        <p:spPr>
          <a:xfrm>
            <a:off x="9239760" y="2569320"/>
            <a:ext cx="2165040" cy="50256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400" strike="noStrike" u="none">
                <a:solidFill>
                  <a:srgbClr val="1e2420"/>
                </a:solidFill>
                <a:effectLst/>
                <a:uFillTx/>
                <a:latin typeface="Calibri"/>
                <a:ea typeface="Calibri"/>
              </a:rPr>
              <a:t>Value is measured, not assumed</a:t>
            </a:r>
            <a:endParaRPr b="0" lang="en-US" sz="1400" strike="noStrike" u="none">
              <a:solidFill>
                <a:srgbClr val="000000"/>
              </a:solidFill>
              <a:effectLst/>
              <a:uFillTx/>
              <a:latin typeface="Arial"/>
            </a:endParaRPr>
          </a:p>
        </p:txBody>
      </p:sp>
      <p:sp>
        <p:nvSpPr>
          <p:cNvPr id="5733" name="Text 29"/>
          <p:cNvSpPr/>
          <p:nvPr/>
        </p:nvSpPr>
        <p:spPr>
          <a:xfrm>
            <a:off x="9221400" y="3044880"/>
            <a:ext cx="2165040" cy="63972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Finance validates baselines and owners for each of the three value ledgers.</a:t>
            </a:r>
            <a:endParaRPr b="0" lang="en-US" sz="1100" strike="noStrike" u="none">
              <a:solidFill>
                <a:srgbClr val="000000"/>
              </a:solidFill>
              <a:effectLst/>
              <a:uFillTx/>
              <a:latin typeface="Arial"/>
            </a:endParaRPr>
          </a:p>
        </p:txBody>
      </p:sp>
      <p:sp>
        <p:nvSpPr>
          <p:cNvPr id="5734" name="Text 30"/>
          <p:cNvSpPr/>
          <p:nvPr/>
        </p:nvSpPr>
        <p:spPr>
          <a:xfrm>
            <a:off x="9239760" y="3776400"/>
            <a:ext cx="2165040" cy="2267280"/>
          </a:xfrm>
          <a:prstGeom prst="rect">
            <a:avLst/>
          </a:prstGeom>
          <a:noFill/>
          <a:ln w="0">
            <a:noFill/>
          </a:ln>
        </p:spPr>
        <p:style>
          <a:lnRef idx="0"/>
          <a:fillRef idx="0"/>
          <a:effectRef idx="0"/>
          <a:fontRef idx="minor"/>
        </p:style>
        <p:txBody>
          <a:bodyPr lIns="0" rIns="0" tIns="0" bIns="0" anchor="t">
            <a:normAutofit/>
          </a:bodyPr>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Signal: quarterly evidence accepted</a:t>
            </a:r>
            <a:endParaRPr b="0" lang="en-US" sz="1100" strike="noStrike" u="none">
              <a:solidFill>
                <a:srgbClr val="000000"/>
              </a:solidFill>
              <a:effectLst/>
              <a:uFillTx/>
              <a:latin typeface="Arial"/>
            </a:endParaRPr>
          </a:p>
          <a:p>
            <a:pPr defTabSz="914400">
              <a:lnSpc>
                <a:spcPct val="118000"/>
              </a:lnSpc>
              <a:spcAft>
                <a:spcPts val="300"/>
              </a:spcAft>
              <a:tabLst>
                <a:tab algn="l" pos="0"/>
              </a:tabLst>
            </a:pPr>
            <a:r>
              <a:rPr b="1" lang="en-US" sz="1100" strike="noStrike" u="none">
                <a:solidFill>
                  <a:srgbClr val="007a27"/>
                </a:solidFill>
                <a:effectLst/>
                <a:uFillTx/>
                <a:latin typeface="Calibri"/>
                <a:ea typeface="Calibri"/>
              </a:rPr>
              <a:t>▪ </a:t>
            </a:r>
            <a:r>
              <a:rPr b="0" lang="en-US" sz="1100" strike="noStrike" u="none">
                <a:solidFill>
                  <a:srgbClr val="3a423c"/>
                </a:solidFill>
                <a:effectLst/>
                <a:uFillTx/>
                <a:latin typeface="Calibri"/>
                <a:ea typeface="Calibri"/>
              </a:rPr>
              <a:t>Owner: Finance and Product</a:t>
            </a:r>
            <a:endParaRPr b="0" lang="en-US" sz="1100" strike="noStrike" u="none">
              <a:solidFill>
                <a:srgbClr val="000000"/>
              </a:solidFill>
              <a:effectLst/>
              <a:uFillTx/>
              <a:latin typeface="Arial"/>
            </a:endParaRPr>
          </a:p>
        </p:txBody>
      </p:sp>
      <p:sp>
        <p:nvSpPr>
          <p:cNvPr id="5735" name="Shape 31"/>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736" name="Text 32"/>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5737" name="Text 33"/>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5738" name="PlaceHolder 1"/>
          <p:cNvSpPr>
            <a:spLocks noGrp="1"/>
          </p:cNvSpPr>
          <p:nvPr>
            <p:ph type="sldNum" idx="130"/>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D32B8582-9A5A-4C37-9544-630A576D4C57}"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739"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5740"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5741" name="Shape 2"/>
          <p:cNvSpPr/>
          <p:nvPr/>
        </p:nvSpPr>
        <p:spPr>
          <a:xfrm>
            <a:off x="621720" y="311040"/>
            <a:ext cx="155412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742" name="Text 3"/>
          <p:cNvSpPr/>
          <p:nvPr/>
        </p:nvSpPr>
        <p:spPr>
          <a:xfrm>
            <a:off x="804600" y="329040"/>
            <a:ext cx="122508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GOVERNANCE</a:t>
            </a:r>
            <a:endParaRPr b="0" lang="en-US" sz="950" strike="noStrike" u="none">
              <a:solidFill>
                <a:srgbClr val="000000"/>
              </a:solidFill>
              <a:effectLst/>
              <a:uFillTx/>
              <a:latin typeface="Arial"/>
            </a:endParaRPr>
          </a:p>
        </p:txBody>
      </p:sp>
      <p:sp>
        <p:nvSpPr>
          <p:cNvPr id="5743"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Stop, adjust, scale</a:t>
            </a:r>
            <a:endParaRPr b="0" lang="en-US" sz="3200" strike="noStrike" u="none">
              <a:solidFill>
                <a:srgbClr val="000000"/>
              </a:solidFill>
              <a:effectLst/>
              <a:uFillTx/>
              <a:latin typeface="Arial"/>
            </a:endParaRPr>
          </a:p>
        </p:txBody>
      </p:sp>
      <p:sp>
        <p:nvSpPr>
          <p:cNvPr id="5744"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How the board responds when the evidence at a gate disagrees with the plan.</a:t>
            </a:r>
            <a:endParaRPr b="0" lang="en-US" sz="1250" strike="noStrike" u="none">
              <a:solidFill>
                <a:srgbClr val="000000"/>
              </a:solidFill>
              <a:effectLst/>
              <a:uFillTx/>
              <a:latin typeface="Arial"/>
            </a:endParaRPr>
          </a:p>
        </p:txBody>
      </p:sp>
      <p:sp>
        <p:nvSpPr>
          <p:cNvPr id="5745"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746" name="Shape 7"/>
          <p:cNvSpPr/>
          <p:nvPr/>
        </p:nvSpPr>
        <p:spPr>
          <a:xfrm>
            <a:off x="621720" y="2084760"/>
            <a:ext cx="3466080" cy="3419640"/>
          </a:xfrm>
          <a:prstGeom prst="roundRect">
            <a:avLst>
              <a:gd name="adj" fmla="val 1604"/>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747" name="Shape 8"/>
          <p:cNvSpPr/>
          <p:nvPr/>
        </p:nvSpPr>
        <p:spPr>
          <a:xfrm>
            <a:off x="621720" y="2084760"/>
            <a:ext cx="63720" cy="341964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748" name="Shape 9"/>
          <p:cNvSpPr/>
          <p:nvPr/>
        </p:nvSpPr>
        <p:spPr>
          <a:xfrm>
            <a:off x="868680" y="2286000"/>
            <a:ext cx="438480" cy="438480"/>
          </a:xfrm>
          <a:prstGeom prst="ellipse">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749" name="Text 10"/>
          <p:cNvSpPr/>
          <p:nvPr/>
        </p:nvSpPr>
        <p:spPr>
          <a:xfrm>
            <a:off x="868680" y="2286000"/>
            <a:ext cx="43848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007a27"/>
                </a:solidFill>
                <a:effectLst/>
                <a:uFillTx/>
                <a:latin typeface="Calibri"/>
                <a:ea typeface="Calibri"/>
              </a:rPr>
              <a:t>01</a:t>
            </a:r>
            <a:endParaRPr b="0" lang="en-US" sz="1200" strike="noStrike" u="none">
              <a:solidFill>
                <a:srgbClr val="000000"/>
              </a:solidFill>
              <a:effectLst/>
              <a:uFillTx/>
              <a:latin typeface="Arial"/>
            </a:endParaRPr>
          </a:p>
        </p:txBody>
      </p:sp>
      <p:sp>
        <p:nvSpPr>
          <p:cNvPr id="5750" name="Text 11"/>
          <p:cNvSpPr/>
          <p:nvPr/>
        </p:nvSpPr>
        <p:spPr>
          <a:xfrm>
            <a:off x="1398960" y="2267640"/>
            <a:ext cx="2460240" cy="5025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500" strike="noStrike" u="none">
                <a:solidFill>
                  <a:srgbClr val="1e2420"/>
                </a:solidFill>
                <a:effectLst/>
                <a:uFillTx/>
                <a:latin typeface="Calibri"/>
                <a:ea typeface="Calibri"/>
              </a:rPr>
              <a:t>Stop</a:t>
            </a:r>
            <a:endParaRPr b="0" lang="en-US" sz="1500" strike="noStrike" u="none">
              <a:solidFill>
                <a:srgbClr val="000000"/>
              </a:solidFill>
              <a:effectLst/>
              <a:uFillTx/>
              <a:latin typeface="Arial"/>
            </a:endParaRPr>
          </a:p>
        </p:txBody>
      </p:sp>
      <p:sp>
        <p:nvSpPr>
          <p:cNvPr id="5751" name="Text 12"/>
          <p:cNvSpPr/>
          <p:nvPr/>
        </p:nvSpPr>
        <p:spPr>
          <a:xfrm>
            <a:off x="850320" y="2862000"/>
            <a:ext cx="3008880" cy="7768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Evidence shows the outcome will not materialise on the current approach.</a:t>
            </a:r>
            <a:endParaRPr b="0" lang="en-US" sz="1100" strike="noStrike" u="none">
              <a:solidFill>
                <a:srgbClr val="000000"/>
              </a:solidFill>
              <a:effectLst/>
              <a:uFillTx/>
              <a:latin typeface="Arial"/>
            </a:endParaRPr>
          </a:p>
        </p:txBody>
      </p:sp>
      <p:sp>
        <p:nvSpPr>
          <p:cNvPr id="5752" name="Text 13"/>
          <p:cNvSpPr/>
          <p:nvPr/>
        </p:nvSpPr>
        <p:spPr>
          <a:xfrm>
            <a:off x="850320" y="3684960"/>
            <a:ext cx="3008880" cy="1636560"/>
          </a:xfrm>
          <a:prstGeom prst="rect">
            <a:avLst/>
          </a:prstGeom>
          <a:noFill/>
          <a:ln w="0">
            <a:noFill/>
          </a:ln>
        </p:spPr>
        <p:style>
          <a:lnRef idx="0"/>
          <a:fillRef idx="0"/>
          <a:effectRef idx="0"/>
          <a:fontRef idx="minor"/>
        </p:style>
        <p:txBody>
          <a:bodyPr lIns="0" rIns="0" tIns="0" bIns="0" anchor="t">
            <a:normAutofit/>
          </a:bodyPr>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Data quality thresholds repeatedly missed</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No cross-product adoption after a full cycle</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Redirect capacity to the next ranked outcome</a:t>
            </a:r>
            <a:endParaRPr b="0" lang="en-US" sz="1100" strike="noStrike" u="none">
              <a:solidFill>
                <a:srgbClr val="000000"/>
              </a:solidFill>
              <a:effectLst/>
              <a:uFillTx/>
              <a:latin typeface="Arial"/>
            </a:endParaRPr>
          </a:p>
        </p:txBody>
      </p:sp>
      <p:sp>
        <p:nvSpPr>
          <p:cNvPr id="5753" name="Shape 14"/>
          <p:cNvSpPr/>
          <p:nvPr/>
        </p:nvSpPr>
        <p:spPr>
          <a:xfrm>
            <a:off x="4362480" y="2084760"/>
            <a:ext cx="3466080" cy="3419640"/>
          </a:xfrm>
          <a:prstGeom prst="roundRect">
            <a:avLst>
              <a:gd name="adj" fmla="val 1604"/>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754" name="Shape 15"/>
          <p:cNvSpPr/>
          <p:nvPr/>
        </p:nvSpPr>
        <p:spPr>
          <a:xfrm>
            <a:off x="4362480" y="2084760"/>
            <a:ext cx="63720" cy="341964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755" name="Shape 16"/>
          <p:cNvSpPr/>
          <p:nvPr/>
        </p:nvSpPr>
        <p:spPr>
          <a:xfrm>
            <a:off x="4609440" y="2286000"/>
            <a:ext cx="438480" cy="438480"/>
          </a:xfrm>
          <a:prstGeom prst="ellipse">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756" name="Text 17"/>
          <p:cNvSpPr/>
          <p:nvPr/>
        </p:nvSpPr>
        <p:spPr>
          <a:xfrm>
            <a:off x="4609440" y="2286000"/>
            <a:ext cx="43848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007a27"/>
                </a:solidFill>
                <a:effectLst/>
                <a:uFillTx/>
                <a:latin typeface="Calibri"/>
                <a:ea typeface="Calibri"/>
              </a:rPr>
              <a:t>02</a:t>
            </a:r>
            <a:endParaRPr b="0" lang="en-US" sz="1200" strike="noStrike" u="none">
              <a:solidFill>
                <a:srgbClr val="000000"/>
              </a:solidFill>
              <a:effectLst/>
              <a:uFillTx/>
              <a:latin typeface="Arial"/>
            </a:endParaRPr>
          </a:p>
        </p:txBody>
      </p:sp>
      <p:sp>
        <p:nvSpPr>
          <p:cNvPr id="5757" name="Text 18"/>
          <p:cNvSpPr/>
          <p:nvPr/>
        </p:nvSpPr>
        <p:spPr>
          <a:xfrm>
            <a:off x="5139720" y="2267640"/>
            <a:ext cx="2460240" cy="5025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500" strike="noStrike" u="none">
                <a:solidFill>
                  <a:srgbClr val="1e2420"/>
                </a:solidFill>
                <a:effectLst/>
                <a:uFillTx/>
                <a:latin typeface="Calibri"/>
                <a:ea typeface="Calibri"/>
              </a:rPr>
              <a:t>Adjust</a:t>
            </a:r>
            <a:endParaRPr b="0" lang="en-US" sz="1500" strike="noStrike" u="none">
              <a:solidFill>
                <a:srgbClr val="000000"/>
              </a:solidFill>
              <a:effectLst/>
              <a:uFillTx/>
              <a:latin typeface="Arial"/>
            </a:endParaRPr>
          </a:p>
        </p:txBody>
      </p:sp>
      <p:sp>
        <p:nvSpPr>
          <p:cNvPr id="5758" name="Text 19"/>
          <p:cNvSpPr/>
          <p:nvPr/>
        </p:nvSpPr>
        <p:spPr>
          <a:xfrm>
            <a:off x="4591080" y="2862000"/>
            <a:ext cx="3008880" cy="7768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The direction holds but the sequence or scope needs re-cutting.</a:t>
            </a:r>
            <a:endParaRPr b="0" lang="en-US" sz="1100" strike="noStrike" u="none">
              <a:solidFill>
                <a:srgbClr val="000000"/>
              </a:solidFill>
              <a:effectLst/>
              <a:uFillTx/>
              <a:latin typeface="Arial"/>
            </a:endParaRPr>
          </a:p>
        </p:txBody>
      </p:sp>
      <p:sp>
        <p:nvSpPr>
          <p:cNvPr id="5759" name="Text 20"/>
          <p:cNvSpPr/>
          <p:nvPr/>
        </p:nvSpPr>
        <p:spPr>
          <a:xfrm>
            <a:off x="4591080" y="3684960"/>
            <a:ext cx="3008880" cy="1636560"/>
          </a:xfrm>
          <a:prstGeom prst="rect">
            <a:avLst/>
          </a:prstGeom>
          <a:noFill/>
          <a:ln w="0">
            <a:noFill/>
          </a:ln>
        </p:spPr>
        <p:style>
          <a:lnRef idx="0"/>
          <a:fillRef idx="0"/>
          <a:effectRef idx="0"/>
          <a:fontRef idx="minor"/>
        </p:style>
        <p:txBody>
          <a:bodyPr lIns="0" rIns="0" tIns="0" bIns="0" anchor="t">
            <a:normAutofit/>
          </a:bodyPr>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Re-rank against confirmed capacity</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Move commitments between horizons, not out of scope</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Re-baseline the affected value ledger</a:t>
            </a:r>
            <a:endParaRPr b="0" lang="en-US" sz="1100" strike="noStrike" u="none">
              <a:solidFill>
                <a:srgbClr val="000000"/>
              </a:solidFill>
              <a:effectLst/>
              <a:uFillTx/>
              <a:latin typeface="Arial"/>
            </a:endParaRPr>
          </a:p>
        </p:txBody>
      </p:sp>
      <p:sp>
        <p:nvSpPr>
          <p:cNvPr id="5760" name="Shape 21"/>
          <p:cNvSpPr/>
          <p:nvPr/>
        </p:nvSpPr>
        <p:spPr>
          <a:xfrm>
            <a:off x="8103240" y="2084760"/>
            <a:ext cx="3466080" cy="3419640"/>
          </a:xfrm>
          <a:prstGeom prst="roundRect">
            <a:avLst>
              <a:gd name="adj" fmla="val 1604"/>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761" name="Shape 22"/>
          <p:cNvSpPr/>
          <p:nvPr/>
        </p:nvSpPr>
        <p:spPr>
          <a:xfrm>
            <a:off x="8103240" y="2084760"/>
            <a:ext cx="63720" cy="341964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762" name="Shape 23"/>
          <p:cNvSpPr/>
          <p:nvPr/>
        </p:nvSpPr>
        <p:spPr>
          <a:xfrm>
            <a:off x="8350200" y="2286000"/>
            <a:ext cx="438480" cy="438480"/>
          </a:xfrm>
          <a:prstGeom prst="ellipse">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763" name="Text 24"/>
          <p:cNvSpPr/>
          <p:nvPr/>
        </p:nvSpPr>
        <p:spPr>
          <a:xfrm>
            <a:off x="8350200" y="2286000"/>
            <a:ext cx="43848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007a27"/>
                </a:solidFill>
                <a:effectLst/>
                <a:uFillTx/>
                <a:latin typeface="Calibri"/>
                <a:ea typeface="Calibri"/>
              </a:rPr>
              <a:t>03</a:t>
            </a:r>
            <a:endParaRPr b="0" lang="en-US" sz="1200" strike="noStrike" u="none">
              <a:solidFill>
                <a:srgbClr val="000000"/>
              </a:solidFill>
              <a:effectLst/>
              <a:uFillTx/>
              <a:latin typeface="Arial"/>
            </a:endParaRPr>
          </a:p>
        </p:txBody>
      </p:sp>
      <p:sp>
        <p:nvSpPr>
          <p:cNvPr id="5764" name="Text 25"/>
          <p:cNvSpPr/>
          <p:nvPr/>
        </p:nvSpPr>
        <p:spPr>
          <a:xfrm>
            <a:off x="8880480" y="2267640"/>
            <a:ext cx="2460240" cy="5025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500" strike="noStrike" u="none">
                <a:solidFill>
                  <a:srgbClr val="1e2420"/>
                </a:solidFill>
                <a:effectLst/>
                <a:uFillTx/>
                <a:latin typeface="Calibri"/>
                <a:ea typeface="Calibri"/>
              </a:rPr>
              <a:t>Scale</a:t>
            </a:r>
            <a:endParaRPr b="0" lang="en-US" sz="1500" strike="noStrike" u="none">
              <a:solidFill>
                <a:srgbClr val="000000"/>
              </a:solidFill>
              <a:effectLst/>
              <a:uFillTx/>
              <a:latin typeface="Arial"/>
            </a:endParaRPr>
          </a:p>
        </p:txBody>
      </p:sp>
      <p:sp>
        <p:nvSpPr>
          <p:cNvPr id="5765" name="Text 26"/>
          <p:cNvSpPr/>
          <p:nvPr/>
        </p:nvSpPr>
        <p:spPr>
          <a:xfrm>
            <a:off x="8331840" y="2862000"/>
            <a:ext cx="3008880" cy="7768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Proof points are met and the platform is compounding faster than isolated investment.</a:t>
            </a:r>
            <a:endParaRPr b="0" lang="en-US" sz="1100" strike="noStrike" u="none">
              <a:solidFill>
                <a:srgbClr val="000000"/>
              </a:solidFill>
              <a:effectLst/>
              <a:uFillTx/>
              <a:latin typeface="Arial"/>
            </a:endParaRPr>
          </a:p>
        </p:txBody>
      </p:sp>
      <p:sp>
        <p:nvSpPr>
          <p:cNvPr id="5766" name="Text 27"/>
          <p:cNvSpPr/>
          <p:nvPr/>
        </p:nvSpPr>
        <p:spPr>
          <a:xfrm>
            <a:off x="8331840" y="3684960"/>
            <a:ext cx="3008880" cy="1636560"/>
          </a:xfrm>
          <a:prstGeom prst="rect">
            <a:avLst/>
          </a:prstGeom>
          <a:noFill/>
          <a:ln w="0">
            <a:noFill/>
          </a:ln>
        </p:spPr>
        <p:style>
          <a:lnRef idx="0"/>
          <a:fillRef idx="0"/>
          <a:effectRef idx="0"/>
          <a:fontRef idx="minor"/>
        </p:style>
        <p:txBody>
          <a:bodyPr lIns="0" rIns="0" tIns="0" bIns="0" anchor="t">
            <a:normAutofit/>
          </a:bodyPr>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Lighthouse evidence published</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Finance confirms measured contribution</a:t>
            </a:r>
            <a:endParaRPr b="0" lang="en-US" sz="1100" strike="noStrike" u="none">
              <a:solidFill>
                <a:srgbClr val="000000"/>
              </a:solidFill>
              <a:effectLst/>
              <a:uFillTx/>
              <a:latin typeface="Arial"/>
            </a:endParaRPr>
          </a:p>
          <a:p>
            <a:pPr defTabSz="914400">
              <a:lnSpc>
                <a:spcPct val="110000"/>
              </a:lnSpc>
              <a:spcAft>
                <a:spcPts val="201"/>
              </a:spcAft>
              <a:tabLst>
                <a:tab algn="l" pos="0"/>
              </a:tabLst>
            </a:pPr>
            <a:r>
              <a:rPr b="1" lang="en-US" sz="1100" strike="noStrike" u="none">
                <a:solidFill>
                  <a:srgbClr val="3dcd58"/>
                </a:solidFill>
                <a:effectLst/>
                <a:uFillTx/>
                <a:latin typeface="Calibri"/>
                <a:ea typeface="Calibri"/>
              </a:rPr>
              <a:t>▪ </a:t>
            </a:r>
            <a:r>
              <a:rPr b="0" lang="en-US" sz="1100" strike="noStrike" u="none">
                <a:solidFill>
                  <a:srgbClr val="3a423c"/>
                </a:solidFill>
                <a:effectLst/>
                <a:uFillTx/>
                <a:latin typeface="Calibri"/>
                <a:ea typeface="Calibri"/>
              </a:rPr>
              <a:t>Fund the next tranche and widen the rollout</a:t>
            </a:r>
            <a:endParaRPr b="0" lang="en-US" sz="1100" strike="noStrike" u="none">
              <a:solidFill>
                <a:srgbClr val="000000"/>
              </a:solidFill>
              <a:effectLst/>
              <a:uFillTx/>
              <a:latin typeface="Arial"/>
            </a:endParaRPr>
          </a:p>
        </p:txBody>
      </p:sp>
      <p:sp>
        <p:nvSpPr>
          <p:cNvPr id="5767" name="Shape 28"/>
          <p:cNvSpPr/>
          <p:nvPr/>
        </p:nvSpPr>
        <p:spPr>
          <a:xfrm>
            <a:off x="621720" y="5650920"/>
            <a:ext cx="10947600" cy="585000"/>
          </a:xfrm>
          <a:prstGeom prst="roundRect">
            <a:avLst>
              <a:gd name="adj" fmla="val 12500"/>
            </a:avLst>
          </a:prstGeom>
          <a:solidFill>
            <a:srgbClr val="effaf1"/>
          </a:solidFill>
          <a:ln w="12700">
            <a:solidFill>
              <a:srgbClr val="bce8c9"/>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768" name="Shape 29"/>
          <p:cNvSpPr/>
          <p:nvPr/>
        </p:nvSpPr>
        <p:spPr>
          <a:xfrm>
            <a:off x="676800" y="5760720"/>
            <a:ext cx="45360" cy="3654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769" name="Text 30"/>
          <p:cNvSpPr/>
          <p:nvPr/>
        </p:nvSpPr>
        <p:spPr>
          <a:xfrm>
            <a:off x="859680" y="5650920"/>
            <a:ext cx="10527120" cy="585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200" strike="noStrike" u="none">
                <a:solidFill>
                  <a:srgbClr val="3a423c"/>
                </a:solidFill>
                <a:effectLst/>
                <a:uFillTx/>
                <a:latin typeface="Calibri"/>
                <a:ea typeface="Calibri"/>
              </a:rPr>
              <a:t>Each gate produces one of these three decisions, recorded with the evidence behind it.</a:t>
            </a:r>
            <a:endParaRPr b="0" lang="en-US" sz="1200" strike="noStrike" u="none">
              <a:solidFill>
                <a:srgbClr val="000000"/>
              </a:solidFill>
              <a:effectLst/>
              <a:uFillTx/>
              <a:latin typeface="Arial"/>
            </a:endParaRPr>
          </a:p>
        </p:txBody>
      </p:sp>
      <p:sp>
        <p:nvSpPr>
          <p:cNvPr id="5770" name="Shape 31"/>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771" name="Text 32"/>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5772" name="Text 33"/>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5773" name="PlaceHolder 1"/>
          <p:cNvSpPr>
            <a:spLocks noGrp="1"/>
          </p:cNvSpPr>
          <p:nvPr>
            <p:ph type="sldNum" idx="131"/>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CC6A3038-CB0C-45C9-8B87-120221527F62}"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774"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5775"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5776" name="Shape 2"/>
          <p:cNvSpPr/>
          <p:nvPr/>
        </p:nvSpPr>
        <p:spPr>
          <a:xfrm>
            <a:off x="621720" y="311040"/>
            <a:ext cx="144900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777" name="Text 3"/>
          <p:cNvSpPr/>
          <p:nvPr/>
        </p:nvSpPr>
        <p:spPr>
          <a:xfrm>
            <a:off x="804600" y="329040"/>
            <a:ext cx="111996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EXECUTION</a:t>
            </a:r>
            <a:endParaRPr b="0" lang="en-US" sz="950" strike="noStrike" u="none">
              <a:solidFill>
                <a:srgbClr val="000000"/>
              </a:solidFill>
              <a:effectLst/>
              <a:uFillTx/>
              <a:latin typeface="Arial"/>
            </a:endParaRPr>
          </a:p>
        </p:txBody>
      </p:sp>
      <p:sp>
        <p:nvSpPr>
          <p:cNvPr id="5778"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The first 90 days after approval</a:t>
            </a:r>
            <a:endParaRPr b="0" lang="en-US" sz="3200" strike="noStrike" u="none">
              <a:solidFill>
                <a:srgbClr val="000000"/>
              </a:solidFill>
              <a:effectLst/>
              <a:uFillTx/>
              <a:latin typeface="Arial"/>
            </a:endParaRPr>
          </a:p>
        </p:txBody>
      </p:sp>
      <p:sp>
        <p:nvSpPr>
          <p:cNvPr id="5779"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What happens immediately, with named owners.</a:t>
            </a:r>
            <a:endParaRPr b="0" lang="en-US" sz="1250" strike="noStrike" u="none">
              <a:solidFill>
                <a:srgbClr val="000000"/>
              </a:solidFill>
              <a:effectLst/>
              <a:uFillTx/>
              <a:latin typeface="Arial"/>
            </a:endParaRPr>
          </a:p>
        </p:txBody>
      </p:sp>
      <p:sp>
        <p:nvSpPr>
          <p:cNvPr id="5780"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781" name="Shape 7"/>
          <p:cNvSpPr/>
          <p:nvPr/>
        </p:nvSpPr>
        <p:spPr>
          <a:xfrm>
            <a:off x="621720" y="2084760"/>
            <a:ext cx="3478320" cy="3419640"/>
          </a:xfrm>
          <a:prstGeom prst="roundRect">
            <a:avLst>
              <a:gd name="adj" fmla="val 1604"/>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782" name="Shape 8"/>
          <p:cNvSpPr/>
          <p:nvPr/>
        </p:nvSpPr>
        <p:spPr>
          <a:xfrm>
            <a:off x="621720" y="2084760"/>
            <a:ext cx="3478320" cy="712800"/>
          </a:xfrm>
          <a:prstGeom prst="rect">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783" name="Shape 9"/>
          <p:cNvSpPr/>
          <p:nvPr/>
        </p:nvSpPr>
        <p:spPr>
          <a:xfrm>
            <a:off x="621720" y="2084760"/>
            <a:ext cx="54360" cy="341964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784" name="Text 10"/>
          <p:cNvSpPr/>
          <p:nvPr/>
        </p:nvSpPr>
        <p:spPr>
          <a:xfrm>
            <a:off x="804600" y="2176200"/>
            <a:ext cx="314928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3dcd58"/>
                </a:solidFill>
                <a:effectLst/>
                <a:uFillTx/>
                <a:latin typeface="Calibri"/>
                <a:ea typeface="Calibri"/>
              </a:rPr>
              <a:t>DAYS 0 TO 30</a:t>
            </a:r>
            <a:endParaRPr b="0" lang="en-US" sz="850" strike="noStrike" u="none">
              <a:solidFill>
                <a:srgbClr val="000000"/>
              </a:solidFill>
              <a:effectLst/>
              <a:uFillTx/>
              <a:latin typeface="Arial"/>
            </a:endParaRPr>
          </a:p>
        </p:txBody>
      </p:sp>
      <p:sp>
        <p:nvSpPr>
          <p:cNvPr id="5785" name="Text 11"/>
          <p:cNvSpPr/>
          <p:nvPr/>
        </p:nvSpPr>
        <p:spPr>
          <a:xfrm>
            <a:off x="804600" y="2423160"/>
            <a:ext cx="314928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Lock and baseline</a:t>
            </a:r>
            <a:endParaRPr b="0" lang="en-US" sz="1400" strike="noStrike" u="none">
              <a:solidFill>
                <a:srgbClr val="000000"/>
              </a:solidFill>
              <a:effectLst/>
              <a:uFillTx/>
              <a:latin typeface="Arial"/>
            </a:endParaRPr>
          </a:p>
        </p:txBody>
      </p:sp>
      <p:sp>
        <p:nvSpPr>
          <p:cNvPr id="5786" name="Shape 12"/>
          <p:cNvSpPr/>
          <p:nvPr/>
        </p:nvSpPr>
        <p:spPr>
          <a:xfrm>
            <a:off x="758880" y="2953440"/>
            <a:ext cx="3204000" cy="722160"/>
          </a:xfrm>
          <a:prstGeom prst="roundRect">
            <a:avLst>
              <a:gd name="adj" fmla="val 3797"/>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787" name="Text 13"/>
          <p:cNvSpPr/>
          <p:nvPr/>
        </p:nvSpPr>
        <p:spPr>
          <a:xfrm>
            <a:off x="822960" y="2953440"/>
            <a:ext cx="3075840" cy="72216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Q4 scope locked at the ranked cut line</a:t>
            </a:r>
            <a:endParaRPr b="0" lang="en-US" sz="950" strike="noStrike" u="none">
              <a:solidFill>
                <a:srgbClr val="000000"/>
              </a:solidFill>
              <a:effectLst/>
              <a:uFillTx/>
              <a:latin typeface="Arial"/>
            </a:endParaRPr>
          </a:p>
          <a:p>
            <a:pPr defTabSz="914400">
              <a:lnSpc>
                <a:spcPct val="95000"/>
              </a:lnSpc>
              <a:tabLst>
                <a:tab algn="l" pos="0"/>
              </a:tabLst>
            </a:pPr>
            <a:r>
              <a:rPr b="0" lang="en-US" sz="800" strike="noStrike" u="none">
                <a:solidFill>
                  <a:srgbClr val="5a625c"/>
                </a:solidFill>
                <a:effectLst/>
                <a:uFillTx/>
                <a:latin typeface="Calibri"/>
                <a:ea typeface="Calibri"/>
              </a:rPr>
              <a:t>Owner: CP product leadership</a:t>
            </a:r>
            <a:endParaRPr b="0" lang="en-US" sz="800" strike="noStrike" u="none">
              <a:solidFill>
                <a:srgbClr val="000000"/>
              </a:solidFill>
              <a:effectLst/>
              <a:uFillTx/>
              <a:latin typeface="Arial"/>
            </a:endParaRPr>
          </a:p>
        </p:txBody>
      </p:sp>
      <p:sp>
        <p:nvSpPr>
          <p:cNvPr id="5788" name="Shape 14"/>
          <p:cNvSpPr/>
          <p:nvPr/>
        </p:nvSpPr>
        <p:spPr>
          <a:xfrm>
            <a:off x="758880" y="3749040"/>
            <a:ext cx="3204000" cy="722160"/>
          </a:xfrm>
          <a:prstGeom prst="roundRect">
            <a:avLst>
              <a:gd name="adj" fmla="val 3797"/>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789" name="Text 15"/>
          <p:cNvSpPr/>
          <p:nvPr/>
        </p:nvSpPr>
        <p:spPr>
          <a:xfrm>
            <a:off x="822960" y="3749040"/>
            <a:ext cx="3075840" cy="72216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All unranked themes ranked</a:t>
            </a:r>
            <a:endParaRPr b="0" lang="en-US" sz="1000" strike="noStrike" u="none">
              <a:solidFill>
                <a:srgbClr val="000000"/>
              </a:solidFill>
              <a:effectLst/>
              <a:uFillTx/>
              <a:latin typeface="Arial"/>
            </a:endParaRPr>
          </a:p>
          <a:p>
            <a:pPr defTabSz="914400">
              <a:lnSpc>
                <a:spcPct val="95000"/>
              </a:lnSpc>
              <a:tabLst>
                <a:tab algn="l" pos="0"/>
              </a:tabLst>
            </a:pPr>
            <a:r>
              <a:rPr b="0" lang="en-US" sz="850" strike="noStrike" u="none">
                <a:solidFill>
                  <a:srgbClr val="5a625c"/>
                </a:solidFill>
                <a:effectLst/>
                <a:uFillTx/>
                <a:latin typeface="Calibri"/>
                <a:ea typeface="Calibri"/>
              </a:rPr>
              <a:t>Owner: product leadership</a:t>
            </a:r>
            <a:endParaRPr b="0" lang="en-US" sz="850" strike="noStrike" u="none">
              <a:solidFill>
                <a:srgbClr val="000000"/>
              </a:solidFill>
              <a:effectLst/>
              <a:uFillTx/>
              <a:latin typeface="Arial"/>
            </a:endParaRPr>
          </a:p>
        </p:txBody>
      </p:sp>
      <p:sp>
        <p:nvSpPr>
          <p:cNvPr id="5790" name="Shape 16"/>
          <p:cNvSpPr/>
          <p:nvPr/>
        </p:nvSpPr>
        <p:spPr>
          <a:xfrm>
            <a:off x="758880" y="4544640"/>
            <a:ext cx="3204000" cy="722160"/>
          </a:xfrm>
          <a:prstGeom prst="roundRect">
            <a:avLst>
              <a:gd name="adj" fmla="val 3797"/>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791" name="Text 17"/>
          <p:cNvSpPr/>
          <p:nvPr/>
        </p:nvSpPr>
        <p:spPr>
          <a:xfrm>
            <a:off x="822960" y="4544640"/>
            <a:ext cx="3075840" cy="72216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00" strike="noStrike" u="none">
                <a:solidFill>
                  <a:srgbClr val="1e2420"/>
                </a:solidFill>
                <a:effectLst/>
                <a:uFillTx/>
                <a:latin typeface="Calibri"/>
                <a:ea typeface="Calibri"/>
              </a:rPr>
              <a:t>Finance baselines opened for the three value ledgers</a:t>
            </a:r>
            <a:endParaRPr b="0" lang="en-US" sz="900" strike="noStrike" u="none">
              <a:solidFill>
                <a:srgbClr val="000000"/>
              </a:solidFill>
              <a:effectLst/>
              <a:uFillTx/>
              <a:latin typeface="Arial"/>
            </a:endParaRPr>
          </a:p>
          <a:p>
            <a:pPr defTabSz="914400">
              <a:lnSpc>
                <a:spcPct val="95000"/>
              </a:lnSpc>
              <a:tabLst>
                <a:tab algn="l" pos="0"/>
              </a:tabLst>
            </a:pPr>
            <a:r>
              <a:rPr b="0" lang="en-US" sz="750" strike="noStrike" u="none">
                <a:solidFill>
                  <a:srgbClr val="5a625c"/>
                </a:solidFill>
                <a:effectLst/>
                <a:uFillTx/>
                <a:latin typeface="Calibri"/>
                <a:ea typeface="Calibri"/>
              </a:rPr>
              <a:t>Owner: Finance</a:t>
            </a:r>
            <a:endParaRPr b="0" lang="en-US" sz="750" strike="noStrike" u="none">
              <a:solidFill>
                <a:srgbClr val="000000"/>
              </a:solidFill>
              <a:effectLst/>
              <a:uFillTx/>
              <a:latin typeface="Arial"/>
            </a:endParaRPr>
          </a:p>
        </p:txBody>
      </p:sp>
      <p:sp>
        <p:nvSpPr>
          <p:cNvPr id="5792" name="Shape 18"/>
          <p:cNvSpPr/>
          <p:nvPr/>
        </p:nvSpPr>
        <p:spPr>
          <a:xfrm>
            <a:off x="4356360" y="2084760"/>
            <a:ext cx="3478320" cy="3419640"/>
          </a:xfrm>
          <a:prstGeom prst="roundRect">
            <a:avLst>
              <a:gd name="adj" fmla="val 1604"/>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793" name="Shape 19"/>
          <p:cNvSpPr/>
          <p:nvPr/>
        </p:nvSpPr>
        <p:spPr>
          <a:xfrm>
            <a:off x="4356360" y="2084760"/>
            <a:ext cx="3478320" cy="712800"/>
          </a:xfrm>
          <a:prstGeom prst="rect">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794" name="Shape 20"/>
          <p:cNvSpPr/>
          <p:nvPr/>
        </p:nvSpPr>
        <p:spPr>
          <a:xfrm>
            <a:off x="4356360" y="2084760"/>
            <a:ext cx="54360" cy="3419640"/>
          </a:xfrm>
          <a:prstGeom prst="rect">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795" name="Text 21"/>
          <p:cNvSpPr/>
          <p:nvPr/>
        </p:nvSpPr>
        <p:spPr>
          <a:xfrm>
            <a:off x="4539240" y="2176200"/>
            <a:ext cx="314928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007a27"/>
                </a:solidFill>
                <a:effectLst/>
                <a:uFillTx/>
                <a:latin typeface="Calibri"/>
                <a:ea typeface="Calibri"/>
              </a:rPr>
              <a:t>DAYS 31 TO 60</a:t>
            </a:r>
            <a:endParaRPr b="0" lang="en-US" sz="850" strike="noStrike" u="none">
              <a:solidFill>
                <a:srgbClr val="000000"/>
              </a:solidFill>
              <a:effectLst/>
              <a:uFillTx/>
              <a:latin typeface="Arial"/>
            </a:endParaRPr>
          </a:p>
        </p:txBody>
      </p:sp>
      <p:sp>
        <p:nvSpPr>
          <p:cNvPr id="5796" name="Text 22"/>
          <p:cNvSpPr/>
          <p:nvPr/>
        </p:nvSpPr>
        <p:spPr>
          <a:xfrm>
            <a:off x="4539240" y="2423160"/>
            <a:ext cx="314928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Prove and prepare</a:t>
            </a:r>
            <a:endParaRPr b="0" lang="en-US" sz="1400" strike="noStrike" u="none">
              <a:solidFill>
                <a:srgbClr val="000000"/>
              </a:solidFill>
              <a:effectLst/>
              <a:uFillTx/>
              <a:latin typeface="Arial"/>
            </a:endParaRPr>
          </a:p>
        </p:txBody>
      </p:sp>
      <p:sp>
        <p:nvSpPr>
          <p:cNvPr id="5797" name="Shape 23"/>
          <p:cNvSpPr/>
          <p:nvPr/>
        </p:nvSpPr>
        <p:spPr>
          <a:xfrm>
            <a:off x="4493520" y="2953440"/>
            <a:ext cx="3204000" cy="722160"/>
          </a:xfrm>
          <a:prstGeom prst="roundRect">
            <a:avLst>
              <a:gd name="adj" fmla="val 3797"/>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798" name="Text 24"/>
          <p:cNvSpPr/>
          <p:nvPr/>
        </p:nvSpPr>
        <p:spPr>
          <a:xfrm>
            <a:off x="4557600" y="2953440"/>
            <a:ext cx="3075840" cy="72216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Lighthouse accounts selected</a:t>
            </a:r>
            <a:endParaRPr b="0" lang="en-US" sz="1000" strike="noStrike" u="none">
              <a:solidFill>
                <a:srgbClr val="000000"/>
              </a:solidFill>
              <a:effectLst/>
              <a:uFillTx/>
              <a:latin typeface="Arial"/>
            </a:endParaRPr>
          </a:p>
          <a:p>
            <a:pPr defTabSz="914400">
              <a:lnSpc>
                <a:spcPct val="95000"/>
              </a:lnSpc>
              <a:tabLst>
                <a:tab algn="l" pos="0"/>
              </a:tabLst>
            </a:pPr>
            <a:r>
              <a:rPr b="0" lang="en-US" sz="850" strike="noStrike" u="none">
                <a:solidFill>
                  <a:srgbClr val="5a625c"/>
                </a:solidFill>
                <a:effectLst/>
                <a:uFillTx/>
                <a:latin typeface="Calibri"/>
                <a:ea typeface="Calibri"/>
              </a:rPr>
              <a:t>Owner: Sales and delivery</a:t>
            </a:r>
            <a:endParaRPr b="0" lang="en-US" sz="850" strike="noStrike" u="none">
              <a:solidFill>
                <a:srgbClr val="000000"/>
              </a:solidFill>
              <a:effectLst/>
              <a:uFillTx/>
              <a:latin typeface="Arial"/>
            </a:endParaRPr>
          </a:p>
        </p:txBody>
      </p:sp>
      <p:sp>
        <p:nvSpPr>
          <p:cNvPr id="5799" name="Shape 25"/>
          <p:cNvSpPr/>
          <p:nvPr/>
        </p:nvSpPr>
        <p:spPr>
          <a:xfrm>
            <a:off x="4493520" y="3749040"/>
            <a:ext cx="3204000" cy="722160"/>
          </a:xfrm>
          <a:prstGeom prst="roundRect">
            <a:avLst>
              <a:gd name="adj" fmla="val 3797"/>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800" name="Text 26"/>
          <p:cNvSpPr/>
          <p:nvPr/>
        </p:nvSpPr>
        <p:spPr>
          <a:xfrm>
            <a:off x="4557600" y="3749040"/>
            <a:ext cx="3075840" cy="72216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Core Platform commitments confirmed per team</a:t>
            </a:r>
            <a:endParaRPr b="0" lang="en-US" sz="950" strike="noStrike" u="none">
              <a:solidFill>
                <a:srgbClr val="000000"/>
              </a:solidFill>
              <a:effectLst/>
              <a:uFillTx/>
              <a:latin typeface="Arial"/>
            </a:endParaRPr>
          </a:p>
          <a:p>
            <a:pPr defTabSz="914400">
              <a:lnSpc>
                <a:spcPct val="95000"/>
              </a:lnSpc>
              <a:tabLst>
                <a:tab algn="l" pos="0"/>
              </a:tabLst>
            </a:pPr>
            <a:r>
              <a:rPr b="0" lang="en-US" sz="800" strike="noStrike" u="none">
                <a:solidFill>
                  <a:srgbClr val="5a625c"/>
                </a:solidFill>
                <a:effectLst/>
                <a:uFillTx/>
                <a:latin typeface="Calibri"/>
                <a:ea typeface="Calibri"/>
              </a:rPr>
              <a:t>Owner: platform PMs</a:t>
            </a:r>
            <a:endParaRPr b="0" lang="en-US" sz="800" strike="noStrike" u="none">
              <a:solidFill>
                <a:srgbClr val="000000"/>
              </a:solidFill>
              <a:effectLst/>
              <a:uFillTx/>
              <a:latin typeface="Arial"/>
            </a:endParaRPr>
          </a:p>
        </p:txBody>
      </p:sp>
      <p:sp>
        <p:nvSpPr>
          <p:cNvPr id="5801" name="Shape 27"/>
          <p:cNvSpPr/>
          <p:nvPr/>
        </p:nvSpPr>
        <p:spPr>
          <a:xfrm>
            <a:off x="4493520" y="4544640"/>
            <a:ext cx="3204000" cy="722160"/>
          </a:xfrm>
          <a:prstGeom prst="roundRect">
            <a:avLst>
              <a:gd name="adj" fmla="val 3797"/>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802" name="Text 28"/>
          <p:cNvSpPr/>
          <p:nvPr/>
        </p:nvSpPr>
        <p:spPr>
          <a:xfrm>
            <a:off x="4557600" y="4544640"/>
            <a:ext cx="3075840" cy="72216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Migration and CSRD plan validated to Q1 2027</a:t>
            </a:r>
            <a:endParaRPr b="0" lang="en-US" sz="950" strike="noStrike" u="none">
              <a:solidFill>
                <a:srgbClr val="000000"/>
              </a:solidFill>
              <a:effectLst/>
              <a:uFillTx/>
              <a:latin typeface="Arial"/>
            </a:endParaRPr>
          </a:p>
          <a:p>
            <a:pPr defTabSz="914400">
              <a:lnSpc>
                <a:spcPct val="95000"/>
              </a:lnSpc>
              <a:tabLst>
                <a:tab algn="l" pos="0"/>
              </a:tabLst>
            </a:pPr>
            <a:r>
              <a:rPr b="0" lang="en-US" sz="800" strike="noStrike" u="none">
                <a:solidFill>
                  <a:srgbClr val="5a625c"/>
                </a:solidFill>
                <a:effectLst/>
                <a:uFillTx/>
                <a:latin typeface="Calibri"/>
                <a:ea typeface="Calibri"/>
              </a:rPr>
              <a:t>Owner: delivery and R&amp;C</a:t>
            </a:r>
            <a:endParaRPr b="0" lang="en-US" sz="800" strike="noStrike" u="none">
              <a:solidFill>
                <a:srgbClr val="000000"/>
              </a:solidFill>
              <a:effectLst/>
              <a:uFillTx/>
              <a:latin typeface="Arial"/>
            </a:endParaRPr>
          </a:p>
        </p:txBody>
      </p:sp>
      <p:sp>
        <p:nvSpPr>
          <p:cNvPr id="5803" name="Shape 29"/>
          <p:cNvSpPr/>
          <p:nvPr/>
        </p:nvSpPr>
        <p:spPr>
          <a:xfrm>
            <a:off x="8091360" y="2084760"/>
            <a:ext cx="3478320" cy="3419640"/>
          </a:xfrm>
          <a:prstGeom prst="roundRect">
            <a:avLst>
              <a:gd name="adj" fmla="val 1604"/>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804" name="Shape 30"/>
          <p:cNvSpPr/>
          <p:nvPr/>
        </p:nvSpPr>
        <p:spPr>
          <a:xfrm>
            <a:off x="8091360" y="2084760"/>
            <a:ext cx="3478320" cy="712800"/>
          </a:xfrm>
          <a:prstGeom prst="rect">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805" name="Shape 31"/>
          <p:cNvSpPr/>
          <p:nvPr/>
        </p:nvSpPr>
        <p:spPr>
          <a:xfrm>
            <a:off x="8091360" y="2084760"/>
            <a:ext cx="54360" cy="3419640"/>
          </a:xfrm>
          <a:prstGeom prst="rect">
            <a:avLst/>
          </a:prstGeom>
          <a:solidFill>
            <a:srgbClr val="007a27"/>
          </a:solidFill>
          <a:ln w="12700">
            <a:solidFill>
              <a:srgbClr val="007a27"/>
            </a:solidFill>
            <a:round/>
          </a:ln>
        </p:spPr>
        <p:style>
          <a:lnRef idx="0"/>
          <a:fillRef idx="0"/>
          <a:effectRef idx="0"/>
          <a:fontRef idx="minor"/>
        </p:style>
        <p:txBody>
          <a:bodyPr lIns="90000" rIns="90000" tIns="45000" bIns="45000" anchor="t">
            <a:noAutofit/>
          </a:bodyPr>
          <a:p>
            <a:endParaRPr b="0" lang="en-US" sz="1800" strike="noStrike" u="none">
              <a:solidFill>
                <a:srgbClr val="ffffff"/>
              </a:solidFill>
              <a:effectLst/>
              <a:uFillTx/>
              <a:latin typeface="Arial"/>
            </a:endParaRPr>
          </a:p>
        </p:txBody>
      </p:sp>
      <p:sp>
        <p:nvSpPr>
          <p:cNvPr id="5806" name="Text 32"/>
          <p:cNvSpPr/>
          <p:nvPr/>
        </p:nvSpPr>
        <p:spPr>
          <a:xfrm>
            <a:off x="8274240" y="2176200"/>
            <a:ext cx="3149280" cy="20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850" spc="130" strike="noStrike" u="none">
                <a:solidFill>
                  <a:srgbClr val="007a27"/>
                </a:solidFill>
                <a:effectLst/>
                <a:uFillTx/>
                <a:latin typeface="Calibri"/>
                <a:ea typeface="Calibri"/>
              </a:rPr>
              <a:t>DAYS 61 TO 90</a:t>
            </a:r>
            <a:endParaRPr b="0" lang="en-US" sz="850" strike="noStrike" u="none">
              <a:solidFill>
                <a:srgbClr val="000000"/>
              </a:solidFill>
              <a:effectLst/>
              <a:uFillTx/>
              <a:latin typeface="Arial"/>
            </a:endParaRPr>
          </a:p>
        </p:txBody>
      </p:sp>
      <p:sp>
        <p:nvSpPr>
          <p:cNvPr id="5807" name="Text 33"/>
          <p:cNvSpPr/>
          <p:nvPr/>
        </p:nvSpPr>
        <p:spPr>
          <a:xfrm>
            <a:off x="8274240" y="2423160"/>
            <a:ext cx="3149280" cy="2739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400" strike="noStrike" u="none">
                <a:solidFill>
                  <a:srgbClr val="1e2420"/>
                </a:solidFill>
                <a:effectLst/>
                <a:uFillTx/>
                <a:latin typeface="Calibri"/>
                <a:ea typeface="Calibri"/>
              </a:rPr>
              <a:t>Commit and report</a:t>
            </a:r>
            <a:endParaRPr b="0" lang="en-US" sz="1400" strike="noStrike" u="none">
              <a:solidFill>
                <a:srgbClr val="000000"/>
              </a:solidFill>
              <a:effectLst/>
              <a:uFillTx/>
              <a:latin typeface="Arial"/>
            </a:endParaRPr>
          </a:p>
        </p:txBody>
      </p:sp>
      <p:sp>
        <p:nvSpPr>
          <p:cNvPr id="5808" name="Shape 34"/>
          <p:cNvSpPr/>
          <p:nvPr/>
        </p:nvSpPr>
        <p:spPr>
          <a:xfrm>
            <a:off x="8228520" y="2953440"/>
            <a:ext cx="3204000" cy="722160"/>
          </a:xfrm>
          <a:prstGeom prst="roundRect">
            <a:avLst>
              <a:gd name="adj" fmla="val 3797"/>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809" name="Text 35"/>
          <p:cNvSpPr/>
          <p:nvPr/>
        </p:nvSpPr>
        <p:spPr>
          <a:xfrm>
            <a:off x="8292240" y="2953440"/>
            <a:ext cx="3075840" cy="72216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Commercial model validated with Finance</a:t>
            </a:r>
            <a:endParaRPr b="0" lang="en-US" sz="950" strike="noStrike" u="none">
              <a:solidFill>
                <a:srgbClr val="000000"/>
              </a:solidFill>
              <a:effectLst/>
              <a:uFillTx/>
              <a:latin typeface="Arial"/>
            </a:endParaRPr>
          </a:p>
          <a:p>
            <a:pPr defTabSz="914400">
              <a:lnSpc>
                <a:spcPct val="95000"/>
              </a:lnSpc>
              <a:tabLst>
                <a:tab algn="l" pos="0"/>
              </a:tabLst>
            </a:pPr>
            <a:r>
              <a:rPr b="0" lang="en-US" sz="800" strike="noStrike" u="none">
                <a:solidFill>
                  <a:srgbClr val="5a625c"/>
                </a:solidFill>
                <a:effectLst/>
                <a:uFillTx/>
                <a:latin typeface="Calibri"/>
                <a:ea typeface="Calibri"/>
              </a:rPr>
              <a:t>Owner: commercial leadership</a:t>
            </a:r>
            <a:endParaRPr b="0" lang="en-US" sz="800" strike="noStrike" u="none">
              <a:solidFill>
                <a:srgbClr val="000000"/>
              </a:solidFill>
              <a:effectLst/>
              <a:uFillTx/>
              <a:latin typeface="Arial"/>
            </a:endParaRPr>
          </a:p>
        </p:txBody>
      </p:sp>
      <p:sp>
        <p:nvSpPr>
          <p:cNvPr id="5810" name="Shape 36"/>
          <p:cNvSpPr/>
          <p:nvPr/>
        </p:nvSpPr>
        <p:spPr>
          <a:xfrm>
            <a:off x="8228520" y="3749040"/>
            <a:ext cx="3204000" cy="722160"/>
          </a:xfrm>
          <a:prstGeom prst="roundRect">
            <a:avLst>
              <a:gd name="adj" fmla="val 3797"/>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811" name="Text 37"/>
          <p:cNvSpPr/>
          <p:nvPr/>
        </p:nvSpPr>
        <p:spPr>
          <a:xfrm>
            <a:off x="8292240" y="3749040"/>
            <a:ext cx="3075840" cy="72216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950" strike="noStrike" u="none">
                <a:solidFill>
                  <a:srgbClr val="1e2420"/>
                </a:solidFill>
                <a:effectLst/>
                <a:uFillTx/>
                <a:latin typeface="Calibri"/>
                <a:ea typeface="Calibri"/>
              </a:rPr>
              <a:t>Board scorecard first reading issued</a:t>
            </a:r>
            <a:endParaRPr b="0" lang="en-US" sz="950" strike="noStrike" u="none">
              <a:solidFill>
                <a:srgbClr val="000000"/>
              </a:solidFill>
              <a:effectLst/>
              <a:uFillTx/>
              <a:latin typeface="Arial"/>
            </a:endParaRPr>
          </a:p>
          <a:p>
            <a:pPr defTabSz="914400">
              <a:lnSpc>
                <a:spcPct val="95000"/>
              </a:lnSpc>
              <a:tabLst>
                <a:tab algn="l" pos="0"/>
              </a:tabLst>
            </a:pPr>
            <a:r>
              <a:rPr b="0" lang="en-US" sz="800" strike="noStrike" u="none">
                <a:solidFill>
                  <a:srgbClr val="5a625c"/>
                </a:solidFill>
                <a:effectLst/>
                <a:uFillTx/>
                <a:latin typeface="Calibri"/>
                <a:ea typeface="Calibri"/>
              </a:rPr>
              <a:t>Owner: Finance and Product</a:t>
            </a:r>
            <a:endParaRPr b="0" lang="en-US" sz="800" strike="noStrike" u="none">
              <a:solidFill>
                <a:srgbClr val="000000"/>
              </a:solidFill>
              <a:effectLst/>
              <a:uFillTx/>
              <a:latin typeface="Arial"/>
            </a:endParaRPr>
          </a:p>
        </p:txBody>
      </p:sp>
      <p:sp>
        <p:nvSpPr>
          <p:cNvPr id="5812" name="Shape 38"/>
          <p:cNvSpPr/>
          <p:nvPr/>
        </p:nvSpPr>
        <p:spPr>
          <a:xfrm>
            <a:off x="8228520" y="4544640"/>
            <a:ext cx="3204000" cy="722160"/>
          </a:xfrm>
          <a:prstGeom prst="roundRect">
            <a:avLst>
              <a:gd name="adj" fmla="val 3797"/>
            </a:avLst>
          </a:prstGeom>
          <a:solidFill>
            <a:srgbClr val="f7f8f7"/>
          </a:solidFill>
          <a:ln w="5080">
            <a:solidFill>
              <a:srgbClr val="f7f8f7"/>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813" name="Text 39"/>
          <p:cNvSpPr/>
          <p:nvPr/>
        </p:nvSpPr>
        <p:spPr>
          <a:xfrm>
            <a:off x="8292240" y="4544640"/>
            <a:ext cx="3075840" cy="722160"/>
          </a:xfrm>
          <a:prstGeom prst="rect">
            <a:avLst/>
          </a:prstGeom>
          <a:noFill/>
          <a:ln w="0">
            <a:noFill/>
          </a:ln>
        </p:spPr>
        <p:style>
          <a:lnRef idx="0"/>
          <a:fillRef idx="0"/>
          <a:effectRef idx="0"/>
          <a:fontRef idx="minor"/>
        </p:style>
        <p:txBody>
          <a:bodyPr lIns="360" rIns="360" tIns="360" bIns="360" anchor="ctr">
            <a:normAutofit/>
          </a:bodyPr>
          <a:p>
            <a:pPr defTabSz="914400">
              <a:lnSpc>
                <a:spcPct val="95000"/>
              </a:lnSpc>
              <a:tabLst>
                <a:tab algn="l" pos="0"/>
              </a:tabLst>
            </a:pPr>
            <a:r>
              <a:rPr b="1" lang="en-US" sz="1000" strike="noStrike" u="none">
                <a:solidFill>
                  <a:srgbClr val="1e2420"/>
                </a:solidFill>
                <a:effectLst/>
                <a:uFillTx/>
                <a:latin typeface="Calibri"/>
                <a:ea typeface="Calibri"/>
              </a:rPr>
              <a:t>Gate 1 decision pack prepared</a:t>
            </a:r>
            <a:endParaRPr b="0" lang="en-US" sz="1000" strike="noStrike" u="none">
              <a:solidFill>
                <a:srgbClr val="000000"/>
              </a:solidFill>
              <a:effectLst/>
              <a:uFillTx/>
              <a:latin typeface="Arial"/>
            </a:endParaRPr>
          </a:p>
          <a:p>
            <a:pPr defTabSz="914400">
              <a:lnSpc>
                <a:spcPct val="95000"/>
              </a:lnSpc>
              <a:tabLst>
                <a:tab algn="l" pos="0"/>
              </a:tabLst>
            </a:pPr>
            <a:r>
              <a:rPr b="0" lang="en-US" sz="850" strike="noStrike" u="none">
                <a:solidFill>
                  <a:srgbClr val="5a625c"/>
                </a:solidFill>
                <a:effectLst/>
                <a:uFillTx/>
                <a:latin typeface="Calibri"/>
                <a:ea typeface="Calibri"/>
              </a:rPr>
              <a:t>Owner: RA+ leadership</a:t>
            </a:r>
            <a:endParaRPr b="0" lang="en-US" sz="850" strike="noStrike" u="none">
              <a:solidFill>
                <a:srgbClr val="000000"/>
              </a:solidFill>
              <a:effectLst/>
              <a:uFillTx/>
              <a:latin typeface="Arial"/>
            </a:endParaRPr>
          </a:p>
        </p:txBody>
      </p:sp>
      <p:sp>
        <p:nvSpPr>
          <p:cNvPr id="5814" name="Shape 40"/>
          <p:cNvSpPr/>
          <p:nvPr/>
        </p:nvSpPr>
        <p:spPr>
          <a:xfrm>
            <a:off x="621720" y="5650920"/>
            <a:ext cx="10947600" cy="585000"/>
          </a:xfrm>
          <a:prstGeom prst="roundRect">
            <a:avLst>
              <a:gd name="adj" fmla="val 12500"/>
            </a:avLst>
          </a:prstGeom>
          <a:solidFill>
            <a:srgbClr val="effaf1"/>
          </a:solidFill>
          <a:ln w="12700">
            <a:solidFill>
              <a:srgbClr val="bce8c9"/>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815" name="Shape 41"/>
          <p:cNvSpPr/>
          <p:nvPr/>
        </p:nvSpPr>
        <p:spPr>
          <a:xfrm>
            <a:off x="676800" y="5760720"/>
            <a:ext cx="45360" cy="36540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816" name="Text 42"/>
          <p:cNvSpPr/>
          <p:nvPr/>
        </p:nvSpPr>
        <p:spPr>
          <a:xfrm>
            <a:off x="859680" y="5650920"/>
            <a:ext cx="10527120" cy="58500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0" lang="en-US" sz="1200" strike="noStrike" u="none">
                <a:solidFill>
                  <a:srgbClr val="3a423c"/>
                </a:solidFill>
                <a:effectLst/>
                <a:uFillTx/>
                <a:latin typeface="Calibri"/>
                <a:ea typeface="Calibri"/>
              </a:rPr>
              <a:t>Dates start from board approval. Nothing on this page depends on unvalidated figures.</a:t>
            </a:r>
            <a:endParaRPr b="0" lang="en-US" sz="1200" strike="noStrike" u="none">
              <a:solidFill>
                <a:srgbClr val="000000"/>
              </a:solidFill>
              <a:effectLst/>
              <a:uFillTx/>
              <a:latin typeface="Arial"/>
            </a:endParaRPr>
          </a:p>
        </p:txBody>
      </p:sp>
      <p:sp>
        <p:nvSpPr>
          <p:cNvPr id="5817" name="Shape 43"/>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818" name="Text 44"/>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5819" name="Text 45"/>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5820" name="PlaceHolder 1"/>
          <p:cNvSpPr>
            <a:spLocks noGrp="1"/>
          </p:cNvSpPr>
          <p:nvPr>
            <p:ph type="sldNum" idx="132"/>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7A667CCE-1C4D-4931-84EF-0A2513786193}"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821"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5822"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5823" name="Shape 2"/>
          <p:cNvSpPr/>
          <p:nvPr/>
        </p:nvSpPr>
        <p:spPr>
          <a:xfrm>
            <a:off x="621720" y="311040"/>
            <a:ext cx="250056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824" name="Text 3"/>
          <p:cNvSpPr/>
          <p:nvPr/>
        </p:nvSpPr>
        <p:spPr>
          <a:xfrm>
            <a:off x="804600" y="329040"/>
            <a:ext cx="217152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DECISIONS REQUESTED</a:t>
            </a:r>
            <a:endParaRPr b="0" lang="en-US" sz="950" strike="noStrike" u="none">
              <a:solidFill>
                <a:srgbClr val="000000"/>
              </a:solidFill>
              <a:effectLst/>
              <a:uFillTx/>
              <a:latin typeface="Arial"/>
            </a:endParaRPr>
          </a:p>
        </p:txBody>
      </p:sp>
      <p:sp>
        <p:nvSpPr>
          <p:cNvPr id="5825"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What we ask of the board</a:t>
            </a:r>
            <a:endParaRPr b="0" lang="en-US" sz="3200" strike="noStrike" u="none">
              <a:solidFill>
                <a:srgbClr val="000000"/>
              </a:solidFill>
              <a:effectLst/>
              <a:uFillTx/>
              <a:latin typeface="Arial"/>
            </a:endParaRPr>
          </a:p>
        </p:txBody>
      </p:sp>
      <p:sp>
        <p:nvSpPr>
          <p:cNvPr id="5826"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Four decisions, each with a clear consequence if deferred.</a:t>
            </a:r>
            <a:endParaRPr b="0" lang="en-US" sz="1250" strike="noStrike" u="none">
              <a:solidFill>
                <a:srgbClr val="000000"/>
              </a:solidFill>
              <a:effectLst/>
              <a:uFillTx/>
              <a:latin typeface="Arial"/>
            </a:endParaRPr>
          </a:p>
        </p:txBody>
      </p:sp>
      <p:sp>
        <p:nvSpPr>
          <p:cNvPr id="5827"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828" name="Shape 7"/>
          <p:cNvSpPr/>
          <p:nvPr/>
        </p:nvSpPr>
        <p:spPr>
          <a:xfrm>
            <a:off x="621720" y="2084760"/>
            <a:ext cx="3466080" cy="1951920"/>
          </a:xfrm>
          <a:prstGeom prst="roundRect">
            <a:avLst>
              <a:gd name="adj" fmla="val 2810"/>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829" name="Shape 8"/>
          <p:cNvSpPr/>
          <p:nvPr/>
        </p:nvSpPr>
        <p:spPr>
          <a:xfrm>
            <a:off x="621720" y="2084760"/>
            <a:ext cx="63720" cy="19519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830" name="Shape 9"/>
          <p:cNvSpPr/>
          <p:nvPr/>
        </p:nvSpPr>
        <p:spPr>
          <a:xfrm>
            <a:off x="868680" y="2286000"/>
            <a:ext cx="438480" cy="438480"/>
          </a:xfrm>
          <a:prstGeom prst="ellipse">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831" name="Text 10"/>
          <p:cNvSpPr/>
          <p:nvPr/>
        </p:nvSpPr>
        <p:spPr>
          <a:xfrm>
            <a:off x="868680" y="2286000"/>
            <a:ext cx="43848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007a27"/>
                </a:solidFill>
                <a:effectLst/>
                <a:uFillTx/>
                <a:latin typeface="Calibri"/>
                <a:ea typeface="Calibri"/>
              </a:rPr>
              <a:t>01</a:t>
            </a:r>
            <a:endParaRPr b="0" lang="en-US" sz="1200" strike="noStrike" u="none">
              <a:solidFill>
                <a:srgbClr val="000000"/>
              </a:solidFill>
              <a:effectLst/>
              <a:uFillTx/>
              <a:latin typeface="Arial"/>
            </a:endParaRPr>
          </a:p>
        </p:txBody>
      </p:sp>
      <p:sp>
        <p:nvSpPr>
          <p:cNvPr id="5832" name="Text 11"/>
          <p:cNvSpPr/>
          <p:nvPr/>
        </p:nvSpPr>
        <p:spPr>
          <a:xfrm>
            <a:off x="1398960" y="2267640"/>
            <a:ext cx="2460240" cy="5025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500" strike="noStrike" u="none">
                <a:solidFill>
                  <a:srgbClr val="1e2420"/>
                </a:solidFill>
                <a:effectLst/>
                <a:uFillTx/>
                <a:latin typeface="Calibri"/>
                <a:ea typeface="Calibri"/>
              </a:rPr>
              <a:t>Approve the platform sequence</a:t>
            </a:r>
            <a:endParaRPr b="0" lang="en-US" sz="1500" strike="noStrike" u="none">
              <a:solidFill>
                <a:srgbClr val="000000"/>
              </a:solidFill>
              <a:effectLst/>
              <a:uFillTx/>
              <a:latin typeface="Arial"/>
            </a:endParaRPr>
          </a:p>
        </p:txBody>
      </p:sp>
      <p:sp>
        <p:nvSpPr>
          <p:cNvPr id="5833" name="Text 12"/>
          <p:cNvSpPr/>
          <p:nvPr/>
        </p:nvSpPr>
        <p:spPr>
          <a:xfrm>
            <a:off x="850320" y="2862000"/>
            <a:ext cx="3008880" cy="7768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Trusted data and calculation governance ahead of scaled AI and automation.</a:t>
            </a:r>
            <a:endParaRPr b="0" lang="en-US" sz="1100" strike="noStrike" u="none">
              <a:solidFill>
                <a:srgbClr val="000000"/>
              </a:solidFill>
              <a:effectLst/>
              <a:uFillTx/>
              <a:latin typeface="Arial"/>
            </a:endParaRPr>
          </a:p>
        </p:txBody>
      </p:sp>
      <p:sp>
        <p:nvSpPr>
          <p:cNvPr id="5834" name="Text 13"/>
          <p:cNvSpPr/>
          <p:nvPr/>
        </p:nvSpPr>
        <p:spPr>
          <a:xfrm>
            <a:off x="850320" y="3684960"/>
            <a:ext cx="3008880" cy="168840"/>
          </a:xfrm>
          <a:prstGeom prst="rect">
            <a:avLst/>
          </a:prstGeom>
          <a:noFill/>
          <a:ln w="0">
            <a:noFill/>
          </a:ln>
        </p:spPr>
        <p:style>
          <a:lnRef idx="0"/>
          <a:fillRef idx="0"/>
          <a:effectRef idx="0"/>
          <a:fontRef idx="minor"/>
        </p:style>
        <p:txBody>
          <a:bodyPr lIns="0" rIns="0" tIns="0" bIns="0" anchor="t">
            <a:normAutofit fontScale="55000" lnSpcReduction="19999"/>
          </a:bodyPr>
          <a:p>
            <a:pPr defTabSz="914400">
              <a:lnSpc>
                <a:spcPct val="110000"/>
              </a:lnSpc>
              <a:spcAft>
                <a:spcPts val="201"/>
              </a:spcAft>
              <a:tabLst>
                <a:tab algn="l" pos="0"/>
              </a:tabLst>
            </a:pPr>
            <a:r>
              <a:rPr b="1" lang="en-US" sz="900" strike="noStrike" u="none">
                <a:solidFill>
                  <a:srgbClr val="3dcd58"/>
                </a:solidFill>
                <a:effectLst/>
                <a:uFillTx/>
                <a:latin typeface="Calibri"/>
                <a:ea typeface="Calibri"/>
              </a:rPr>
              <a:t>▪ </a:t>
            </a:r>
            <a:r>
              <a:rPr b="0" lang="en-US" sz="900" strike="noStrike" u="none">
                <a:solidFill>
                  <a:srgbClr val="3a423c"/>
                </a:solidFill>
                <a:effectLst/>
                <a:uFillTx/>
                <a:latin typeface="Calibri"/>
                <a:ea typeface="Calibri"/>
              </a:rPr>
              <a:t>Consequence if deferred: AI amplifies weak inputs</a:t>
            </a:r>
            <a:endParaRPr b="0" lang="en-US" sz="900" strike="noStrike" u="none">
              <a:solidFill>
                <a:srgbClr val="000000"/>
              </a:solidFill>
              <a:effectLst/>
              <a:uFillTx/>
              <a:latin typeface="Arial"/>
            </a:endParaRPr>
          </a:p>
          <a:p>
            <a:pPr defTabSz="914400">
              <a:lnSpc>
                <a:spcPct val="110000"/>
              </a:lnSpc>
              <a:spcAft>
                <a:spcPts val="201"/>
              </a:spcAft>
              <a:tabLst>
                <a:tab algn="l" pos="0"/>
              </a:tabLst>
            </a:pPr>
            <a:r>
              <a:rPr b="1" lang="en-US" sz="900" strike="noStrike" u="none">
                <a:solidFill>
                  <a:srgbClr val="3dcd58"/>
                </a:solidFill>
                <a:effectLst/>
                <a:uFillTx/>
                <a:latin typeface="Calibri"/>
                <a:ea typeface="Calibri"/>
              </a:rPr>
              <a:t>▪ </a:t>
            </a:r>
            <a:r>
              <a:rPr b="0" lang="en-US" sz="900" strike="noStrike" u="none">
                <a:solidFill>
                  <a:srgbClr val="3a423c"/>
                </a:solidFill>
                <a:effectLst/>
                <a:uFillTx/>
                <a:latin typeface="Calibri"/>
                <a:ea typeface="Calibri"/>
              </a:rPr>
              <a:t>Decision needed at Gate 1</a:t>
            </a:r>
            <a:endParaRPr b="0" lang="en-US" sz="900" strike="noStrike" u="none">
              <a:solidFill>
                <a:srgbClr val="000000"/>
              </a:solidFill>
              <a:effectLst/>
              <a:uFillTx/>
              <a:latin typeface="Arial"/>
            </a:endParaRPr>
          </a:p>
        </p:txBody>
      </p:sp>
      <p:sp>
        <p:nvSpPr>
          <p:cNvPr id="5835" name="Shape 14"/>
          <p:cNvSpPr/>
          <p:nvPr/>
        </p:nvSpPr>
        <p:spPr>
          <a:xfrm>
            <a:off x="4362480" y="2084760"/>
            <a:ext cx="3466080" cy="1951920"/>
          </a:xfrm>
          <a:prstGeom prst="roundRect">
            <a:avLst>
              <a:gd name="adj" fmla="val 2810"/>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836" name="Shape 15"/>
          <p:cNvSpPr/>
          <p:nvPr/>
        </p:nvSpPr>
        <p:spPr>
          <a:xfrm>
            <a:off x="4362480" y="2084760"/>
            <a:ext cx="63720" cy="19519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837" name="Shape 16"/>
          <p:cNvSpPr/>
          <p:nvPr/>
        </p:nvSpPr>
        <p:spPr>
          <a:xfrm>
            <a:off x="4609440" y="2286000"/>
            <a:ext cx="438480" cy="438480"/>
          </a:xfrm>
          <a:prstGeom prst="ellipse">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838" name="Text 17"/>
          <p:cNvSpPr/>
          <p:nvPr/>
        </p:nvSpPr>
        <p:spPr>
          <a:xfrm>
            <a:off x="4609440" y="2286000"/>
            <a:ext cx="43848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007a27"/>
                </a:solidFill>
                <a:effectLst/>
                <a:uFillTx/>
                <a:latin typeface="Calibri"/>
                <a:ea typeface="Calibri"/>
              </a:rPr>
              <a:t>02</a:t>
            </a:r>
            <a:endParaRPr b="0" lang="en-US" sz="1200" strike="noStrike" u="none">
              <a:solidFill>
                <a:srgbClr val="000000"/>
              </a:solidFill>
              <a:effectLst/>
              <a:uFillTx/>
              <a:latin typeface="Arial"/>
            </a:endParaRPr>
          </a:p>
        </p:txBody>
      </p:sp>
      <p:sp>
        <p:nvSpPr>
          <p:cNvPr id="5839" name="Text 18"/>
          <p:cNvSpPr/>
          <p:nvPr/>
        </p:nvSpPr>
        <p:spPr>
          <a:xfrm>
            <a:off x="5139720" y="2267640"/>
            <a:ext cx="2460240" cy="5025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500" strike="noStrike" u="none">
                <a:solidFill>
                  <a:srgbClr val="1e2420"/>
                </a:solidFill>
                <a:effectLst/>
                <a:uFillTx/>
                <a:latin typeface="Calibri"/>
                <a:ea typeface="Calibri"/>
              </a:rPr>
              <a:t>Protect Core Platform capacity</a:t>
            </a:r>
            <a:endParaRPr b="0" lang="en-US" sz="1500" strike="noStrike" u="none">
              <a:solidFill>
                <a:srgbClr val="000000"/>
              </a:solidFill>
              <a:effectLst/>
              <a:uFillTx/>
              <a:latin typeface="Arial"/>
            </a:endParaRPr>
          </a:p>
        </p:txBody>
      </p:sp>
      <p:sp>
        <p:nvSpPr>
          <p:cNvPr id="5840" name="Text 19"/>
          <p:cNvSpPr/>
          <p:nvPr/>
        </p:nvSpPr>
        <p:spPr>
          <a:xfrm>
            <a:off x="4591080" y="2862000"/>
            <a:ext cx="3008880" cy="7768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Treat core capacity as portfolio capacity for the whole of 2027.</a:t>
            </a:r>
            <a:endParaRPr b="0" lang="en-US" sz="1100" strike="noStrike" u="none">
              <a:solidFill>
                <a:srgbClr val="000000"/>
              </a:solidFill>
              <a:effectLst/>
              <a:uFillTx/>
              <a:latin typeface="Arial"/>
            </a:endParaRPr>
          </a:p>
        </p:txBody>
      </p:sp>
      <p:sp>
        <p:nvSpPr>
          <p:cNvPr id="5841" name="Text 20"/>
          <p:cNvSpPr/>
          <p:nvPr/>
        </p:nvSpPr>
        <p:spPr>
          <a:xfrm>
            <a:off x="4591080" y="3684960"/>
            <a:ext cx="3008880" cy="168840"/>
          </a:xfrm>
          <a:prstGeom prst="rect">
            <a:avLst/>
          </a:prstGeom>
          <a:noFill/>
          <a:ln w="0">
            <a:noFill/>
          </a:ln>
        </p:spPr>
        <p:style>
          <a:lnRef idx="0"/>
          <a:fillRef idx="0"/>
          <a:effectRef idx="0"/>
          <a:fontRef idx="minor"/>
        </p:style>
        <p:txBody>
          <a:bodyPr lIns="0" rIns="0" tIns="0" bIns="0" anchor="t">
            <a:normAutofit fontScale="55000" lnSpcReduction="19999"/>
          </a:bodyPr>
          <a:p>
            <a:pPr defTabSz="914400">
              <a:lnSpc>
                <a:spcPct val="110000"/>
              </a:lnSpc>
              <a:spcAft>
                <a:spcPts val="201"/>
              </a:spcAft>
              <a:tabLst>
                <a:tab algn="l" pos="0"/>
              </a:tabLst>
            </a:pPr>
            <a:r>
              <a:rPr b="1" lang="en-US" sz="900" strike="noStrike" u="none">
                <a:solidFill>
                  <a:srgbClr val="3dcd58"/>
                </a:solidFill>
                <a:effectLst/>
                <a:uFillTx/>
                <a:latin typeface="Calibri"/>
                <a:ea typeface="Calibri"/>
              </a:rPr>
              <a:t>▪ </a:t>
            </a:r>
            <a:r>
              <a:rPr b="0" lang="en-US" sz="900" strike="noStrike" u="none">
                <a:solidFill>
                  <a:srgbClr val="3a423c"/>
                </a:solidFill>
                <a:effectLst/>
                <a:uFillTx/>
                <a:latin typeface="Calibri"/>
                <a:ea typeface="Calibri"/>
              </a:rPr>
              <a:t>Consequence if deferred: every product outcome slips</a:t>
            </a:r>
            <a:endParaRPr b="0" lang="en-US" sz="900" strike="noStrike" u="none">
              <a:solidFill>
                <a:srgbClr val="000000"/>
              </a:solidFill>
              <a:effectLst/>
              <a:uFillTx/>
              <a:latin typeface="Arial"/>
            </a:endParaRPr>
          </a:p>
          <a:p>
            <a:pPr defTabSz="914400">
              <a:lnSpc>
                <a:spcPct val="110000"/>
              </a:lnSpc>
              <a:spcAft>
                <a:spcPts val="201"/>
              </a:spcAft>
              <a:tabLst>
                <a:tab algn="l" pos="0"/>
              </a:tabLst>
            </a:pPr>
            <a:r>
              <a:rPr b="1" lang="en-US" sz="900" strike="noStrike" u="none">
                <a:solidFill>
                  <a:srgbClr val="3dcd58"/>
                </a:solidFill>
                <a:effectLst/>
                <a:uFillTx/>
                <a:latin typeface="Calibri"/>
                <a:ea typeface="Calibri"/>
              </a:rPr>
              <a:t>▪ </a:t>
            </a:r>
            <a:r>
              <a:rPr b="0" lang="en-US" sz="900" strike="noStrike" u="none">
                <a:solidFill>
                  <a:srgbClr val="3a423c"/>
                </a:solidFill>
                <a:effectLst/>
                <a:uFillTx/>
                <a:latin typeface="Calibri"/>
                <a:ea typeface="Calibri"/>
              </a:rPr>
              <a:t>Decision needed at Q4 lock</a:t>
            </a:r>
            <a:endParaRPr b="0" lang="en-US" sz="900" strike="noStrike" u="none">
              <a:solidFill>
                <a:srgbClr val="000000"/>
              </a:solidFill>
              <a:effectLst/>
              <a:uFillTx/>
              <a:latin typeface="Arial"/>
            </a:endParaRPr>
          </a:p>
        </p:txBody>
      </p:sp>
      <p:sp>
        <p:nvSpPr>
          <p:cNvPr id="5842" name="Shape 21"/>
          <p:cNvSpPr/>
          <p:nvPr/>
        </p:nvSpPr>
        <p:spPr>
          <a:xfrm>
            <a:off x="8103240" y="2084760"/>
            <a:ext cx="3466080" cy="1951920"/>
          </a:xfrm>
          <a:prstGeom prst="roundRect">
            <a:avLst>
              <a:gd name="adj" fmla="val 2810"/>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843" name="Shape 22"/>
          <p:cNvSpPr/>
          <p:nvPr/>
        </p:nvSpPr>
        <p:spPr>
          <a:xfrm>
            <a:off x="8103240" y="2084760"/>
            <a:ext cx="63720" cy="19519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844" name="Shape 23"/>
          <p:cNvSpPr/>
          <p:nvPr/>
        </p:nvSpPr>
        <p:spPr>
          <a:xfrm>
            <a:off x="8350200" y="2286000"/>
            <a:ext cx="438480" cy="438480"/>
          </a:xfrm>
          <a:prstGeom prst="ellipse">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845" name="Text 24"/>
          <p:cNvSpPr/>
          <p:nvPr/>
        </p:nvSpPr>
        <p:spPr>
          <a:xfrm>
            <a:off x="8350200" y="2286000"/>
            <a:ext cx="43848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007a27"/>
                </a:solidFill>
                <a:effectLst/>
                <a:uFillTx/>
                <a:latin typeface="Calibri"/>
                <a:ea typeface="Calibri"/>
              </a:rPr>
              <a:t>03</a:t>
            </a:r>
            <a:endParaRPr b="0" lang="en-US" sz="1200" strike="noStrike" u="none">
              <a:solidFill>
                <a:srgbClr val="000000"/>
              </a:solidFill>
              <a:effectLst/>
              <a:uFillTx/>
              <a:latin typeface="Arial"/>
            </a:endParaRPr>
          </a:p>
        </p:txBody>
      </p:sp>
      <p:sp>
        <p:nvSpPr>
          <p:cNvPr id="5846" name="Text 25"/>
          <p:cNvSpPr/>
          <p:nvPr/>
        </p:nvSpPr>
        <p:spPr>
          <a:xfrm>
            <a:off x="8880480" y="2267640"/>
            <a:ext cx="2460240" cy="5025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500" strike="noStrike" u="none">
                <a:solidFill>
                  <a:srgbClr val="1e2420"/>
                </a:solidFill>
                <a:effectLst/>
                <a:uFillTx/>
                <a:latin typeface="Calibri"/>
                <a:ea typeface="Calibri"/>
              </a:rPr>
              <a:t>Assign the value ledgers</a:t>
            </a:r>
            <a:endParaRPr b="0" lang="en-US" sz="1500" strike="noStrike" u="none">
              <a:solidFill>
                <a:srgbClr val="000000"/>
              </a:solidFill>
              <a:effectLst/>
              <a:uFillTx/>
              <a:latin typeface="Arial"/>
            </a:endParaRPr>
          </a:p>
        </p:txBody>
      </p:sp>
      <p:sp>
        <p:nvSpPr>
          <p:cNvPr id="5847" name="Text 26"/>
          <p:cNvSpPr/>
          <p:nvPr/>
        </p:nvSpPr>
        <p:spPr>
          <a:xfrm>
            <a:off x="8331840" y="2862000"/>
            <a:ext cx="3008880" cy="7768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Finance and Product name owners, baselines and realization rules.</a:t>
            </a:r>
            <a:endParaRPr b="0" lang="en-US" sz="1100" strike="noStrike" u="none">
              <a:solidFill>
                <a:srgbClr val="000000"/>
              </a:solidFill>
              <a:effectLst/>
              <a:uFillTx/>
              <a:latin typeface="Arial"/>
            </a:endParaRPr>
          </a:p>
        </p:txBody>
      </p:sp>
      <p:sp>
        <p:nvSpPr>
          <p:cNvPr id="5848" name="Text 27"/>
          <p:cNvSpPr/>
          <p:nvPr/>
        </p:nvSpPr>
        <p:spPr>
          <a:xfrm>
            <a:off x="8331840" y="3684960"/>
            <a:ext cx="3008880" cy="168840"/>
          </a:xfrm>
          <a:prstGeom prst="rect">
            <a:avLst/>
          </a:prstGeom>
          <a:noFill/>
          <a:ln w="0">
            <a:noFill/>
          </a:ln>
        </p:spPr>
        <p:style>
          <a:lnRef idx="0"/>
          <a:fillRef idx="0"/>
          <a:effectRef idx="0"/>
          <a:fontRef idx="minor"/>
        </p:style>
        <p:txBody>
          <a:bodyPr lIns="0" rIns="0" tIns="0" bIns="0" anchor="t">
            <a:normAutofit fontScale="55000" lnSpcReduction="19999"/>
          </a:bodyPr>
          <a:p>
            <a:pPr defTabSz="914400">
              <a:lnSpc>
                <a:spcPct val="110000"/>
              </a:lnSpc>
              <a:spcAft>
                <a:spcPts val="201"/>
              </a:spcAft>
              <a:tabLst>
                <a:tab algn="l" pos="0"/>
              </a:tabLst>
            </a:pPr>
            <a:r>
              <a:rPr b="1" lang="en-US" sz="900" strike="noStrike" u="none">
                <a:solidFill>
                  <a:srgbClr val="3dcd58"/>
                </a:solidFill>
                <a:effectLst/>
                <a:uFillTx/>
                <a:latin typeface="Calibri"/>
                <a:ea typeface="Calibri"/>
              </a:rPr>
              <a:t>▪ </a:t>
            </a:r>
            <a:r>
              <a:rPr b="0" lang="en-US" sz="900" strike="noStrike" u="none">
                <a:solidFill>
                  <a:srgbClr val="3a423c"/>
                </a:solidFill>
                <a:effectLst/>
                <a:uFillTx/>
                <a:latin typeface="Calibri"/>
                <a:ea typeface="Calibri"/>
              </a:rPr>
              <a:t>Consequence if deferred: value cannot be evidenced</a:t>
            </a:r>
            <a:endParaRPr b="0" lang="en-US" sz="900" strike="noStrike" u="none">
              <a:solidFill>
                <a:srgbClr val="000000"/>
              </a:solidFill>
              <a:effectLst/>
              <a:uFillTx/>
              <a:latin typeface="Arial"/>
            </a:endParaRPr>
          </a:p>
          <a:p>
            <a:pPr defTabSz="914400">
              <a:lnSpc>
                <a:spcPct val="110000"/>
              </a:lnSpc>
              <a:spcAft>
                <a:spcPts val="201"/>
              </a:spcAft>
              <a:tabLst>
                <a:tab algn="l" pos="0"/>
              </a:tabLst>
            </a:pPr>
            <a:r>
              <a:rPr b="1" lang="en-US" sz="900" strike="noStrike" u="none">
                <a:solidFill>
                  <a:srgbClr val="3dcd58"/>
                </a:solidFill>
                <a:effectLst/>
                <a:uFillTx/>
                <a:latin typeface="Calibri"/>
                <a:ea typeface="Calibri"/>
              </a:rPr>
              <a:t>▪ </a:t>
            </a:r>
            <a:r>
              <a:rPr b="0" lang="en-US" sz="900" strike="noStrike" u="none">
                <a:solidFill>
                  <a:srgbClr val="3a423c"/>
                </a:solidFill>
                <a:effectLst/>
                <a:uFillTx/>
                <a:latin typeface="Calibri"/>
                <a:ea typeface="Calibri"/>
              </a:rPr>
              <a:t>Decision needed within 30 days</a:t>
            </a:r>
            <a:endParaRPr b="0" lang="en-US" sz="900" strike="noStrike" u="none">
              <a:solidFill>
                <a:srgbClr val="000000"/>
              </a:solidFill>
              <a:effectLst/>
              <a:uFillTx/>
              <a:latin typeface="Arial"/>
            </a:endParaRPr>
          </a:p>
        </p:txBody>
      </p:sp>
      <p:sp>
        <p:nvSpPr>
          <p:cNvPr id="5849" name="Shape 28"/>
          <p:cNvSpPr/>
          <p:nvPr/>
        </p:nvSpPr>
        <p:spPr>
          <a:xfrm>
            <a:off x="621720" y="4311360"/>
            <a:ext cx="3466080" cy="1951920"/>
          </a:xfrm>
          <a:prstGeom prst="roundRect">
            <a:avLst>
              <a:gd name="adj" fmla="val 2810"/>
            </a:avLst>
          </a:prstGeom>
          <a:solidFill>
            <a:srgbClr val="ffffff"/>
          </a:solidFill>
          <a:ln w="9525">
            <a:solidFill>
              <a:srgbClr val="e2e6e2"/>
            </a:solidFill>
            <a:round/>
          </a:ln>
          <a:effectLst>
            <a:outerShdw algn="bl" blurRad="0" dir="0" dist="0" kx="0" ky="0" rotWithShape="0" sx="100000" sy="100000">
              <a:srgbClr val="0a1f12">
                <a:alpha val="0"/>
              </a:srgbClr>
            </a:outerShdw>
          </a:effectLst>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850" name="Shape 29"/>
          <p:cNvSpPr/>
          <p:nvPr/>
        </p:nvSpPr>
        <p:spPr>
          <a:xfrm>
            <a:off x="621720" y="4311360"/>
            <a:ext cx="63720" cy="19519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851" name="Shape 30"/>
          <p:cNvSpPr/>
          <p:nvPr/>
        </p:nvSpPr>
        <p:spPr>
          <a:xfrm>
            <a:off x="868680" y="4512600"/>
            <a:ext cx="438480" cy="438480"/>
          </a:xfrm>
          <a:prstGeom prst="ellipse">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852" name="Text 31"/>
          <p:cNvSpPr/>
          <p:nvPr/>
        </p:nvSpPr>
        <p:spPr>
          <a:xfrm>
            <a:off x="868680" y="4512600"/>
            <a:ext cx="43848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rgbClr val="007a27"/>
                </a:solidFill>
                <a:effectLst/>
                <a:uFillTx/>
                <a:latin typeface="Calibri"/>
                <a:ea typeface="Calibri"/>
              </a:rPr>
              <a:t>04</a:t>
            </a:r>
            <a:endParaRPr b="0" lang="en-US" sz="1200" strike="noStrike" u="none">
              <a:solidFill>
                <a:srgbClr val="000000"/>
              </a:solidFill>
              <a:effectLst/>
              <a:uFillTx/>
              <a:latin typeface="Arial"/>
            </a:endParaRPr>
          </a:p>
        </p:txBody>
      </p:sp>
      <p:sp>
        <p:nvSpPr>
          <p:cNvPr id="5853" name="Text 32"/>
          <p:cNvSpPr/>
          <p:nvPr/>
        </p:nvSpPr>
        <p:spPr>
          <a:xfrm>
            <a:off x="1398960" y="4494240"/>
            <a:ext cx="2460240" cy="502560"/>
          </a:xfrm>
          <a:prstGeom prst="rect">
            <a:avLst/>
          </a:prstGeom>
          <a:noFill/>
          <a:ln w="0">
            <a:noFill/>
          </a:ln>
        </p:spPr>
        <p:style>
          <a:lnRef idx="0"/>
          <a:fillRef idx="0"/>
          <a:effectRef idx="0"/>
          <a:fontRef idx="minor"/>
        </p:style>
        <p:txBody>
          <a:bodyPr lIns="0" rIns="0" tIns="0" bIns="0" anchor="ctr">
            <a:normAutofit/>
          </a:bodyPr>
          <a:p>
            <a:pPr defTabSz="914400">
              <a:lnSpc>
                <a:spcPct val="100000"/>
              </a:lnSpc>
              <a:tabLst>
                <a:tab algn="l" pos="0"/>
              </a:tabLst>
            </a:pPr>
            <a:r>
              <a:rPr b="1" lang="en-US" sz="1500" strike="noStrike" u="none">
                <a:solidFill>
                  <a:srgbClr val="1e2420"/>
                </a:solidFill>
                <a:effectLst/>
                <a:uFillTx/>
                <a:latin typeface="Calibri"/>
                <a:ea typeface="Calibri"/>
              </a:rPr>
              <a:t>Gate the next horizon</a:t>
            </a:r>
            <a:endParaRPr b="0" lang="en-US" sz="1500" strike="noStrike" u="none">
              <a:solidFill>
                <a:srgbClr val="000000"/>
              </a:solidFill>
              <a:effectLst/>
              <a:uFillTx/>
              <a:latin typeface="Arial"/>
            </a:endParaRPr>
          </a:p>
        </p:txBody>
      </p:sp>
      <p:sp>
        <p:nvSpPr>
          <p:cNvPr id="5854" name="Text 33"/>
          <p:cNvSpPr/>
          <p:nvPr/>
        </p:nvSpPr>
        <p:spPr>
          <a:xfrm>
            <a:off x="850320" y="5088600"/>
            <a:ext cx="3008880" cy="7768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100" strike="noStrike" u="none">
                <a:solidFill>
                  <a:srgbClr val="5a625c"/>
                </a:solidFill>
                <a:effectLst/>
                <a:uFillTx/>
                <a:latin typeface="Calibri"/>
                <a:ea typeface="Calibri"/>
              </a:rPr>
              <a:t>Fund 2028 against proof points, with explicit stop, adjust and scale decisions.</a:t>
            </a:r>
            <a:endParaRPr b="0" lang="en-US" sz="1100" strike="noStrike" u="none">
              <a:solidFill>
                <a:srgbClr val="000000"/>
              </a:solidFill>
              <a:effectLst/>
              <a:uFillTx/>
              <a:latin typeface="Arial"/>
            </a:endParaRPr>
          </a:p>
        </p:txBody>
      </p:sp>
      <p:sp>
        <p:nvSpPr>
          <p:cNvPr id="5855" name="Text 34"/>
          <p:cNvSpPr/>
          <p:nvPr/>
        </p:nvSpPr>
        <p:spPr>
          <a:xfrm>
            <a:off x="850320" y="5911560"/>
            <a:ext cx="3008880" cy="168840"/>
          </a:xfrm>
          <a:prstGeom prst="rect">
            <a:avLst/>
          </a:prstGeom>
          <a:noFill/>
          <a:ln w="0">
            <a:noFill/>
          </a:ln>
        </p:spPr>
        <p:style>
          <a:lnRef idx="0"/>
          <a:fillRef idx="0"/>
          <a:effectRef idx="0"/>
          <a:fontRef idx="minor"/>
        </p:style>
        <p:txBody>
          <a:bodyPr lIns="0" rIns="0" tIns="0" bIns="0" anchor="t">
            <a:normAutofit fontScale="55000" lnSpcReduction="19999"/>
          </a:bodyPr>
          <a:p>
            <a:pPr defTabSz="914400">
              <a:lnSpc>
                <a:spcPct val="110000"/>
              </a:lnSpc>
              <a:spcAft>
                <a:spcPts val="201"/>
              </a:spcAft>
              <a:tabLst>
                <a:tab algn="l" pos="0"/>
              </a:tabLst>
            </a:pPr>
            <a:r>
              <a:rPr b="1" lang="en-US" sz="900" strike="noStrike" u="none">
                <a:solidFill>
                  <a:srgbClr val="3dcd58"/>
                </a:solidFill>
                <a:effectLst/>
                <a:uFillTx/>
                <a:latin typeface="Calibri"/>
                <a:ea typeface="Calibri"/>
              </a:rPr>
              <a:t>▪ </a:t>
            </a:r>
            <a:r>
              <a:rPr b="0" lang="en-US" sz="900" strike="noStrike" u="none">
                <a:solidFill>
                  <a:srgbClr val="3a423c"/>
                </a:solidFill>
                <a:effectLst/>
                <a:uFillTx/>
                <a:latin typeface="Calibri"/>
                <a:ea typeface="Calibri"/>
              </a:rPr>
              <a:t>Consequence if deferred: directional bets harden into promises</a:t>
            </a:r>
            <a:endParaRPr b="0" lang="en-US" sz="900" strike="noStrike" u="none">
              <a:solidFill>
                <a:srgbClr val="000000"/>
              </a:solidFill>
              <a:effectLst/>
              <a:uFillTx/>
              <a:latin typeface="Arial"/>
            </a:endParaRPr>
          </a:p>
          <a:p>
            <a:pPr defTabSz="914400">
              <a:lnSpc>
                <a:spcPct val="110000"/>
              </a:lnSpc>
              <a:spcAft>
                <a:spcPts val="201"/>
              </a:spcAft>
              <a:tabLst>
                <a:tab algn="l" pos="0"/>
              </a:tabLst>
            </a:pPr>
            <a:r>
              <a:rPr b="1" lang="en-US" sz="900" strike="noStrike" u="none">
                <a:solidFill>
                  <a:srgbClr val="3dcd58"/>
                </a:solidFill>
                <a:effectLst/>
                <a:uFillTx/>
                <a:latin typeface="Calibri"/>
                <a:ea typeface="Calibri"/>
              </a:rPr>
              <a:t>▪ </a:t>
            </a:r>
            <a:r>
              <a:rPr b="0" lang="en-US" sz="900" strike="noStrike" u="none">
                <a:solidFill>
                  <a:srgbClr val="3a423c"/>
                </a:solidFill>
                <a:effectLst/>
                <a:uFillTx/>
                <a:latin typeface="Calibri"/>
                <a:ea typeface="Calibri"/>
              </a:rPr>
              <a:t>Decision needed at Gate 3</a:t>
            </a:r>
            <a:endParaRPr b="0" lang="en-US" sz="900" strike="noStrike" u="none">
              <a:solidFill>
                <a:srgbClr val="000000"/>
              </a:solidFill>
              <a:effectLst/>
              <a:uFillTx/>
              <a:latin typeface="Arial"/>
            </a:endParaRPr>
          </a:p>
        </p:txBody>
      </p:sp>
      <p:sp>
        <p:nvSpPr>
          <p:cNvPr id="5856" name="Shape 35"/>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857" name="Text 36"/>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5858" name="Text 37"/>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5859" name="PlaceHolder 1"/>
          <p:cNvSpPr>
            <a:spLocks noGrp="1"/>
          </p:cNvSpPr>
          <p:nvPr>
            <p:ph type="sldNum" idx="133"/>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EF771CA9-0BEB-4413-B65A-EF38679097C5}"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860" name="Shape 0"/>
          <p:cNvSpPr/>
          <p:nvPr/>
        </p:nvSpPr>
        <p:spPr>
          <a:xfrm>
            <a:off x="0" y="0"/>
            <a:ext cx="12191400" cy="82080"/>
          </a:xfrm>
          <a:prstGeom prst="rect">
            <a:avLst/>
          </a:prstGeom>
          <a:solidFill>
            <a:srgbClr val="3dcd58"/>
          </a:solidFill>
          <a:ln w="12700">
            <a:solidFill>
              <a:srgbClr val="3dcd58"/>
            </a:solidFill>
            <a:round/>
          </a:ln>
        </p:spPr>
        <p:style>
          <a:lnRef idx="0"/>
          <a:fillRef idx="0"/>
          <a:effectRef idx="0"/>
          <a:fontRef idx="minor"/>
        </p:style>
        <p:txBody>
          <a:bodyPr lIns="90000" rIns="90000" tIns="37440" bIns="37440" anchor="t">
            <a:noAutofit/>
          </a:bodyPr>
          <a:p>
            <a:endParaRPr b="0" lang="en-US" sz="1800" strike="noStrike" u="none">
              <a:solidFill>
                <a:srgbClr val="000000"/>
              </a:solidFill>
              <a:effectLst/>
              <a:uFillTx/>
              <a:latin typeface="Arial"/>
            </a:endParaRPr>
          </a:p>
        </p:txBody>
      </p:sp>
      <p:sp>
        <p:nvSpPr>
          <p:cNvPr id="5861" name="Shape 1"/>
          <p:cNvSpPr/>
          <p:nvPr/>
        </p:nvSpPr>
        <p:spPr>
          <a:xfrm>
            <a:off x="0" y="82440"/>
            <a:ext cx="12191400" cy="13320"/>
          </a:xfrm>
          <a:prstGeom prst="rect">
            <a:avLst/>
          </a:prstGeom>
          <a:solidFill>
            <a:srgbClr val="005730"/>
          </a:solidFill>
          <a:ln w="12700">
            <a:solidFill>
              <a:srgbClr val="005730"/>
            </a:solidFill>
            <a:round/>
          </a:ln>
        </p:spPr>
        <p:style>
          <a:lnRef idx="0"/>
          <a:fillRef idx="0"/>
          <a:effectRef idx="0"/>
          <a:fontRef idx="minor"/>
        </p:style>
        <p:txBody>
          <a:bodyPr lIns="90000" rIns="90000" tIns="-31320" bIns="-31320" anchor="t">
            <a:noAutofit/>
          </a:bodyPr>
          <a:p>
            <a:endParaRPr b="0" lang="en-US" sz="1800" strike="noStrike" u="none">
              <a:solidFill>
                <a:srgbClr val="ffffff"/>
              </a:solidFill>
              <a:effectLst/>
              <a:uFillTx/>
              <a:latin typeface="Arial"/>
            </a:endParaRPr>
          </a:p>
        </p:txBody>
      </p:sp>
      <p:sp>
        <p:nvSpPr>
          <p:cNvPr id="5862" name="Shape 2"/>
          <p:cNvSpPr/>
          <p:nvPr/>
        </p:nvSpPr>
        <p:spPr>
          <a:xfrm>
            <a:off x="621720" y="311040"/>
            <a:ext cx="1238760" cy="292320"/>
          </a:xfrm>
          <a:prstGeom prst="roundRect">
            <a:avLst>
              <a:gd name="adj" fmla="val 50000"/>
            </a:avLst>
          </a:prstGeom>
          <a:solidFill>
            <a:srgbClr val="eaf8ed"/>
          </a:solidFill>
          <a:ln w="12700">
            <a:solidFill>
              <a:srgbClr val="eaf8ed"/>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863" name="Text 3"/>
          <p:cNvSpPr/>
          <p:nvPr/>
        </p:nvSpPr>
        <p:spPr>
          <a:xfrm>
            <a:off x="804600" y="329040"/>
            <a:ext cx="909360" cy="255600"/>
          </a:xfrm>
          <a:prstGeom prst="rect">
            <a:avLst/>
          </a:prstGeom>
          <a:noFill/>
          <a:ln w="0">
            <a:noFill/>
          </a:ln>
        </p:spPr>
        <p:style>
          <a:lnRef idx="0"/>
          <a:fillRef idx="0"/>
          <a:effectRef idx="0"/>
          <a:fontRef idx="minor"/>
        </p:style>
        <p:txBody>
          <a:bodyPr wrap="none" lIns="0" rIns="0" tIns="0" bIns="0" anchor="ctr">
            <a:noAutofit/>
          </a:bodyPr>
          <a:p>
            <a:pPr defTabSz="914400">
              <a:lnSpc>
                <a:spcPct val="100000"/>
              </a:lnSpc>
              <a:tabLst>
                <a:tab algn="l" pos="0"/>
              </a:tabLst>
            </a:pPr>
            <a:r>
              <a:rPr b="1" lang="en-US" sz="950" spc="139" strike="noStrike" u="none">
                <a:solidFill>
                  <a:srgbClr val="007a27"/>
                </a:solidFill>
                <a:effectLst/>
                <a:uFillTx/>
                <a:latin typeface="Calibri"/>
                <a:ea typeface="Calibri"/>
              </a:rPr>
              <a:t>THE ASK</a:t>
            </a:r>
            <a:endParaRPr b="0" lang="en-US" sz="950" strike="noStrike" u="none">
              <a:solidFill>
                <a:srgbClr val="000000"/>
              </a:solidFill>
              <a:effectLst/>
              <a:uFillTx/>
              <a:latin typeface="Arial"/>
            </a:endParaRPr>
          </a:p>
        </p:txBody>
      </p:sp>
      <p:sp>
        <p:nvSpPr>
          <p:cNvPr id="5864" name="Text 4"/>
          <p:cNvSpPr/>
          <p:nvPr/>
        </p:nvSpPr>
        <p:spPr>
          <a:xfrm>
            <a:off x="621720" y="768240"/>
            <a:ext cx="10947600" cy="6580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3200" strike="noStrike" u="none">
                <a:solidFill>
                  <a:srgbClr val="1e2420"/>
                </a:solidFill>
                <a:effectLst/>
                <a:uFillTx/>
                <a:latin typeface="Calibri"/>
                <a:ea typeface="Calibri"/>
              </a:rPr>
              <a:t>What we need to leave with today</a:t>
            </a:r>
            <a:endParaRPr b="0" lang="en-US" sz="3200" strike="noStrike" u="none">
              <a:solidFill>
                <a:srgbClr val="000000"/>
              </a:solidFill>
              <a:effectLst/>
              <a:uFillTx/>
              <a:latin typeface="Arial"/>
            </a:endParaRPr>
          </a:p>
        </p:txBody>
      </p:sp>
      <p:sp>
        <p:nvSpPr>
          <p:cNvPr id="5865" name="Text 5"/>
          <p:cNvSpPr/>
          <p:nvPr/>
        </p:nvSpPr>
        <p:spPr>
          <a:xfrm>
            <a:off x="621720" y="1463040"/>
            <a:ext cx="10947600" cy="31068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5a625c"/>
                </a:solidFill>
                <a:effectLst/>
                <a:uFillTx/>
                <a:latin typeface="Calibri"/>
                <a:ea typeface="Calibri"/>
              </a:rPr>
              <a:t>Three immediate asks that unlock the Q4 lock and the shape of 2027.</a:t>
            </a:r>
            <a:endParaRPr b="0" lang="en-US" sz="1250" strike="noStrike" u="none">
              <a:solidFill>
                <a:srgbClr val="000000"/>
              </a:solidFill>
              <a:effectLst/>
              <a:uFillTx/>
              <a:latin typeface="Arial"/>
            </a:endParaRPr>
          </a:p>
        </p:txBody>
      </p:sp>
      <p:sp>
        <p:nvSpPr>
          <p:cNvPr id="5866" name="Shape 6"/>
          <p:cNvSpPr/>
          <p:nvPr/>
        </p:nvSpPr>
        <p:spPr>
          <a:xfrm>
            <a:off x="621720" y="192024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867" name="Shape 7"/>
          <p:cNvSpPr/>
          <p:nvPr/>
        </p:nvSpPr>
        <p:spPr>
          <a:xfrm>
            <a:off x="621720" y="2987640"/>
            <a:ext cx="3466080" cy="1782720"/>
          </a:xfrm>
          <a:prstGeom prst="roundRect">
            <a:avLst>
              <a:gd name="adj" fmla="val 2051"/>
            </a:avLst>
          </a:prstGeom>
          <a:solidFill>
            <a:srgbClr val="ffffff"/>
          </a:solidFill>
          <a:ln w="1016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868" name="Shape 8"/>
          <p:cNvSpPr/>
          <p:nvPr/>
        </p:nvSpPr>
        <p:spPr>
          <a:xfrm>
            <a:off x="621720" y="2987640"/>
            <a:ext cx="63720" cy="17827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869" name="Text 9"/>
          <p:cNvSpPr/>
          <p:nvPr/>
        </p:nvSpPr>
        <p:spPr>
          <a:xfrm>
            <a:off x="850320" y="3188880"/>
            <a:ext cx="300888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000" spc="150" strike="noStrike" u="none">
                <a:solidFill>
                  <a:srgbClr val="007a27"/>
                </a:solidFill>
                <a:effectLst/>
                <a:uFillTx/>
                <a:latin typeface="Calibri"/>
                <a:ea typeface="Calibri"/>
              </a:rPr>
              <a:t>DECISION 01</a:t>
            </a:r>
            <a:endParaRPr b="0" lang="en-US" sz="1000" strike="noStrike" u="none">
              <a:solidFill>
                <a:srgbClr val="000000"/>
              </a:solidFill>
              <a:effectLst/>
              <a:uFillTx/>
              <a:latin typeface="Arial"/>
            </a:endParaRPr>
          </a:p>
        </p:txBody>
      </p:sp>
      <p:sp>
        <p:nvSpPr>
          <p:cNvPr id="5870" name="Text 10"/>
          <p:cNvSpPr/>
          <p:nvPr/>
        </p:nvSpPr>
        <p:spPr>
          <a:xfrm>
            <a:off x="850320" y="3499920"/>
            <a:ext cx="3008880" cy="4568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Endorse the Q4 wedge</a:t>
            </a:r>
            <a:endParaRPr b="0" lang="en-US" sz="1600" strike="noStrike" u="none">
              <a:solidFill>
                <a:srgbClr val="000000"/>
              </a:solidFill>
              <a:effectLst/>
              <a:uFillTx/>
              <a:latin typeface="Arial"/>
            </a:endParaRPr>
          </a:p>
        </p:txBody>
      </p:sp>
      <p:sp>
        <p:nvSpPr>
          <p:cNvPr id="5871" name="Text 11"/>
          <p:cNvSpPr/>
          <p:nvPr/>
        </p:nvSpPr>
        <p:spPr>
          <a:xfrm>
            <a:off x="850320" y="3993480"/>
            <a:ext cx="3008880" cy="5756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1e2420"/>
                </a:solidFill>
                <a:effectLst/>
                <a:uFillTx/>
                <a:latin typeface="Calibri"/>
                <a:ea typeface="Calibri"/>
              </a:rPr>
              <a:t>Emission factors and calculation depth first, with the deferred list accepted as stated.</a:t>
            </a:r>
            <a:endParaRPr b="0" lang="en-US" sz="1250" strike="noStrike" u="none">
              <a:solidFill>
                <a:srgbClr val="000000"/>
              </a:solidFill>
              <a:effectLst/>
              <a:uFillTx/>
              <a:latin typeface="Arial"/>
            </a:endParaRPr>
          </a:p>
        </p:txBody>
      </p:sp>
      <p:sp>
        <p:nvSpPr>
          <p:cNvPr id="5872" name="Shape 12"/>
          <p:cNvSpPr/>
          <p:nvPr/>
        </p:nvSpPr>
        <p:spPr>
          <a:xfrm>
            <a:off x="4362480" y="2987640"/>
            <a:ext cx="3466080" cy="1782720"/>
          </a:xfrm>
          <a:prstGeom prst="roundRect">
            <a:avLst>
              <a:gd name="adj" fmla="val 2051"/>
            </a:avLst>
          </a:prstGeom>
          <a:solidFill>
            <a:srgbClr val="ffffff"/>
          </a:solidFill>
          <a:ln w="1016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873" name="Shape 13"/>
          <p:cNvSpPr/>
          <p:nvPr/>
        </p:nvSpPr>
        <p:spPr>
          <a:xfrm>
            <a:off x="4362480" y="2987640"/>
            <a:ext cx="63720" cy="17827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874" name="Text 14"/>
          <p:cNvSpPr/>
          <p:nvPr/>
        </p:nvSpPr>
        <p:spPr>
          <a:xfrm>
            <a:off x="4591080" y="3188880"/>
            <a:ext cx="300888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000" spc="150" strike="noStrike" u="none">
                <a:solidFill>
                  <a:srgbClr val="007a27"/>
                </a:solidFill>
                <a:effectLst/>
                <a:uFillTx/>
                <a:latin typeface="Calibri"/>
                <a:ea typeface="Calibri"/>
              </a:rPr>
              <a:t>DECISION 02</a:t>
            </a:r>
            <a:endParaRPr b="0" lang="en-US" sz="1000" strike="noStrike" u="none">
              <a:solidFill>
                <a:srgbClr val="000000"/>
              </a:solidFill>
              <a:effectLst/>
              <a:uFillTx/>
              <a:latin typeface="Arial"/>
            </a:endParaRPr>
          </a:p>
        </p:txBody>
      </p:sp>
      <p:sp>
        <p:nvSpPr>
          <p:cNvPr id="5875" name="Text 15"/>
          <p:cNvSpPr/>
          <p:nvPr/>
        </p:nvSpPr>
        <p:spPr>
          <a:xfrm>
            <a:off x="4591080" y="3499920"/>
            <a:ext cx="3008880" cy="4568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Hold the capacity line</a:t>
            </a:r>
            <a:endParaRPr b="0" lang="en-US" sz="1600" strike="noStrike" u="none">
              <a:solidFill>
                <a:srgbClr val="000000"/>
              </a:solidFill>
              <a:effectLst/>
              <a:uFillTx/>
              <a:latin typeface="Arial"/>
            </a:endParaRPr>
          </a:p>
        </p:txBody>
      </p:sp>
      <p:sp>
        <p:nvSpPr>
          <p:cNvPr id="5876" name="Text 16"/>
          <p:cNvSpPr/>
          <p:nvPr/>
        </p:nvSpPr>
        <p:spPr>
          <a:xfrm>
            <a:off x="4591080" y="3993480"/>
            <a:ext cx="3008880" cy="5756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1e2420"/>
                </a:solidFill>
                <a:effectLst/>
                <a:uFillTx/>
                <a:latin typeface="Calibri"/>
                <a:ea typeface="Calibri"/>
              </a:rPr>
              <a:t>Approve roughly 45 solution slots for Q4 and the ranked cut at organizational boundary and consolidation.</a:t>
            </a:r>
            <a:endParaRPr b="0" lang="en-US" sz="1250" strike="noStrike" u="none">
              <a:solidFill>
                <a:srgbClr val="000000"/>
              </a:solidFill>
              <a:effectLst/>
              <a:uFillTx/>
              <a:latin typeface="Arial"/>
            </a:endParaRPr>
          </a:p>
        </p:txBody>
      </p:sp>
      <p:sp>
        <p:nvSpPr>
          <p:cNvPr id="5877" name="Shape 17"/>
          <p:cNvSpPr/>
          <p:nvPr/>
        </p:nvSpPr>
        <p:spPr>
          <a:xfrm>
            <a:off x="8103240" y="2987640"/>
            <a:ext cx="3466080" cy="1782720"/>
          </a:xfrm>
          <a:prstGeom prst="roundRect">
            <a:avLst>
              <a:gd name="adj" fmla="val 2051"/>
            </a:avLst>
          </a:prstGeom>
          <a:solidFill>
            <a:srgbClr val="ffffff"/>
          </a:solidFill>
          <a:ln w="10160">
            <a:solidFill>
              <a:srgbClr val="e2e6e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878" name="Shape 18"/>
          <p:cNvSpPr/>
          <p:nvPr/>
        </p:nvSpPr>
        <p:spPr>
          <a:xfrm>
            <a:off x="8103240" y="2987640"/>
            <a:ext cx="63720" cy="1782720"/>
          </a:xfrm>
          <a:prstGeom prst="rect">
            <a:avLst/>
          </a:prstGeom>
          <a:solidFill>
            <a:srgbClr val="3dcd58"/>
          </a:solidFill>
          <a:ln w="12700">
            <a:solidFill>
              <a:srgbClr val="3dcd58"/>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5879" name="Text 19"/>
          <p:cNvSpPr/>
          <p:nvPr/>
        </p:nvSpPr>
        <p:spPr>
          <a:xfrm>
            <a:off x="8331840" y="3188880"/>
            <a:ext cx="300888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000" spc="150" strike="noStrike" u="none">
                <a:solidFill>
                  <a:srgbClr val="007a27"/>
                </a:solidFill>
                <a:effectLst/>
                <a:uFillTx/>
                <a:latin typeface="Calibri"/>
                <a:ea typeface="Calibri"/>
              </a:rPr>
              <a:t>DECISION 03</a:t>
            </a:r>
            <a:endParaRPr b="0" lang="en-US" sz="1000" strike="noStrike" u="none">
              <a:solidFill>
                <a:srgbClr val="000000"/>
              </a:solidFill>
              <a:effectLst/>
              <a:uFillTx/>
              <a:latin typeface="Arial"/>
            </a:endParaRPr>
          </a:p>
        </p:txBody>
      </p:sp>
      <p:sp>
        <p:nvSpPr>
          <p:cNvPr id="5880" name="Text 20"/>
          <p:cNvSpPr/>
          <p:nvPr/>
        </p:nvSpPr>
        <p:spPr>
          <a:xfrm>
            <a:off x="8331840" y="3499920"/>
            <a:ext cx="3008880" cy="4568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1" lang="en-US" sz="1600" strike="noStrike" u="none">
                <a:solidFill>
                  <a:srgbClr val="1e2420"/>
                </a:solidFill>
                <a:effectLst/>
                <a:uFillTx/>
                <a:latin typeface="Calibri"/>
                <a:ea typeface="Calibri"/>
              </a:rPr>
              <a:t>Confirm the 2027 bets</a:t>
            </a:r>
            <a:endParaRPr b="0" lang="en-US" sz="1600" strike="noStrike" u="none">
              <a:solidFill>
                <a:srgbClr val="000000"/>
              </a:solidFill>
              <a:effectLst/>
              <a:uFillTx/>
              <a:latin typeface="Arial"/>
            </a:endParaRPr>
          </a:p>
        </p:txBody>
      </p:sp>
      <p:sp>
        <p:nvSpPr>
          <p:cNvPr id="5881" name="Text 21"/>
          <p:cNvSpPr/>
          <p:nvPr/>
        </p:nvSpPr>
        <p:spPr>
          <a:xfrm>
            <a:off x="8331840" y="3993480"/>
            <a:ext cx="3008880" cy="575640"/>
          </a:xfrm>
          <a:prstGeom prst="rect">
            <a:avLst/>
          </a:prstGeom>
          <a:noFill/>
          <a:ln w="0">
            <a:noFill/>
          </a:ln>
        </p:spPr>
        <p:style>
          <a:lnRef idx="0"/>
          <a:fillRef idx="0"/>
          <a:effectRef idx="0"/>
          <a:fontRef idx="minor"/>
        </p:style>
        <p:txBody>
          <a:bodyPr lIns="0" rIns="0" tIns="0" bIns="0" anchor="t">
            <a:normAutofit/>
          </a:bodyPr>
          <a:p>
            <a:pPr defTabSz="914400">
              <a:lnSpc>
                <a:spcPct val="100000"/>
              </a:lnSpc>
              <a:tabLst>
                <a:tab algn="l" pos="0"/>
              </a:tabLst>
            </a:pPr>
            <a:r>
              <a:rPr b="0" lang="en-US" sz="1250" strike="noStrike" u="none">
                <a:solidFill>
                  <a:srgbClr val="1e2420"/>
                </a:solidFill>
                <a:effectLst/>
                <a:uFillTx/>
                <a:latin typeface="Calibri"/>
                <a:ea typeface="Calibri"/>
              </a:rPr>
              <a:t>Close the inventory, move from measurement to decisions, and compound CP data across RA+.</a:t>
            </a:r>
            <a:endParaRPr b="0" lang="en-US" sz="1250" strike="noStrike" u="none">
              <a:solidFill>
                <a:srgbClr val="000000"/>
              </a:solidFill>
              <a:effectLst/>
              <a:uFillTx/>
              <a:latin typeface="Arial"/>
            </a:endParaRPr>
          </a:p>
        </p:txBody>
      </p:sp>
      <p:sp>
        <p:nvSpPr>
          <p:cNvPr id="5882" name="Shape 22"/>
          <p:cNvSpPr/>
          <p:nvPr/>
        </p:nvSpPr>
        <p:spPr>
          <a:xfrm>
            <a:off x="621720" y="6437160"/>
            <a:ext cx="10947960" cy="360"/>
          </a:xfrm>
          <a:prstGeom prst="line">
            <a:avLst/>
          </a:prstGeom>
          <a:ln w="9525">
            <a:solidFill>
              <a:srgbClr val="e2e6e2"/>
            </a:solidFill>
            <a:round/>
          </a:ln>
        </p:spPr>
        <p:style>
          <a:lnRef idx="0"/>
          <a:fillRef idx="0"/>
          <a:effectRef idx="0"/>
          <a:fontRef idx="minor"/>
        </p:style>
        <p:txBody>
          <a:bodyPr lIns="90000" rIns="90000" tIns="-44640" bIns="-44640" anchor="t" anchorCtr="1">
            <a:noAutofit/>
          </a:bodyPr>
          <a:p>
            <a:endParaRPr b="0" lang="en-US" sz="1800" strike="noStrike" u="none">
              <a:solidFill>
                <a:srgbClr val="000000"/>
              </a:solidFill>
              <a:effectLst/>
              <a:uFillTx/>
              <a:latin typeface="Arial"/>
            </a:endParaRPr>
          </a:p>
        </p:txBody>
      </p:sp>
      <p:sp>
        <p:nvSpPr>
          <p:cNvPr id="5883" name="Text 23"/>
          <p:cNvSpPr/>
          <p:nvPr/>
        </p:nvSpPr>
        <p:spPr>
          <a:xfrm>
            <a:off x="621720" y="6510600"/>
            <a:ext cx="5028840" cy="164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750" spc="111" strike="noStrike" u="none">
                <a:solidFill>
                  <a:srgbClr val="007a27"/>
                </a:solidFill>
                <a:effectLst/>
                <a:uFillTx/>
                <a:latin typeface="Calibri"/>
                <a:ea typeface="Calibri"/>
              </a:rPr>
              <a:t>SCHNEIDER ELECTRIC</a:t>
            </a:r>
            <a:r>
              <a:rPr b="1" lang="en-US" sz="750" spc="111" strike="noStrike" u="none">
                <a:solidFill>
                  <a:srgbClr val="5a625c"/>
                </a:solidFill>
                <a:effectLst/>
                <a:uFillTx/>
                <a:latin typeface="Calibri"/>
                <a:ea typeface="Calibri"/>
              </a:rPr>
              <a:t>  |  RA+ ROADMAP</a:t>
            </a:r>
            <a:endParaRPr b="0" lang="en-US" sz="750" strike="noStrike" u="none">
              <a:solidFill>
                <a:srgbClr val="000000"/>
              </a:solidFill>
              <a:effectLst/>
              <a:uFillTx/>
              <a:latin typeface="Arial"/>
            </a:endParaRPr>
          </a:p>
        </p:txBody>
      </p:sp>
      <p:sp>
        <p:nvSpPr>
          <p:cNvPr id="5884" name="Text 24"/>
          <p:cNvSpPr/>
          <p:nvPr/>
        </p:nvSpPr>
        <p:spPr>
          <a:xfrm>
            <a:off x="8643960" y="6510600"/>
            <a:ext cx="2102760" cy="1641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750" spc="111" strike="noStrike" u="none">
                <a:solidFill>
                  <a:srgbClr val="5a625c"/>
                </a:solidFill>
                <a:effectLst/>
                <a:uFillTx/>
                <a:latin typeface="Calibri"/>
                <a:ea typeface="Calibri"/>
              </a:rPr>
              <a:t>INTERNAL USE ONLY</a:t>
            </a:r>
            <a:endParaRPr b="0" lang="en-US" sz="750" strike="noStrike" u="none">
              <a:solidFill>
                <a:srgbClr val="000000"/>
              </a:solidFill>
              <a:effectLst/>
              <a:uFillTx/>
              <a:latin typeface="Arial"/>
            </a:endParaRPr>
          </a:p>
        </p:txBody>
      </p:sp>
      <p:sp>
        <p:nvSpPr>
          <p:cNvPr id="5885" name="PlaceHolder 1"/>
          <p:cNvSpPr>
            <a:spLocks noGrp="1"/>
          </p:cNvSpPr>
          <p:nvPr>
            <p:ph type="sldNum" idx="134"/>
          </p:nvPr>
        </p:nvSpPr>
        <p:spPr>
          <a:xfrm>
            <a:off x="10929960" y="6492240"/>
            <a:ext cx="639720" cy="182520"/>
          </a:xfrm>
          <a:prstGeom prst="rect">
            <a:avLst/>
          </a:prstGeom>
          <a:noFill/>
          <a:ln w="0">
            <a:noFill/>
          </a:ln>
        </p:spPr>
        <p:txBody>
          <a:bodyPr lIns="90000" rIns="90000" tIns="45000" bIns="45000" anchor="t">
            <a:noAutofit/>
          </a:bodyPr>
          <a:lstStyle>
            <a:lvl1pPr indent="0" algn="r" defTabSz="914400">
              <a:lnSpc>
                <a:spcPct val="100000"/>
              </a:lnSpc>
              <a:buNone/>
              <a:defRPr b="1" lang="en-US" sz="800" strike="noStrike" u="none">
                <a:solidFill>
                  <a:srgbClr val="007a27"/>
                </a:solidFill>
                <a:effectLst/>
                <a:uFillTx/>
                <a:latin typeface="Calibri"/>
                <a:ea typeface="Calibri"/>
              </a:defRPr>
            </a:lvl1pPr>
          </a:lstStyle>
          <a:p>
            <a:pPr indent="0" algn="r" defTabSz="914400">
              <a:lnSpc>
                <a:spcPct val="100000"/>
              </a:lnSpc>
              <a:buNone/>
            </a:pPr>
            <a:fld id="{939D35FF-9AF0-480F-B609-B059DEC784AA}" type="slidenum">
              <a:rPr b="1" lang="en-US" sz="800" strike="noStrike" u="none">
                <a:solidFill>
                  <a:srgbClr val="007a27"/>
                </a:solidFill>
                <a:effectLst/>
                <a:uFillTx/>
                <a:latin typeface="Calibri"/>
                <a:ea typeface="Calibri"/>
              </a:rPr>
              <a:t>&lt;number&gt;</a:t>
            </a:fld>
            <a:endParaRPr b="0" lang="en-US" sz="800" strike="noStrike" u="non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LibreOffice/25.2.6.2$Linux_X86_64 LibreOffice_project/520$Build-2</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2026-09-07T10:58:41Z</dcterms:created>
  <dc:creator>Schneider Electric, Sustainability Business</dc:creator>
  <dc:description/>
  <dc:language>en-US</dc:language>
  <cp:lastModifiedBy>Schneider Electric, Sustainability Business</cp:lastModifiedBy>
  <dcterms:modified xsi:type="dcterms:W3CDTF">2026-09-07T10:58:41Z</dcterms:modified>
  <cp:revision>1</cp:revision>
  <dc:subject>PptxGenJS Presentation</dc:subject>
  <dc:title>Carbon Performance Roadmap 2026 and 2027</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150</vt:r8>
  </property>
  <property fmtid="{D5CDD505-2E9C-101B-9397-08002B2CF9AE}" pid="3" name="PresentationFormat">
    <vt:lpwstr>On-screen Show (16:9)</vt:lpwstr>
  </property>
  <property fmtid="{D5CDD505-2E9C-101B-9397-08002B2CF9AE}" pid="4" name="Slides">
    <vt:r8>150</vt:r8>
  </property>
</Properties>
</file>