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1</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01</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platform we are building</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One data spine, three domains, and the convergence that no point solution can copy.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Trust: data, AI and security</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 system of record only works if customers and auditors trust how it handles their data.</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76200" dist="25400" dir="5400000">
              <a:srgbClr val="0A1F12">
                <a:alpha val="12000"/>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DATA</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Traceable by design</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Every number can be explained back to its source.</a:t>
            </a:r>
            <a:endParaRPr lang="en-US" sz="1100" dirty="0"/>
          </a:p>
        </p:txBody>
      </p:sp>
      <p:sp>
        <p:nvSpPr>
          <p:cNvPr id="14" name="Text 12"/>
          <p:cNvSpPr/>
          <p:nvPr/>
        </p:nvSpPr>
        <p:spPr>
          <a:xfrm>
            <a:off x="822960"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Lineage from source record to disclosed figure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and audit trail held with the data</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data definitions and controls applied consistently across products</a:t>
            </a:r>
            <a:endParaRPr lang="en-US" sz="1100" dirty="0"/>
          </a:p>
        </p:txBody>
      </p:sp>
      <p:sp>
        <p:nvSpPr>
          <p:cNvPr id="15" name="Shape 13"/>
          <p:cNvSpPr/>
          <p:nvPr/>
        </p:nvSpPr>
        <p:spPr>
          <a:xfrm>
            <a:off x="4362602"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967740000" dist="322580000" dir="324000000000">
              <a:srgbClr val="0A1F12">
                <a:alpha val="1200000000"/>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AI</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Assisted, never unaccountable</a:t>
            </a:r>
            <a:endParaRPr lang="en-US" sz="14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AI accelerates the work, humans keep the sign off.</a:t>
            </a:r>
            <a:endParaRPr lang="en-US" sz="1100" dirty="0"/>
          </a:p>
        </p:txBody>
      </p:sp>
      <p:sp>
        <p:nvSpPr>
          <p:cNvPr id="20" name="Text 18"/>
          <p:cNvSpPr/>
          <p:nvPr/>
        </p:nvSpPr>
        <p:spPr>
          <a:xfrm>
            <a:off x="4563770"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suggestions are reviewable and reversible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Method and factor choices remain transparent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No AI output enters a disclosure without human approval</a:t>
            </a:r>
            <a:endParaRPr lang="en-US" sz="1100" dirty="0"/>
          </a:p>
        </p:txBody>
      </p:sp>
      <p:sp>
        <p:nvSpPr>
          <p:cNvPr id="21" name="Shape 19"/>
          <p:cNvSpPr/>
          <p:nvPr/>
        </p:nvSpPr>
        <p:spPr>
          <a:xfrm>
            <a:off x="8103413" y="2084832"/>
            <a:ext cx="3466490" cy="3419856"/>
          </a:xfrm>
          <a:prstGeom prst="roundRect">
            <a:avLst>
              <a:gd name="adj" fmla="val 1604"/>
            </a:avLst>
          </a:prstGeom>
          <a:solidFill>
            <a:srgbClr val="FFFFFF"/>
          </a:solidFill>
          <a:ln w="9525">
            <a:solidFill>
              <a:srgbClr val="E2E6E2"/>
            </a:solidFill>
            <a:prstDash val="solid"/>
          </a:ln>
          <a:effectLst>
            <a:outerShdw sx="100000" sy="100000" kx="0" ky="0" algn="bl" rotWithShape="0" blurRad="12290298000000" dist="4096766000000" dir="19440000000000000">
              <a:srgbClr val="0A1F12">
                <a:alpha val="120000000000000"/>
              </a:srgbClr>
            </a:outerShdw>
          </a:effectLst>
        </p:spPr>
      </p:sp>
      <p:sp>
        <p:nvSpPr>
          <p:cNvPr id="22" name="Shape 20"/>
          <p:cNvSpPr/>
          <p:nvPr/>
        </p:nvSpPr>
        <p:spPr>
          <a:xfrm>
            <a:off x="8103413" y="2084832"/>
            <a:ext cx="3466490" cy="73152"/>
          </a:xfrm>
          <a:prstGeom prst="rect">
            <a:avLst/>
          </a:prstGeom>
          <a:solidFill>
            <a:srgbClr val="275B7F"/>
          </a:solidFill>
          <a:ln w="12700">
            <a:solidFill>
              <a:srgbClr val="275B7F"/>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SECURITY</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Enterprise grade controls</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Aligned to Schneider Electric enterprise standards.</a:t>
            </a:r>
            <a:endParaRPr lang="en-US" sz="1100" dirty="0"/>
          </a:p>
        </p:txBody>
      </p:sp>
      <p:sp>
        <p:nvSpPr>
          <p:cNvPr id="26" name="Text 24"/>
          <p:cNvSpPr/>
          <p:nvPr/>
        </p:nvSpPr>
        <p:spPr>
          <a:xfrm>
            <a:off x="8304581" y="3776472"/>
            <a:ext cx="3100730"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access across products and hierarchy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Segregated customer data with controlled sharing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Security and compliance posture confirmed with the internal teams</a:t>
            </a:r>
            <a:endParaRPr lang="en-US" sz="1100" dirty="0"/>
          </a:p>
        </p:txBody>
      </p:sp>
      <p:sp>
        <p:nvSpPr>
          <p:cNvPr id="27" name="Shape 25"/>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156086784600000000" dist="52028928200000000" dir="1.1664e+21">
              <a:srgbClr val="0A1F12">
                <a:alpha val="12000000000000000000"/>
              </a:srgbClr>
            </a:outerShdw>
          </a:effectLst>
        </p:spPr>
      </p:sp>
      <p:sp>
        <p:nvSpPr>
          <p:cNvPr id="28" name="Shape 26"/>
          <p:cNvSpPr/>
          <p:nvPr/>
        </p:nvSpPr>
        <p:spPr>
          <a:xfrm>
            <a:off x="676656" y="5760720"/>
            <a:ext cx="45720" cy="365760"/>
          </a:xfrm>
          <a:prstGeom prst="rect">
            <a:avLst/>
          </a:prstGeom>
          <a:solidFill>
            <a:srgbClr val="3DCD58"/>
          </a:solidFill>
          <a:ln w="12700">
            <a:solidFill>
              <a:srgbClr val="3DCD58"/>
            </a:solidFill>
            <a:prstDash val="solid"/>
          </a:ln>
        </p:spPr>
      </p:sp>
      <p:sp>
        <p:nvSpPr>
          <p:cNvPr id="29" name="Text 27"/>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Certification and audit statements to be confirmed with Security and Legal before external use.</a:t>
            </a:r>
            <a:endParaRPr lang="en-US" sz="12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5848" cy="73152"/>
          </a:xfrm>
          <a:prstGeom prst="rect">
            <a:avLst/>
          </a:prstGeom>
          <a:solidFill>
            <a:srgbClr val="3DCD58"/>
          </a:solidFill>
          <a:ln w="12700">
            <a:solidFill>
              <a:srgbClr val="3DCD58">
                <a:alpha val="0"/>
              </a:srgbClr>
            </a:solidFill>
            <a:prstDash val="solid"/>
          </a:ln>
        </p:spPr>
      </p:sp>
      <p:sp>
        <p:nvSpPr>
          <p:cNvPr id="3" name="Shape 1"/>
          <p:cNvSpPr/>
          <p:nvPr/>
        </p:nvSpPr>
        <p:spPr>
          <a:xfrm>
            <a:off x="4724248" y="685800"/>
            <a:ext cx="2743200" cy="384048"/>
          </a:xfrm>
          <a:prstGeom prst="roundRect">
            <a:avLst>
              <a:gd name="adj" fmla="val 50000"/>
            </a:avLst>
          </a:prstGeom>
          <a:solidFill>
            <a:srgbClr val="EAF8ED"/>
          </a:solidFill>
          <a:ln w="12700">
            <a:solidFill>
              <a:srgbClr val="EAF8ED"/>
            </a:solidFill>
            <a:prstDash val="solid"/>
          </a:ln>
        </p:spPr>
      </p:sp>
      <p:sp>
        <p:nvSpPr>
          <p:cNvPr id="4" name="Text 2"/>
          <p:cNvSpPr/>
          <p:nvPr/>
        </p:nvSpPr>
        <p:spPr>
          <a:xfrm>
            <a:off x="4724248" y="685800"/>
            <a:ext cx="2743200" cy="384048"/>
          </a:xfrm>
          <a:prstGeom prst="rect">
            <a:avLst/>
          </a:prstGeom>
          <a:noFill/>
          <a:ln/>
        </p:spPr>
        <p:txBody>
          <a:bodyPr wrap="square" lIns="0" tIns="0" rIns="0" bIns="0" rtlCol="0" anchor="ctr"/>
          <a:lstStyle/>
          <a:p>
            <a:pPr algn="ctr" indent="0" marL="0">
              <a:buNone/>
            </a:pPr>
            <a:r>
              <a:rPr lang="en-US" sz="1200" b="1" spc="100" kern="0" dirty="0">
                <a:solidFill>
                  <a:srgbClr val="3DCD58"/>
                </a:solidFill>
                <a:latin typeface="Calibri" pitchFamily="34" charset="0"/>
                <a:ea typeface="Calibri" pitchFamily="34" charset="-122"/>
                <a:cs typeface="Calibri" pitchFamily="34" charset="-120"/>
              </a:rPr>
              <a:t>✦  RA+ STRATEGY 2026</a:t>
            </a:r>
            <a:endParaRPr lang="en-US" sz="1200" dirty="0"/>
          </a:p>
        </p:txBody>
      </p:sp>
      <p:sp>
        <p:nvSpPr>
          <p:cNvPr id="5" name="Text 3"/>
          <p:cNvSpPr/>
          <p:nvPr/>
        </p:nvSpPr>
        <p:spPr>
          <a:xfrm>
            <a:off x="621792" y="1554480"/>
            <a:ext cx="10948111" cy="914400"/>
          </a:xfrm>
          <a:prstGeom prst="rect">
            <a:avLst/>
          </a:prstGeom>
          <a:noFill/>
          <a:ln/>
        </p:spPr>
        <p:txBody>
          <a:bodyPr wrap="square" lIns="0" tIns="0" rIns="0" bIns="0" rtlCol="0" anchor="ctr">
            <a:normAutofit/>
          </a:bodyPr>
          <a:lstStyle/>
          <a:p>
            <a:pPr algn="ctr" indent="0" marL="0">
              <a:buNone/>
            </a:pPr>
            <a:r>
              <a:rPr lang="en-US" sz="4400" b="1" dirty="0">
                <a:solidFill>
                  <a:srgbClr val="1E2420"/>
                </a:solidFill>
                <a:latin typeface="Calibri" pitchFamily="34" charset="0"/>
                <a:ea typeface="Calibri" pitchFamily="34" charset="-122"/>
                <a:cs typeface="Calibri" pitchFamily="34" charset="-120"/>
              </a:rPr>
              <a:t>One platform.</a:t>
            </a:r>
            <a:endParaRPr lang="en-US" sz="4400" dirty="0"/>
          </a:p>
        </p:txBody>
      </p:sp>
      <p:sp>
        <p:nvSpPr>
          <p:cNvPr id="6" name="Text 4"/>
          <p:cNvSpPr/>
          <p:nvPr/>
        </p:nvSpPr>
        <p:spPr>
          <a:xfrm>
            <a:off x="621792" y="2514600"/>
            <a:ext cx="10948111" cy="960120"/>
          </a:xfrm>
          <a:prstGeom prst="rect">
            <a:avLst/>
          </a:prstGeom>
          <a:noFill/>
          <a:ln/>
        </p:spPr>
        <p:txBody>
          <a:bodyPr wrap="square" lIns="0" tIns="0" rIns="0" bIns="0" rtlCol="0" anchor="ctr">
            <a:normAutofit/>
          </a:bodyPr>
          <a:lstStyle/>
          <a:p>
            <a:pPr algn="ctr" indent="0" marL="0">
              <a:buNone/>
            </a:pPr>
            <a:r>
              <a:rPr lang="en-US" sz="4400" b="1" dirty="0">
                <a:solidFill>
                  <a:srgbClr val="3DCD58"/>
                </a:solidFill>
                <a:latin typeface="Calibri" pitchFamily="34" charset="0"/>
                <a:ea typeface="Calibri" pitchFamily="34" charset="-122"/>
                <a:cs typeface="Calibri" pitchFamily="34" charset="-120"/>
              </a:rPr>
              <a:t>Sustainability, Energy, Efficiency.</a:t>
            </a:r>
            <a:endParaRPr lang="en-US" sz="4400" dirty="0"/>
          </a:p>
        </p:txBody>
      </p:sp>
      <p:sp>
        <p:nvSpPr>
          <p:cNvPr id="7" name="Text 5"/>
          <p:cNvSpPr/>
          <p:nvPr/>
        </p:nvSpPr>
        <p:spPr>
          <a:xfrm>
            <a:off x="621792" y="3703320"/>
            <a:ext cx="10948111" cy="411480"/>
          </a:xfrm>
          <a:prstGeom prst="rect">
            <a:avLst/>
          </a:prstGeom>
          <a:noFill/>
          <a:ln/>
        </p:spPr>
        <p:txBody>
          <a:bodyPr wrap="square" lIns="0" tIns="0" rIns="0" bIns="0" rtlCol="0" anchor="ctr"/>
          <a:lstStyle/>
          <a:p>
            <a:pPr algn="ctr" indent="0" marL="0">
              <a:buNone/>
            </a:pPr>
            <a:r>
              <a:rPr lang="en-US" sz="2000" b="1" dirty="0">
                <a:solidFill>
                  <a:srgbClr val="3DCD58"/>
                </a:solidFill>
                <a:latin typeface="Calibri" pitchFamily="34" charset="0"/>
                <a:ea typeface="Calibri" pitchFamily="34" charset="-122"/>
                <a:cs typeface="Calibri" pitchFamily="34" charset="-120"/>
              </a:rPr>
              <a:t>End-to-end value, only we can deliver.</a:t>
            </a:r>
            <a:endParaRPr lang="en-US" sz="2000" dirty="0"/>
          </a:p>
        </p:txBody>
      </p:sp>
      <p:sp>
        <p:nvSpPr>
          <p:cNvPr id="8" name="Text 6"/>
          <p:cNvSpPr/>
          <p:nvPr/>
        </p:nvSpPr>
        <p:spPr>
          <a:xfrm>
            <a:off x="2346808" y="4206240"/>
            <a:ext cx="7498080" cy="777240"/>
          </a:xfrm>
          <a:prstGeom prst="rect">
            <a:avLst/>
          </a:prstGeom>
          <a:noFill/>
          <a:ln/>
        </p:spPr>
        <p:txBody>
          <a:bodyPr wrap="square" lIns="0" tIns="0" rIns="0" bIns="0" rtlCol="0" anchor="t">
            <a:normAutofit/>
          </a:bodyPr>
          <a:lstStyle/>
          <a:p>
            <a:pPr algn="ctr" indent="0" marL="0">
              <a:buNone/>
            </a:pPr>
            <a:r>
              <a:rPr lang="en-US" sz="1300" dirty="0">
                <a:solidFill>
                  <a:srgbClr val="5A625C"/>
                </a:solidFill>
                <a:latin typeface="Calibri" pitchFamily="34" charset="0"/>
                <a:ea typeface="Calibri" pitchFamily="34" charset="-122"/>
                <a:cs typeface="Calibri" pitchFamily="34" charset="-120"/>
              </a:rPr>
              <a:t>Sustainability data, energy &amp; supply intelligence, and efficiency expertise, converged onto a single, AI-native platform. One source of truth, one trusted advisor, one path to measurable savings.</a:t>
            </a:r>
            <a:endParaRPr lang="en-US" sz="1300" dirty="0"/>
          </a:p>
        </p:txBody>
      </p:sp>
      <p:sp>
        <p:nvSpPr>
          <p:cNvPr id="9" name="Shape 7"/>
          <p:cNvSpPr/>
          <p:nvPr/>
        </p:nvSpPr>
        <p:spPr>
          <a:xfrm>
            <a:off x="3535528" y="5257800"/>
            <a:ext cx="1554480" cy="384048"/>
          </a:xfrm>
          <a:prstGeom prst="roundRect">
            <a:avLst>
              <a:gd name="adj" fmla="val 50000"/>
            </a:avLst>
          </a:prstGeom>
          <a:solidFill>
            <a:srgbClr val="FFFFFF"/>
          </a:solidFill>
          <a:ln w="12700">
            <a:solidFill>
              <a:srgbClr val="E2E6E2"/>
            </a:solidFill>
            <a:prstDash val="solid"/>
          </a:ln>
        </p:spPr>
      </p:sp>
      <p:sp>
        <p:nvSpPr>
          <p:cNvPr id="10" name="Text 8"/>
          <p:cNvSpPr/>
          <p:nvPr/>
        </p:nvSpPr>
        <p:spPr>
          <a:xfrm>
            <a:off x="3535528" y="5257800"/>
            <a:ext cx="1554480" cy="384048"/>
          </a:xfrm>
          <a:prstGeom prst="rect">
            <a:avLst/>
          </a:prstGeom>
          <a:noFill/>
          <a:ln/>
        </p:spPr>
        <p:txBody>
          <a:bodyPr wrap="square" lIns="0" tIns="0" rIns="0" bIns="0" rtlCol="0" anchor="ctr"/>
          <a:lstStyle/>
          <a:p>
            <a:pPr algn="ctr" indent="0" marL="0">
              <a:buNone/>
            </a:pPr>
            <a:r>
              <a:rPr lang="en-US" sz="1300" b="1" dirty="0">
                <a:solidFill>
                  <a:srgbClr val="1E2420"/>
                </a:solidFill>
                <a:latin typeface="Calibri" pitchFamily="34" charset="0"/>
                <a:ea typeface="Calibri" pitchFamily="34" charset="-122"/>
                <a:cs typeface="Calibri" pitchFamily="34" charset="-120"/>
              </a:rPr>
              <a:t>Unified</a:t>
            </a:r>
            <a:endParaRPr lang="en-US" sz="1300" dirty="0"/>
          </a:p>
        </p:txBody>
      </p:sp>
      <p:sp>
        <p:nvSpPr>
          <p:cNvPr id="11" name="Shape 9"/>
          <p:cNvSpPr/>
          <p:nvPr/>
        </p:nvSpPr>
        <p:spPr>
          <a:xfrm>
            <a:off x="5318608" y="5257800"/>
            <a:ext cx="1554480" cy="384048"/>
          </a:xfrm>
          <a:prstGeom prst="roundRect">
            <a:avLst>
              <a:gd name="adj" fmla="val 50000"/>
            </a:avLst>
          </a:prstGeom>
          <a:solidFill>
            <a:srgbClr val="FFFFFF"/>
          </a:solidFill>
          <a:ln w="12700">
            <a:solidFill>
              <a:srgbClr val="E2E6E2"/>
            </a:solidFill>
            <a:prstDash val="solid"/>
          </a:ln>
        </p:spPr>
      </p:sp>
      <p:sp>
        <p:nvSpPr>
          <p:cNvPr id="12" name="Text 10"/>
          <p:cNvSpPr/>
          <p:nvPr/>
        </p:nvSpPr>
        <p:spPr>
          <a:xfrm>
            <a:off x="5318608" y="5257800"/>
            <a:ext cx="1554480" cy="384048"/>
          </a:xfrm>
          <a:prstGeom prst="rect">
            <a:avLst/>
          </a:prstGeom>
          <a:noFill/>
          <a:ln/>
        </p:spPr>
        <p:txBody>
          <a:bodyPr wrap="square" lIns="0" tIns="0" rIns="0" bIns="0" rtlCol="0" anchor="ctr"/>
          <a:lstStyle/>
          <a:p>
            <a:pPr algn="ctr" indent="0" marL="0">
              <a:buNone/>
            </a:pPr>
            <a:r>
              <a:rPr lang="en-US" sz="1300" b="1" dirty="0">
                <a:solidFill>
                  <a:srgbClr val="1E2420"/>
                </a:solidFill>
                <a:latin typeface="Calibri" pitchFamily="34" charset="0"/>
                <a:ea typeface="Calibri" pitchFamily="34" charset="-122"/>
                <a:cs typeface="Calibri" pitchFamily="34" charset="-120"/>
              </a:rPr>
              <a:t>Proactive</a:t>
            </a:r>
            <a:endParaRPr lang="en-US" sz="1300" dirty="0"/>
          </a:p>
        </p:txBody>
      </p:sp>
      <p:sp>
        <p:nvSpPr>
          <p:cNvPr id="13" name="Shape 11"/>
          <p:cNvSpPr/>
          <p:nvPr/>
        </p:nvSpPr>
        <p:spPr>
          <a:xfrm>
            <a:off x="7101688" y="5257800"/>
            <a:ext cx="1554480" cy="384048"/>
          </a:xfrm>
          <a:prstGeom prst="roundRect">
            <a:avLst>
              <a:gd name="adj" fmla="val 50000"/>
            </a:avLst>
          </a:prstGeom>
          <a:solidFill>
            <a:srgbClr val="FFFFFF"/>
          </a:solidFill>
          <a:ln w="12700">
            <a:solidFill>
              <a:srgbClr val="E2E6E2"/>
            </a:solidFill>
            <a:prstDash val="solid"/>
          </a:ln>
        </p:spPr>
      </p:sp>
      <p:sp>
        <p:nvSpPr>
          <p:cNvPr id="14" name="Text 12"/>
          <p:cNvSpPr/>
          <p:nvPr/>
        </p:nvSpPr>
        <p:spPr>
          <a:xfrm>
            <a:off x="7101688" y="5257800"/>
            <a:ext cx="1554480" cy="384048"/>
          </a:xfrm>
          <a:prstGeom prst="rect">
            <a:avLst/>
          </a:prstGeom>
          <a:noFill/>
          <a:ln/>
        </p:spPr>
        <p:txBody>
          <a:bodyPr wrap="square" lIns="0" tIns="0" rIns="0" bIns="0" rtlCol="0" anchor="ctr"/>
          <a:lstStyle/>
          <a:p>
            <a:pPr algn="ctr" indent="0" marL="0">
              <a:buNone/>
            </a:pPr>
            <a:r>
              <a:rPr lang="en-US" sz="1300" b="1" dirty="0">
                <a:solidFill>
                  <a:srgbClr val="1E2420"/>
                </a:solidFill>
                <a:latin typeface="Calibri" pitchFamily="34" charset="0"/>
                <a:ea typeface="Calibri" pitchFamily="34" charset="-122"/>
                <a:cs typeface="Calibri" pitchFamily="34" charset="-120"/>
              </a:rPr>
              <a:t>Adaptive</a:t>
            </a:r>
            <a:endParaRPr lang="en-US" sz="1300" dirty="0"/>
          </a:p>
        </p:txBody>
      </p:sp>
      <p:sp>
        <p:nvSpPr>
          <p:cNvPr id="15" name="Text 13"/>
          <p:cNvSpPr/>
          <p:nvPr/>
        </p:nvSpPr>
        <p:spPr>
          <a:xfrm>
            <a:off x="621792" y="6492240"/>
            <a:ext cx="3200400" cy="201168"/>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Property of Schneider Electric</a:t>
            </a:r>
            <a:endParaRPr lang="en-US" sz="850" dirty="0"/>
          </a:p>
        </p:txBody>
      </p:sp>
      <p:sp>
        <p:nvSpPr>
          <p:cNvPr id="16" name="Text 14"/>
          <p:cNvSpPr/>
          <p:nvPr/>
        </p:nvSpPr>
        <p:spPr>
          <a:xfrm>
            <a:off x="5181448" y="6492240"/>
            <a:ext cx="1828800" cy="201168"/>
          </a:xfrm>
          <a:prstGeom prst="rect">
            <a:avLst/>
          </a:prstGeom>
          <a:noFill/>
          <a:ln/>
        </p:spPr>
        <p:txBody>
          <a:bodyPr wrap="square" lIns="0" tIns="0" rIns="0" bIns="0" rtlCol="0" anchor="ctr"/>
          <a:lstStyle/>
          <a:p>
            <a:pPr algn="ctr" indent="0" marL="0">
              <a:buNone/>
            </a:pPr>
            <a:r>
              <a:rPr lang="en-US" sz="850" dirty="0">
                <a:solidFill>
                  <a:srgbClr val="5A625C"/>
                </a:solidFill>
                <a:latin typeface="Calibri" pitchFamily="34" charset="0"/>
                <a:ea typeface="Calibri" pitchFamily="34" charset="-122"/>
                <a:cs typeface="Calibri" pitchFamily="34" charset="-120"/>
              </a:rPr>
              <a:t>General</a:t>
            </a:r>
            <a:endParaRPr lang="en-US" sz="850" dirty="0"/>
          </a:p>
        </p:txBody>
      </p:sp>
      <p:sp>
        <p:nvSpPr>
          <p:cNvPr id="17" name="Text 15"/>
          <p:cNvSpPr/>
          <p:nvPr/>
        </p:nvSpPr>
        <p:spPr>
          <a:xfrm>
            <a:off x="8460943" y="6446520"/>
            <a:ext cx="3108960" cy="274320"/>
          </a:xfrm>
          <a:prstGeom prst="rect">
            <a:avLst/>
          </a:prstGeom>
          <a:noFill/>
          <a:ln/>
        </p:spPr>
        <p:txBody>
          <a:bodyPr wrap="square" lIns="0" tIns="0" rIns="0" bIns="0" rtlCol="0" anchor="ctr"/>
          <a:lstStyle/>
          <a:p>
            <a:pPr algn="r" indent="0" marL="0">
              <a:buNone/>
            </a:pPr>
            <a:r>
              <a:rPr lang="en-US" sz="1300" b="1" dirty="0">
                <a:solidFill>
                  <a:srgbClr val="3DCD58"/>
                </a:solidFill>
                <a:latin typeface="Calibri" pitchFamily="34" charset="0"/>
                <a:ea typeface="Calibri" pitchFamily="34" charset="-122"/>
                <a:cs typeface="Calibri" pitchFamily="34" charset="-120"/>
              </a:rPr>
              <a:t>SE </a:t>
            </a:r>
            <a:pPr algn="r" indent="0" marL="0">
              <a:buNone/>
            </a:pPr>
            <a:r>
              <a:rPr lang="en-US" sz="1300" b="1" dirty="0">
                <a:solidFill>
                  <a:srgbClr val="5A625C"/>
                </a:solidFill>
                <a:latin typeface="Calibri" pitchFamily="34" charset="0"/>
                <a:ea typeface="Calibri" pitchFamily="34" charset="-122"/>
                <a:cs typeface="Calibri" pitchFamily="34" charset="-120"/>
              </a:rPr>
              <a:t>ADVISORY SERVICES</a:t>
            </a:r>
            <a:endParaRPr lang="en-US" sz="1300" dirty="0"/>
          </a:p>
        </p:txBody>
      </p:sp>
      <p:sp>
        <p:nvSpPr>
          <p:cNvPr id="25" name="Slide Number Placeholder 0"/>
          <p:cNvSpPr>
            <a:spLocks noGrp="1"/>
          </p:cNvSpPr>
          <p:nvPr>
            <p:ph type="sldNum" sz="quarter" idx="4294967295"/>
          </p:nvPr>
        </p:nvSpPr>
        <p:spPr>
          <a:xfrm>
            <a:off x="10929823" y="617220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3B25"/>
        </a:solidFill>
      </p:bgPr>
    </p:bg>
    <p:spTree>
      <p:nvGrpSpPr>
        <p:cNvPr id="1" name=""/>
        <p:cNvGrpSpPr/>
        <p:nvPr/>
      </p:nvGrpSpPr>
      <p:grpSpPr>
        <a:xfrm>
          <a:off x="0" y="0"/>
          <a:ext cx="0" cy="0"/>
          <a:chOff x="0" y="0"/>
          <a:chExt cx="0" cy="0"/>
        </a:xfrm>
      </p:grpSpPr>
      <p:sp>
        <p:nvSpPr>
          <p:cNvPr id="2" name="Text 0"/>
          <p:cNvSpPr/>
          <p:nvPr/>
        </p:nvSpPr>
        <p:spPr>
          <a:xfrm>
            <a:off x="621792" y="457200"/>
            <a:ext cx="10948111" cy="868680"/>
          </a:xfrm>
          <a:prstGeom prst="rect">
            <a:avLst/>
          </a:prstGeom>
          <a:noFill/>
          <a:ln/>
        </p:spPr>
        <p:txBody>
          <a:bodyPr wrap="square" lIns="0" tIns="0" rIns="0" bIns="0" rtlCol="0" anchor="ctr">
            <a:normAutofit/>
          </a:bodyPr>
          <a:lstStyle/>
          <a:p>
            <a:pPr algn="ctr" indent="0" marL="0">
              <a:buNone/>
            </a:pPr>
            <a:r>
              <a:rPr lang="en-US" sz="2600" b="1" dirty="0">
                <a:solidFill>
                  <a:srgbClr val="3DCD58"/>
                </a:solidFill>
                <a:latin typeface="Calibri" pitchFamily="34" charset="0"/>
                <a:ea typeface="Calibri" pitchFamily="34" charset="-122"/>
                <a:cs typeface="Calibri" pitchFamily="34" charset="-120"/>
              </a:rPr>
              <a:t>We're Building </a:t>
            </a:r>
            <a:pPr algn="ctr" indent="0" marL="0">
              <a:buNone/>
            </a:pPr>
            <a:r>
              <a:rPr lang="en-US" sz="2600" b="1" dirty="0">
                <a:solidFill>
                  <a:srgbClr val="FFFFFF"/>
                </a:solidFill>
                <a:latin typeface="Calibri" pitchFamily="34" charset="0"/>
                <a:ea typeface="Calibri" pitchFamily="34" charset="-122"/>
                <a:cs typeface="Calibri" pitchFamily="34" charset="-120"/>
              </a:rPr>
              <a:t>One</a:t>
            </a:r>
            <a:pPr algn="ctr" indent="0" marL="0">
              <a:buNone/>
            </a:pPr>
            <a:r>
              <a:rPr lang="en-US" sz="2600" b="1" dirty="0">
                <a:solidFill>
                  <a:srgbClr val="3DCD58"/>
                </a:solidFill>
                <a:latin typeface="Calibri" pitchFamily="34" charset="0"/>
                <a:ea typeface="Calibri" pitchFamily="34" charset="-122"/>
                <a:cs typeface="Calibri" pitchFamily="34" charset="-120"/>
              </a:rPr>
              <a:t> AI-Native Platform with Multiple Connected Products</a:t>
            </a:r>
            <a:endParaRPr lang="en-US" sz="2600" dirty="0"/>
          </a:p>
        </p:txBody>
      </p:sp>
      <p:sp>
        <p:nvSpPr>
          <p:cNvPr id="3" name="Text 1"/>
          <p:cNvSpPr/>
          <p:nvPr/>
        </p:nvSpPr>
        <p:spPr>
          <a:xfrm>
            <a:off x="621792" y="1463040"/>
            <a:ext cx="10948111" cy="548640"/>
          </a:xfrm>
          <a:prstGeom prst="rect">
            <a:avLst/>
          </a:prstGeom>
          <a:noFill/>
          <a:ln/>
        </p:spPr>
        <p:txBody>
          <a:bodyPr wrap="square" lIns="0" tIns="0" rIns="0" bIns="0" rtlCol="0" anchor="ctr"/>
          <a:lstStyle/>
          <a:p>
            <a:pPr algn="ctr" indent="0" marL="0">
              <a:buNone/>
            </a:pPr>
            <a:r>
              <a:rPr lang="en-US" sz="2700" spc="100" kern="0" dirty="0">
                <a:solidFill>
                  <a:srgbClr val="FFFFFF"/>
                </a:solidFill>
                <a:latin typeface="Calibri" pitchFamily="34" charset="0"/>
                <a:ea typeface="Calibri" pitchFamily="34" charset="-122"/>
                <a:cs typeface="Calibri" pitchFamily="34" charset="-120"/>
              </a:rPr>
              <a:t>RESOURCE </a:t>
            </a:r>
            <a:pPr algn="ctr" indent="0" marL="0">
              <a:buNone/>
            </a:pPr>
            <a:r>
              <a:rPr lang="en-US" sz="2700" b="1" spc="100" kern="0" dirty="0">
                <a:solidFill>
                  <a:srgbClr val="FFFFFF"/>
                </a:solidFill>
                <a:latin typeface="Calibri" pitchFamily="34" charset="0"/>
                <a:ea typeface="Calibri" pitchFamily="34" charset="-122"/>
                <a:cs typeface="Calibri" pitchFamily="34" charset="-120"/>
              </a:rPr>
              <a:t>ADVISOR</a:t>
            </a:r>
            <a:pPr algn="ctr" indent="0" marL="0">
              <a:buNone/>
            </a:pPr>
            <a:r>
              <a:rPr lang="en-US" sz="2700" b="1" baseline="30000" spc="100" kern="0" dirty="0">
                <a:solidFill>
                  <a:srgbClr val="FFFFFF"/>
                </a:solidFill>
                <a:latin typeface="Calibri" pitchFamily="34" charset="0"/>
                <a:ea typeface="Calibri" pitchFamily="34" charset="-122"/>
                <a:cs typeface="Calibri" pitchFamily="34" charset="-120"/>
              </a:rPr>
              <a:t>+</a:t>
            </a:r>
            <a:endParaRPr lang="en-US" sz="2700" dirty="0"/>
          </a:p>
        </p:txBody>
      </p:sp>
      <p:sp>
        <p:nvSpPr>
          <p:cNvPr id="4" name="Text 2"/>
          <p:cNvSpPr/>
          <p:nvPr/>
        </p:nvSpPr>
        <p:spPr>
          <a:xfrm>
            <a:off x="621792" y="2240280"/>
            <a:ext cx="3314090" cy="237744"/>
          </a:xfrm>
          <a:prstGeom prst="rect">
            <a:avLst/>
          </a:prstGeom>
          <a:noFill/>
          <a:ln/>
        </p:spPr>
        <p:txBody>
          <a:bodyPr wrap="square" lIns="0" tIns="0" rIns="0" bIns="0" rtlCol="0" anchor="ctr"/>
          <a:lstStyle/>
          <a:p>
            <a:pPr algn="ctr" indent="0" marL="0">
              <a:buNone/>
            </a:pPr>
            <a:r>
              <a:rPr lang="en-US" sz="1300" b="1" dirty="0">
                <a:solidFill>
                  <a:srgbClr val="CDFC57"/>
                </a:solidFill>
                <a:latin typeface="Calibri" pitchFamily="34" charset="0"/>
                <a:ea typeface="Calibri" pitchFamily="34" charset="-122"/>
                <a:cs typeface="Calibri" pitchFamily="34" charset="-120"/>
              </a:rPr>
              <a:t>Sustainability</a:t>
            </a:r>
            <a:endParaRPr lang="en-US" sz="1300" dirty="0"/>
          </a:p>
        </p:txBody>
      </p:sp>
      <p:sp>
        <p:nvSpPr>
          <p:cNvPr id="5" name="Text 3"/>
          <p:cNvSpPr/>
          <p:nvPr/>
        </p:nvSpPr>
        <p:spPr>
          <a:xfrm>
            <a:off x="621792" y="2478024"/>
            <a:ext cx="3314090"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6" name="Shape 4"/>
          <p:cNvSpPr/>
          <p:nvPr/>
        </p:nvSpPr>
        <p:spPr>
          <a:xfrm>
            <a:off x="621792" y="2743200"/>
            <a:ext cx="1583893" cy="1234440"/>
          </a:xfrm>
          <a:prstGeom prst="roundRect">
            <a:avLst>
              <a:gd name="adj" fmla="val 2963"/>
            </a:avLst>
          </a:prstGeom>
          <a:solidFill>
            <a:srgbClr val="0F4A2E"/>
          </a:solidFill>
          <a:ln w="13970">
            <a:solidFill>
              <a:srgbClr val="CDFC57"/>
            </a:solidFill>
            <a:prstDash val="solid"/>
          </a:ln>
        </p:spPr>
      </p:sp>
      <p:sp>
        <p:nvSpPr>
          <p:cNvPr id="7" name="Text 5"/>
          <p:cNvSpPr/>
          <p:nvPr/>
        </p:nvSpPr>
        <p:spPr>
          <a:xfrm>
            <a:off x="694944"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REPORTING &amp; COMPLIANCE</a:t>
            </a:r>
            <a:endParaRPr lang="en-US" sz="1100" dirty="0"/>
          </a:p>
        </p:txBody>
      </p:sp>
      <p:sp>
        <p:nvSpPr>
          <p:cNvPr id="8" name="Shape 6"/>
          <p:cNvSpPr/>
          <p:nvPr/>
        </p:nvSpPr>
        <p:spPr>
          <a:xfrm>
            <a:off x="2351989" y="2743200"/>
            <a:ext cx="1583893" cy="1234440"/>
          </a:xfrm>
          <a:prstGeom prst="roundRect">
            <a:avLst>
              <a:gd name="adj" fmla="val 2963"/>
            </a:avLst>
          </a:prstGeom>
          <a:solidFill>
            <a:srgbClr val="0F4A2E"/>
          </a:solidFill>
          <a:ln w="13970">
            <a:solidFill>
              <a:srgbClr val="CDFC57"/>
            </a:solidFill>
            <a:prstDash val="solid"/>
          </a:ln>
        </p:spPr>
      </p:sp>
      <p:sp>
        <p:nvSpPr>
          <p:cNvPr id="9" name="Text 7"/>
          <p:cNvSpPr/>
          <p:nvPr/>
        </p:nvSpPr>
        <p:spPr>
          <a:xfrm>
            <a:off x="2425141"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SUPPLY CHAIN</a:t>
            </a:r>
            <a:endParaRPr lang="en-US" sz="1100" dirty="0"/>
          </a:p>
        </p:txBody>
      </p:sp>
      <p:sp>
        <p:nvSpPr>
          <p:cNvPr id="10" name="Shape 8"/>
          <p:cNvSpPr/>
          <p:nvPr/>
        </p:nvSpPr>
        <p:spPr>
          <a:xfrm>
            <a:off x="621792" y="4123944"/>
            <a:ext cx="1583893" cy="1234440"/>
          </a:xfrm>
          <a:prstGeom prst="roundRect">
            <a:avLst>
              <a:gd name="adj" fmla="val 2963"/>
            </a:avLst>
          </a:prstGeom>
          <a:solidFill>
            <a:srgbClr val="0F4A2E"/>
          </a:solidFill>
          <a:ln w="13970">
            <a:solidFill>
              <a:srgbClr val="CDFC57"/>
            </a:solidFill>
            <a:prstDash val="solid"/>
          </a:ln>
        </p:spPr>
      </p:sp>
      <p:sp>
        <p:nvSpPr>
          <p:cNvPr id="11" name="Text 9"/>
          <p:cNvSpPr/>
          <p:nvPr/>
        </p:nvSpPr>
        <p:spPr>
          <a:xfrm>
            <a:off x="694944"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CLIMATE RISK</a:t>
            </a:r>
            <a:endParaRPr lang="en-US" sz="1100" dirty="0"/>
          </a:p>
        </p:txBody>
      </p:sp>
      <p:sp>
        <p:nvSpPr>
          <p:cNvPr id="12" name="Shape 10"/>
          <p:cNvSpPr/>
          <p:nvPr/>
        </p:nvSpPr>
        <p:spPr>
          <a:xfrm>
            <a:off x="2351989" y="4123944"/>
            <a:ext cx="1583893" cy="1234440"/>
          </a:xfrm>
          <a:prstGeom prst="roundRect">
            <a:avLst>
              <a:gd name="adj" fmla="val 2963"/>
            </a:avLst>
          </a:prstGeom>
          <a:solidFill>
            <a:srgbClr val="0F4A2E"/>
          </a:solidFill>
          <a:ln w="13970">
            <a:solidFill>
              <a:srgbClr val="CDFC57"/>
            </a:solidFill>
            <a:prstDash val="solid"/>
          </a:ln>
        </p:spPr>
      </p:sp>
      <p:sp>
        <p:nvSpPr>
          <p:cNvPr id="13" name="Text 11"/>
          <p:cNvSpPr/>
          <p:nvPr/>
        </p:nvSpPr>
        <p:spPr>
          <a:xfrm>
            <a:off x="2425141"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CARBON PERFORMANCE</a:t>
            </a:r>
            <a:endParaRPr lang="en-US" sz="1100" dirty="0"/>
          </a:p>
        </p:txBody>
      </p:sp>
      <p:sp>
        <p:nvSpPr>
          <p:cNvPr id="14" name="Text 12"/>
          <p:cNvSpPr/>
          <p:nvPr/>
        </p:nvSpPr>
        <p:spPr>
          <a:xfrm>
            <a:off x="4438802" y="2240280"/>
            <a:ext cx="3314090" cy="237744"/>
          </a:xfrm>
          <a:prstGeom prst="rect">
            <a:avLst/>
          </a:prstGeom>
          <a:noFill/>
          <a:ln/>
        </p:spPr>
        <p:txBody>
          <a:bodyPr wrap="square" lIns="0" tIns="0" rIns="0" bIns="0" rtlCol="0" anchor="ctr"/>
          <a:lstStyle/>
          <a:p>
            <a:pPr algn="ctr" indent="0" marL="0">
              <a:buNone/>
            </a:pPr>
            <a:r>
              <a:rPr lang="en-US" sz="1300" b="1" dirty="0">
                <a:solidFill>
                  <a:srgbClr val="3DCD58"/>
                </a:solidFill>
                <a:latin typeface="Calibri" pitchFamily="34" charset="0"/>
                <a:ea typeface="Calibri" pitchFamily="34" charset="-122"/>
                <a:cs typeface="Calibri" pitchFamily="34" charset="-120"/>
              </a:rPr>
              <a:t>Energy</a:t>
            </a:r>
            <a:endParaRPr lang="en-US" sz="1300" dirty="0"/>
          </a:p>
        </p:txBody>
      </p:sp>
      <p:sp>
        <p:nvSpPr>
          <p:cNvPr id="15" name="Text 13"/>
          <p:cNvSpPr/>
          <p:nvPr/>
        </p:nvSpPr>
        <p:spPr>
          <a:xfrm>
            <a:off x="4438802" y="2478024"/>
            <a:ext cx="3314090"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16" name="Shape 14"/>
          <p:cNvSpPr/>
          <p:nvPr/>
        </p:nvSpPr>
        <p:spPr>
          <a:xfrm>
            <a:off x="4438802" y="2743200"/>
            <a:ext cx="1583893" cy="1234440"/>
          </a:xfrm>
          <a:prstGeom prst="roundRect">
            <a:avLst>
              <a:gd name="adj" fmla="val 2963"/>
            </a:avLst>
          </a:prstGeom>
          <a:solidFill>
            <a:srgbClr val="0F4A2E"/>
          </a:solidFill>
          <a:ln w="13970">
            <a:solidFill>
              <a:srgbClr val="3DCD58"/>
            </a:solidFill>
            <a:prstDash val="solid"/>
          </a:ln>
        </p:spPr>
      </p:sp>
      <p:sp>
        <p:nvSpPr>
          <p:cNvPr id="17" name="Text 15"/>
          <p:cNvSpPr/>
          <p:nvPr/>
        </p:nvSpPr>
        <p:spPr>
          <a:xfrm>
            <a:off x="4511954"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UTILITY ACCOUNTING</a:t>
            </a:r>
            <a:endParaRPr lang="en-US" sz="1100" dirty="0"/>
          </a:p>
        </p:txBody>
      </p:sp>
      <p:sp>
        <p:nvSpPr>
          <p:cNvPr id="18" name="Shape 16"/>
          <p:cNvSpPr/>
          <p:nvPr/>
        </p:nvSpPr>
        <p:spPr>
          <a:xfrm>
            <a:off x="6169000" y="2743200"/>
            <a:ext cx="1583893" cy="1234440"/>
          </a:xfrm>
          <a:prstGeom prst="roundRect">
            <a:avLst>
              <a:gd name="adj" fmla="val 2963"/>
            </a:avLst>
          </a:prstGeom>
          <a:solidFill>
            <a:srgbClr val="0F4A2E"/>
          </a:solidFill>
          <a:ln w="13970">
            <a:solidFill>
              <a:srgbClr val="3DCD58"/>
            </a:solidFill>
            <a:prstDash val="solid"/>
          </a:ln>
        </p:spPr>
      </p:sp>
      <p:sp>
        <p:nvSpPr>
          <p:cNvPr id="19" name="Text 17"/>
          <p:cNvSpPr/>
          <p:nvPr/>
        </p:nvSpPr>
        <p:spPr>
          <a:xfrm>
            <a:off x="6242152"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ENERGY PROCUREMENT</a:t>
            </a:r>
            <a:endParaRPr lang="en-US" sz="1100" dirty="0"/>
          </a:p>
        </p:txBody>
      </p:sp>
      <p:sp>
        <p:nvSpPr>
          <p:cNvPr id="20" name="Shape 18"/>
          <p:cNvSpPr/>
          <p:nvPr/>
        </p:nvSpPr>
        <p:spPr>
          <a:xfrm>
            <a:off x="4438802" y="4123944"/>
            <a:ext cx="1583893" cy="1234440"/>
          </a:xfrm>
          <a:prstGeom prst="roundRect">
            <a:avLst>
              <a:gd name="adj" fmla="val 2963"/>
            </a:avLst>
          </a:prstGeom>
          <a:solidFill>
            <a:srgbClr val="0F4A2E"/>
          </a:solidFill>
          <a:ln w="13970">
            <a:solidFill>
              <a:srgbClr val="3DCD58"/>
            </a:solidFill>
            <a:prstDash val="solid"/>
          </a:ln>
        </p:spPr>
      </p:sp>
      <p:sp>
        <p:nvSpPr>
          <p:cNvPr id="21" name="Text 19"/>
          <p:cNvSpPr/>
          <p:nvPr/>
        </p:nvSpPr>
        <p:spPr>
          <a:xfrm>
            <a:off x="4511954"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RENEWABLE ENERGY</a:t>
            </a:r>
            <a:endParaRPr lang="en-US" sz="1100" dirty="0"/>
          </a:p>
        </p:txBody>
      </p:sp>
      <p:sp>
        <p:nvSpPr>
          <p:cNvPr id="22" name="Shape 20"/>
          <p:cNvSpPr/>
          <p:nvPr/>
        </p:nvSpPr>
        <p:spPr>
          <a:xfrm>
            <a:off x="6169000" y="4123944"/>
            <a:ext cx="1583893" cy="1234440"/>
          </a:xfrm>
          <a:prstGeom prst="roundRect">
            <a:avLst>
              <a:gd name="adj" fmla="val 2963"/>
            </a:avLst>
          </a:prstGeom>
          <a:solidFill>
            <a:srgbClr val="0F4A2E"/>
          </a:solidFill>
          <a:ln w="13970">
            <a:solidFill>
              <a:srgbClr val="3DCD58"/>
            </a:solidFill>
            <a:prstDash val="solid"/>
          </a:ln>
        </p:spPr>
      </p:sp>
      <p:sp>
        <p:nvSpPr>
          <p:cNvPr id="23" name="Text 21"/>
          <p:cNvSpPr/>
          <p:nvPr/>
        </p:nvSpPr>
        <p:spPr>
          <a:xfrm>
            <a:off x="6242152"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FUTURE PRODUCT</a:t>
            </a:r>
            <a:endParaRPr lang="en-US" sz="1100" dirty="0"/>
          </a:p>
        </p:txBody>
      </p:sp>
      <p:sp>
        <p:nvSpPr>
          <p:cNvPr id="24" name="Text 22"/>
          <p:cNvSpPr/>
          <p:nvPr/>
        </p:nvSpPr>
        <p:spPr>
          <a:xfrm>
            <a:off x="8255813" y="2240280"/>
            <a:ext cx="3314090" cy="237744"/>
          </a:xfrm>
          <a:prstGeom prst="rect">
            <a:avLst/>
          </a:prstGeom>
          <a:noFill/>
          <a:ln/>
        </p:spPr>
        <p:txBody>
          <a:bodyPr wrap="square" lIns="0" tIns="0" rIns="0" bIns="0" rtlCol="0" anchor="ctr"/>
          <a:lstStyle/>
          <a:p>
            <a:pPr algn="ctr" indent="0" marL="0">
              <a:buNone/>
            </a:pPr>
            <a:r>
              <a:rPr lang="en-US" sz="1300" b="1" dirty="0">
                <a:solidFill>
                  <a:srgbClr val="A0E7EE"/>
                </a:solidFill>
                <a:latin typeface="Calibri" pitchFamily="34" charset="0"/>
                <a:ea typeface="Calibri" pitchFamily="34" charset="-122"/>
                <a:cs typeface="Calibri" pitchFamily="34" charset="-120"/>
              </a:rPr>
              <a:t>Efficiency</a:t>
            </a:r>
            <a:endParaRPr lang="en-US" sz="1300" dirty="0"/>
          </a:p>
        </p:txBody>
      </p:sp>
      <p:sp>
        <p:nvSpPr>
          <p:cNvPr id="25" name="Text 23"/>
          <p:cNvSpPr/>
          <p:nvPr/>
        </p:nvSpPr>
        <p:spPr>
          <a:xfrm>
            <a:off x="8255813" y="2478024"/>
            <a:ext cx="3314090"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26" name="Shape 24"/>
          <p:cNvSpPr/>
          <p:nvPr/>
        </p:nvSpPr>
        <p:spPr>
          <a:xfrm>
            <a:off x="9120911" y="2743200"/>
            <a:ext cx="1583893" cy="1234440"/>
          </a:xfrm>
          <a:prstGeom prst="roundRect">
            <a:avLst>
              <a:gd name="adj" fmla="val 2963"/>
            </a:avLst>
          </a:prstGeom>
          <a:solidFill>
            <a:srgbClr val="0F4A2E"/>
          </a:solidFill>
          <a:ln w="13970">
            <a:solidFill>
              <a:srgbClr val="A0E7EE"/>
            </a:solidFill>
            <a:prstDash val="solid"/>
          </a:ln>
        </p:spPr>
      </p:sp>
      <p:sp>
        <p:nvSpPr>
          <p:cNvPr id="27" name="Text 25"/>
          <p:cNvSpPr/>
          <p:nvPr/>
        </p:nvSpPr>
        <p:spPr>
          <a:xfrm>
            <a:off x="9194063" y="2743200"/>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ENERGY EFFICIENCY</a:t>
            </a:r>
            <a:endParaRPr lang="en-US" sz="1100" dirty="0"/>
          </a:p>
        </p:txBody>
      </p:sp>
      <p:sp>
        <p:nvSpPr>
          <p:cNvPr id="28" name="Shape 26"/>
          <p:cNvSpPr/>
          <p:nvPr/>
        </p:nvSpPr>
        <p:spPr>
          <a:xfrm>
            <a:off x="9120911" y="4123944"/>
            <a:ext cx="1583893" cy="1234440"/>
          </a:xfrm>
          <a:prstGeom prst="roundRect">
            <a:avLst>
              <a:gd name="adj" fmla="val 2963"/>
            </a:avLst>
          </a:prstGeom>
          <a:solidFill>
            <a:srgbClr val="0F4A2E"/>
          </a:solidFill>
          <a:ln w="13970">
            <a:solidFill>
              <a:srgbClr val="A0E7EE"/>
            </a:solidFill>
            <a:prstDash val="solid"/>
          </a:ln>
        </p:spPr>
      </p:sp>
      <p:sp>
        <p:nvSpPr>
          <p:cNvPr id="29" name="Text 27"/>
          <p:cNvSpPr/>
          <p:nvPr/>
        </p:nvSpPr>
        <p:spPr>
          <a:xfrm>
            <a:off x="9194063" y="4123944"/>
            <a:ext cx="1437589"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FUTURE PRODUCT</a:t>
            </a:r>
            <a:endParaRPr lang="en-US" sz="1100" dirty="0"/>
          </a:p>
        </p:txBody>
      </p:sp>
      <p:sp>
        <p:nvSpPr>
          <p:cNvPr id="30" name="Shape 28"/>
          <p:cNvSpPr/>
          <p:nvPr/>
        </p:nvSpPr>
        <p:spPr>
          <a:xfrm>
            <a:off x="621792" y="5532120"/>
            <a:ext cx="10948111" cy="685800"/>
          </a:xfrm>
          <a:prstGeom prst="roundRect">
            <a:avLst>
              <a:gd name="adj" fmla="val 10667"/>
            </a:avLst>
          </a:prstGeom>
          <a:solidFill>
            <a:srgbClr val="1A4A2E"/>
          </a:solidFill>
          <a:ln w="12700">
            <a:solidFill>
              <a:srgbClr val="CDFC57"/>
            </a:solidFill>
            <a:prstDash val="solid"/>
          </a:ln>
        </p:spPr>
      </p:sp>
      <p:sp>
        <p:nvSpPr>
          <p:cNvPr id="31" name="Text 29"/>
          <p:cNvSpPr/>
          <p:nvPr/>
        </p:nvSpPr>
        <p:spPr>
          <a:xfrm>
            <a:off x="621792" y="5596128"/>
            <a:ext cx="10948111" cy="201168"/>
          </a:xfrm>
          <a:prstGeom prst="rect">
            <a:avLst/>
          </a:prstGeom>
          <a:noFill/>
          <a:ln/>
        </p:spPr>
        <p:txBody>
          <a:bodyPr wrap="square" lIns="0" tIns="0" rIns="0" bIns="0" rtlCol="0" anchor="ctr"/>
          <a:lstStyle/>
          <a:p>
            <a:pPr algn="ctr" indent="0" marL="0">
              <a:buNone/>
            </a:pPr>
            <a:r>
              <a:rPr lang="en-US" sz="800" b="1" spc="200" kern="0" dirty="0">
                <a:solidFill>
                  <a:srgbClr val="CDFC57"/>
                </a:solidFill>
                <a:latin typeface="Calibri" pitchFamily="34" charset="0"/>
                <a:ea typeface="Calibri" pitchFamily="34" charset="-122"/>
                <a:cs typeface="Calibri" pitchFamily="34" charset="-120"/>
              </a:rPr>
              <a:t>ALL ARE SHARED CAPABILITIES</a:t>
            </a:r>
            <a:endParaRPr lang="en-US" sz="800" dirty="0"/>
          </a:p>
        </p:txBody>
      </p:sp>
      <p:sp>
        <p:nvSpPr>
          <p:cNvPr id="32" name="Shape 30"/>
          <p:cNvSpPr/>
          <p:nvPr/>
        </p:nvSpPr>
        <p:spPr>
          <a:xfrm>
            <a:off x="621792" y="5861304"/>
            <a:ext cx="1118921" cy="256032"/>
          </a:xfrm>
          <a:prstGeom prst="roundRect">
            <a:avLst>
              <a:gd name="adj" fmla="val 50000"/>
            </a:avLst>
          </a:prstGeom>
          <a:solidFill>
            <a:srgbClr val="0F3B24"/>
          </a:solidFill>
          <a:ln w="9525">
            <a:solidFill>
              <a:srgbClr val="3DCD58"/>
            </a:solidFill>
            <a:prstDash val="solid"/>
          </a:ln>
        </p:spPr>
      </p:sp>
      <p:sp>
        <p:nvSpPr>
          <p:cNvPr id="33" name="Text 31"/>
          <p:cNvSpPr/>
          <p:nvPr/>
        </p:nvSpPr>
        <p:spPr>
          <a:xfrm>
            <a:off x="621792"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ingestion &amp; transformation</a:t>
            </a:r>
            <a:endParaRPr lang="en-US" sz="800" dirty="0"/>
          </a:p>
        </p:txBody>
      </p:sp>
      <p:sp>
        <p:nvSpPr>
          <p:cNvPr id="34" name="Shape 32"/>
          <p:cNvSpPr/>
          <p:nvPr/>
        </p:nvSpPr>
        <p:spPr>
          <a:xfrm>
            <a:off x="1850441" y="5861304"/>
            <a:ext cx="1118921" cy="256032"/>
          </a:xfrm>
          <a:prstGeom prst="roundRect">
            <a:avLst>
              <a:gd name="adj" fmla="val 50000"/>
            </a:avLst>
          </a:prstGeom>
          <a:solidFill>
            <a:srgbClr val="0F3B24"/>
          </a:solidFill>
          <a:ln w="9525">
            <a:solidFill>
              <a:srgbClr val="3DCD58"/>
            </a:solidFill>
            <a:prstDash val="solid"/>
          </a:ln>
        </p:spPr>
      </p:sp>
      <p:sp>
        <p:nvSpPr>
          <p:cNvPr id="35" name="Text 33"/>
          <p:cNvSpPr/>
          <p:nvPr/>
        </p:nvSpPr>
        <p:spPr>
          <a:xfrm>
            <a:off x="1850441"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quality</a:t>
            </a:r>
            <a:endParaRPr lang="en-US" sz="800" dirty="0"/>
          </a:p>
        </p:txBody>
      </p:sp>
      <p:sp>
        <p:nvSpPr>
          <p:cNvPr id="36" name="Shape 34"/>
          <p:cNvSpPr/>
          <p:nvPr/>
        </p:nvSpPr>
        <p:spPr>
          <a:xfrm>
            <a:off x="3079090" y="5861304"/>
            <a:ext cx="1118921" cy="256032"/>
          </a:xfrm>
          <a:prstGeom prst="roundRect">
            <a:avLst>
              <a:gd name="adj" fmla="val 50000"/>
            </a:avLst>
          </a:prstGeom>
          <a:solidFill>
            <a:srgbClr val="0F3B24"/>
          </a:solidFill>
          <a:ln w="9525">
            <a:solidFill>
              <a:srgbClr val="3DCD58"/>
            </a:solidFill>
            <a:prstDash val="solid"/>
          </a:ln>
        </p:spPr>
      </p:sp>
      <p:sp>
        <p:nvSpPr>
          <p:cNvPr id="37" name="Text 35"/>
          <p:cNvSpPr/>
          <p:nvPr/>
        </p:nvSpPr>
        <p:spPr>
          <a:xfrm>
            <a:off x="3079090"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hierarchy &amp; calc engine</a:t>
            </a:r>
            <a:endParaRPr lang="en-US" sz="800" dirty="0"/>
          </a:p>
        </p:txBody>
      </p:sp>
      <p:sp>
        <p:nvSpPr>
          <p:cNvPr id="38" name="Shape 36"/>
          <p:cNvSpPr/>
          <p:nvPr/>
        </p:nvSpPr>
        <p:spPr>
          <a:xfrm>
            <a:off x="4307738" y="5861304"/>
            <a:ext cx="1118921" cy="256032"/>
          </a:xfrm>
          <a:prstGeom prst="roundRect">
            <a:avLst>
              <a:gd name="adj" fmla="val 50000"/>
            </a:avLst>
          </a:prstGeom>
          <a:solidFill>
            <a:srgbClr val="0F3B24"/>
          </a:solidFill>
          <a:ln w="9525">
            <a:solidFill>
              <a:srgbClr val="3DCD58"/>
            </a:solidFill>
            <a:prstDash val="solid"/>
          </a:ln>
        </p:spPr>
      </p:sp>
      <p:sp>
        <p:nvSpPr>
          <p:cNvPr id="39" name="Text 37"/>
          <p:cNvSpPr/>
          <p:nvPr/>
        </p:nvSpPr>
        <p:spPr>
          <a:xfrm>
            <a:off x="4307738"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Analytics &amp; Dashboards</a:t>
            </a:r>
            <a:endParaRPr lang="en-US" sz="800" dirty="0"/>
          </a:p>
        </p:txBody>
      </p:sp>
      <p:sp>
        <p:nvSpPr>
          <p:cNvPr id="40" name="Shape 38"/>
          <p:cNvSpPr/>
          <p:nvPr/>
        </p:nvSpPr>
        <p:spPr>
          <a:xfrm>
            <a:off x="5536387" y="5861304"/>
            <a:ext cx="1118921" cy="256032"/>
          </a:xfrm>
          <a:prstGeom prst="roundRect">
            <a:avLst>
              <a:gd name="adj" fmla="val 50000"/>
            </a:avLst>
          </a:prstGeom>
          <a:solidFill>
            <a:srgbClr val="0F3B24"/>
          </a:solidFill>
          <a:ln w="9525">
            <a:solidFill>
              <a:srgbClr val="3DCD58"/>
            </a:solidFill>
            <a:prstDash val="solid"/>
          </a:ln>
        </p:spPr>
      </p:sp>
      <p:sp>
        <p:nvSpPr>
          <p:cNvPr id="41" name="Text 39"/>
          <p:cNvSpPr/>
          <p:nvPr/>
        </p:nvSpPr>
        <p:spPr>
          <a:xfrm>
            <a:off x="5536387"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Target mgmt</a:t>
            </a:r>
            <a:endParaRPr lang="en-US" sz="800" dirty="0"/>
          </a:p>
        </p:txBody>
      </p:sp>
      <p:sp>
        <p:nvSpPr>
          <p:cNvPr id="42" name="Shape 40"/>
          <p:cNvSpPr/>
          <p:nvPr/>
        </p:nvSpPr>
        <p:spPr>
          <a:xfrm>
            <a:off x="6765036" y="5861304"/>
            <a:ext cx="1118921" cy="256032"/>
          </a:xfrm>
          <a:prstGeom prst="roundRect">
            <a:avLst>
              <a:gd name="adj" fmla="val 50000"/>
            </a:avLst>
          </a:prstGeom>
          <a:solidFill>
            <a:srgbClr val="0F3B24"/>
          </a:solidFill>
          <a:ln w="9525">
            <a:solidFill>
              <a:srgbClr val="3DCD58"/>
            </a:solidFill>
            <a:prstDash val="solid"/>
          </a:ln>
        </p:spPr>
      </p:sp>
      <p:sp>
        <p:nvSpPr>
          <p:cNvPr id="43" name="Text 41"/>
          <p:cNvSpPr/>
          <p:nvPr/>
        </p:nvSpPr>
        <p:spPr>
          <a:xfrm>
            <a:off x="6765036"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analysis</a:t>
            </a:r>
            <a:endParaRPr lang="en-US" sz="800" dirty="0"/>
          </a:p>
        </p:txBody>
      </p:sp>
      <p:sp>
        <p:nvSpPr>
          <p:cNvPr id="44" name="Shape 42"/>
          <p:cNvSpPr/>
          <p:nvPr/>
        </p:nvSpPr>
        <p:spPr>
          <a:xfrm>
            <a:off x="7993685" y="5861304"/>
            <a:ext cx="1118921" cy="256032"/>
          </a:xfrm>
          <a:prstGeom prst="roundRect">
            <a:avLst>
              <a:gd name="adj" fmla="val 50000"/>
            </a:avLst>
          </a:prstGeom>
          <a:solidFill>
            <a:srgbClr val="0F3B24"/>
          </a:solidFill>
          <a:ln w="9525">
            <a:solidFill>
              <a:srgbClr val="3DCD58"/>
            </a:solidFill>
            <a:prstDash val="solid"/>
          </a:ln>
        </p:spPr>
      </p:sp>
      <p:sp>
        <p:nvSpPr>
          <p:cNvPr id="45" name="Text 43"/>
          <p:cNvSpPr/>
          <p:nvPr/>
        </p:nvSpPr>
        <p:spPr>
          <a:xfrm>
            <a:off x="7993685"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Actions and Adaptations</a:t>
            </a:r>
            <a:endParaRPr lang="en-US" sz="800" dirty="0"/>
          </a:p>
        </p:txBody>
      </p:sp>
      <p:sp>
        <p:nvSpPr>
          <p:cNvPr id="46" name="Shape 44"/>
          <p:cNvSpPr/>
          <p:nvPr/>
        </p:nvSpPr>
        <p:spPr>
          <a:xfrm>
            <a:off x="9222334" y="5861304"/>
            <a:ext cx="1118921" cy="256032"/>
          </a:xfrm>
          <a:prstGeom prst="roundRect">
            <a:avLst>
              <a:gd name="adj" fmla="val 50000"/>
            </a:avLst>
          </a:prstGeom>
          <a:solidFill>
            <a:srgbClr val="0F3B24"/>
          </a:solidFill>
          <a:ln w="9525">
            <a:solidFill>
              <a:srgbClr val="3DCD58"/>
            </a:solidFill>
            <a:prstDash val="solid"/>
          </a:ln>
        </p:spPr>
      </p:sp>
      <p:sp>
        <p:nvSpPr>
          <p:cNvPr id="47" name="Text 45"/>
          <p:cNvSpPr/>
          <p:nvPr/>
        </p:nvSpPr>
        <p:spPr>
          <a:xfrm>
            <a:off x="9222334"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AI agents &amp; forecasting</a:t>
            </a:r>
            <a:endParaRPr lang="en-US" sz="800" dirty="0"/>
          </a:p>
        </p:txBody>
      </p:sp>
      <p:sp>
        <p:nvSpPr>
          <p:cNvPr id="48" name="Shape 46"/>
          <p:cNvSpPr/>
          <p:nvPr/>
        </p:nvSpPr>
        <p:spPr>
          <a:xfrm>
            <a:off x="10450982" y="5861304"/>
            <a:ext cx="1118921" cy="256032"/>
          </a:xfrm>
          <a:prstGeom prst="roundRect">
            <a:avLst>
              <a:gd name="adj" fmla="val 50000"/>
            </a:avLst>
          </a:prstGeom>
          <a:solidFill>
            <a:srgbClr val="0F3B24"/>
          </a:solidFill>
          <a:ln w="9525">
            <a:solidFill>
              <a:srgbClr val="3DCD58"/>
            </a:solidFill>
            <a:prstDash val="solid"/>
          </a:ln>
        </p:spPr>
      </p:sp>
      <p:sp>
        <p:nvSpPr>
          <p:cNvPr id="49" name="Text 47"/>
          <p:cNvSpPr/>
          <p:nvPr/>
        </p:nvSpPr>
        <p:spPr>
          <a:xfrm>
            <a:off x="10450982"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Workflows &amp; audit trail</a:t>
            </a:r>
            <a:endParaRPr lang="en-US" sz="800" dirty="0"/>
          </a:p>
        </p:txBody>
      </p:sp>
      <p:sp>
        <p:nvSpPr>
          <p:cNvPr id="50" name="Text 48"/>
          <p:cNvSpPr/>
          <p:nvPr/>
        </p:nvSpPr>
        <p:spPr>
          <a:xfrm>
            <a:off x="8460943" y="6080760"/>
            <a:ext cx="3108960" cy="274320"/>
          </a:xfrm>
          <a:prstGeom prst="rect">
            <a:avLst/>
          </a:prstGeom>
          <a:noFill/>
          <a:ln/>
        </p:spPr>
        <p:txBody>
          <a:bodyPr wrap="square" lIns="0" tIns="0" rIns="0" bIns="0" rtlCol="0" anchor="ctr"/>
          <a:lstStyle/>
          <a:p>
            <a:pPr algn="r" indent="0" marL="0">
              <a:buNone/>
            </a:pPr>
            <a:r>
              <a:rPr lang="en-US" sz="1400" b="1" dirty="0">
                <a:solidFill>
                  <a:srgbClr val="3DCD58"/>
                </a:solidFill>
                <a:latin typeface="Calibri" pitchFamily="34" charset="0"/>
                <a:ea typeface="Calibri" pitchFamily="34" charset="-122"/>
                <a:cs typeface="Calibri" pitchFamily="34" charset="-120"/>
              </a:rPr>
              <a:t>SE </a:t>
            </a:r>
            <a:pPr algn="r" indent="0" marL="0">
              <a:buNone/>
            </a:pPr>
            <a:r>
              <a:rPr lang="en-US" sz="1400" dirty="0">
                <a:solidFill>
                  <a:srgbClr val="FFFFFF"/>
                </a:solidFill>
                <a:latin typeface="Calibri" pitchFamily="34" charset="0"/>
                <a:ea typeface="Calibri" pitchFamily="34" charset="-122"/>
                <a:cs typeface="Calibri" pitchFamily="34" charset="-120"/>
              </a:rPr>
              <a:t>ADVISORY SERVICES</a:t>
            </a:r>
            <a:endParaRPr lang="en-US" sz="14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3B25"/>
        </a:solidFill>
      </p:bgPr>
    </p:bg>
    <p:spTree>
      <p:nvGrpSpPr>
        <p:cNvPr id="1" name=""/>
        <p:cNvGrpSpPr/>
        <p:nvPr/>
      </p:nvGrpSpPr>
      <p:grpSpPr>
        <a:xfrm>
          <a:off x="0" y="0"/>
          <a:ext cx="0" cy="0"/>
          <a:chOff x="0" y="0"/>
          <a:chExt cx="0" cy="0"/>
        </a:xfrm>
      </p:grpSpPr>
      <p:sp>
        <p:nvSpPr>
          <p:cNvPr id="2" name="Text 0"/>
          <p:cNvSpPr/>
          <p:nvPr/>
        </p:nvSpPr>
        <p:spPr>
          <a:xfrm>
            <a:off x="621792" y="457200"/>
            <a:ext cx="10948111" cy="868680"/>
          </a:xfrm>
          <a:prstGeom prst="rect">
            <a:avLst/>
          </a:prstGeom>
          <a:noFill/>
          <a:ln/>
        </p:spPr>
        <p:txBody>
          <a:bodyPr wrap="square" lIns="0" tIns="0" rIns="0" bIns="0" rtlCol="0" anchor="ctr">
            <a:normAutofit/>
          </a:bodyPr>
          <a:lstStyle/>
          <a:p>
            <a:pPr algn="ctr" indent="0" marL="0">
              <a:buNone/>
            </a:pPr>
            <a:r>
              <a:rPr lang="en-US" sz="2600" b="1" dirty="0">
                <a:solidFill>
                  <a:srgbClr val="3DCD58"/>
                </a:solidFill>
                <a:latin typeface="Calibri" pitchFamily="34" charset="0"/>
                <a:ea typeface="Calibri" pitchFamily="34" charset="-122"/>
                <a:cs typeface="Calibri" pitchFamily="34" charset="-120"/>
              </a:rPr>
              <a:t>We're Building </a:t>
            </a:r>
            <a:pPr algn="ctr" indent="0" marL="0">
              <a:buNone/>
            </a:pPr>
            <a:r>
              <a:rPr lang="en-US" sz="2600" b="1" dirty="0">
                <a:solidFill>
                  <a:srgbClr val="FFFFFF"/>
                </a:solidFill>
                <a:latin typeface="Calibri" pitchFamily="34" charset="0"/>
                <a:ea typeface="Calibri" pitchFamily="34" charset="-122"/>
                <a:cs typeface="Calibri" pitchFamily="34" charset="-120"/>
              </a:rPr>
              <a:t>One</a:t>
            </a:r>
            <a:pPr algn="ctr" indent="0" marL="0">
              <a:buNone/>
            </a:pPr>
            <a:r>
              <a:rPr lang="en-US" sz="2600" b="1" dirty="0">
                <a:solidFill>
                  <a:srgbClr val="3DCD58"/>
                </a:solidFill>
                <a:latin typeface="Calibri" pitchFamily="34" charset="0"/>
                <a:ea typeface="Calibri" pitchFamily="34" charset="-122"/>
                <a:cs typeface="Calibri" pitchFamily="34" charset="-120"/>
              </a:rPr>
              <a:t> AI-Native Platform with Multiple Connected Products</a:t>
            </a:r>
            <a:endParaRPr lang="en-US" sz="2600" dirty="0"/>
          </a:p>
        </p:txBody>
      </p:sp>
      <p:sp>
        <p:nvSpPr>
          <p:cNvPr id="3" name="Text 1"/>
          <p:cNvSpPr/>
          <p:nvPr/>
        </p:nvSpPr>
        <p:spPr>
          <a:xfrm>
            <a:off x="621792" y="1463040"/>
            <a:ext cx="10948111" cy="548640"/>
          </a:xfrm>
          <a:prstGeom prst="rect">
            <a:avLst/>
          </a:prstGeom>
          <a:noFill/>
          <a:ln/>
        </p:spPr>
        <p:txBody>
          <a:bodyPr wrap="square" lIns="0" tIns="0" rIns="0" bIns="0" rtlCol="0" anchor="ctr"/>
          <a:lstStyle/>
          <a:p>
            <a:pPr algn="ctr" indent="0" marL="0">
              <a:buNone/>
            </a:pPr>
            <a:r>
              <a:rPr lang="en-US" sz="2700" spc="100" kern="0" dirty="0">
                <a:solidFill>
                  <a:srgbClr val="FFFFFF"/>
                </a:solidFill>
                <a:latin typeface="Calibri" pitchFamily="34" charset="0"/>
                <a:ea typeface="Calibri" pitchFamily="34" charset="-122"/>
                <a:cs typeface="Calibri" pitchFamily="34" charset="-120"/>
              </a:rPr>
              <a:t>RESOURCE </a:t>
            </a:r>
            <a:pPr algn="ctr" indent="0" marL="0">
              <a:buNone/>
            </a:pPr>
            <a:r>
              <a:rPr lang="en-US" sz="2700" b="1" spc="100" kern="0" dirty="0">
                <a:solidFill>
                  <a:srgbClr val="FFFFFF"/>
                </a:solidFill>
                <a:latin typeface="Calibri" pitchFamily="34" charset="0"/>
                <a:ea typeface="Calibri" pitchFamily="34" charset="-122"/>
                <a:cs typeface="Calibri" pitchFamily="34" charset="-120"/>
              </a:rPr>
              <a:t>ADVISOR</a:t>
            </a:r>
            <a:pPr algn="ctr" indent="0" marL="0">
              <a:buNone/>
            </a:pPr>
            <a:r>
              <a:rPr lang="en-US" sz="2700" b="1" baseline="30000" spc="100" kern="0" dirty="0">
                <a:solidFill>
                  <a:srgbClr val="FFFFFF"/>
                </a:solidFill>
                <a:latin typeface="Calibri" pitchFamily="34" charset="0"/>
                <a:ea typeface="Calibri" pitchFamily="34" charset="-122"/>
                <a:cs typeface="Calibri" pitchFamily="34" charset="-120"/>
              </a:rPr>
              <a:t>+</a:t>
            </a:r>
            <a:endParaRPr lang="en-US" sz="2700" dirty="0"/>
          </a:p>
        </p:txBody>
      </p:sp>
      <p:sp>
        <p:nvSpPr>
          <p:cNvPr id="4" name="Text 2"/>
          <p:cNvSpPr/>
          <p:nvPr/>
        </p:nvSpPr>
        <p:spPr>
          <a:xfrm>
            <a:off x="621792" y="2240280"/>
            <a:ext cx="5222596" cy="237744"/>
          </a:xfrm>
          <a:prstGeom prst="rect">
            <a:avLst/>
          </a:prstGeom>
          <a:noFill/>
          <a:ln/>
        </p:spPr>
        <p:txBody>
          <a:bodyPr wrap="square" lIns="0" tIns="0" rIns="0" bIns="0" rtlCol="0" anchor="ctr"/>
          <a:lstStyle/>
          <a:p>
            <a:pPr algn="ctr" indent="0" marL="0">
              <a:buNone/>
            </a:pPr>
            <a:r>
              <a:rPr lang="en-US" sz="1300" b="1" dirty="0">
                <a:solidFill>
                  <a:srgbClr val="CDFC57"/>
                </a:solidFill>
                <a:latin typeface="Calibri" pitchFamily="34" charset="0"/>
                <a:ea typeface="Calibri" pitchFamily="34" charset="-122"/>
                <a:cs typeface="Calibri" pitchFamily="34" charset="-120"/>
              </a:rPr>
              <a:t>Sustainability</a:t>
            </a:r>
            <a:endParaRPr lang="en-US" sz="1300" dirty="0"/>
          </a:p>
        </p:txBody>
      </p:sp>
      <p:sp>
        <p:nvSpPr>
          <p:cNvPr id="5" name="Text 3"/>
          <p:cNvSpPr/>
          <p:nvPr/>
        </p:nvSpPr>
        <p:spPr>
          <a:xfrm>
            <a:off x="621792" y="2478024"/>
            <a:ext cx="5222596"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6" name="Shape 4"/>
          <p:cNvSpPr/>
          <p:nvPr/>
        </p:nvSpPr>
        <p:spPr>
          <a:xfrm>
            <a:off x="621792" y="2743200"/>
            <a:ext cx="2538146" cy="1234440"/>
          </a:xfrm>
          <a:prstGeom prst="roundRect">
            <a:avLst>
              <a:gd name="adj" fmla="val 2963"/>
            </a:avLst>
          </a:prstGeom>
          <a:solidFill>
            <a:srgbClr val="0F4A2E"/>
          </a:solidFill>
          <a:ln w="13970">
            <a:solidFill>
              <a:srgbClr val="CDFC57"/>
            </a:solidFill>
            <a:prstDash val="solid"/>
          </a:ln>
        </p:spPr>
      </p:sp>
      <p:sp>
        <p:nvSpPr>
          <p:cNvPr id="7" name="Text 5"/>
          <p:cNvSpPr/>
          <p:nvPr/>
        </p:nvSpPr>
        <p:spPr>
          <a:xfrm>
            <a:off x="694944" y="2743200"/>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CARBON PERFORMANCE</a:t>
            </a:r>
            <a:endParaRPr lang="en-US" sz="1100" dirty="0"/>
          </a:p>
        </p:txBody>
      </p:sp>
      <p:sp>
        <p:nvSpPr>
          <p:cNvPr id="8" name="Shape 6"/>
          <p:cNvSpPr/>
          <p:nvPr/>
        </p:nvSpPr>
        <p:spPr>
          <a:xfrm>
            <a:off x="3306242" y="2743200"/>
            <a:ext cx="2538146" cy="1234440"/>
          </a:xfrm>
          <a:prstGeom prst="roundRect">
            <a:avLst>
              <a:gd name="adj" fmla="val 2963"/>
            </a:avLst>
          </a:prstGeom>
          <a:solidFill>
            <a:srgbClr val="0F4A2E"/>
          </a:solidFill>
          <a:ln w="13970">
            <a:solidFill>
              <a:srgbClr val="CDFC57"/>
            </a:solidFill>
            <a:prstDash val="solid"/>
          </a:ln>
        </p:spPr>
      </p:sp>
      <p:sp>
        <p:nvSpPr>
          <p:cNvPr id="9" name="Text 7"/>
          <p:cNvSpPr/>
          <p:nvPr/>
        </p:nvSpPr>
        <p:spPr>
          <a:xfrm>
            <a:off x="3379394" y="2743200"/>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SUPPLY CHAIN</a:t>
            </a:r>
            <a:endParaRPr lang="en-US" sz="1100" dirty="0"/>
          </a:p>
        </p:txBody>
      </p:sp>
      <p:sp>
        <p:nvSpPr>
          <p:cNvPr id="10" name="Shape 8"/>
          <p:cNvSpPr/>
          <p:nvPr/>
        </p:nvSpPr>
        <p:spPr>
          <a:xfrm>
            <a:off x="621792" y="4123944"/>
            <a:ext cx="2538146" cy="1234440"/>
          </a:xfrm>
          <a:prstGeom prst="roundRect">
            <a:avLst>
              <a:gd name="adj" fmla="val 2963"/>
            </a:avLst>
          </a:prstGeom>
          <a:solidFill>
            <a:srgbClr val="0F4A2E"/>
          </a:solidFill>
          <a:ln w="13970">
            <a:solidFill>
              <a:srgbClr val="CDFC57"/>
            </a:solidFill>
            <a:prstDash val="solid"/>
          </a:ln>
        </p:spPr>
      </p:sp>
      <p:sp>
        <p:nvSpPr>
          <p:cNvPr id="11" name="Text 9"/>
          <p:cNvSpPr/>
          <p:nvPr/>
        </p:nvSpPr>
        <p:spPr>
          <a:xfrm>
            <a:off x="694944" y="4123944"/>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REPORTING &amp; COMPLIANCE</a:t>
            </a:r>
            <a:endParaRPr lang="en-US" sz="1100" dirty="0"/>
          </a:p>
        </p:txBody>
      </p:sp>
      <p:sp>
        <p:nvSpPr>
          <p:cNvPr id="12" name="Shape 10"/>
          <p:cNvSpPr/>
          <p:nvPr/>
        </p:nvSpPr>
        <p:spPr>
          <a:xfrm>
            <a:off x="3306242" y="4123944"/>
            <a:ext cx="2538146" cy="1234440"/>
          </a:xfrm>
          <a:prstGeom prst="roundRect">
            <a:avLst>
              <a:gd name="adj" fmla="val 2963"/>
            </a:avLst>
          </a:prstGeom>
          <a:solidFill>
            <a:srgbClr val="0F4A2E"/>
          </a:solidFill>
          <a:ln w="13970">
            <a:solidFill>
              <a:srgbClr val="CDFC57"/>
            </a:solidFill>
            <a:prstDash val="solid"/>
          </a:ln>
        </p:spPr>
      </p:sp>
      <p:sp>
        <p:nvSpPr>
          <p:cNvPr id="13" name="Text 11"/>
          <p:cNvSpPr/>
          <p:nvPr/>
        </p:nvSpPr>
        <p:spPr>
          <a:xfrm>
            <a:off x="3379394" y="4123944"/>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CLIMATE RISK</a:t>
            </a:r>
            <a:endParaRPr lang="en-US" sz="1100" dirty="0"/>
          </a:p>
        </p:txBody>
      </p:sp>
      <p:sp>
        <p:nvSpPr>
          <p:cNvPr id="14" name="Text 12"/>
          <p:cNvSpPr/>
          <p:nvPr/>
        </p:nvSpPr>
        <p:spPr>
          <a:xfrm>
            <a:off x="6347308" y="2240280"/>
            <a:ext cx="5222596" cy="237744"/>
          </a:xfrm>
          <a:prstGeom prst="rect">
            <a:avLst/>
          </a:prstGeom>
          <a:noFill/>
          <a:ln/>
        </p:spPr>
        <p:txBody>
          <a:bodyPr wrap="square" lIns="0" tIns="0" rIns="0" bIns="0" rtlCol="0" anchor="ctr"/>
          <a:lstStyle/>
          <a:p>
            <a:pPr algn="ctr" indent="0" marL="0">
              <a:buNone/>
            </a:pPr>
            <a:r>
              <a:rPr lang="en-US" sz="1300" b="1" dirty="0">
                <a:solidFill>
                  <a:srgbClr val="3DCD58"/>
                </a:solidFill>
                <a:latin typeface="Calibri" pitchFamily="34" charset="0"/>
                <a:ea typeface="Calibri" pitchFamily="34" charset="-122"/>
                <a:cs typeface="Calibri" pitchFamily="34" charset="-120"/>
              </a:rPr>
              <a:t>Energy &amp; Efficiency</a:t>
            </a:r>
            <a:endParaRPr lang="en-US" sz="1300" dirty="0"/>
          </a:p>
        </p:txBody>
      </p:sp>
      <p:sp>
        <p:nvSpPr>
          <p:cNvPr id="15" name="Text 13"/>
          <p:cNvSpPr/>
          <p:nvPr/>
        </p:nvSpPr>
        <p:spPr>
          <a:xfrm>
            <a:off x="6347308" y="2478024"/>
            <a:ext cx="5222596"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16" name="Shape 14"/>
          <p:cNvSpPr/>
          <p:nvPr/>
        </p:nvSpPr>
        <p:spPr>
          <a:xfrm>
            <a:off x="6347308" y="2743200"/>
            <a:ext cx="1643329" cy="749808"/>
          </a:xfrm>
          <a:prstGeom prst="roundRect">
            <a:avLst>
              <a:gd name="adj" fmla="val 4878"/>
            </a:avLst>
          </a:prstGeom>
          <a:solidFill>
            <a:srgbClr val="0F4A2E"/>
          </a:solidFill>
          <a:ln w="13970">
            <a:solidFill>
              <a:srgbClr val="3DCD58"/>
            </a:solidFill>
            <a:prstDash val="solid"/>
          </a:ln>
        </p:spPr>
      </p:sp>
      <p:sp>
        <p:nvSpPr>
          <p:cNvPr id="17" name="Text 15"/>
          <p:cNvSpPr/>
          <p:nvPr/>
        </p:nvSpPr>
        <p:spPr>
          <a:xfrm>
            <a:off x="6420460" y="2743200"/>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ENERGY EFFICIENCY</a:t>
            </a:r>
            <a:endParaRPr lang="en-US" sz="900" dirty="0"/>
          </a:p>
        </p:txBody>
      </p:sp>
      <p:sp>
        <p:nvSpPr>
          <p:cNvPr id="18" name="Shape 16"/>
          <p:cNvSpPr/>
          <p:nvPr/>
        </p:nvSpPr>
        <p:spPr>
          <a:xfrm>
            <a:off x="8136941" y="2743200"/>
            <a:ext cx="1643329" cy="749808"/>
          </a:xfrm>
          <a:prstGeom prst="roundRect">
            <a:avLst>
              <a:gd name="adj" fmla="val 4878"/>
            </a:avLst>
          </a:prstGeom>
          <a:solidFill>
            <a:srgbClr val="0F4A2E"/>
          </a:solidFill>
          <a:ln w="13970">
            <a:solidFill>
              <a:srgbClr val="3DCD58"/>
            </a:solidFill>
            <a:prstDash val="solid"/>
          </a:ln>
        </p:spPr>
      </p:sp>
      <p:sp>
        <p:nvSpPr>
          <p:cNvPr id="19" name="Text 17"/>
          <p:cNvSpPr/>
          <p:nvPr/>
        </p:nvSpPr>
        <p:spPr>
          <a:xfrm>
            <a:off x="8210093" y="2743200"/>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CAPITAL ASSET PLANNING</a:t>
            </a:r>
            <a:endParaRPr lang="en-US" sz="900" dirty="0"/>
          </a:p>
        </p:txBody>
      </p:sp>
      <p:sp>
        <p:nvSpPr>
          <p:cNvPr id="20" name="Shape 18"/>
          <p:cNvSpPr/>
          <p:nvPr/>
        </p:nvSpPr>
        <p:spPr>
          <a:xfrm>
            <a:off x="9926574" y="2743200"/>
            <a:ext cx="1643329" cy="749808"/>
          </a:xfrm>
          <a:prstGeom prst="roundRect">
            <a:avLst>
              <a:gd name="adj" fmla="val 4878"/>
            </a:avLst>
          </a:prstGeom>
          <a:solidFill>
            <a:srgbClr val="0F4A2E"/>
          </a:solidFill>
          <a:ln w="13970">
            <a:solidFill>
              <a:srgbClr val="3DCD58"/>
            </a:solidFill>
            <a:prstDash val="solid"/>
          </a:ln>
        </p:spPr>
      </p:sp>
      <p:sp>
        <p:nvSpPr>
          <p:cNvPr id="21" name="Text 19"/>
          <p:cNvSpPr/>
          <p:nvPr/>
        </p:nvSpPr>
        <p:spPr>
          <a:xfrm>
            <a:off x="9999726" y="2743200"/>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METERING &amp; INTERVAL DATA</a:t>
            </a:r>
            <a:endParaRPr lang="en-US" sz="900" dirty="0"/>
          </a:p>
        </p:txBody>
      </p:sp>
      <p:sp>
        <p:nvSpPr>
          <p:cNvPr id="22" name="Shape 20"/>
          <p:cNvSpPr/>
          <p:nvPr/>
        </p:nvSpPr>
        <p:spPr>
          <a:xfrm>
            <a:off x="6347308" y="3639312"/>
            <a:ext cx="1643329" cy="749808"/>
          </a:xfrm>
          <a:prstGeom prst="roundRect">
            <a:avLst>
              <a:gd name="adj" fmla="val 4878"/>
            </a:avLst>
          </a:prstGeom>
          <a:solidFill>
            <a:srgbClr val="0F4A2E"/>
          </a:solidFill>
          <a:ln w="13970">
            <a:solidFill>
              <a:srgbClr val="3DCD58"/>
            </a:solidFill>
            <a:prstDash val="solid"/>
          </a:ln>
        </p:spPr>
      </p:sp>
      <p:sp>
        <p:nvSpPr>
          <p:cNvPr id="23" name="Text 21"/>
          <p:cNvSpPr/>
          <p:nvPr/>
        </p:nvSpPr>
        <p:spPr>
          <a:xfrm>
            <a:off x="6420460" y="3639312"/>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ENERGY PORTFOLIO MANAGEMENT</a:t>
            </a:r>
            <a:endParaRPr lang="en-US" sz="900" dirty="0"/>
          </a:p>
        </p:txBody>
      </p:sp>
      <p:sp>
        <p:nvSpPr>
          <p:cNvPr id="24" name="Shape 22"/>
          <p:cNvSpPr/>
          <p:nvPr/>
        </p:nvSpPr>
        <p:spPr>
          <a:xfrm>
            <a:off x="8136941" y="3639312"/>
            <a:ext cx="1643329" cy="749808"/>
          </a:xfrm>
          <a:prstGeom prst="roundRect">
            <a:avLst>
              <a:gd name="adj" fmla="val 4878"/>
            </a:avLst>
          </a:prstGeom>
          <a:solidFill>
            <a:srgbClr val="0F4A2E"/>
          </a:solidFill>
          <a:ln w="13970">
            <a:solidFill>
              <a:srgbClr val="3DCD58"/>
            </a:solidFill>
            <a:prstDash val="solid"/>
          </a:ln>
        </p:spPr>
      </p:sp>
      <p:sp>
        <p:nvSpPr>
          <p:cNvPr id="25" name="Text 23"/>
          <p:cNvSpPr/>
          <p:nvPr/>
        </p:nvSpPr>
        <p:spPr>
          <a:xfrm>
            <a:off x="8210093" y="3639312"/>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UTILITY DATA MANAGEMENT</a:t>
            </a:r>
            <a:endParaRPr lang="en-US" sz="900" dirty="0"/>
          </a:p>
        </p:txBody>
      </p:sp>
      <p:sp>
        <p:nvSpPr>
          <p:cNvPr id="26" name="Shape 24"/>
          <p:cNvSpPr/>
          <p:nvPr/>
        </p:nvSpPr>
        <p:spPr>
          <a:xfrm>
            <a:off x="9926574" y="3639312"/>
            <a:ext cx="1643329" cy="749808"/>
          </a:xfrm>
          <a:prstGeom prst="roundRect">
            <a:avLst>
              <a:gd name="adj" fmla="val 4878"/>
            </a:avLst>
          </a:prstGeom>
          <a:solidFill>
            <a:srgbClr val="0F4A2E"/>
          </a:solidFill>
          <a:ln w="13970">
            <a:solidFill>
              <a:srgbClr val="3DCD58"/>
            </a:solidFill>
            <a:prstDash val="solid"/>
          </a:ln>
        </p:spPr>
      </p:sp>
      <p:sp>
        <p:nvSpPr>
          <p:cNvPr id="27" name="Text 25"/>
          <p:cNvSpPr/>
          <p:nvPr/>
        </p:nvSpPr>
        <p:spPr>
          <a:xfrm>
            <a:off x="9999726" y="3639312"/>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BUDGET &amp; TARIFF INTELLIGENCE</a:t>
            </a:r>
            <a:endParaRPr lang="en-US" sz="900" dirty="0"/>
          </a:p>
        </p:txBody>
      </p:sp>
      <p:sp>
        <p:nvSpPr>
          <p:cNvPr id="28" name="Shape 26"/>
          <p:cNvSpPr/>
          <p:nvPr/>
        </p:nvSpPr>
        <p:spPr>
          <a:xfrm>
            <a:off x="6347308" y="4535424"/>
            <a:ext cx="1643329" cy="749808"/>
          </a:xfrm>
          <a:prstGeom prst="roundRect">
            <a:avLst>
              <a:gd name="adj" fmla="val 4878"/>
            </a:avLst>
          </a:prstGeom>
          <a:solidFill>
            <a:srgbClr val="0F4A2E"/>
          </a:solidFill>
          <a:ln w="13970">
            <a:solidFill>
              <a:srgbClr val="3DCD58"/>
            </a:solidFill>
            <a:prstDash val="solid"/>
          </a:ln>
        </p:spPr>
      </p:sp>
      <p:sp>
        <p:nvSpPr>
          <p:cNvPr id="29" name="Text 27"/>
          <p:cNvSpPr/>
          <p:nvPr/>
        </p:nvSpPr>
        <p:spPr>
          <a:xfrm>
            <a:off x="6420460" y="4535424"/>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SOURCING &amp; PROCUREMENT</a:t>
            </a:r>
            <a:endParaRPr lang="en-US" sz="900" dirty="0"/>
          </a:p>
        </p:txBody>
      </p:sp>
      <p:sp>
        <p:nvSpPr>
          <p:cNvPr id="30" name="Shape 28"/>
          <p:cNvSpPr/>
          <p:nvPr/>
        </p:nvSpPr>
        <p:spPr>
          <a:xfrm>
            <a:off x="8136941" y="4535424"/>
            <a:ext cx="1643329" cy="749808"/>
          </a:xfrm>
          <a:prstGeom prst="roundRect">
            <a:avLst>
              <a:gd name="adj" fmla="val 4878"/>
            </a:avLst>
          </a:prstGeom>
          <a:solidFill>
            <a:srgbClr val="0F4A2E"/>
          </a:solidFill>
          <a:ln w="13970">
            <a:solidFill>
              <a:srgbClr val="3DCD58"/>
            </a:solidFill>
            <a:prstDash val="solid"/>
          </a:ln>
        </p:spPr>
      </p:sp>
      <p:sp>
        <p:nvSpPr>
          <p:cNvPr id="31" name="Text 29"/>
          <p:cNvSpPr/>
          <p:nvPr/>
        </p:nvSpPr>
        <p:spPr>
          <a:xfrm>
            <a:off x="8210093" y="4535424"/>
            <a:ext cx="1497025" cy="749808"/>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PPAS &amp; EACS</a:t>
            </a:r>
            <a:endParaRPr lang="en-US" sz="900" dirty="0"/>
          </a:p>
        </p:txBody>
      </p:sp>
      <p:sp>
        <p:nvSpPr>
          <p:cNvPr id="32" name="Shape 30"/>
          <p:cNvSpPr/>
          <p:nvPr/>
        </p:nvSpPr>
        <p:spPr>
          <a:xfrm>
            <a:off x="621792" y="5532120"/>
            <a:ext cx="10948111" cy="685800"/>
          </a:xfrm>
          <a:prstGeom prst="roundRect">
            <a:avLst>
              <a:gd name="adj" fmla="val 10667"/>
            </a:avLst>
          </a:prstGeom>
          <a:solidFill>
            <a:srgbClr val="1A4A2E"/>
          </a:solidFill>
          <a:ln w="12700">
            <a:solidFill>
              <a:srgbClr val="CDFC57"/>
            </a:solidFill>
            <a:prstDash val="solid"/>
          </a:ln>
        </p:spPr>
      </p:sp>
      <p:sp>
        <p:nvSpPr>
          <p:cNvPr id="33" name="Text 31"/>
          <p:cNvSpPr/>
          <p:nvPr/>
        </p:nvSpPr>
        <p:spPr>
          <a:xfrm>
            <a:off x="621792" y="5596128"/>
            <a:ext cx="10948111" cy="201168"/>
          </a:xfrm>
          <a:prstGeom prst="rect">
            <a:avLst/>
          </a:prstGeom>
          <a:noFill/>
          <a:ln/>
        </p:spPr>
        <p:txBody>
          <a:bodyPr wrap="square" lIns="0" tIns="0" rIns="0" bIns="0" rtlCol="0" anchor="ctr"/>
          <a:lstStyle/>
          <a:p>
            <a:pPr algn="ctr" indent="0" marL="0">
              <a:buNone/>
            </a:pPr>
            <a:r>
              <a:rPr lang="en-US" sz="800" b="1" spc="200" kern="0" dirty="0">
                <a:solidFill>
                  <a:srgbClr val="CDFC57"/>
                </a:solidFill>
                <a:latin typeface="Calibri" pitchFamily="34" charset="0"/>
                <a:ea typeface="Calibri" pitchFamily="34" charset="-122"/>
                <a:cs typeface="Calibri" pitchFamily="34" charset="-120"/>
              </a:rPr>
              <a:t>ALL ARE SHARED CAPABILITIES</a:t>
            </a:r>
            <a:endParaRPr lang="en-US" sz="800" dirty="0"/>
          </a:p>
        </p:txBody>
      </p:sp>
      <p:sp>
        <p:nvSpPr>
          <p:cNvPr id="34" name="Shape 32"/>
          <p:cNvSpPr/>
          <p:nvPr/>
        </p:nvSpPr>
        <p:spPr>
          <a:xfrm>
            <a:off x="621792" y="5861304"/>
            <a:ext cx="1118921" cy="256032"/>
          </a:xfrm>
          <a:prstGeom prst="roundRect">
            <a:avLst>
              <a:gd name="adj" fmla="val 50000"/>
            </a:avLst>
          </a:prstGeom>
          <a:solidFill>
            <a:srgbClr val="0F3B24"/>
          </a:solidFill>
          <a:ln w="9525">
            <a:solidFill>
              <a:srgbClr val="3DCD58"/>
            </a:solidFill>
            <a:prstDash val="solid"/>
          </a:ln>
        </p:spPr>
      </p:sp>
      <p:sp>
        <p:nvSpPr>
          <p:cNvPr id="35" name="Text 33"/>
          <p:cNvSpPr/>
          <p:nvPr/>
        </p:nvSpPr>
        <p:spPr>
          <a:xfrm>
            <a:off x="621792"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ingestion &amp; transformation</a:t>
            </a:r>
            <a:endParaRPr lang="en-US" sz="800" dirty="0"/>
          </a:p>
        </p:txBody>
      </p:sp>
      <p:sp>
        <p:nvSpPr>
          <p:cNvPr id="36" name="Shape 34"/>
          <p:cNvSpPr/>
          <p:nvPr/>
        </p:nvSpPr>
        <p:spPr>
          <a:xfrm>
            <a:off x="1850441" y="5861304"/>
            <a:ext cx="1118921" cy="256032"/>
          </a:xfrm>
          <a:prstGeom prst="roundRect">
            <a:avLst>
              <a:gd name="adj" fmla="val 50000"/>
            </a:avLst>
          </a:prstGeom>
          <a:solidFill>
            <a:srgbClr val="0F3B24"/>
          </a:solidFill>
          <a:ln w="9525">
            <a:solidFill>
              <a:srgbClr val="3DCD58"/>
            </a:solidFill>
            <a:prstDash val="solid"/>
          </a:ln>
        </p:spPr>
      </p:sp>
      <p:sp>
        <p:nvSpPr>
          <p:cNvPr id="37" name="Text 35"/>
          <p:cNvSpPr/>
          <p:nvPr/>
        </p:nvSpPr>
        <p:spPr>
          <a:xfrm>
            <a:off x="1850441"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quality</a:t>
            </a:r>
            <a:endParaRPr lang="en-US" sz="800" dirty="0"/>
          </a:p>
        </p:txBody>
      </p:sp>
      <p:sp>
        <p:nvSpPr>
          <p:cNvPr id="38" name="Shape 36"/>
          <p:cNvSpPr/>
          <p:nvPr/>
        </p:nvSpPr>
        <p:spPr>
          <a:xfrm>
            <a:off x="3079090" y="5861304"/>
            <a:ext cx="1118921" cy="256032"/>
          </a:xfrm>
          <a:prstGeom prst="roundRect">
            <a:avLst>
              <a:gd name="adj" fmla="val 50000"/>
            </a:avLst>
          </a:prstGeom>
          <a:solidFill>
            <a:srgbClr val="0F3B24"/>
          </a:solidFill>
          <a:ln w="9525">
            <a:solidFill>
              <a:srgbClr val="3DCD58"/>
            </a:solidFill>
            <a:prstDash val="solid"/>
          </a:ln>
        </p:spPr>
      </p:sp>
      <p:sp>
        <p:nvSpPr>
          <p:cNvPr id="39" name="Text 37"/>
          <p:cNvSpPr/>
          <p:nvPr/>
        </p:nvSpPr>
        <p:spPr>
          <a:xfrm>
            <a:off x="3079090"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hierarchy &amp; calc engine</a:t>
            </a:r>
            <a:endParaRPr lang="en-US" sz="800" dirty="0"/>
          </a:p>
        </p:txBody>
      </p:sp>
      <p:sp>
        <p:nvSpPr>
          <p:cNvPr id="40" name="Shape 38"/>
          <p:cNvSpPr/>
          <p:nvPr/>
        </p:nvSpPr>
        <p:spPr>
          <a:xfrm>
            <a:off x="4307738" y="5861304"/>
            <a:ext cx="1118921" cy="256032"/>
          </a:xfrm>
          <a:prstGeom prst="roundRect">
            <a:avLst>
              <a:gd name="adj" fmla="val 50000"/>
            </a:avLst>
          </a:prstGeom>
          <a:solidFill>
            <a:srgbClr val="0F3B24"/>
          </a:solidFill>
          <a:ln w="9525">
            <a:solidFill>
              <a:srgbClr val="3DCD58"/>
            </a:solidFill>
            <a:prstDash val="solid"/>
          </a:ln>
        </p:spPr>
      </p:sp>
      <p:sp>
        <p:nvSpPr>
          <p:cNvPr id="41" name="Text 39"/>
          <p:cNvSpPr/>
          <p:nvPr/>
        </p:nvSpPr>
        <p:spPr>
          <a:xfrm>
            <a:off x="4307738"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Analytics &amp; Dashboards</a:t>
            </a:r>
            <a:endParaRPr lang="en-US" sz="800" dirty="0"/>
          </a:p>
        </p:txBody>
      </p:sp>
      <p:sp>
        <p:nvSpPr>
          <p:cNvPr id="42" name="Shape 40"/>
          <p:cNvSpPr/>
          <p:nvPr/>
        </p:nvSpPr>
        <p:spPr>
          <a:xfrm>
            <a:off x="5536387" y="5861304"/>
            <a:ext cx="1118921" cy="256032"/>
          </a:xfrm>
          <a:prstGeom prst="roundRect">
            <a:avLst>
              <a:gd name="adj" fmla="val 50000"/>
            </a:avLst>
          </a:prstGeom>
          <a:solidFill>
            <a:srgbClr val="0F3B24"/>
          </a:solidFill>
          <a:ln w="9525">
            <a:solidFill>
              <a:srgbClr val="3DCD58"/>
            </a:solidFill>
            <a:prstDash val="solid"/>
          </a:ln>
        </p:spPr>
      </p:sp>
      <p:sp>
        <p:nvSpPr>
          <p:cNvPr id="43" name="Text 41"/>
          <p:cNvSpPr/>
          <p:nvPr/>
        </p:nvSpPr>
        <p:spPr>
          <a:xfrm>
            <a:off x="5536387"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Target mgmt</a:t>
            </a:r>
            <a:endParaRPr lang="en-US" sz="800" dirty="0"/>
          </a:p>
        </p:txBody>
      </p:sp>
      <p:sp>
        <p:nvSpPr>
          <p:cNvPr id="44" name="Shape 42"/>
          <p:cNvSpPr/>
          <p:nvPr/>
        </p:nvSpPr>
        <p:spPr>
          <a:xfrm>
            <a:off x="6765036" y="5861304"/>
            <a:ext cx="1118921" cy="256032"/>
          </a:xfrm>
          <a:prstGeom prst="roundRect">
            <a:avLst>
              <a:gd name="adj" fmla="val 50000"/>
            </a:avLst>
          </a:prstGeom>
          <a:solidFill>
            <a:srgbClr val="0F3B24"/>
          </a:solidFill>
          <a:ln w="9525">
            <a:solidFill>
              <a:srgbClr val="3DCD58"/>
            </a:solidFill>
            <a:prstDash val="solid"/>
          </a:ln>
        </p:spPr>
      </p:sp>
      <p:sp>
        <p:nvSpPr>
          <p:cNvPr id="45" name="Text 43"/>
          <p:cNvSpPr/>
          <p:nvPr/>
        </p:nvSpPr>
        <p:spPr>
          <a:xfrm>
            <a:off x="6765036"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analysis</a:t>
            </a:r>
            <a:endParaRPr lang="en-US" sz="800" dirty="0"/>
          </a:p>
        </p:txBody>
      </p:sp>
      <p:sp>
        <p:nvSpPr>
          <p:cNvPr id="46" name="Shape 44"/>
          <p:cNvSpPr/>
          <p:nvPr/>
        </p:nvSpPr>
        <p:spPr>
          <a:xfrm>
            <a:off x="7993685" y="5861304"/>
            <a:ext cx="1118921" cy="256032"/>
          </a:xfrm>
          <a:prstGeom prst="roundRect">
            <a:avLst>
              <a:gd name="adj" fmla="val 50000"/>
            </a:avLst>
          </a:prstGeom>
          <a:solidFill>
            <a:srgbClr val="0F3B24"/>
          </a:solidFill>
          <a:ln w="9525">
            <a:solidFill>
              <a:srgbClr val="3DCD58"/>
            </a:solidFill>
            <a:prstDash val="solid"/>
          </a:ln>
        </p:spPr>
      </p:sp>
      <p:sp>
        <p:nvSpPr>
          <p:cNvPr id="47" name="Text 45"/>
          <p:cNvSpPr/>
          <p:nvPr/>
        </p:nvSpPr>
        <p:spPr>
          <a:xfrm>
            <a:off x="7993685"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Actions and Adaptations</a:t>
            </a:r>
            <a:endParaRPr lang="en-US" sz="800" dirty="0"/>
          </a:p>
        </p:txBody>
      </p:sp>
      <p:sp>
        <p:nvSpPr>
          <p:cNvPr id="48" name="Shape 46"/>
          <p:cNvSpPr/>
          <p:nvPr/>
        </p:nvSpPr>
        <p:spPr>
          <a:xfrm>
            <a:off x="9222334" y="5861304"/>
            <a:ext cx="1118921" cy="256032"/>
          </a:xfrm>
          <a:prstGeom prst="roundRect">
            <a:avLst>
              <a:gd name="adj" fmla="val 50000"/>
            </a:avLst>
          </a:prstGeom>
          <a:solidFill>
            <a:srgbClr val="0F3B24"/>
          </a:solidFill>
          <a:ln w="9525">
            <a:solidFill>
              <a:srgbClr val="3DCD58"/>
            </a:solidFill>
            <a:prstDash val="solid"/>
          </a:ln>
        </p:spPr>
      </p:sp>
      <p:sp>
        <p:nvSpPr>
          <p:cNvPr id="49" name="Text 47"/>
          <p:cNvSpPr/>
          <p:nvPr/>
        </p:nvSpPr>
        <p:spPr>
          <a:xfrm>
            <a:off x="9222334"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AI agents &amp; forecasting</a:t>
            </a:r>
            <a:endParaRPr lang="en-US" sz="800" dirty="0"/>
          </a:p>
        </p:txBody>
      </p:sp>
      <p:sp>
        <p:nvSpPr>
          <p:cNvPr id="50" name="Shape 48"/>
          <p:cNvSpPr/>
          <p:nvPr/>
        </p:nvSpPr>
        <p:spPr>
          <a:xfrm>
            <a:off x="10450982" y="5861304"/>
            <a:ext cx="1118921" cy="256032"/>
          </a:xfrm>
          <a:prstGeom prst="roundRect">
            <a:avLst>
              <a:gd name="adj" fmla="val 50000"/>
            </a:avLst>
          </a:prstGeom>
          <a:solidFill>
            <a:srgbClr val="0F3B24"/>
          </a:solidFill>
          <a:ln w="9525">
            <a:solidFill>
              <a:srgbClr val="3DCD58"/>
            </a:solidFill>
            <a:prstDash val="solid"/>
          </a:ln>
        </p:spPr>
      </p:sp>
      <p:sp>
        <p:nvSpPr>
          <p:cNvPr id="51" name="Text 49"/>
          <p:cNvSpPr/>
          <p:nvPr/>
        </p:nvSpPr>
        <p:spPr>
          <a:xfrm>
            <a:off x="10450982"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Workflows &amp; audit trail</a:t>
            </a:r>
            <a:endParaRPr lang="en-US" sz="800" dirty="0"/>
          </a:p>
        </p:txBody>
      </p:sp>
      <p:sp>
        <p:nvSpPr>
          <p:cNvPr id="52" name="Text 50"/>
          <p:cNvSpPr/>
          <p:nvPr/>
        </p:nvSpPr>
        <p:spPr>
          <a:xfrm>
            <a:off x="8460943" y="6080760"/>
            <a:ext cx="3108960" cy="274320"/>
          </a:xfrm>
          <a:prstGeom prst="rect">
            <a:avLst/>
          </a:prstGeom>
          <a:noFill/>
          <a:ln/>
        </p:spPr>
        <p:txBody>
          <a:bodyPr wrap="square" lIns="0" tIns="0" rIns="0" bIns="0" rtlCol="0" anchor="ctr"/>
          <a:lstStyle/>
          <a:p>
            <a:pPr algn="r" indent="0" marL="0">
              <a:buNone/>
            </a:pPr>
            <a:r>
              <a:rPr lang="en-US" sz="1400" b="1" dirty="0">
                <a:solidFill>
                  <a:srgbClr val="3DCD58"/>
                </a:solidFill>
                <a:latin typeface="Calibri" pitchFamily="34" charset="0"/>
                <a:ea typeface="Calibri" pitchFamily="34" charset="-122"/>
                <a:cs typeface="Calibri" pitchFamily="34" charset="-120"/>
              </a:rPr>
              <a:t>SE </a:t>
            </a:r>
            <a:pPr algn="r" indent="0" marL="0">
              <a:buNone/>
            </a:pPr>
            <a:r>
              <a:rPr lang="en-US" sz="1400" dirty="0">
                <a:solidFill>
                  <a:srgbClr val="FFFFFF"/>
                </a:solidFill>
                <a:latin typeface="Calibri" pitchFamily="34" charset="0"/>
                <a:ea typeface="Calibri" pitchFamily="34" charset="-122"/>
                <a:cs typeface="Calibri" pitchFamily="34" charset="-120"/>
              </a:rPr>
              <a:t>ADVISORY SERVICES</a:t>
            </a:r>
            <a:endParaRPr lang="en-US" sz="14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3B25"/>
        </a:solidFill>
      </p:bgPr>
    </p:bg>
    <p:spTree>
      <p:nvGrpSpPr>
        <p:cNvPr id="1" name=""/>
        <p:cNvGrpSpPr/>
        <p:nvPr/>
      </p:nvGrpSpPr>
      <p:grpSpPr>
        <a:xfrm>
          <a:off x="0" y="0"/>
          <a:ext cx="0" cy="0"/>
          <a:chOff x="0" y="0"/>
          <a:chExt cx="0" cy="0"/>
        </a:xfrm>
      </p:grpSpPr>
      <p:sp>
        <p:nvSpPr>
          <p:cNvPr id="2" name="Text 0"/>
          <p:cNvSpPr/>
          <p:nvPr/>
        </p:nvSpPr>
        <p:spPr>
          <a:xfrm>
            <a:off x="621792" y="457200"/>
            <a:ext cx="10948111" cy="868680"/>
          </a:xfrm>
          <a:prstGeom prst="rect">
            <a:avLst/>
          </a:prstGeom>
          <a:noFill/>
          <a:ln/>
        </p:spPr>
        <p:txBody>
          <a:bodyPr wrap="square" lIns="0" tIns="0" rIns="0" bIns="0" rtlCol="0" anchor="ctr">
            <a:normAutofit/>
          </a:bodyPr>
          <a:lstStyle/>
          <a:p>
            <a:pPr algn="ctr" indent="0" marL="0">
              <a:buNone/>
            </a:pPr>
            <a:r>
              <a:rPr lang="en-US" sz="2600" b="1" dirty="0">
                <a:solidFill>
                  <a:srgbClr val="3DCD58"/>
                </a:solidFill>
                <a:latin typeface="Calibri" pitchFamily="34" charset="0"/>
                <a:ea typeface="Calibri" pitchFamily="34" charset="-122"/>
                <a:cs typeface="Calibri" pitchFamily="34" charset="-120"/>
              </a:rPr>
              <a:t>We're Building </a:t>
            </a:r>
            <a:pPr algn="ctr" indent="0" marL="0">
              <a:buNone/>
            </a:pPr>
            <a:r>
              <a:rPr lang="en-US" sz="2600" b="1" dirty="0">
                <a:solidFill>
                  <a:srgbClr val="FFFFFF"/>
                </a:solidFill>
                <a:latin typeface="Calibri" pitchFamily="34" charset="0"/>
                <a:ea typeface="Calibri" pitchFamily="34" charset="-122"/>
                <a:cs typeface="Calibri" pitchFamily="34" charset="-120"/>
              </a:rPr>
              <a:t>One</a:t>
            </a:r>
            <a:pPr algn="ctr" indent="0" marL="0">
              <a:buNone/>
            </a:pPr>
            <a:r>
              <a:rPr lang="en-US" sz="2600" b="1" dirty="0">
                <a:solidFill>
                  <a:srgbClr val="3DCD58"/>
                </a:solidFill>
                <a:latin typeface="Calibri" pitchFamily="34" charset="0"/>
                <a:ea typeface="Calibri" pitchFamily="34" charset="-122"/>
                <a:cs typeface="Calibri" pitchFamily="34" charset="-120"/>
              </a:rPr>
              <a:t> AI-Native Platform with Multiple Connected Products</a:t>
            </a:r>
            <a:endParaRPr lang="en-US" sz="2600" dirty="0"/>
          </a:p>
        </p:txBody>
      </p:sp>
      <p:sp>
        <p:nvSpPr>
          <p:cNvPr id="3" name="Text 1"/>
          <p:cNvSpPr/>
          <p:nvPr/>
        </p:nvSpPr>
        <p:spPr>
          <a:xfrm>
            <a:off x="621792" y="1463040"/>
            <a:ext cx="10948111" cy="548640"/>
          </a:xfrm>
          <a:prstGeom prst="rect">
            <a:avLst/>
          </a:prstGeom>
          <a:noFill/>
          <a:ln/>
        </p:spPr>
        <p:txBody>
          <a:bodyPr wrap="square" lIns="0" tIns="0" rIns="0" bIns="0" rtlCol="0" anchor="ctr"/>
          <a:lstStyle/>
          <a:p>
            <a:pPr algn="ctr" indent="0" marL="0">
              <a:buNone/>
            </a:pPr>
            <a:r>
              <a:rPr lang="en-US" sz="2700" spc="100" kern="0" dirty="0">
                <a:solidFill>
                  <a:srgbClr val="FFFFFF"/>
                </a:solidFill>
                <a:latin typeface="Calibri" pitchFamily="34" charset="0"/>
                <a:ea typeface="Calibri" pitchFamily="34" charset="-122"/>
                <a:cs typeface="Calibri" pitchFamily="34" charset="-120"/>
              </a:rPr>
              <a:t>RESOURCE </a:t>
            </a:r>
            <a:pPr algn="ctr" indent="0" marL="0">
              <a:buNone/>
            </a:pPr>
            <a:r>
              <a:rPr lang="en-US" sz="2700" b="1" spc="100" kern="0" dirty="0">
                <a:solidFill>
                  <a:srgbClr val="FFFFFF"/>
                </a:solidFill>
                <a:latin typeface="Calibri" pitchFamily="34" charset="0"/>
                <a:ea typeface="Calibri" pitchFamily="34" charset="-122"/>
                <a:cs typeface="Calibri" pitchFamily="34" charset="-120"/>
              </a:rPr>
              <a:t>ADVISOR</a:t>
            </a:r>
            <a:pPr algn="ctr" indent="0" marL="0">
              <a:buNone/>
            </a:pPr>
            <a:r>
              <a:rPr lang="en-US" sz="2700" b="1" baseline="30000" spc="100" kern="0" dirty="0">
                <a:solidFill>
                  <a:srgbClr val="FFFFFF"/>
                </a:solidFill>
                <a:latin typeface="Calibri" pitchFamily="34" charset="0"/>
                <a:ea typeface="Calibri" pitchFamily="34" charset="-122"/>
                <a:cs typeface="Calibri" pitchFamily="34" charset="-120"/>
              </a:rPr>
              <a:t>+</a:t>
            </a:r>
            <a:endParaRPr lang="en-US" sz="2700" dirty="0"/>
          </a:p>
        </p:txBody>
      </p:sp>
      <p:sp>
        <p:nvSpPr>
          <p:cNvPr id="4" name="Text 2"/>
          <p:cNvSpPr/>
          <p:nvPr/>
        </p:nvSpPr>
        <p:spPr>
          <a:xfrm>
            <a:off x="621792" y="2240280"/>
            <a:ext cx="5222596" cy="237744"/>
          </a:xfrm>
          <a:prstGeom prst="rect">
            <a:avLst/>
          </a:prstGeom>
          <a:noFill/>
          <a:ln/>
        </p:spPr>
        <p:txBody>
          <a:bodyPr wrap="square" lIns="0" tIns="0" rIns="0" bIns="0" rtlCol="0" anchor="ctr"/>
          <a:lstStyle/>
          <a:p>
            <a:pPr algn="ctr" indent="0" marL="0">
              <a:buNone/>
            </a:pPr>
            <a:r>
              <a:rPr lang="en-US" sz="1300" b="1" dirty="0">
                <a:solidFill>
                  <a:srgbClr val="CDFC57"/>
                </a:solidFill>
                <a:latin typeface="Calibri" pitchFamily="34" charset="0"/>
                <a:ea typeface="Calibri" pitchFamily="34" charset="-122"/>
                <a:cs typeface="Calibri" pitchFamily="34" charset="-120"/>
              </a:rPr>
              <a:t>Sustainability</a:t>
            </a:r>
            <a:endParaRPr lang="en-US" sz="1300" dirty="0"/>
          </a:p>
        </p:txBody>
      </p:sp>
      <p:sp>
        <p:nvSpPr>
          <p:cNvPr id="5" name="Text 3"/>
          <p:cNvSpPr/>
          <p:nvPr/>
        </p:nvSpPr>
        <p:spPr>
          <a:xfrm>
            <a:off x="621792" y="2478024"/>
            <a:ext cx="5222596"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6" name="Shape 4"/>
          <p:cNvSpPr/>
          <p:nvPr/>
        </p:nvSpPr>
        <p:spPr>
          <a:xfrm>
            <a:off x="621792" y="2743200"/>
            <a:ext cx="2538146" cy="1234440"/>
          </a:xfrm>
          <a:prstGeom prst="roundRect">
            <a:avLst>
              <a:gd name="adj" fmla="val 2963"/>
            </a:avLst>
          </a:prstGeom>
          <a:solidFill>
            <a:srgbClr val="0F4A2E"/>
          </a:solidFill>
          <a:ln w="13970">
            <a:solidFill>
              <a:srgbClr val="CDFC57"/>
            </a:solidFill>
            <a:prstDash val="solid"/>
          </a:ln>
        </p:spPr>
      </p:sp>
      <p:sp>
        <p:nvSpPr>
          <p:cNvPr id="7" name="Text 5"/>
          <p:cNvSpPr/>
          <p:nvPr/>
        </p:nvSpPr>
        <p:spPr>
          <a:xfrm>
            <a:off x="694944" y="2743200"/>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CARBON PERFORMANCE</a:t>
            </a:r>
            <a:endParaRPr lang="en-US" sz="1100" dirty="0"/>
          </a:p>
        </p:txBody>
      </p:sp>
      <p:sp>
        <p:nvSpPr>
          <p:cNvPr id="8" name="Shape 6"/>
          <p:cNvSpPr/>
          <p:nvPr/>
        </p:nvSpPr>
        <p:spPr>
          <a:xfrm>
            <a:off x="3306242" y="2743200"/>
            <a:ext cx="2538146" cy="1234440"/>
          </a:xfrm>
          <a:prstGeom prst="roundRect">
            <a:avLst>
              <a:gd name="adj" fmla="val 2963"/>
            </a:avLst>
          </a:prstGeom>
          <a:solidFill>
            <a:srgbClr val="0F4A2E"/>
          </a:solidFill>
          <a:ln w="13970">
            <a:solidFill>
              <a:srgbClr val="CDFC57"/>
            </a:solidFill>
            <a:prstDash val="solid"/>
          </a:ln>
        </p:spPr>
      </p:sp>
      <p:sp>
        <p:nvSpPr>
          <p:cNvPr id="9" name="Text 7"/>
          <p:cNvSpPr/>
          <p:nvPr/>
        </p:nvSpPr>
        <p:spPr>
          <a:xfrm>
            <a:off x="3379394" y="2743200"/>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SUPPLY CHAIN</a:t>
            </a:r>
            <a:endParaRPr lang="en-US" sz="1100" dirty="0"/>
          </a:p>
        </p:txBody>
      </p:sp>
      <p:sp>
        <p:nvSpPr>
          <p:cNvPr id="10" name="Shape 8"/>
          <p:cNvSpPr/>
          <p:nvPr/>
        </p:nvSpPr>
        <p:spPr>
          <a:xfrm>
            <a:off x="621792" y="4123944"/>
            <a:ext cx="2538146" cy="1234440"/>
          </a:xfrm>
          <a:prstGeom prst="roundRect">
            <a:avLst>
              <a:gd name="adj" fmla="val 2963"/>
            </a:avLst>
          </a:prstGeom>
          <a:solidFill>
            <a:srgbClr val="0F4A2E"/>
          </a:solidFill>
          <a:ln w="13970">
            <a:solidFill>
              <a:srgbClr val="CDFC57"/>
            </a:solidFill>
            <a:prstDash val="solid"/>
          </a:ln>
        </p:spPr>
      </p:sp>
      <p:sp>
        <p:nvSpPr>
          <p:cNvPr id="11" name="Text 9"/>
          <p:cNvSpPr/>
          <p:nvPr/>
        </p:nvSpPr>
        <p:spPr>
          <a:xfrm>
            <a:off x="694944" y="4123944"/>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REPORTING &amp; COMPLIANCE</a:t>
            </a:r>
            <a:endParaRPr lang="en-US" sz="1100" dirty="0"/>
          </a:p>
        </p:txBody>
      </p:sp>
      <p:sp>
        <p:nvSpPr>
          <p:cNvPr id="12" name="Shape 10"/>
          <p:cNvSpPr/>
          <p:nvPr/>
        </p:nvSpPr>
        <p:spPr>
          <a:xfrm>
            <a:off x="3306242" y="4123944"/>
            <a:ext cx="2538146" cy="1234440"/>
          </a:xfrm>
          <a:prstGeom prst="roundRect">
            <a:avLst>
              <a:gd name="adj" fmla="val 2963"/>
            </a:avLst>
          </a:prstGeom>
          <a:solidFill>
            <a:srgbClr val="0F4A2E"/>
          </a:solidFill>
          <a:ln w="13970">
            <a:solidFill>
              <a:srgbClr val="CDFC57"/>
            </a:solidFill>
            <a:prstDash val="solid"/>
          </a:ln>
        </p:spPr>
      </p:sp>
      <p:sp>
        <p:nvSpPr>
          <p:cNvPr id="13" name="Text 11"/>
          <p:cNvSpPr/>
          <p:nvPr/>
        </p:nvSpPr>
        <p:spPr>
          <a:xfrm>
            <a:off x="3379394" y="4123944"/>
            <a:ext cx="2391842" cy="1234440"/>
          </a:xfrm>
          <a:prstGeom prst="rect">
            <a:avLst/>
          </a:prstGeom>
          <a:noFill/>
          <a:ln/>
        </p:spPr>
        <p:txBody>
          <a:bodyPr wrap="square" lIns="0" tIns="0" rIns="0" bIns="0" rtlCol="0" anchor="ctr">
            <a:normAutofit/>
          </a:bodyPr>
          <a:lstStyle/>
          <a:p>
            <a:pPr algn="ctr" indent="0" marL="0">
              <a:buNone/>
            </a:pPr>
            <a:r>
              <a:rPr lang="en-US" sz="1100" b="1" spc="40" kern="0" dirty="0">
                <a:solidFill>
                  <a:srgbClr val="FFFFFF"/>
                </a:solidFill>
                <a:latin typeface="Calibri" pitchFamily="34" charset="0"/>
                <a:ea typeface="Calibri" pitchFamily="34" charset="-122"/>
                <a:cs typeface="Calibri" pitchFamily="34" charset="-120"/>
              </a:rPr>
              <a:t>CLIMATE RISK</a:t>
            </a:r>
            <a:endParaRPr lang="en-US" sz="1100" dirty="0"/>
          </a:p>
        </p:txBody>
      </p:sp>
      <p:sp>
        <p:nvSpPr>
          <p:cNvPr id="14" name="Text 12"/>
          <p:cNvSpPr/>
          <p:nvPr/>
        </p:nvSpPr>
        <p:spPr>
          <a:xfrm>
            <a:off x="6347308" y="2240280"/>
            <a:ext cx="5222596" cy="237744"/>
          </a:xfrm>
          <a:prstGeom prst="rect">
            <a:avLst/>
          </a:prstGeom>
          <a:noFill/>
          <a:ln/>
        </p:spPr>
        <p:txBody>
          <a:bodyPr wrap="square" lIns="0" tIns="0" rIns="0" bIns="0" rtlCol="0" anchor="ctr"/>
          <a:lstStyle/>
          <a:p>
            <a:pPr algn="ctr" indent="0" marL="0">
              <a:buNone/>
            </a:pPr>
            <a:r>
              <a:rPr lang="en-US" sz="1300" b="1" dirty="0">
                <a:solidFill>
                  <a:srgbClr val="3DCD58"/>
                </a:solidFill>
                <a:latin typeface="Calibri" pitchFamily="34" charset="0"/>
                <a:ea typeface="Calibri" pitchFamily="34" charset="-122"/>
                <a:cs typeface="Calibri" pitchFamily="34" charset="-120"/>
              </a:rPr>
              <a:t>Energy</a:t>
            </a:r>
            <a:endParaRPr lang="en-US" sz="1300" dirty="0"/>
          </a:p>
        </p:txBody>
      </p:sp>
      <p:sp>
        <p:nvSpPr>
          <p:cNvPr id="15" name="Text 13"/>
          <p:cNvSpPr/>
          <p:nvPr/>
        </p:nvSpPr>
        <p:spPr>
          <a:xfrm>
            <a:off x="6347308" y="2478024"/>
            <a:ext cx="5222596" cy="182880"/>
          </a:xfrm>
          <a:prstGeom prst="rect">
            <a:avLst/>
          </a:prstGeom>
          <a:noFill/>
          <a:ln/>
        </p:spPr>
        <p:txBody>
          <a:bodyPr wrap="square" lIns="0" tIns="0" rIns="0" bIns="0" rtlCol="0" anchor="ctr"/>
          <a:lstStyle/>
          <a:p>
            <a:pPr algn="ctr" indent="0" marL="0">
              <a:buNone/>
            </a:pPr>
            <a:r>
              <a:rPr lang="en-US" sz="1000" dirty="0">
                <a:solidFill>
                  <a:srgbClr val="BFD9C9"/>
                </a:solidFill>
                <a:latin typeface="Calibri" pitchFamily="34" charset="0"/>
                <a:ea typeface="Calibri" pitchFamily="34" charset="-122"/>
                <a:cs typeface="Calibri" pitchFamily="34" charset="-120"/>
              </a:rPr>
              <a:t>product family</a:t>
            </a:r>
            <a:endParaRPr lang="en-US" sz="1000" dirty="0"/>
          </a:p>
        </p:txBody>
      </p:sp>
      <p:sp>
        <p:nvSpPr>
          <p:cNvPr id="16" name="Shape 14"/>
          <p:cNvSpPr/>
          <p:nvPr/>
        </p:nvSpPr>
        <p:spPr>
          <a:xfrm>
            <a:off x="6347308" y="2743200"/>
            <a:ext cx="5222596" cy="1307592"/>
          </a:xfrm>
          <a:prstGeom prst="roundRect">
            <a:avLst>
              <a:gd name="adj" fmla="val 2797"/>
            </a:avLst>
          </a:prstGeom>
          <a:solidFill>
            <a:srgbClr val="0C3B25"/>
          </a:solidFill>
          <a:ln w="10160">
            <a:solidFill>
              <a:srgbClr val="3DCD58"/>
            </a:solidFill>
            <a:prstDash val="solid"/>
          </a:ln>
        </p:spPr>
      </p:sp>
      <p:sp>
        <p:nvSpPr>
          <p:cNvPr id="17" name="Text 15"/>
          <p:cNvSpPr/>
          <p:nvPr/>
        </p:nvSpPr>
        <p:spPr>
          <a:xfrm>
            <a:off x="6457036" y="2798064"/>
            <a:ext cx="5003140" cy="182880"/>
          </a:xfrm>
          <a:prstGeom prst="rect">
            <a:avLst/>
          </a:prstGeom>
          <a:noFill/>
          <a:ln/>
        </p:spPr>
        <p:txBody>
          <a:bodyPr wrap="square" lIns="0" tIns="0" rIns="0" bIns="0" rtlCol="0" anchor="ctr">
            <a:normAutofit/>
          </a:bodyPr>
          <a:lstStyle/>
          <a:p>
            <a:pPr algn="ctr" indent="0" marL="0">
              <a:buNone/>
            </a:pPr>
            <a:r>
              <a:rPr lang="en-US" sz="900" b="1" spc="60" kern="0" dirty="0">
                <a:solidFill>
                  <a:srgbClr val="3DCD58"/>
                </a:solidFill>
                <a:latin typeface="Calibri" pitchFamily="34" charset="0"/>
                <a:ea typeface="Calibri" pitchFamily="34" charset="-122"/>
                <a:cs typeface="Calibri" pitchFamily="34" charset="-120"/>
              </a:rPr>
              <a:t>ENERGY OPTIMIZATION</a:t>
            </a:r>
            <a:endParaRPr lang="en-US" sz="900" dirty="0"/>
          </a:p>
        </p:txBody>
      </p:sp>
      <p:sp>
        <p:nvSpPr>
          <p:cNvPr id="18" name="Shape 16"/>
          <p:cNvSpPr/>
          <p:nvPr/>
        </p:nvSpPr>
        <p:spPr>
          <a:xfrm>
            <a:off x="6457036" y="3017520"/>
            <a:ext cx="2428418" cy="416052"/>
          </a:xfrm>
          <a:prstGeom prst="roundRect">
            <a:avLst>
              <a:gd name="adj" fmla="val 8791"/>
            </a:avLst>
          </a:prstGeom>
          <a:solidFill>
            <a:srgbClr val="0F4A2E"/>
          </a:solidFill>
          <a:ln w="13970">
            <a:solidFill>
              <a:srgbClr val="3DCD58"/>
            </a:solidFill>
            <a:prstDash val="solid"/>
          </a:ln>
        </p:spPr>
      </p:sp>
      <p:sp>
        <p:nvSpPr>
          <p:cNvPr id="19" name="Text 17"/>
          <p:cNvSpPr/>
          <p:nvPr/>
        </p:nvSpPr>
        <p:spPr>
          <a:xfrm>
            <a:off x="6511900" y="3017520"/>
            <a:ext cx="2318690" cy="416052"/>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METERING &amp; INTERVAL DATA</a:t>
            </a:r>
            <a:endParaRPr lang="en-US" sz="900" dirty="0"/>
          </a:p>
        </p:txBody>
      </p:sp>
      <p:sp>
        <p:nvSpPr>
          <p:cNvPr id="20" name="Shape 18"/>
          <p:cNvSpPr/>
          <p:nvPr/>
        </p:nvSpPr>
        <p:spPr>
          <a:xfrm>
            <a:off x="9031757" y="3017520"/>
            <a:ext cx="2428418" cy="416052"/>
          </a:xfrm>
          <a:prstGeom prst="roundRect">
            <a:avLst>
              <a:gd name="adj" fmla="val 8791"/>
            </a:avLst>
          </a:prstGeom>
          <a:solidFill>
            <a:srgbClr val="0F4A2E"/>
          </a:solidFill>
          <a:ln w="13970">
            <a:solidFill>
              <a:srgbClr val="3DCD58"/>
            </a:solidFill>
            <a:prstDash val="solid"/>
          </a:ln>
        </p:spPr>
      </p:sp>
      <p:sp>
        <p:nvSpPr>
          <p:cNvPr id="21" name="Text 19"/>
          <p:cNvSpPr/>
          <p:nvPr/>
        </p:nvSpPr>
        <p:spPr>
          <a:xfrm>
            <a:off x="9086621" y="3017520"/>
            <a:ext cx="2318690" cy="416052"/>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AUDIT DIGITIZATION &amp; ECMS</a:t>
            </a:r>
            <a:endParaRPr lang="en-US" sz="900" dirty="0"/>
          </a:p>
        </p:txBody>
      </p:sp>
      <p:sp>
        <p:nvSpPr>
          <p:cNvPr id="22" name="Shape 20"/>
          <p:cNvSpPr/>
          <p:nvPr/>
        </p:nvSpPr>
        <p:spPr>
          <a:xfrm>
            <a:off x="6457036" y="3579876"/>
            <a:ext cx="2428418" cy="416052"/>
          </a:xfrm>
          <a:prstGeom prst="roundRect">
            <a:avLst>
              <a:gd name="adj" fmla="val 8791"/>
            </a:avLst>
          </a:prstGeom>
          <a:solidFill>
            <a:srgbClr val="0F4A2E"/>
          </a:solidFill>
          <a:ln w="13970">
            <a:solidFill>
              <a:srgbClr val="3DCD58"/>
            </a:solidFill>
            <a:prstDash val="solid"/>
          </a:ln>
        </p:spPr>
      </p:sp>
      <p:sp>
        <p:nvSpPr>
          <p:cNvPr id="23" name="Text 21"/>
          <p:cNvSpPr/>
          <p:nvPr/>
        </p:nvSpPr>
        <p:spPr>
          <a:xfrm>
            <a:off x="6511900" y="3579876"/>
            <a:ext cx="2318690" cy="416052"/>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CAPITAL ASSET PLANNING</a:t>
            </a:r>
            <a:endParaRPr lang="en-US" sz="900" dirty="0"/>
          </a:p>
        </p:txBody>
      </p:sp>
      <p:sp>
        <p:nvSpPr>
          <p:cNvPr id="24" name="Shape 22"/>
          <p:cNvSpPr/>
          <p:nvPr/>
        </p:nvSpPr>
        <p:spPr>
          <a:xfrm>
            <a:off x="6347308" y="4178808"/>
            <a:ext cx="5222596" cy="1307592"/>
          </a:xfrm>
          <a:prstGeom prst="roundRect">
            <a:avLst>
              <a:gd name="adj" fmla="val 2797"/>
            </a:avLst>
          </a:prstGeom>
          <a:solidFill>
            <a:srgbClr val="0C3B25"/>
          </a:solidFill>
          <a:ln w="10160">
            <a:solidFill>
              <a:srgbClr val="3DCD58"/>
            </a:solidFill>
            <a:prstDash val="solid"/>
          </a:ln>
        </p:spPr>
      </p:sp>
      <p:sp>
        <p:nvSpPr>
          <p:cNvPr id="25" name="Text 23"/>
          <p:cNvSpPr/>
          <p:nvPr/>
        </p:nvSpPr>
        <p:spPr>
          <a:xfrm>
            <a:off x="6457036" y="4233672"/>
            <a:ext cx="5003140" cy="182880"/>
          </a:xfrm>
          <a:prstGeom prst="rect">
            <a:avLst/>
          </a:prstGeom>
          <a:noFill/>
          <a:ln/>
        </p:spPr>
        <p:txBody>
          <a:bodyPr wrap="square" lIns="0" tIns="0" rIns="0" bIns="0" rtlCol="0" anchor="ctr">
            <a:normAutofit/>
          </a:bodyPr>
          <a:lstStyle/>
          <a:p>
            <a:pPr algn="ctr" indent="0" marL="0">
              <a:buNone/>
            </a:pPr>
            <a:r>
              <a:rPr lang="en-US" sz="900" b="1" spc="60" kern="0" dirty="0">
                <a:solidFill>
                  <a:srgbClr val="3DCD58"/>
                </a:solidFill>
                <a:latin typeface="Calibri" pitchFamily="34" charset="0"/>
                <a:ea typeface="Calibri" pitchFamily="34" charset="-122"/>
                <a:cs typeface="Calibri" pitchFamily="34" charset="-120"/>
              </a:rPr>
              <a:t>PORTFOLIO MANAGEMENT</a:t>
            </a:r>
            <a:endParaRPr lang="en-US" sz="900" dirty="0"/>
          </a:p>
        </p:txBody>
      </p:sp>
      <p:sp>
        <p:nvSpPr>
          <p:cNvPr id="26" name="Shape 24"/>
          <p:cNvSpPr/>
          <p:nvPr/>
        </p:nvSpPr>
        <p:spPr>
          <a:xfrm>
            <a:off x="6457036" y="4453128"/>
            <a:ext cx="2428418" cy="228600"/>
          </a:xfrm>
          <a:prstGeom prst="roundRect">
            <a:avLst>
              <a:gd name="adj" fmla="val 16000"/>
            </a:avLst>
          </a:prstGeom>
          <a:solidFill>
            <a:srgbClr val="0F4A2E"/>
          </a:solidFill>
          <a:ln w="13970">
            <a:solidFill>
              <a:srgbClr val="3DCD58"/>
            </a:solidFill>
            <a:prstDash val="solid"/>
          </a:ln>
        </p:spPr>
      </p:sp>
      <p:sp>
        <p:nvSpPr>
          <p:cNvPr id="27" name="Text 25"/>
          <p:cNvSpPr/>
          <p:nvPr/>
        </p:nvSpPr>
        <p:spPr>
          <a:xfrm>
            <a:off x="6511900" y="4453128"/>
            <a:ext cx="2318690" cy="228600"/>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UTILITY DATA MANAGEMENT</a:t>
            </a:r>
            <a:endParaRPr lang="en-US" sz="900" dirty="0"/>
          </a:p>
        </p:txBody>
      </p:sp>
      <p:sp>
        <p:nvSpPr>
          <p:cNvPr id="28" name="Shape 26"/>
          <p:cNvSpPr/>
          <p:nvPr/>
        </p:nvSpPr>
        <p:spPr>
          <a:xfrm>
            <a:off x="9031757" y="4453128"/>
            <a:ext cx="2428418" cy="228600"/>
          </a:xfrm>
          <a:prstGeom prst="roundRect">
            <a:avLst>
              <a:gd name="adj" fmla="val 16000"/>
            </a:avLst>
          </a:prstGeom>
          <a:solidFill>
            <a:srgbClr val="0F4A2E"/>
          </a:solidFill>
          <a:ln w="13970">
            <a:solidFill>
              <a:srgbClr val="3DCD58"/>
            </a:solidFill>
            <a:prstDash val="solid"/>
          </a:ln>
        </p:spPr>
      </p:sp>
      <p:sp>
        <p:nvSpPr>
          <p:cNvPr id="29" name="Text 27"/>
          <p:cNvSpPr/>
          <p:nvPr/>
        </p:nvSpPr>
        <p:spPr>
          <a:xfrm>
            <a:off x="9086621" y="4453128"/>
            <a:ext cx="2318690" cy="228600"/>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BUDGET &amp; TARIFF INTELLIGENCE</a:t>
            </a:r>
            <a:endParaRPr lang="en-US" sz="900" dirty="0"/>
          </a:p>
        </p:txBody>
      </p:sp>
      <p:sp>
        <p:nvSpPr>
          <p:cNvPr id="30" name="Shape 28"/>
          <p:cNvSpPr/>
          <p:nvPr/>
        </p:nvSpPr>
        <p:spPr>
          <a:xfrm>
            <a:off x="6457036" y="4828032"/>
            <a:ext cx="2428418" cy="228600"/>
          </a:xfrm>
          <a:prstGeom prst="roundRect">
            <a:avLst>
              <a:gd name="adj" fmla="val 16000"/>
            </a:avLst>
          </a:prstGeom>
          <a:solidFill>
            <a:srgbClr val="0F4A2E"/>
          </a:solidFill>
          <a:ln w="13970">
            <a:solidFill>
              <a:srgbClr val="3DCD58"/>
            </a:solidFill>
            <a:prstDash val="solid"/>
          </a:ln>
        </p:spPr>
      </p:sp>
      <p:sp>
        <p:nvSpPr>
          <p:cNvPr id="31" name="Text 29"/>
          <p:cNvSpPr/>
          <p:nvPr/>
        </p:nvSpPr>
        <p:spPr>
          <a:xfrm>
            <a:off x="6511900" y="4828032"/>
            <a:ext cx="2318690" cy="228600"/>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SOURCING &amp; PROCUREMENT</a:t>
            </a:r>
            <a:endParaRPr lang="en-US" sz="900" dirty="0"/>
          </a:p>
        </p:txBody>
      </p:sp>
      <p:sp>
        <p:nvSpPr>
          <p:cNvPr id="32" name="Shape 30"/>
          <p:cNvSpPr/>
          <p:nvPr/>
        </p:nvSpPr>
        <p:spPr>
          <a:xfrm>
            <a:off x="9031757" y="4828032"/>
            <a:ext cx="2428418" cy="228600"/>
          </a:xfrm>
          <a:prstGeom prst="roundRect">
            <a:avLst>
              <a:gd name="adj" fmla="val 16000"/>
            </a:avLst>
          </a:prstGeom>
          <a:solidFill>
            <a:srgbClr val="0F4A2E"/>
          </a:solidFill>
          <a:ln w="13970">
            <a:solidFill>
              <a:srgbClr val="3DCD58"/>
            </a:solidFill>
            <a:prstDash val="solid"/>
          </a:ln>
        </p:spPr>
      </p:sp>
      <p:sp>
        <p:nvSpPr>
          <p:cNvPr id="33" name="Text 31"/>
          <p:cNvSpPr/>
          <p:nvPr/>
        </p:nvSpPr>
        <p:spPr>
          <a:xfrm>
            <a:off x="9086621" y="4828032"/>
            <a:ext cx="2318690" cy="228600"/>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PPAS &amp; EACS</a:t>
            </a:r>
            <a:endParaRPr lang="en-US" sz="900" dirty="0"/>
          </a:p>
        </p:txBody>
      </p:sp>
      <p:sp>
        <p:nvSpPr>
          <p:cNvPr id="34" name="Shape 32"/>
          <p:cNvSpPr/>
          <p:nvPr/>
        </p:nvSpPr>
        <p:spPr>
          <a:xfrm>
            <a:off x="6457036" y="5202936"/>
            <a:ext cx="2428418" cy="228600"/>
          </a:xfrm>
          <a:prstGeom prst="roundRect">
            <a:avLst>
              <a:gd name="adj" fmla="val 16000"/>
            </a:avLst>
          </a:prstGeom>
          <a:solidFill>
            <a:srgbClr val="0F4A2E"/>
          </a:solidFill>
          <a:ln w="13970">
            <a:solidFill>
              <a:srgbClr val="3DCD58"/>
            </a:solidFill>
            <a:prstDash val="solid"/>
          </a:ln>
        </p:spPr>
      </p:sp>
      <p:sp>
        <p:nvSpPr>
          <p:cNvPr id="35" name="Text 33"/>
          <p:cNvSpPr/>
          <p:nvPr/>
        </p:nvSpPr>
        <p:spPr>
          <a:xfrm>
            <a:off x="6511900" y="5202936"/>
            <a:ext cx="2318690" cy="228600"/>
          </a:xfrm>
          <a:prstGeom prst="rect">
            <a:avLst/>
          </a:prstGeom>
          <a:noFill/>
          <a:ln/>
        </p:spPr>
        <p:txBody>
          <a:bodyPr wrap="square" lIns="0" tIns="0" rIns="0" bIns="0" rtlCol="0" anchor="ctr">
            <a:normAutofit/>
          </a:bodyPr>
          <a:lstStyle/>
          <a:p>
            <a:pPr algn="ctr" indent="0" marL="0">
              <a:buNone/>
            </a:pPr>
            <a:r>
              <a:rPr lang="en-US" sz="900" b="1" spc="40" kern="0" dirty="0">
                <a:solidFill>
                  <a:srgbClr val="FFFFFF"/>
                </a:solidFill>
                <a:latin typeface="Calibri" pitchFamily="34" charset="0"/>
                <a:ea typeface="Calibri" pitchFamily="34" charset="-122"/>
                <a:cs typeface="Calibri" pitchFamily="34" charset="-120"/>
              </a:rPr>
              <a:t>ENERGY RISK MANAGEMENT</a:t>
            </a:r>
            <a:endParaRPr lang="en-US" sz="900" dirty="0"/>
          </a:p>
        </p:txBody>
      </p:sp>
      <p:sp>
        <p:nvSpPr>
          <p:cNvPr id="36" name="Shape 34"/>
          <p:cNvSpPr/>
          <p:nvPr/>
        </p:nvSpPr>
        <p:spPr>
          <a:xfrm>
            <a:off x="621792" y="5532120"/>
            <a:ext cx="10948111" cy="685800"/>
          </a:xfrm>
          <a:prstGeom prst="roundRect">
            <a:avLst>
              <a:gd name="adj" fmla="val 10667"/>
            </a:avLst>
          </a:prstGeom>
          <a:solidFill>
            <a:srgbClr val="1A4A2E"/>
          </a:solidFill>
          <a:ln w="12700">
            <a:solidFill>
              <a:srgbClr val="CDFC57"/>
            </a:solidFill>
            <a:prstDash val="solid"/>
          </a:ln>
        </p:spPr>
      </p:sp>
      <p:sp>
        <p:nvSpPr>
          <p:cNvPr id="37" name="Text 35"/>
          <p:cNvSpPr/>
          <p:nvPr/>
        </p:nvSpPr>
        <p:spPr>
          <a:xfrm>
            <a:off x="621792" y="5596128"/>
            <a:ext cx="10948111" cy="201168"/>
          </a:xfrm>
          <a:prstGeom prst="rect">
            <a:avLst/>
          </a:prstGeom>
          <a:noFill/>
          <a:ln/>
        </p:spPr>
        <p:txBody>
          <a:bodyPr wrap="square" lIns="0" tIns="0" rIns="0" bIns="0" rtlCol="0" anchor="ctr"/>
          <a:lstStyle/>
          <a:p>
            <a:pPr algn="ctr" indent="0" marL="0">
              <a:buNone/>
            </a:pPr>
            <a:r>
              <a:rPr lang="en-US" sz="800" b="1" spc="200" kern="0" dirty="0">
                <a:solidFill>
                  <a:srgbClr val="CDFC57"/>
                </a:solidFill>
                <a:latin typeface="Calibri" pitchFamily="34" charset="0"/>
                <a:ea typeface="Calibri" pitchFamily="34" charset="-122"/>
                <a:cs typeface="Calibri" pitchFamily="34" charset="-120"/>
              </a:rPr>
              <a:t>ALL ARE SHARED CAPABILITIES</a:t>
            </a:r>
            <a:endParaRPr lang="en-US" sz="800" dirty="0"/>
          </a:p>
        </p:txBody>
      </p:sp>
      <p:sp>
        <p:nvSpPr>
          <p:cNvPr id="38" name="Shape 36"/>
          <p:cNvSpPr/>
          <p:nvPr/>
        </p:nvSpPr>
        <p:spPr>
          <a:xfrm>
            <a:off x="621792" y="5861304"/>
            <a:ext cx="1118921" cy="256032"/>
          </a:xfrm>
          <a:prstGeom prst="roundRect">
            <a:avLst>
              <a:gd name="adj" fmla="val 50000"/>
            </a:avLst>
          </a:prstGeom>
          <a:solidFill>
            <a:srgbClr val="0F3B24"/>
          </a:solidFill>
          <a:ln w="9525">
            <a:solidFill>
              <a:srgbClr val="3DCD58"/>
            </a:solidFill>
            <a:prstDash val="solid"/>
          </a:ln>
        </p:spPr>
      </p:sp>
      <p:sp>
        <p:nvSpPr>
          <p:cNvPr id="39" name="Text 37"/>
          <p:cNvSpPr/>
          <p:nvPr/>
        </p:nvSpPr>
        <p:spPr>
          <a:xfrm>
            <a:off x="621792"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ingestion &amp; transformation</a:t>
            </a:r>
            <a:endParaRPr lang="en-US" sz="800" dirty="0"/>
          </a:p>
        </p:txBody>
      </p:sp>
      <p:sp>
        <p:nvSpPr>
          <p:cNvPr id="40" name="Shape 38"/>
          <p:cNvSpPr/>
          <p:nvPr/>
        </p:nvSpPr>
        <p:spPr>
          <a:xfrm>
            <a:off x="1850441" y="5861304"/>
            <a:ext cx="1118921" cy="256032"/>
          </a:xfrm>
          <a:prstGeom prst="roundRect">
            <a:avLst>
              <a:gd name="adj" fmla="val 50000"/>
            </a:avLst>
          </a:prstGeom>
          <a:solidFill>
            <a:srgbClr val="0F3B24"/>
          </a:solidFill>
          <a:ln w="9525">
            <a:solidFill>
              <a:srgbClr val="3DCD58"/>
            </a:solidFill>
            <a:prstDash val="solid"/>
          </a:ln>
        </p:spPr>
      </p:sp>
      <p:sp>
        <p:nvSpPr>
          <p:cNvPr id="41" name="Text 39"/>
          <p:cNvSpPr/>
          <p:nvPr/>
        </p:nvSpPr>
        <p:spPr>
          <a:xfrm>
            <a:off x="1850441"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quality</a:t>
            </a:r>
            <a:endParaRPr lang="en-US" sz="800" dirty="0"/>
          </a:p>
        </p:txBody>
      </p:sp>
      <p:sp>
        <p:nvSpPr>
          <p:cNvPr id="42" name="Shape 40"/>
          <p:cNvSpPr/>
          <p:nvPr/>
        </p:nvSpPr>
        <p:spPr>
          <a:xfrm>
            <a:off x="3079090" y="5861304"/>
            <a:ext cx="1118921" cy="256032"/>
          </a:xfrm>
          <a:prstGeom prst="roundRect">
            <a:avLst>
              <a:gd name="adj" fmla="val 50000"/>
            </a:avLst>
          </a:prstGeom>
          <a:solidFill>
            <a:srgbClr val="0F3B24"/>
          </a:solidFill>
          <a:ln w="9525">
            <a:solidFill>
              <a:srgbClr val="3DCD58"/>
            </a:solidFill>
            <a:prstDash val="solid"/>
          </a:ln>
        </p:spPr>
      </p:sp>
      <p:sp>
        <p:nvSpPr>
          <p:cNvPr id="43" name="Text 41"/>
          <p:cNvSpPr/>
          <p:nvPr/>
        </p:nvSpPr>
        <p:spPr>
          <a:xfrm>
            <a:off x="3079090"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Data hierarchy &amp; calc engine</a:t>
            </a:r>
            <a:endParaRPr lang="en-US" sz="800" dirty="0"/>
          </a:p>
        </p:txBody>
      </p:sp>
      <p:sp>
        <p:nvSpPr>
          <p:cNvPr id="44" name="Shape 42"/>
          <p:cNvSpPr/>
          <p:nvPr/>
        </p:nvSpPr>
        <p:spPr>
          <a:xfrm>
            <a:off x="4307738" y="5861304"/>
            <a:ext cx="1118921" cy="256032"/>
          </a:xfrm>
          <a:prstGeom prst="roundRect">
            <a:avLst>
              <a:gd name="adj" fmla="val 50000"/>
            </a:avLst>
          </a:prstGeom>
          <a:solidFill>
            <a:srgbClr val="0F3B24"/>
          </a:solidFill>
          <a:ln w="9525">
            <a:solidFill>
              <a:srgbClr val="3DCD58"/>
            </a:solidFill>
            <a:prstDash val="solid"/>
          </a:ln>
        </p:spPr>
      </p:sp>
      <p:sp>
        <p:nvSpPr>
          <p:cNvPr id="45" name="Text 43"/>
          <p:cNvSpPr/>
          <p:nvPr/>
        </p:nvSpPr>
        <p:spPr>
          <a:xfrm>
            <a:off x="4307738"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Analytics &amp; Dashboards</a:t>
            </a:r>
            <a:endParaRPr lang="en-US" sz="800" dirty="0"/>
          </a:p>
        </p:txBody>
      </p:sp>
      <p:sp>
        <p:nvSpPr>
          <p:cNvPr id="46" name="Shape 44"/>
          <p:cNvSpPr/>
          <p:nvPr/>
        </p:nvSpPr>
        <p:spPr>
          <a:xfrm>
            <a:off x="5536387" y="5861304"/>
            <a:ext cx="1118921" cy="256032"/>
          </a:xfrm>
          <a:prstGeom prst="roundRect">
            <a:avLst>
              <a:gd name="adj" fmla="val 50000"/>
            </a:avLst>
          </a:prstGeom>
          <a:solidFill>
            <a:srgbClr val="0F3B24"/>
          </a:solidFill>
          <a:ln w="9525">
            <a:solidFill>
              <a:srgbClr val="3DCD58"/>
            </a:solidFill>
            <a:prstDash val="solid"/>
          </a:ln>
        </p:spPr>
      </p:sp>
      <p:sp>
        <p:nvSpPr>
          <p:cNvPr id="47" name="Text 45"/>
          <p:cNvSpPr/>
          <p:nvPr/>
        </p:nvSpPr>
        <p:spPr>
          <a:xfrm>
            <a:off x="5536387"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Target mgmt</a:t>
            </a:r>
            <a:endParaRPr lang="en-US" sz="800" dirty="0"/>
          </a:p>
        </p:txBody>
      </p:sp>
      <p:sp>
        <p:nvSpPr>
          <p:cNvPr id="48" name="Shape 46"/>
          <p:cNvSpPr/>
          <p:nvPr/>
        </p:nvSpPr>
        <p:spPr>
          <a:xfrm>
            <a:off x="6765036" y="5861304"/>
            <a:ext cx="1118921" cy="256032"/>
          </a:xfrm>
          <a:prstGeom prst="roundRect">
            <a:avLst>
              <a:gd name="adj" fmla="val 50000"/>
            </a:avLst>
          </a:prstGeom>
          <a:solidFill>
            <a:srgbClr val="0F3B24"/>
          </a:solidFill>
          <a:ln w="9525">
            <a:solidFill>
              <a:srgbClr val="3DCD58"/>
            </a:solidFill>
            <a:prstDash val="solid"/>
          </a:ln>
        </p:spPr>
      </p:sp>
      <p:sp>
        <p:nvSpPr>
          <p:cNvPr id="49" name="Text 47"/>
          <p:cNvSpPr/>
          <p:nvPr/>
        </p:nvSpPr>
        <p:spPr>
          <a:xfrm>
            <a:off x="6765036"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analysis</a:t>
            </a:r>
            <a:endParaRPr lang="en-US" sz="800" dirty="0"/>
          </a:p>
        </p:txBody>
      </p:sp>
      <p:sp>
        <p:nvSpPr>
          <p:cNvPr id="50" name="Shape 48"/>
          <p:cNvSpPr/>
          <p:nvPr/>
        </p:nvSpPr>
        <p:spPr>
          <a:xfrm>
            <a:off x="7993685" y="5861304"/>
            <a:ext cx="1118921" cy="256032"/>
          </a:xfrm>
          <a:prstGeom prst="roundRect">
            <a:avLst>
              <a:gd name="adj" fmla="val 50000"/>
            </a:avLst>
          </a:prstGeom>
          <a:solidFill>
            <a:srgbClr val="0F3B24"/>
          </a:solidFill>
          <a:ln w="9525">
            <a:solidFill>
              <a:srgbClr val="3DCD58"/>
            </a:solidFill>
            <a:prstDash val="solid"/>
          </a:ln>
        </p:spPr>
      </p:sp>
      <p:sp>
        <p:nvSpPr>
          <p:cNvPr id="51" name="Text 49"/>
          <p:cNvSpPr/>
          <p:nvPr/>
        </p:nvSpPr>
        <p:spPr>
          <a:xfrm>
            <a:off x="7993685"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Actions and Adaptations</a:t>
            </a:r>
            <a:endParaRPr lang="en-US" sz="800" dirty="0"/>
          </a:p>
        </p:txBody>
      </p:sp>
      <p:sp>
        <p:nvSpPr>
          <p:cNvPr id="52" name="Shape 50"/>
          <p:cNvSpPr/>
          <p:nvPr/>
        </p:nvSpPr>
        <p:spPr>
          <a:xfrm>
            <a:off x="9222334" y="5861304"/>
            <a:ext cx="1118921" cy="256032"/>
          </a:xfrm>
          <a:prstGeom prst="roundRect">
            <a:avLst>
              <a:gd name="adj" fmla="val 50000"/>
            </a:avLst>
          </a:prstGeom>
          <a:solidFill>
            <a:srgbClr val="0F3B24"/>
          </a:solidFill>
          <a:ln w="9525">
            <a:solidFill>
              <a:srgbClr val="3DCD58"/>
            </a:solidFill>
            <a:prstDash val="solid"/>
          </a:ln>
        </p:spPr>
      </p:sp>
      <p:sp>
        <p:nvSpPr>
          <p:cNvPr id="53" name="Text 51"/>
          <p:cNvSpPr/>
          <p:nvPr/>
        </p:nvSpPr>
        <p:spPr>
          <a:xfrm>
            <a:off x="9222334"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AI agents &amp; forecasting</a:t>
            </a:r>
            <a:endParaRPr lang="en-US" sz="800" dirty="0"/>
          </a:p>
        </p:txBody>
      </p:sp>
      <p:sp>
        <p:nvSpPr>
          <p:cNvPr id="54" name="Shape 52"/>
          <p:cNvSpPr/>
          <p:nvPr/>
        </p:nvSpPr>
        <p:spPr>
          <a:xfrm>
            <a:off x="10450982" y="5861304"/>
            <a:ext cx="1118921" cy="256032"/>
          </a:xfrm>
          <a:prstGeom prst="roundRect">
            <a:avLst>
              <a:gd name="adj" fmla="val 50000"/>
            </a:avLst>
          </a:prstGeom>
          <a:solidFill>
            <a:srgbClr val="0F3B24"/>
          </a:solidFill>
          <a:ln w="9525">
            <a:solidFill>
              <a:srgbClr val="3DCD58"/>
            </a:solidFill>
            <a:prstDash val="solid"/>
          </a:ln>
        </p:spPr>
      </p:sp>
      <p:sp>
        <p:nvSpPr>
          <p:cNvPr id="55" name="Text 53"/>
          <p:cNvSpPr/>
          <p:nvPr/>
        </p:nvSpPr>
        <p:spPr>
          <a:xfrm>
            <a:off x="10450982" y="5861304"/>
            <a:ext cx="1118921" cy="25603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Workflows &amp; audit trail</a:t>
            </a:r>
            <a:endParaRPr lang="en-US" sz="800" dirty="0"/>
          </a:p>
        </p:txBody>
      </p:sp>
      <p:sp>
        <p:nvSpPr>
          <p:cNvPr id="56" name="Text 54"/>
          <p:cNvSpPr/>
          <p:nvPr/>
        </p:nvSpPr>
        <p:spPr>
          <a:xfrm>
            <a:off x="8460943" y="6080760"/>
            <a:ext cx="3108960" cy="274320"/>
          </a:xfrm>
          <a:prstGeom prst="rect">
            <a:avLst/>
          </a:prstGeom>
          <a:noFill/>
          <a:ln/>
        </p:spPr>
        <p:txBody>
          <a:bodyPr wrap="square" lIns="0" tIns="0" rIns="0" bIns="0" rtlCol="0" anchor="ctr"/>
          <a:lstStyle/>
          <a:p>
            <a:pPr algn="r" indent="0" marL="0">
              <a:buNone/>
            </a:pPr>
            <a:r>
              <a:rPr lang="en-US" sz="1400" b="1" dirty="0">
                <a:solidFill>
                  <a:srgbClr val="3DCD58"/>
                </a:solidFill>
                <a:latin typeface="Calibri" pitchFamily="34" charset="0"/>
                <a:ea typeface="Calibri" pitchFamily="34" charset="-122"/>
                <a:cs typeface="Calibri" pitchFamily="34" charset="-120"/>
              </a:rPr>
              <a:t>SE </a:t>
            </a:r>
            <a:pPr algn="r" indent="0" marL="0">
              <a:buNone/>
            </a:pPr>
            <a:r>
              <a:rPr lang="en-US" sz="1400" dirty="0">
                <a:solidFill>
                  <a:srgbClr val="FFFFFF"/>
                </a:solidFill>
                <a:latin typeface="Calibri" pitchFamily="34" charset="0"/>
                <a:ea typeface="Calibri" pitchFamily="34" charset="-122"/>
                <a:cs typeface="Calibri" pitchFamily="34" charset="-120"/>
              </a:rPr>
              <a:t>ADVISORY SERVICES</a:t>
            </a:r>
            <a:endParaRPr lang="en-US" sz="14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095848" cy="73152"/>
          </a:xfrm>
          <a:prstGeom prst="rect">
            <a:avLst/>
          </a:prstGeom>
          <a:solidFill>
            <a:srgbClr val="3DCD58"/>
          </a:solidFill>
          <a:ln w="12700">
            <a:solidFill>
              <a:srgbClr val="3DCD58">
                <a:alpha val="0"/>
              </a:srgbClr>
            </a:solidFill>
            <a:prstDash val="solid"/>
          </a:ln>
        </p:spPr>
      </p:sp>
      <p:sp>
        <p:nvSpPr>
          <p:cNvPr id="3" name="Text 1"/>
          <p:cNvSpPr/>
          <p:nvPr/>
        </p:nvSpPr>
        <p:spPr>
          <a:xfrm>
            <a:off x="621792" y="640080"/>
            <a:ext cx="10948111" cy="1051560"/>
          </a:xfrm>
          <a:prstGeom prst="rect">
            <a:avLst/>
          </a:prstGeom>
          <a:noFill/>
          <a:ln/>
        </p:spPr>
        <p:txBody>
          <a:bodyPr wrap="square" lIns="0" tIns="0" rIns="0" bIns="0" rtlCol="0" anchor="ctr">
            <a:normAutofit/>
          </a:bodyPr>
          <a:lstStyle/>
          <a:p>
            <a:pPr algn="ctr" indent="0" marL="0">
              <a:buNone/>
            </a:pPr>
            <a:r>
              <a:rPr lang="en-US" sz="3400" b="1" dirty="0">
                <a:solidFill>
                  <a:srgbClr val="1E2420"/>
                </a:solidFill>
                <a:latin typeface="Calibri" pitchFamily="34" charset="0"/>
                <a:ea typeface="Calibri" pitchFamily="34" charset="-122"/>
                <a:cs typeface="Calibri" pitchFamily="34" charset="-120"/>
              </a:rPr>
              <a:t>One Data Spine. Three Domains. Infinite Combinations.</a:t>
            </a:r>
            <a:endParaRPr lang="en-US" sz="3400" dirty="0"/>
          </a:p>
        </p:txBody>
      </p:sp>
      <p:sp>
        <p:nvSpPr>
          <p:cNvPr id="4" name="Text 2"/>
          <p:cNvSpPr/>
          <p:nvPr/>
        </p:nvSpPr>
        <p:spPr>
          <a:xfrm>
            <a:off x="1889608" y="1783080"/>
            <a:ext cx="8412480" cy="822960"/>
          </a:xfrm>
          <a:prstGeom prst="rect">
            <a:avLst/>
          </a:prstGeom>
          <a:noFill/>
          <a:ln/>
        </p:spPr>
        <p:txBody>
          <a:bodyPr wrap="square" lIns="0" tIns="0" rIns="0" bIns="0" rtlCol="0" anchor="t">
            <a:normAutofit/>
          </a:bodyPr>
          <a:lstStyle/>
          <a:p>
            <a:pPr algn="ctr" indent="0" marL="0">
              <a:buNone/>
            </a:pPr>
            <a:r>
              <a:rPr lang="en-US" sz="1250" dirty="0">
                <a:solidFill>
                  <a:srgbClr val="5A625C"/>
                </a:solidFill>
                <a:latin typeface="Calibri" pitchFamily="34" charset="0"/>
                <a:ea typeface="Calibri" pitchFamily="34" charset="-122"/>
                <a:cs typeface="Calibri" pitchFamily="34" charset="-120"/>
              </a:rPr>
              <a:t>Every domain runs on a common architecture and data model with seamless data flows between products: improved ingestion, transformation and quality, advanced dashboards and analytics with smart AI insights, and a consistent user experience.</a:t>
            </a:r>
            <a:endParaRPr lang="en-US" sz="1250" dirty="0"/>
          </a:p>
        </p:txBody>
      </p:sp>
      <p:sp>
        <p:nvSpPr>
          <p:cNvPr id="5" name="Shape 3"/>
          <p:cNvSpPr/>
          <p:nvPr/>
        </p:nvSpPr>
        <p:spPr>
          <a:xfrm>
            <a:off x="1889608" y="2880360"/>
            <a:ext cx="8412480" cy="960120"/>
          </a:xfrm>
          <a:prstGeom prst="roundRect">
            <a:avLst>
              <a:gd name="adj" fmla="val 5714"/>
            </a:avLst>
          </a:prstGeom>
          <a:solidFill>
            <a:srgbClr val="F7F8F7"/>
          </a:solidFill>
          <a:ln w="10160">
            <a:solidFill>
              <a:srgbClr val="E2E6E2"/>
            </a:solidFill>
            <a:prstDash val="solid"/>
          </a:ln>
        </p:spPr>
      </p:sp>
      <p:sp>
        <p:nvSpPr>
          <p:cNvPr id="6" name="Shape 4"/>
          <p:cNvSpPr/>
          <p:nvPr/>
        </p:nvSpPr>
        <p:spPr>
          <a:xfrm>
            <a:off x="2163928" y="3081528"/>
            <a:ext cx="566928" cy="566928"/>
          </a:xfrm>
          <a:prstGeom prst="roundRect">
            <a:avLst>
              <a:gd name="adj" fmla="val 9677"/>
            </a:avLst>
          </a:prstGeom>
          <a:solidFill>
            <a:srgbClr val="EAF8ED"/>
          </a:solidFill>
          <a:ln w="12700">
            <a:solidFill>
              <a:srgbClr val="EAF8ED"/>
            </a:solidFill>
            <a:prstDash val="solid"/>
          </a:ln>
        </p:spPr>
      </p:sp>
      <p:sp>
        <p:nvSpPr>
          <p:cNvPr id="7" name="Text 5"/>
          <p:cNvSpPr/>
          <p:nvPr/>
        </p:nvSpPr>
        <p:spPr>
          <a:xfrm>
            <a:off x="2163928" y="3081528"/>
            <a:ext cx="566928" cy="566928"/>
          </a:xfrm>
          <a:prstGeom prst="rect">
            <a:avLst/>
          </a:prstGeom>
          <a:noFill/>
          <a:ln/>
        </p:spPr>
        <p:txBody>
          <a:bodyPr wrap="square" lIns="0" tIns="0" rIns="0" bIns="0" rtlCol="0" anchor="ctr"/>
          <a:lstStyle/>
          <a:p>
            <a:pPr algn="ctr" indent="0" marL="0">
              <a:buNone/>
            </a:pPr>
            <a:r>
              <a:rPr lang="en-US" sz="1800" b="1" dirty="0">
                <a:solidFill>
                  <a:srgbClr val="3DCD58"/>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2895448" y="3026664"/>
            <a:ext cx="7132320" cy="329184"/>
          </a:xfrm>
          <a:prstGeom prst="rect">
            <a:avLst/>
          </a:prstGeom>
          <a:noFill/>
          <a:ln/>
        </p:spPr>
        <p:txBody>
          <a:bodyPr wrap="square" lIns="0" tIns="0" rIns="0" bIns="0" rtlCol="0" anchor="ctr">
            <a:normAutofit/>
          </a:bodyPr>
          <a:lstStyle/>
          <a:p>
            <a:pPr indent="0" marL="0">
              <a:buNone/>
            </a:pPr>
            <a:r>
              <a:rPr lang="en-US" sz="1700" b="1" dirty="0">
                <a:solidFill>
                  <a:srgbClr val="1E2420"/>
                </a:solidFill>
                <a:latin typeface="Calibri" pitchFamily="34" charset="0"/>
                <a:ea typeface="Calibri" pitchFamily="34" charset="-122"/>
                <a:cs typeface="Calibri" pitchFamily="34" charset="-120"/>
              </a:rPr>
              <a:t>Unified Data Foundation</a:t>
            </a:r>
            <a:endParaRPr lang="en-US" sz="1700" dirty="0"/>
          </a:p>
        </p:txBody>
      </p:sp>
      <p:sp>
        <p:nvSpPr>
          <p:cNvPr id="9" name="Text 7"/>
          <p:cNvSpPr/>
          <p:nvPr/>
        </p:nvSpPr>
        <p:spPr>
          <a:xfrm>
            <a:off x="2895448" y="3383280"/>
            <a:ext cx="7132320" cy="310896"/>
          </a:xfrm>
          <a:prstGeom prst="rect">
            <a:avLst/>
          </a:prstGeom>
          <a:noFill/>
          <a:ln/>
        </p:spPr>
        <p:txBody>
          <a:bodyPr wrap="square" lIns="0" tIns="0" rIns="0" bIns="0" rtlCol="0" anchor="ctr">
            <a:normAutofit/>
          </a:bodyPr>
          <a:lstStyle/>
          <a:p>
            <a:pPr indent="0" marL="0">
              <a:buNone/>
            </a:pPr>
            <a:r>
              <a:rPr lang="en-US" sz="1200" dirty="0">
                <a:solidFill>
                  <a:srgbClr val="5A625C"/>
                </a:solidFill>
                <a:latin typeface="Calibri" pitchFamily="34" charset="0"/>
                <a:ea typeface="Calibri" pitchFamily="34" charset="-122"/>
                <a:cs typeface="Calibri" pitchFamily="34" charset="-120"/>
              </a:rPr>
              <a:t>RA+ spine   ·   Sustainability graph   ·   Identity registry   ·   Common data model</a:t>
            </a:r>
            <a:endParaRPr lang="en-US" sz="1200" dirty="0"/>
          </a:p>
        </p:txBody>
      </p:sp>
      <p:sp>
        <p:nvSpPr>
          <p:cNvPr id="10" name="Shape 8"/>
          <p:cNvSpPr/>
          <p:nvPr/>
        </p:nvSpPr>
        <p:spPr>
          <a:xfrm>
            <a:off x="1889608" y="4059936"/>
            <a:ext cx="8412480" cy="960120"/>
          </a:xfrm>
          <a:prstGeom prst="roundRect">
            <a:avLst>
              <a:gd name="adj" fmla="val 5714"/>
            </a:avLst>
          </a:prstGeom>
          <a:solidFill>
            <a:srgbClr val="F7F8F7"/>
          </a:solidFill>
          <a:ln w="10160">
            <a:solidFill>
              <a:srgbClr val="E2E6E2"/>
            </a:solidFill>
            <a:prstDash val="solid"/>
          </a:ln>
        </p:spPr>
      </p:sp>
      <p:sp>
        <p:nvSpPr>
          <p:cNvPr id="11" name="Shape 9"/>
          <p:cNvSpPr/>
          <p:nvPr/>
        </p:nvSpPr>
        <p:spPr>
          <a:xfrm>
            <a:off x="2163928" y="4261104"/>
            <a:ext cx="566928" cy="566928"/>
          </a:xfrm>
          <a:prstGeom prst="roundRect">
            <a:avLst>
              <a:gd name="adj" fmla="val 9677"/>
            </a:avLst>
          </a:prstGeom>
          <a:solidFill>
            <a:srgbClr val="EAF8ED"/>
          </a:solidFill>
          <a:ln w="12700">
            <a:solidFill>
              <a:srgbClr val="EAF8ED"/>
            </a:solidFill>
            <a:prstDash val="solid"/>
          </a:ln>
        </p:spPr>
      </p:sp>
      <p:sp>
        <p:nvSpPr>
          <p:cNvPr id="12" name="Text 10"/>
          <p:cNvSpPr/>
          <p:nvPr/>
        </p:nvSpPr>
        <p:spPr>
          <a:xfrm>
            <a:off x="2163928" y="4261104"/>
            <a:ext cx="566928" cy="566928"/>
          </a:xfrm>
          <a:prstGeom prst="rect">
            <a:avLst/>
          </a:prstGeom>
          <a:noFill/>
          <a:ln/>
        </p:spPr>
        <p:txBody>
          <a:bodyPr wrap="square" lIns="0" tIns="0" rIns="0" bIns="0" rtlCol="0" anchor="ctr"/>
          <a:lstStyle/>
          <a:p>
            <a:pPr algn="ctr" indent="0" marL="0">
              <a:buNone/>
            </a:pPr>
            <a:r>
              <a:rPr lang="en-US" sz="1800" b="1" dirty="0">
                <a:solidFill>
                  <a:srgbClr val="3DCD58"/>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2895448" y="4206240"/>
            <a:ext cx="7132320" cy="329184"/>
          </a:xfrm>
          <a:prstGeom prst="rect">
            <a:avLst/>
          </a:prstGeom>
          <a:noFill/>
          <a:ln/>
        </p:spPr>
        <p:txBody>
          <a:bodyPr wrap="square" lIns="0" tIns="0" rIns="0" bIns="0" rtlCol="0" anchor="ctr">
            <a:normAutofit/>
          </a:bodyPr>
          <a:lstStyle/>
          <a:p>
            <a:pPr indent="0" marL="0">
              <a:buNone/>
            </a:pPr>
            <a:r>
              <a:rPr lang="en-US" sz="1700" b="1" dirty="0">
                <a:solidFill>
                  <a:srgbClr val="1E2420"/>
                </a:solidFill>
                <a:latin typeface="Calibri" pitchFamily="34" charset="0"/>
                <a:ea typeface="Calibri" pitchFamily="34" charset="-122"/>
                <a:cs typeface="Calibri" pitchFamily="34" charset="-120"/>
              </a:rPr>
              <a:t>Shared Intelligence Layer</a:t>
            </a:r>
            <a:endParaRPr lang="en-US" sz="1700" dirty="0"/>
          </a:p>
        </p:txBody>
      </p:sp>
      <p:sp>
        <p:nvSpPr>
          <p:cNvPr id="14" name="Text 12"/>
          <p:cNvSpPr/>
          <p:nvPr/>
        </p:nvSpPr>
        <p:spPr>
          <a:xfrm>
            <a:off x="2895448" y="4562856"/>
            <a:ext cx="7132320" cy="310896"/>
          </a:xfrm>
          <a:prstGeom prst="rect">
            <a:avLst/>
          </a:prstGeom>
          <a:noFill/>
          <a:ln/>
        </p:spPr>
        <p:txBody>
          <a:bodyPr wrap="square" lIns="0" tIns="0" rIns="0" bIns="0" rtlCol="0" anchor="ctr">
            <a:normAutofit/>
          </a:bodyPr>
          <a:lstStyle/>
          <a:p>
            <a:pPr indent="0" marL="0">
              <a:buNone/>
            </a:pPr>
            <a:r>
              <a:rPr lang="en-US" sz="1200" dirty="0">
                <a:solidFill>
                  <a:srgbClr val="5A625C"/>
                </a:solidFill>
                <a:latin typeface="Calibri" pitchFamily="34" charset="0"/>
                <a:ea typeface="Calibri" pitchFamily="34" charset="-122"/>
                <a:cs typeface="Calibri" pitchFamily="34" charset="-120"/>
              </a:rPr>
              <a:t>AI agents   ·   Recommendation engine   ·   Anomaly detection   ·   Forecasting models</a:t>
            </a:r>
            <a:endParaRPr lang="en-US" sz="1200" dirty="0"/>
          </a:p>
        </p:txBody>
      </p:sp>
      <p:sp>
        <p:nvSpPr>
          <p:cNvPr id="15" name="Shape 13"/>
          <p:cNvSpPr/>
          <p:nvPr/>
        </p:nvSpPr>
        <p:spPr>
          <a:xfrm>
            <a:off x="1889608" y="5239512"/>
            <a:ext cx="8412480" cy="960120"/>
          </a:xfrm>
          <a:prstGeom prst="roundRect">
            <a:avLst>
              <a:gd name="adj" fmla="val 5714"/>
            </a:avLst>
          </a:prstGeom>
          <a:solidFill>
            <a:srgbClr val="F7F8F7"/>
          </a:solidFill>
          <a:ln w="10160">
            <a:solidFill>
              <a:srgbClr val="E2E6E2"/>
            </a:solidFill>
            <a:prstDash val="solid"/>
          </a:ln>
        </p:spPr>
      </p:sp>
      <p:sp>
        <p:nvSpPr>
          <p:cNvPr id="16" name="Shape 14"/>
          <p:cNvSpPr/>
          <p:nvPr/>
        </p:nvSpPr>
        <p:spPr>
          <a:xfrm>
            <a:off x="2163928" y="5440680"/>
            <a:ext cx="566928" cy="566928"/>
          </a:xfrm>
          <a:prstGeom prst="roundRect">
            <a:avLst>
              <a:gd name="adj" fmla="val 9677"/>
            </a:avLst>
          </a:prstGeom>
          <a:solidFill>
            <a:srgbClr val="EAF8ED"/>
          </a:solidFill>
          <a:ln w="12700">
            <a:solidFill>
              <a:srgbClr val="EAF8ED"/>
            </a:solidFill>
            <a:prstDash val="solid"/>
          </a:ln>
        </p:spPr>
      </p:sp>
      <p:sp>
        <p:nvSpPr>
          <p:cNvPr id="17" name="Text 15"/>
          <p:cNvSpPr/>
          <p:nvPr/>
        </p:nvSpPr>
        <p:spPr>
          <a:xfrm>
            <a:off x="2163928" y="5440680"/>
            <a:ext cx="566928" cy="566928"/>
          </a:xfrm>
          <a:prstGeom prst="rect">
            <a:avLst/>
          </a:prstGeom>
          <a:noFill/>
          <a:ln/>
        </p:spPr>
        <p:txBody>
          <a:bodyPr wrap="square" lIns="0" tIns="0" rIns="0" bIns="0" rtlCol="0" anchor="ctr"/>
          <a:lstStyle/>
          <a:p>
            <a:pPr algn="ctr" indent="0" marL="0">
              <a:buNone/>
            </a:pPr>
            <a:r>
              <a:rPr lang="en-US" sz="1800" b="1" dirty="0">
                <a:solidFill>
                  <a:srgbClr val="3DCD58"/>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2895448" y="5385816"/>
            <a:ext cx="7132320" cy="329184"/>
          </a:xfrm>
          <a:prstGeom prst="rect">
            <a:avLst/>
          </a:prstGeom>
          <a:noFill/>
          <a:ln/>
        </p:spPr>
        <p:txBody>
          <a:bodyPr wrap="square" lIns="0" tIns="0" rIns="0" bIns="0" rtlCol="0" anchor="ctr">
            <a:normAutofit/>
          </a:bodyPr>
          <a:lstStyle/>
          <a:p>
            <a:pPr indent="0" marL="0">
              <a:buNone/>
            </a:pPr>
            <a:r>
              <a:rPr lang="en-US" sz="1700" b="1" dirty="0">
                <a:solidFill>
                  <a:srgbClr val="1E2420"/>
                </a:solidFill>
                <a:latin typeface="Calibri" pitchFamily="34" charset="0"/>
                <a:ea typeface="Calibri" pitchFamily="34" charset="-122"/>
                <a:cs typeface="Calibri" pitchFamily="34" charset="-120"/>
              </a:rPr>
              <a:t>Common Experience</a:t>
            </a:r>
            <a:endParaRPr lang="en-US" sz="1700" dirty="0"/>
          </a:p>
        </p:txBody>
      </p:sp>
      <p:sp>
        <p:nvSpPr>
          <p:cNvPr id="19" name="Text 17"/>
          <p:cNvSpPr/>
          <p:nvPr/>
        </p:nvSpPr>
        <p:spPr>
          <a:xfrm>
            <a:off x="2895448" y="5742432"/>
            <a:ext cx="7132320" cy="310896"/>
          </a:xfrm>
          <a:prstGeom prst="rect">
            <a:avLst/>
          </a:prstGeom>
          <a:noFill/>
          <a:ln/>
        </p:spPr>
        <p:txBody>
          <a:bodyPr wrap="square" lIns="0" tIns="0" rIns="0" bIns="0" rtlCol="0" anchor="ctr">
            <a:normAutofit/>
          </a:bodyPr>
          <a:lstStyle/>
          <a:p>
            <a:pPr indent="0" marL="0">
              <a:buNone/>
            </a:pPr>
            <a:r>
              <a:rPr lang="en-US" sz="1200" dirty="0">
                <a:solidFill>
                  <a:srgbClr val="5A625C"/>
                </a:solidFill>
                <a:latin typeface="Calibri" pitchFamily="34" charset="0"/>
                <a:ea typeface="Calibri" pitchFamily="34" charset="-122"/>
                <a:cs typeface="Calibri" pitchFamily="34" charset="-120"/>
              </a:rPr>
              <a:t>Product domains   ·   Dashboards   ·   Workflows   ·   Disclosures   ·   Client self-serve</a:t>
            </a:r>
            <a:endParaRPr lang="en-US" sz="12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convergence math: 1 + 1 + 1 = 10</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Not 1+1=3. On one platform, three converged domains multiply, unlocking value none can deliver alone.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36896"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1.98230216442e+21" dist="660767388140000000000" dir="6.9984e+25">
              <a:srgbClr val="0A1F12">
                <a:alpha val="1.2e+24"/>
              </a:srgbClr>
            </a:outerShdw>
          </a:effectLst>
        </p:spPr>
      </p:sp>
      <p:sp>
        <p:nvSpPr>
          <p:cNvPr id="10" name="Shape 8"/>
          <p:cNvSpPr/>
          <p:nvPr/>
        </p:nvSpPr>
        <p:spPr>
          <a:xfrm>
            <a:off x="621792" y="2084832"/>
            <a:ext cx="5336896" cy="73152"/>
          </a:xfrm>
          <a:prstGeom prst="rect">
            <a:avLst/>
          </a:prstGeom>
          <a:solidFill>
            <a:srgbClr val="3DCD58"/>
          </a:solidFill>
          <a:ln w="12700">
            <a:solidFill>
              <a:srgbClr val="3DCD58"/>
            </a:solidFill>
            <a:prstDash val="solid"/>
          </a:ln>
        </p:spPr>
      </p:sp>
      <p:sp>
        <p:nvSpPr>
          <p:cNvPr id="11" name="Text 9"/>
          <p:cNvSpPr/>
          <p:nvPr/>
        </p:nvSpPr>
        <p:spPr>
          <a:xfrm>
            <a:off x="822960" y="2286000"/>
            <a:ext cx="4971136"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THE THREE DOMAINS</a:t>
            </a:r>
            <a:endParaRPr lang="en-US" sz="900" dirty="0"/>
          </a:p>
        </p:txBody>
      </p:sp>
      <p:sp>
        <p:nvSpPr>
          <p:cNvPr id="12" name="Text 10"/>
          <p:cNvSpPr/>
          <p:nvPr/>
        </p:nvSpPr>
        <p:spPr>
          <a:xfrm>
            <a:off x="822960" y="2569464"/>
            <a:ext cx="4971136"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Sustainability + Energy &amp; Supply + Efficiency</a:t>
            </a:r>
            <a:endParaRPr lang="en-US" sz="1400" dirty="0"/>
          </a:p>
        </p:txBody>
      </p:sp>
      <p:sp>
        <p:nvSpPr>
          <p:cNvPr id="13" name="Text 11"/>
          <p:cNvSpPr/>
          <p:nvPr/>
        </p:nvSpPr>
        <p:spPr>
          <a:xfrm>
            <a:off x="804672" y="3044952"/>
            <a:ext cx="4971136"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Each is strong alone. Together they are exponential.</a:t>
            </a:r>
            <a:endParaRPr lang="en-US" sz="1100" dirty="0"/>
          </a:p>
        </p:txBody>
      </p:sp>
      <p:sp>
        <p:nvSpPr>
          <p:cNvPr id="14" name="Text 12"/>
          <p:cNvSpPr/>
          <p:nvPr/>
        </p:nvSpPr>
        <p:spPr>
          <a:xfrm>
            <a:off x="822960" y="3776472"/>
            <a:ext cx="4971136"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Sustainability: carbon inventory, disclosure and targets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Energy and Supply: procurement, contracts and invoices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Efficiency: ECM pipeline, budgets and verified savings</a:t>
            </a:r>
            <a:endParaRPr lang="en-US" sz="1100" dirty="0"/>
          </a:p>
        </p:txBody>
      </p:sp>
      <p:sp>
        <p:nvSpPr>
          <p:cNvPr id="15" name="Shape 13"/>
          <p:cNvSpPr/>
          <p:nvPr/>
        </p:nvSpPr>
        <p:spPr>
          <a:xfrm>
            <a:off x="6233008" y="2084832"/>
            <a:ext cx="5336896"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2.5175237488134e+25" dist="8.391745829378e+24" dir="4.19904e+30">
              <a:srgbClr val="0A1F12">
                <a:alpha val="1.2e+29"/>
              </a:srgbClr>
            </a:outerShdw>
          </a:effectLst>
        </p:spPr>
      </p:sp>
      <p:sp>
        <p:nvSpPr>
          <p:cNvPr id="16" name="Shape 14"/>
          <p:cNvSpPr/>
          <p:nvPr/>
        </p:nvSpPr>
        <p:spPr>
          <a:xfrm>
            <a:off x="6233008" y="2084832"/>
            <a:ext cx="5336896" cy="73152"/>
          </a:xfrm>
          <a:prstGeom prst="rect">
            <a:avLst/>
          </a:prstGeom>
          <a:solidFill>
            <a:srgbClr val="007A27"/>
          </a:solidFill>
          <a:ln w="12700">
            <a:solidFill>
              <a:srgbClr val="007A27"/>
            </a:solidFill>
            <a:prstDash val="solid"/>
          </a:ln>
        </p:spPr>
      </p:sp>
      <p:sp>
        <p:nvSpPr>
          <p:cNvPr id="17" name="Text 15"/>
          <p:cNvSpPr/>
          <p:nvPr/>
        </p:nvSpPr>
        <p:spPr>
          <a:xfrm>
            <a:off x="6434176" y="2286000"/>
            <a:ext cx="4971136"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WHAT ONLY CONVERGENCE UNLOCKS</a:t>
            </a:r>
            <a:endParaRPr lang="en-US" sz="900" dirty="0"/>
          </a:p>
        </p:txBody>
      </p:sp>
      <p:sp>
        <p:nvSpPr>
          <p:cNvPr id="18" name="Text 16"/>
          <p:cNvSpPr/>
          <p:nvPr/>
        </p:nvSpPr>
        <p:spPr>
          <a:xfrm>
            <a:off x="6434176" y="2569464"/>
            <a:ext cx="4971136"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Exponential value</a:t>
            </a:r>
            <a:endParaRPr lang="en-US" sz="1600" dirty="0"/>
          </a:p>
        </p:txBody>
      </p:sp>
      <p:sp>
        <p:nvSpPr>
          <p:cNvPr id="19" name="Text 17"/>
          <p:cNvSpPr/>
          <p:nvPr/>
        </p:nvSpPr>
        <p:spPr>
          <a:xfrm>
            <a:off x="6415888" y="3044952"/>
            <a:ext cx="4971136"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Combinations no standalone product can deliver.</a:t>
            </a:r>
            <a:endParaRPr lang="en-US" sz="1100" dirty="0"/>
          </a:p>
        </p:txBody>
      </p:sp>
      <p:sp>
        <p:nvSpPr>
          <p:cNvPr id="20" name="Text 18"/>
          <p:cNvSpPr/>
          <p:nvPr/>
        </p:nvSpPr>
        <p:spPr>
          <a:xfrm>
            <a:off x="6434176" y="3776472"/>
            <a:ext cx="4971136"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Sustainability + Energy &amp; Supply: disclosures wired to live invoices and contracts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Energy &amp; Supply + Efficiency: budgets that already reflect every ECM in the pipeline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Efficiency + Sustainability: closed loop M&amp;V from carbon goal to verified savings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All three + AI agents: decision ready answers across the whole estate, in minutes</a:t>
            </a:r>
            <a:endParaRPr lang="en-US" sz="1100" dirty="0"/>
          </a:p>
        </p:txBody>
      </p:sp>
      <p:sp>
        <p:nvSpPr>
          <p:cNvPr id="21" name="Shape 19"/>
          <p:cNvSpPr/>
          <p:nvPr/>
        </p:nvSpPr>
        <p:spPr>
          <a:xfrm>
            <a:off x="621792" y="6437376"/>
            <a:ext cx="10948111" cy="0"/>
          </a:xfrm>
          <a:prstGeom prst="line">
            <a:avLst/>
          </a:prstGeom>
          <a:noFill/>
          <a:ln w="9525">
            <a:solidFill>
              <a:srgbClr val="E2E6E2"/>
            </a:solidFill>
            <a:prstDash val="solid"/>
          </a:ln>
        </p:spPr>
      </p:sp>
      <p:sp>
        <p:nvSpPr>
          <p:cNvPr id="22" name="Text 20"/>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3" name="Text 21"/>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2</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02</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market and the competition</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Who we are up against, where we win, and how we make RA+ easier to buy.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71119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38201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COMPETITIVE LANDSCAPE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One platform. $1B+ of venture backed rivals.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They each raised hundreds of millions for single point tools. We unify carbon, energy and efficiency, at Schneider scale.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1792" y="2084832"/>
          <a:ext cx="10948111" cy="914400"/>
        </p:xfrm>
        <a:graphic>
          <a:graphicData uri="http://schemas.openxmlformats.org/drawingml/2006/table">
            <a:tbl>
              <a:tblPr/>
              <a:tblGrid>
                <a:gridCol w="1005840"/>
                <a:gridCol w="4971136"/>
                <a:gridCol w="4971136"/>
              </a:tblGrid>
              <a:tr h="51206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TOTAL FUNDING RAISED</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SOURCE</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Arcadia</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~$566M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arcadia.com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osapiens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~$247M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osapiens.com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Watershed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~$185M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watershed.com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Deepki</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~$177M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deepki.com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EnergyCAP</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Undisclosed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energycap.com, one PE round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Top rivals combined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~$1.2B+ raised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Our advantage: one platform, one data spine, at Schneider scale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bl>
          </a:graphicData>
        </a:graphic>
      </p:graphicFrame>
      <p:sp>
        <p:nvSpPr>
          <p:cNvPr id="10" name="Shape 7"/>
          <p:cNvSpPr/>
          <p:nvPr/>
        </p:nvSpPr>
        <p:spPr>
          <a:xfrm>
            <a:off x="621792" y="6437376"/>
            <a:ext cx="10948111" cy="0"/>
          </a:xfrm>
          <a:prstGeom prst="line">
            <a:avLst/>
          </a:prstGeom>
          <a:noFill/>
          <a:ln w="9525">
            <a:solidFill>
              <a:srgbClr val="E2E6E2"/>
            </a:solidFill>
            <a:prstDash val="solid"/>
          </a:ln>
        </p:spPr>
      </p:sp>
      <p:sp>
        <p:nvSpPr>
          <p:cNvPr id="11" name="Text 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2" name="Text 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Text 2"/>
          <p:cNvSpPr/>
          <p:nvPr/>
        </p:nvSpPr>
        <p:spPr>
          <a:xfrm>
            <a:off x="621792" y="320040"/>
            <a:ext cx="7132320" cy="228600"/>
          </a:xfrm>
          <a:prstGeom prst="rect">
            <a:avLst/>
          </a:prstGeom>
          <a:noFill/>
          <a:ln/>
        </p:spPr>
        <p:txBody>
          <a:bodyPr wrap="square" lIns="0" tIns="0" rIns="0" bIns="0" rtlCol="0" anchor="ctr"/>
          <a:lstStyle/>
          <a:p>
            <a:pPr indent="0" marL="0">
              <a:buNone/>
            </a:pPr>
            <a:r>
              <a:rPr lang="en-US" sz="900" b="1" spc="150" kern="0" dirty="0">
                <a:solidFill>
                  <a:srgbClr val="007A27"/>
                </a:solidFill>
                <a:latin typeface="Calibri" pitchFamily="34" charset="0"/>
                <a:ea typeface="Calibri" pitchFamily="34" charset="-122"/>
                <a:cs typeface="Calibri" pitchFamily="34" charset="-120"/>
              </a:rPr>
              <a:t>COMPETITIVE POSITION | SEPTEMBER 2026</a:t>
            </a:r>
            <a:endParaRPr lang="en-US" sz="900" dirty="0"/>
          </a:p>
        </p:txBody>
      </p:sp>
      <p:sp>
        <p:nvSpPr>
          <p:cNvPr id="5" name="Text 3"/>
          <p:cNvSpPr/>
          <p:nvPr/>
        </p:nvSpPr>
        <p:spPr>
          <a:xfrm>
            <a:off x="621792" y="676656"/>
            <a:ext cx="10948111" cy="658368"/>
          </a:xfrm>
          <a:prstGeom prst="rect">
            <a:avLst/>
          </a:prstGeom>
          <a:noFill/>
          <a:ln/>
        </p:spPr>
        <p:txBody>
          <a:bodyPr wrap="square" lIns="0" tIns="0" rIns="0" bIns="0" rtlCol="0" anchor="ctr">
            <a:normAutofit/>
          </a:bodyPr>
          <a:lstStyle/>
          <a:p>
            <a:pPr indent="0" marL="0">
              <a:buNone/>
            </a:pPr>
            <a:r>
              <a:rPr lang="en-US" sz="2700" b="1" dirty="0">
                <a:solidFill>
                  <a:srgbClr val="1E2420"/>
                </a:solidFill>
                <a:latin typeface="Calibri" pitchFamily="34" charset="0"/>
                <a:ea typeface="Calibri" pitchFamily="34" charset="-122"/>
                <a:cs typeface="Calibri" pitchFamily="34" charset="-120"/>
              </a:rPr>
              <a:t>RA+ competes on breadth and convergence, not a point solution feature race</a:t>
            </a:r>
            <a:endParaRPr lang="en-US" sz="2700" dirty="0"/>
          </a:p>
        </p:txBody>
      </p:sp>
      <p:sp>
        <p:nvSpPr>
          <p:cNvPr id="6" name="Text 4"/>
          <p:cNvSpPr/>
          <p:nvPr/>
        </p:nvSpPr>
        <p:spPr>
          <a:xfrm>
            <a:off x="621792" y="1353312"/>
            <a:ext cx="10948111" cy="457200"/>
          </a:xfrm>
          <a:prstGeom prst="rect">
            <a:avLst/>
          </a:prstGeom>
          <a:noFill/>
          <a:ln/>
        </p:spPr>
        <p:txBody>
          <a:bodyPr wrap="square" lIns="0" tIns="0" rIns="0" bIns="0" rtlCol="0" anchor="ctr">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Public pricing is not disclosed across the peer set. The decision therefore turns on scope, AI embedded in workflows, and the cost of integrating multiple platforms.</a:t>
            </a:r>
            <a:endParaRPr lang="en-US" sz="1100" dirty="0"/>
          </a:p>
        </p:txBody>
      </p:sp>
      <p:sp>
        <p:nvSpPr>
          <p:cNvPr id="7" name="Shape 5"/>
          <p:cNvSpPr/>
          <p:nvPr/>
        </p:nvSpPr>
        <p:spPr>
          <a:xfrm>
            <a:off x="621792" y="1965960"/>
            <a:ext cx="1051560" cy="393192"/>
          </a:xfrm>
          <a:prstGeom prst="rect">
            <a:avLst/>
          </a:prstGeom>
          <a:solidFill>
            <a:srgbClr val="005730"/>
          </a:solidFill>
          <a:ln w="5715">
            <a:solidFill>
              <a:srgbClr val="397257"/>
            </a:solidFill>
            <a:prstDash val="solid"/>
          </a:ln>
        </p:spPr>
      </p:sp>
      <p:sp>
        <p:nvSpPr>
          <p:cNvPr id="8" name="Text 6"/>
          <p:cNvSpPr/>
          <p:nvPr/>
        </p:nvSpPr>
        <p:spPr>
          <a:xfrm>
            <a:off x="713232" y="1965960"/>
            <a:ext cx="86868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PLATFORM</a:t>
            </a:r>
            <a:endParaRPr lang="en-US" sz="760" dirty="0"/>
          </a:p>
        </p:txBody>
      </p:sp>
      <p:sp>
        <p:nvSpPr>
          <p:cNvPr id="9" name="Shape 7"/>
          <p:cNvSpPr/>
          <p:nvPr/>
        </p:nvSpPr>
        <p:spPr>
          <a:xfrm>
            <a:off x="1673352" y="1965960"/>
            <a:ext cx="1417320" cy="393192"/>
          </a:xfrm>
          <a:prstGeom prst="rect">
            <a:avLst/>
          </a:prstGeom>
          <a:solidFill>
            <a:srgbClr val="005730"/>
          </a:solidFill>
          <a:ln w="5715">
            <a:solidFill>
              <a:srgbClr val="397257"/>
            </a:solidFill>
            <a:prstDash val="solid"/>
          </a:ln>
        </p:spPr>
      </p:sp>
      <p:sp>
        <p:nvSpPr>
          <p:cNvPr id="10" name="Text 8"/>
          <p:cNvSpPr/>
          <p:nvPr/>
        </p:nvSpPr>
        <p:spPr>
          <a:xfrm>
            <a:off x="1764792" y="1965960"/>
            <a:ext cx="123444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PRICE</a:t>
            </a:r>
            <a:endParaRPr lang="en-US" sz="760" dirty="0"/>
          </a:p>
        </p:txBody>
      </p:sp>
      <p:sp>
        <p:nvSpPr>
          <p:cNvPr id="11" name="Shape 9"/>
          <p:cNvSpPr/>
          <p:nvPr/>
        </p:nvSpPr>
        <p:spPr>
          <a:xfrm>
            <a:off x="3090672" y="1965960"/>
            <a:ext cx="3749040" cy="393192"/>
          </a:xfrm>
          <a:prstGeom prst="rect">
            <a:avLst/>
          </a:prstGeom>
          <a:solidFill>
            <a:srgbClr val="005730"/>
          </a:solidFill>
          <a:ln w="5715">
            <a:solidFill>
              <a:srgbClr val="397257"/>
            </a:solidFill>
            <a:prstDash val="solid"/>
          </a:ln>
        </p:spPr>
      </p:sp>
      <p:sp>
        <p:nvSpPr>
          <p:cNvPr id="12" name="Text 10"/>
          <p:cNvSpPr/>
          <p:nvPr/>
        </p:nvSpPr>
        <p:spPr>
          <a:xfrm>
            <a:off x="3182112" y="1965960"/>
            <a:ext cx="356616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SUSTAINABILITY SCOPE</a:t>
            </a:r>
            <a:endParaRPr lang="en-US" sz="760" dirty="0"/>
          </a:p>
        </p:txBody>
      </p:sp>
      <p:sp>
        <p:nvSpPr>
          <p:cNvPr id="13" name="Shape 11"/>
          <p:cNvSpPr/>
          <p:nvPr/>
        </p:nvSpPr>
        <p:spPr>
          <a:xfrm>
            <a:off x="6839712" y="1965960"/>
            <a:ext cx="1325880" cy="393192"/>
          </a:xfrm>
          <a:prstGeom prst="rect">
            <a:avLst/>
          </a:prstGeom>
          <a:solidFill>
            <a:srgbClr val="005730"/>
          </a:solidFill>
          <a:ln w="5715">
            <a:solidFill>
              <a:srgbClr val="397257"/>
            </a:solidFill>
            <a:prstDash val="solid"/>
          </a:ln>
        </p:spPr>
      </p:sp>
      <p:sp>
        <p:nvSpPr>
          <p:cNvPr id="14" name="Text 12"/>
          <p:cNvSpPr/>
          <p:nvPr/>
        </p:nvSpPr>
        <p:spPr>
          <a:xfrm>
            <a:off x="6931152" y="1965960"/>
            <a:ext cx="114300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AI MATURITY</a:t>
            </a:r>
            <a:endParaRPr lang="en-US" sz="760" dirty="0"/>
          </a:p>
        </p:txBody>
      </p:sp>
      <p:sp>
        <p:nvSpPr>
          <p:cNvPr id="15" name="Shape 13"/>
          <p:cNvSpPr/>
          <p:nvPr/>
        </p:nvSpPr>
        <p:spPr>
          <a:xfrm>
            <a:off x="8165592" y="1965960"/>
            <a:ext cx="3657600" cy="393192"/>
          </a:xfrm>
          <a:prstGeom prst="rect">
            <a:avLst/>
          </a:prstGeom>
          <a:solidFill>
            <a:srgbClr val="005730"/>
          </a:solidFill>
          <a:ln w="5715">
            <a:solidFill>
              <a:srgbClr val="397257"/>
            </a:solidFill>
            <a:prstDash val="solid"/>
          </a:ln>
        </p:spPr>
      </p:sp>
      <p:sp>
        <p:nvSpPr>
          <p:cNvPr id="16" name="Text 14"/>
          <p:cNvSpPr/>
          <p:nvPr/>
        </p:nvSpPr>
        <p:spPr>
          <a:xfrm>
            <a:off x="8257032" y="1965960"/>
            <a:ext cx="3474720" cy="393192"/>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STRATEGIC POSITION</a:t>
            </a:r>
            <a:endParaRPr lang="en-US" sz="760" dirty="0"/>
          </a:p>
        </p:txBody>
      </p:sp>
      <p:sp>
        <p:nvSpPr>
          <p:cNvPr id="17" name="Shape 15"/>
          <p:cNvSpPr/>
          <p:nvPr/>
        </p:nvSpPr>
        <p:spPr>
          <a:xfrm>
            <a:off x="621792" y="2359152"/>
            <a:ext cx="1051560" cy="566928"/>
          </a:xfrm>
          <a:prstGeom prst="rect">
            <a:avLst/>
          </a:prstGeom>
          <a:solidFill>
            <a:srgbClr val="EAF8ED"/>
          </a:solidFill>
          <a:ln w="5715">
            <a:solidFill>
              <a:srgbClr val="E2E6E2"/>
            </a:solidFill>
            <a:prstDash val="solid"/>
          </a:ln>
        </p:spPr>
      </p:sp>
      <p:sp>
        <p:nvSpPr>
          <p:cNvPr id="18" name="Text 16"/>
          <p:cNvSpPr/>
          <p:nvPr/>
        </p:nvSpPr>
        <p:spPr>
          <a:xfrm>
            <a:off x="713232" y="2432304"/>
            <a:ext cx="868680" cy="420624"/>
          </a:xfrm>
          <a:prstGeom prst="rect">
            <a:avLst/>
          </a:prstGeom>
          <a:noFill/>
          <a:ln/>
        </p:spPr>
        <p:txBody>
          <a:bodyPr wrap="square" lIns="0" tIns="0" rIns="0" bIns="0" rtlCol="0" anchor="ctr">
            <a:normAutofit/>
          </a:bodyPr>
          <a:lstStyle/>
          <a:p>
            <a:pPr indent="0" marL="0">
              <a:buNone/>
            </a:pPr>
            <a:r>
              <a:rPr lang="en-US" sz="920" b="1" dirty="0">
                <a:solidFill>
                  <a:srgbClr val="007A27"/>
                </a:solidFill>
                <a:latin typeface="Calibri" pitchFamily="34" charset="0"/>
                <a:ea typeface="Calibri" pitchFamily="34" charset="-122"/>
                <a:cs typeface="Calibri" pitchFamily="34" charset="-120"/>
              </a:rPr>
              <a:t>RA+</a:t>
            </a:r>
            <a:endParaRPr lang="en-US" sz="920" dirty="0"/>
          </a:p>
        </p:txBody>
      </p:sp>
      <p:sp>
        <p:nvSpPr>
          <p:cNvPr id="19" name="Shape 17"/>
          <p:cNvSpPr/>
          <p:nvPr/>
        </p:nvSpPr>
        <p:spPr>
          <a:xfrm>
            <a:off x="1673352" y="2359152"/>
            <a:ext cx="1417320" cy="566928"/>
          </a:xfrm>
          <a:prstGeom prst="rect">
            <a:avLst/>
          </a:prstGeom>
          <a:solidFill>
            <a:srgbClr val="EAF8ED"/>
          </a:solidFill>
          <a:ln w="5715">
            <a:solidFill>
              <a:srgbClr val="E2E6E2"/>
            </a:solidFill>
            <a:prstDash val="solid"/>
          </a:ln>
        </p:spPr>
      </p:sp>
      <p:sp>
        <p:nvSpPr>
          <p:cNvPr id="20" name="Text 18"/>
          <p:cNvSpPr/>
          <p:nvPr/>
        </p:nvSpPr>
        <p:spPr>
          <a:xfrm>
            <a:off x="1764792" y="2432304"/>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Enterprise quote</a:t>
            </a:r>
            <a:endParaRPr lang="en-US" sz="810" dirty="0"/>
          </a:p>
        </p:txBody>
      </p:sp>
      <p:sp>
        <p:nvSpPr>
          <p:cNvPr id="21" name="Shape 19"/>
          <p:cNvSpPr/>
          <p:nvPr/>
        </p:nvSpPr>
        <p:spPr>
          <a:xfrm>
            <a:off x="3090672" y="2359152"/>
            <a:ext cx="3749040" cy="566928"/>
          </a:xfrm>
          <a:prstGeom prst="rect">
            <a:avLst/>
          </a:prstGeom>
          <a:solidFill>
            <a:srgbClr val="EAF8ED"/>
          </a:solidFill>
          <a:ln w="5715">
            <a:solidFill>
              <a:srgbClr val="E2E6E2"/>
            </a:solidFill>
            <a:prstDash val="solid"/>
          </a:ln>
        </p:spPr>
      </p:sp>
      <p:sp>
        <p:nvSpPr>
          <p:cNvPr id="22" name="Text 20"/>
          <p:cNvSpPr/>
          <p:nvPr/>
        </p:nvSpPr>
        <p:spPr>
          <a:xfrm>
            <a:off x="3182112" y="2432304"/>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Broadest: carbon, supply chain, reporting, climate risk, energy and efficiency</a:t>
            </a:r>
            <a:endParaRPr lang="en-US" sz="810" dirty="0"/>
          </a:p>
        </p:txBody>
      </p:sp>
      <p:sp>
        <p:nvSpPr>
          <p:cNvPr id="23" name="Shape 21"/>
          <p:cNvSpPr/>
          <p:nvPr/>
        </p:nvSpPr>
        <p:spPr>
          <a:xfrm>
            <a:off x="6839712" y="2359152"/>
            <a:ext cx="1325880" cy="566928"/>
          </a:xfrm>
          <a:prstGeom prst="rect">
            <a:avLst/>
          </a:prstGeom>
          <a:solidFill>
            <a:srgbClr val="EAF8ED"/>
          </a:solidFill>
          <a:ln w="5715">
            <a:solidFill>
              <a:srgbClr val="E2E6E2"/>
            </a:solidFill>
            <a:prstDash val="solid"/>
          </a:ln>
        </p:spPr>
      </p:sp>
      <p:sp>
        <p:nvSpPr>
          <p:cNvPr id="24" name="Shape 22"/>
          <p:cNvSpPr/>
          <p:nvPr/>
        </p:nvSpPr>
        <p:spPr>
          <a:xfrm>
            <a:off x="6949440" y="2523744"/>
            <a:ext cx="1106424" cy="246888"/>
          </a:xfrm>
          <a:prstGeom prst="roundRect">
            <a:avLst>
              <a:gd name="adj" fmla="val 44444"/>
            </a:avLst>
          </a:prstGeom>
          <a:solidFill>
            <a:srgbClr val="EAF8ED"/>
          </a:solidFill>
          <a:ln w="6350">
            <a:solidFill>
              <a:srgbClr val="3DCD58">
                <a:alpha val="45000"/>
              </a:srgbClr>
            </a:solidFill>
            <a:prstDash val="solid"/>
          </a:ln>
        </p:spPr>
      </p:sp>
      <p:sp>
        <p:nvSpPr>
          <p:cNvPr id="25" name="Text 23"/>
          <p:cNvSpPr/>
          <p:nvPr/>
        </p:nvSpPr>
        <p:spPr>
          <a:xfrm>
            <a:off x="6949440" y="2523744"/>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007A27"/>
                </a:solidFill>
                <a:latin typeface="Calibri" pitchFamily="34" charset="0"/>
                <a:ea typeface="Calibri" pitchFamily="34" charset="-122"/>
                <a:cs typeface="Calibri" pitchFamily="34" charset="-120"/>
              </a:rPr>
              <a:t>Embedded, scaling</a:t>
            </a:r>
            <a:endParaRPr lang="en-US" sz="770" dirty="0"/>
          </a:p>
        </p:txBody>
      </p:sp>
      <p:sp>
        <p:nvSpPr>
          <p:cNvPr id="26" name="Shape 24"/>
          <p:cNvSpPr/>
          <p:nvPr/>
        </p:nvSpPr>
        <p:spPr>
          <a:xfrm>
            <a:off x="8165592" y="2359152"/>
            <a:ext cx="3657600" cy="566928"/>
          </a:xfrm>
          <a:prstGeom prst="rect">
            <a:avLst/>
          </a:prstGeom>
          <a:solidFill>
            <a:srgbClr val="EAF8ED"/>
          </a:solidFill>
          <a:ln w="5715">
            <a:solidFill>
              <a:srgbClr val="E2E6E2"/>
            </a:solidFill>
            <a:prstDash val="solid"/>
          </a:ln>
        </p:spPr>
      </p:sp>
      <p:sp>
        <p:nvSpPr>
          <p:cNvPr id="27" name="Text 25"/>
          <p:cNvSpPr/>
          <p:nvPr/>
        </p:nvSpPr>
        <p:spPr>
          <a:xfrm>
            <a:off x="8257032" y="2432304"/>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One data spine plus advisory depth</a:t>
            </a:r>
            <a:endParaRPr lang="en-US" sz="810" dirty="0"/>
          </a:p>
        </p:txBody>
      </p:sp>
      <p:sp>
        <p:nvSpPr>
          <p:cNvPr id="28" name="Shape 26"/>
          <p:cNvSpPr/>
          <p:nvPr/>
        </p:nvSpPr>
        <p:spPr>
          <a:xfrm>
            <a:off x="621792" y="2926080"/>
            <a:ext cx="1051560" cy="566928"/>
          </a:xfrm>
          <a:prstGeom prst="rect">
            <a:avLst/>
          </a:prstGeom>
          <a:solidFill>
            <a:srgbClr val="F1F3F2"/>
          </a:solidFill>
          <a:ln w="5715">
            <a:solidFill>
              <a:srgbClr val="E2E6E2"/>
            </a:solidFill>
            <a:prstDash val="solid"/>
          </a:ln>
        </p:spPr>
      </p:sp>
      <p:sp>
        <p:nvSpPr>
          <p:cNvPr id="29" name="Text 27"/>
          <p:cNvSpPr/>
          <p:nvPr/>
        </p:nvSpPr>
        <p:spPr>
          <a:xfrm>
            <a:off x="713232" y="2999232"/>
            <a:ext cx="868680" cy="420624"/>
          </a:xfrm>
          <a:prstGeom prst="rect">
            <a:avLst/>
          </a:prstGeom>
          <a:noFill/>
          <a:ln/>
        </p:spPr>
        <p:txBody>
          <a:bodyPr wrap="square" lIns="0" tIns="0" rIns="0" bIns="0" rtlCol="0" anchor="ctr">
            <a:normAutofit/>
          </a:bodyPr>
          <a:lstStyle/>
          <a:p>
            <a:pPr indent="0" marL="0">
              <a:buNone/>
            </a:pPr>
            <a:r>
              <a:rPr lang="en-US" sz="920" b="1" dirty="0">
                <a:solidFill>
                  <a:srgbClr val="1E2420"/>
                </a:solidFill>
                <a:latin typeface="Calibri" pitchFamily="34" charset="0"/>
                <a:ea typeface="Calibri" pitchFamily="34" charset="-122"/>
                <a:cs typeface="Calibri" pitchFamily="34" charset="-120"/>
              </a:rPr>
              <a:t>Watershed</a:t>
            </a:r>
            <a:endParaRPr lang="en-US" sz="920" dirty="0"/>
          </a:p>
        </p:txBody>
      </p:sp>
      <p:sp>
        <p:nvSpPr>
          <p:cNvPr id="30" name="Shape 28"/>
          <p:cNvSpPr/>
          <p:nvPr/>
        </p:nvSpPr>
        <p:spPr>
          <a:xfrm>
            <a:off x="1673352" y="2926080"/>
            <a:ext cx="1417320" cy="566928"/>
          </a:xfrm>
          <a:prstGeom prst="rect">
            <a:avLst/>
          </a:prstGeom>
          <a:solidFill>
            <a:srgbClr val="F1F3F2"/>
          </a:solidFill>
          <a:ln w="5715">
            <a:solidFill>
              <a:srgbClr val="E2E6E2"/>
            </a:solidFill>
            <a:prstDash val="solid"/>
          </a:ln>
        </p:spPr>
      </p:sp>
      <p:sp>
        <p:nvSpPr>
          <p:cNvPr id="31" name="Text 29"/>
          <p:cNvSpPr/>
          <p:nvPr/>
        </p:nvSpPr>
        <p:spPr>
          <a:xfrm>
            <a:off x="1764792" y="2999232"/>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Not publicly disclosed</a:t>
            </a:r>
            <a:endParaRPr lang="en-US" sz="810" dirty="0"/>
          </a:p>
        </p:txBody>
      </p:sp>
      <p:sp>
        <p:nvSpPr>
          <p:cNvPr id="32" name="Shape 30"/>
          <p:cNvSpPr/>
          <p:nvPr/>
        </p:nvSpPr>
        <p:spPr>
          <a:xfrm>
            <a:off x="3090672" y="2926080"/>
            <a:ext cx="3749040" cy="566928"/>
          </a:xfrm>
          <a:prstGeom prst="rect">
            <a:avLst/>
          </a:prstGeom>
          <a:solidFill>
            <a:srgbClr val="F1F3F2"/>
          </a:solidFill>
          <a:ln w="5715">
            <a:solidFill>
              <a:srgbClr val="E2E6E2"/>
            </a:solidFill>
            <a:prstDash val="solid"/>
          </a:ln>
        </p:spPr>
      </p:sp>
      <p:sp>
        <p:nvSpPr>
          <p:cNvPr id="33" name="Text 31"/>
          <p:cNvSpPr/>
          <p:nvPr/>
        </p:nvSpPr>
        <p:spPr>
          <a:xfrm>
            <a:off x="3182112" y="2999232"/>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Broad sustainability: carbon, disclosure, decarbonization and supply chain</a:t>
            </a:r>
            <a:endParaRPr lang="en-US" sz="810" dirty="0"/>
          </a:p>
        </p:txBody>
      </p:sp>
      <p:sp>
        <p:nvSpPr>
          <p:cNvPr id="34" name="Shape 32"/>
          <p:cNvSpPr/>
          <p:nvPr/>
        </p:nvSpPr>
        <p:spPr>
          <a:xfrm>
            <a:off x="6839712" y="2926080"/>
            <a:ext cx="1325880" cy="566928"/>
          </a:xfrm>
          <a:prstGeom prst="rect">
            <a:avLst/>
          </a:prstGeom>
          <a:solidFill>
            <a:srgbClr val="F1F3F2"/>
          </a:solidFill>
          <a:ln w="5715">
            <a:solidFill>
              <a:srgbClr val="E2E6E2"/>
            </a:solidFill>
            <a:prstDash val="solid"/>
          </a:ln>
        </p:spPr>
      </p:sp>
      <p:sp>
        <p:nvSpPr>
          <p:cNvPr id="35" name="Shape 33"/>
          <p:cNvSpPr/>
          <p:nvPr/>
        </p:nvSpPr>
        <p:spPr>
          <a:xfrm>
            <a:off x="6949440" y="3090672"/>
            <a:ext cx="1106424" cy="246888"/>
          </a:xfrm>
          <a:prstGeom prst="roundRect">
            <a:avLst>
              <a:gd name="adj" fmla="val 44444"/>
            </a:avLst>
          </a:prstGeom>
          <a:solidFill>
            <a:srgbClr val="FFF4E3"/>
          </a:solidFill>
          <a:ln w="6350">
            <a:solidFill>
              <a:srgbClr val="FFB04C">
                <a:alpha val="45000"/>
              </a:srgbClr>
            </a:solidFill>
            <a:prstDash val="solid"/>
          </a:ln>
        </p:spPr>
      </p:sp>
      <p:sp>
        <p:nvSpPr>
          <p:cNvPr id="36" name="Text 34"/>
          <p:cNvSpPr/>
          <p:nvPr/>
        </p:nvSpPr>
        <p:spPr>
          <a:xfrm>
            <a:off x="6949440" y="3090672"/>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A65B00"/>
                </a:solidFill>
                <a:latin typeface="Calibri" pitchFamily="34" charset="0"/>
                <a:ea typeface="Calibri" pitchFamily="34" charset="-122"/>
                <a:cs typeface="Calibri" pitchFamily="34" charset="-120"/>
              </a:rPr>
              <a:t>Advanced</a:t>
            </a:r>
            <a:endParaRPr lang="en-US" sz="770" dirty="0"/>
          </a:p>
        </p:txBody>
      </p:sp>
      <p:sp>
        <p:nvSpPr>
          <p:cNvPr id="37" name="Shape 35"/>
          <p:cNvSpPr/>
          <p:nvPr/>
        </p:nvSpPr>
        <p:spPr>
          <a:xfrm>
            <a:off x="8165592" y="2926080"/>
            <a:ext cx="3657600" cy="566928"/>
          </a:xfrm>
          <a:prstGeom prst="rect">
            <a:avLst/>
          </a:prstGeom>
          <a:solidFill>
            <a:srgbClr val="F1F3F2"/>
          </a:solidFill>
          <a:ln w="5715">
            <a:solidFill>
              <a:srgbClr val="E2E6E2"/>
            </a:solidFill>
            <a:prstDash val="solid"/>
          </a:ln>
        </p:spPr>
      </p:sp>
      <p:sp>
        <p:nvSpPr>
          <p:cNvPr id="38" name="Text 36"/>
          <p:cNvSpPr/>
          <p:nvPr/>
        </p:nvSpPr>
        <p:spPr>
          <a:xfrm>
            <a:off x="8257032" y="2999232"/>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Strongest AI-native sustainability challenger</a:t>
            </a:r>
            <a:endParaRPr lang="en-US" sz="810" dirty="0"/>
          </a:p>
        </p:txBody>
      </p:sp>
      <p:sp>
        <p:nvSpPr>
          <p:cNvPr id="39" name="Shape 37"/>
          <p:cNvSpPr/>
          <p:nvPr/>
        </p:nvSpPr>
        <p:spPr>
          <a:xfrm>
            <a:off x="621792" y="3493008"/>
            <a:ext cx="1051560" cy="566928"/>
          </a:xfrm>
          <a:prstGeom prst="rect">
            <a:avLst/>
          </a:prstGeom>
          <a:solidFill>
            <a:srgbClr val="FFFFFF"/>
          </a:solidFill>
          <a:ln w="5715">
            <a:solidFill>
              <a:srgbClr val="E2E6E2"/>
            </a:solidFill>
            <a:prstDash val="solid"/>
          </a:ln>
        </p:spPr>
      </p:sp>
      <p:sp>
        <p:nvSpPr>
          <p:cNvPr id="40" name="Text 38"/>
          <p:cNvSpPr/>
          <p:nvPr/>
        </p:nvSpPr>
        <p:spPr>
          <a:xfrm>
            <a:off x="713232" y="3566160"/>
            <a:ext cx="868680" cy="420624"/>
          </a:xfrm>
          <a:prstGeom prst="rect">
            <a:avLst/>
          </a:prstGeom>
          <a:noFill/>
          <a:ln/>
        </p:spPr>
        <p:txBody>
          <a:bodyPr wrap="square" lIns="0" tIns="0" rIns="0" bIns="0" rtlCol="0" anchor="ctr">
            <a:normAutofit/>
          </a:bodyPr>
          <a:lstStyle/>
          <a:p>
            <a:pPr indent="0" marL="0">
              <a:buNone/>
            </a:pPr>
            <a:r>
              <a:rPr lang="en-US" sz="920" b="1" dirty="0">
                <a:solidFill>
                  <a:srgbClr val="1E2420"/>
                </a:solidFill>
                <a:latin typeface="Calibri" pitchFamily="34" charset="0"/>
                <a:ea typeface="Calibri" pitchFamily="34" charset="-122"/>
                <a:cs typeface="Calibri" pitchFamily="34" charset="-120"/>
              </a:rPr>
              <a:t>osapiens</a:t>
            </a:r>
            <a:endParaRPr lang="en-US" sz="920" dirty="0"/>
          </a:p>
        </p:txBody>
      </p:sp>
      <p:sp>
        <p:nvSpPr>
          <p:cNvPr id="41" name="Shape 39"/>
          <p:cNvSpPr/>
          <p:nvPr/>
        </p:nvSpPr>
        <p:spPr>
          <a:xfrm>
            <a:off x="1673352" y="3493008"/>
            <a:ext cx="1417320" cy="566928"/>
          </a:xfrm>
          <a:prstGeom prst="rect">
            <a:avLst/>
          </a:prstGeom>
          <a:solidFill>
            <a:srgbClr val="FFFFFF"/>
          </a:solidFill>
          <a:ln w="5715">
            <a:solidFill>
              <a:srgbClr val="E2E6E2"/>
            </a:solidFill>
            <a:prstDash val="solid"/>
          </a:ln>
        </p:spPr>
      </p:sp>
      <p:sp>
        <p:nvSpPr>
          <p:cNvPr id="42" name="Text 40"/>
          <p:cNvSpPr/>
          <p:nvPr/>
        </p:nvSpPr>
        <p:spPr>
          <a:xfrm>
            <a:off x="1764792" y="3566160"/>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Custom quote</a:t>
            </a:r>
            <a:endParaRPr lang="en-US" sz="810" dirty="0"/>
          </a:p>
        </p:txBody>
      </p:sp>
      <p:sp>
        <p:nvSpPr>
          <p:cNvPr id="43" name="Shape 41"/>
          <p:cNvSpPr/>
          <p:nvPr/>
        </p:nvSpPr>
        <p:spPr>
          <a:xfrm>
            <a:off x="3090672" y="3493008"/>
            <a:ext cx="3749040" cy="566928"/>
          </a:xfrm>
          <a:prstGeom prst="rect">
            <a:avLst/>
          </a:prstGeom>
          <a:solidFill>
            <a:srgbClr val="FFFFFF"/>
          </a:solidFill>
          <a:ln w="5715">
            <a:solidFill>
              <a:srgbClr val="E2E6E2"/>
            </a:solidFill>
            <a:prstDash val="solid"/>
          </a:ln>
        </p:spPr>
      </p:sp>
      <p:sp>
        <p:nvSpPr>
          <p:cNvPr id="44" name="Text 42"/>
          <p:cNvSpPr/>
          <p:nvPr/>
        </p:nvSpPr>
        <p:spPr>
          <a:xfrm>
            <a:off x="3182112" y="3566160"/>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Broad ESG compliance with deep supplier and product regulation coverage</a:t>
            </a:r>
            <a:endParaRPr lang="en-US" sz="810" dirty="0"/>
          </a:p>
        </p:txBody>
      </p:sp>
      <p:sp>
        <p:nvSpPr>
          <p:cNvPr id="45" name="Shape 43"/>
          <p:cNvSpPr/>
          <p:nvPr/>
        </p:nvSpPr>
        <p:spPr>
          <a:xfrm>
            <a:off x="6839712" y="3493008"/>
            <a:ext cx="1325880" cy="566928"/>
          </a:xfrm>
          <a:prstGeom prst="rect">
            <a:avLst/>
          </a:prstGeom>
          <a:solidFill>
            <a:srgbClr val="FFFFFF"/>
          </a:solidFill>
          <a:ln w="5715">
            <a:solidFill>
              <a:srgbClr val="E2E6E2"/>
            </a:solidFill>
            <a:prstDash val="solid"/>
          </a:ln>
        </p:spPr>
      </p:sp>
      <p:sp>
        <p:nvSpPr>
          <p:cNvPr id="46" name="Shape 44"/>
          <p:cNvSpPr/>
          <p:nvPr/>
        </p:nvSpPr>
        <p:spPr>
          <a:xfrm>
            <a:off x="6949440" y="3657600"/>
            <a:ext cx="1106424" cy="246888"/>
          </a:xfrm>
          <a:prstGeom prst="roundRect">
            <a:avLst>
              <a:gd name="adj" fmla="val 44444"/>
            </a:avLst>
          </a:prstGeom>
          <a:solidFill>
            <a:srgbClr val="EAF8ED"/>
          </a:solidFill>
          <a:ln w="6350">
            <a:solidFill>
              <a:srgbClr val="3DCD58">
                <a:alpha val="45000"/>
              </a:srgbClr>
            </a:solidFill>
            <a:prstDash val="solid"/>
          </a:ln>
        </p:spPr>
      </p:sp>
      <p:sp>
        <p:nvSpPr>
          <p:cNvPr id="47" name="Text 45"/>
          <p:cNvSpPr/>
          <p:nvPr/>
        </p:nvSpPr>
        <p:spPr>
          <a:xfrm>
            <a:off x="6949440" y="3657600"/>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007A27"/>
                </a:solidFill>
                <a:latin typeface="Calibri" pitchFamily="34" charset="0"/>
                <a:ea typeface="Calibri" pitchFamily="34" charset="-122"/>
                <a:cs typeface="Calibri" pitchFamily="34" charset="-120"/>
              </a:rPr>
              <a:t>Embedded</a:t>
            </a:r>
            <a:endParaRPr lang="en-US" sz="770" dirty="0"/>
          </a:p>
        </p:txBody>
      </p:sp>
      <p:sp>
        <p:nvSpPr>
          <p:cNvPr id="48" name="Shape 46"/>
          <p:cNvSpPr/>
          <p:nvPr/>
        </p:nvSpPr>
        <p:spPr>
          <a:xfrm>
            <a:off x="8165592" y="3493008"/>
            <a:ext cx="3657600" cy="566928"/>
          </a:xfrm>
          <a:prstGeom prst="rect">
            <a:avLst/>
          </a:prstGeom>
          <a:solidFill>
            <a:srgbClr val="FFFFFF"/>
          </a:solidFill>
          <a:ln w="5715">
            <a:solidFill>
              <a:srgbClr val="E2E6E2"/>
            </a:solidFill>
            <a:prstDash val="solid"/>
          </a:ln>
        </p:spPr>
      </p:sp>
      <p:sp>
        <p:nvSpPr>
          <p:cNvPr id="49" name="Text 47"/>
          <p:cNvSpPr/>
          <p:nvPr/>
        </p:nvSpPr>
        <p:spPr>
          <a:xfrm>
            <a:off x="8257032" y="3566160"/>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EU compliance and supplier intelligence specialist</a:t>
            </a:r>
            <a:endParaRPr lang="en-US" sz="810" dirty="0"/>
          </a:p>
        </p:txBody>
      </p:sp>
      <p:sp>
        <p:nvSpPr>
          <p:cNvPr id="50" name="Shape 48"/>
          <p:cNvSpPr/>
          <p:nvPr/>
        </p:nvSpPr>
        <p:spPr>
          <a:xfrm>
            <a:off x="621792" y="4059936"/>
            <a:ext cx="1051560" cy="566928"/>
          </a:xfrm>
          <a:prstGeom prst="rect">
            <a:avLst/>
          </a:prstGeom>
          <a:solidFill>
            <a:srgbClr val="F1F3F2"/>
          </a:solidFill>
          <a:ln w="5715">
            <a:solidFill>
              <a:srgbClr val="E2E6E2"/>
            </a:solidFill>
            <a:prstDash val="solid"/>
          </a:ln>
        </p:spPr>
      </p:sp>
      <p:sp>
        <p:nvSpPr>
          <p:cNvPr id="51" name="Text 49"/>
          <p:cNvSpPr/>
          <p:nvPr/>
        </p:nvSpPr>
        <p:spPr>
          <a:xfrm>
            <a:off x="713232" y="4133088"/>
            <a:ext cx="868680" cy="420624"/>
          </a:xfrm>
          <a:prstGeom prst="rect">
            <a:avLst/>
          </a:prstGeom>
          <a:noFill/>
          <a:ln/>
        </p:spPr>
        <p:txBody>
          <a:bodyPr wrap="square" lIns="0" tIns="0" rIns="0" bIns="0" rtlCol="0" anchor="ctr">
            <a:normAutofit/>
          </a:bodyPr>
          <a:lstStyle/>
          <a:p>
            <a:pPr indent="0" marL="0">
              <a:buNone/>
            </a:pPr>
            <a:r>
              <a:rPr lang="en-US" sz="920" b="1" dirty="0">
                <a:solidFill>
                  <a:srgbClr val="1E2420"/>
                </a:solidFill>
                <a:latin typeface="Calibri" pitchFamily="34" charset="0"/>
                <a:ea typeface="Calibri" pitchFamily="34" charset="-122"/>
                <a:cs typeface="Calibri" pitchFamily="34" charset="-120"/>
              </a:rPr>
              <a:t>Arcadia</a:t>
            </a:r>
            <a:endParaRPr lang="en-US" sz="920" dirty="0"/>
          </a:p>
        </p:txBody>
      </p:sp>
      <p:sp>
        <p:nvSpPr>
          <p:cNvPr id="52" name="Shape 50"/>
          <p:cNvSpPr/>
          <p:nvPr/>
        </p:nvSpPr>
        <p:spPr>
          <a:xfrm>
            <a:off x="1673352" y="4059936"/>
            <a:ext cx="1417320" cy="566928"/>
          </a:xfrm>
          <a:prstGeom prst="rect">
            <a:avLst/>
          </a:prstGeom>
          <a:solidFill>
            <a:srgbClr val="F1F3F2"/>
          </a:solidFill>
          <a:ln w="5715">
            <a:solidFill>
              <a:srgbClr val="E2E6E2"/>
            </a:solidFill>
            <a:prstDash val="solid"/>
          </a:ln>
        </p:spPr>
      </p:sp>
      <p:sp>
        <p:nvSpPr>
          <p:cNvPr id="53" name="Text 51"/>
          <p:cNvSpPr/>
          <p:nvPr/>
        </p:nvSpPr>
        <p:spPr>
          <a:xfrm>
            <a:off x="1764792" y="4133088"/>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Custom quote</a:t>
            </a:r>
            <a:endParaRPr lang="en-US" sz="810" dirty="0"/>
          </a:p>
        </p:txBody>
      </p:sp>
      <p:sp>
        <p:nvSpPr>
          <p:cNvPr id="54" name="Shape 52"/>
          <p:cNvSpPr/>
          <p:nvPr/>
        </p:nvSpPr>
        <p:spPr>
          <a:xfrm>
            <a:off x="3090672" y="4059936"/>
            <a:ext cx="3749040" cy="566928"/>
          </a:xfrm>
          <a:prstGeom prst="rect">
            <a:avLst/>
          </a:prstGeom>
          <a:solidFill>
            <a:srgbClr val="F1F3F2"/>
          </a:solidFill>
          <a:ln w="5715">
            <a:solidFill>
              <a:srgbClr val="E2E6E2"/>
            </a:solidFill>
            <a:prstDash val="solid"/>
          </a:ln>
        </p:spPr>
      </p:sp>
      <p:sp>
        <p:nvSpPr>
          <p:cNvPr id="55" name="Text 53"/>
          <p:cNvSpPr/>
          <p:nvPr/>
        </p:nvSpPr>
        <p:spPr>
          <a:xfrm>
            <a:off x="3182112" y="4133088"/>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Focused: utility data, energy intelligence and Scope 1 and 2 enablement</a:t>
            </a:r>
            <a:endParaRPr lang="en-US" sz="810" dirty="0"/>
          </a:p>
        </p:txBody>
      </p:sp>
      <p:sp>
        <p:nvSpPr>
          <p:cNvPr id="56" name="Shape 54"/>
          <p:cNvSpPr/>
          <p:nvPr/>
        </p:nvSpPr>
        <p:spPr>
          <a:xfrm>
            <a:off x="6839712" y="4059936"/>
            <a:ext cx="1325880" cy="566928"/>
          </a:xfrm>
          <a:prstGeom prst="rect">
            <a:avLst/>
          </a:prstGeom>
          <a:solidFill>
            <a:srgbClr val="F1F3F2"/>
          </a:solidFill>
          <a:ln w="5715">
            <a:solidFill>
              <a:srgbClr val="E2E6E2"/>
            </a:solidFill>
            <a:prstDash val="solid"/>
          </a:ln>
        </p:spPr>
      </p:sp>
      <p:sp>
        <p:nvSpPr>
          <p:cNvPr id="57" name="Shape 55"/>
          <p:cNvSpPr/>
          <p:nvPr/>
        </p:nvSpPr>
        <p:spPr>
          <a:xfrm>
            <a:off x="6949440" y="4224528"/>
            <a:ext cx="1106424" cy="246888"/>
          </a:xfrm>
          <a:prstGeom prst="roundRect">
            <a:avLst>
              <a:gd name="adj" fmla="val 44444"/>
            </a:avLst>
          </a:prstGeom>
          <a:solidFill>
            <a:srgbClr val="EAF8ED"/>
          </a:solidFill>
          <a:ln w="6350">
            <a:solidFill>
              <a:srgbClr val="3DCD58">
                <a:alpha val="45000"/>
              </a:srgbClr>
            </a:solidFill>
            <a:prstDash val="solid"/>
          </a:ln>
        </p:spPr>
      </p:sp>
      <p:sp>
        <p:nvSpPr>
          <p:cNvPr id="58" name="Text 56"/>
          <p:cNvSpPr/>
          <p:nvPr/>
        </p:nvSpPr>
        <p:spPr>
          <a:xfrm>
            <a:off x="6949440" y="4224528"/>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007A27"/>
                </a:solidFill>
                <a:latin typeface="Calibri" pitchFamily="34" charset="0"/>
                <a:ea typeface="Calibri" pitchFamily="34" charset="-122"/>
                <a:cs typeface="Calibri" pitchFamily="34" charset="-120"/>
              </a:rPr>
              <a:t>Expanding</a:t>
            </a:r>
            <a:endParaRPr lang="en-US" sz="770" dirty="0"/>
          </a:p>
        </p:txBody>
      </p:sp>
      <p:sp>
        <p:nvSpPr>
          <p:cNvPr id="59" name="Shape 57"/>
          <p:cNvSpPr/>
          <p:nvPr/>
        </p:nvSpPr>
        <p:spPr>
          <a:xfrm>
            <a:off x="8165592" y="4059936"/>
            <a:ext cx="3657600" cy="566928"/>
          </a:xfrm>
          <a:prstGeom prst="rect">
            <a:avLst/>
          </a:prstGeom>
          <a:solidFill>
            <a:srgbClr val="F1F3F2"/>
          </a:solidFill>
          <a:ln w="5715">
            <a:solidFill>
              <a:srgbClr val="E2E6E2"/>
            </a:solidFill>
            <a:prstDash val="solid"/>
          </a:ln>
        </p:spPr>
      </p:sp>
      <p:sp>
        <p:nvSpPr>
          <p:cNvPr id="60" name="Text 58"/>
          <p:cNvSpPr/>
          <p:nvPr/>
        </p:nvSpPr>
        <p:spPr>
          <a:xfrm>
            <a:off x="8257032" y="4133088"/>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Deep energy data infrastructure</a:t>
            </a:r>
            <a:endParaRPr lang="en-US" sz="810" dirty="0"/>
          </a:p>
        </p:txBody>
      </p:sp>
      <p:sp>
        <p:nvSpPr>
          <p:cNvPr id="61" name="Shape 59"/>
          <p:cNvSpPr/>
          <p:nvPr/>
        </p:nvSpPr>
        <p:spPr>
          <a:xfrm>
            <a:off x="621792" y="4626864"/>
            <a:ext cx="1051560" cy="566928"/>
          </a:xfrm>
          <a:prstGeom prst="rect">
            <a:avLst/>
          </a:prstGeom>
          <a:solidFill>
            <a:srgbClr val="FFFFFF"/>
          </a:solidFill>
          <a:ln w="5715">
            <a:solidFill>
              <a:srgbClr val="E2E6E2"/>
            </a:solidFill>
            <a:prstDash val="solid"/>
          </a:ln>
        </p:spPr>
      </p:sp>
      <p:sp>
        <p:nvSpPr>
          <p:cNvPr id="62" name="Text 60"/>
          <p:cNvSpPr/>
          <p:nvPr/>
        </p:nvSpPr>
        <p:spPr>
          <a:xfrm>
            <a:off x="713232" y="4700016"/>
            <a:ext cx="868680" cy="420624"/>
          </a:xfrm>
          <a:prstGeom prst="rect">
            <a:avLst/>
          </a:prstGeom>
          <a:noFill/>
          <a:ln/>
        </p:spPr>
        <p:txBody>
          <a:bodyPr wrap="square" lIns="0" tIns="0" rIns="0" bIns="0" rtlCol="0" anchor="ctr">
            <a:normAutofit/>
          </a:bodyPr>
          <a:lstStyle/>
          <a:p>
            <a:pPr indent="0" marL="0">
              <a:buNone/>
            </a:pPr>
            <a:r>
              <a:rPr lang="en-US" sz="920" b="1" dirty="0">
                <a:solidFill>
                  <a:srgbClr val="1E2420"/>
                </a:solidFill>
                <a:latin typeface="Calibri" pitchFamily="34" charset="0"/>
                <a:ea typeface="Calibri" pitchFamily="34" charset="-122"/>
                <a:cs typeface="Calibri" pitchFamily="34" charset="-120"/>
              </a:rPr>
              <a:t>Deepki</a:t>
            </a:r>
            <a:endParaRPr lang="en-US" sz="920" dirty="0"/>
          </a:p>
        </p:txBody>
      </p:sp>
      <p:sp>
        <p:nvSpPr>
          <p:cNvPr id="63" name="Shape 61"/>
          <p:cNvSpPr/>
          <p:nvPr/>
        </p:nvSpPr>
        <p:spPr>
          <a:xfrm>
            <a:off x="1673352" y="4626864"/>
            <a:ext cx="1417320" cy="566928"/>
          </a:xfrm>
          <a:prstGeom prst="rect">
            <a:avLst/>
          </a:prstGeom>
          <a:solidFill>
            <a:srgbClr val="FFFFFF"/>
          </a:solidFill>
          <a:ln w="5715">
            <a:solidFill>
              <a:srgbClr val="E2E6E2"/>
            </a:solidFill>
            <a:prstDash val="solid"/>
          </a:ln>
        </p:spPr>
      </p:sp>
      <p:sp>
        <p:nvSpPr>
          <p:cNvPr id="64" name="Text 62"/>
          <p:cNvSpPr/>
          <p:nvPr/>
        </p:nvSpPr>
        <p:spPr>
          <a:xfrm>
            <a:off x="1764792" y="4700016"/>
            <a:ext cx="123444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Not publicly disclosed</a:t>
            </a:r>
            <a:endParaRPr lang="en-US" sz="810" dirty="0"/>
          </a:p>
        </p:txBody>
      </p:sp>
      <p:sp>
        <p:nvSpPr>
          <p:cNvPr id="65" name="Shape 63"/>
          <p:cNvSpPr/>
          <p:nvPr/>
        </p:nvSpPr>
        <p:spPr>
          <a:xfrm>
            <a:off x="3090672" y="4626864"/>
            <a:ext cx="3749040" cy="566928"/>
          </a:xfrm>
          <a:prstGeom prst="rect">
            <a:avLst/>
          </a:prstGeom>
          <a:solidFill>
            <a:srgbClr val="FFFFFF"/>
          </a:solidFill>
          <a:ln w="5715">
            <a:solidFill>
              <a:srgbClr val="E2E6E2"/>
            </a:solidFill>
            <a:prstDash val="solid"/>
          </a:ln>
        </p:spPr>
      </p:sp>
      <p:sp>
        <p:nvSpPr>
          <p:cNvPr id="66" name="Text 64"/>
          <p:cNvSpPr/>
          <p:nvPr/>
        </p:nvSpPr>
        <p:spPr>
          <a:xfrm>
            <a:off x="3182112" y="4700016"/>
            <a:ext cx="3566160" cy="420624"/>
          </a:xfrm>
          <a:prstGeom prst="rect">
            <a:avLst/>
          </a:prstGeom>
          <a:noFill/>
          <a:ln/>
        </p:spPr>
        <p:txBody>
          <a:bodyPr wrap="square" lIns="0" tIns="0" rIns="0" bIns="0" rtlCol="0" anchor="ctr">
            <a:normAutofit/>
          </a:bodyPr>
          <a:lstStyle/>
          <a:p>
            <a:pPr indent="0" marL="0">
              <a:buNone/>
            </a:pPr>
            <a:r>
              <a:rPr lang="en-US" sz="810" dirty="0">
                <a:solidFill>
                  <a:srgbClr val="1E2420"/>
                </a:solidFill>
                <a:latin typeface="Calibri" pitchFamily="34" charset="0"/>
                <a:ea typeface="Calibri" pitchFamily="34" charset="-122"/>
                <a:cs typeface="Calibri" pitchFamily="34" charset="-120"/>
              </a:rPr>
              <a:t>Focused: real estate ESG, energy performance and climate risk</a:t>
            </a:r>
            <a:endParaRPr lang="en-US" sz="810" dirty="0"/>
          </a:p>
        </p:txBody>
      </p:sp>
      <p:sp>
        <p:nvSpPr>
          <p:cNvPr id="67" name="Shape 65"/>
          <p:cNvSpPr/>
          <p:nvPr/>
        </p:nvSpPr>
        <p:spPr>
          <a:xfrm>
            <a:off x="6839712" y="4626864"/>
            <a:ext cx="1325880" cy="566928"/>
          </a:xfrm>
          <a:prstGeom prst="rect">
            <a:avLst/>
          </a:prstGeom>
          <a:solidFill>
            <a:srgbClr val="FFFFFF"/>
          </a:solidFill>
          <a:ln w="5715">
            <a:solidFill>
              <a:srgbClr val="E2E6E2"/>
            </a:solidFill>
            <a:prstDash val="solid"/>
          </a:ln>
        </p:spPr>
      </p:sp>
      <p:sp>
        <p:nvSpPr>
          <p:cNvPr id="68" name="Shape 66"/>
          <p:cNvSpPr/>
          <p:nvPr/>
        </p:nvSpPr>
        <p:spPr>
          <a:xfrm>
            <a:off x="6949440" y="4791456"/>
            <a:ext cx="1106424" cy="246888"/>
          </a:xfrm>
          <a:prstGeom prst="roundRect">
            <a:avLst>
              <a:gd name="adj" fmla="val 44444"/>
            </a:avLst>
          </a:prstGeom>
          <a:solidFill>
            <a:srgbClr val="EAF8ED"/>
          </a:solidFill>
          <a:ln w="6350">
            <a:solidFill>
              <a:srgbClr val="3DCD58">
                <a:alpha val="45000"/>
              </a:srgbClr>
            </a:solidFill>
            <a:prstDash val="solid"/>
          </a:ln>
        </p:spPr>
      </p:sp>
      <p:sp>
        <p:nvSpPr>
          <p:cNvPr id="69" name="Text 67"/>
          <p:cNvSpPr/>
          <p:nvPr/>
        </p:nvSpPr>
        <p:spPr>
          <a:xfrm>
            <a:off x="6949440" y="4791456"/>
            <a:ext cx="1106424" cy="246888"/>
          </a:xfrm>
          <a:prstGeom prst="rect">
            <a:avLst/>
          </a:prstGeom>
          <a:noFill/>
          <a:ln/>
        </p:spPr>
        <p:txBody>
          <a:bodyPr wrap="square" lIns="0" tIns="0" rIns="0" bIns="0" rtlCol="0" anchor="ctr">
            <a:normAutofit/>
          </a:bodyPr>
          <a:lstStyle/>
          <a:p>
            <a:pPr algn="ctr" indent="0" marL="0">
              <a:buNone/>
            </a:pPr>
            <a:r>
              <a:rPr lang="en-US" sz="770" b="1" dirty="0">
                <a:solidFill>
                  <a:srgbClr val="007A27"/>
                </a:solidFill>
                <a:latin typeface="Calibri" pitchFamily="34" charset="0"/>
                <a:ea typeface="Calibri" pitchFamily="34" charset="-122"/>
                <a:cs typeface="Calibri" pitchFamily="34" charset="-120"/>
              </a:rPr>
              <a:t>Expanding</a:t>
            </a:r>
            <a:endParaRPr lang="en-US" sz="770" dirty="0"/>
          </a:p>
        </p:txBody>
      </p:sp>
      <p:sp>
        <p:nvSpPr>
          <p:cNvPr id="70" name="Shape 68"/>
          <p:cNvSpPr/>
          <p:nvPr/>
        </p:nvSpPr>
        <p:spPr>
          <a:xfrm>
            <a:off x="8165592" y="4626864"/>
            <a:ext cx="3657600" cy="566928"/>
          </a:xfrm>
          <a:prstGeom prst="rect">
            <a:avLst/>
          </a:prstGeom>
          <a:solidFill>
            <a:srgbClr val="FFFFFF"/>
          </a:solidFill>
          <a:ln w="5715">
            <a:solidFill>
              <a:srgbClr val="E2E6E2"/>
            </a:solidFill>
            <a:prstDash val="solid"/>
          </a:ln>
        </p:spPr>
      </p:sp>
      <p:sp>
        <p:nvSpPr>
          <p:cNvPr id="71" name="Text 69"/>
          <p:cNvSpPr/>
          <p:nvPr/>
        </p:nvSpPr>
        <p:spPr>
          <a:xfrm>
            <a:off x="8257032" y="4700016"/>
            <a:ext cx="3474720" cy="420624"/>
          </a:xfrm>
          <a:prstGeom prst="rect">
            <a:avLst/>
          </a:prstGeom>
          <a:noFill/>
          <a:ln/>
        </p:spPr>
        <p:txBody>
          <a:bodyPr wrap="square" lIns="0" tIns="0" rIns="0" bIns="0" rtlCol="0" anchor="ctr">
            <a:normAutofit/>
          </a:bodyPr>
          <a:lstStyle/>
          <a:p>
            <a:pPr indent="0" marL="0">
              <a:buNone/>
            </a:pPr>
            <a:r>
              <a:rPr lang="en-US" sz="810" b="1" dirty="0">
                <a:solidFill>
                  <a:srgbClr val="1E2420"/>
                </a:solidFill>
                <a:latin typeface="Calibri" pitchFamily="34" charset="0"/>
                <a:ea typeface="Calibri" pitchFamily="34" charset="-122"/>
                <a:cs typeface="Calibri" pitchFamily="34" charset="-120"/>
              </a:rPr>
              <a:t>Deep built-environment specialization</a:t>
            </a:r>
            <a:endParaRPr lang="en-US" sz="810" dirty="0"/>
          </a:p>
        </p:txBody>
      </p:sp>
      <p:sp>
        <p:nvSpPr>
          <p:cNvPr id="72" name="Shape 70"/>
          <p:cNvSpPr/>
          <p:nvPr/>
        </p:nvSpPr>
        <p:spPr>
          <a:xfrm>
            <a:off x="621792" y="5376672"/>
            <a:ext cx="10948111" cy="612648"/>
          </a:xfrm>
          <a:prstGeom prst="roundRect">
            <a:avLst>
              <a:gd name="adj" fmla="val 5970"/>
            </a:avLst>
          </a:prstGeom>
          <a:solidFill>
            <a:srgbClr val="005730"/>
          </a:solidFill>
          <a:ln w="12700">
            <a:solidFill>
              <a:srgbClr val="005730"/>
            </a:solidFill>
            <a:prstDash val="solid"/>
          </a:ln>
        </p:spPr>
      </p:sp>
      <p:sp>
        <p:nvSpPr>
          <p:cNvPr id="73" name="Shape 71"/>
          <p:cNvSpPr/>
          <p:nvPr/>
        </p:nvSpPr>
        <p:spPr>
          <a:xfrm>
            <a:off x="621792" y="5376672"/>
            <a:ext cx="1508760" cy="612648"/>
          </a:xfrm>
          <a:prstGeom prst="rect">
            <a:avLst/>
          </a:prstGeom>
          <a:solidFill>
            <a:srgbClr val="3DCD58"/>
          </a:solidFill>
          <a:ln w="12700">
            <a:solidFill>
              <a:srgbClr val="3DCD58"/>
            </a:solidFill>
            <a:prstDash val="solid"/>
          </a:ln>
        </p:spPr>
      </p:sp>
      <p:sp>
        <p:nvSpPr>
          <p:cNvPr id="74" name="Text 72"/>
          <p:cNvSpPr/>
          <p:nvPr/>
        </p:nvSpPr>
        <p:spPr>
          <a:xfrm>
            <a:off x="740664" y="5376672"/>
            <a:ext cx="1271016" cy="612648"/>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5" name="Text 73"/>
          <p:cNvSpPr/>
          <p:nvPr/>
        </p:nvSpPr>
        <p:spPr>
          <a:xfrm>
            <a:off x="2322576" y="5449824"/>
            <a:ext cx="9046159" cy="466344"/>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Win where clients value one accountable platform across sustainability, energy and efficiency. Close the gap on visible AI workflow maturity and prove lower total cost through shared data, calculations and assurance.</a:t>
            </a:r>
            <a:endParaRPr lang="en-US" sz="950" dirty="0"/>
          </a:p>
        </p:txBody>
      </p:sp>
      <p:sp>
        <p:nvSpPr>
          <p:cNvPr id="76" name="Text 74"/>
          <p:cNvSpPr/>
          <p:nvPr/>
        </p:nvSpPr>
        <p:spPr>
          <a:xfrm>
            <a:off x="621792" y="6080760"/>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Public vendor materials reviewed September 2026. Price indicates public transparency and buying model, not relative contract value. AI maturity reflects evidenced product capabilities, not vendor claims alone.</a:t>
            </a:r>
            <a:endParaRPr lang="en-US" sz="720" dirty="0"/>
          </a:p>
        </p:txBody>
      </p:sp>
      <p:sp>
        <p:nvSpPr>
          <p:cNvPr id="77" name="Shape 75"/>
          <p:cNvSpPr/>
          <p:nvPr/>
        </p:nvSpPr>
        <p:spPr>
          <a:xfrm>
            <a:off x="621792" y="6437376"/>
            <a:ext cx="10948111" cy="0"/>
          </a:xfrm>
          <a:prstGeom prst="line">
            <a:avLst/>
          </a:prstGeom>
          <a:noFill/>
          <a:ln w="9525">
            <a:solidFill>
              <a:srgbClr val="E2E6E2"/>
            </a:solidFill>
            <a:prstDash val="solid"/>
          </a:ln>
        </p:spPr>
      </p:sp>
      <p:sp>
        <p:nvSpPr>
          <p:cNvPr id="78" name="Text 7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9" name="Text 7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3B25"/>
        </a:solidFill>
      </p:bgPr>
    </p:bg>
    <p:spTree>
      <p:nvGrpSpPr>
        <p:cNvPr id="1" name=""/>
        <p:cNvGrpSpPr/>
        <p:nvPr/>
      </p:nvGrpSpPr>
      <p:grpSpPr>
        <a:xfrm>
          <a:off x="0" y="0"/>
          <a:ext cx="0" cy="0"/>
          <a:chOff x="0" y="0"/>
          <a:chExt cx="0" cy="0"/>
        </a:xfrm>
      </p:grpSpPr>
      <p:sp>
        <p:nvSpPr>
          <p:cNvPr id="2" name="Shape 0"/>
          <p:cNvSpPr/>
          <p:nvPr/>
        </p:nvSpPr>
        <p:spPr>
          <a:xfrm>
            <a:off x="621792" y="320040"/>
            <a:ext cx="2651760" cy="292608"/>
          </a:xfrm>
          <a:prstGeom prst="roundRect">
            <a:avLst>
              <a:gd name="adj" fmla="val 50000"/>
            </a:avLst>
          </a:prstGeom>
          <a:solidFill>
            <a:srgbClr val="0C3B25"/>
          </a:solidFill>
          <a:ln w="12700">
            <a:solidFill>
              <a:srgbClr val="CDFC57"/>
            </a:solidFill>
            <a:prstDash val="solid"/>
          </a:ln>
        </p:spPr>
      </p:sp>
      <p:sp>
        <p:nvSpPr>
          <p:cNvPr id="3" name="Text 1"/>
          <p:cNvSpPr/>
          <p:nvPr/>
        </p:nvSpPr>
        <p:spPr>
          <a:xfrm>
            <a:off x="621792" y="320040"/>
            <a:ext cx="2651760" cy="292608"/>
          </a:xfrm>
          <a:prstGeom prst="rect">
            <a:avLst/>
          </a:prstGeom>
          <a:noFill/>
          <a:ln/>
        </p:spPr>
        <p:txBody>
          <a:bodyPr wrap="square" lIns="0" tIns="0" rIns="0" bIns="0" rtlCol="0" anchor="ctr"/>
          <a:lstStyle/>
          <a:p>
            <a:pPr algn="ctr" indent="0" marL="0">
              <a:buNone/>
            </a:pPr>
            <a:r>
              <a:rPr lang="en-US" sz="900" b="1" spc="180" kern="0" dirty="0">
                <a:solidFill>
                  <a:srgbClr val="CDFC57"/>
                </a:solidFill>
                <a:latin typeface="Calibri" pitchFamily="34" charset="0"/>
                <a:ea typeface="Calibri" pitchFamily="34" charset="-122"/>
                <a:cs typeface="Calibri" pitchFamily="34" charset="-120"/>
              </a:rPr>
              <a:t>Competitive roadmap | 2026 to 2028</a:t>
            </a:r>
            <a:endParaRPr lang="en-US" sz="900" dirty="0"/>
          </a:p>
        </p:txBody>
      </p:sp>
      <p:sp>
        <p:nvSpPr>
          <p:cNvPr id="4" name="Text 2"/>
          <p:cNvSpPr/>
          <p:nvPr/>
        </p:nvSpPr>
        <p:spPr>
          <a:xfrm>
            <a:off x="621792" y="731520"/>
            <a:ext cx="10948111" cy="502920"/>
          </a:xfrm>
          <a:prstGeom prst="rect">
            <a:avLst/>
          </a:prstGeom>
          <a:noFill/>
          <a:ln/>
        </p:spPr>
        <p:txBody>
          <a:bodyPr wrap="square" lIns="0" tIns="0" rIns="0" bIns="0"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Where we lead, and where rivals catch up</a:t>
            </a:r>
            <a:endParaRPr lang="en-US" sz="2300" dirty="0"/>
          </a:p>
        </p:txBody>
      </p:sp>
      <p:sp>
        <p:nvSpPr>
          <p:cNvPr id="5" name="Text 3"/>
          <p:cNvSpPr/>
          <p:nvPr/>
        </p:nvSpPr>
        <p:spPr>
          <a:xfrm>
            <a:off x="621792" y="1280160"/>
            <a:ext cx="10424160" cy="365760"/>
          </a:xfrm>
          <a:prstGeom prst="rect">
            <a:avLst/>
          </a:prstGeom>
          <a:noFill/>
          <a:ln/>
        </p:spPr>
        <p:txBody>
          <a:bodyPr wrap="square" lIns="0" tIns="0" rIns="0" bIns="0" rtlCol="0" anchor="t">
            <a:normAutofit/>
          </a:bodyPr>
          <a:lstStyle/>
          <a:p>
            <a:pPr indent="0" marL="0">
              <a:buNone/>
            </a:pPr>
            <a:r>
              <a:rPr lang="en-US" sz="1050" dirty="0">
                <a:solidFill>
                  <a:srgbClr val="BFD9C9"/>
                </a:solidFill>
                <a:latin typeface="Calibri" pitchFamily="34" charset="0"/>
                <a:ea typeface="Calibri" pitchFamily="34" charset="-122"/>
                <a:cs typeface="Calibri" pitchFamily="34" charset="-120"/>
              </a:rPr>
              <a:t>This comparison focuses on sustainability rivals; energy management competitors are covered separately. Our three year plan against the direction of travel visible in competitor public product roadmaps and market commentary. Competitor columns are directional, not committed dates.</a:t>
            </a:r>
            <a:endParaRPr lang="en-US" sz="1050" dirty="0"/>
          </a:p>
        </p:txBody>
      </p:sp>
      <p:sp>
        <p:nvSpPr>
          <p:cNvPr id="6" name="Shape 4"/>
          <p:cNvSpPr/>
          <p:nvPr/>
        </p:nvSpPr>
        <p:spPr>
          <a:xfrm>
            <a:off x="2569464" y="2167128"/>
            <a:ext cx="2744114" cy="0"/>
          </a:xfrm>
          <a:prstGeom prst="line">
            <a:avLst/>
          </a:prstGeom>
          <a:noFill/>
          <a:ln w="10160">
            <a:solidFill>
              <a:srgbClr val="5E806E"/>
            </a:solidFill>
            <a:prstDash val="solid"/>
          </a:ln>
        </p:spPr>
      </p:sp>
      <p:sp>
        <p:nvSpPr>
          <p:cNvPr id="7" name="Shape 5"/>
          <p:cNvSpPr/>
          <p:nvPr/>
        </p:nvSpPr>
        <p:spPr>
          <a:xfrm>
            <a:off x="2569464" y="1783080"/>
            <a:ext cx="713232" cy="274320"/>
          </a:xfrm>
          <a:prstGeom prst="roundRect">
            <a:avLst>
              <a:gd name="adj" fmla="val 13333"/>
            </a:avLst>
          </a:prstGeom>
          <a:solidFill>
            <a:srgbClr val="0C3B25"/>
          </a:solidFill>
          <a:ln w="12700">
            <a:solidFill>
              <a:srgbClr val="CDFC57"/>
            </a:solidFill>
            <a:prstDash val="solid"/>
          </a:ln>
        </p:spPr>
      </p:sp>
      <p:sp>
        <p:nvSpPr>
          <p:cNvPr id="8" name="Text 6"/>
          <p:cNvSpPr/>
          <p:nvPr/>
        </p:nvSpPr>
        <p:spPr>
          <a:xfrm>
            <a:off x="2569464" y="1783080"/>
            <a:ext cx="713232" cy="274320"/>
          </a:xfrm>
          <a:prstGeom prst="rect">
            <a:avLst/>
          </a:prstGeom>
          <a:noFill/>
          <a:ln/>
        </p:spPr>
        <p:txBody>
          <a:bodyPr wrap="square" lIns="0" tIns="0" rIns="0" bIns="0" rtlCol="0" anchor="ctr"/>
          <a:lstStyle/>
          <a:p>
            <a:pPr algn="ctr" indent="0" marL="0">
              <a:buNone/>
            </a:pPr>
            <a:r>
              <a:rPr lang="en-US" sz="950" b="1" dirty="0">
                <a:solidFill>
                  <a:srgbClr val="CDFC57"/>
                </a:solidFill>
                <a:latin typeface="Calibri" pitchFamily="34" charset="0"/>
                <a:ea typeface="Calibri" pitchFamily="34" charset="-122"/>
                <a:cs typeface="Calibri" pitchFamily="34" charset="-120"/>
              </a:rPr>
              <a:t>2026</a:t>
            </a:r>
            <a:endParaRPr lang="en-US" sz="950" dirty="0"/>
          </a:p>
        </p:txBody>
      </p:sp>
      <p:sp>
        <p:nvSpPr>
          <p:cNvPr id="9" name="Text 7"/>
          <p:cNvSpPr/>
          <p:nvPr/>
        </p:nvSpPr>
        <p:spPr>
          <a:xfrm>
            <a:off x="3392424" y="1783080"/>
            <a:ext cx="1921154" cy="27432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Foundations</a:t>
            </a:r>
            <a:endParaRPr lang="en-US" sz="1150" dirty="0"/>
          </a:p>
        </p:txBody>
      </p:sp>
      <p:sp>
        <p:nvSpPr>
          <p:cNvPr id="10" name="Shape 8"/>
          <p:cNvSpPr/>
          <p:nvPr/>
        </p:nvSpPr>
        <p:spPr>
          <a:xfrm>
            <a:off x="5569610" y="2167128"/>
            <a:ext cx="2744114" cy="0"/>
          </a:xfrm>
          <a:prstGeom prst="line">
            <a:avLst/>
          </a:prstGeom>
          <a:noFill/>
          <a:ln w="10160">
            <a:solidFill>
              <a:srgbClr val="5E806E"/>
            </a:solidFill>
            <a:prstDash val="solid"/>
          </a:ln>
        </p:spPr>
      </p:sp>
      <p:sp>
        <p:nvSpPr>
          <p:cNvPr id="11" name="Shape 9"/>
          <p:cNvSpPr/>
          <p:nvPr/>
        </p:nvSpPr>
        <p:spPr>
          <a:xfrm>
            <a:off x="5569610" y="1783080"/>
            <a:ext cx="713232" cy="274320"/>
          </a:xfrm>
          <a:prstGeom prst="roundRect">
            <a:avLst>
              <a:gd name="adj" fmla="val 13333"/>
            </a:avLst>
          </a:prstGeom>
          <a:solidFill>
            <a:srgbClr val="0C3B25"/>
          </a:solidFill>
          <a:ln w="12700">
            <a:solidFill>
              <a:srgbClr val="CDFC57"/>
            </a:solidFill>
            <a:prstDash val="solid"/>
          </a:ln>
        </p:spPr>
      </p:sp>
      <p:sp>
        <p:nvSpPr>
          <p:cNvPr id="12" name="Text 10"/>
          <p:cNvSpPr/>
          <p:nvPr/>
        </p:nvSpPr>
        <p:spPr>
          <a:xfrm>
            <a:off x="5569610" y="1783080"/>
            <a:ext cx="713232" cy="274320"/>
          </a:xfrm>
          <a:prstGeom prst="rect">
            <a:avLst/>
          </a:prstGeom>
          <a:noFill/>
          <a:ln/>
        </p:spPr>
        <p:txBody>
          <a:bodyPr wrap="square" lIns="0" tIns="0" rIns="0" bIns="0" rtlCol="0" anchor="ctr"/>
          <a:lstStyle/>
          <a:p>
            <a:pPr algn="ctr" indent="0" marL="0">
              <a:buNone/>
            </a:pPr>
            <a:r>
              <a:rPr lang="en-US" sz="950" b="1" dirty="0">
                <a:solidFill>
                  <a:srgbClr val="CDFC57"/>
                </a:solidFill>
                <a:latin typeface="Calibri" pitchFamily="34" charset="0"/>
                <a:ea typeface="Calibri" pitchFamily="34" charset="-122"/>
                <a:cs typeface="Calibri" pitchFamily="34" charset="-120"/>
              </a:rPr>
              <a:t>2027</a:t>
            </a:r>
            <a:endParaRPr lang="en-US" sz="950" dirty="0"/>
          </a:p>
        </p:txBody>
      </p:sp>
      <p:sp>
        <p:nvSpPr>
          <p:cNvPr id="13" name="Text 11"/>
          <p:cNvSpPr/>
          <p:nvPr/>
        </p:nvSpPr>
        <p:spPr>
          <a:xfrm>
            <a:off x="6392570" y="1783080"/>
            <a:ext cx="1921154" cy="27432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Depth and trust</a:t>
            </a:r>
            <a:endParaRPr lang="en-US" sz="1150" dirty="0"/>
          </a:p>
        </p:txBody>
      </p:sp>
      <p:sp>
        <p:nvSpPr>
          <p:cNvPr id="14" name="Shape 12"/>
          <p:cNvSpPr/>
          <p:nvPr/>
        </p:nvSpPr>
        <p:spPr>
          <a:xfrm>
            <a:off x="8569757" y="2167128"/>
            <a:ext cx="2744114" cy="0"/>
          </a:xfrm>
          <a:prstGeom prst="line">
            <a:avLst/>
          </a:prstGeom>
          <a:noFill/>
          <a:ln w="10160">
            <a:solidFill>
              <a:srgbClr val="5E806E"/>
            </a:solidFill>
            <a:prstDash val="solid"/>
          </a:ln>
        </p:spPr>
      </p:sp>
      <p:sp>
        <p:nvSpPr>
          <p:cNvPr id="15" name="Shape 13"/>
          <p:cNvSpPr/>
          <p:nvPr/>
        </p:nvSpPr>
        <p:spPr>
          <a:xfrm>
            <a:off x="8569757" y="1783080"/>
            <a:ext cx="713232" cy="274320"/>
          </a:xfrm>
          <a:prstGeom prst="roundRect">
            <a:avLst>
              <a:gd name="adj" fmla="val 13333"/>
            </a:avLst>
          </a:prstGeom>
          <a:solidFill>
            <a:srgbClr val="0C3B25"/>
          </a:solidFill>
          <a:ln w="12700">
            <a:solidFill>
              <a:srgbClr val="CDFC57"/>
            </a:solidFill>
            <a:prstDash val="solid"/>
          </a:ln>
        </p:spPr>
      </p:sp>
      <p:sp>
        <p:nvSpPr>
          <p:cNvPr id="16" name="Text 14"/>
          <p:cNvSpPr/>
          <p:nvPr/>
        </p:nvSpPr>
        <p:spPr>
          <a:xfrm>
            <a:off x="8569757" y="1783080"/>
            <a:ext cx="713232" cy="274320"/>
          </a:xfrm>
          <a:prstGeom prst="rect">
            <a:avLst/>
          </a:prstGeom>
          <a:noFill/>
          <a:ln/>
        </p:spPr>
        <p:txBody>
          <a:bodyPr wrap="square" lIns="0" tIns="0" rIns="0" bIns="0" rtlCol="0" anchor="ctr"/>
          <a:lstStyle/>
          <a:p>
            <a:pPr algn="ctr" indent="0" marL="0">
              <a:buNone/>
            </a:pPr>
            <a:r>
              <a:rPr lang="en-US" sz="950" b="1" dirty="0">
                <a:solidFill>
                  <a:srgbClr val="CDFC57"/>
                </a:solidFill>
                <a:latin typeface="Calibri" pitchFamily="34" charset="0"/>
                <a:ea typeface="Calibri" pitchFamily="34" charset="-122"/>
                <a:cs typeface="Calibri" pitchFamily="34" charset="-120"/>
              </a:rPr>
              <a:t>2028 and beyond</a:t>
            </a:r>
            <a:endParaRPr lang="en-US" sz="950" dirty="0"/>
          </a:p>
        </p:txBody>
      </p:sp>
      <p:sp>
        <p:nvSpPr>
          <p:cNvPr id="17" name="Text 15"/>
          <p:cNvSpPr/>
          <p:nvPr/>
        </p:nvSpPr>
        <p:spPr>
          <a:xfrm>
            <a:off x="9392717" y="1783080"/>
            <a:ext cx="1921154" cy="274320"/>
          </a:xfrm>
          <a:prstGeom prst="rect">
            <a:avLst/>
          </a:prstGeom>
          <a:noFill/>
          <a:ln/>
        </p:spPr>
        <p:txBody>
          <a:bodyPr wrap="square" lIns="0" tIns="0" rIns="0" bIns="0" rtlCol="0" anchor="ctr">
            <a:normAutofit/>
          </a:bodyPr>
          <a:lstStyle/>
          <a:p>
            <a:pPr indent="0" marL="0">
              <a:buNone/>
            </a:pPr>
            <a:r>
              <a:rPr lang="en-US" sz="1150" b="1" dirty="0">
                <a:solidFill>
                  <a:srgbClr val="FFFFFF"/>
                </a:solidFill>
                <a:latin typeface="Calibri" pitchFamily="34" charset="0"/>
                <a:ea typeface="Calibri" pitchFamily="34" charset="-122"/>
                <a:cs typeface="Calibri" pitchFamily="34" charset="-120"/>
              </a:rPr>
              <a:t>Scale and intelligence</a:t>
            </a:r>
            <a:endParaRPr lang="en-US" sz="1150" dirty="0"/>
          </a:p>
        </p:txBody>
      </p:sp>
      <p:sp>
        <p:nvSpPr>
          <p:cNvPr id="18" name="Shape 16"/>
          <p:cNvSpPr/>
          <p:nvPr/>
        </p:nvSpPr>
        <p:spPr>
          <a:xfrm>
            <a:off x="640080" y="2450592"/>
            <a:ext cx="91440" cy="91440"/>
          </a:xfrm>
          <a:prstGeom prst="ellipse">
            <a:avLst/>
          </a:prstGeom>
          <a:solidFill>
            <a:srgbClr val="3DCD58"/>
          </a:solidFill>
          <a:ln w="12700">
            <a:solidFill>
              <a:srgbClr val="3DCD58"/>
            </a:solidFill>
            <a:prstDash val="solid"/>
          </a:ln>
        </p:spPr>
      </p:sp>
      <p:sp>
        <p:nvSpPr>
          <p:cNvPr id="19" name="Text 17"/>
          <p:cNvSpPr/>
          <p:nvPr/>
        </p:nvSpPr>
        <p:spPr>
          <a:xfrm>
            <a:off x="804672" y="2267712"/>
            <a:ext cx="1508760" cy="4572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RA+</a:t>
            </a:r>
            <a:endParaRPr lang="en-US" sz="1000" dirty="0"/>
          </a:p>
        </p:txBody>
      </p:sp>
      <p:sp>
        <p:nvSpPr>
          <p:cNvPr id="20" name="Shape 18"/>
          <p:cNvSpPr/>
          <p:nvPr/>
        </p:nvSpPr>
        <p:spPr>
          <a:xfrm>
            <a:off x="2569464" y="2267712"/>
            <a:ext cx="2744114" cy="457200"/>
          </a:xfrm>
          <a:prstGeom prst="roundRect">
            <a:avLst>
              <a:gd name="adj" fmla="val 10000"/>
            </a:avLst>
          </a:prstGeom>
          <a:solidFill>
            <a:srgbClr val="124A30"/>
          </a:solidFill>
          <a:ln w="9525">
            <a:solidFill>
              <a:srgbClr val="315D47"/>
            </a:solidFill>
            <a:prstDash val="solid"/>
          </a:ln>
        </p:spPr>
      </p:sp>
      <p:sp>
        <p:nvSpPr>
          <p:cNvPr id="21" name="Text 19"/>
          <p:cNvSpPr/>
          <p:nvPr/>
        </p:nvSpPr>
        <p:spPr>
          <a:xfrm>
            <a:off x="2697480" y="226771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One data spine: shared hierarchy, factors and calculation engine, plus consultant grade inventory</a:t>
            </a:r>
            <a:endParaRPr lang="en-US" sz="850" dirty="0"/>
          </a:p>
        </p:txBody>
      </p:sp>
      <p:sp>
        <p:nvSpPr>
          <p:cNvPr id="22" name="Shape 20"/>
          <p:cNvSpPr/>
          <p:nvPr/>
        </p:nvSpPr>
        <p:spPr>
          <a:xfrm>
            <a:off x="5569610" y="2267712"/>
            <a:ext cx="2744114" cy="457200"/>
          </a:xfrm>
          <a:prstGeom prst="roundRect">
            <a:avLst>
              <a:gd name="adj" fmla="val 10000"/>
            </a:avLst>
          </a:prstGeom>
          <a:solidFill>
            <a:srgbClr val="124A30"/>
          </a:solidFill>
          <a:ln w="9525">
            <a:solidFill>
              <a:srgbClr val="315D47"/>
            </a:solidFill>
            <a:prstDash val="solid"/>
          </a:ln>
        </p:spPr>
      </p:sp>
      <p:sp>
        <p:nvSpPr>
          <p:cNvPr id="23" name="Text 21"/>
          <p:cNvSpPr/>
          <p:nvPr/>
        </p:nvSpPr>
        <p:spPr>
          <a:xfrm>
            <a:off x="5697626" y="226771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Priced climate risk, product linked transport, cross product disclosure and AI assisted inventory</a:t>
            </a:r>
            <a:endParaRPr lang="en-US" sz="850" dirty="0"/>
          </a:p>
        </p:txBody>
      </p:sp>
      <p:sp>
        <p:nvSpPr>
          <p:cNvPr id="24" name="Shape 22"/>
          <p:cNvSpPr/>
          <p:nvPr/>
        </p:nvSpPr>
        <p:spPr>
          <a:xfrm>
            <a:off x="8569757" y="2267712"/>
            <a:ext cx="2744114" cy="457200"/>
          </a:xfrm>
          <a:prstGeom prst="roundRect">
            <a:avLst>
              <a:gd name="adj" fmla="val 10000"/>
            </a:avLst>
          </a:prstGeom>
          <a:solidFill>
            <a:srgbClr val="124A30"/>
          </a:solidFill>
          <a:ln w="9525">
            <a:solidFill>
              <a:srgbClr val="315D47"/>
            </a:solidFill>
            <a:prstDash val="solid"/>
          </a:ln>
        </p:spPr>
      </p:sp>
      <p:sp>
        <p:nvSpPr>
          <p:cNvPr id="25" name="Text 23"/>
          <p:cNvSpPr/>
          <p:nvPr/>
        </p:nvSpPr>
        <p:spPr>
          <a:xfrm>
            <a:off x="8697773" y="226771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Converged sustainability, energy and efficiency decisioning on one governed platform</a:t>
            </a:r>
            <a:endParaRPr lang="en-US" sz="850" dirty="0"/>
          </a:p>
        </p:txBody>
      </p:sp>
      <p:sp>
        <p:nvSpPr>
          <p:cNvPr id="26" name="Shape 24"/>
          <p:cNvSpPr/>
          <p:nvPr/>
        </p:nvSpPr>
        <p:spPr>
          <a:xfrm>
            <a:off x="640080" y="2999232"/>
            <a:ext cx="91440" cy="91440"/>
          </a:xfrm>
          <a:prstGeom prst="ellipse">
            <a:avLst/>
          </a:prstGeom>
          <a:solidFill>
            <a:srgbClr val="CDFC57"/>
          </a:solidFill>
          <a:ln w="12700">
            <a:solidFill>
              <a:srgbClr val="CDFC57"/>
            </a:solidFill>
            <a:prstDash val="solid"/>
          </a:ln>
        </p:spPr>
      </p:sp>
      <p:sp>
        <p:nvSpPr>
          <p:cNvPr id="27" name="Text 25"/>
          <p:cNvSpPr/>
          <p:nvPr/>
        </p:nvSpPr>
        <p:spPr>
          <a:xfrm>
            <a:off x="804672" y="2816352"/>
            <a:ext cx="1508760" cy="4572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Watershed</a:t>
            </a:r>
            <a:endParaRPr lang="en-US" sz="1000" dirty="0"/>
          </a:p>
        </p:txBody>
      </p:sp>
      <p:sp>
        <p:nvSpPr>
          <p:cNvPr id="28" name="Shape 26"/>
          <p:cNvSpPr/>
          <p:nvPr/>
        </p:nvSpPr>
        <p:spPr>
          <a:xfrm>
            <a:off x="2569464" y="2816352"/>
            <a:ext cx="2744114" cy="457200"/>
          </a:xfrm>
          <a:prstGeom prst="roundRect">
            <a:avLst>
              <a:gd name="adj" fmla="val 10000"/>
            </a:avLst>
          </a:prstGeom>
          <a:solidFill>
            <a:srgbClr val="124A30"/>
          </a:solidFill>
          <a:ln w="9525">
            <a:solidFill>
              <a:srgbClr val="315D47"/>
            </a:solidFill>
            <a:prstDash val="solid"/>
          </a:ln>
        </p:spPr>
      </p:sp>
      <p:sp>
        <p:nvSpPr>
          <p:cNvPr id="29" name="Text 27"/>
          <p:cNvSpPr/>
          <p:nvPr/>
        </p:nvSpPr>
        <p:spPr>
          <a:xfrm>
            <a:off x="2697480" y="281635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AI native carbon and disclosure workflows already strong</a:t>
            </a:r>
            <a:endParaRPr lang="en-US" sz="850" dirty="0"/>
          </a:p>
        </p:txBody>
      </p:sp>
      <p:sp>
        <p:nvSpPr>
          <p:cNvPr id="30" name="Shape 28"/>
          <p:cNvSpPr/>
          <p:nvPr/>
        </p:nvSpPr>
        <p:spPr>
          <a:xfrm>
            <a:off x="5569610" y="2816352"/>
            <a:ext cx="2744114" cy="457200"/>
          </a:xfrm>
          <a:prstGeom prst="roundRect">
            <a:avLst>
              <a:gd name="adj" fmla="val 10000"/>
            </a:avLst>
          </a:prstGeom>
          <a:solidFill>
            <a:srgbClr val="124A30"/>
          </a:solidFill>
          <a:ln w="9525">
            <a:solidFill>
              <a:srgbClr val="315D47"/>
            </a:solidFill>
            <a:prstDash val="solid"/>
          </a:ln>
        </p:spPr>
      </p:sp>
      <p:sp>
        <p:nvSpPr>
          <p:cNvPr id="31" name="Text 29"/>
          <p:cNvSpPr/>
          <p:nvPr/>
        </p:nvSpPr>
        <p:spPr>
          <a:xfrm>
            <a:off x="5697626" y="281635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Likely to extend supply chain depth and assurance grade evidence</a:t>
            </a:r>
            <a:endParaRPr lang="en-US" sz="850" dirty="0"/>
          </a:p>
        </p:txBody>
      </p:sp>
      <p:sp>
        <p:nvSpPr>
          <p:cNvPr id="32" name="Shape 30"/>
          <p:cNvSpPr/>
          <p:nvPr/>
        </p:nvSpPr>
        <p:spPr>
          <a:xfrm>
            <a:off x="8569757" y="2816352"/>
            <a:ext cx="2744114" cy="457200"/>
          </a:xfrm>
          <a:prstGeom prst="roundRect">
            <a:avLst>
              <a:gd name="adj" fmla="val 10000"/>
            </a:avLst>
          </a:prstGeom>
          <a:solidFill>
            <a:srgbClr val="124A30"/>
          </a:solidFill>
          <a:ln w="9525">
            <a:solidFill>
              <a:srgbClr val="315D47"/>
            </a:solidFill>
            <a:prstDash val="solid"/>
          </a:ln>
        </p:spPr>
      </p:sp>
      <p:sp>
        <p:nvSpPr>
          <p:cNvPr id="33" name="Text 31"/>
          <p:cNvSpPr/>
          <p:nvPr/>
        </p:nvSpPr>
        <p:spPr>
          <a:xfrm>
            <a:off x="8697773" y="281635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Pressure point: they close the AI experience gap before we close the breadth gap</a:t>
            </a:r>
            <a:endParaRPr lang="en-US" sz="850" dirty="0"/>
          </a:p>
        </p:txBody>
      </p:sp>
      <p:sp>
        <p:nvSpPr>
          <p:cNvPr id="34" name="Shape 32"/>
          <p:cNvSpPr/>
          <p:nvPr/>
        </p:nvSpPr>
        <p:spPr>
          <a:xfrm>
            <a:off x="640080" y="3547872"/>
            <a:ext cx="91440" cy="91440"/>
          </a:xfrm>
          <a:prstGeom prst="ellipse">
            <a:avLst/>
          </a:prstGeom>
          <a:solidFill>
            <a:srgbClr val="CDFC57"/>
          </a:solidFill>
          <a:ln w="12700">
            <a:solidFill>
              <a:srgbClr val="CDFC57"/>
            </a:solidFill>
            <a:prstDash val="solid"/>
          </a:ln>
        </p:spPr>
      </p:sp>
      <p:sp>
        <p:nvSpPr>
          <p:cNvPr id="35" name="Text 33"/>
          <p:cNvSpPr/>
          <p:nvPr/>
        </p:nvSpPr>
        <p:spPr>
          <a:xfrm>
            <a:off x="804672" y="3364992"/>
            <a:ext cx="1508760" cy="4572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osapiens</a:t>
            </a:r>
            <a:endParaRPr lang="en-US" sz="1000" dirty="0"/>
          </a:p>
        </p:txBody>
      </p:sp>
      <p:sp>
        <p:nvSpPr>
          <p:cNvPr id="36" name="Shape 34"/>
          <p:cNvSpPr/>
          <p:nvPr/>
        </p:nvSpPr>
        <p:spPr>
          <a:xfrm>
            <a:off x="2569464" y="3364992"/>
            <a:ext cx="2744114" cy="457200"/>
          </a:xfrm>
          <a:prstGeom prst="roundRect">
            <a:avLst>
              <a:gd name="adj" fmla="val 10000"/>
            </a:avLst>
          </a:prstGeom>
          <a:solidFill>
            <a:srgbClr val="124A30"/>
          </a:solidFill>
          <a:ln w="9525">
            <a:solidFill>
              <a:srgbClr val="315D47"/>
            </a:solidFill>
            <a:prstDash val="solid"/>
          </a:ln>
        </p:spPr>
      </p:sp>
      <p:sp>
        <p:nvSpPr>
          <p:cNvPr id="37" name="Text 35"/>
          <p:cNvSpPr/>
          <p:nvPr/>
        </p:nvSpPr>
        <p:spPr>
          <a:xfrm>
            <a:off x="2697480" y="336499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Deep EU regulatory and supplier compliance coverage</a:t>
            </a:r>
            <a:endParaRPr lang="en-US" sz="850" dirty="0"/>
          </a:p>
        </p:txBody>
      </p:sp>
      <p:sp>
        <p:nvSpPr>
          <p:cNvPr id="38" name="Shape 36"/>
          <p:cNvSpPr/>
          <p:nvPr/>
        </p:nvSpPr>
        <p:spPr>
          <a:xfrm>
            <a:off x="5569610" y="3364992"/>
            <a:ext cx="2744114" cy="457200"/>
          </a:xfrm>
          <a:prstGeom prst="roundRect">
            <a:avLst>
              <a:gd name="adj" fmla="val 10000"/>
            </a:avLst>
          </a:prstGeom>
          <a:solidFill>
            <a:srgbClr val="124A30"/>
          </a:solidFill>
          <a:ln w="9525">
            <a:solidFill>
              <a:srgbClr val="315D47"/>
            </a:solidFill>
            <a:prstDash val="solid"/>
          </a:ln>
        </p:spPr>
      </p:sp>
      <p:sp>
        <p:nvSpPr>
          <p:cNvPr id="39" name="Text 37"/>
          <p:cNvSpPr/>
          <p:nvPr/>
        </p:nvSpPr>
        <p:spPr>
          <a:xfrm>
            <a:off x="5697626" y="336499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Expected expansion into product level and broader carbon reporting</a:t>
            </a:r>
            <a:endParaRPr lang="en-US" sz="850" dirty="0"/>
          </a:p>
        </p:txBody>
      </p:sp>
      <p:sp>
        <p:nvSpPr>
          <p:cNvPr id="40" name="Shape 38"/>
          <p:cNvSpPr/>
          <p:nvPr/>
        </p:nvSpPr>
        <p:spPr>
          <a:xfrm>
            <a:off x="8569757" y="3364992"/>
            <a:ext cx="2744114" cy="457200"/>
          </a:xfrm>
          <a:prstGeom prst="roundRect">
            <a:avLst>
              <a:gd name="adj" fmla="val 10000"/>
            </a:avLst>
          </a:prstGeom>
          <a:solidFill>
            <a:srgbClr val="124A30"/>
          </a:solidFill>
          <a:ln w="9525">
            <a:solidFill>
              <a:srgbClr val="315D47"/>
            </a:solidFill>
            <a:prstDash val="solid"/>
          </a:ln>
        </p:spPr>
      </p:sp>
      <p:sp>
        <p:nvSpPr>
          <p:cNvPr id="41" name="Text 39"/>
          <p:cNvSpPr/>
          <p:nvPr/>
        </p:nvSpPr>
        <p:spPr>
          <a:xfrm>
            <a:off x="8697773" y="336499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Pressure point: compliance breadth becomes table stakes across the market</a:t>
            </a:r>
            <a:endParaRPr lang="en-US" sz="850" dirty="0"/>
          </a:p>
        </p:txBody>
      </p:sp>
      <p:sp>
        <p:nvSpPr>
          <p:cNvPr id="42" name="Shape 40"/>
          <p:cNvSpPr/>
          <p:nvPr/>
        </p:nvSpPr>
        <p:spPr>
          <a:xfrm>
            <a:off x="640080" y="4096512"/>
            <a:ext cx="91440" cy="91440"/>
          </a:xfrm>
          <a:prstGeom prst="ellipse">
            <a:avLst/>
          </a:prstGeom>
          <a:solidFill>
            <a:srgbClr val="5A625C"/>
          </a:solidFill>
          <a:ln w="12700">
            <a:solidFill>
              <a:srgbClr val="5A625C"/>
            </a:solidFill>
            <a:prstDash val="solid"/>
          </a:ln>
        </p:spPr>
      </p:sp>
      <p:sp>
        <p:nvSpPr>
          <p:cNvPr id="43" name="Text 41"/>
          <p:cNvSpPr/>
          <p:nvPr/>
        </p:nvSpPr>
        <p:spPr>
          <a:xfrm>
            <a:off x="804672" y="3913632"/>
            <a:ext cx="1508760" cy="4572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Arcadia and Deepki</a:t>
            </a:r>
            <a:endParaRPr lang="en-US" sz="1000" dirty="0"/>
          </a:p>
        </p:txBody>
      </p:sp>
      <p:sp>
        <p:nvSpPr>
          <p:cNvPr id="44" name="Shape 42"/>
          <p:cNvSpPr/>
          <p:nvPr/>
        </p:nvSpPr>
        <p:spPr>
          <a:xfrm>
            <a:off x="2569464" y="3913632"/>
            <a:ext cx="2744114" cy="457200"/>
          </a:xfrm>
          <a:prstGeom prst="roundRect">
            <a:avLst>
              <a:gd name="adj" fmla="val 10000"/>
            </a:avLst>
          </a:prstGeom>
          <a:solidFill>
            <a:srgbClr val="124A30"/>
          </a:solidFill>
          <a:ln w="9525">
            <a:solidFill>
              <a:srgbClr val="315D47"/>
            </a:solidFill>
            <a:prstDash val="solid"/>
          </a:ln>
        </p:spPr>
      </p:sp>
      <p:sp>
        <p:nvSpPr>
          <p:cNvPr id="45" name="Text 43"/>
          <p:cNvSpPr/>
          <p:nvPr/>
        </p:nvSpPr>
        <p:spPr>
          <a:xfrm>
            <a:off x="2697480" y="391363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Strong energy data and real estate ESG positions</a:t>
            </a:r>
            <a:endParaRPr lang="en-US" sz="850" dirty="0"/>
          </a:p>
        </p:txBody>
      </p:sp>
      <p:sp>
        <p:nvSpPr>
          <p:cNvPr id="46" name="Shape 44"/>
          <p:cNvSpPr/>
          <p:nvPr/>
        </p:nvSpPr>
        <p:spPr>
          <a:xfrm>
            <a:off x="5569610" y="3913632"/>
            <a:ext cx="2744114" cy="457200"/>
          </a:xfrm>
          <a:prstGeom prst="roundRect">
            <a:avLst>
              <a:gd name="adj" fmla="val 10000"/>
            </a:avLst>
          </a:prstGeom>
          <a:solidFill>
            <a:srgbClr val="124A30"/>
          </a:solidFill>
          <a:ln w="9525">
            <a:solidFill>
              <a:srgbClr val="315D47"/>
            </a:solidFill>
            <a:prstDash val="solid"/>
          </a:ln>
        </p:spPr>
      </p:sp>
      <p:sp>
        <p:nvSpPr>
          <p:cNvPr id="47" name="Text 45"/>
          <p:cNvSpPr/>
          <p:nvPr/>
        </p:nvSpPr>
        <p:spPr>
          <a:xfrm>
            <a:off x="5697626" y="391363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Expected move upward into carbon and risk reporting adjacent to their data</a:t>
            </a:r>
            <a:endParaRPr lang="en-US" sz="850" dirty="0"/>
          </a:p>
        </p:txBody>
      </p:sp>
      <p:sp>
        <p:nvSpPr>
          <p:cNvPr id="48" name="Shape 46"/>
          <p:cNvSpPr/>
          <p:nvPr/>
        </p:nvSpPr>
        <p:spPr>
          <a:xfrm>
            <a:off x="8569757" y="3913632"/>
            <a:ext cx="2744114" cy="457200"/>
          </a:xfrm>
          <a:prstGeom prst="roundRect">
            <a:avLst>
              <a:gd name="adj" fmla="val 10000"/>
            </a:avLst>
          </a:prstGeom>
          <a:solidFill>
            <a:srgbClr val="124A30"/>
          </a:solidFill>
          <a:ln w="9525">
            <a:solidFill>
              <a:srgbClr val="315D47"/>
            </a:solidFill>
            <a:prstDash val="solid"/>
          </a:ln>
        </p:spPr>
      </p:sp>
      <p:sp>
        <p:nvSpPr>
          <p:cNvPr id="49" name="Text 47"/>
          <p:cNvSpPr/>
          <p:nvPr/>
        </p:nvSpPr>
        <p:spPr>
          <a:xfrm>
            <a:off x="8697773" y="3913632"/>
            <a:ext cx="2488082" cy="457200"/>
          </a:xfrm>
          <a:prstGeom prst="rect">
            <a:avLst/>
          </a:prstGeom>
          <a:noFill/>
          <a:ln/>
        </p:spPr>
        <p:txBody>
          <a:bodyPr wrap="square" lIns="0" tIns="0" rIns="0" bIns="0" rtlCol="0" anchor="ctr">
            <a:normAutofit/>
          </a:bodyPr>
          <a:lstStyle/>
          <a:p>
            <a:pPr indent="0" marL="0">
              <a:lnSpc>
                <a:spcPct val="110000"/>
              </a:lnSpc>
              <a:buNone/>
            </a:pPr>
            <a:r>
              <a:rPr lang="en-US" sz="850" dirty="0">
                <a:solidFill>
                  <a:srgbClr val="FFFFFF"/>
                </a:solidFill>
                <a:latin typeface="Calibri" pitchFamily="34" charset="0"/>
                <a:ea typeface="Calibri" pitchFamily="34" charset="-122"/>
                <a:cs typeface="Calibri" pitchFamily="34" charset="-120"/>
              </a:rPr>
              <a:t>Pressure point: energy data advantage narrows if we do not exploit ours first</a:t>
            </a:r>
            <a:endParaRPr lang="en-US" sz="850" dirty="0"/>
          </a:p>
        </p:txBody>
      </p:sp>
      <p:sp>
        <p:nvSpPr>
          <p:cNvPr id="50" name="Shape 48"/>
          <p:cNvSpPr/>
          <p:nvPr/>
        </p:nvSpPr>
        <p:spPr>
          <a:xfrm>
            <a:off x="621792" y="4590288"/>
            <a:ext cx="10948111" cy="0"/>
          </a:xfrm>
          <a:prstGeom prst="line">
            <a:avLst/>
          </a:prstGeom>
          <a:noFill/>
          <a:ln w="10160">
            <a:solidFill>
              <a:srgbClr val="5E806E"/>
            </a:solidFill>
            <a:prstDash val="solid"/>
          </a:ln>
        </p:spPr>
      </p:sp>
      <p:sp>
        <p:nvSpPr>
          <p:cNvPr id="51" name="Text 49"/>
          <p:cNvSpPr/>
          <p:nvPr/>
        </p:nvSpPr>
        <p:spPr>
          <a:xfrm>
            <a:off x="621792" y="4681728"/>
            <a:ext cx="2194560" cy="182880"/>
          </a:xfrm>
          <a:prstGeom prst="rect">
            <a:avLst/>
          </a:prstGeom>
          <a:noFill/>
          <a:ln/>
        </p:spPr>
        <p:txBody>
          <a:bodyPr wrap="square" lIns="0" tIns="0" rIns="0" bIns="0" rtlCol="0" anchor="ctr"/>
          <a:lstStyle/>
          <a:p>
            <a:pPr indent="0" marL="0">
              <a:buNone/>
            </a:pPr>
            <a:r>
              <a:rPr lang="en-US" sz="900" b="1" spc="180" kern="0" dirty="0">
                <a:solidFill>
                  <a:srgbClr val="CDFC57"/>
                </a:solidFill>
                <a:latin typeface="Calibri" pitchFamily="34" charset="0"/>
                <a:ea typeface="Calibri" pitchFamily="34" charset="-122"/>
                <a:cs typeface="Calibri" pitchFamily="34" charset="-120"/>
              </a:rPr>
              <a:t>STRATEGIC DRIVERS</a:t>
            </a:r>
            <a:endParaRPr lang="en-US" sz="900" dirty="0"/>
          </a:p>
        </p:txBody>
      </p:sp>
      <p:sp>
        <p:nvSpPr>
          <p:cNvPr id="52" name="Text 50"/>
          <p:cNvSpPr/>
          <p:nvPr/>
        </p:nvSpPr>
        <p:spPr>
          <a:xfrm>
            <a:off x="621792" y="4901184"/>
            <a:ext cx="25312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We lead on convergence</a:t>
            </a:r>
            <a:endParaRPr lang="en-US" sz="1000" dirty="0"/>
          </a:p>
        </p:txBody>
      </p:sp>
      <p:sp>
        <p:nvSpPr>
          <p:cNvPr id="53" name="Text 51"/>
          <p:cNvSpPr/>
          <p:nvPr/>
        </p:nvSpPr>
        <p:spPr>
          <a:xfrm>
            <a:off x="621792" y="5120640"/>
            <a:ext cx="2531288" cy="274320"/>
          </a:xfrm>
          <a:prstGeom prst="rect">
            <a:avLst/>
          </a:prstGeom>
          <a:noFill/>
          <a:ln/>
        </p:spPr>
        <p:txBody>
          <a:bodyPr wrap="square" lIns="0" tIns="0" rIns="0" bIns="0" rtlCol="0" anchor="t">
            <a:normAutofit/>
          </a:bodyPr>
          <a:lstStyle/>
          <a:p>
            <a:pPr indent="0" marL="0">
              <a:buNone/>
            </a:pPr>
            <a:r>
              <a:rPr lang="en-US" sz="800" dirty="0">
                <a:solidFill>
                  <a:srgbClr val="BFD9C9"/>
                </a:solidFill>
                <a:latin typeface="Calibri" pitchFamily="34" charset="0"/>
                <a:ea typeface="Calibri" pitchFamily="34" charset="-122"/>
                <a:cs typeface="Calibri" pitchFamily="34" charset="-120"/>
              </a:rPr>
              <a:t>No rival combines sustainability, energy and efficiency on one governed data spine with advisory depth.</a:t>
            </a:r>
            <a:endParaRPr lang="en-US" sz="800" dirty="0"/>
          </a:p>
        </p:txBody>
      </p:sp>
      <p:sp>
        <p:nvSpPr>
          <p:cNvPr id="54" name="Text 52"/>
          <p:cNvSpPr/>
          <p:nvPr/>
        </p:nvSpPr>
        <p:spPr>
          <a:xfrm>
            <a:off x="3427400" y="4901184"/>
            <a:ext cx="25312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We lead on priced risk</a:t>
            </a:r>
            <a:endParaRPr lang="en-US" sz="1000" dirty="0"/>
          </a:p>
        </p:txBody>
      </p:sp>
      <p:sp>
        <p:nvSpPr>
          <p:cNvPr id="55" name="Text 53"/>
          <p:cNvSpPr/>
          <p:nvPr/>
        </p:nvSpPr>
        <p:spPr>
          <a:xfrm>
            <a:off x="3427400" y="5120640"/>
            <a:ext cx="2531288" cy="274320"/>
          </a:xfrm>
          <a:prstGeom prst="rect">
            <a:avLst/>
          </a:prstGeom>
          <a:noFill/>
          <a:ln/>
        </p:spPr>
        <p:txBody>
          <a:bodyPr wrap="square" lIns="0" tIns="0" rIns="0" bIns="0" rtlCol="0" anchor="t">
            <a:normAutofit/>
          </a:bodyPr>
          <a:lstStyle/>
          <a:p>
            <a:pPr indent="0" marL="0">
              <a:buNone/>
            </a:pPr>
            <a:r>
              <a:rPr lang="en-US" sz="800" dirty="0">
                <a:solidFill>
                  <a:srgbClr val="BFD9C9"/>
                </a:solidFill>
                <a:latin typeface="Calibri" pitchFamily="34" charset="0"/>
                <a:ea typeface="Calibri" pitchFamily="34" charset="-122"/>
                <a:cs typeface="Calibri" pitchFamily="34" charset="-120"/>
              </a:rPr>
              <a:t>Value at risk expressed in financial terms and flowing into disclosure is a genuine wedge.</a:t>
            </a:r>
            <a:endParaRPr lang="en-US" sz="800" dirty="0"/>
          </a:p>
        </p:txBody>
      </p:sp>
      <p:sp>
        <p:nvSpPr>
          <p:cNvPr id="56" name="Text 54"/>
          <p:cNvSpPr/>
          <p:nvPr/>
        </p:nvSpPr>
        <p:spPr>
          <a:xfrm>
            <a:off x="6233008" y="4901184"/>
            <a:ext cx="25312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They catch up on AI experience</a:t>
            </a:r>
            <a:endParaRPr lang="en-US" sz="1000" dirty="0"/>
          </a:p>
        </p:txBody>
      </p:sp>
      <p:sp>
        <p:nvSpPr>
          <p:cNvPr id="57" name="Text 55"/>
          <p:cNvSpPr/>
          <p:nvPr/>
        </p:nvSpPr>
        <p:spPr>
          <a:xfrm>
            <a:off x="6233008" y="5120640"/>
            <a:ext cx="2531288" cy="274320"/>
          </a:xfrm>
          <a:prstGeom prst="rect">
            <a:avLst/>
          </a:prstGeom>
          <a:noFill/>
          <a:ln/>
        </p:spPr>
        <p:txBody>
          <a:bodyPr wrap="square" lIns="0" tIns="0" rIns="0" bIns="0" rtlCol="0" anchor="t">
            <a:normAutofit/>
          </a:bodyPr>
          <a:lstStyle/>
          <a:p>
            <a:pPr indent="0" marL="0">
              <a:buNone/>
            </a:pPr>
            <a:r>
              <a:rPr lang="en-US" sz="800" dirty="0">
                <a:solidFill>
                  <a:srgbClr val="BFD9C9"/>
                </a:solidFill>
                <a:latin typeface="Calibri" pitchFamily="34" charset="0"/>
                <a:ea typeface="Calibri" pitchFamily="34" charset="-122"/>
                <a:cs typeface="Calibri" pitchFamily="34" charset="-120"/>
              </a:rPr>
              <a:t>AI assisted workflows are the fastest moving area. Our 2027 window is where the gap either closes or widens.</a:t>
            </a:r>
            <a:endParaRPr lang="en-US" sz="800" dirty="0"/>
          </a:p>
        </p:txBody>
      </p:sp>
      <p:sp>
        <p:nvSpPr>
          <p:cNvPr id="58" name="Text 56"/>
          <p:cNvSpPr/>
          <p:nvPr/>
        </p:nvSpPr>
        <p:spPr>
          <a:xfrm>
            <a:off x="9038615" y="4901184"/>
            <a:ext cx="2531288" cy="201168"/>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Calibri" pitchFamily="34" charset="0"/>
                <a:ea typeface="Calibri" pitchFamily="34" charset="-122"/>
                <a:cs typeface="Calibri" pitchFamily="34" charset="-120"/>
              </a:rPr>
              <a:t>They catch up on breadth</a:t>
            </a:r>
            <a:endParaRPr lang="en-US" sz="1000" dirty="0"/>
          </a:p>
        </p:txBody>
      </p:sp>
      <p:sp>
        <p:nvSpPr>
          <p:cNvPr id="59" name="Text 57"/>
          <p:cNvSpPr/>
          <p:nvPr/>
        </p:nvSpPr>
        <p:spPr>
          <a:xfrm>
            <a:off x="9038615" y="5120640"/>
            <a:ext cx="2531288" cy="274320"/>
          </a:xfrm>
          <a:prstGeom prst="rect">
            <a:avLst/>
          </a:prstGeom>
          <a:noFill/>
          <a:ln/>
        </p:spPr>
        <p:txBody>
          <a:bodyPr wrap="square" lIns="0" tIns="0" rIns="0" bIns="0" rtlCol="0" anchor="t">
            <a:normAutofit/>
          </a:bodyPr>
          <a:lstStyle/>
          <a:p>
            <a:pPr indent="0" marL="0">
              <a:buNone/>
            </a:pPr>
            <a:r>
              <a:rPr lang="en-US" sz="800" dirty="0">
                <a:solidFill>
                  <a:srgbClr val="BFD9C9"/>
                </a:solidFill>
                <a:latin typeface="Calibri" pitchFamily="34" charset="0"/>
                <a:ea typeface="Calibri" pitchFamily="34" charset="-122"/>
                <a:cs typeface="Calibri" pitchFamily="34" charset="-120"/>
              </a:rPr>
              <a:t>Compliance and supplier coverage commoditise. Breadth alone will not defend us after 2027.</a:t>
            </a:r>
            <a:endParaRPr lang="en-US" sz="800" dirty="0"/>
          </a:p>
        </p:txBody>
      </p:sp>
      <p:sp>
        <p:nvSpPr>
          <p:cNvPr id="60" name="Text 58"/>
          <p:cNvSpPr/>
          <p:nvPr/>
        </p:nvSpPr>
        <p:spPr>
          <a:xfrm>
            <a:off x="621792" y="6601968"/>
            <a:ext cx="10058400" cy="164592"/>
          </a:xfrm>
          <a:prstGeom prst="rect">
            <a:avLst/>
          </a:prstGeom>
          <a:noFill/>
          <a:ln/>
        </p:spPr>
        <p:txBody>
          <a:bodyPr wrap="square" lIns="0" tIns="0" rIns="0" bIns="0" rtlCol="0" anchor="ctr">
            <a:normAutofit/>
          </a:bodyPr>
          <a:lstStyle/>
          <a:p>
            <a:pPr indent="0" marL="0">
              <a:buNone/>
            </a:pPr>
            <a:r>
              <a:rPr lang="en-US" sz="700" i="1" dirty="0">
                <a:solidFill>
                  <a:srgbClr val="769585"/>
                </a:solidFill>
                <a:latin typeface="Calibri" pitchFamily="34" charset="0"/>
                <a:ea typeface="Calibri" pitchFamily="34" charset="-122"/>
                <a:cs typeface="Calibri" pitchFamily="34" charset="-120"/>
              </a:rPr>
              <a:t>Board implication: fund the spine and the AI assisted layer in 2026 and 2027, while the convergence and priced risk advantages are still unique. Competitor timing is directional, based on public materials reviewed September 2026.</a:t>
            </a:r>
            <a:endParaRPr lang="en-US" sz="700" dirty="0"/>
          </a:p>
        </p:txBody>
      </p:sp>
      <p:sp>
        <p:nvSpPr>
          <p:cNvPr id="25" name="Slide Number Placeholder 0"/>
          <p:cNvSpPr>
            <a:spLocks noGrp="1"/>
          </p:cNvSpPr>
          <p:nvPr>
            <p:ph type="sldNum" sz="quarter" idx="4294967295"/>
          </p:nvPr>
        </p:nvSpPr>
        <p:spPr>
          <a:xfrm>
            <a:off x="10929823" y="658368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13182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80263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HONEST READ | COMPETITIVE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Why we win, and why we might lose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board should hold both sides of this argument at the same time.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3.197255160993018e+29" dist="1.0657517203310059e+29" dir="2.519424e+35">
              <a:srgbClr val="0A1F12">
                <a:alpha val="1.2e+34"/>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WHY WE WIN</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Structural advantages</a:t>
            </a:r>
            <a:endParaRPr lang="en-US" sz="1600" dirty="0"/>
          </a:p>
        </p:txBody>
      </p:sp>
      <p:sp>
        <p:nvSpPr>
          <p:cNvPr id="13" name="Text 11"/>
          <p:cNvSpPr/>
          <p:nvPr/>
        </p:nvSpPr>
        <p:spPr>
          <a:xfrm>
            <a:off x="822960" y="3044952"/>
            <a:ext cx="2165528" cy="224028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accountable platform across sustainability, energy and efficiency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data spine, so evidence and calculations are reused, not rebuilt</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Schneider scale, advisory depth and existing enterprise relationships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Total cost argument that goes beyond a single license price</a:t>
            </a:r>
            <a:endParaRPr lang="en-US" sz="1100" dirty="0"/>
          </a:p>
        </p:txBody>
      </p:sp>
      <p:sp>
        <p:nvSpPr>
          <p:cNvPr id="14" name="Shape 12"/>
          <p:cNvSpPr/>
          <p:nvPr/>
        </p:nvSpPr>
        <p:spPr>
          <a:xfrm>
            <a:off x="3427400"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4.0605140544611325e+33" dist="1.3535046848203775e+33" dir="1.5116544e+40">
              <a:srgbClr val="0A1F12">
                <a:alpha val="1.1999999999999999e+39"/>
              </a:srgbClr>
            </a:outerShdw>
          </a:effectLst>
        </p:spPr>
      </p:sp>
      <p:sp>
        <p:nvSpPr>
          <p:cNvPr id="15" name="Shape 13"/>
          <p:cNvSpPr/>
          <p:nvPr/>
        </p:nvSpPr>
        <p:spPr>
          <a:xfrm>
            <a:off x="3427400" y="2084832"/>
            <a:ext cx="2531288" cy="73152"/>
          </a:xfrm>
          <a:prstGeom prst="rect">
            <a:avLst/>
          </a:prstGeom>
          <a:solidFill>
            <a:srgbClr val="007A27"/>
          </a:solidFill>
          <a:ln w="12700">
            <a:solidFill>
              <a:srgbClr val="007A27"/>
            </a:solidFill>
            <a:prstDash val="solid"/>
          </a:ln>
        </p:spPr>
      </p:sp>
      <p:sp>
        <p:nvSpPr>
          <p:cNvPr id="16" name="Text 14"/>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WHY WE WIN</a:t>
            </a:r>
            <a:endParaRPr lang="en-US" sz="900" dirty="0"/>
          </a:p>
        </p:txBody>
      </p:sp>
      <p:sp>
        <p:nvSpPr>
          <p:cNvPr id="17" name="Text 15"/>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Client proof points to build</a:t>
            </a:r>
            <a:endParaRPr lang="en-US" sz="1400" dirty="0"/>
          </a:p>
        </p:txBody>
      </p:sp>
      <p:sp>
        <p:nvSpPr>
          <p:cNvPr id="18" name="Text 16"/>
          <p:cNvSpPr/>
          <p:nvPr/>
        </p:nvSpPr>
        <p:spPr>
          <a:xfrm>
            <a:off x="3628568" y="3044952"/>
            <a:ext cx="2165528" cy="224028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Cross-product adoption inside strategic accounts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Shorter reporting cycles versus fragmented tooling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Traceable, reproducible AI-assisted decisions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Displacement of point solutions at renewal</a:t>
            </a:r>
            <a:endParaRPr lang="en-US" sz="1100" dirty="0"/>
          </a:p>
        </p:txBody>
      </p:sp>
      <p:sp>
        <p:nvSpPr>
          <p:cNvPr id="19" name="Shape 17"/>
          <p:cNvSpPr/>
          <p:nvPr/>
        </p:nvSpPr>
        <p:spPr>
          <a:xfrm>
            <a:off x="6233008"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5.156852849165638e+37" dist="1.7189509497218795e+37" dir="9.069926400000001e+44">
              <a:srgbClr val="0A1F12">
                <a:alpha val="1.1999999999999999e+44"/>
              </a:srgbClr>
            </a:outerShdw>
          </a:effectLst>
        </p:spPr>
      </p:sp>
      <p:sp>
        <p:nvSpPr>
          <p:cNvPr id="20" name="Shape 18"/>
          <p:cNvSpPr/>
          <p:nvPr/>
        </p:nvSpPr>
        <p:spPr>
          <a:xfrm>
            <a:off x="6233008" y="2084832"/>
            <a:ext cx="2531288" cy="73152"/>
          </a:xfrm>
          <a:prstGeom prst="rect">
            <a:avLst/>
          </a:prstGeom>
          <a:solidFill>
            <a:srgbClr val="FFB04C"/>
          </a:solidFill>
          <a:ln w="12700">
            <a:solidFill>
              <a:srgbClr val="FFB04C"/>
            </a:solidFill>
            <a:prstDash val="solid"/>
          </a:ln>
        </p:spPr>
      </p:sp>
      <p:sp>
        <p:nvSpPr>
          <p:cNvPr id="21" name="Text 19"/>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WHY WE MIGHT LOSE</a:t>
            </a:r>
            <a:endParaRPr lang="en-US" sz="900" dirty="0"/>
          </a:p>
        </p:txBody>
      </p:sp>
      <p:sp>
        <p:nvSpPr>
          <p:cNvPr id="22" name="Text 20"/>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Where we are exposed</a:t>
            </a:r>
            <a:endParaRPr lang="en-US" sz="1600" dirty="0"/>
          </a:p>
        </p:txBody>
      </p:sp>
      <p:sp>
        <p:nvSpPr>
          <p:cNvPr id="23" name="Text 21"/>
          <p:cNvSpPr/>
          <p:nvPr/>
        </p:nvSpPr>
        <p:spPr>
          <a:xfrm>
            <a:off x="6434176" y="3044952"/>
            <a:ext cx="2165528" cy="224028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Specialists look sharper in a single visible domain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AI-native challengers move faster on workflow polish</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Breadth can read as complexity during evaluation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Migration and data quality slow the first proof point</a:t>
            </a:r>
            <a:endParaRPr lang="en-US" sz="1100" dirty="0"/>
          </a:p>
        </p:txBody>
      </p:sp>
      <p:sp>
        <p:nvSpPr>
          <p:cNvPr id="24" name="Shape 22"/>
          <p:cNvSpPr/>
          <p:nvPr/>
        </p:nvSpPr>
        <p:spPr>
          <a:xfrm>
            <a:off x="9038615"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6.549203118440361e+41" dist="2.183067706146787e+41" dir="5.44195584e+49">
              <a:srgbClr val="0A1F12">
                <a:alpha val="1.2e+49"/>
              </a:srgbClr>
            </a:outerShdw>
          </a:effectLst>
        </p:spPr>
      </p:sp>
      <p:sp>
        <p:nvSpPr>
          <p:cNvPr id="25" name="Shape 23"/>
          <p:cNvSpPr/>
          <p:nvPr/>
        </p:nvSpPr>
        <p:spPr>
          <a:xfrm>
            <a:off x="9038615" y="2084832"/>
            <a:ext cx="2531288" cy="73152"/>
          </a:xfrm>
          <a:prstGeom prst="rect">
            <a:avLst/>
          </a:prstGeom>
          <a:solidFill>
            <a:srgbClr val="275B7F"/>
          </a:solidFill>
          <a:ln w="12700">
            <a:solidFill>
              <a:srgbClr val="275B7F"/>
            </a:solidFill>
            <a:prstDash val="solid"/>
          </a:ln>
        </p:spPr>
      </p:sp>
      <p:sp>
        <p:nvSpPr>
          <p:cNvPr id="26" name="Text 24"/>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WHY WE MIGHT LOSE</a:t>
            </a:r>
            <a:endParaRPr lang="en-US" sz="900" dirty="0"/>
          </a:p>
        </p:txBody>
      </p:sp>
      <p:sp>
        <p:nvSpPr>
          <p:cNvPr id="27" name="Text 25"/>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What we must not claim</a:t>
            </a:r>
            <a:endParaRPr lang="en-US" sz="1600" dirty="0"/>
          </a:p>
        </p:txBody>
      </p:sp>
      <p:sp>
        <p:nvSpPr>
          <p:cNvPr id="28" name="Text 26"/>
          <p:cNvSpPr/>
          <p:nvPr/>
        </p:nvSpPr>
        <p:spPr>
          <a:xfrm>
            <a:off x="9239783" y="3044952"/>
            <a:ext cx="2165528" cy="224028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 price advantage without matched-account evidence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Feature parity in every specialist domain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maturity that is not visible in the product</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Directional horizons presented as commitments</a:t>
            </a:r>
            <a:endParaRPr lang="en-US" sz="1100" dirty="0"/>
          </a:p>
        </p:txBody>
      </p:sp>
      <p:sp>
        <p:nvSpPr>
          <p:cNvPr id="29" name="Shape 27"/>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8.317487960419258e+45" dist="2.7724959868064195e+45" dir="3.2651735040000005e+54">
              <a:srgbClr val="0A1F12">
                <a:alpha val="1.2e+54"/>
              </a:srgbClr>
            </a:outerShdw>
          </a:effectLst>
        </p:spPr>
      </p:sp>
      <p:sp>
        <p:nvSpPr>
          <p:cNvPr id="30" name="Shape 28"/>
          <p:cNvSpPr/>
          <p:nvPr/>
        </p:nvSpPr>
        <p:spPr>
          <a:xfrm>
            <a:off x="676656" y="5760720"/>
            <a:ext cx="45720" cy="365760"/>
          </a:xfrm>
          <a:prstGeom prst="rect">
            <a:avLst/>
          </a:prstGeom>
          <a:solidFill>
            <a:srgbClr val="3DCD58"/>
          </a:solidFill>
          <a:ln w="12700">
            <a:solidFill>
              <a:srgbClr val="3DCD58"/>
            </a:solidFill>
            <a:prstDash val="solid"/>
          </a:ln>
        </p:spPr>
      </p:sp>
      <p:sp>
        <p:nvSpPr>
          <p:cNvPr id="31" name="Text 29"/>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The winning position is integrated outcomes with visible AI, not a feature-by-feature race.</a:t>
            </a:r>
            <a:endParaRPr lang="en-US" sz="1200" dirty="0"/>
          </a:p>
        </p:txBody>
      </p:sp>
      <p:sp>
        <p:nvSpPr>
          <p:cNvPr id="32" name="Shape 30"/>
          <p:cNvSpPr/>
          <p:nvPr/>
        </p:nvSpPr>
        <p:spPr>
          <a:xfrm>
            <a:off x="621792" y="6437376"/>
            <a:ext cx="10948111" cy="0"/>
          </a:xfrm>
          <a:prstGeom prst="line">
            <a:avLst/>
          </a:prstGeom>
          <a:noFill/>
          <a:ln w="9525">
            <a:solidFill>
              <a:srgbClr val="E2E6E2"/>
            </a:solidFill>
            <a:prstDash val="solid"/>
          </a:ln>
        </p:spPr>
      </p:sp>
      <p:sp>
        <p:nvSpPr>
          <p:cNvPr id="33" name="Text 31"/>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4" name="Text 32"/>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460400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427482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CAPABILITY POSITION: CARBON PERFORMANCE</a:t>
            </a:r>
            <a:endParaRPr lang="en-US" sz="950" dirty="0"/>
          </a:p>
        </p:txBody>
      </p:sp>
      <p:sp>
        <p:nvSpPr>
          <p:cNvPr id="6" name="Text 4"/>
          <p:cNvSpPr/>
          <p:nvPr/>
        </p:nvSpPr>
        <p:spPr>
          <a:xfrm>
            <a:off x="621792" y="768096"/>
            <a:ext cx="10948111" cy="914400"/>
          </a:xfrm>
          <a:prstGeom prst="rect">
            <a:avLst/>
          </a:prstGeom>
          <a:noFill/>
          <a:ln/>
        </p:spPr>
        <p:txBody>
          <a:bodyPr wrap="square" lIns="0" tIns="0" rIns="0" bIns="0" rtlCol="0" anchor="t">
            <a:normAutofit/>
          </a:bodyPr>
          <a:lstStyle/>
          <a:p>
            <a:pPr indent="0" marL="0">
              <a:buNone/>
            </a:pPr>
            <a:r>
              <a:rPr lang="en-US" sz="2500" b="1" dirty="0">
                <a:solidFill>
                  <a:srgbClr val="1E2420"/>
                </a:solidFill>
                <a:latin typeface="Calibri" pitchFamily="34" charset="0"/>
                <a:ea typeface="Calibri" pitchFamily="34" charset="-122"/>
                <a:cs typeface="Calibri" pitchFamily="34" charset="-120"/>
              </a:rPr>
              <a:t>Carbon Performance: leading on energy grade data, on parity on the inventory</a:t>
            </a:r>
            <a:endParaRPr lang="en-US" sz="2500" dirty="0"/>
          </a:p>
        </p:txBody>
      </p:sp>
      <p:sp>
        <p:nvSpPr>
          <p:cNvPr id="7" name="Text 5"/>
          <p:cNvSpPr/>
          <p:nvPr/>
        </p:nvSpPr>
        <p:spPr>
          <a:xfrm>
            <a:off x="621792" y="173736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Capability by capability, where we lead the market, where we match it, and where we are still closing a gap.</a:t>
            </a:r>
            <a:endParaRPr lang="en-US" sz="1250" dirty="0"/>
          </a:p>
        </p:txBody>
      </p:sp>
      <p:sp>
        <p:nvSpPr>
          <p:cNvPr id="8" name="Shape 6"/>
          <p:cNvSpPr/>
          <p:nvPr/>
        </p:nvSpPr>
        <p:spPr>
          <a:xfrm>
            <a:off x="621792" y="2084832"/>
            <a:ext cx="10948111" cy="0"/>
          </a:xfrm>
          <a:prstGeom prst="line">
            <a:avLst/>
          </a:prstGeom>
          <a:noFill/>
          <a:ln w="9525">
            <a:solidFill>
              <a:srgbClr val="E2E6E2"/>
            </a:solidFill>
            <a:prstDash val="solid"/>
          </a:ln>
        </p:spPr>
      </p:sp>
      <p:sp>
        <p:nvSpPr>
          <p:cNvPr id="9" name="Shape 7"/>
          <p:cNvSpPr/>
          <p:nvPr/>
        </p:nvSpPr>
        <p:spPr>
          <a:xfrm>
            <a:off x="621792" y="2249424"/>
            <a:ext cx="2011680" cy="365760"/>
          </a:xfrm>
          <a:prstGeom prst="rect">
            <a:avLst/>
          </a:prstGeom>
          <a:solidFill>
            <a:srgbClr val="005730"/>
          </a:solidFill>
          <a:ln w="5715">
            <a:solidFill>
              <a:srgbClr val="397257"/>
            </a:solidFill>
            <a:prstDash val="solid"/>
          </a:ln>
        </p:spPr>
      </p:sp>
      <p:sp>
        <p:nvSpPr>
          <p:cNvPr id="10" name="Text 8"/>
          <p:cNvSpPr/>
          <p:nvPr/>
        </p:nvSpPr>
        <p:spPr>
          <a:xfrm>
            <a:off x="713232" y="2249424"/>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249424"/>
            <a:ext cx="3794760" cy="365760"/>
          </a:xfrm>
          <a:prstGeom prst="rect">
            <a:avLst/>
          </a:prstGeom>
          <a:solidFill>
            <a:srgbClr val="005730"/>
          </a:solidFill>
          <a:ln w="5715">
            <a:solidFill>
              <a:srgbClr val="397257"/>
            </a:solidFill>
            <a:prstDash val="solid"/>
          </a:ln>
        </p:spPr>
      </p:sp>
      <p:sp>
        <p:nvSpPr>
          <p:cNvPr id="12" name="Text 10"/>
          <p:cNvSpPr/>
          <p:nvPr/>
        </p:nvSpPr>
        <p:spPr>
          <a:xfrm>
            <a:off x="2724912" y="2249424"/>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249424"/>
            <a:ext cx="1371600" cy="365760"/>
          </a:xfrm>
          <a:prstGeom prst="rect">
            <a:avLst/>
          </a:prstGeom>
          <a:solidFill>
            <a:srgbClr val="005730"/>
          </a:solidFill>
          <a:ln w="5715">
            <a:solidFill>
              <a:srgbClr val="397257"/>
            </a:solidFill>
            <a:prstDash val="solid"/>
          </a:ln>
        </p:spPr>
      </p:sp>
      <p:sp>
        <p:nvSpPr>
          <p:cNvPr id="14" name="Text 12"/>
          <p:cNvSpPr/>
          <p:nvPr/>
        </p:nvSpPr>
        <p:spPr>
          <a:xfrm>
            <a:off x="6519672" y="2249424"/>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EXPECTED POSITION</a:t>
            </a:r>
            <a:endParaRPr lang="en-US" sz="760" dirty="0"/>
          </a:p>
        </p:txBody>
      </p:sp>
      <p:sp>
        <p:nvSpPr>
          <p:cNvPr id="15" name="Shape 13"/>
          <p:cNvSpPr/>
          <p:nvPr/>
        </p:nvSpPr>
        <p:spPr>
          <a:xfrm>
            <a:off x="7799832" y="2249424"/>
            <a:ext cx="3767328" cy="365760"/>
          </a:xfrm>
          <a:prstGeom prst="rect">
            <a:avLst/>
          </a:prstGeom>
          <a:solidFill>
            <a:srgbClr val="005730"/>
          </a:solidFill>
          <a:ln w="5715">
            <a:solidFill>
              <a:srgbClr val="397257"/>
            </a:solidFill>
            <a:prstDash val="solid"/>
          </a:ln>
        </p:spPr>
      </p:sp>
      <p:sp>
        <p:nvSpPr>
          <p:cNvPr id="16" name="Text 14"/>
          <p:cNvSpPr/>
          <p:nvPr/>
        </p:nvSpPr>
        <p:spPr>
          <a:xfrm>
            <a:off x="7891272" y="2249424"/>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615184"/>
            <a:ext cx="2011680" cy="440436"/>
          </a:xfrm>
          <a:prstGeom prst="rect">
            <a:avLst/>
          </a:prstGeom>
          <a:solidFill>
            <a:srgbClr val="FFFFFF"/>
          </a:solidFill>
          <a:ln w="5715">
            <a:solidFill>
              <a:srgbClr val="E2E6E2"/>
            </a:solidFill>
            <a:prstDash val="solid"/>
          </a:ln>
        </p:spPr>
      </p:sp>
      <p:sp>
        <p:nvSpPr>
          <p:cNvPr id="18" name="Text 16"/>
          <p:cNvSpPr/>
          <p:nvPr/>
        </p:nvSpPr>
        <p:spPr>
          <a:xfrm>
            <a:off x="713232" y="266090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Energy and utility data</a:t>
            </a:r>
            <a:endParaRPr lang="en-US" sz="900" dirty="0"/>
          </a:p>
        </p:txBody>
      </p:sp>
      <p:sp>
        <p:nvSpPr>
          <p:cNvPr id="19" name="Shape 17"/>
          <p:cNvSpPr/>
          <p:nvPr/>
        </p:nvSpPr>
        <p:spPr>
          <a:xfrm>
            <a:off x="2633472" y="2615184"/>
            <a:ext cx="3794760" cy="440436"/>
          </a:xfrm>
          <a:prstGeom prst="rect">
            <a:avLst/>
          </a:prstGeom>
          <a:solidFill>
            <a:srgbClr val="FFFFFF"/>
          </a:solidFill>
          <a:ln w="5715">
            <a:solidFill>
              <a:srgbClr val="E2E6E2"/>
            </a:solidFill>
            <a:prstDash val="solid"/>
          </a:ln>
        </p:spPr>
      </p:sp>
      <p:sp>
        <p:nvSpPr>
          <p:cNvPr id="20" name="Text 18"/>
          <p:cNvSpPr/>
          <p:nvPr/>
        </p:nvSpPr>
        <p:spPr>
          <a:xfrm>
            <a:off x="2724912" y="266090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Metered energy, EAC and PPA management fed by the Schneider energy expertise.</a:t>
            </a:r>
            <a:endParaRPr lang="en-US" sz="800" dirty="0"/>
          </a:p>
        </p:txBody>
      </p:sp>
      <p:sp>
        <p:nvSpPr>
          <p:cNvPr id="21" name="Shape 19"/>
          <p:cNvSpPr/>
          <p:nvPr/>
        </p:nvSpPr>
        <p:spPr>
          <a:xfrm>
            <a:off x="6428232" y="2615184"/>
            <a:ext cx="1371600" cy="440436"/>
          </a:xfrm>
          <a:prstGeom prst="rect">
            <a:avLst/>
          </a:prstGeom>
          <a:solidFill>
            <a:srgbClr val="FFFFFF"/>
          </a:solidFill>
          <a:ln w="5715">
            <a:solidFill>
              <a:srgbClr val="E2E6E2"/>
            </a:solidFill>
            <a:prstDash val="solid"/>
          </a:ln>
        </p:spPr>
      </p:sp>
      <p:sp>
        <p:nvSpPr>
          <p:cNvPr id="22" name="Shape 20"/>
          <p:cNvSpPr/>
          <p:nvPr/>
        </p:nvSpPr>
        <p:spPr>
          <a:xfrm>
            <a:off x="6501384" y="2716530"/>
            <a:ext cx="1225296" cy="237744"/>
          </a:xfrm>
          <a:prstGeom prst="roundRect">
            <a:avLst>
              <a:gd name="adj" fmla="val 46154"/>
            </a:avLst>
          </a:prstGeom>
          <a:solidFill>
            <a:srgbClr val="EAF8ED"/>
          </a:solidFill>
          <a:ln w="6350">
            <a:solidFill>
              <a:srgbClr val="3DCD58"/>
            </a:solidFill>
            <a:prstDash val="solid"/>
          </a:ln>
        </p:spPr>
      </p:sp>
      <p:sp>
        <p:nvSpPr>
          <p:cNvPr id="23" name="Text 21"/>
          <p:cNvSpPr/>
          <p:nvPr/>
        </p:nvSpPr>
        <p:spPr>
          <a:xfrm>
            <a:off x="6501384" y="271653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24" name="Shape 22"/>
          <p:cNvSpPr/>
          <p:nvPr/>
        </p:nvSpPr>
        <p:spPr>
          <a:xfrm>
            <a:off x="7799832" y="2615184"/>
            <a:ext cx="3767328" cy="440436"/>
          </a:xfrm>
          <a:prstGeom prst="rect">
            <a:avLst/>
          </a:prstGeom>
          <a:solidFill>
            <a:srgbClr val="FFFFFF"/>
          </a:solidFill>
          <a:ln w="5715">
            <a:solidFill>
              <a:srgbClr val="E2E6E2"/>
            </a:solidFill>
            <a:prstDash val="solid"/>
          </a:ln>
        </p:spPr>
      </p:sp>
      <p:sp>
        <p:nvSpPr>
          <p:cNvPr id="25" name="Text 23"/>
          <p:cNvSpPr/>
          <p:nvPr/>
        </p:nvSpPr>
        <p:spPr>
          <a:xfrm>
            <a:off x="7891272" y="266090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Carbon only vendors buy or infer this data instead of owning the meter relationship.</a:t>
            </a:r>
            <a:endParaRPr lang="en-US" sz="800" dirty="0"/>
          </a:p>
        </p:txBody>
      </p:sp>
      <p:sp>
        <p:nvSpPr>
          <p:cNvPr id="26" name="Shape 24"/>
          <p:cNvSpPr/>
          <p:nvPr/>
        </p:nvSpPr>
        <p:spPr>
          <a:xfrm>
            <a:off x="621792" y="3055620"/>
            <a:ext cx="2011680" cy="440436"/>
          </a:xfrm>
          <a:prstGeom prst="rect">
            <a:avLst/>
          </a:prstGeom>
          <a:solidFill>
            <a:srgbClr val="F1F3F2"/>
          </a:solidFill>
          <a:ln w="5715">
            <a:solidFill>
              <a:srgbClr val="E2E6E2"/>
            </a:solidFill>
            <a:prstDash val="solid"/>
          </a:ln>
        </p:spPr>
      </p:sp>
      <p:sp>
        <p:nvSpPr>
          <p:cNvPr id="27" name="Text 25"/>
          <p:cNvSpPr/>
          <p:nvPr/>
        </p:nvSpPr>
        <p:spPr>
          <a:xfrm>
            <a:off x="713232" y="3101340"/>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Scope 1, 2 and 3 inventory</a:t>
            </a:r>
            <a:endParaRPr lang="en-US" sz="900" dirty="0"/>
          </a:p>
        </p:txBody>
      </p:sp>
      <p:sp>
        <p:nvSpPr>
          <p:cNvPr id="28" name="Shape 26"/>
          <p:cNvSpPr/>
          <p:nvPr/>
        </p:nvSpPr>
        <p:spPr>
          <a:xfrm>
            <a:off x="2633472" y="3055620"/>
            <a:ext cx="3794760" cy="440436"/>
          </a:xfrm>
          <a:prstGeom prst="rect">
            <a:avLst/>
          </a:prstGeom>
          <a:solidFill>
            <a:srgbClr val="F1F3F2"/>
          </a:solidFill>
          <a:ln w="5715">
            <a:solidFill>
              <a:srgbClr val="E2E6E2"/>
            </a:solidFill>
            <a:prstDash val="solid"/>
          </a:ln>
        </p:spPr>
      </p:sp>
      <p:sp>
        <p:nvSpPr>
          <p:cNvPr id="29" name="Text 27"/>
          <p:cNvSpPr/>
          <p:nvPr/>
        </p:nvSpPr>
        <p:spPr>
          <a:xfrm>
            <a:off x="2724912" y="3101340"/>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Consultant grade, audit ready inventory across all scopes with per gas breakdown.</a:t>
            </a:r>
            <a:endParaRPr lang="en-US" sz="800" dirty="0"/>
          </a:p>
        </p:txBody>
      </p:sp>
      <p:sp>
        <p:nvSpPr>
          <p:cNvPr id="30" name="Shape 28"/>
          <p:cNvSpPr/>
          <p:nvPr/>
        </p:nvSpPr>
        <p:spPr>
          <a:xfrm>
            <a:off x="6428232" y="3055620"/>
            <a:ext cx="1371600" cy="440436"/>
          </a:xfrm>
          <a:prstGeom prst="rect">
            <a:avLst/>
          </a:prstGeom>
          <a:solidFill>
            <a:srgbClr val="F1F3F2"/>
          </a:solidFill>
          <a:ln w="5715">
            <a:solidFill>
              <a:srgbClr val="E2E6E2"/>
            </a:solidFill>
            <a:prstDash val="solid"/>
          </a:ln>
        </p:spPr>
      </p:sp>
      <p:sp>
        <p:nvSpPr>
          <p:cNvPr id="31" name="Shape 29"/>
          <p:cNvSpPr/>
          <p:nvPr/>
        </p:nvSpPr>
        <p:spPr>
          <a:xfrm>
            <a:off x="6501384" y="3156966"/>
            <a:ext cx="1225296" cy="237744"/>
          </a:xfrm>
          <a:prstGeom prst="roundRect">
            <a:avLst>
              <a:gd name="adj" fmla="val 46154"/>
            </a:avLst>
          </a:prstGeom>
          <a:solidFill>
            <a:srgbClr val="F1F3F2"/>
          </a:solidFill>
          <a:ln w="6350">
            <a:solidFill>
              <a:srgbClr val="E2E6E2"/>
            </a:solidFill>
            <a:prstDash val="solid"/>
          </a:ln>
        </p:spPr>
      </p:sp>
      <p:sp>
        <p:nvSpPr>
          <p:cNvPr id="32" name="Text 30"/>
          <p:cNvSpPr/>
          <p:nvPr/>
        </p:nvSpPr>
        <p:spPr>
          <a:xfrm>
            <a:off x="6501384" y="315696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33" name="Shape 31"/>
          <p:cNvSpPr/>
          <p:nvPr/>
        </p:nvSpPr>
        <p:spPr>
          <a:xfrm>
            <a:off x="7799832" y="3055620"/>
            <a:ext cx="3767328" cy="440436"/>
          </a:xfrm>
          <a:prstGeom prst="rect">
            <a:avLst/>
          </a:prstGeom>
          <a:solidFill>
            <a:srgbClr val="F1F3F2"/>
          </a:solidFill>
          <a:ln w="5715">
            <a:solidFill>
              <a:srgbClr val="E2E6E2"/>
            </a:solidFill>
            <a:prstDash val="solid"/>
          </a:ln>
        </p:spPr>
      </p:sp>
      <p:sp>
        <p:nvSpPr>
          <p:cNvPr id="34" name="Text 32"/>
          <p:cNvSpPr/>
          <p:nvPr/>
        </p:nvSpPr>
        <p:spPr>
          <a:xfrm>
            <a:off x="7891272" y="3101340"/>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Table stakes for every enterprise carbon vendor benchmarked by Verdantix.</a:t>
            </a:r>
            <a:endParaRPr lang="en-US" sz="800" dirty="0"/>
          </a:p>
        </p:txBody>
      </p:sp>
      <p:sp>
        <p:nvSpPr>
          <p:cNvPr id="35" name="Shape 33"/>
          <p:cNvSpPr/>
          <p:nvPr/>
        </p:nvSpPr>
        <p:spPr>
          <a:xfrm>
            <a:off x="621792" y="3496056"/>
            <a:ext cx="2011680" cy="440436"/>
          </a:xfrm>
          <a:prstGeom prst="rect">
            <a:avLst/>
          </a:prstGeom>
          <a:solidFill>
            <a:srgbClr val="FFFFFF"/>
          </a:solidFill>
          <a:ln w="5715">
            <a:solidFill>
              <a:srgbClr val="E2E6E2"/>
            </a:solidFill>
            <a:prstDash val="solid"/>
          </a:ln>
        </p:spPr>
      </p:sp>
      <p:sp>
        <p:nvSpPr>
          <p:cNvPr id="36" name="Text 34"/>
          <p:cNvSpPr/>
          <p:nvPr/>
        </p:nvSpPr>
        <p:spPr>
          <a:xfrm>
            <a:off x="713232" y="3541776"/>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Emission factors and method depth</a:t>
            </a:r>
            <a:endParaRPr lang="en-US" sz="900" dirty="0"/>
          </a:p>
        </p:txBody>
      </p:sp>
      <p:sp>
        <p:nvSpPr>
          <p:cNvPr id="37" name="Shape 35"/>
          <p:cNvSpPr/>
          <p:nvPr/>
        </p:nvSpPr>
        <p:spPr>
          <a:xfrm>
            <a:off x="2633472" y="3496056"/>
            <a:ext cx="3794760" cy="440436"/>
          </a:xfrm>
          <a:prstGeom prst="rect">
            <a:avLst/>
          </a:prstGeom>
          <a:solidFill>
            <a:srgbClr val="FFFFFF"/>
          </a:solidFill>
          <a:ln w="5715">
            <a:solidFill>
              <a:srgbClr val="E2E6E2"/>
            </a:solidFill>
            <a:prstDash val="solid"/>
          </a:ln>
        </p:spPr>
      </p:sp>
      <p:sp>
        <p:nvSpPr>
          <p:cNvPr id="38" name="Text 36"/>
          <p:cNvSpPr/>
          <p:nvPr/>
        </p:nvSpPr>
        <p:spPr>
          <a:xfrm>
            <a:off x="2724912" y="3541776"/>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Q4 2026 wedge: factor coverage, method transparency per data point, rebaselining.</a:t>
            </a:r>
            <a:endParaRPr lang="en-US" sz="800" dirty="0"/>
          </a:p>
        </p:txBody>
      </p:sp>
      <p:sp>
        <p:nvSpPr>
          <p:cNvPr id="39" name="Shape 37"/>
          <p:cNvSpPr/>
          <p:nvPr/>
        </p:nvSpPr>
        <p:spPr>
          <a:xfrm>
            <a:off x="6428232" y="3496056"/>
            <a:ext cx="1371600" cy="440436"/>
          </a:xfrm>
          <a:prstGeom prst="rect">
            <a:avLst/>
          </a:prstGeom>
          <a:solidFill>
            <a:srgbClr val="FFFFFF"/>
          </a:solidFill>
          <a:ln w="5715">
            <a:solidFill>
              <a:srgbClr val="E2E6E2"/>
            </a:solidFill>
            <a:prstDash val="solid"/>
          </a:ln>
        </p:spPr>
      </p:sp>
      <p:sp>
        <p:nvSpPr>
          <p:cNvPr id="40" name="Shape 38"/>
          <p:cNvSpPr/>
          <p:nvPr/>
        </p:nvSpPr>
        <p:spPr>
          <a:xfrm>
            <a:off x="6501384" y="3597402"/>
            <a:ext cx="1225296" cy="237744"/>
          </a:xfrm>
          <a:prstGeom prst="roundRect">
            <a:avLst>
              <a:gd name="adj" fmla="val 46154"/>
            </a:avLst>
          </a:prstGeom>
          <a:solidFill>
            <a:srgbClr val="FFF4E3"/>
          </a:solidFill>
          <a:ln w="6350">
            <a:solidFill>
              <a:srgbClr val="FFB04C"/>
            </a:solidFill>
            <a:prstDash val="solid"/>
          </a:ln>
        </p:spPr>
      </p:sp>
      <p:sp>
        <p:nvSpPr>
          <p:cNvPr id="41" name="Text 39"/>
          <p:cNvSpPr/>
          <p:nvPr/>
        </p:nvSpPr>
        <p:spPr>
          <a:xfrm>
            <a:off x="6501384" y="359740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42" name="Shape 40"/>
          <p:cNvSpPr/>
          <p:nvPr/>
        </p:nvSpPr>
        <p:spPr>
          <a:xfrm>
            <a:off x="7799832" y="3496056"/>
            <a:ext cx="3767328" cy="440436"/>
          </a:xfrm>
          <a:prstGeom prst="rect">
            <a:avLst/>
          </a:prstGeom>
          <a:solidFill>
            <a:srgbClr val="FFFFFF"/>
          </a:solidFill>
          <a:ln w="5715">
            <a:solidFill>
              <a:srgbClr val="E2E6E2"/>
            </a:solidFill>
            <a:prstDash val="solid"/>
          </a:ln>
        </p:spPr>
      </p:sp>
      <p:sp>
        <p:nvSpPr>
          <p:cNvPr id="43" name="Text 41"/>
          <p:cNvSpPr/>
          <p:nvPr/>
        </p:nvSpPr>
        <p:spPr>
          <a:xfrm>
            <a:off x="7891272" y="3541776"/>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Leaders already expose method and factor lineage at data point level.</a:t>
            </a:r>
            <a:endParaRPr lang="en-US" sz="800" dirty="0"/>
          </a:p>
        </p:txBody>
      </p:sp>
      <p:sp>
        <p:nvSpPr>
          <p:cNvPr id="44" name="Shape 42"/>
          <p:cNvSpPr/>
          <p:nvPr/>
        </p:nvSpPr>
        <p:spPr>
          <a:xfrm>
            <a:off x="621792" y="3936492"/>
            <a:ext cx="2011680" cy="440436"/>
          </a:xfrm>
          <a:prstGeom prst="rect">
            <a:avLst/>
          </a:prstGeom>
          <a:solidFill>
            <a:srgbClr val="F1F3F2"/>
          </a:solidFill>
          <a:ln w="5715">
            <a:solidFill>
              <a:srgbClr val="E2E6E2"/>
            </a:solidFill>
            <a:prstDash val="solid"/>
          </a:ln>
        </p:spPr>
      </p:sp>
      <p:sp>
        <p:nvSpPr>
          <p:cNvPr id="45" name="Text 43"/>
          <p:cNvSpPr/>
          <p:nvPr/>
        </p:nvSpPr>
        <p:spPr>
          <a:xfrm>
            <a:off x="713232" y="3982212"/>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AI assistance</a:t>
            </a:r>
            <a:endParaRPr lang="en-US" sz="900" dirty="0"/>
          </a:p>
        </p:txBody>
      </p:sp>
      <p:sp>
        <p:nvSpPr>
          <p:cNvPr id="46" name="Shape 44"/>
          <p:cNvSpPr/>
          <p:nvPr/>
        </p:nvSpPr>
        <p:spPr>
          <a:xfrm>
            <a:off x="2633472" y="3936492"/>
            <a:ext cx="3794760" cy="440436"/>
          </a:xfrm>
          <a:prstGeom prst="rect">
            <a:avLst/>
          </a:prstGeom>
          <a:solidFill>
            <a:srgbClr val="F1F3F2"/>
          </a:solidFill>
          <a:ln w="5715">
            <a:solidFill>
              <a:srgbClr val="E2E6E2"/>
            </a:solidFill>
            <a:prstDash val="solid"/>
          </a:ln>
        </p:spPr>
      </p:sp>
      <p:sp>
        <p:nvSpPr>
          <p:cNvPr id="47" name="Text 45"/>
          <p:cNvSpPr/>
          <p:nvPr/>
        </p:nvSpPr>
        <p:spPr>
          <a:xfrm>
            <a:off x="2724912" y="3982212"/>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Sera brought forward to Q4 2026 for carbon inventory tasks.</a:t>
            </a:r>
            <a:endParaRPr lang="en-US" sz="800" dirty="0"/>
          </a:p>
        </p:txBody>
      </p:sp>
      <p:sp>
        <p:nvSpPr>
          <p:cNvPr id="48" name="Shape 46"/>
          <p:cNvSpPr/>
          <p:nvPr/>
        </p:nvSpPr>
        <p:spPr>
          <a:xfrm>
            <a:off x="6428232" y="3936492"/>
            <a:ext cx="1371600" cy="440436"/>
          </a:xfrm>
          <a:prstGeom prst="rect">
            <a:avLst/>
          </a:prstGeom>
          <a:solidFill>
            <a:srgbClr val="F1F3F2"/>
          </a:solidFill>
          <a:ln w="5715">
            <a:solidFill>
              <a:srgbClr val="E2E6E2"/>
            </a:solidFill>
            <a:prstDash val="solid"/>
          </a:ln>
        </p:spPr>
      </p:sp>
      <p:sp>
        <p:nvSpPr>
          <p:cNvPr id="49" name="Shape 47"/>
          <p:cNvSpPr/>
          <p:nvPr/>
        </p:nvSpPr>
        <p:spPr>
          <a:xfrm>
            <a:off x="6501384" y="4037838"/>
            <a:ext cx="1225296" cy="237744"/>
          </a:xfrm>
          <a:prstGeom prst="roundRect">
            <a:avLst>
              <a:gd name="adj" fmla="val 46154"/>
            </a:avLst>
          </a:prstGeom>
          <a:solidFill>
            <a:srgbClr val="FFF4E3"/>
          </a:solidFill>
          <a:ln w="6350">
            <a:solidFill>
              <a:srgbClr val="FFB04C"/>
            </a:solidFill>
            <a:prstDash val="solid"/>
          </a:ln>
        </p:spPr>
      </p:sp>
      <p:sp>
        <p:nvSpPr>
          <p:cNvPr id="50" name="Text 48"/>
          <p:cNvSpPr/>
          <p:nvPr/>
        </p:nvSpPr>
        <p:spPr>
          <a:xfrm>
            <a:off x="6501384" y="403783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51" name="Shape 49"/>
          <p:cNvSpPr/>
          <p:nvPr/>
        </p:nvSpPr>
        <p:spPr>
          <a:xfrm>
            <a:off x="7799832" y="3936492"/>
            <a:ext cx="3767328" cy="440436"/>
          </a:xfrm>
          <a:prstGeom prst="rect">
            <a:avLst/>
          </a:prstGeom>
          <a:solidFill>
            <a:srgbClr val="F1F3F2"/>
          </a:solidFill>
          <a:ln w="5715">
            <a:solidFill>
              <a:srgbClr val="E2E6E2"/>
            </a:solidFill>
            <a:prstDash val="solid"/>
          </a:ln>
        </p:spPr>
      </p:sp>
      <p:sp>
        <p:nvSpPr>
          <p:cNvPr id="52" name="Text 50"/>
          <p:cNvSpPr/>
          <p:nvPr/>
        </p:nvSpPr>
        <p:spPr>
          <a:xfrm>
            <a:off x="7891272" y="3982212"/>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AI copilots are now a headline claim across the benchmarked field.</a:t>
            </a:r>
            <a:endParaRPr lang="en-US" sz="800" dirty="0"/>
          </a:p>
        </p:txBody>
      </p:sp>
      <p:sp>
        <p:nvSpPr>
          <p:cNvPr id="53" name="Shape 51"/>
          <p:cNvSpPr/>
          <p:nvPr/>
        </p:nvSpPr>
        <p:spPr>
          <a:xfrm>
            <a:off x="621792" y="4376928"/>
            <a:ext cx="2011680" cy="440436"/>
          </a:xfrm>
          <a:prstGeom prst="rect">
            <a:avLst/>
          </a:prstGeom>
          <a:solidFill>
            <a:srgbClr val="FFFFFF"/>
          </a:solidFill>
          <a:ln w="5715">
            <a:solidFill>
              <a:srgbClr val="E2E6E2"/>
            </a:solidFill>
            <a:prstDash val="solid"/>
          </a:ln>
        </p:spPr>
      </p:sp>
      <p:sp>
        <p:nvSpPr>
          <p:cNvPr id="54" name="Text 52"/>
          <p:cNvSpPr/>
          <p:nvPr/>
        </p:nvSpPr>
        <p:spPr>
          <a:xfrm>
            <a:off x="713232" y="4422648"/>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Decarbonisation planning</a:t>
            </a:r>
            <a:endParaRPr lang="en-US" sz="900" dirty="0"/>
          </a:p>
        </p:txBody>
      </p:sp>
      <p:sp>
        <p:nvSpPr>
          <p:cNvPr id="55" name="Shape 53"/>
          <p:cNvSpPr/>
          <p:nvPr/>
        </p:nvSpPr>
        <p:spPr>
          <a:xfrm>
            <a:off x="2633472" y="4376928"/>
            <a:ext cx="3794760" cy="440436"/>
          </a:xfrm>
          <a:prstGeom prst="rect">
            <a:avLst/>
          </a:prstGeom>
          <a:solidFill>
            <a:srgbClr val="FFFFFF"/>
          </a:solidFill>
          <a:ln w="5715">
            <a:solidFill>
              <a:srgbClr val="E2E6E2"/>
            </a:solidFill>
            <a:prstDash val="solid"/>
          </a:ln>
        </p:spPr>
      </p:sp>
      <p:sp>
        <p:nvSpPr>
          <p:cNvPr id="56" name="Text 54"/>
          <p:cNvSpPr/>
          <p:nvPr/>
        </p:nvSpPr>
        <p:spPr>
          <a:xfrm>
            <a:off x="2724912" y="4422648"/>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Advanced scenario analysis and ECM library with energy and carbon cobenefits.</a:t>
            </a:r>
            <a:endParaRPr lang="en-US" sz="800" dirty="0"/>
          </a:p>
        </p:txBody>
      </p:sp>
      <p:sp>
        <p:nvSpPr>
          <p:cNvPr id="57" name="Shape 55"/>
          <p:cNvSpPr/>
          <p:nvPr/>
        </p:nvSpPr>
        <p:spPr>
          <a:xfrm>
            <a:off x="6428232" y="4376928"/>
            <a:ext cx="1371600" cy="440436"/>
          </a:xfrm>
          <a:prstGeom prst="rect">
            <a:avLst/>
          </a:prstGeom>
          <a:solidFill>
            <a:srgbClr val="FFFFFF"/>
          </a:solidFill>
          <a:ln w="5715">
            <a:solidFill>
              <a:srgbClr val="E2E6E2"/>
            </a:solidFill>
            <a:prstDash val="solid"/>
          </a:ln>
        </p:spPr>
      </p:sp>
      <p:sp>
        <p:nvSpPr>
          <p:cNvPr id="58" name="Shape 56"/>
          <p:cNvSpPr/>
          <p:nvPr/>
        </p:nvSpPr>
        <p:spPr>
          <a:xfrm>
            <a:off x="6501384" y="4478274"/>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7827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76928"/>
            <a:ext cx="3767328" cy="440436"/>
          </a:xfrm>
          <a:prstGeom prst="rect">
            <a:avLst/>
          </a:prstGeom>
          <a:solidFill>
            <a:srgbClr val="FFFFFF"/>
          </a:solidFill>
          <a:ln w="5715">
            <a:solidFill>
              <a:srgbClr val="E2E6E2"/>
            </a:solidFill>
            <a:prstDash val="solid"/>
          </a:ln>
        </p:spPr>
      </p:sp>
      <p:sp>
        <p:nvSpPr>
          <p:cNvPr id="61" name="Text 59"/>
          <p:cNvSpPr/>
          <p:nvPr/>
        </p:nvSpPr>
        <p:spPr>
          <a:xfrm>
            <a:off x="7891272" y="4422648"/>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Few carbon vendors can price an efficiency measure and its carbon effect together.</a:t>
            </a:r>
            <a:endParaRPr lang="en-US" sz="800" dirty="0"/>
          </a:p>
        </p:txBody>
      </p:sp>
      <p:sp>
        <p:nvSpPr>
          <p:cNvPr id="62" name="Shape 60"/>
          <p:cNvSpPr/>
          <p:nvPr/>
        </p:nvSpPr>
        <p:spPr>
          <a:xfrm>
            <a:off x="621792" y="4817364"/>
            <a:ext cx="2011680" cy="440436"/>
          </a:xfrm>
          <a:prstGeom prst="rect">
            <a:avLst/>
          </a:prstGeom>
          <a:solidFill>
            <a:srgbClr val="F1F3F2"/>
          </a:solidFill>
          <a:ln w="5715">
            <a:solidFill>
              <a:srgbClr val="E2E6E2"/>
            </a:solidFill>
            <a:prstDash val="solid"/>
          </a:ln>
        </p:spPr>
      </p:sp>
      <p:sp>
        <p:nvSpPr>
          <p:cNvPr id="63" name="Text 61"/>
          <p:cNvSpPr/>
          <p:nvPr/>
        </p:nvSpPr>
        <p:spPr>
          <a:xfrm>
            <a:off x="713232" y="486308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Assurance and governance</a:t>
            </a:r>
            <a:endParaRPr lang="en-US" sz="900" dirty="0"/>
          </a:p>
        </p:txBody>
      </p:sp>
      <p:sp>
        <p:nvSpPr>
          <p:cNvPr id="64" name="Shape 62"/>
          <p:cNvSpPr/>
          <p:nvPr/>
        </p:nvSpPr>
        <p:spPr>
          <a:xfrm>
            <a:off x="2633472" y="4817364"/>
            <a:ext cx="3794760" cy="440436"/>
          </a:xfrm>
          <a:prstGeom prst="rect">
            <a:avLst/>
          </a:prstGeom>
          <a:solidFill>
            <a:srgbClr val="F1F3F2"/>
          </a:solidFill>
          <a:ln w="5715">
            <a:solidFill>
              <a:srgbClr val="E2E6E2"/>
            </a:solidFill>
            <a:prstDash val="solid"/>
          </a:ln>
        </p:spPr>
      </p:sp>
      <p:sp>
        <p:nvSpPr>
          <p:cNvPr id="65" name="Text 63"/>
          <p:cNvSpPr/>
          <p:nvPr/>
        </p:nvSpPr>
        <p:spPr>
          <a:xfrm>
            <a:off x="2724912" y="486308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Boundaries, approvals and audit trail on the shared inventory.</a:t>
            </a:r>
            <a:endParaRPr lang="en-US" sz="800" dirty="0"/>
          </a:p>
        </p:txBody>
      </p:sp>
      <p:sp>
        <p:nvSpPr>
          <p:cNvPr id="66" name="Shape 64"/>
          <p:cNvSpPr/>
          <p:nvPr/>
        </p:nvSpPr>
        <p:spPr>
          <a:xfrm>
            <a:off x="6428232" y="4817364"/>
            <a:ext cx="1371600" cy="440436"/>
          </a:xfrm>
          <a:prstGeom prst="rect">
            <a:avLst/>
          </a:prstGeom>
          <a:solidFill>
            <a:srgbClr val="F1F3F2"/>
          </a:solidFill>
          <a:ln w="5715">
            <a:solidFill>
              <a:srgbClr val="E2E6E2"/>
            </a:solidFill>
            <a:prstDash val="solid"/>
          </a:ln>
        </p:spPr>
      </p:sp>
      <p:sp>
        <p:nvSpPr>
          <p:cNvPr id="67" name="Shape 65"/>
          <p:cNvSpPr/>
          <p:nvPr/>
        </p:nvSpPr>
        <p:spPr>
          <a:xfrm>
            <a:off x="6501384" y="4918710"/>
            <a:ext cx="1225296" cy="237744"/>
          </a:xfrm>
          <a:prstGeom prst="roundRect">
            <a:avLst>
              <a:gd name="adj" fmla="val 46154"/>
            </a:avLst>
          </a:prstGeom>
          <a:solidFill>
            <a:srgbClr val="F1F3F2"/>
          </a:solidFill>
          <a:ln w="6350">
            <a:solidFill>
              <a:srgbClr val="E2E6E2"/>
            </a:solidFill>
            <a:prstDash val="solid"/>
          </a:ln>
        </p:spPr>
      </p:sp>
      <p:sp>
        <p:nvSpPr>
          <p:cNvPr id="68" name="Text 66"/>
          <p:cNvSpPr/>
          <p:nvPr/>
        </p:nvSpPr>
        <p:spPr>
          <a:xfrm>
            <a:off x="6501384" y="491871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9" name="Shape 67"/>
          <p:cNvSpPr/>
          <p:nvPr/>
        </p:nvSpPr>
        <p:spPr>
          <a:xfrm>
            <a:off x="7799832" y="4817364"/>
            <a:ext cx="3767328" cy="440436"/>
          </a:xfrm>
          <a:prstGeom prst="rect">
            <a:avLst/>
          </a:prstGeom>
          <a:solidFill>
            <a:srgbClr val="F1F3F2"/>
          </a:solidFill>
          <a:ln w="5715">
            <a:solidFill>
              <a:srgbClr val="E2E6E2"/>
            </a:solidFill>
            <a:prstDash val="solid"/>
          </a:ln>
        </p:spPr>
      </p:sp>
      <p:sp>
        <p:nvSpPr>
          <p:cNvPr id="70" name="Text 68"/>
          <p:cNvSpPr/>
          <p:nvPr/>
        </p:nvSpPr>
        <p:spPr>
          <a:xfrm>
            <a:off x="7891272" y="486308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Expected by CSRD ready buyers.</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Our differentiation is energy grade data and cobenefit planning. The Q4 factor and method work is what removes the last credibility gap.</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9730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6438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CAPABILITY POSITION: SUPPLY CHAIN</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Supply Chain: strong network reach, still closing the automated PCF gap</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most contested product line in the market, and the one where our 2027 bets matter most.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011680" cy="365760"/>
          </a:xfrm>
          <a:prstGeom prst="rect">
            <a:avLst/>
          </a:prstGeom>
          <a:solidFill>
            <a:srgbClr val="005730"/>
          </a:solidFill>
          <a:ln w="5715">
            <a:solidFill>
              <a:srgbClr val="397257"/>
            </a:solidFill>
            <a:prstDash val="solid"/>
          </a:ln>
        </p:spPr>
      </p:sp>
      <p:sp>
        <p:nvSpPr>
          <p:cNvPr id="10" name="Text 8"/>
          <p:cNvSpPr/>
          <p:nvPr/>
        </p:nvSpPr>
        <p:spPr>
          <a:xfrm>
            <a:off x="713232" y="2084832"/>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084832"/>
            <a:ext cx="3794760" cy="365760"/>
          </a:xfrm>
          <a:prstGeom prst="rect">
            <a:avLst/>
          </a:prstGeom>
          <a:solidFill>
            <a:srgbClr val="005730"/>
          </a:solidFill>
          <a:ln w="5715">
            <a:solidFill>
              <a:srgbClr val="397257"/>
            </a:solidFill>
            <a:prstDash val="solid"/>
          </a:ln>
        </p:spPr>
      </p:sp>
      <p:sp>
        <p:nvSpPr>
          <p:cNvPr id="12" name="Text 10"/>
          <p:cNvSpPr/>
          <p:nvPr/>
        </p:nvSpPr>
        <p:spPr>
          <a:xfrm>
            <a:off x="2724912" y="2084832"/>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084832"/>
            <a:ext cx="1371600" cy="365760"/>
          </a:xfrm>
          <a:prstGeom prst="rect">
            <a:avLst/>
          </a:prstGeom>
          <a:solidFill>
            <a:srgbClr val="005730"/>
          </a:solidFill>
          <a:ln w="5715">
            <a:solidFill>
              <a:srgbClr val="397257"/>
            </a:solidFill>
            <a:prstDash val="solid"/>
          </a:ln>
        </p:spPr>
      </p:sp>
      <p:sp>
        <p:nvSpPr>
          <p:cNvPr id="14" name="Text 12"/>
          <p:cNvSpPr/>
          <p:nvPr/>
        </p:nvSpPr>
        <p:spPr>
          <a:xfrm>
            <a:off x="6519672" y="2084832"/>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EXPECTED POSITION</a:t>
            </a:r>
            <a:endParaRPr lang="en-US" sz="760" dirty="0"/>
          </a:p>
        </p:txBody>
      </p:sp>
      <p:sp>
        <p:nvSpPr>
          <p:cNvPr id="15" name="Shape 13"/>
          <p:cNvSpPr/>
          <p:nvPr/>
        </p:nvSpPr>
        <p:spPr>
          <a:xfrm>
            <a:off x="7799832" y="2084832"/>
            <a:ext cx="3767328" cy="365760"/>
          </a:xfrm>
          <a:prstGeom prst="rect">
            <a:avLst/>
          </a:prstGeom>
          <a:solidFill>
            <a:srgbClr val="005730"/>
          </a:solidFill>
          <a:ln w="5715">
            <a:solidFill>
              <a:srgbClr val="397257"/>
            </a:solidFill>
            <a:prstDash val="solid"/>
          </a:ln>
        </p:spPr>
      </p:sp>
      <p:sp>
        <p:nvSpPr>
          <p:cNvPr id="16" name="Text 14"/>
          <p:cNvSpPr/>
          <p:nvPr/>
        </p:nvSpPr>
        <p:spPr>
          <a:xfrm>
            <a:off x="7891272" y="2084832"/>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450592"/>
            <a:ext cx="2011680" cy="467868"/>
          </a:xfrm>
          <a:prstGeom prst="rect">
            <a:avLst/>
          </a:prstGeom>
          <a:solidFill>
            <a:srgbClr val="FFFFFF"/>
          </a:solidFill>
          <a:ln w="5715">
            <a:solidFill>
              <a:srgbClr val="E2E6E2"/>
            </a:solidFill>
            <a:prstDash val="solid"/>
          </a:ln>
        </p:spPr>
      </p:sp>
      <p:sp>
        <p:nvSpPr>
          <p:cNvPr id="18" name="Text 16"/>
          <p:cNvSpPr/>
          <p:nvPr/>
        </p:nvSpPr>
        <p:spPr>
          <a:xfrm>
            <a:off x="713232" y="249631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Supplier engagement reach</a:t>
            </a:r>
            <a:endParaRPr lang="en-US" sz="900" dirty="0"/>
          </a:p>
        </p:txBody>
      </p:sp>
      <p:sp>
        <p:nvSpPr>
          <p:cNvPr id="19" name="Shape 17"/>
          <p:cNvSpPr/>
          <p:nvPr/>
        </p:nvSpPr>
        <p:spPr>
          <a:xfrm>
            <a:off x="2633472" y="2450592"/>
            <a:ext cx="3794760" cy="467868"/>
          </a:xfrm>
          <a:prstGeom prst="rect">
            <a:avLst/>
          </a:prstGeom>
          <a:solidFill>
            <a:srgbClr val="FFFFFF"/>
          </a:solidFill>
          <a:ln w="5715">
            <a:solidFill>
              <a:srgbClr val="E2E6E2"/>
            </a:solidFill>
            <a:prstDash val="solid"/>
          </a:ln>
        </p:spPr>
      </p:sp>
      <p:sp>
        <p:nvSpPr>
          <p:cNvPr id="20" name="Text 18"/>
          <p:cNvSpPr/>
          <p:nvPr/>
        </p:nvSpPr>
        <p:spPr>
          <a:xfrm>
            <a:off x="2724912" y="249631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Built on Zeigo Hub heritage: campaigns at scale, structured supplier education programs and learning paths.</a:t>
            </a:r>
            <a:endParaRPr lang="en-US" sz="800" dirty="0"/>
          </a:p>
        </p:txBody>
      </p:sp>
      <p:sp>
        <p:nvSpPr>
          <p:cNvPr id="21" name="Shape 19"/>
          <p:cNvSpPr/>
          <p:nvPr/>
        </p:nvSpPr>
        <p:spPr>
          <a:xfrm>
            <a:off x="6428232" y="2450592"/>
            <a:ext cx="1371600" cy="467868"/>
          </a:xfrm>
          <a:prstGeom prst="rect">
            <a:avLst/>
          </a:prstGeom>
          <a:solidFill>
            <a:srgbClr val="FFFFFF"/>
          </a:solidFill>
          <a:ln w="5715">
            <a:solidFill>
              <a:srgbClr val="E2E6E2"/>
            </a:solidFill>
            <a:prstDash val="solid"/>
          </a:ln>
        </p:spPr>
      </p:sp>
      <p:sp>
        <p:nvSpPr>
          <p:cNvPr id="22" name="Shape 20"/>
          <p:cNvSpPr/>
          <p:nvPr/>
        </p:nvSpPr>
        <p:spPr>
          <a:xfrm>
            <a:off x="6501384" y="2565654"/>
            <a:ext cx="1225296" cy="237744"/>
          </a:xfrm>
          <a:prstGeom prst="roundRect">
            <a:avLst>
              <a:gd name="adj" fmla="val 46154"/>
            </a:avLst>
          </a:prstGeom>
          <a:solidFill>
            <a:srgbClr val="EAF8ED"/>
          </a:solidFill>
          <a:ln w="6350">
            <a:solidFill>
              <a:srgbClr val="3DCD58"/>
            </a:solidFill>
            <a:prstDash val="solid"/>
          </a:ln>
        </p:spPr>
      </p:sp>
      <p:sp>
        <p:nvSpPr>
          <p:cNvPr id="23" name="Text 21"/>
          <p:cNvSpPr/>
          <p:nvPr/>
        </p:nvSpPr>
        <p:spPr>
          <a:xfrm>
            <a:off x="6501384" y="256565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24" name="Shape 22"/>
          <p:cNvSpPr/>
          <p:nvPr/>
        </p:nvSpPr>
        <p:spPr>
          <a:xfrm>
            <a:off x="7799832" y="2450592"/>
            <a:ext cx="3767328" cy="467868"/>
          </a:xfrm>
          <a:prstGeom prst="rect">
            <a:avLst/>
          </a:prstGeom>
          <a:solidFill>
            <a:srgbClr val="FFFFFF"/>
          </a:solidFill>
          <a:ln w="5715">
            <a:solidFill>
              <a:srgbClr val="E2E6E2"/>
            </a:solidFill>
            <a:prstDash val="solid"/>
          </a:ln>
        </p:spPr>
      </p:sp>
      <p:sp>
        <p:nvSpPr>
          <p:cNvPr id="25" name="Text 23"/>
          <p:cNvSpPr/>
          <p:nvPr/>
        </p:nvSpPr>
        <p:spPr>
          <a:xfrm>
            <a:off x="7891272" y="249631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Reach at this scale is rare outside the largest platforms.</a:t>
            </a:r>
            <a:endParaRPr lang="en-US" sz="800" dirty="0"/>
          </a:p>
        </p:txBody>
      </p:sp>
      <p:sp>
        <p:nvSpPr>
          <p:cNvPr id="26" name="Shape 24"/>
          <p:cNvSpPr/>
          <p:nvPr/>
        </p:nvSpPr>
        <p:spPr>
          <a:xfrm>
            <a:off x="621792" y="2918460"/>
            <a:ext cx="2011680" cy="467868"/>
          </a:xfrm>
          <a:prstGeom prst="rect">
            <a:avLst/>
          </a:prstGeom>
          <a:solidFill>
            <a:srgbClr val="F1F3F2"/>
          </a:solidFill>
          <a:ln w="5715">
            <a:solidFill>
              <a:srgbClr val="E2E6E2"/>
            </a:solidFill>
            <a:prstDash val="solid"/>
          </a:ln>
        </p:spPr>
      </p:sp>
      <p:sp>
        <p:nvSpPr>
          <p:cNvPr id="27" name="Text 25"/>
          <p:cNvSpPr/>
          <p:nvPr/>
        </p:nvSpPr>
        <p:spPr>
          <a:xfrm>
            <a:off x="713232" y="2964180"/>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Product carbon footprint</a:t>
            </a:r>
            <a:endParaRPr lang="en-US" sz="900" dirty="0"/>
          </a:p>
        </p:txBody>
      </p:sp>
      <p:sp>
        <p:nvSpPr>
          <p:cNvPr id="28" name="Shape 26"/>
          <p:cNvSpPr/>
          <p:nvPr/>
        </p:nvSpPr>
        <p:spPr>
          <a:xfrm>
            <a:off x="2633472" y="2918460"/>
            <a:ext cx="3794760" cy="467868"/>
          </a:xfrm>
          <a:prstGeom prst="rect">
            <a:avLst/>
          </a:prstGeom>
          <a:solidFill>
            <a:srgbClr val="F1F3F2"/>
          </a:solidFill>
          <a:ln w="5715">
            <a:solidFill>
              <a:srgbClr val="E2E6E2"/>
            </a:solidFill>
            <a:prstDash val="solid"/>
          </a:ln>
        </p:spPr>
      </p:sp>
      <p:sp>
        <p:nvSpPr>
          <p:cNvPr id="29" name="Text 27"/>
          <p:cNvSpPr/>
          <p:nvPr/>
        </p:nvSpPr>
        <p:spPr>
          <a:xfrm>
            <a:off x="2724912" y="2964180"/>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Light PCF calculator in 2027 H1, deeper PCF after.</a:t>
            </a:r>
            <a:endParaRPr lang="en-US" sz="800" dirty="0"/>
          </a:p>
        </p:txBody>
      </p:sp>
      <p:sp>
        <p:nvSpPr>
          <p:cNvPr id="30" name="Shape 28"/>
          <p:cNvSpPr/>
          <p:nvPr/>
        </p:nvSpPr>
        <p:spPr>
          <a:xfrm>
            <a:off x="6428232" y="2918460"/>
            <a:ext cx="1371600" cy="467868"/>
          </a:xfrm>
          <a:prstGeom prst="rect">
            <a:avLst/>
          </a:prstGeom>
          <a:solidFill>
            <a:srgbClr val="F1F3F2"/>
          </a:solidFill>
          <a:ln w="5715">
            <a:solidFill>
              <a:srgbClr val="E2E6E2"/>
            </a:solidFill>
            <a:prstDash val="solid"/>
          </a:ln>
        </p:spPr>
      </p:sp>
      <p:sp>
        <p:nvSpPr>
          <p:cNvPr id="31" name="Shape 29"/>
          <p:cNvSpPr/>
          <p:nvPr/>
        </p:nvSpPr>
        <p:spPr>
          <a:xfrm>
            <a:off x="6501384" y="3033522"/>
            <a:ext cx="1225296" cy="237744"/>
          </a:xfrm>
          <a:prstGeom prst="roundRect">
            <a:avLst>
              <a:gd name="adj" fmla="val 46154"/>
            </a:avLst>
          </a:prstGeom>
          <a:solidFill>
            <a:srgbClr val="FFF4E3"/>
          </a:solidFill>
          <a:ln w="6350">
            <a:solidFill>
              <a:srgbClr val="FFB04C"/>
            </a:solidFill>
            <a:prstDash val="solid"/>
          </a:ln>
        </p:spPr>
      </p:sp>
      <p:sp>
        <p:nvSpPr>
          <p:cNvPr id="32" name="Text 30"/>
          <p:cNvSpPr/>
          <p:nvPr/>
        </p:nvSpPr>
        <p:spPr>
          <a:xfrm>
            <a:off x="6501384" y="303352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Behind</a:t>
            </a:r>
            <a:endParaRPr lang="en-US" sz="740" dirty="0"/>
          </a:p>
        </p:txBody>
      </p:sp>
      <p:sp>
        <p:nvSpPr>
          <p:cNvPr id="33" name="Shape 31"/>
          <p:cNvSpPr/>
          <p:nvPr/>
        </p:nvSpPr>
        <p:spPr>
          <a:xfrm>
            <a:off x="7799832" y="2918460"/>
            <a:ext cx="3767328" cy="467868"/>
          </a:xfrm>
          <a:prstGeom prst="rect">
            <a:avLst/>
          </a:prstGeom>
          <a:solidFill>
            <a:srgbClr val="F1F3F2"/>
          </a:solidFill>
          <a:ln w="5715">
            <a:solidFill>
              <a:srgbClr val="E2E6E2"/>
            </a:solidFill>
            <a:prstDash val="solid"/>
          </a:ln>
        </p:spPr>
      </p:sp>
      <p:sp>
        <p:nvSpPr>
          <p:cNvPr id="34" name="Text 32"/>
          <p:cNvSpPr/>
          <p:nvPr/>
        </p:nvSpPr>
        <p:spPr>
          <a:xfrm>
            <a:off x="7891272" y="2964180"/>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osapiens and Watershed market BoM driven, largely automated PCF creation today.</a:t>
            </a:r>
            <a:endParaRPr lang="en-US" sz="800" dirty="0"/>
          </a:p>
        </p:txBody>
      </p:sp>
      <p:sp>
        <p:nvSpPr>
          <p:cNvPr id="35" name="Shape 33"/>
          <p:cNvSpPr/>
          <p:nvPr/>
        </p:nvSpPr>
        <p:spPr>
          <a:xfrm>
            <a:off x="621792" y="3386328"/>
            <a:ext cx="2011680" cy="467868"/>
          </a:xfrm>
          <a:prstGeom prst="rect">
            <a:avLst/>
          </a:prstGeom>
          <a:solidFill>
            <a:srgbClr val="FFFFFF"/>
          </a:solidFill>
          <a:ln w="5715">
            <a:solidFill>
              <a:srgbClr val="E2E6E2"/>
            </a:solidFill>
            <a:prstDash val="solid"/>
          </a:ln>
        </p:spPr>
      </p:sp>
      <p:sp>
        <p:nvSpPr>
          <p:cNvPr id="36" name="Text 34"/>
          <p:cNvSpPr/>
          <p:nvPr/>
        </p:nvSpPr>
        <p:spPr>
          <a:xfrm>
            <a:off x="713232" y="3432048"/>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Category 1 and 4 data into the inventory</a:t>
            </a:r>
            <a:endParaRPr lang="en-US" sz="900" dirty="0"/>
          </a:p>
        </p:txBody>
      </p:sp>
      <p:sp>
        <p:nvSpPr>
          <p:cNvPr id="37" name="Shape 35"/>
          <p:cNvSpPr/>
          <p:nvPr/>
        </p:nvSpPr>
        <p:spPr>
          <a:xfrm>
            <a:off x="2633472" y="3386328"/>
            <a:ext cx="3794760" cy="467868"/>
          </a:xfrm>
          <a:prstGeom prst="rect">
            <a:avLst/>
          </a:prstGeom>
          <a:solidFill>
            <a:srgbClr val="FFFFFF"/>
          </a:solidFill>
          <a:ln w="5715">
            <a:solidFill>
              <a:srgbClr val="E2E6E2"/>
            </a:solidFill>
            <a:prstDash val="solid"/>
          </a:ln>
        </p:spPr>
      </p:sp>
      <p:sp>
        <p:nvSpPr>
          <p:cNvPr id="38" name="Text 36"/>
          <p:cNvSpPr/>
          <p:nvPr/>
        </p:nvSpPr>
        <p:spPr>
          <a:xfrm>
            <a:off x="2724912" y="3432048"/>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Supplier and transport data flows straight into the shared carbon inventory.</a:t>
            </a:r>
            <a:endParaRPr lang="en-US" sz="800" dirty="0"/>
          </a:p>
        </p:txBody>
      </p:sp>
      <p:sp>
        <p:nvSpPr>
          <p:cNvPr id="39" name="Shape 37"/>
          <p:cNvSpPr/>
          <p:nvPr/>
        </p:nvSpPr>
        <p:spPr>
          <a:xfrm>
            <a:off x="6428232" y="3386328"/>
            <a:ext cx="1371600" cy="467868"/>
          </a:xfrm>
          <a:prstGeom prst="rect">
            <a:avLst/>
          </a:prstGeom>
          <a:solidFill>
            <a:srgbClr val="FFFFFF"/>
          </a:solidFill>
          <a:ln w="5715">
            <a:solidFill>
              <a:srgbClr val="E2E6E2"/>
            </a:solidFill>
            <a:prstDash val="solid"/>
          </a:ln>
        </p:spPr>
      </p:sp>
      <p:sp>
        <p:nvSpPr>
          <p:cNvPr id="40" name="Shape 38"/>
          <p:cNvSpPr/>
          <p:nvPr/>
        </p:nvSpPr>
        <p:spPr>
          <a:xfrm>
            <a:off x="6501384" y="3501390"/>
            <a:ext cx="1225296" cy="237744"/>
          </a:xfrm>
          <a:prstGeom prst="roundRect">
            <a:avLst>
              <a:gd name="adj" fmla="val 46154"/>
            </a:avLst>
          </a:prstGeom>
          <a:solidFill>
            <a:srgbClr val="EAF8ED"/>
          </a:solidFill>
          <a:ln w="6350">
            <a:solidFill>
              <a:srgbClr val="3DCD58"/>
            </a:solidFill>
            <a:prstDash val="solid"/>
          </a:ln>
        </p:spPr>
      </p:sp>
      <p:sp>
        <p:nvSpPr>
          <p:cNvPr id="41" name="Text 39"/>
          <p:cNvSpPr/>
          <p:nvPr/>
        </p:nvSpPr>
        <p:spPr>
          <a:xfrm>
            <a:off x="6501384" y="350139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42" name="Shape 40"/>
          <p:cNvSpPr/>
          <p:nvPr/>
        </p:nvSpPr>
        <p:spPr>
          <a:xfrm>
            <a:off x="7799832" y="3386328"/>
            <a:ext cx="3767328" cy="467868"/>
          </a:xfrm>
          <a:prstGeom prst="rect">
            <a:avLst/>
          </a:prstGeom>
          <a:solidFill>
            <a:srgbClr val="FFFFFF"/>
          </a:solidFill>
          <a:ln w="5715">
            <a:solidFill>
              <a:srgbClr val="E2E6E2"/>
            </a:solidFill>
            <a:prstDash val="solid"/>
          </a:ln>
        </p:spPr>
      </p:sp>
      <p:sp>
        <p:nvSpPr>
          <p:cNvPr id="43" name="Text 41"/>
          <p:cNvSpPr/>
          <p:nvPr/>
        </p:nvSpPr>
        <p:spPr>
          <a:xfrm>
            <a:off x="7891272" y="3432048"/>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Most rivals move this data between separate tools.</a:t>
            </a:r>
            <a:endParaRPr lang="en-US" sz="800" dirty="0"/>
          </a:p>
        </p:txBody>
      </p:sp>
      <p:sp>
        <p:nvSpPr>
          <p:cNvPr id="44" name="Shape 42"/>
          <p:cNvSpPr/>
          <p:nvPr/>
        </p:nvSpPr>
        <p:spPr>
          <a:xfrm>
            <a:off x="621792" y="3854196"/>
            <a:ext cx="2011680" cy="467868"/>
          </a:xfrm>
          <a:prstGeom prst="rect">
            <a:avLst/>
          </a:prstGeom>
          <a:solidFill>
            <a:srgbClr val="F1F3F2"/>
          </a:solidFill>
          <a:ln w="5715">
            <a:solidFill>
              <a:srgbClr val="E2E6E2"/>
            </a:solidFill>
            <a:prstDash val="solid"/>
          </a:ln>
        </p:spPr>
      </p:sp>
      <p:sp>
        <p:nvSpPr>
          <p:cNvPr id="45" name="Text 43"/>
          <p:cNvSpPr/>
          <p:nvPr/>
        </p:nvSpPr>
        <p:spPr>
          <a:xfrm>
            <a:off x="713232" y="3899916"/>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Data quality assurance</a:t>
            </a:r>
            <a:endParaRPr lang="en-US" sz="900" dirty="0"/>
          </a:p>
        </p:txBody>
      </p:sp>
      <p:sp>
        <p:nvSpPr>
          <p:cNvPr id="46" name="Shape 44"/>
          <p:cNvSpPr/>
          <p:nvPr/>
        </p:nvSpPr>
        <p:spPr>
          <a:xfrm>
            <a:off x="2633472" y="3854196"/>
            <a:ext cx="3794760" cy="467868"/>
          </a:xfrm>
          <a:prstGeom prst="rect">
            <a:avLst/>
          </a:prstGeom>
          <a:solidFill>
            <a:srgbClr val="F1F3F2"/>
          </a:solidFill>
          <a:ln w="5715">
            <a:solidFill>
              <a:srgbClr val="E2E6E2"/>
            </a:solidFill>
            <a:prstDash val="solid"/>
          </a:ln>
        </p:spPr>
      </p:sp>
      <p:sp>
        <p:nvSpPr>
          <p:cNvPr id="47" name="Text 45"/>
          <p:cNvSpPr/>
          <p:nvPr/>
        </p:nvSpPr>
        <p:spPr>
          <a:xfrm>
            <a:off x="2724912" y="3899916"/>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Improved data quality assurance and scoring on collected supplier data.</a:t>
            </a:r>
            <a:endParaRPr lang="en-US" sz="800" dirty="0"/>
          </a:p>
        </p:txBody>
      </p:sp>
      <p:sp>
        <p:nvSpPr>
          <p:cNvPr id="48" name="Shape 46"/>
          <p:cNvSpPr/>
          <p:nvPr/>
        </p:nvSpPr>
        <p:spPr>
          <a:xfrm>
            <a:off x="6428232" y="3854196"/>
            <a:ext cx="1371600" cy="467868"/>
          </a:xfrm>
          <a:prstGeom prst="rect">
            <a:avLst/>
          </a:prstGeom>
          <a:solidFill>
            <a:srgbClr val="F1F3F2"/>
          </a:solidFill>
          <a:ln w="5715">
            <a:solidFill>
              <a:srgbClr val="E2E6E2"/>
            </a:solidFill>
            <a:prstDash val="solid"/>
          </a:ln>
        </p:spPr>
      </p:sp>
      <p:sp>
        <p:nvSpPr>
          <p:cNvPr id="49" name="Shape 47"/>
          <p:cNvSpPr/>
          <p:nvPr/>
        </p:nvSpPr>
        <p:spPr>
          <a:xfrm>
            <a:off x="6501384" y="3969258"/>
            <a:ext cx="1225296" cy="237744"/>
          </a:xfrm>
          <a:prstGeom prst="roundRect">
            <a:avLst>
              <a:gd name="adj" fmla="val 46154"/>
            </a:avLst>
          </a:prstGeom>
          <a:solidFill>
            <a:srgbClr val="F1F3F2"/>
          </a:solidFill>
          <a:ln w="6350">
            <a:solidFill>
              <a:srgbClr val="E2E6E2"/>
            </a:solidFill>
            <a:prstDash val="solid"/>
          </a:ln>
        </p:spPr>
      </p:sp>
      <p:sp>
        <p:nvSpPr>
          <p:cNvPr id="50" name="Text 48"/>
          <p:cNvSpPr/>
          <p:nvPr/>
        </p:nvSpPr>
        <p:spPr>
          <a:xfrm>
            <a:off x="6501384" y="396925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51" name="Shape 49"/>
          <p:cNvSpPr/>
          <p:nvPr/>
        </p:nvSpPr>
        <p:spPr>
          <a:xfrm>
            <a:off x="7799832" y="3854196"/>
            <a:ext cx="3767328" cy="467868"/>
          </a:xfrm>
          <a:prstGeom prst="rect">
            <a:avLst/>
          </a:prstGeom>
          <a:solidFill>
            <a:srgbClr val="F1F3F2"/>
          </a:solidFill>
          <a:ln w="5715">
            <a:solidFill>
              <a:srgbClr val="E2E6E2"/>
            </a:solidFill>
            <a:prstDash val="solid"/>
          </a:ln>
        </p:spPr>
      </p:sp>
      <p:sp>
        <p:nvSpPr>
          <p:cNvPr id="52" name="Text 50"/>
          <p:cNvSpPr/>
          <p:nvPr/>
        </p:nvSpPr>
        <p:spPr>
          <a:xfrm>
            <a:off x="7891272" y="3899916"/>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Standard across the benchmarked field.</a:t>
            </a:r>
            <a:endParaRPr lang="en-US" sz="800" dirty="0"/>
          </a:p>
        </p:txBody>
      </p:sp>
      <p:sp>
        <p:nvSpPr>
          <p:cNvPr id="53" name="Shape 51"/>
          <p:cNvSpPr/>
          <p:nvPr/>
        </p:nvSpPr>
        <p:spPr>
          <a:xfrm>
            <a:off x="621792" y="4322064"/>
            <a:ext cx="2011680" cy="467868"/>
          </a:xfrm>
          <a:prstGeom prst="rect">
            <a:avLst/>
          </a:prstGeom>
          <a:solidFill>
            <a:srgbClr val="FFFFFF"/>
          </a:solidFill>
          <a:ln w="5715">
            <a:solidFill>
              <a:srgbClr val="E2E6E2"/>
            </a:solidFill>
            <a:prstDash val="solid"/>
          </a:ln>
        </p:spPr>
      </p:sp>
      <p:sp>
        <p:nvSpPr>
          <p:cNvPr id="54" name="Text 52"/>
          <p:cNvSpPr/>
          <p:nvPr/>
        </p:nvSpPr>
        <p:spPr>
          <a:xfrm>
            <a:off x="713232" y="4367784"/>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Supplier abatement</a:t>
            </a:r>
            <a:endParaRPr lang="en-US" sz="900" dirty="0"/>
          </a:p>
        </p:txBody>
      </p:sp>
      <p:sp>
        <p:nvSpPr>
          <p:cNvPr id="55" name="Shape 53"/>
          <p:cNvSpPr/>
          <p:nvPr/>
        </p:nvSpPr>
        <p:spPr>
          <a:xfrm>
            <a:off x="2633472" y="4322064"/>
            <a:ext cx="3794760" cy="467868"/>
          </a:xfrm>
          <a:prstGeom prst="rect">
            <a:avLst/>
          </a:prstGeom>
          <a:solidFill>
            <a:srgbClr val="FFFFFF"/>
          </a:solidFill>
          <a:ln w="5715">
            <a:solidFill>
              <a:srgbClr val="E2E6E2"/>
            </a:solidFill>
            <a:prstDash val="solid"/>
          </a:ln>
        </p:spPr>
      </p:sp>
      <p:sp>
        <p:nvSpPr>
          <p:cNvPr id="56" name="Text 54"/>
          <p:cNvSpPr/>
          <p:nvPr/>
        </p:nvSpPr>
        <p:spPr>
          <a:xfrm>
            <a:off x="2724912" y="4367784"/>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Guided decarbonisation and supplier action, sequenced for 2027.</a:t>
            </a:r>
            <a:endParaRPr lang="en-US" sz="800" dirty="0"/>
          </a:p>
        </p:txBody>
      </p:sp>
      <p:sp>
        <p:nvSpPr>
          <p:cNvPr id="57" name="Shape 55"/>
          <p:cNvSpPr/>
          <p:nvPr/>
        </p:nvSpPr>
        <p:spPr>
          <a:xfrm>
            <a:off x="6428232" y="4322064"/>
            <a:ext cx="1371600" cy="467868"/>
          </a:xfrm>
          <a:prstGeom prst="rect">
            <a:avLst/>
          </a:prstGeom>
          <a:solidFill>
            <a:srgbClr val="FFFFFF"/>
          </a:solidFill>
          <a:ln w="5715">
            <a:solidFill>
              <a:srgbClr val="E2E6E2"/>
            </a:solidFill>
            <a:prstDash val="solid"/>
          </a:ln>
        </p:spPr>
      </p:sp>
      <p:sp>
        <p:nvSpPr>
          <p:cNvPr id="58" name="Shape 56"/>
          <p:cNvSpPr/>
          <p:nvPr/>
        </p:nvSpPr>
        <p:spPr>
          <a:xfrm>
            <a:off x="6501384" y="4437126"/>
            <a:ext cx="1225296" cy="237744"/>
          </a:xfrm>
          <a:prstGeom prst="roundRect">
            <a:avLst>
              <a:gd name="adj" fmla="val 46154"/>
            </a:avLst>
          </a:prstGeom>
          <a:solidFill>
            <a:srgbClr val="FFF4E3"/>
          </a:solidFill>
          <a:ln w="6350">
            <a:solidFill>
              <a:srgbClr val="FFB04C"/>
            </a:solidFill>
            <a:prstDash val="solid"/>
          </a:ln>
        </p:spPr>
      </p:sp>
      <p:sp>
        <p:nvSpPr>
          <p:cNvPr id="59" name="Text 57"/>
          <p:cNvSpPr/>
          <p:nvPr/>
        </p:nvSpPr>
        <p:spPr>
          <a:xfrm>
            <a:off x="6501384" y="443712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60" name="Shape 58"/>
          <p:cNvSpPr/>
          <p:nvPr/>
        </p:nvSpPr>
        <p:spPr>
          <a:xfrm>
            <a:off x="7799832" y="4322064"/>
            <a:ext cx="3767328" cy="467868"/>
          </a:xfrm>
          <a:prstGeom prst="rect">
            <a:avLst/>
          </a:prstGeom>
          <a:solidFill>
            <a:srgbClr val="FFFFFF"/>
          </a:solidFill>
          <a:ln w="5715">
            <a:solidFill>
              <a:srgbClr val="E2E6E2"/>
            </a:solidFill>
            <a:prstDash val="solid"/>
          </a:ln>
        </p:spPr>
      </p:sp>
      <p:sp>
        <p:nvSpPr>
          <p:cNvPr id="61" name="Text 59"/>
          <p:cNvSpPr/>
          <p:nvPr/>
        </p:nvSpPr>
        <p:spPr>
          <a:xfrm>
            <a:off x="7891272" y="4367784"/>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Leaders already market supplier abatement programmes, not just collection.</a:t>
            </a:r>
            <a:endParaRPr lang="en-US" sz="800" dirty="0"/>
          </a:p>
        </p:txBody>
      </p:sp>
      <p:sp>
        <p:nvSpPr>
          <p:cNvPr id="62" name="Shape 60"/>
          <p:cNvSpPr/>
          <p:nvPr/>
        </p:nvSpPr>
        <p:spPr>
          <a:xfrm>
            <a:off x="621792" y="4789932"/>
            <a:ext cx="2011680" cy="467868"/>
          </a:xfrm>
          <a:prstGeom prst="rect">
            <a:avLst/>
          </a:prstGeom>
          <a:solidFill>
            <a:srgbClr val="F1F3F2"/>
          </a:solidFill>
          <a:ln w="5715">
            <a:solidFill>
              <a:srgbClr val="E2E6E2"/>
            </a:solidFill>
            <a:prstDash val="solid"/>
          </a:ln>
        </p:spPr>
      </p:sp>
      <p:sp>
        <p:nvSpPr>
          <p:cNvPr id="63" name="Text 61"/>
          <p:cNvSpPr/>
          <p:nvPr/>
        </p:nvSpPr>
        <p:spPr>
          <a:xfrm>
            <a:off x="713232" y="483565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Upstream and downstream transport</a:t>
            </a:r>
            <a:endParaRPr lang="en-US" sz="900" dirty="0"/>
          </a:p>
        </p:txBody>
      </p:sp>
      <p:sp>
        <p:nvSpPr>
          <p:cNvPr id="64" name="Shape 62"/>
          <p:cNvSpPr/>
          <p:nvPr/>
        </p:nvSpPr>
        <p:spPr>
          <a:xfrm>
            <a:off x="2633472" y="4789932"/>
            <a:ext cx="3794760" cy="467868"/>
          </a:xfrm>
          <a:prstGeom prst="rect">
            <a:avLst/>
          </a:prstGeom>
          <a:solidFill>
            <a:srgbClr val="F1F3F2"/>
          </a:solidFill>
          <a:ln w="5715">
            <a:solidFill>
              <a:srgbClr val="E2E6E2"/>
            </a:solidFill>
            <a:prstDash val="solid"/>
          </a:ln>
        </p:spPr>
      </p:sp>
      <p:sp>
        <p:nvSpPr>
          <p:cNvPr id="65" name="Text 63"/>
          <p:cNvSpPr/>
          <p:nvPr/>
        </p:nvSpPr>
        <p:spPr>
          <a:xfrm>
            <a:off x="2724912" y="483565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Category 4 and 9 product linked transport in 2027 H1.</a:t>
            </a:r>
            <a:endParaRPr lang="en-US" sz="800" dirty="0"/>
          </a:p>
        </p:txBody>
      </p:sp>
      <p:sp>
        <p:nvSpPr>
          <p:cNvPr id="66" name="Shape 64"/>
          <p:cNvSpPr/>
          <p:nvPr/>
        </p:nvSpPr>
        <p:spPr>
          <a:xfrm>
            <a:off x="6428232" y="4789932"/>
            <a:ext cx="1371600" cy="467868"/>
          </a:xfrm>
          <a:prstGeom prst="rect">
            <a:avLst/>
          </a:prstGeom>
          <a:solidFill>
            <a:srgbClr val="F1F3F2"/>
          </a:solidFill>
          <a:ln w="5715">
            <a:solidFill>
              <a:srgbClr val="E2E6E2"/>
            </a:solidFill>
            <a:prstDash val="solid"/>
          </a:ln>
        </p:spPr>
      </p:sp>
      <p:sp>
        <p:nvSpPr>
          <p:cNvPr id="67" name="Shape 65"/>
          <p:cNvSpPr/>
          <p:nvPr/>
        </p:nvSpPr>
        <p:spPr>
          <a:xfrm>
            <a:off x="6501384" y="4904994"/>
            <a:ext cx="1225296" cy="237744"/>
          </a:xfrm>
          <a:prstGeom prst="roundRect">
            <a:avLst>
              <a:gd name="adj" fmla="val 46154"/>
            </a:avLst>
          </a:prstGeom>
          <a:solidFill>
            <a:srgbClr val="F1F3F2"/>
          </a:solidFill>
          <a:ln w="6350">
            <a:solidFill>
              <a:srgbClr val="E2E6E2"/>
            </a:solidFill>
            <a:prstDash val="solid"/>
          </a:ln>
        </p:spPr>
      </p:sp>
      <p:sp>
        <p:nvSpPr>
          <p:cNvPr id="68" name="Text 66"/>
          <p:cNvSpPr/>
          <p:nvPr/>
        </p:nvSpPr>
        <p:spPr>
          <a:xfrm>
            <a:off x="6501384" y="490499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9" name="Shape 67"/>
          <p:cNvSpPr/>
          <p:nvPr/>
        </p:nvSpPr>
        <p:spPr>
          <a:xfrm>
            <a:off x="7799832" y="4789932"/>
            <a:ext cx="3767328" cy="467868"/>
          </a:xfrm>
          <a:prstGeom prst="rect">
            <a:avLst/>
          </a:prstGeom>
          <a:solidFill>
            <a:srgbClr val="F1F3F2"/>
          </a:solidFill>
          <a:ln w="5715">
            <a:solidFill>
              <a:srgbClr val="E2E6E2"/>
            </a:solidFill>
            <a:prstDash val="solid"/>
          </a:ln>
        </p:spPr>
      </p:sp>
      <p:sp>
        <p:nvSpPr>
          <p:cNvPr id="70" name="Text 68"/>
          <p:cNvSpPr/>
          <p:nvPr/>
        </p:nvSpPr>
        <p:spPr>
          <a:xfrm>
            <a:off x="7891272" y="483565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Covered by logistics focused rivals.</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We win on reach and on one inventory. PCF automation is the single capability where we are visibly behind and it needs protected capacity.</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475488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442569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CAPABILITY POSITION: REPORTING AND COMPLIANCE</a:t>
            </a:r>
            <a:endParaRPr lang="en-US" sz="950" dirty="0"/>
          </a:p>
        </p:txBody>
      </p:sp>
      <p:sp>
        <p:nvSpPr>
          <p:cNvPr id="6" name="Text 4"/>
          <p:cNvSpPr/>
          <p:nvPr/>
        </p:nvSpPr>
        <p:spPr>
          <a:xfrm>
            <a:off x="621792" y="768096"/>
            <a:ext cx="10948111" cy="914400"/>
          </a:xfrm>
          <a:prstGeom prst="rect">
            <a:avLst/>
          </a:prstGeom>
          <a:noFill/>
          <a:ln/>
        </p:spPr>
        <p:txBody>
          <a:bodyPr wrap="square" lIns="0" tIns="0" rIns="0" bIns="0" rtlCol="0" anchor="t">
            <a:normAutofit/>
          </a:bodyPr>
          <a:lstStyle/>
          <a:p>
            <a:pPr indent="0" marL="0">
              <a:buNone/>
            </a:pPr>
            <a:r>
              <a:rPr lang="en-US" sz="2500" b="1" dirty="0">
                <a:solidFill>
                  <a:srgbClr val="1E2420"/>
                </a:solidFill>
                <a:latin typeface="Calibri" pitchFamily="34" charset="0"/>
                <a:ea typeface="Calibri" pitchFamily="34" charset="-122"/>
                <a:cs typeface="Calibri" pitchFamily="34" charset="-120"/>
              </a:rPr>
              <a:t>Reporting and Compliance: parity is the target, speed of standing up is the risk</a:t>
            </a:r>
            <a:endParaRPr lang="en-US" sz="2500" dirty="0"/>
          </a:p>
        </p:txBody>
      </p:sp>
      <p:sp>
        <p:nvSpPr>
          <p:cNvPr id="7" name="Text 5"/>
          <p:cNvSpPr/>
          <p:nvPr/>
        </p:nvSpPr>
        <p:spPr>
          <a:xfrm>
            <a:off x="621792" y="173736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This is a crowded, regulation driven segment. Credibility comes from evidence and lineage, not feature count.</a:t>
            </a:r>
            <a:endParaRPr lang="en-US" sz="1250" dirty="0"/>
          </a:p>
        </p:txBody>
      </p:sp>
      <p:sp>
        <p:nvSpPr>
          <p:cNvPr id="8" name="Shape 6"/>
          <p:cNvSpPr/>
          <p:nvPr/>
        </p:nvSpPr>
        <p:spPr>
          <a:xfrm>
            <a:off x="621792" y="2084832"/>
            <a:ext cx="10948111" cy="0"/>
          </a:xfrm>
          <a:prstGeom prst="line">
            <a:avLst/>
          </a:prstGeom>
          <a:noFill/>
          <a:ln w="9525">
            <a:solidFill>
              <a:srgbClr val="E2E6E2"/>
            </a:solidFill>
            <a:prstDash val="solid"/>
          </a:ln>
        </p:spPr>
      </p:sp>
      <p:sp>
        <p:nvSpPr>
          <p:cNvPr id="9" name="Shape 7"/>
          <p:cNvSpPr/>
          <p:nvPr/>
        </p:nvSpPr>
        <p:spPr>
          <a:xfrm>
            <a:off x="621792" y="2249424"/>
            <a:ext cx="2011680" cy="365760"/>
          </a:xfrm>
          <a:prstGeom prst="rect">
            <a:avLst/>
          </a:prstGeom>
          <a:solidFill>
            <a:srgbClr val="005730"/>
          </a:solidFill>
          <a:ln w="5715">
            <a:solidFill>
              <a:srgbClr val="397257"/>
            </a:solidFill>
            <a:prstDash val="solid"/>
          </a:ln>
        </p:spPr>
      </p:sp>
      <p:sp>
        <p:nvSpPr>
          <p:cNvPr id="10" name="Text 8"/>
          <p:cNvSpPr/>
          <p:nvPr/>
        </p:nvSpPr>
        <p:spPr>
          <a:xfrm>
            <a:off x="713232" y="2249424"/>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249424"/>
            <a:ext cx="3794760" cy="365760"/>
          </a:xfrm>
          <a:prstGeom prst="rect">
            <a:avLst/>
          </a:prstGeom>
          <a:solidFill>
            <a:srgbClr val="005730"/>
          </a:solidFill>
          <a:ln w="5715">
            <a:solidFill>
              <a:srgbClr val="397257"/>
            </a:solidFill>
            <a:prstDash val="solid"/>
          </a:ln>
        </p:spPr>
      </p:sp>
      <p:sp>
        <p:nvSpPr>
          <p:cNvPr id="12" name="Text 10"/>
          <p:cNvSpPr/>
          <p:nvPr/>
        </p:nvSpPr>
        <p:spPr>
          <a:xfrm>
            <a:off x="2724912" y="2249424"/>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249424"/>
            <a:ext cx="1371600" cy="365760"/>
          </a:xfrm>
          <a:prstGeom prst="rect">
            <a:avLst/>
          </a:prstGeom>
          <a:solidFill>
            <a:srgbClr val="005730"/>
          </a:solidFill>
          <a:ln w="5715">
            <a:solidFill>
              <a:srgbClr val="397257"/>
            </a:solidFill>
            <a:prstDash val="solid"/>
          </a:ln>
        </p:spPr>
      </p:sp>
      <p:sp>
        <p:nvSpPr>
          <p:cNvPr id="14" name="Text 12"/>
          <p:cNvSpPr/>
          <p:nvPr/>
        </p:nvSpPr>
        <p:spPr>
          <a:xfrm>
            <a:off x="6519672" y="2249424"/>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EXPECTED POSITION</a:t>
            </a:r>
            <a:endParaRPr lang="en-US" sz="760" dirty="0"/>
          </a:p>
        </p:txBody>
      </p:sp>
      <p:sp>
        <p:nvSpPr>
          <p:cNvPr id="15" name="Shape 13"/>
          <p:cNvSpPr/>
          <p:nvPr/>
        </p:nvSpPr>
        <p:spPr>
          <a:xfrm>
            <a:off x="7799832" y="2249424"/>
            <a:ext cx="3767328" cy="365760"/>
          </a:xfrm>
          <a:prstGeom prst="rect">
            <a:avLst/>
          </a:prstGeom>
          <a:solidFill>
            <a:srgbClr val="005730"/>
          </a:solidFill>
          <a:ln w="5715">
            <a:solidFill>
              <a:srgbClr val="397257"/>
            </a:solidFill>
            <a:prstDash val="solid"/>
          </a:ln>
        </p:spPr>
      </p:sp>
      <p:sp>
        <p:nvSpPr>
          <p:cNvPr id="16" name="Text 14"/>
          <p:cNvSpPr/>
          <p:nvPr/>
        </p:nvSpPr>
        <p:spPr>
          <a:xfrm>
            <a:off x="7891272" y="2249424"/>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615184"/>
            <a:ext cx="2011680" cy="440436"/>
          </a:xfrm>
          <a:prstGeom prst="rect">
            <a:avLst/>
          </a:prstGeom>
          <a:solidFill>
            <a:srgbClr val="FFFFFF"/>
          </a:solidFill>
          <a:ln w="5715">
            <a:solidFill>
              <a:srgbClr val="E2E6E2"/>
            </a:solidFill>
            <a:prstDash val="solid"/>
          </a:ln>
        </p:spPr>
      </p:sp>
      <p:sp>
        <p:nvSpPr>
          <p:cNvPr id="18" name="Text 16"/>
          <p:cNvSpPr/>
          <p:nvPr/>
        </p:nvSpPr>
        <p:spPr>
          <a:xfrm>
            <a:off x="713232" y="266090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Framework library</a:t>
            </a:r>
            <a:endParaRPr lang="en-US" sz="900" dirty="0"/>
          </a:p>
        </p:txBody>
      </p:sp>
      <p:sp>
        <p:nvSpPr>
          <p:cNvPr id="19" name="Shape 17"/>
          <p:cNvSpPr/>
          <p:nvPr/>
        </p:nvSpPr>
        <p:spPr>
          <a:xfrm>
            <a:off x="2633472" y="2615184"/>
            <a:ext cx="3794760" cy="440436"/>
          </a:xfrm>
          <a:prstGeom prst="rect">
            <a:avLst/>
          </a:prstGeom>
          <a:solidFill>
            <a:srgbClr val="FFFFFF"/>
          </a:solidFill>
          <a:ln w="5715">
            <a:solidFill>
              <a:srgbClr val="E2E6E2"/>
            </a:solidFill>
            <a:prstDash val="solid"/>
          </a:ln>
        </p:spPr>
      </p:sp>
      <p:sp>
        <p:nvSpPr>
          <p:cNvPr id="20" name="Text 18"/>
          <p:cNvSpPr/>
          <p:nvPr/>
        </p:nvSpPr>
        <p:spPr>
          <a:xfrm>
            <a:off x="2724912" y="266090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CSRD foundations built in 2026, wider frameworks after.</a:t>
            </a:r>
            <a:endParaRPr lang="en-US" sz="800" dirty="0"/>
          </a:p>
        </p:txBody>
      </p:sp>
      <p:sp>
        <p:nvSpPr>
          <p:cNvPr id="21" name="Shape 19"/>
          <p:cNvSpPr/>
          <p:nvPr/>
        </p:nvSpPr>
        <p:spPr>
          <a:xfrm>
            <a:off x="6428232" y="2615184"/>
            <a:ext cx="1371600" cy="440436"/>
          </a:xfrm>
          <a:prstGeom prst="rect">
            <a:avLst/>
          </a:prstGeom>
          <a:solidFill>
            <a:srgbClr val="FFFFFF"/>
          </a:solidFill>
          <a:ln w="5715">
            <a:solidFill>
              <a:srgbClr val="E2E6E2"/>
            </a:solidFill>
            <a:prstDash val="solid"/>
          </a:ln>
        </p:spPr>
      </p:sp>
      <p:sp>
        <p:nvSpPr>
          <p:cNvPr id="22" name="Shape 20"/>
          <p:cNvSpPr/>
          <p:nvPr/>
        </p:nvSpPr>
        <p:spPr>
          <a:xfrm>
            <a:off x="6501384" y="2716530"/>
            <a:ext cx="1225296" cy="237744"/>
          </a:xfrm>
          <a:prstGeom prst="roundRect">
            <a:avLst>
              <a:gd name="adj" fmla="val 46154"/>
            </a:avLst>
          </a:prstGeom>
          <a:solidFill>
            <a:srgbClr val="FFF4E3"/>
          </a:solidFill>
          <a:ln w="6350">
            <a:solidFill>
              <a:srgbClr val="FFB04C"/>
            </a:solidFill>
            <a:prstDash val="solid"/>
          </a:ln>
        </p:spPr>
      </p:sp>
      <p:sp>
        <p:nvSpPr>
          <p:cNvPr id="23" name="Text 21"/>
          <p:cNvSpPr/>
          <p:nvPr/>
        </p:nvSpPr>
        <p:spPr>
          <a:xfrm>
            <a:off x="6501384" y="271653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Closing gap</a:t>
            </a:r>
            <a:endParaRPr lang="en-US" sz="740" dirty="0"/>
          </a:p>
        </p:txBody>
      </p:sp>
      <p:sp>
        <p:nvSpPr>
          <p:cNvPr id="24" name="Shape 22"/>
          <p:cNvSpPr/>
          <p:nvPr/>
        </p:nvSpPr>
        <p:spPr>
          <a:xfrm>
            <a:off x="7799832" y="2615184"/>
            <a:ext cx="3767328" cy="440436"/>
          </a:xfrm>
          <a:prstGeom prst="rect">
            <a:avLst/>
          </a:prstGeom>
          <a:solidFill>
            <a:srgbClr val="FFFFFF"/>
          </a:solidFill>
          <a:ln w="5715">
            <a:solidFill>
              <a:srgbClr val="E2E6E2"/>
            </a:solidFill>
            <a:prstDash val="solid"/>
          </a:ln>
        </p:spPr>
      </p:sp>
      <p:sp>
        <p:nvSpPr>
          <p:cNvPr id="25" name="Text 23"/>
          <p:cNvSpPr/>
          <p:nvPr/>
        </p:nvSpPr>
        <p:spPr>
          <a:xfrm>
            <a:off x="7891272" y="266090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Compliance specialists ship broad framework libraries out of the box.</a:t>
            </a:r>
            <a:endParaRPr lang="en-US" sz="800" dirty="0"/>
          </a:p>
        </p:txBody>
      </p:sp>
      <p:sp>
        <p:nvSpPr>
          <p:cNvPr id="26" name="Shape 24"/>
          <p:cNvSpPr/>
          <p:nvPr/>
        </p:nvSpPr>
        <p:spPr>
          <a:xfrm>
            <a:off x="621792" y="3055620"/>
            <a:ext cx="2011680" cy="440436"/>
          </a:xfrm>
          <a:prstGeom prst="rect">
            <a:avLst/>
          </a:prstGeom>
          <a:solidFill>
            <a:srgbClr val="F1F3F2"/>
          </a:solidFill>
          <a:ln w="5715">
            <a:solidFill>
              <a:srgbClr val="E2E6E2"/>
            </a:solidFill>
            <a:prstDash val="solid"/>
          </a:ln>
        </p:spPr>
      </p:sp>
      <p:sp>
        <p:nvSpPr>
          <p:cNvPr id="27" name="Text 25"/>
          <p:cNvSpPr/>
          <p:nvPr/>
        </p:nvSpPr>
        <p:spPr>
          <a:xfrm>
            <a:off x="713232" y="3101340"/>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Indicator management</a:t>
            </a:r>
            <a:endParaRPr lang="en-US" sz="900" dirty="0"/>
          </a:p>
        </p:txBody>
      </p:sp>
      <p:sp>
        <p:nvSpPr>
          <p:cNvPr id="28" name="Shape 26"/>
          <p:cNvSpPr/>
          <p:nvPr/>
        </p:nvSpPr>
        <p:spPr>
          <a:xfrm>
            <a:off x="2633472" y="3055620"/>
            <a:ext cx="3794760" cy="440436"/>
          </a:xfrm>
          <a:prstGeom prst="rect">
            <a:avLst/>
          </a:prstGeom>
          <a:solidFill>
            <a:srgbClr val="F1F3F2"/>
          </a:solidFill>
          <a:ln w="5715">
            <a:solidFill>
              <a:srgbClr val="E2E6E2"/>
            </a:solidFill>
            <a:prstDash val="solid"/>
          </a:ln>
        </p:spPr>
      </p:sp>
      <p:sp>
        <p:nvSpPr>
          <p:cNvPr id="29" name="Text 27"/>
          <p:cNvSpPr/>
          <p:nvPr/>
        </p:nvSpPr>
        <p:spPr>
          <a:xfrm>
            <a:off x="2724912" y="3101340"/>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Indicator library foundation, approval hierarchies and bulk assignment in Q4 2026.</a:t>
            </a:r>
            <a:endParaRPr lang="en-US" sz="800" dirty="0"/>
          </a:p>
        </p:txBody>
      </p:sp>
      <p:sp>
        <p:nvSpPr>
          <p:cNvPr id="30" name="Shape 28"/>
          <p:cNvSpPr/>
          <p:nvPr/>
        </p:nvSpPr>
        <p:spPr>
          <a:xfrm>
            <a:off x="6428232" y="3055620"/>
            <a:ext cx="1371600" cy="440436"/>
          </a:xfrm>
          <a:prstGeom prst="rect">
            <a:avLst/>
          </a:prstGeom>
          <a:solidFill>
            <a:srgbClr val="F1F3F2"/>
          </a:solidFill>
          <a:ln w="5715">
            <a:solidFill>
              <a:srgbClr val="E2E6E2"/>
            </a:solidFill>
            <a:prstDash val="solid"/>
          </a:ln>
        </p:spPr>
      </p:sp>
      <p:sp>
        <p:nvSpPr>
          <p:cNvPr id="31" name="Shape 29"/>
          <p:cNvSpPr/>
          <p:nvPr/>
        </p:nvSpPr>
        <p:spPr>
          <a:xfrm>
            <a:off x="6501384" y="3156966"/>
            <a:ext cx="1225296" cy="237744"/>
          </a:xfrm>
          <a:prstGeom prst="roundRect">
            <a:avLst>
              <a:gd name="adj" fmla="val 46154"/>
            </a:avLst>
          </a:prstGeom>
          <a:solidFill>
            <a:srgbClr val="F1F3F2"/>
          </a:solidFill>
          <a:ln w="6350">
            <a:solidFill>
              <a:srgbClr val="E2E6E2"/>
            </a:solidFill>
            <a:prstDash val="solid"/>
          </a:ln>
        </p:spPr>
      </p:sp>
      <p:sp>
        <p:nvSpPr>
          <p:cNvPr id="32" name="Text 30"/>
          <p:cNvSpPr/>
          <p:nvPr/>
        </p:nvSpPr>
        <p:spPr>
          <a:xfrm>
            <a:off x="6501384" y="315696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33" name="Shape 31"/>
          <p:cNvSpPr/>
          <p:nvPr/>
        </p:nvSpPr>
        <p:spPr>
          <a:xfrm>
            <a:off x="7799832" y="3055620"/>
            <a:ext cx="3767328" cy="440436"/>
          </a:xfrm>
          <a:prstGeom prst="rect">
            <a:avLst/>
          </a:prstGeom>
          <a:solidFill>
            <a:srgbClr val="F1F3F2"/>
          </a:solidFill>
          <a:ln w="5715">
            <a:solidFill>
              <a:srgbClr val="E2E6E2"/>
            </a:solidFill>
            <a:prstDash val="solid"/>
          </a:ln>
        </p:spPr>
      </p:sp>
      <p:sp>
        <p:nvSpPr>
          <p:cNvPr id="34" name="Text 32"/>
          <p:cNvSpPr/>
          <p:nvPr/>
        </p:nvSpPr>
        <p:spPr>
          <a:xfrm>
            <a:off x="7891272" y="3101340"/>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Expected capability in every enterprise disclosure tool.</a:t>
            </a:r>
            <a:endParaRPr lang="en-US" sz="800" dirty="0"/>
          </a:p>
        </p:txBody>
      </p:sp>
      <p:sp>
        <p:nvSpPr>
          <p:cNvPr id="35" name="Shape 33"/>
          <p:cNvSpPr/>
          <p:nvPr/>
        </p:nvSpPr>
        <p:spPr>
          <a:xfrm>
            <a:off x="621792" y="3496056"/>
            <a:ext cx="2011680" cy="440436"/>
          </a:xfrm>
          <a:prstGeom prst="rect">
            <a:avLst/>
          </a:prstGeom>
          <a:solidFill>
            <a:srgbClr val="FFFFFF"/>
          </a:solidFill>
          <a:ln w="5715">
            <a:solidFill>
              <a:srgbClr val="E2E6E2"/>
            </a:solidFill>
            <a:prstDash val="solid"/>
          </a:ln>
        </p:spPr>
      </p:sp>
      <p:sp>
        <p:nvSpPr>
          <p:cNvPr id="36" name="Text 34"/>
          <p:cNvSpPr/>
          <p:nvPr/>
        </p:nvSpPr>
        <p:spPr>
          <a:xfrm>
            <a:off x="713232" y="3541776"/>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Data ingestion and transformation</a:t>
            </a:r>
            <a:endParaRPr lang="en-US" sz="900" dirty="0"/>
          </a:p>
        </p:txBody>
      </p:sp>
      <p:sp>
        <p:nvSpPr>
          <p:cNvPr id="37" name="Shape 35"/>
          <p:cNvSpPr/>
          <p:nvPr/>
        </p:nvSpPr>
        <p:spPr>
          <a:xfrm>
            <a:off x="2633472" y="3496056"/>
            <a:ext cx="3794760" cy="440436"/>
          </a:xfrm>
          <a:prstGeom prst="rect">
            <a:avLst/>
          </a:prstGeom>
          <a:solidFill>
            <a:srgbClr val="FFFFFF"/>
          </a:solidFill>
          <a:ln w="5715">
            <a:solidFill>
              <a:srgbClr val="E2E6E2"/>
            </a:solidFill>
            <a:prstDash val="solid"/>
          </a:ln>
        </p:spPr>
      </p:sp>
      <p:sp>
        <p:nvSpPr>
          <p:cNvPr id="38" name="Text 36"/>
          <p:cNvSpPr/>
          <p:nvPr/>
        </p:nvSpPr>
        <p:spPr>
          <a:xfrm>
            <a:off x="2724912" y="3541776"/>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Advanced ingestion and transformation rules on the shared core.</a:t>
            </a:r>
            <a:endParaRPr lang="en-US" sz="800" dirty="0"/>
          </a:p>
        </p:txBody>
      </p:sp>
      <p:sp>
        <p:nvSpPr>
          <p:cNvPr id="39" name="Shape 37"/>
          <p:cNvSpPr/>
          <p:nvPr/>
        </p:nvSpPr>
        <p:spPr>
          <a:xfrm>
            <a:off x="6428232" y="3496056"/>
            <a:ext cx="1371600" cy="440436"/>
          </a:xfrm>
          <a:prstGeom prst="rect">
            <a:avLst/>
          </a:prstGeom>
          <a:solidFill>
            <a:srgbClr val="FFFFFF"/>
          </a:solidFill>
          <a:ln w="5715">
            <a:solidFill>
              <a:srgbClr val="E2E6E2"/>
            </a:solidFill>
            <a:prstDash val="solid"/>
          </a:ln>
        </p:spPr>
      </p:sp>
      <p:sp>
        <p:nvSpPr>
          <p:cNvPr id="40" name="Shape 38"/>
          <p:cNvSpPr/>
          <p:nvPr/>
        </p:nvSpPr>
        <p:spPr>
          <a:xfrm>
            <a:off x="6501384" y="3597402"/>
            <a:ext cx="1225296" cy="237744"/>
          </a:xfrm>
          <a:prstGeom prst="roundRect">
            <a:avLst>
              <a:gd name="adj" fmla="val 46154"/>
            </a:avLst>
          </a:prstGeom>
          <a:solidFill>
            <a:srgbClr val="F1F3F2"/>
          </a:solidFill>
          <a:ln w="6350">
            <a:solidFill>
              <a:srgbClr val="E2E6E2"/>
            </a:solidFill>
            <a:prstDash val="solid"/>
          </a:ln>
        </p:spPr>
      </p:sp>
      <p:sp>
        <p:nvSpPr>
          <p:cNvPr id="41" name="Text 39"/>
          <p:cNvSpPr/>
          <p:nvPr/>
        </p:nvSpPr>
        <p:spPr>
          <a:xfrm>
            <a:off x="6501384" y="359740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42" name="Shape 40"/>
          <p:cNvSpPr/>
          <p:nvPr/>
        </p:nvSpPr>
        <p:spPr>
          <a:xfrm>
            <a:off x="7799832" y="3496056"/>
            <a:ext cx="3767328" cy="440436"/>
          </a:xfrm>
          <a:prstGeom prst="rect">
            <a:avLst/>
          </a:prstGeom>
          <a:solidFill>
            <a:srgbClr val="FFFFFF"/>
          </a:solidFill>
          <a:ln w="5715">
            <a:solidFill>
              <a:srgbClr val="E2E6E2"/>
            </a:solidFill>
            <a:prstDash val="solid"/>
          </a:ln>
        </p:spPr>
      </p:sp>
      <p:sp>
        <p:nvSpPr>
          <p:cNvPr id="43" name="Text 41"/>
          <p:cNvSpPr/>
          <p:nvPr/>
        </p:nvSpPr>
        <p:spPr>
          <a:xfrm>
            <a:off x="7891272" y="3541776"/>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Comparable to the benchmarked field.</a:t>
            </a:r>
            <a:endParaRPr lang="en-US" sz="800" dirty="0"/>
          </a:p>
        </p:txBody>
      </p:sp>
      <p:sp>
        <p:nvSpPr>
          <p:cNvPr id="44" name="Shape 42"/>
          <p:cNvSpPr/>
          <p:nvPr/>
        </p:nvSpPr>
        <p:spPr>
          <a:xfrm>
            <a:off x="621792" y="3936492"/>
            <a:ext cx="2011680" cy="440436"/>
          </a:xfrm>
          <a:prstGeom prst="rect">
            <a:avLst/>
          </a:prstGeom>
          <a:solidFill>
            <a:srgbClr val="F1F3F2"/>
          </a:solidFill>
          <a:ln w="5715">
            <a:solidFill>
              <a:srgbClr val="E2E6E2"/>
            </a:solidFill>
            <a:prstDash val="solid"/>
          </a:ln>
        </p:spPr>
      </p:sp>
      <p:sp>
        <p:nvSpPr>
          <p:cNvPr id="45" name="Text 43"/>
          <p:cNvSpPr/>
          <p:nvPr/>
        </p:nvSpPr>
        <p:spPr>
          <a:xfrm>
            <a:off x="713232" y="3982212"/>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Lineage and audit evidence</a:t>
            </a:r>
            <a:endParaRPr lang="en-US" sz="900" dirty="0"/>
          </a:p>
        </p:txBody>
      </p:sp>
      <p:sp>
        <p:nvSpPr>
          <p:cNvPr id="46" name="Shape 44"/>
          <p:cNvSpPr/>
          <p:nvPr/>
        </p:nvSpPr>
        <p:spPr>
          <a:xfrm>
            <a:off x="2633472" y="3936492"/>
            <a:ext cx="3794760" cy="440436"/>
          </a:xfrm>
          <a:prstGeom prst="rect">
            <a:avLst/>
          </a:prstGeom>
          <a:solidFill>
            <a:srgbClr val="F1F3F2"/>
          </a:solidFill>
          <a:ln w="5715">
            <a:solidFill>
              <a:srgbClr val="E2E6E2"/>
            </a:solidFill>
            <a:prstDash val="solid"/>
          </a:ln>
        </p:spPr>
      </p:sp>
      <p:sp>
        <p:nvSpPr>
          <p:cNvPr id="47" name="Text 45"/>
          <p:cNvSpPr/>
          <p:nvPr/>
        </p:nvSpPr>
        <p:spPr>
          <a:xfrm>
            <a:off x="2724912" y="3982212"/>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Evidence and audit trail inherited from the platform, not rebuilt per report.</a:t>
            </a:r>
            <a:endParaRPr lang="en-US" sz="800" dirty="0"/>
          </a:p>
        </p:txBody>
      </p:sp>
      <p:sp>
        <p:nvSpPr>
          <p:cNvPr id="48" name="Shape 46"/>
          <p:cNvSpPr/>
          <p:nvPr/>
        </p:nvSpPr>
        <p:spPr>
          <a:xfrm>
            <a:off x="6428232" y="3936492"/>
            <a:ext cx="1371600" cy="440436"/>
          </a:xfrm>
          <a:prstGeom prst="rect">
            <a:avLst/>
          </a:prstGeom>
          <a:solidFill>
            <a:srgbClr val="F1F3F2"/>
          </a:solidFill>
          <a:ln w="5715">
            <a:solidFill>
              <a:srgbClr val="E2E6E2"/>
            </a:solidFill>
            <a:prstDash val="solid"/>
          </a:ln>
        </p:spPr>
      </p:sp>
      <p:sp>
        <p:nvSpPr>
          <p:cNvPr id="49" name="Shape 47"/>
          <p:cNvSpPr/>
          <p:nvPr/>
        </p:nvSpPr>
        <p:spPr>
          <a:xfrm>
            <a:off x="6501384" y="4037838"/>
            <a:ext cx="1225296" cy="237744"/>
          </a:xfrm>
          <a:prstGeom prst="roundRect">
            <a:avLst>
              <a:gd name="adj" fmla="val 46154"/>
            </a:avLst>
          </a:prstGeom>
          <a:solidFill>
            <a:srgbClr val="EAF8ED"/>
          </a:solidFill>
          <a:ln w="6350">
            <a:solidFill>
              <a:srgbClr val="3DCD58"/>
            </a:solidFill>
            <a:prstDash val="solid"/>
          </a:ln>
        </p:spPr>
      </p:sp>
      <p:sp>
        <p:nvSpPr>
          <p:cNvPr id="50" name="Text 48"/>
          <p:cNvSpPr/>
          <p:nvPr/>
        </p:nvSpPr>
        <p:spPr>
          <a:xfrm>
            <a:off x="6501384" y="403783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51" name="Shape 49"/>
          <p:cNvSpPr/>
          <p:nvPr/>
        </p:nvSpPr>
        <p:spPr>
          <a:xfrm>
            <a:off x="7799832" y="3936492"/>
            <a:ext cx="3767328" cy="440436"/>
          </a:xfrm>
          <a:prstGeom prst="rect">
            <a:avLst/>
          </a:prstGeom>
          <a:solidFill>
            <a:srgbClr val="F1F3F2"/>
          </a:solidFill>
          <a:ln w="5715">
            <a:solidFill>
              <a:srgbClr val="E2E6E2"/>
            </a:solidFill>
            <a:prstDash val="solid"/>
          </a:ln>
        </p:spPr>
      </p:sp>
      <p:sp>
        <p:nvSpPr>
          <p:cNvPr id="52" name="Text 50"/>
          <p:cNvSpPr/>
          <p:nvPr/>
        </p:nvSpPr>
        <p:spPr>
          <a:xfrm>
            <a:off x="7891272" y="3982212"/>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Verdantix buyers name lineage and auditability as the top selection driver.</a:t>
            </a:r>
            <a:endParaRPr lang="en-US" sz="800" dirty="0"/>
          </a:p>
        </p:txBody>
      </p:sp>
      <p:sp>
        <p:nvSpPr>
          <p:cNvPr id="53" name="Shape 51"/>
          <p:cNvSpPr/>
          <p:nvPr/>
        </p:nvSpPr>
        <p:spPr>
          <a:xfrm>
            <a:off x="621792" y="4376928"/>
            <a:ext cx="2011680" cy="440436"/>
          </a:xfrm>
          <a:prstGeom prst="rect">
            <a:avLst/>
          </a:prstGeom>
          <a:solidFill>
            <a:srgbClr val="FFFFFF"/>
          </a:solidFill>
          <a:ln w="5715">
            <a:solidFill>
              <a:srgbClr val="E2E6E2"/>
            </a:solidFill>
            <a:prstDash val="solid"/>
          </a:ln>
        </p:spPr>
      </p:sp>
      <p:sp>
        <p:nvSpPr>
          <p:cNvPr id="54" name="Text 52"/>
          <p:cNvSpPr/>
          <p:nvPr/>
        </p:nvSpPr>
        <p:spPr>
          <a:xfrm>
            <a:off x="713232" y="4422648"/>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Cross product data reuse</a:t>
            </a:r>
            <a:endParaRPr lang="en-US" sz="900" dirty="0"/>
          </a:p>
        </p:txBody>
      </p:sp>
      <p:sp>
        <p:nvSpPr>
          <p:cNvPr id="55" name="Shape 53"/>
          <p:cNvSpPr/>
          <p:nvPr/>
        </p:nvSpPr>
        <p:spPr>
          <a:xfrm>
            <a:off x="2633472" y="4376928"/>
            <a:ext cx="3794760" cy="440436"/>
          </a:xfrm>
          <a:prstGeom prst="rect">
            <a:avLst/>
          </a:prstGeom>
          <a:solidFill>
            <a:srgbClr val="FFFFFF"/>
          </a:solidFill>
          <a:ln w="5715">
            <a:solidFill>
              <a:srgbClr val="E2E6E2"/>
            </a:solidFill>
            <a:prstDash val="solid"/>
          </a:ln>
        </p:spPr>
      </p:sp>
      <p:sp>
        <p:nvSpPr>
          <p:cNvPr id="56" name="Text 54"/>
          <p:cNvSpPr/>
          <p:nvPr/>
        </p:nvSpPr>
        <p:spPr>
          <a:xfrm>
            <a:off x="2724912" y="4422648"/>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Receives data from every other product to facilitate disclosure.</a:t>
            </a:r>
            <a:endParaRPr lang="en-US" sz="800" dirty="0"/>
          </a:p>
        </p:txBody>
      </p:sp>
      <p:sp>
        <p:nvSpPr>
          <p:cNvPr id="57" name="Shape 55"/>
          <p:cNvSpPr/>
          <p:nvPr/>
        </p:nvSpPr>
        <p:spPr>
          <a:xfrm>
            <a:off x="6428232" y="4376928"/>
            <a:ext cx="1371600" cy="440436"/>
          </a:xfrm>
          <a:prstGeom prst="rect">
            <a:avLst/>
          </a:prstGeom>
          <a:solidFill>
            <a:srgbClr val="FFFFFF"/>
          </a:solidFill>
          <a:ln w="5715">
            <a:solidFill>
              <a:srgbClr val="E2E6E2"/>
            </a:solidFill>
            <a:prstDash val="solid"/>
          </a:ln>
        </p:spPr>
      </p:sp>
      <p:sp>
        <p:nvSpPr>
          <p:cNvPr id="58" name="Shape 56"/>
          <p:cNvSpPr/>
          <p:nvPr/>
        </p:nvSpPr>
        <p:spPr>
          <a:xfrm>
            <a:off x="6501384" y="4478274"/>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7827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76928"/>
            <a:ext cx="3767328" cy="440436"/>
          </a:xfrm>
          <a:prstGeom prst="rect">
            <a:avLst/>
          </a:prstGeom>
          <a:solidFill>
            <a:srgbClr val="FFFFFF"/>
          </a:solidFill>
          <a:ln w="5715">
            <a:solidFill>
              <a:srgbClr val="E2E6E2"/>
            </a:solidFill>
            <a:prstDash val="solid"/>
          </a:ln>
        </p:spPr>
      </p:sp>
      <p:sp>
        <p:nvSpPr>
          <p:cNvPr id="61" name="Text 59"/>
          <p:cNvSpPr/>
          <p:nvPr/>
        </p:nvSpPr>
        <p:spPr>
          <a:xfrm>
            <a:off x="7891272" y="4422648"/>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Point solutions must import from third party tools.</a:t>
            </a:r>
            <a:endParaRPr lang="en-US" sz="800" dirty="0"/>
          </a:p>
        </p:txBody>
      </p:sp>
      <p:sp>
        <p:nvSpPr>
          <p:cNvPr id="62" name="Shape 60"/>
          <p:cNvSpPr/>
          <p:nvPr/>
        </p:nvSpPr>
        <p:spPr>
          <a:xfrm>
            <a:off x="621792" y="4817364"/>
            <a:ext cx="2011680" cy="440436"/>
          </a:xfrm>
          <a:prstGeom prst="rect">
            <a:avLst/>
          </a:prstGeom>
          <a:solidFill>
            <a:srgbClr val="F1F3F2"/>
          </a:solidFill>
          <a:ln w="5715">
            <a:solidFill>
              <a:srgbClr val="E2E6E2"/>
            </a:solidFill>
            <a:prstDash val="solid"/>
          </a:ln>
        </p:spPr>
      </p:sp>
      <p:sp>
        <p:nvSpPr>
          <p:cNvPr id="63" name="Text 61"/>
          <p:cNvSpPr/>
          <p:nvPr/>
        </p:nvSpPr>
        <p:spPr>
          <a:xfrm>
            <a:off x="713232" y="486308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AI assisted disclosure drafting</a:t>
            </a:r>
            <a:endParaRPr lang="en-US" sz="900" dirty="0"/>
          </a:p>
        </p:txBody>
      </p:sp>
      <p:sp>
        <p:nvSpPr>
          <p:cNvPr id="64" name="Shape 62"/>
          <p:cNvSpPr/>
          <p:nvPr/>
        </p:nvSpPr>
        <p:spPr>
          <a:xfrm>
            <a:off x="2633472" y="4817364"/>
            <a:ext cx="3794760" cy="440436"/>
          </a:xfrm>
          <a:prstGeom prst="rect">
            <a:avLst/>
          </a:prstGeom>
          <a:solidFill>
            <a:srgbClr val="F1F3F2"/>
          </a:solidFill>
          <a:ln w="5715">
            <a:solidFill>
              <a:srgbClr val="E2E6E2"/>
            </a:solidFill>
            <a:prstDash val="solid"/>
          </a:ln>
        </p:spPr>
      </p:sp>
      <p:sp>
        <p:nvSpPr>
          <p:cNvPr id="65" name="Text 63"/>
          <p:cNvSpPr/>
          <p:nvPr/>
        </p:nvSpPr>
        <p:spPr>
          <a:xfrm>
            <a:off x="2724912" y="486308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Directional for 2027.</a:t>
            </a:r>
            <a:endParaRPr lang="en-US" sz="800" dirty="0"/>
          </a:p>
        </p:txBody>
      </p:sp>
      <p:sp>
        <p:nvSpPr>
          <p:cNvPr id="66" name="Shape 64"/>
          <p:cNvSpPr/>
          <p:nvPr/>
        </p:nvSpPr>
        <p:spPr>
          <a:xfrm>
            <a:off x="6428232" y="4817364"/>
            <a:ext cx="1371600" cy="440436"/>
          </a:xfrm>
          <a:prstGeom prst="rect">
            <a:avLst/>
          </a:prstGeom>
          <a:solidFill>
            <a:srgbClr val="F1F3F2"/>
          </a:solidFill>
          <a:ln w="5715">
            <a:solidFill>
              <a:srgbClr val="E2E6E2"/>
            </a:solidFill>
            <a:prstDash val="solid"/>
          </a:ln>
        </p:spPr>
      </p:sp>
      <p:sp>
        <p:nvSpPr>
          <p:cNvPr id="67" name="Shape 65"/>
          <p:cNvSpPr/>
          <p:nvPr/>
        </p:nvSpPr>
        <p:spPr>
          <a:xfrm>
            <a:off x="6501384" y="4918710"/>
            <a:ext cx="1225296" cy="237744"/>
          </a:xfrm>
          <a:prstGeom prst="roundRect">
            <a:avLst>
              <a:gd name="adj" fmla="val 46154"/>
            </a:avLst>
          </a:prstGeom>
          <a:solidFill>
            <a:srgbClr val="FFF4E3"/>
          </a:solidFill>
          <a:ln w="6350">
            <a:solidFill>
              <a:srgbClr val="FFB04C"/>
            </a:solidFill>
            <a:prstDash val="solid"/>
          </a:ln>
        </p:spPr>
      </p:sp>
      <p:sp>
        <p:nvSpPr>
          <p:cNvPr id="68" name="Text 66"/>
          <p:cNvSpPr/>
          <p:nvPr/>
        </p:nvSpPr>
        <p:spPr>
          <a:xfrm>
            <a:off x="6501384" y="491871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A65B00"/>
                </a:solidFill>
                <a:latin typeface="Calibri" pitchFamily="34" charset="0"/>
                <a:ea typeface="Calibri" pitchFamily="34" charset="-122"/>
                <a:cs typeface="Calibri" pitchFamily="34" charset="-120"/>
              </a:rPr>
              <a:t>Behind</a:t>
            </a:r>
            <a:endParaRPr lang="en-US" sz="740" dirty="0"/>
          </a:p>
        </p:txBody>
      </p:sp>
      <p:sp>
        <p:nvSpPr>
          <p:cNvPr id="69" name="Shape 67"/>
          <p:cNvSpPr/>
          <p:nvPr/>
        </p:nvSpPr>
        <p:spPr>
          <a:xfrm>
            <a:off x="7799832" y="4817364"/>
            <a:ext cx="3767328" cy="440436"/>
          </a:xfrm>
          <a:prstGeom prst="rect">
            <a:avLst/>
          </a:prstGeom>
          <a:solidFill>
            <a:srgbClr val="F1F3F2"/>
          </a:solidFill>
          <a:ln w="5715">
            <a:solidFill>
              <a:srgbClr val="E2E6E2"/>
            </a:solidFill>
            <a:prstDash val="solid"/>
          </a:ln>
        </p:spPr>
      </p:sp>
      <p:sp>
        <p:nvSpPr>
          <p:cNvPr id="70" name="Text 68"/>
          <p:cNvSpPr/>
          <p:nvPr/>
        </p:nvSpPr>
        <p:spPr>
          <a:xfrm>
            <a:off x="7891272" y="486308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Already marketed by several rivals.</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We should not fight a framework count race. We win by proving where every number came from and reusing data no rival holds.</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Sphera, Deepki).</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9730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6438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CAPABILITY POSITION: CLIMATE RISK</a:t>
            </a:r>
            <a:endParaRPr lang="en-US" sz="950" dirty="0"/>
          </a:p>
        </p:txBody>
      </p:sp>
      <p:sp>
        <p:nvSpPr>
          <p:cNvPr id="6" name="Text 4"/>
          <p:cNvSpPr/>
          <p:nvPr/>
        </p:nvSpPr>
        <p:spPr>
          <a:xfrm>
            <a:off x="621792" y="768096"/>
            <a:ext cx="10948111" cy="914400"/>
          </a:xfrm>
          <a:prstGeom prst="rect">
            <a:avLst/>
          </a:prstGeom>
          <a:noFill/>
          <a:ln/>
        </p:spPr>
        <p:txBody>
          <a:bodyPr wrap="square" lIns="0" tIns="0" rIns="0" bIns="0" rtlCol="0" anchor="t">
            <a:normAutofit/>
          </a:bodyPr>
          <a:lstStyle/>
          <a:p>
            <a:pPr indent="0" marL="0">
              <a:buNone/>
            </a:pPr>
            <a:r>
              <a:rPr lang="en-US" sz="2500" b="1" dirty="0">
                <a:solidFill>
                  <a:srgbClr val="1E2420"/>
                </a:solidFill>
                <a:latin typeface="Calibri" pitchFamily="34" charset="0"/>
                <a:ea typeface="Calibri" pitchFamily="34" charset="-122"/>
                <a:cs typeface="Calibri" pitchFamily="34" charset="-120"/>
              </a:rPr>
              <a:t>Climate Risk: physical risk depth is good, financial value at risk is the differentiator</a:t>
            </a:r>
            <a:endParaRPr lang="en-US" sz="2500" dirty="0"/>
          </a:p>
        </p:txBody>
      </p:sp>
      <p:sp>
        <p:nvSpPr>
          <p:cNvPr id="7" name="Text 5"/>
          <p:cNvSpPr/>
          <p:nvPr/>
        </p:nvSpPr>
        <p:spPr>
          <a:xfrm>
            <a:off x="621792" y="173736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segment where connection to the rest of the platform decides whether the product pays off.</a:t>
            </a:r>
            <a:endParaRPr lang="en-US" sz="1250" dirty="0"/>
          </a:p>
        </p:txBody>
      </p:sp>
      <p:sp>
        <p:nvSpPr>
          <p:cNvPr id="8" name="Shape 6"/>
          <p:cNvSpPr/>
          <p:nvPr/>
        </p:nvSpPr>
        <p:spPr>
          <a:xfrm>
            <a:off x="621792" y="2084832"/>
            <a:ext cx="10948111" cy="0"/>
          </a:xfrm>
          <a:prstGeom prst="line">
            <a:avLst/>
          </a:prstGeom>
          <a:noFill/>
          <a:ln w="9525">
            <a:solidFill>
              <a:srgbClr val="E2E6E2"/>
            </a:solidFill>
            <a:prstDash val="solid"/>
          </a:ln>
        </p:spPr>
      </p:sp>
      <p:sp>
        <p:nvSpPr>
          <p:cNvPr id="9" name="Shape 7"/>
          <p:cNvSpPr/>
          <p:nvPr/>
        </p:nvSpPr>
        <p:spPr>
          <a:xfrm>
            <a:off x="621792" y="2249424"/>
            <a:ext cx="2011680" cy="365760"/>
          </a:xfrm>
          <a:prstGeom prst="rect">
            <a:avLst/>
          </a:prstGeom>
          <a:solidFill>
            <a:srgbClr val="005730"/>
          </a:solidFill>
          <a:ln w="5715">
            <a:solidFill>
              <a:srgbClr val="397257"/>
            </a:solidFill>
            <a:prstDash val="solid"/>
          </a:ln>
        </p:spPr>
      </p:sp>
      <p:sp>
        <p:nvSpPr>
          <p:cNvPr id="10" name="Text 8"/>
          <p:cNvSpPr/>
          <p:nvPr/>
        </p:nvSpPr>
        <p:spPr>
          <a:xfrm>
            <a:off x="713232" y="2249424"/>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249424"/>
            <a:ext cx="3794760" cy="365760"/>
          </a:xfrm>
          <a:prstGeom prst="rect">
            <a:avLst/>
          </a:prstGeom>
          <a:solidFill>
            <a:srgbClr val="005730"/>
          </a:solidFill>
          <a:ln w="5715">
            <a:solidFill>
              <a:srgbClr val="397257"/>
            </a:solidFill>
            <a:prstDash val="solid"/>
          </a:ln>
        </p:spPr>
      </p:sp>
      <p:sp>
        <p:nvSpPr>
          <p:cNvPr id="12" name="Text 10"/>
          <p:cNvSpPr/>
          <p:nvPr/>
        </p:nvSpPr>
        <p:spPr>
          <a:xfrm>
            <a:off x="2724912" y="2249424"/>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249424"/>
            <a:ext cx="1371600" cy="365760"/>
          </a:xfrm>
          <a:prstGeom prst="rect">
            <a:avLst/>
          </a:prstGeom>
          <a:solidFill>
            <a:srgbClr val="005730"/>
          </a:solidFill>
          <a:ln w="5715">
            <a:solidFill>
              <a:srgbClr val="397257"/>
            </a:solidFill>
            <a:prstDash val="solid"/>
          </a:ln>
        </p:spPr>
      </p:sp>
      <p:sp>
        <p:nvSpPr>
          <p:cNvPr id="14" name="Text 12"/>
          <p:cNvSpPr/>
          <p:nvPr/>
        </p:nvSpPr>
        <p:spPr>
          <a:xfrm>
            <a:off x="6519672" y="2249424"/>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EXPECTED POSITION</a:t>
            </a:r>
            <a:endParaRPr lang="en-US" sz="760" dirty="0"/>
          </a:p>
        </p:txBody>
      </p:sp>
      <p:sp>
        <p:nvSpPr>
          <p:cNvPr id="15" name="Shape 13"/>
          <p:cNvSpPr/>
          <p:nvPr/>
        </p:nvSpPr>
        <p:spPr>
          <a:xfrm>
            <a:off x="7799832" y="2249424"/>
            <a:ext cx="3767328" cy="365760"/>
          </a:xfrm>
          <a:prstGeom prst="rect">
            <a:avLst/>
          </a:prstGeom>
          <a:solidFill>
            <a:srgbClr val="005730"/>
          </a:solidFill>
          <a:ln w="5715">
            <a:solidFill>
              <a:srgbClr val="397257"/>
            </a:solidFill>
            <a:prstDash val="solid"/>
          </a:ln>
        </p:spPr>
      </p:sp>
      <p:sp>
        <p:nvSpPr>
          <p:cNvPr id="16" name="Text 14"/>
          <p:cNvSpPr/>
          <p:nvPr/>
        </p:nvSpPr>
        <p:spPr>
          <a:xfrm>
            <a:off x="7891272" y="2249424"/>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615184"/>
            <a:ext cx="2011680" cy="440436"/>
          </a:xfrm>
          <a:prstGeom prst="rect">
            <a:avLst/>
          </a:prstGeom>
          <a:solidFill>
            <a:srgbClr val="FFFFFF"/>
          </a:solidFill>
          <a:ln w="5715">
            <a:solidFill>
              <a:srgbClr val="E2E6E2"/>
            </a:solidFill>
            <a:prstDash val="solid"/>
          </a:ln>
        </p:spPr>
      </p:sp>
      <p:sp>
        <p:nvSpPr>
          <p:cNvPr id="18" name="Text 16"/>
          <p:cNvSpPr/>
          <p:nvPr/>
        </p:nvSpPr>
        <p:spPr>
          <a:xfrm>
            <a:off x="713232" y="266090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Asset and hazard coverage</a:t>
            </a:r>
            <a:endParaRPr lang="en-US" sz="900" dirty="0"/>
          </a:p>
        </p:txBody>
      </p:sp>
      <p:sp>
        <p:nvSpPr>
          <p:cNvPr id="19" name="Shape 17"/>
          <p:cNvSpPr/>
          <p:nvPr/>
        </p:nvSpPr>
        <p:spPr>
          <a:xfrm>
            <a:off x="2633472" y="2615184"/>
            <a:ext cx="3794760" cy="440436"/>
          </a:xfrm>
          <a:prstGeom prst="rect">
            <a:avLst/>
          </a:prstGeom>
          <a:solidFill>
            <a:srgbClr val="FFFFFF"/>
          </a:solidFill>
          <a:ln w="5715">
            <a:solidFill>
              <a:srgbClr val="E2E6E2"/>
            </a:solidFill>
            <a:prstDash val="solid"/>
          </a:ln>
        </p:spPr>
      </p:sp>
      <p:sp>
        <p:nvSpPr>
          <p:cNvPr id="20" name="Text 18"/>
          <p:cNvSpPr/>
          <p:nvPr/>
        </p:nvSpPr>
        <p:spPr>
          <a:xfrm>
            <a:off x="2724912" y="266090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Eclr becoming a full self serve product with scalable performance.</a:t>
            </a:r>
            <a:endParaRPr lang="en-US" sz="800" dirty="0"/>
          </a:p>
        </p:txBody>
      </p:sp>
      <p:sp>
        <p:nvSpPr>
          <p:cNvPr id="21" name="Shape 19"/>
          <p:cNvSpPr/>
          <p:nvPr/>
        </p:nvSpPr>
        <p:spPr>
          <a:xfrm>
            <a:off x="6428232" y="2615184"/>
            <a:ext cx="1371600" cy="440436"/>
          </a:xfrm>
          <a:prstGeom prst="rect">
            <a:avLst/>
          </a:prstGeom>
          <a:solidFill>
            <a:srgbClr val="FFFFFF"/>
          </a:solidFill>
          <a:ln w="5715">
            <a:solidFill>
              <a:srgbClr val="E2E6E2"/>
            </a:solidFill>
            <a:prstDash val="solid"/>
          </a:ln>
        </p:spPr>
      </p:sp>
      <p:sp>
        <p:nvSpPr>
          <p:cNvPr id="22" name="Shape 20"/>
          <p:cNvSpPr/>
          <p:nvPr/>
        </p:nvSpPr>
        <p:spPr>
          <a:xfrm>
            <a:off x="6501384" y="2716530"/>
            <a:ext cx="1225296" cy="237744"/>
          </a:xfrm>
          <a:prstGeom prst="roundRect">
            <a:avLst>
              <a:gd name="adj" fmla="val 46154"/>
            </a:avLst>
          </a:prstGeom>
          <a:solidFill>
            <a:srgbClr val="F1F3F2"/>
          </a:solidFill>
          <a:ln w="6350">
            <a:solidFill>
              <a:srgbClr val="E2E6E2"/>
            </a:solidFill>
            <a:prstDash val="solid"/>
          </a:ln>
        </p:spPr>
      </p:sp>
      <p:sp>
        <p:nvSpPr>
          <p:cNvPr id="23" name="Text 21"/>
          <p:cNvSpPr/>
          <p:nvPr/>
        </p:nvSpPr>
        <p:spPr>
          <a:xfrm>
            <a:off x="6501384" y="271653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24" name="Shape 22"/>
          <p:cNvSpPr/>
          <p:nvPr/>
        </p:nvSpPr>
        <p:spPr>
          <a:xfrm>
            <a:off x="7799832" y="2615184"/>
            <a:ext cx="3767328" cy="440436"/>
          </a:xfrm>
          <a:prstGeom prst="rect">
            <a:avLst/>
          </a:prstGeom>
          <a:solidFill>
            <a:srgbClr val="FFFFFF"/>
          </a:solidFill>
          <a:ln w="5715">
            <a:solidFill>
              <a:srgbClr val="E2E6E2"/>
            </a:solidFill>
            <a:prstDash val="solid"/>
          </a:ln>
        </p:spPr>
      </p:sp>
      <p:sp>
        <p:nvSpPr>
          <p:cNvPr id="25" name="Text 23"/>
          <p:cNvSpPr/>
          <p:nvPr/>
        </p:nvSpPr>
        <p:spPr>
          <a:xfrm>
            <a:off x="7891272" y="266090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Specialist providers and data partnerships cover hazards broadly.</a:t>
            </a:r>
            <a:endParaRPr lang="en-US" sz="800" dirty="0"/>
          </a:p>
        </p:txBody>
      </p:sp>
      <p:sp>
        <p:nvSpPr>
          <p:cNvPr id="26" name="Shape 24"/>
          <p:cNvSpPr/>
          <p:nvPr/>
        </p:nvSpPr>
        <p:spPr>
          <a:xfrm>
            <a:off x="621792" y="3055620"/>
            <a:ext cx="2011680" cy="440436"/>
          </a:xfrm>
          <a:prstGeom prst="rect">
            <a:avLst/>
          </a:prstGeom>
          <a:solidFill>
            <a:srgbClr val="F1F3F2"/>
          </a:solidFill>
          <a:ln w="5715">
            <a:solidFill>
              <a:srgbClr val="E2E6E2"/>
            </a:solidFill>
            <a:prstDash val="solid"/>
          </a:ln>
        </p:spPr>
      </p:sp>
      <p:sp>
        <p:nvSpPr>
          <p:cNvPr id="27" name="Text 25"/>
          <p:cNvSpPr/>
          <p:nvPr/>
        </p:nvSpPr>
        <p:spPr>
          <a:xfrm>
            <a:off x="713232" y="3101340"/>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Value at risk in financial terms</a:t>
            </a:r>
            <a:endParaRPr lang="en-US" sz="900" dirty="0"/>
          </a:p>
        </p:txBody>
      </p:sp>
      <p:sp>
        <p:nvSpPr>
          <p:cNvPr id="28" name="Shape 26"/>
          <p:cNvSpPr/>
          <p:nvPr/>
        </p:nvSpPr>
        <p:spPr>
          <a:xfrm>
            <a:off x="2633472" y="3055620"/>
            <a:ext cx="3794760" cy="440436"/>
          </a:xfrm>
          <a:prstGeom prst="rect">
            <a:avLst/>
          </a:prstGeom>
          <a:solidFill>
            <a:srgbClr val="F1F3F2"/>
          </a:solidFill>
          <a:ln w="5715">
            <a:solidFill>
              <a:srgbClr val="E2E6E2"/>
            </a:solidFill>
            <a:prstDash val="solid"/>
          </a:ln>
        </p:spPr>
      </p:sp>
      <p:sp>
        <p:nvSpPr>
          <p:cNvPr id="29" name="Text 27"/>
          <p:cNvSpPr/>
          <p:nvPr/>
        </p:nvSpPr>
        <p:spPr>
          <a:xfrm>
            <a:off x="2724912" y="3101340"/>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ClimVar, value at risk expressed in financial terms, in 2027 H1.</a:t>
            </a:r>
            <a:endParaRPr lang="en-US" sz="800" dirty="0"/>
          </a:p>
        </p:txBody>
      </p:sp>
      <p:sp>
        <p:nvSpPr>
          <p:cNvPr id="30" name="Shape 28"/>
          <p:cNvSpPr/>
          <p:nvPr/>
        </p:nvSpPr>
        <p:spPr>
          <a:xfrm>
            <a:off x="6428232" y="3055620"/>
            <a:ext cx="1371600" cy="440436"/>
          </a:xfrm>
          <a:prstGeom prst="rect">
            <a:avLst/>
          </a:prstGeom>
          <a:solidFill>
            <a:srgbClr val="F1F3F2"/>
          </a:solidFill>
          <a:ln w="5715">
            <a:solidFill>
              <a:srgbClr val="E2E6E2"/>
            </a:solidFill>
            <a:prstDash val="solid"/>
          </a:ln>
        </p:spPr>
      </p:sp>
      <p:sp>
        <p:nvSpPr>
          <p:cNvPr id="31" name="Shape 29"/>
          <p:cNvSpPr/>
          <p:nvPr/>
        </p:nvSpPr>
        <p:spPr>
          <a:xfrm>
            <a:off x="6501384" y="3156966"/>
            <a:ext cx="1225296" cy="237744"/>
          </a:xfrm>
          <a:prstGeom prst="roundRect">
            <a:avLst>
              <a:gd name="adj" fmla="val 46154"/>
            </a:avLst>
          </a:prstGeom>
          <a:solidFill>
            <a:srgbClr val="EAF8ED"/>
          </a:solidFill>
          <a:ln w="6350">
            <a:solidFill>
              <a:srgbClr val="3DCD58"/>
            </a:solidFill>
            <a:prstDash val="solid"/>
          </a:ln>
        </p:spPr>
      </p:sp>
      <p:sp>
        <p:nvSpPr>
          <p:cNvPr id="32" name="Text 30"/>
          <p:cNvSpPr/>
          <p:nvPr/>
        </p:nvSpPr>
        <p:spPr>
          <a:xfrm>
            <a:off x="6501384" y="315696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33" name="Shape 31"/>
          <p:cNvSpPr/>
          <p:nvPr/>
        </p:nvSpPr>
        <p:spPr>
          <a:xfrm>
            <a:off x="7799832" y="3055620"/>
            <a:ext cx="3767328" cy="440436"/>
          </a:xfrm>
          <a:prstGeom prst="rect">
            <a:avLst/>
          </a:prstGeom>
          <a:solidFill>
            <a:srgbClr val="F1F3F2"/>
          </a:solidFill>
          <a:ln w="5715">
            <a:solidFill>
              <a:srgbClr val="E2E6E2"/>
            </a:solidFill>
            <a:prstDash val="solid"/>
          </a:ln>
        </p:spPr>
      </p:sp>
      <p:sp>
        <p:nvSpPr>
          <p:cNvPr id="34" name="Text 32"/>
          <p:cNvSpPr/>
          <p:nvPr/>
        </p:nvSpPr>
        <p:spPr>
          <a:xfrm>
            <a:off x="7891272" y="3101340"/>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Most rivals stop at hazard scores rather than a priced exposure.</a:t>
            </a:r>
            <a:endParaRPr lang="en-US" sz="800" dirty="0"/>
          </a:p>
        </p:txBody>
      </p:sp>
      <p:sp>
        <p:nvSpPr>
          <p:cNvPr id="35" name="Shape 33"/>
          <p:cNvSpPr/>
          <p:nvPr/>
        </p:nvSpPr>
        <p:spPr>
          <a:xfrm>
            <a:off x="621792" y="3496056"/>
            <a:ext cx="2011680" cy="440436"/>
          </a:xfrm>
          <a:prstGeom prst="rect">
            <a:avLst/>
          </a:prstGeom>
          <a:solidFill>
            <a:srgbClr val="FFFFFF"/>
          </a:solidFill>
          <a:ln w="5715">
            <a:solidFill>
              <a:srgbClr val="E2E6E2"/>
            </a:solidFill>
            <a:prstDash val="solid"/>
          </a:ln>
        </p:spPr>
      </p:sp>
      <p:sp>
        <p:nvSpPr>
          <p:cNvPr id="36" name="Text 34"/>
          <p:cNvSpPr/>
          <p:nvPr/>
        </p:nvSpPr>
        <p:spPr>
          <a:xfrm>
            <a:off x="713232" y="3541776"/>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Scenario analysis</a:t>
            </a:r>
            <a:endParaRPr lang="en-US" sz="900" dirty="0"/>
          </a:p>
        </p:txBody>
      </p:sp>
      <p:sp>
        <p:nvSpPr>
          <p:cNvPr id="37" name="Shape 35"/>
          <p:cNvSpPr/>
          <p:nvPr/>
        </p:nvSpPr>
        <p:spPr>
          <a:xfrm>
            <a:off x="2633472" y="3496056"/>
            <a:ext cx="3794760" cy="440436"/>
          </a:xfrm>
          <a:prstGeom prst="rect">
            <a:avLst/>
          </a:prstGeom>
          <a:solidFill>
            <a:srgbClr val="FFFFFF"/>
          </a:solidFill>
          <a:ln w="5715">
            <a:solidFill>
              <a:srgbClr val="E2E6E2"/>
            </a:solidFill>
            <a:prstDash val="solid"/>
          </a:ln>
        </p:spPr>
      </p:sp>
      <p:sp>
        <p:nvSpPr>
          <p:cNvPr id="38" name="Text 36"/>
          <p:cNvSpPr/>
          <p:nvPr/>
        </p:nvSpPr>
        <p:spPr>
          <a:xfrm>
            <a:off x="2724912" y="3541776"/>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Scenario analysis and adaptation actions on the shared action model.</a:t>
            </a:r>
            <a:endParaRPr lang="en-US" sz="800" dirty="0"/>
          </a:p>
        </p:txBody>
      </p:sp>
      <p:sp>
        <p:nvSpPr>
          <p:cNvPr id="39" name="Shape 37"/>
          <p:cNvSpPr/>
          <p:nvPr/>
        </p:nvSpPr>
        <p:spPr>
          <a:xfrm>
            <a:off x="6428232" y="3496056"/>
            <a:ext cx="1371600" cy="440436"/>
          </a:xfrm>
          <a:prstGeom prst="rect">
            <a:avLst/>
          </a:prstGeom>
          <a:solidFill>
            <a:srgbClr val="FFFFFF"/>
          </a:solidFill>
          <a:ln w="5715">
            <a:solidFill>
              <a:srgbClr val="E2E6E2"/>
            </a:solidFill>
            <a:prstDash val="solid"/>
          </a:ln>
        </p:spPr>
      </p:sp>
      <p:sp>
        <p:nvSpPr>
          <p:cNvPr id="40" name="Shape 38"/>
          <p:cNvSpPr/>
          <p:nvPr/>
        </p:nvSpPr>
        <p:spPr>
          <a:xfrm>
            <a:off x="6501384" y="3597402"/>
            <a:ext cx="1225296" cy="237744"/>
          </a:xfrm>
          <a:prstGeom prst="roundRect">
            <a:avLst>
              <a:gd name="adj" fmla="val 46154"/>
            </a:avLst>
          </a:prstGeom>
          <a:solidFill>
            <a:srgbClr val="F1F3F2"/>
          </a:solidFill>
          <a:ln w="6350">
            <a:solidFill>
              <a:srgbClr val="E2E6E2"/>
            </a:solidFill>
            <a:prstDash val="solid"/>
          </a:ln>
        </p:spPr>
      </p:sp>
      <p:sp>
        <p:nvSpPr>
          <p:cNvPr id="41" name="Text 39"/>
          <p:cNvSpPr/>
          <p:nvPr/>
        </p:nvSpPr>
        <p:spPr>
          <a:xfrm>
            <a:off x="6501384" y="359740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42" name="Shape 40"/>
          <p:cNvSpPr/>
          <p:nvPr/>
        </p:nvSpPr>
        <p:spPr>
          <a:xfrm>
            <a:off x="7799832" y="3496056"/>
            <a:ext cx="3767328" cy="440436"/>
          </a:xfrm>
          <a:prstGeom prst="rect">
            <a:avLst/>
          </a:prstGeom>
          <a:solidFill>
            <a:srgbClr val="FFFFFF"/>
          </a:solidFill>
          <a:ln w="5715">
            <a:solidFill>
              <a:srgbClr val="E2E6E2"/>
            </a:solidFill>
            <a:prstDash val="solid"/>
          </a:ln>
        </p:spPr>
      </p:sp>
      <p:sp>
        <p:nvSpPr>
          <p:cNvPr id="43" name="Text 41"/>
          <p:cNvSpPr/>
          <p:nvPr/>
        </p:nvSpPr>
        <p:spPr>
          <a:xfrm>
            <a:off x="7891272" y="3541776"/>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Standard in the benchmarked field.</a:t>
            </a:r>
            <a:endParaRPr lang="en-US" sz="800" dirty="0"/>
          </a:p>
        </p:txBody>
      </p:sp>
      <p:sp>
        <p:nvSpPr>
          <p:cNvPr id="44" name="Shape 42"/>
          <p:cNvSpPr/>
          <p:nvPr/>
        </p:nvSpPr>
        <p:spPr>
          <a:xfrm>
            <a:off x="621792" y="3936492"/>
            <a:ext cx="2011680" cy="440436"/>
          </a:xfrm>
          <a:prstGeom prst="rect">
            <a:avLst/>
          </a:prstGeom>
          <a:solidFill>
            <a:srgbClr val="F1F3F2"/>
          </a:solidFill>
          <a:ln w="5715">
            <a:solidFill>
              <a:srgbClr val="E2E6E2"/>
            </a:solidFill>
            <a:prstDash val="solid"/>
          </a:ln>
        </p:spPr>
      </p:sp>
      <p:sp>
        <p:nvSpPr>
          <p:cNvPr id="45" name="Text 43"/>
          <p:cNvSpPr/>
          <p:nvPr/>
        </p:nvSpPr>
        <p:spPr>
          <a:xfrm>
            <a:off x="713232" y="3982212"/>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Adaptation planning</a:t>
            </a:r>
            <a:endParaRPr lang="en-US" sz="900" dirty="0"/>
          </a:p>
        </p:txBody>
      </p:sp>
      <p:sp>
        <p:nvSpPr>
          <p:cNvPr id="46" name="Shape 44"/>
          <p:cNvSpPr/>
          <p:nvPr/>
        </p:nvSpPr>
        <p:spPr>
          <a:xfrm>
            <a:off x="2633472" y="3936492"/>
            <a:ext cx="3794760" cy="440436"/>
          </a:xfrm>
          <a:prstGeom prst="rect">
            <a:avLst/>
          </a:prstGeom>
          <a:solidFill>
            <a:srgbClr val="F1F3F2"/>
          </a:solidFill>
          <a:ln w="5715">
            <a:solidFill>
              <a:srgbClr val="E2E6E2"/>
            </a:solidFill>
            <a:prstDash val="solid"/>
          </a:ln>
        </p:spPr>
      </p:sp>
      <p:sp>
        <p:nvSpPr>
          <p:cNvPr id="47" name="Text 45"/>
          <p:cNvSpPr/>
          <p:nvPr/>
        </p:nvSpPr>
        <p:spPr>
          <a:xfrm>
            <a:off x="2724912" y="3982212"/>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One action model shared with decarbonisation planning.</a:t>
            </a:r>
            <a:endParaRPr lang="en-US" sz="800" dirty="0"/>
          </a:p>
        </p:txBody>
      </p:sp>
      <p:sp>
        <p:nvSpPr>
          <p:cNvPr id="48" name="Shape 46"/>
          <p:cNvSpPr/>
          <p:nvPr/>
        </p:nvSpPr>
        <p:spPr>
          <a:xfrm>
            <a:off x="6428232" y="3936492"/>
            <a:ext cx="1371600" cy="440436"/>
          </a:xfrm>
          <a:prstGeom prst="rect">
            <a:avLst/>
          </a:prstGeom>
          <a:solidFill>
            <a:srgbClr val="F1F3F2"/>
          </a:solidFill>
          <a:ln w="5715">
            <a:solidFill>
              <a:srgbClr val="E2E6E2"/>
            </a:solidFill>
            <a:prstDash val="solid"/>
          </a:ln>
        </p:spPr>
      </p:sp>
      <p:sp>
        <p:nvSpPr>
          <p:cNvPr id="49" name="Shape 47"/>
          <p:cNvSpPr/>
          <p:nvPr/>
        </p:nvSpPr>
        <p:spPr>
          <a:xfrm>
            <a:off x="6501384" y="4037838"/>
            <a:ext cx="1225296" cy="237744"/>
          </a:xfrm>
          <a:prstGeom prst="roundRect">
            <a:avLst>
              <a:gd name="adj" fmla="val 46154"/>
            </a:avLst>
          </a:prstGeom>
          <a:solidFill>
            <a:srgbClr val="EAF8ED"/>
          </a:solidFill>
          <a:ln w="6350">
            <a:solidFill>
              <a:srgbClr val="3DCD58"/>
            </a:solidFill>
            <a:prstDash val="solid"/>
          </a:ln>
        </p:spPr>
      </p:sp>
      <p:sp>
        <p:nvSpPr>
          <p:cNvPr id="50" name="Text 48"/>
          <p:cNvSpPr/>
          <p:nvPr/>
        </p:nvSpPr>
        <p:spPr>
          <a:xfrm>
            <a:off x="6501384" y="403783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51" name="Shape 49"/>
          <p:cNvSpPr/>
          <p:nvPr/>
        </p:nvSpPr>
        <p:spPr>
          <a:xfrm>
            <a:off x="7799832" y="3936492"/>
            <a:ext cx="3767328" cy="440436"/>
          </a:xfrm>
          <a:prstGeom prst="rect">
            <a:avLst/>
          </a:prstGeom>
          <a:solidFill>
            <a:srgbClr val="F1F3F2"/>
          </a:solidFill>
          <a:ln w="5715">
            <a:solidFill>
              <a:srgbClr val="E2E6E2"/>
            </a:solidFill>
            <a:prstDash val="solid"/>
          </a:ln>
        </p:spPr>
      </p:sp>
      <p:sp>
        <p:nvSpPr>
          <p:cNvPr id="52" name="Text 50"/>
          <p:cNvSpPr/>
          <p:nvPr/>
        </p:nvSpPr>
        <p:spPr>
          <a:xfrm>
            <a:off x="7891272" y="3982212"/>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Rivals separate mitigation and adaptation into different tools.</a:t>
            </a:r>
            <a:endParaRPr lang="en-US" sz="800" dirty="0"/>
          </a:p>
        </p:txBody>
      </p:sp>
      <p:sp>
        <p:nvSpPr>
          <p:cNvPr id="53" name="Shape 51"/>
          <p:cNvSpPr/>
          <p:nvPr/>
        </p:nvSpPr>
        <p:spPr>
          <a:xfrm>
            <a:off x="621792" y="4376928"/>
            <a:ext cx="2011680" cy="440436"/>
          </a:xfrm>
          <a:prstGeom prst="rect">
            <a:avLst/>
          </a:prstGeom>
          <a:solidFill>
            <a:srgbClr val="FFFFFF"/>
          </a:solidFill>
          <a:ln w="5715">
            <a:solidFill>
              <a:srgbClr val="E2E6E2"/>
            </a:solidFill>
            <a:prstDash val="solid"/>
          </a:ln>
        </p:spPr>
      </p:sp>
      <p:sp>
        <p:nvSpPr>
          <p:cNvPr id="54" name="Text 52"/>
          <p:cNvSpPr/>
          <p:nvPr/>
        </p:nvSpPr>
        <p:spPr>
          <a:xfrm>
            <a:off x="713232" y="4422648"/>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Risk into disclosure</a:t>
            </a:r>
            <a:endParaRPr lang="en-US" sz="900" dirty="0"/>
          </a:p>
        </p:txBody>
      </p:sp>
      <p:sp>
        <p:nvSpPr>
          <p:cNvPr id="55" name="Shape 53"/>
          <p:cNvSpPr/>
          <p:nvPr/>
        </p:nvSpPr>
        <p:spPr>
          <a:xfrm>
            <a:off x="2633472" y="4376928"/>
            <a:ext cx="3794760" cy="440436"/>
          </a:xfrm>
          <a:prstGeom prst="rect">
            <a:avLst/>
          </a:prstGeom>
          <a:solidFill>
            <a:srgbClr val="FFFFFF"/>
          </a:solidFill>
          <a:ln w="5715">
            <a:solidFill>
              <a:srgbClr val="E2E6E2"/>
            </a:solidFill>
            <a:prstDash val="solid"/>
          </a:ln>
        </p:spPr>
      </p:sp>
      <p:sp>
        <p:nvSpPr>
          <p:cNvPr id="56" name="Text 54"/>
          <p:cNvSpPr/>
          <p:nvPr/>
        </p:nvSpPr>
        <p:spPr>
          <a:xfrm>
            <a:off x="2724912" y="4422648"/>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Risk data flows into disclosures and is turned into financial values.</a:t>
            </a:r>
            <a:endParaRPr lang="en-US" sz="800" dirty="0"/>
          </a:p>
        </p:txBody>
      </p:sp>
      <p:sp>
        <p:nvSpPr>
          <p:cNvPr id="57" name="Shape 55"/>
          <p:cNvSpPr/>
          <p:nvPr/>
        </p:nvSpPr>
        <p:spPr>
          <a:xfrm>
            <a:off x="6428232" y="4376928"/>
            <a:ext cx="1371600" cy="440436"/>
          </a:xfrm>
          <a:prstGeom prst="rect">
            <a:avLst/>
          </a:prstGeom>
          <a:solidFill>
            <a:srgbClr val="FFFFFF"/>
          </a:solidFill>
          <a:ln w="5715">
            <a:solidFill>
              <a:srgbClr val="E2E6E2"/>
            </a:solidFill>
            <a:prstDash val="solid"/>
          </a:ln>
        </p:spPr>
      </p:sp>
      <p:sp>
        <p:nvSpPr>
          <p:cNvPr id="58" name="Shape 56"/>
          <p:cNvSpPr/>
          <p:nvPr/>
        </p:nvSpPr>
        <p:spPr>
          <a:xfrm>
            <a:off x="6501384" y="4478274"/>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7827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76928"/>
            <a:ext cx="3767328" cy="440436"/>
          </a:xfrm>
          <a:prstGeom prst="rect">
            <a:avLst/>
          </a:prstGeom>
          <a:solidFill>
            <a:srgbClr val="FFFFFF"/>
          </a:solidFill>
          <a:ln w="5715">
            <a:solidFill>
              <a:srgbClr val="E2E6E2"/>
            </a:solidFill>
            <a:prstDash val="solid"/>
          </a:ln>
        </p:spPr>
      </p:sp>
      <p:sp>
        <p:nvSpPr>
          <p:cNvPr id="61" name="Text 59"/>
          <p:cNvSpPr/>
          <p:nvPr/>
        </p:nvSpPr>
        <p:spPr>
          <a:xfrm>
            <a:off x="7891272" y="4422648"/>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Usually a manual handoff between vendors.</a:t>
            </a:r>
            <a:endParaRPr lang="en-US" sz="800" dirty="0"/>
          </a:p>
        </p:txBody>
      </p:sp>
      <p:sp>
        <p:nvSpPr>
          <p:cNvPr id="62" name="Shape 60"/>
          <p:cNvSpPr/>
          <p:nvPr/>
        </p:nvSpPr>
        <p:spPr>
          <a:xfrm>
            <a:off x="621792" y="4817364"/>
            <a:ext cx="2011680" cy="440436"/>
          </a:xfrm>
          <a:prstGeom prst="rect">
            <a:avLst/>
          </a:prstGeom>
          <a:solidFill>
            <a:srgbClr val="F1F3F2"/>
          </a:solidFill>
          <a:ln w="5715">
            <a:solidFill>
              <a:srgbClr val="E2E6E2"/>
            </a:solidFill>
            <a:prstDash val="solid"/>
          </a:ln>
        </p:spPr>
      </p:sp>
      <p:sp>
        <p:nvSpPr>
          <p:cNvPr id="63" name="Text 61"/>
          <p:cNvSpPr/>
          <p:nvPr/>
        </p:nvSpPr>
        <p:spPr>
          <a:xfrm>
            <a:off x="713232" y="4863084"/>
            <a:ext cx="1828800" cy="348996"/>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Beyond owned assets</a:t>
            </a:r>
            <a:endParaRPr lang="en-US" sz="900" dirty="0"/>
          </a:p>
        </p:txBody>
      </p:sp>
      <p:sp>
        <p:nvSpPr>
          <p:cNvPr id="64" name="Shape 62"/>
          <p:cNvSpPr/>
          <p:nvPr/>
        </p:nvSpPr>
        <p:spPr>
          <a:xfrm>
            <a:off x="2633472" y="4817364"/>
            <a:ext cx="3794760" cy="440436"/>
          </a:xfrm>
          <a:prstGeom prst="rect">
            <a:avLst/>
          </a:prstGeom>
          <a:solidFill>
            <a:srgbClr val="F1F3F2"/>
          </a:solidFill>
          <a:ln w="5715">
            <a:solidFill>
              <a:srgbClr val="E2E6E2"/>
            </a:solidFill>
            <a:prstDash val="solid"/>
          </a:ln>
        </p:spPr>
      </p:sp>
      <p:sp>
        <p:nvSpPr>
          <p:cNvPr id="65" name="Text 63"/>
          <p:cNvSpPr/>
          <p:nvPr/>
        </p:nvSpPr>
        <p:spPr>
          <a:xfrm>
            <a:off x="2724912" y="4863084"/>
            <a:ext cx="3611880" cy="348996"/>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Extend climate risk to suppliers and the value chain: a whitespace opportunity in 2027.</a:t>
            </a:r>
            <a:endParaRPr lang="en-US" sz="800" dirty="0"/>
          </a:p>
        </p:txBody>
      </p:sp>
      <p:sp>
        <p:nvSpPr>
          <p:cNvPr id="66" name="Shape 64"/>
          <p:cNvSpPr/>
          <p:nvPr/>
        </p:nvSpPr>
        <p:spPr>
          <a:xfrm>
            <a:off x="6428232" y="4817364"/>
            <a:ext cx="1371600" cy="440436"/>
          </a:xfrm>
          <a:prstGeom prst="rect">
            <a:avLst/>
          </a:prstGeom>
          <a:solidFill>
            <a:srgbClr val="F1F3F2"/>
          </a:solidFill>
          <a:ln w="5715">
            <a:solidFill>
              <a:srgbClr val="E2E6E2"/>
            </a:solidFill>
            <a:prstDash val="solid"/>
          </a:ln>
        </p:spPr>
      </p:sp>
      <p:sp>
        <p:nvSpPr>
          <p:cNvPr id="67" name="Shape 65"/>
          <p:cNvSpPr/>
          <p:nvPr/>
        </p:nvSpPr>
        <p:spPr>
          <a:xfrm>
            <a:off x="6501384" y="4918710"/>
            <a:ext cx="1225296" cy="237744"/>
          </a:xfrm>
          <a:prstGeom prst="roundRect">
            <a:avLst>
              <a:gd name="adj" fmla="val 46154"/>
            </a:avLst>
          </a:prstGeom>
          <a:solidFill>
            <a:srgbClr val="EAF8ED"/>
          </a:solidFill>
          <a:ln w="6350">
            <a:solidFill>
              <a:srgbClr val="3DCD58"/>
            </a:solidFill>
            <a:prstDash val="solid"/>
          </a:ln>
        </p:spPr>
      </p:sp>
      <p:sp>
        <p:nvSpPr>
          <p:cNvPr id="68" name="Text 66"/>
          <p:cNvSpPr/>
          <p:nvPr/>
        </p:nvSpPr>
        <p:spPr>
          <a:xfrm>
            <a:off x="6501384" y="491871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9" name="Shape 67"/>
          <p:cNvSpPr/>
          <p:nvPr/>
        </p:nvSpPr>
        <p:spPr>
          <a:xfrm>
            <a:off x="7799832" y="4817364"/>
            <a:ext cx="3767328" cy="440436"/>
          </a:xfrm>
          <a:prstGeom prst="rect">
            <a:avLst/>
          </a:prstGeom>
          <a:solidFill>
            <a:srgbClr val="F1F3F2"/>
          </a:solidFill>
          <a:ln w="5715">
            <a:solidFill>
              <a:srgbClr val="E2E6E2"/>
            </a:solidFill>
            <a:prstDash val="solid"/>
          </a:ln>
        </p:spPr>
      </p:sp>
      <p:sp>
        <p:nvSpPr>
          <p:cNvPr id="70" name="Text 68"/>
          <p:cNvSpPr/>
          <p:nvPr/>
        </p:nvSpPr>
        <p:spPr>
          <a:xfrm>
            <a:off x="7891272" y="4863084"/>
            <a:ext cx="3584448" cy="348996"/>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Supply chain risk tools exist, but none combine supplier exposure with climate risk and financial value at risk.</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Priced risk connected to disclosure is our wedge. Hazard data alone is a commodity we should buy, not build.</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and climate risk vendor public product pages (Climate X, XDI, Cotality, S&amp;P Global Climanomics, Risilience, Bloomberg).</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55244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22326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CAPABILITY POSITION: STRATEGY</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Strategy: the plan to execution gap is where we can lead outright</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Few vendors connect targets, initiatives and realised performance in one governed loop.</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011680" cy="365760"/>
          </a:xfrm>
          <a:prstGeom prst="rect">
            <a:avLst/>
          </a:prstGeom>
          <a:solidFill>
            <a:srgbClr val="005730"/>
          </a:solidFill>
          <a:ln w="5715">
            <a:solidFill>
              <a:srgbClr val="397257"/>
            </a:solidFill>
            <a:prstDash val="solid"/>
          </a:ln>
        </p:spPr>
      </p:sp>
      <p:sp>
        <p:nvSpPr>
          <p:cNvPr id="10" name="Text 8"/>
          <p:cNvSpPr/>
          <p:nvPr/>
        </p:nvSpPr>
        <p:spPr>
          <a:xfrm>
            <a:off x="713232" y="2084832"/>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084832"/>
            <a:ext cx="3794760" cy="365760"/>
          </a:xfrm>
          <a:prstGeom prst="rect">
            <a:avLst/>
          </a:prstGeom>
          <a:solidFill>
            <a:srgbClr val="005730"/>
          </a:solidFill>
          <a:ln w="5715">
            <a:solidFill>
              <a:srgbClr val="397257"/>
            </a:solidFill>
            <a:prstDash val="solid"/>
          </a:ln>
        </p:spPr>
      </p:sp>
      <p:sp>
        <p:nvSpPr>
          <p:cNvPr id="12" name="Text 10"/>
          <p:cNvSpPr/>
          <p:nvPr/>
        </p:nvSpPr>
        <p:spPr>
          <a:xfrm>
            <a:off x="2724912" y="2084832"/>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084832"/>
            <a:ext cx="1371600" cy="365760"/>
          </a:xfrm>
          <a:prstGeom prst="rect">
            <a:avLst/>
          </a:prstGeom>
          <a:solidFill>
            <a:srgbClr val="005730"/>
          </a:solidFill>
          <a:ln w="5715">
            <a:solidFill>
              <a:srgbClr val="397257"/>
            </a:solidFill>
            <a:prstDash val="solid"/>
          </a:ln>
        </p:spPr>
      </p:sp>
      <p:sp>
        <p:nvSpPr>
          <p:cNvPr id="14" name="Text 12"/>
          <p:cNvSpPr/>
          <p:nvPr/>
        </p:nvSpPr>
        <p:spPr>
          <a:xfrm>
            <a:off x="6519672" y="2084832"/>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EXPECTED POSITION</a:t>
            </a:r>
            <a:endParaRPr lang="en-US" sz="760" dirty="0"/>
          </a:p>
        </p:txBody>
      </p:sp>
      <p:sp>
        <p:nvSpPr>
          <p:cNvPr id="15" name="Shape 13"/>
          <p:cNvSpPr/>
          <p:nvPr/>
        </p:nvSpPr>
        <p:spPr>
          <a:xfrm>
            <a:off x="7799832" y="2084832"/>
            <a:ext cx="3767328" cy="365760"/>
          </a:xfrm>
          <a:prstGeom prst="rect">
            <a:avLst/>
          </a:prstGeom>
          <a:solidFill>
            <a:srgbClr val="005730"/>
          </a:solidFill>
          <a:ln w="5715">
            <a:solidFill>
              <a:srgbClr val="397257"/>
            </a:solidFill>
            <a:prstDash val="solid"/>
          </a:ln>
        </p:spPr>
      </p:sp>
      <p:sp>
        <p:nvSpPr>
          <p:cNvPr id="16" name="Text 14"/>
          <p:cNvSpPr/>
          <p:nvPr/>
        </p:nvSpPr>
        <p:spPr>
          <a:xfrm>
            <a:off x="7891272" y="2084832"/>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450592"/>
            <a:ext cx="2011680" cy="467868"/>
          </a:xfrm>
          <a:prstGeom prst="rect">
            <a:avLst/>
          </a:prstGeom>
          <a:solidFill>
            <a:srgbClr val="FFFFFF"/>
          </a:solidFill>
          <a:ln w="5715">
            <a:solidFill>
              <a:srgbClr val="E2E6E2"/>
            </a:solidFill>
            <a:prstDash val="solid"/>
          </a:ln>
        </p:spPr>
      </p:sp>
      <p:sp>
        <p:nvSpPr>
          <p:cNvPr id="18" name="Text 16"/>
          <p:cNvSpPr/>
          <p:nvPr/>
        </p:nvSpPr>
        <p:spPr>
          <a:xfrm>
            <a:off x="713232" y="249631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Target and pathway setting</a:t>
            </a:r>
            <a:endParaRPr lang="en-US" sz="900" dirty="0"/>
          </a:p>
        </p:txBody>
      </p:sp>
      <p:sp>
        <p:nvSpPr>
          <p:cNvPr id="19" name="Shape 17"/>
          <p:cNvSpPr/>
          <p:nvPr/>
        </p:nvSpPr>
        <p:spPr>
          <a:xfrm>
            <a:off x="2633472" y="2450592"/>
            <a:ext cx="3794760" cy="467868"/>
          </a:xfrm>
          <a:prstGeom prst="rect">
            <a:avLst/>
          </a:prstGeom>
          <a:solidFill>
            <a:srgbClr val="FFFFFF"/>
          </a:solidFill>
          <a:ln w="5715">
            <a:solidFill>
              <a:srgbClr val="E2E6E2"/>
            </a:solidFill>
            <a:prstDash val="solid"/>
          </a:ln>
        </p:spPr>
      </p:sp>
      <p:sp>
        <p:nvSpPr>
          <p:cNvPr id="20" name="Text 18"/>
          <p:cNvSpPr/>
          <p:nvPr/>
        </p:nvSpPr>
        <p:spPr>
          <a:xfrm>
            <a:off x="2724912" y="249631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Targets set against the same inventory the products use.</a:t>
            </a:r>
            <a:endParaRPr lang="en-US" sz="800" dirty="0"/>
          </a:p>
        </p:txBody>
      </p:sp>
      <p:sp>
        <p:nvSpPr>
          <p:cNvPr id="21" name="Shape 19"/>
          <p:cNvSpPr/>
          <p:nvPr/>
        </p:nvSpPr>
        <p:spPr>
          <a:xfrm>
            <a:off x="6428232" y="2450592"/>
            <a:ext cx="1371600" cy="467868"/>
          </a:xfrm>
          <a:prstGeom prst="rect">
            <a:avLst/>
          </a:prstGeom>
          <a:solidFill>
            <a:srgbClr val="FFFFFF"/>
          </a:solidFill>
          <a:ln w="5715">
            <a:solidFill>
              <a:srgbClr val="E2E6E2"/>
            </a:solidFill>
            <a:prstDash val="solid"/>
          </a:ln>
        </p:spPr>
      </p:sp>
      <p:sp>
        <p:nvSpPr>
          <p:cNvPr id="22" name="Shape 20"/>
          <p:cNvSpPr/>
          <p:nvPr/>
        </p:nvSpPr>
        <p:spPr>
          <a:xfrm>
            <a:off x="6501384" y="2565654"/>
            <a:ext cx="1225296" cy="237744"/>
          </a:xfrm>
          <a:prstGeom prst="roundRect">
            <a:avLst>
              <a:gd name="adj" fmla="val 46154"/>
            </a:avLst>
          </a:prstGeom>
          <a:solidFill>
            <a:srgbClr val="F1F3F2"/>
          </a:solidFill>
          <a:ln w="6350">
            <a:solidFill>
              <a:srgbClr val="E2E6E2"/>
            </a:solidFill>
            <a:prstDash val="solid"/>
          </a:ln>
        </p:spPr>
      </p:sp>
      <p:sp>
        <p:nvSpPr>
          <p:cNvPr id="23" name="Text 21"/>
          <p:cNvSpPr/>
          <p:nvPr/>
        </p:nvSpPr>
        <p:spPr>
          <a:xfrm>
            <a:off x="6501384" y="256565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24" name="Shape 22"/>
          <p:cNvSpPr/>
          <p:nvPr/>
        </p:nvSpPr>
        <p:spPr>
          <a:xfrm>
            <a:off x="7799832" y="2450592"/>
            <a:ext cx="3767328" cy="467868"/>
          </a:xfrm>
          <a:prstGeom prst="rect">
            <a:avLst/>
          </a:prstGeom>
          <a:solidFill>
            <a:srgbClr val="FFFFFF"/>
          </a:solidFill>
          <a:ln w="5715">
            <a:solidFill>
              <a:srgbClr val="E2E6E2"/>
            </a:solidFill>
            <a:prstDash val="solid"/>
          </a:ln>
        </p:spPr>
      </p:sp>
      <p:sp>
        <p:nvSpPr>
          <p:cNvPr id="25" name="Text 23"/>
          <p:cNvSpPr/>
          <p:nvPr/>
        </p:nvSpPr>
        <p:spPr>
          <a:xfrm>
            <a:off x="7891272" y="249631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Common capability.</a:t>
            </a:r>
            <a:endParaRPr lang="en-US" sz="800" dirty="0"/>
          </a:p>
        </p:txBody>
      </p:sp>
      <p:sp>
        <p:nvSpPr>
          <p:cNvPr id="26" name="Shape 24"/>
          <p:cNvSpPr/>
          <p:nvPr/>
        </p:nvSpPr>
        <p:spPr>
          <a:xfrm>
            <a:off x="621792" y="2918460"/>
            <a:ext cx="2011680" cy="467868"/>
          </a:xfrm>
          <a:prstGeom prst="rect">
            <a:avLst/>
          </a:prstGeom>
          <a:solidFill>
            <a:srgbClr val="F1F3F2"/>
          </a:solidFill>
          <a:ln w="5715">
            <a:solidFill>
              <a:srgbClr val="E2E6E2"/>
            </a:solidFill>
            <a:prstDash val="solid"/>
          </a:ln>
        </p:spPr>
      </p:sp>
      <p:sp>
        <p:nvSpPr>
          <p:cNvPr id="27" name="Text 25"/>
          <p:cNvSpPr/>
          <p:nvPr/>
        </p:nvSpPr>
        <p:spPr>
          <a:xfrm>
            <a:off x="713232" y="2964180"/>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Initiatives and actions management</a:t>
            </a:r>
            <a:endParaRPr lang="en-US" sz="900" dirty="0"/>
          </a:p>
        </p:txBody>
      </p:sp>
      <p:sp>
        <p:nvSpPr>
          <p:cNvPr id="28" name="Shape 26"/>
          <p:cNvSpPr/>
          <p:nvPr/>
        </p:nvSpPr>
        <p:spPr>
          <a:xfrm>
            <a:off x="2633472" y="2918460"/>
            <a:ext cx="3794760" cy="467868"/>
          </a:xfrm>
          <a:prstGeom prst="rect">
            <a:avLst/>
          </a:prstGeom>
          <a:solidFill>
            <a:srgbClr val="F1F3F2"/>
          </a:solidFill>
          <a:ln w="5715">
            <a:solidFill>
              <a:srgbClr val="E2E6E2"/>
            </a:solidFill>
            <a:prstDash val="solid"/>
          </a:ln>
        </p:spPr>
      </p:sp>
      <p:sp>
        <p:nvSpPr>
          <p:cNvPr id="29" name="Text 27"/>
          <p:cNvSpPr/>
          <p:nvPr/>
        </p:nvSpPr>
        <p:spPr>
          <a:xfrm>
            <a:off x="2724912" y="2964180"/>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Initiative and action management shipping with Q4 2026 scenario work.</a:t>
            </a:r>
            <a:endParaRPr lang="en-US" sz="800" dirty="0"/>
          </a:p>
        </p:txBody>
      </p:sp>
      <p:sp>
        <p:nvSpPr>
          <p:cNvPr id="30" name="Shape 28"/>
          <p:cNvSpPr/>
          <p:nvPr/>
        </p:nvSpPr>
        <p:spPr>
          <a:xfrm>
            <a:off x="6428232" y="2918460"/>
            <a:ext cx="1371600" cy="467868"/>
          </a:xfrm>
          <a:prstGeom prst="rect">
            <a:avLst/>
          </a:prstGeom>
          <a:solidFill>
            <a:srgbClr val="F1F3F2"/>
          </a:solidFill>
          <a:ln w="5715">
            <a:solidFill>
              <a:srgbClr val="E2E6E2"/>
            </a:solidFill>
            <a:prstDash val="solid"/>
          </a:ln>
        </p:spPr>
      </p:sp>
      <p:sp>
        <p:nvSpPr>
          <p:cNvPr id="31" name="Shape 29"/>
          <p:cNvSpPr/>
          <p:nvPr/>
        </p:nvSpPr>
        <p:spPr>
          <a:xfrm>
            <a:off x="6501384" y="3033522"/>
            <a:ext cx="1225296" cy="237744"/>
          </a:xfrm>
          <a:prstGeom prst="roundRect">
            <a:avLst>
              <a:gd name="adj" fmla="val 46154"/>
            </a:avLst>
          </a:prstGeom>
          <a:solidFill>
            <a:srgbClr val="EAF8ED"/>
          </a:solidFill>
          <a:ln w="6350">
            <a:solidFill>
              <a:srgbClr val="3DCD58"/>
            </a:solidFill>
            <a:prstDash val="solid"/>
          </a:ln>
        </p:spPr>
      </p:sp>
      <p:sp>
        <p:nvSpPr>
          <p:cNvPr id="32" name="Text 30"/>
          <p:cNvSpPr/>
          <p:nvPr/>
        </p:nvSpPr>
        <p:spPr>
          <a:xfrm>
            <a:off x="6501384" y="303352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33" name="Shape 31"/>
          <p:cNvSpPr/>
          <p:nvPr/>
        </p:nvSpPr>
        <p:spPr>
          <a:xfrm>
            <a:off x="7799832" y="2918460"/>
            <a:ext cx="3767328" cy="467868"/>
          </a:xfrm>
          <a:prstGeom prst="rect">
            <a:avLst/>
          </a:prstGeom>
          <a:solidFill>
            <a:srgbClr val="F1F3F2"/>
          </a:solidFill>
          <a:ln w="5715">
            <a:solidFill>
              <a:srgbClr val="E2E6E2"/>
            </a:solidFill>
            <a:prstDash val="solid"/>
          </a:ln>
        </p:spPr>
      </p:sp>
      <p:sp>
        <p:nvSpPr>
          <p:cNvPr id="34" name="Text 32"/>
          <p:cNvSpPr/>
          <p:nvPr/>
        </p:nvSpPr>
        <p:spPr>
          <a:xfrm>
            <a:off x="7891272" y="2964180"/>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Most carbon tools stop at the plan and never track execution.</a:t>
            </a:r>
            <a:endParaRPr lang="en-US" sz="800" dirty="0"/>
          </a:p>
        </p:txBody>
      </p:sp>
      <p:sp>
        <p:nvSpPr>
          <p:cNvPr id="35" name="Shape 33"/>
          <p:cNvSpPr/>
          <p:nvPr/>
        </p:nvSpPr>
        <p:spPr>
          <a:xfrm>
            <a:off x="621792" y="3386328"/>
            <a:ext cx="2011680" cy="467868"/>
          </a:xfrm>
          <a:prstGeom prst="rect">
            <a:avLst/>
          </a:prstGeom>
          <a:solidFill>
            <a:srgbClr val="FFFFFF"/>
          </a:solidFill>
          <a:ln w="5715">
            <a:solidFill>
              <a:srgbClr val="E2E6E2"/>
            </a:solidFill>
            <a:prstDash val="solid"/>
          </a:ln>
        </p:spPr>
      </p:sp>
      <p:sp>
        <p:nvSpPr>
          <p:cNvPr id="36" name="Text 34"/>
          <p:cNvSpPr/>
          <p:nvPr/>
        </p:nvSpPr>
        <p:spPr>
          <a:xfrm>
            <a:off x="713232" y="3432048"/>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Scenario and cobenefit modelling</a:t>
            </a:r>
            <a:endParaRPr lang="en-US" sz="900" dirty="0"/>
          </a:p>
        </p:txBody>
      </p:sp>
      <p:sp>
        <p:nvSpPr>
          <p:cNvPr id="37" name="Shape 35"/>
          <p:cNvSpPr/>
          <p:nvPr/>
        </p:nvSpPr>
        <p:spPr>
          <a:xfrm>
            <a:off x="2633472" y="3386328"/>
            <a:ext cx="3794760" cy="467868"/>
          </a:xfrm>
          <a:prstGeom prst="rect">
            <a:avLst/>
          </a:prstGeom>
          <a:solidFill>
            <a:srgbClr val="FFFFFF"/>
          </a:solidFill>
          <a:ln w="5715">
            <a:solidFill>
              <a:srgbClr val="E2E6E2"/>
            </a:solidFill>
            <a:prstDash val="solid"/>
          </a:ln>
        </p:spPr>
      </p:sp>
      <p:sp>
        <p:nvSpPr>
          <p:cNvPr id="38" name="Text 36"/>
          <p:cNvSpPr/>
          <p:nvPr/>
        </p:nvSpPr>
        <p:spPr>
          <a:xfrm>
            <a:off x="2724912" y="3432048"/>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Energy, carbon and cost cobenefits modelled together.</a:t>
            </a:r>
            <a:endParaRPr lang="en-US" sz="800" dirty="0"/>
          </a:p>
        </p:txBody>
      </p:sp>
      <p:sp>
        <p:nvSpPr>
          <p:cNvPr id="39" name="Shape 37"/>
          <p:cNvSpPr/>
          <p:nvPr/>
        </p:nvSpPr>
        <p:spPr>
          <a:xfrm>
            <a:off x="6428232" y="3386328"/>
            <a:ext cx="1371600" cy="467868"/>
          </a:xfrm>
          <a:prstGeom prst="rect">
            <a:avLst/>
          </a:prstGeom>
          <a:solidFill>
            <a:srgbClr val="FFFFFF"/>
          </a:solidFill>
          <a:ln w="5715">
            <a:solidFill>
              <a:srgbClr val="E2E6E2"/>
            </a:solidFill>
            <a:prstDash val="solid"/>
          </a:ln>
        </p:spPr>
      </p:sp>
      <p:sp>
        <p:nvSpPr>
          <p:cNvPr id="40" name="Shape 38"/>
          <p:cNvSpPr/>
          <p:nvPr/>
        </p:nvSpPr>
        <p:spPr>
          <a:xfrm>
            <a:off x="6501384" y="3501390"/>
            <a:ext cx="1225296" cy="237744"/>
          </a:xfrm>
          <a:prstGeom prst="roundRect">
            <a:avLst>
              <a:gd name="adj" fmla="val 46154"/>
            </a:avLst>
          </a:prstGeom>
          <a:solidFill>
            <a:srgbClr val="EAF8ED"/>
          </a:solidFill>
          <a:ln w="6350">
            <a:solidFill>
              <a:srgbClr val="3DCD58"/>
            </a:solidFill>
            <a:prstDash val="solid"/>
          </a:ln>
        </p:spPr>
      </p:sp>
      <p:sp>
        <p:nvSpPr>
          <p:cNvPr id="41" name="Text 39"/>
          <p:cNvSpPr/>
          <p:nvPr/>
        </p:nvSpPr>
        <p:spPr>
          <a:xfrm>
            <a:off x="6501384" y="350139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42" name="Shape 40"/>
          <p:cNvSpPr/>
          <p:nvPr/>
        </p:nvSpPr>
        <p:spPr>
          <a:xfrm>
            <a:off x="7799832" y="3386328"/>
            <a:ext cx="3767328" cy="467868"/>
          </a:xfrm>
          <a:prstGeom prst="rect">
            <a:avLst/>
          </a:prstGeom>
          <a:solidFill>
            <a:srgbClr val="FFFFFF"/>
          </a:solidFill>
          <a:ln w="5715">
            <a:solidFill>
              <a:srgbClr val="E2E6E2"/>
            </a:solidFill>
            <a:prstDash val="solid"/>
          </a:ln>
        </p:spPr>
      </p:sp>
      <p:sp>
        <p:nvSpPr>
          <p:cNvPr id="43" name="Text 41"/>
          <p:cNvSpPr/>
          <p:nvPr/>
        </p:nvSpPr>
        <p:spPr>
          <a:xfrm>
            <a:off x="7891272" y="3432048"/>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Requires the energy and efficiency data only we hold.</a:t>
            </a:r>
            <a:endParaRPr lang="en-US" sz="800" dirty="0"/>
          </a:p>
        </p:txBody>
      </p:sp>
      <p:sp>
        <p:nvSpPr>
          <p:cNvPr id="44" name="Shape 42"/>
          <p:cNvSpPr/>
          <p:nvPr/>
        </p:nvSpPr>
        <p:spPr>
          <a:xfrm>
            <a:off x="621792" y="3854196"/>
            <a:ext cx="2011680" cy="467868"/>
          </a:xfrm>
          <a:prstGeom prst="rect">
            <a:avLst/>
          </a:prstGeom>
          <a:solidFill>
            <a:srgbClr val="F1F3F2"/>
          </a:solidFill>
          <a:ln w="5715">
            <a:solidFill>
              <a:srgbClr val="E2E6E2"/>
            </a:solidFill>
            <a:prstDash val="solid"/>
          </a:ln>
        </p:spPr>
      </p:sp>
      <p:sp>
        <p:nvSpPr>
          <p:cNvPr id="45" name="Text 43"/>
          <p:cNvSpPr/>
          <p:nvPr/>
        </p:nvSpPr>
        <p:spPr>
          <a:xfrm>
            <a:off x="713232" y="3899916"/>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Recommendations</a:t>
            </a:r>
            <a:endParaRPr lang="en-US" sz="900" dirty="0"/>
          </a:p>
        </p:txBody>
      </p:sp>
      <p:sp>
        <p:nvSpPr>
          <p:cNvPr id="46" name="Shape 44"/>
          <p:cNvSpPr/>
          <p:nvPr/>
        </p:nvSpPr>
        <p:spPr>
          <a:xfrm>
            <a:off x="2633472" y="3854196"/>
            <a:ext cx="3794760" cy="467868"/>
          </a:xfrm>
          <a:prstGeom prst="rect">
            <a:avLst/>
          </a:prstGeom>
          <a:solidFill>
            <a:srgbClr val="F1F3F2"/>
          </a:solidFill>
          <a:ln w="5715">
            <a:solidFill>
              <a:srgbClr val="E2E6E2"/>
            </a:solidFill>
            <a:prstDash val="solid"/>
          </a:ln>
        </p:spPr>
      </p:sp>
      <p:sp>
        <p:nvSpPr>
          <p:cNvPr id="47" name="Text 45"/>
          <p:cNvSpPr/>
          <p:nvPr/>
        </p:nvSpPr>
        <p:spPr>
          <a:xfrm>
            <a:off x="2724912" y="3899916"/>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AI recommendations on the next best action, launching Q4 2026, with energy, carbon and cost cobenefits surfaced together.</a:t>
            </a:r>
            <a:endParaRPr lang="en-US" sz="800" dirty="0"/>
          </a:p>
        </p:txBody>
      </p:sp>
      <p:sp>
        <p:nvSpPr>
          <p:cNvPr id="48" name="Shape 46"/>
          <p:cNvSpPr/>
          <p:nvPr/>
        </p:nvSpPr>
        <p:spPr>
          <a:xfrm>
            <a:off x="6428232" y="3854196"/>
            <a:ext cx="1371600" cy="467868"/>
          </a:xfrm>
          <a:prstGeom prst="rect">
            <a:avLst/>
          </a:prstGeom>
          <a:solidFill>
            <a:srgbClr val="F1F3F2"/>
          </a:solidFill>
          <a:ln w="5715">
            <a:solidFill>
              <a:srgbClr val="E2E6E2"/>
            </a:solidFill>
            <a:prstDash val="solid"/>
          </a:ln>
        </p:spPr>
      </p:sp>
      <p:sp>
        <p:nvSpPr>
          <p:cNvPr id="49" name="Shape 47"/>
          <p:cNvSpPr/>
          <p:nvPr/>
        </p:nvSpPr>
        <p:spPr>
          <a:xfrm>
            <a:off x="6501384" y="3969258"/>
            <a:ext cx="1225296" cy="237744"/>
          </a:xfrm>
          <a:prstGeom prst="roundRect">
            <a:avLst>
              <a:gd name="adj" fmla="val 46154"/>
            </a:avLst>
          </a:prstGeom>
          <a:solidFill>
            <a:srgbClr val="EAF8ED"/>
          </a:solidFill>
          <a:ln w="6350">
            <a:solidFill>
              <a:srgbClr val="3DCD58"/>
            </a:solidFill>
            <a:prstDash val="solid"/>
          </a:ln>
        </p:spPr>
      </p:sp>
      <p:sp>
        <p:nvSpPr>
          <p:cNvPr id="50" name="Text 48"/>
          <p:cNvSpPr/>
          <p:nvPr/>
        </p:nvSpPr>
        <p:spPr>
          <a:xfrm>
            <a:off x="6501384" y="396925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51" name="Shape 49"/>
          <p:cNvSpPr/>
          <p:nvPr/>
        </p:nvSpPr>
        <p:spPr>
          <a:xfrm>
            <a:off x="7799832" y="3854196"/>
            <a:ext cx="3767328" cy="467868"/>
          </a:xfrm>
          <a:prstGeom prst="rect">
            <a:avLst/>
          </a:prstGeom>
          <a:solidFill>
            <a:srgbClr val="F1F3F2"/>
          </a:solidFill>
          <a:ln w="5715">
            <a:solidFill>
              <a:srgbClr val="E2E6E2"/>
            </a:solidFill>
            <a:prstDash val="solid"/>
          </a:ln>
        </p:spPr>
      </p:sp>
      <p:sp>
        <p:nvSpPr>
          <p:cNvPr id="52" name="Text 50"/>
          <p:cNvSpPr/>
          <p:nvPr/>
        </p:nvSpPr>
        <p:spPr>
          <a:xfrm>
            <a:off x="7891272" y="3899916"/>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No rival currently links next best action recommendations to energy, carbon and cost cobenefits on one platform.</a:t>
            </a:r>
            <a:endParaRPr lang="en-US" sz="800" dirty="0"/>
          </a:p>
        </p:txBody>
      </p:sp>
      <p:sp>
        <p:nvSpPr>
          <p:cNvPr id="53" name="Shape 51"/>
          <p:cNvSpPr/>
          <p:nvPr/>
        </p:nvSpPr>
        <p:spPr>
          <a:xfrm>
            <a:off x="621792" y="4322064"/>
            <a:ext cx="2011680" cy="467868"/>
          </a:xfrm>
          <a:prstGeom prst="rect">
            <a:avLst/>
          </a:prstGeom>
          <a:solidFill>
            <a:srgbClr val="FFFFFF"/>
          </a:solidFill>
          <a:ln w="5715">
            <a:solidFill>
              <a:srgbClr val="E2E6E2"/>
            </a:solidFill>
            <a:prstDash val="solid"/>
          </a:ln>
        </p:spPr>
      </p:sp>
      <p:sp>
        <p:nvSpPr>
          <p:cNvPr id="54" name="Text 52"/>
          <p:cNvSpPr/>
          <p:nvPr/>
        </p:nvSpPr>
        <p:spPr>
          <a:xfrm>
            <a:off x="713232" y="4367784"/>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Realised versus planned</a:t>
            </a:r>
            <a:endParaRPr lang="en-US" sz="900" dirty="0"/>
          </a:p>
        </p:txBody>
      </p:sp>
      <p:sp>
        <p:nvSpPr>
          <p:cNvPr id="55" name="Shape 53"/>
          <p:cNvSpPr/>
          <p:nvPr/>
        </p:nvSpPr>
        <p:spPr>
          <a:xfrm>
            <a:off x="2633472" y="4322064"/>
            <a:ext cx="3794760" cy="467868"/>
          </a:xfrm>
          <a:prstGeom prst="rect">
            <a:avLst/>
          </a:prstGeom>
          <a:solidFill>
            <a:srgbClr val="FFFFFF"/>
          </a:solidFill>
          <a:ln w="5715">
            <a:solidFill>
              <a:srgbClr val="E2E6E2"/>
            </a:solidFill>
            <a:prstDash val="solid"/>
          </a:ln>
        </p:spPr>
      </p:sp>
      <p:sp>
        <p:nvSpPr>
          <p:cNvPr id="56" name="Text 54"/>
          <p:cNvSpPr/>
          <p:nvPr/>
        </p:nvSpPr>
        <p:spPr>
          <a:xfrm>
            <a:off x="2724912" y="4367784"/>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Actual performance measured against the plan on the same data.</a:t>
            </a:r>
            <a:endParaRPr lang="en-US" sz="800" dirty="0"/>
          </a:p>
        </p:txBody>
      </p:sp>
      <p:sp>
        <p:nvSpPr>
          <p:cNvPr id="57" name="Shape 55"/>
          <p:cNvSpPr/>
          <p:nvPr/>
        </p:nvSpPr>
        <p:spPr>
          <a:xfrm>
            <a:off x="6428232" y="4322064"/>
            <a:ext cx="1371600" cy="467868"/>
          </a:xfrm>
          <a:prstGeom prst="rect">
            <a:avLst/>
          </a:prstGeom>
          <a:solidFill>
            <a:srgbClr val="FFFFFF"/>
          </a:solidFill>
          <a:ln w="5715">
            <a:solidFill>
              <a:srgbClr val="E2E6E2"/>
            </a:solidFill>
            <a:prstDash val="solid"/>
          </a:ln>
        </p:spPr>
      </p:sp>
      <p:sp>
        <p:nvSpPr>
          <p:cNvPr id="58" name="Shape 56"/>
          <p:cNvSpPr/>
          <p:nvPr/>
        </p:nvSpPr>
        <p:spPr>
          <a:xfrm>
            <a:off x="6501384" y="4437126"/>
            <a:ext cx="1225296" cy="237744"/>
          </a:xfrm>
          <a:prstGeom prst="roundRect">
            <a:avLst>
              <a:gd name="adj" fmla="val 46154"/>
            </a:avLst>
          </a:prstGeom>
          <a:solidFill>
            <a:srgbClr val="EAF8ED"/>
          </a:solidFill>
          <a:ln w="6350">
            <a:solidFill>
              <a:srgbClr val="3DCD58"/>
            </a:solidFill>
            <a:prstDash val="solid"/>
          </a:ln>
        </p:spPr>
      </p:sp>
      <p:sp>
        <p:nvSpPr>
          <p:cNvPr id="59" name="Text 57"/>
          <p:cNvSpPr/>
          <p:nvPr/>
        </p:nvSpPr>
        <p:spPr>
          <a:xfrm>
            <a:off x="6501384" y="443712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60" name="Shape 58"/>
          <p:cNvSpPr/>
          <p:nvPr/>
        </p:nvSpPr>
        <p:spPr>
          <a:xfrm>
            <a:off x="7799832" y="4322064"/>
            <a:ext cx="3767328" cy="467868"/>
          </a:xfrm>
          <a:prstGeom prst="rect">
            <a:avLst/>
          </a:prstGeom>
          <a:solidFill>
            <a:srgbClr val="FFFFFF"/>
          </a:solidFill>
          <a:ln w="5715">
            <a:solidFill>
              <a:srgbClr val="E2E6E2"/>
            </a:solidFill>
            <a:prstDash val="solid"/>
          </a:ln>
        </p:spPr>
      </p:sp>
      <p:sp>
        <p:nvSpPr>
          <p:cNvPr id="61" name="Text 59"/>
          <p:cNvSpPr/>
          <p:nvPr/>
        </p:nvSpPr>
        <p:spPr>
          <a:xfrm>
            <a:off x="7891272" y="4367784"/>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Rare outside consultancy led engagements.</a:t>
            </a:r>
            <a:endParaRPr lang="en-US" sz="800" dirty="0"/>
          </a:p>
        </p:txBody>
      </p:sp>
      <p:sp>
        <p:nvSpPr>
          <p:cNvPr id="62" name="Shape 60"/>
          <p:cNvSpPr/>
          <p:nvPr/>
        </p:nvSpPr>
        <p:spPr>
          <a:xfrm>
            <a:off x="621792" y="4789932"/>
            <a:ext cx="2011680" cy="467868"/>
          </a:xfrm>
          <a:prstGeom prst="rect">
            <a:avLst/>
          </a:prstGeom>
          <a:solidFill>
            <a:srgbClr val="F1F3F2"/>
          </a:solidFill>
          <a:ln w="5715">
            <a:solidFill>
              <a:srgbClr val="E2E6E2"/>
            </a:solidFill>
            <a:prstDash val="solid"/>
          </a:ln>
        </p:spPr>
      </p:sp>
      <p:sp>
        <p:nvSpPr>
          <p:cNvPr id="63" name="Text 61"/>
          <p:cNvSpPr/>
          <p:nvPr/>
        </p:nvSpPr>
        <p:spPr>
          <a:xfrm>
            <a:off x="713232" y="483565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Governance and scale</a:t>
            </a:r>
            <a:endParaRPr lang="en-US" sz="900" dirty="0"/>
          </a:p>
        </p:txBody>
      </p:sp>
      <p:sp>
        <p:nvSpPr>
          <p:cNvPr id="64" name="Shape 62"/>
          <p:cNvSpPr/>
          <p:nvPr/>
        </p:nvSpPr>
        <p:spPr>
          <a:xfrm>
            <a:off x="2633472" y="4789932"/>
            <a:ext cx="3794760" cy="467868"/>
          </a:xfrm>
          <a:prstGeom prst="rect">
            <a:avLst/>
          </a:prstGeom>
          <a:solidFill>
            <a:srgbClr val="F1F3F2"/>
          </a:solidFill>
          <a:ln w="5715">
            <a:solidFill>
              <a:srgbClr val="E2E6E2"/>
            </a:solidFill>
            <a:prstDash val="solid"/>
          </a:ln>
        </p:spPr>
      </p:sp>
      <p:sp>
        <p:nvSpPr>
          <p:cNvPr id="65" name="Text 63"/>
          <p:cNvSpPr/>
          <p:nvPr/>
        </p:nvSpPr>
        <p:spPr>
          <a:xfrm>
            <a:off x="2724912" y="483565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Roll out across business units on the shared hierarchy.</a:t>
            </a:r>
            <a:endParaRPr lang="en-US" sz="800" dirty="0"/>
          </a:p>
        </p:txBody>
      </p:sp>
      <p:sp>
        <p:nvSpPr>
          <p:cNvPr id="66" name="Shape 64"/>
          <p:cNvSpPr/>
          <p:nvPr/>
        </p:nvSpPr>
        <p:spPr>
          <a:xfrm>
            <a:off x="6428232" y="4789932"/>
            <a:ext cx="1371600" cy="467868"/>
          </a:xfrm>
          <a:prstGeom prst="rect">
            <a:avLst/>
          </a:prstGeom>
          <a:solidFill>
            <a:srgbClr val="F1F3F2"/>
          </a:solidFill>
          <a:ln w="5715">
            <a:solidFill>
              <a:srgbClr val="E2E6E2"/>
            </a:solidFill>
            <a:prstDash val="solid"/>
          </a:ln>
        </p:spPr>
      </p:sp>
      <p:sp>
        <p:nvSpPr>
          <p:cNvPr id="67" name="Shape 65"/>
          <p:cNvSpPr/>
          <p:nvPr/>
        </p:nvSpPr>
        <p:spPr>
          <a:xfrm>
            <a:off x="6501384" y="4904994"/>
            <a:ext cx="1225296" cy="237744"/>
          </a:xfrm>
          <a:prstGeom prst="roundRect">
            <a:avLst>
              <a:gd name="adj" fmla="val 46154"/>
            </a:avLst>
          </a:prstGeom>
          <a:solidFill>
            <a:srgbClr val="F1F3F2"/>
          </a:solidFill>
          <a:ln w="6350">
            <a:solidFill>
              <a:srgbClr val="E2E6E2"/>
            </a:solidFill>
            <a:prstDash val="solid"/>
          </a:ln>
        </p:spPr>
      </p:sp>
      <p:sp>
        <p:nvSpPr>
          <p:cNvPr id="68" name="Text 66"/>
          <p:cNvSpPr/>
          <p:nvPr/>
        </p:nvSpPr>
        <p:spPr>
          <a:xfrm>
            <a:off x="6501384" y="490499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9" name="Shape 67"/>
          <p:cNvSpPr/>
          <p:nvPr/>
        </p:nvSpPr>
        <p:spPr>
          <a:xfrm>
            <a:off x="7799832" y="4789932"/>
            <a:ext cx="3767328" cy="467868"/>
          </a:xfrm>
          <a:prstGeom prst="rect">
            <a:avLst/>
          </a:prstGeom>
          <a:solidFill>
            <a:srgbClr val="F1F3F2"/>
          </a:solidFill>
          <a:ln w="5715">
            <a:solidFill>
              <a:srgbClr val="E2E6E2"/>
            </a:solidFill>
            <a:prstDash val="solid"/>
          </a:ln>
        </p:spPr>
      </p:sp>
      <p:sp>
        <p:nvSpPr>
          <p:cNvPr id="70" name="Text 68"/>
          <p:cNvSpPr/>
          <p:nvPr/>
        </p:nvSpPr>
        <p:spPr>
          <a:xfrm>
            <a:off x="7891272" y="483565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Expected at enterprise scale.</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Strategy is where the convergence story becomes tangible. It is our clearest chance to be first, not fast follower.</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40782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7490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CAPABILITY POSITION: CORE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Core Platform: the capability rivals cannot copy quickly</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None of this is sold on its own. All of it decides whether every other product can lead.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011680" cy="365760"/>
          </a:xfrm>
          <a:prstGeom prst="rect">
            <a:avLst/>
          </a:prstGeom>
          <a:solidFill>
            <a:srgbClr val="005730"/>
          </a:solidFill>
          <a:ln w="5715">
            <a:solidFill>
              <a:srgbClr val="397257"/>
            </a:solidFill>
            <a:prstDash val="solid"/>
          </a:ln>
        </p:spPr>
      </p:sp>
      <p:sp>
        <p:nvSpPr>
          <p:cNvPr id="10" name="Text 8"/>
          <p:cNvSpPr/>
          <p:nvPr/>
        </p:nvSpPr>
        <p:spPr>
          <a:xfrm>
            <a:off x="713232" y="2084832"/>
            <a:ext cx="182880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CAPABILITY</a:t>
            </a:r>
            <a:endParaRPr lang="en-US" sz="760" dirty="0"/>
          </a:p>
        </p:txBody>
      </p:sp>
      <p:sp>
        <p:nvSpPr>
          <p:cNvPr id="11" name="Shape 9"/>
          <p:cNvSpPr/>
          <p:nvPr/>
        </p:nvSpPr>
        <p:spPr>
          <a:xfrm>
            <a:off x="2633472" y="2084832"/>
            <a:ext cx="3794760" cy="365760"/>
          </a:xfrm>
          <a:prstGeom prst="rect">
            <a:avLst/>
          </a:prstGeom>
          <a:solidFill>
            <a:srgbClr val="005730"/>
          </a:solidFill>
          <a:ln w="5715">
            <a:solidFill>
              <a:srgbClr val="397257"/>
            </a:solidFill>
            <a:prstDash val="solid"/>
          </a:ln>
        </p:spPr>
      </p:sp>
      <p:sp>
        <p:nvSpPr>
          <p:cNvPr id="12" name="Text 10"/>
          <p:cNvSpPr/>
          <p:nvPr/>
        </p:nvSpPr>
        <p:spPr>
          <a:xfrm>
            <a:off x="2724912" y="2084832"/>
            <a:ext cx="361188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WHAT RA+ DELIVERS</a:t>
            </a:r>
            <a:endParaRPr lang="en-US" sz="760" dirty="0"/>
          </a:p>
        </p:txBody>
      </p:sp>
      <p:sp>
        <p:nvSpPr>
          <p:cNvPr id="13" name="Shape 11"/>
          <p:cNvSpPr/>
          <p:nvPr/>
        </p:nvSpPr>
        <p:spPr>
          <a:xfrm>
            <a:off x="6428232" y="2084832"/>
            <a:ext cx="1371600" cy="365760"/>
          </a:xfrm>
          <a:prstGeom prst="rect">
            <a:avLst/>
          </a:prstGeom>
          <a:solidFill>
            <a:srgbClr val="005730"/>
          </a:solidFill>
          <a:ln w="5715">
            <a:solidFill>
              <a:srgbClr val="397257"/>
            </a:solidFill>
            <a:prstDash val="solid"/>
          </a:ln>
        </p:spPr>
      </p:sp>
      <p:sp>
        <p:nvSpPr>
          <p:cNvPr id="14" name="Text 12"/>
          <p:cNvSpPr/>
          <p:nvPr/>
        </p:nvSpPr>
        <p:spPr>
          <a:xfrm>
            <a:off x="6519672" y="2084832"/>
            <a:ext cx="1188720"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EXPECTED POSITION</a:t>
            </a:r>
            <a:endParaRPr lang="en-US" sz="760" dirty="0"/>
          </a:p>
        </p:txBody>
      </p:sp>
      <p:sp>
        <p:nvSpPr>
          <p:cNvPr id="15" name="Shape 13"/>
          <p:cNvSpPr/>
          <p:nvPr/>
        </p:nvSpPr>
        <p:spPr>
          <a:xfrm>
            <a:off x="7799832" y="2084832"/>
            <a:ext cx="3767328" cy="365760"/>
          </a:xfrm>
          <a:prstGeom prst="rect">
            <a:avLst/>
          </a:prstGeom>
          <a:solidFill>
            <a:srgbClr val="005730"/>
          </a:solidFill>
          <a:ln w="5715">
            <a:solidFill>
              <a:srgbClr val="397257"/>
            </a:solidFill>
            <a:prstDash val="solid"/>
          </a:ln>
        </p:spPr>
      </p:sp>
      <p:sp>
        <p:nvSpPr>
          <p:cNvPr id="16" name="Text 14"/>
          <p:cNvSpPr/>
          <p:nvPr/>
        </p:nvSpPr>
        <p:spPr>
          <a:xfrm>
            <a:off x="7891272" y="2084832"/>
            <a:ext cx="3584448" cy="365760"/>
          </a:xfrm>
          <a:prstGeom prst="rect">
            <a:avLst/>
          </a:prstGeom>
          <a:noFill/>
          <a:ln/>
        </p:spPr>
        <p:txBody>
          <a:bodyPr wrap="square" lIns="0" tIns="0" rIns="0" bIns="0" rtlCol="0" anchor="ctr">
            <a:normAutofit/>
          </a:bodyPr>
          <a:lstStyle/>
          <a:p>
            <a:pPr indent="0" marL="0">
              <a:buNone/>
            </a:pPr>
            <a:r>
              <a:rPr lang="en-US" sz="760" b="1" spc="70" kern="0" dirty="0">
                <a:solidFill>
                  <a:srgbClr val="FFFFFF"/>
                </a:solidFill>
                <a:latin typeface="Calibri" pitchFamily="34" charset="0"/>
                <a:ea typeface="Calibri" pitchFamily="34" charset="-122"/>
                <a:cs typeface="Calibri" pitchFamily="34" charset="-120"/>
              </a:rPr>
              <a:t>MARKET BENCHMARK</a:t>
            </a:r>
            <a:endParaRPr lang="en-US" sz="760" dirty="0"/>
          </a:p>
        </p:txBody>
      </p:sp>
      <p:sp>
        <p:nvSpPr>
          <p:cNvPr id="17" name="Shape 15"/>
          <p:cNvSpPr/>
          <p:nvPr/>
        </p:nvSpPr>
        <p:spPr>
          <a:xfrm>
            <a:off x="621792" y="2450592"/>
            <a:ext cx="2011680" cy="467868"/>
          </a:xfrm>
          <a:prstGeom prst="rect">
            <a:avLst/>
          </a:prstGeom>
          <a:solidFill>
            <a:srgbClr val="FFFFFF"/>
          </a:solidFill>
          <a:ln w="5715">
            <a:solidFill>
              <a:srgbClr val="E2E6E2"/>
            </a:solidFill>
            <a:prstDash val="solid"/>
          </a:ln>
        </p:spPr>
      </p:sp>
      <p:sp>
        <p:nvSpPr>
          <p:cNvPr id="18" name="Text 16"/>
          <p:cNvSpPr/>
          <p:nvPr/>
        </p:nvSpPr>
        <p:spPr>
          <a:xfrm>
            <a:off x="713232" y="249631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Shared hierarchy and ontology</a:t>
            </a:r>
            <a:endParaRPr lang="en-US" sz="900" dirty="0"/>
          </a:p>
        </p:txBody>
      </p:sp>
      <p:sp>
        <p:nvSpPr>
          <p:cNvPr id="19" name="Shape 17"/>
          <p:cNvSpPr/>
          <p:nvPr/>
        </p:nvSpPr>
        <p:spPr>
          <a:xfrm>
            <a:off x="2633472" y="2450592"/>
            <a:ext cx="3794760" cy="467868"/>
          </a:xfrm>
          <a:prstGeom prst="rect">
            <a:avLst/>
          </a:prstGeom>
          <a:solidFill>
            <a:srgbClr val="FFFFFF"/>
          </a:solidFill>
          <a:ln w="5715">
            <a:solidFill>
              <a:srgbClr val="E2E6E2"/>
            </a:solidFill>
            <a:prstDash val="solid"/>
          </a:ln>
        </p:spPr>
      </p:sp>
      <p:sp>
        <p:nvSpPr>
          <p:cNvPr id="20" name="Text 18"/>
          <p:cNvSpPr/>
          <p:nvPr/>
        </p:nvSpPr>
        <p:spPr>
          <a:xfrm>
            <a:off x="2724912" y="249631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One organisational and asset hierarchy every product inherits.</a:t>
            </a:r>
            <a:endParaRPr lang="en-US" sz="800" dirty="0"/>
          </a:p>
        </p:txBody>
      </p:sp>
      <p:sp>
        <p:nvSpPr>
          <p:cNvPr id="21" name="Shape 19"/>
          <p:cNvSpPr/>
          <p:nvPr/>
        </p:nvSpPr>
        <p:spPr>
          <a:xfrm>
            <a:off x="6428232" y="2450592"/>
            <a:ext cx="1371600" cy="467868"/>
          </a:xfrm>
          <a:prstGeom prst="rect">
            <a:avLst/>
          </a:prstGeom>
          <a:solidFill>
            <a:srgbClr val="FFFFFF"/>
          </a:solidFill>
          <a:ln w="5715">
            <a:solidFill>
              <a:srgbClr val="E2E6E2"/>
            </a:solidFill>
            <a:prstDash val="solid"/>
          </a:ln>
        </p:spPr>
      </p:sp>
      <p:sp>
        <p:nvSpPr>
          <p:cNvPr id="22" name="Shape 20"/>
          <p:cNvSpPr/>
          <p:nvPr/>
        </p:nvSpPr>
        <p:spPr>
          <a:xfrm>
            <a:off x="6501384" y="2565654"/>
            <a:ext cx="1225296" cy="237744"/>
          </a:xfrm>
          <a:prstGeom prst="roundRect">
            <a:avLst>
              <a:gd name="adj" fmla="val 46154"/>
            </a:avLst>
          </a:prstGeom>
          <a:solidFill>
            <a:srgbClr val="EAF8ED"/>
          </a:solidFill>
          <a:ln w="6350">
            <a:solidFill>
              <a:srgbClr val="3DCD58"/>
            </a:solidFill>
            <a:prstDash val="solid"/>
          </a:ln>
        </p:spPr>
      </p:sp>
      <p:sp>
        <p:nvSpPr>
          <p:cNvPr id="23" name="Text 21"/>
          <p:cNvSpPr/>
          <p:nvPr/>
        </p:nvSpPr>
        <p:spPr>
          <a:xfrm>
            <a:off x="6501384" y="256565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24" name="Shape 22"/>
          <p:cNvSpPr/>
          <p:nvPr/>
        </p:nvSpPr>
        <p:spPr>
          <a:xfrm>
            <a:off x="7799832" y="2450592"/>
            <a:ext cx="3767328" cy="467868"/>
          </a:xfrm>
          <a:prstGeom prst="rect">
            <a:avLst/>
          </a:prstGeom>
          <a:solidFill>
            <a:srgbClr val="FFFFFF"/>
          </a:solidFill>
          <a:ln w="5715">
            <a:solidFill>
              <a:srgbClr val="E2E6E2"/>
            </a:solidFill>
            <a:prstDash val="solid"/>
          </a:ln>
        </p:spPr>
      </p:sp>
      <p:sp>
        <p:nvSpPr>
          <p:cNvPr id="25" name="Text 23"/>
          <p:cNvSpPr/>
          <p:nvPr/>
        </p:nvSpPr>
        <p:spPr>
          <a:xfrm>
            <a:off x="7891272" y="249631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Multi product rivals commonly run separate models per product.</a:t>
            </a:r>
            <a:endParaRPr lang="en-US" sz="800" dirty="0"/>
          </a:p>
        </p:txBody>
      </p:sp>
      <p:sp>
        <p:nvSpPr>
          <p:cNvPr id="26" name="Shape 24"/>
          <p:cNvSpPr/>
          <p:nvPr/>
        </p:nvSpPr>
        <p:spPr>
          <a:xfrm>
            <a:off x="621792" y="2918460"/>
            <a:ext cx="2011680" cy="467868"/>
          </a:xfrm>
          <a:prstGeom prst="rect">
            <a:avLst/>
          </a:prstGeom>
          <a:solidFill>
            <a:srgbClr val="F1F3F2"/>
          </a:solidFill>
          <a:ln w="5715">
            <a:solidFill>
              <a:srgbClr val="E2E6E2"/>
            </a:solidFill>
            <a:prstDash val="solid"/>
          </a:ln>
        </p:spPr>
      </p:sp>
      <p:sp>
        <p:nvSpPr>
          <p:cNvPr id="27" name="Text 25"/>
          <p:cNvSpPr/>
          <p:nvPr/>
        </p:nvSpPr>
        <p:spPr>
          <a:xfrm>
            <a:off x="713232" y="2964180"/>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AI Intelligence layer</a:t>
            </a:r>
            <a:endParaRPr lang="en-US" sz="900" dirty="0"/>
          </a:p>
        </p:txBody>
      </p:sp>
      <p:sp>
        <p:nvSpPr>
          <p:cNvPr id="28" name="Shape 26"/>
          <p:cNvSpPr/>
          <p:nvPr/>
        </p:nvSpPr>
        <p:spPr>
          <a:xfrm>
            <a:off x="2633472" y="2918460"/>
            <a:ext cx="3794760" cy="467868"/>
          </a:xfrm>
          <a:prstGeom prst="rect">
            <a:avLst/>
          </a:prstGeom>
          <a:solidFill>
            <a:srgbClr val="F1F3F2"/>
          </a:solidFill>
          <a:ln w="5715">
            <a:solidFill>
              <a:srgbClr val="E2E6E2"/>
            </a:solidFill>
            <a:prstDash val="solid"/>
          </a:ln>
        </p:spPr>
      </p:sp>
      <p:sp>
        <p:nvSpPr>
          <p:cNvPr id="29" name="Text 27"/>
          <p:cNvSpPr/>
          <p:nvPr/>
        </p:nvSpPr>
        <p:spPr>
          <a:xfrm>
            <a:off x="2724912" y="2964180"/>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Shared AI services, agents and reasoning consumed by every product.</a:t>
            </a:r>
            <a:endParaRPr lang="en-US" sz="800" dirty="0"/>
          </a:p>
        </p:txBody>
      </p:sp>
      <p:sp>
        <p:nvSpPr>
          <p:cNvPr id="30" name="Shape 28"/>
          <p:cNvSpPr/>
          <p:nvPr/>
        </p:nvSpPr>
        <p:spPr>
          <a:xfrm>
            <a:off x="6428232" y="2918460"/>
            <a:ext cx="1371600" cy="467868"/>
          </a:xfrm>
          <a:prstGeom prst="rect">
            <a:avLst/>
          </a:prstGeom>
          <a:solidFill>
            <a:srgbClr val="F1F3F2"/>
          </a:solidFill>
          <a:ln w="5715">
            <a:solidFill>
              <a:srgbClr val="E2E6E2"/>
            </a:solidFill>
            <a:prstDash val="solid"/>
          </a:ln>
        </p:spPr>
      </p:sp>
      <p:sp>
        <p:nvSpPr>
          <p:cNvPr id="31" name="Shape 29"/>
          <p:cNvSpPr/>
          <p:nvPr/>
        </p:nvSpPr>
        <p:spPr>
          <a:xfrm>
            <a:off x="6501384" y="3033522"/>
            <a:ext cx="1225296" cy="237744"/>
          </a:xfrm>
          <a:prstGeom prst="roundRect">
            <a:avLst>
              <a:gd name="adj" fmla="val 46154"/>
            </a:avLst>
          </a:prstGeom>
          <a:solidFill>
            <a:srgbClr val="EAF8ED"/>
          </a:solidFill>
          <a:ln w="6350">
            <a:solidFill>
              <a:srgbClr val="3DCD58"/>
            </a:solidFill>
            <a:prstDash val="solid"/>
          </a:ln>
        </p:spPr>
      </p:sp>
      <p:sp>
        <p:nvSpPr>
          <p:cNvPr id="32" name="Text 30"/>
          <p:cNvSpPr/>
          <p:nvPr/>
        </p:nvSpPr>
        <p:spPr>
          <a:xfrm>
            <a:off x="6501384" y="3033522"/>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007A27"/>
                </a:solidFill>
                <a:latin typeface="Calibri" pitchFamily="34" charset="0"/>
                <a:ea typeface="Calibri" pitchFamily="34" charset="-122"/>
                <a:cs typeface="Calibri" pitchFamily="34" charset="-120"/>
              </a:rPr>
              <a:t>Market leading</a:t>
            </a:r>
            <a:endParaRPr lang="en-US" sz="740" dirty="0"/>
          </a:p>
        </p:txBody>
      </p:sp>
      <p:sp>
        <p:nvSpPr>
          <p:cNvPr id="33" name="Shape 31"/>
          <p:cNvSpPr/>
          <p:nvPr/>
        </p:nvSpPr>
        <p:spPr>
          <a:xfrm>
            <a:off x="7799832" y="2918460"/>
            <a:ext cx="3767328" cy="467868"/>
          </a:xfrm>
          <a:prstGeom prst="rect">
            <a:avLst/>
          </a:prstGeom>
          <a:solidFill>
            <a:srgbClr val="F1F3F2"/>
          </a:solidFill>
          <a:ln w="5715">
            <a:solidFill>
              <a:srgbClr val="E2E6E2"/>
            </a:solidFill>
            <a:prstDash val="solid"/>
          </a:ln>
        </p:spPr>
      </p:sp>
      <p:sp>
        <p:nvSpPr>
          <p:cNvPr id="34" name="Text 32"/>
          <p:cNvSpPr/>
          <p:nvPr/>
        </p:nvSpPr>
        <p:spPr>
          <a:xfrm>
            <a:off x="7891272" y="2964180"/>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Point solutions bolt on separate AI stacks; RA+ embeds intelligence once.</a:t>
            </a:r>
            <a:endParaRPr lang="en-US" sz="800" dirty="0"/>
          </a:p>
        </p:txBody>
      </p:sp>
      <p:sp>
        <p:nvSpPr>
          <p:cNvPr id="35" name="Shape 33"/>
          <p:cNvSpPr/>
          <p:nvPr/>
        </p:nvSpPr>
        <p:spPr>
          <a:xfrm>
            <a:off x="621792" y="3386328"/>
            <a:ext cx="2011680" cy="467868"/>
          </a:xfrm>
          <a:prstGeom prst="rect">
            <a:avLst/>
          </a:prstGeom>
          <a:solidFill>
            <a:srgbClr val="FFFFFF"/>
          </a:solidFill>
          <a:ln w="5715">
            <a:solidFill>
              <a:srgbClr val="E2E6E2"/>
            </a:solidFill>
            <a:prstDash val="solid"/>
          </a:ln>
        </p:spPr>
      </p:sp>
      <p:sp>
        <p:nvSpPr>
          <p:cNvPr id="36" name="Text 34"/>
          <p:cNvSpPr/>
          <p:nvPr/>
        </p:nvSpPr>
        <p:spPr>
          <a:xfrm>
            <a:off x="713232" y="3432048"/>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Config engine, calc methods, templates</a:t>
            </a:r>
            <a:endParaRPr lang="en-US" sz="900" dirty="0"/>
          </a:p>
        </p:txBody>
      </p:sp>
      <p:sp>
        <p:nvSpPr>
          <p:cNvPr id="37" name="Shape 35"/>
          <p:cNvSpPr/>
          <p:nvPr/>
        </p:nvSpPr>
        <p:spPr>
          <a:xfrm>
            <a:off x="2633472" y="3386328"/>
            <a:ext cx="3794760" cy="467868"/>
          </a:xfrm>
          <a:prstGeom prst="rect">
            <a:avLst/>
          </a:prstGeom>
          <a:solidFill>
            <a:srgbClr val="FFFFFF"/>
          </a:solidFill>
          <a:ln w="5715">
            <a:solidFill>
              <a:srgbClr val="E2E6E2"/>
            </a:solidFill>
            <a:prstDash val="solid"/>
          </a:ln>
        </p:spPr>
      </p:sp>
      <p:sp>
        <p:nvSpPr>
          <p:cNvPr id="38" name="Text 36"/>
          <p:cNvSpPr/>
          <p:nvPr/>
        </p:nvSpPr>
        <p:spPr>
          <a:xfrm>
            <a:off x="2724912" y="3432048"/>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Configuration promoted and reused across products and clients.</a:t>
            </a:r>
            <a:endParaRPr lang="en-US" sz="800" dirty="0"/>
          </a:p>
        </p:txBody>
      </p:sp>
      <p:sp>
        <p:nvSpPr>
          <p:cNvPr id="39" name="Shape 37"/>
          <p:cNvSpPr/>
          <p:nvPr/>
        </p:nvSpPr>
        <p:spPr>
          <a:xfrm>
            <a:off x="6428232" y="3386328"/>
            <a:ext cx="1371600" cy="467868"/>
          </a:xfrm>
          <a:prstGeom prst="rect">
            <a:avLst/>
          </a:prstGeom>
          <a:solidFill>
            <a:srgbClr val="FFFFFF"/>
          </a:solidFill>
          <a:ln w="5715">
            <a:solidFill>
              <a:srgbClr val="E2E6E2"/>
            </a:solidFill>
            <a:prstDash val="solid"/>
          </a:ln>
        </p:spPr>
      </p:sp>
      <p:sp>
        <p:nvSpPr>
          <p:cNvPr id="40" name="Shape 38"/>
          <p:cNvSpPr/>
          <p:nvPr/>
        </p:nvSpPr>
        <p:spPr>
          <a:xfrm>
            <a:off x="6501384" y="3501390"/>
            <a:ext cx="1225296" cy="237744"/>
          </a:xfrm>
          <a:prstGeom prst="roundRect">
            <a:avLst>
              <a:gd name="adj" fmla="val 46154"/>
            </a:avLst>
          </a:prstGeom>
          <a:solidFill>
            <a:srgbClr val="F1F3F2"/>
          </a:solidFill>
          <a:ln w="6350">
            <a:solidFill>
              <a:srgbClr val="E2E6E2"/>
            </a:solidFill>
            <a:prstDash val="solid"/>
          </a:ln>
        </p:spPr>
      </p:sp>
      <p:sp>
        <p:nvSpPr>
          <p:cNvPr id="41" name="Text 39"/>
          <p:cNvSpPr/>
          <p:nvPr/>
        </p:nvSpPr>
        <p:spPr>
          <a:xfrm>
            <a:off x="6501384" y="3501390"/>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42" name="Shape 40"/>
          <p:cNvSpPr/>
          <p:nvPr/>
        </p:nvSpPr>
        <p:spPr>
          <a:xfrm>
            <a:off x="7799832" y="3386328"/>
            <a:ext cx="3767328" cy="467868"/>
          </a:xfrm>
          <a:prstGeom prst="rect">
            <a:avLst/>
          </a:prstGeom>
          <a:solidFill>
            <a:srgbClr val="FFFFFF"/>
          </a:solidFill>
          <a:ln w="5715">
            <a:solidFill>
              <a:srgbClr val="E2E6E2"/>
            </a:solidFill>
            <a:prstDash val="solid"/>
          </a:ln>
        </p:spPr>
      </p:sp>
      <p:sp>
        <p:nvSpPr>
          <p:cNvPr id="43" name="Text 41"/>
          <p:cNvSpPr/>
          <p:nvPr/>
        </p:nvSpPr>
        <p:spPr>
          <a:xfrm>
            <a:off x="7891272" y="3432048"/>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Comparable to leading platforms.</a:t>
            </a:r>
            <a:endParaRPr lang="en-US" sz="800" dirty="0"/>
          </a:p>
        </p:txBody>
      </p:sp>
      <p:sp>
        <p:nvSpPr>
          <p:cNvPr id="44" name="Shape 42"/>
          <p:cNvSpPr/>
          <p:nvPr/>
        </p:nvSpPr>
        <p:spPr>
          <a:xfrm>
            <a:off x="621792" y="3854196"/>
            <a:ext cx="2011680" cy="467868"/>
          </a:xfrm>
          <a:prstGeom prst="rect">
            <a:avLst/>
          </a:prstGeom>
          <a:solidFill>
            <a:srgbClr val="F1F3F2"/>
          </a:solidFill>
          <a:ln w="5715">
            <a:solidFill>
              <a:srgbClr val="E2E6E2"/>
            </a:solidFill>
            <a:prstDash val="solid"/>
          </a:ln>
        </p:spPr>
      </p:sp>
      <p:sp>
        <p:nvSpPr>
          <p:cNvPr id="45" name="Text 43"/>
          <p:cNvSpPr/>
          <p:nvPr/>
        </p:nvSpPr>
        <p:spPr>
          <a:xfrm>
            <a:off x="713232" y="3899916"/>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Ingestion and data quality</a:t>
            </a:r>
            <a:endParaRPr lang="en-US" sz="900" dirty="0"/>
          </a:p>
        </p:txBody>
      </p:sp>
      <p:sp>
        <p:nvSpPr>
          <p:cNvPr id="46" name="Shape 44"/>
          <p:cNvSpPr/>
          <p:nvPr/>
        </p:nvSpPr>
        <p:spPr>
          <a:xfrm>
            <a:off x="2633472" y="3854196"/>
            <a:ext cx="3794760" cy="467868"/>
          </a:xfrm>
          <a:prstGeom prst="rect">
            <a:avLst/>
          </a:prstGeom>
          <a:solidFill>
            <a:srgbClr val="F1F3F2"/>
          </a:solidFill>
          <a:ln w="5715">
            <a:solidFill>
              <a:srgbClr val="E2E6E2"/>
            </a:solidFill>
            <a:prstDash val="solid"/>
          </a:ln>
        </p:spPr>
      </p:sp>
      <p:sp>
        <p:nvSpPr>
          <p:cNvPr id="47" name="Text 45"/>
          <p:cNvSpPr/>
          <p:nvPr/>
        </p:nvSpPr>
        <p:spPr>
          <a:xfrm>
            <a:off x="2724912" y="3899916"/>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Advanced ingestion, transformation rules and quality scoring.</a:t>
            </a:r>
            <a:endParaRPr lang="en-US" sz="800" dirty="0"/>
          </a:p>
        </p:txBody>
      </p:sp>
      <p:sp>
        <p:nvSpPr>
          <p:cNvPr id="48" name="Shape 46"/>
          <p:cNvSpPr/>
          <p:nvPr/>
        </p:nvSpPr>
        <p:spPr>
          <a:xfrm>
            <a:off x="6428232" y="3854196"/>
            <a:ext cx="1371600" cy="467868"/>
          </a:xfrm>
          <a:prstGeom prst="rect">
            <a:avLst/>
          </a:prstGeom>
          <a:solidFill>
            <a:srgbClr val="F1F3F2"/>
          </a:solidFill>
          <a:ln w="5715">
            <a:solidFill>
              <a:srgbClr val="E2E6E2"/>
            </a:solidFill>
            <a:prstDash val="solid"/>
          </a:ln>
        </p:spPr>
      </p:sp>
      <p:sp>
        <p:nvSpPr>
          <p:cNvPr id="49" name="Shape 47"/>
          <p:cNvSpPr/>
          <p:nvPr/>
        </p:nvSpPr>
        <p:spPr>
          <a:xfrm>
            <a:off x="6501384" y="3969258"/>
            <a:ext cx="1225296" cy="237744"/>
          </a:xfrm>
          <a:prstGeom prst="roundRect">
            <a:avLst>
              <a:gd name="adj" fmla="val 46154"/>
            </a:avLst>
          </a:prstGeom>
          <a:solidFill>
            <a:srgbClr val="F1F3F2"/>
          </a:solidFill>
          <a:ln w="6350">
            <a:solidFill>
              <a:srgbClr val="E2E6E2"/>
            </a:solidFill>
            <a:prstDash val="solid"/>
          </a:ln>
        </p:spPr>
      </p:sp>
      <p:sp>
        <p:nvSpPr>
          <p:cNvPr id="50" name="Text 48"/>
          <p:cNvSpPr/>
          <p:nvPr/>
        </p:nvSpPr>
        <p:spPr>
          <a:xfrm>
            <a:off x="6501384" y="3969258"/>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51" name="Shape 49"/>
          <p:cNvSpPr/>
          <p:nvPr/>
        </p:nvSpPr>
        <p:spPr>
          <a:xfrm>
            <a:off x="7799832" y="3854196"/>
            <a:ext cx="3767328" cy="467868"/>
          </a:xfrm>
          <a:prstGeom prst="rect">
            <a:avLst/>
          </a:prstGeom>
          <a:solidFill>
            <a:srgbClr val="F1F3F2"/>
          </a:solidFill>
          <a:ln w="5715">
            <a:solidFill>
              <a:srgbClr val="E2E6E2"/>
            </a:solidFill>
            <a:prstDash val="solid"/>
          </a:ln>
        </p:spPr>
      </p:sp>
      <p:sp>
        <p:nvSpPr>
          <p:cNvPr id="52" name="Text 50"/>
          <p:cNvSpPr/>
          <p:nvPr/>
        </p:nvSpPr>
        <p:spPr>
          <a:xfrm>
            <a:off x="7891272" y="3899916"/>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Table stakes at enterprise scale.</a:t>
            </a:r>
            <a:endParaRPr lang="en-US" sz="800" dirty="0"/>
          </a:p>
        </p:txBody>
      </p:sp>
      <p:sp>
        <p:nvSpPr>
          <p:cNvPr id="53" name="Shape 51"/>
          <p:cNvSpPr/>
          <p:nvPr/>
        </p:nvSpPr>
        <p:spPr>
          <a:xfrm>
            <a:off x="621792" y="4322064"/>
            <a:ext cx="2011680" cy="467868"/>
          </a:xfrm>
          <a:prstGeom prst="rect">
            <a:avLst/>
          </a:prstGeom>
          <a:solidFill>
            <a:srgbClr val="FFFFFF"/>
          </a:solidFill>
          <a:ln w="5715">
            <a:solidFill>
              <a:srgbClr val="E2E6E2"/>
            </a:solidFill>
            <a:prstDash val="solid"/>
          </a:ln>
        </p:spPr>
      </p:sp>
      <p:sp>
        <p:nvSpPr>
          <p:cNvPr id="54" name="Text 52"/>
          <p:cNvSpPr/>
          <p:nvPr/>
        </p:nvSpPr>
        <p:spPr>
          <a:xfrm>
            <a:off x="713232" y="4367784"/>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Lineage, evidence and audit trail</a:t>
            </a:r>
            <a:endParaRPr lang="en-US" sz="900" dirty="0"/>
          </a:p>
        </p:txBody>
      </p:sp>
      <p:sp>
        <p:nvSpPr>
          <p:cNvPr id="55" name="Shape 53"/>
          <p:cNvSpPr/>
          <p:nvPr/>
        </p:nvSpPr>
        <p:spPr>
          <a:xfrm>
            <a:off x="2633472" y="4322064"/>
            <a:ext cx="3794760" cy="467868"/>
          </a:xfrm>
          <a:prstGeom prst="rect">
            <a:avLst/>
          </a:prstGeom>
          <a:solidFill>
            <a:srgbClr val="FFFFFF"/>
          </a:solidFill>
          <a:ln w="5715">
            <a:solidFill>
              <a:srgbClr val="E2E6E2"/>
            </a:solidFill>
            <a:prstDash val="solid"/>
          </a:ln>
        </p:spPr>
      </p:sp>
      <p:sp>
        <p:nvSpPr>
          <p:cNvPr id="56" name="Text 54"/>
          <p:cNvSpPr/>
          <p:nvPr/>
        </p:nvSpPr>
        <p:spPr>
          <a:xfrm>
            <a:off x="2724912" y="4367784"/>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Traceability from raw data point to disclosed number.</a:t>
            </a:r>
            <a:endParaRPr lang="en-US" sz="800" dirty="0"/>
          </a:p>
        </p:txBody>
      </p:sp>
      <p:sp>
        <p:nvSpPr>
          <p:cNvPr id="57" name="Shape 55"/>
          <p:cNvSpPr/>
          <p:nvPr/>
        </p:nvSpPr>
        <p:spPr>
          <a:xfrm>
            <a:off x="6428232" y="4322064"/>
            <a:ext cx="1371600" cy="467868"/>
          </a:xfrm>
          <a:prstGeom prst="rect">
            <a:avLst/>
          </a:prstGeom>
          <a:solidFill>
            <a:srgbClr val="FFFFFF"/>
          </a:solidFill>
          <a:ln w="5715">
            <a:solidFill>
              <a:srgbClr val="E2E6E2"/>
            </a:solidFill>
            <a:prstDash val="solid"/>
          </a:ln>
        </p:spPr>
      </p:sp>
      <p:sp>
        <p:nvSpPr>
          <p:cNvPr id="58" name="Shape 56"/>
          <p:cNvSpPr/>
          <p:nvPr/>
        </p:nvSpPr>
        <p:spPr>
          <a:xfrm>
            <a:off x="6501384" y="4437126"/>
            <a:ext cx="1225296" cy="237744"/>
          </a:xfrm>
          <a:prstGeom prst="roundRect">
            <a:avLst>
              <a:gd name="adj" fmla="val 46154"/>
            </a:avLst>
          </a:prstGeom>
          <a:solidFill>
            <a:srgbClr val="F1F3F2"/>
          </a:solidFill>
          <a:ln w="6350">
            <a:solidFill>
              <a:srgbClr val="E2E6E2"/>
            </a:solidFill>
            <a:prstDash val="solid"/>
          </a:ln>
        </p:spPr>
      </p:sp>
      <p:sp>
        <p:nvSpPr>
          <p:cNvPr id="59" name="Text 57"/>
          <p:cNvSpPr/>
          <p:nvPr/>
        </p:nvSpPr>
        <p:spPr>
          <a:xfrm>
            <a:off x="6501384" y="4437126"/>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0" name="Shape 58"/>
          <p:cNvSpPr/>
          <p:nvPr/>
        </p:nvSpPr>
        <p:spPr>
          <a:xfrm>
            <a:off x="7799832" y="4322064"/>
            <a:ext cx="3767328" cy="467868"/>
          </a:xfrm>
          <a:prstGeom prst="rect">
            <a:avLst/>
          </a:prstGeom>
          <a:solidFill>
            <a:srgbClr val="FFFFFF"/>
          </a:solidFill>
          <a:ln w="5715">
            <a:solidFill>
              <a:srgbClr val="E2E6E2"/>
            </a:solidFill>
            <a:prstDash val="solid"/>
          </a:ln>
        </p:spPr>
      </p:sp>
      <p:sp>
        <p:nvSpPr>
          <p:cNvPr id="61" name="Text 59"/>
          <p:cNvSpPr/>
          <p:nvPr/>
        </p:nvSpPr>
        <p:spPr>
          <a:xfrm>
            <a:off x="7891272" y="4367784"/>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Expected by enterprise buyers and available from leading platforms.</a:t>
            </a:r>
            <a:endParaRPr lang="en-US" sz="800" dirty="0"/>
          </a:p>
        </p:txBody>
      </p:sp>
      <p:sp>
        <p:nvSpPr>
          <p:cNvPr id="62" name="Shape 60"/>
          <p:cNvSpPr/>
          <p:nvPr/>
        </p:nvSpPr>
        <p:spPr>
          <a:xfrm>
            <a:off x="621792" y="4789932"/>
            <a:ext cx="2011680" cy="467868"/>
          </a:xfrm>
          <a:prstGeom prst="rect">
            <a:avLst/>
          </a:prstGeom>
          <a:solidFill>
            <a:srgbClr val="F1F3F2"/>
          </a:solidFill>
          <a:ln w="5715">
            <a:solidFill>
              <a:srgbClr val="E2E6E2"/>
            </a:solidFill>
            <a:prstDash val="solid"/>
          </a:ln>
        </p:spPr>
      </p:sp>
      <p:sp>
        <p:nvSpPr>
          <p:cNvPr id="63" name="Text 61"/>
          <p:cNvSpPr/>
          <p:nvPr/>
        </p:nvSpPr>
        <p:spPr>
          <a:xfrm>
            <a:off x="713232" y="4835652"/>
            <a:ext cx="1828800" cy="376428"/>
          </a:xfrm>
          <a:prstGeom prst="rect">
            <a:avLst/>
          </a:prstGeom>
          <a:noFill/>
          <a:ln/>
        </p:spPr>
        <p:txBody>
          <a:bodyPr wrap="square" lIns="0" tIns="0" rIns="0" bIns="0" rtlCol="0" anchor="ctr">
            <a:normAutofit/>
          </a:bodyPr>
          <a:lstStyle/>
          <a:p>
            <a:pPr indent="0" marL="0">
              <a:buNone/>
            </a:pPr>
            <a:r>
              <a:rPr lang="en-US" sz="900" b="1" dirty="0">
                <a:solidFill>
                  <a:srgbClr val="1E2420"/>
                </a:solidFill>
                <a:latin typeface="Calibri" pitchFamily="34" charset="0"/>
                <a:ea typeface="Calibri" pitchFamily="34" charset="-122"/>
                <a:cs typeface="Calibri" pitchFamily="34" charset="-120"/>
              </a:rPr>
              <a:t>Scale and performance</a:t>
            </a:r>
            <a:endParaRPr lang="en-US" sz="900" dirty="0"/>
          </a:p>
        </p:txBody>
      </p:sp>
      <p:sp>
        <p:nvSpPr>
          <p:cNvPr id="64" name="Shape 62"/>
          <p:cNvSpPr/>
          <p:nvPr/>
        </p:nvSpPr>
        <p:spPr>
          <a:xfrm>
            <a:off x="2633472" y="4789932"/>
            <a:ext cx="3794760" cy="467868"/>
          </a:xfrm>
          <a:prstGeom prst="rect">
            <a:avLst/>
          </a:prstGeom>
          <a:solidFill>
            <a:srgbClr val="F1F3F2"/>
          </a:solidFill>
          <a:ln w="5715">
            <a:solidFill>
              <a:srgbClr val="E2E6E2"/>
            </a:solidFill>
            <a:prstDash val="solid"/>
          </a:ln>
        </p:spPr>
      </p:sp>
      <p:sp>
        <p:nvSpPr>
          <p:cNvPr id="65" name="Text 63"/>
          <p:cNvSpPr/>
          <p:nvPr/>
        </p:nvSpPr>
        <p:spPr>
          <a:xfrm>
            <a:off x="2724912" y="4835652"/>
            <a:ext cx="3611880" cy="376428"/>
          </a:xfrm>
          <a:prstGeom prst="rect">
            <a:avLst/>
          </a:prstGeom>
          <a:noFill/>
          <a:ln/>
        </p:spPr>
        <p:txBody>
          <a:bodyPr wrap="square" lIns="0" tIns="0" rIns="0" bIns="0" rtlCol="0" anchor="ctr">
            <a:normAutofit/>
          </a:bodyPr>
          <a:lstStyle/>
          <a:p>
            <a:pPr indent="0" marL="0">
              <a:buNone/>
            </a:pPr>
            <a:r>
              <a:rPr lang="en-US" sz="800" dirty="0">
                <a:solidFill>
                  <a:srgbClr val="1E2420"/>
                </a:solidFill>
                <a:latin typeface="Calibri" pitchFamily="34" charset="0"/>
                <a:ea typeface="Calibri" pitchFamily="34" charset="-122"/>
                <a:cs typeface="Calibri" pitchFamily="34" charset="-120"/>
              </a:rPr>
              <a:t>Enterprise scale performance across the product family.</a:t>
            </a:r>
            <a:endParaRPr lang="en-US" sz="800" dirty="0"/>
          </a:p>
        </p:txBody>
      </p:sp>
      <p:sp>
        <p:nvSpPr>
          <p:cNvPr id="66" name="Shape 64"/>
          <p:cNvSpPr/>
          <p:nvPr/>
        </p:nvSpPr>
        <p:spPr>
          <a:xfrm>
            <a:off x="6428232" y="4789932"/>
            <a:ext cx="1371600" cy="467868"/>
          </a:xfrm>
          <a:prstGeom prst="rect">
            <a:avLst/>
          </a:prstGeom>
          <a:solidFill>
            <a:srgbClr val="F1F3F2"/>
          </a:solidFill>
          <a:ln w="5715">
            <a:solidFill>
              <a:srgbClr val="E2E6E2"/>
            </a:solidFill>
            <a:prstDash val="solid"/>
          </a:ln>
        </p:spPr>
      </p:sp>
      <p:sp>
        <p:nvSpPr>
          <p:cNvPr id="67" name="Shape 65"/>
          <p:cNvSpPr/>
          <p:nvPr/>
        </p:nvSpPr>
        <p:spPr>
          <a:xfrm>
            <a:off x="6501384" y="4904994"/>
            <a:ext cx="1225296" cy="237744"/>
          </a:xfrm>
          <a:prstGeom prst="roundRect">
            <a:avLst>
              <a:gd name="adj" fmla="val 46154"/>
            </a:avLst>
          </a:prstGeom>
          <a:solidFill>
            <a:srgbClr val="F1F3F2"/>
          </a:solidFill>
          <a:ln w="6350">
            <a:solidFill>
              <a:srgbClr val="E2E6E2"/>
            </a:solidFill>
            <a:prstDash val="solid"/>
          </a:ln>
        </p:spPr>
      </p:sp>
      <p:sp>
        <p:nvSpPr>
          <p:cNvPr id="68" name="Text 66"/>
          <p:cNvSpPr/>
          <p:nvPr/>
        </p:nvSpPr>
        <p:spPr>
          <a:xfrm>
            <a:off x="6501384" y="4904994"/>
            <a:ext cx="1225296" cy="237744"/>
          </a:xfrm>
          <a:prstGeom prst="rect">
            <a:avLst/>
          </a:prstGeom>
          <a:noFill/>
          <a:ln/>
        </p:spPr>
        <p:txBody>
          <a:bodyPr wrap="square" lIns="0" tIns="0" rIns="0" bIns="0" rtlCol="0" anchor="ctr">
            <a:normAutofit/>
          </a:bodyPr>
          <a:lstStyle/>
          <a:p>
            <a:pPr algn="ctr" indent="0" marL="0">
              <a:buNone/>
            </a:pPr>
            <a:r>
              <a:rPr lang="en-US" sz="740" b="1" dirty="0">
                <a:solidFill>
                  <a:srgbClr val="5A625C"/>
                </a:solidFill>
                <a:latin typeface="Calibri" pitchFamily="34" charset="0"/>
                <a:ea typeface="Calibri" pitchFamily="34" charset="-122"/>
                <a:cs typeface="Calibri" pitchFamily="34" charset="-120"/>
              </a:rPr>
              <a:t>On parity</a:t>
            </a:r>
            <a:endParaRPr lang="en-US" sz="740" dirty="0"/>
          </a:p>
        </p:txBody>
      </p:sp>
      <p:sp>
        <p:nvSpPr>
          <p:cNvPr id="69" name="Shape 67"/>
          <p:cNvSpPr/>
          <p:nvPr/>
        </p:nvSpPr>
        <p:spPr>
          <a:xfrm>
            <a:off x="7799832" y="4789932"/>
            <a:ext cx="3767328" cy="467868"/>
          </a:xfrm>
          <a:prstGeom prst="rect">
            <a:avLst/>
          </a:prstGeom>
          <a:solidFill>
            <a:srgbClr val="F1F3F2"/>
          </a:solidFill>
          <a:ln w="5715">
            <a:solidFill>
              <a:srgbClr val="E2E6E2"/>
            </a:solidFill>
            <a:prstDash val="solid"/>
          </a:ln>
        </p:spPr>
      </p:sp>
      <p:sp>
        <p:nvSpPr>
          <p:cNvPr id="70" name="Text 68"/>
          <p:cNvSpPr/>
          <p:nvPr/>
        </p:nvSpPr>
        <p:spPr>
          <a:xfrm>
            <a:off x="7891272" y="4835652"/>
            <a:ext cx="3584448" cy="376428"/>
          </a:xfrm>
          <a:prstGeom prst="rect">
            <a:avLst/>
          </a:prstGeom>
          <a:noFill/>
          <a:ln/>
        </p:spPr>
        <p:txBody>
          <a:bodyPr wrap="square" lIns="0" tIns="0" rIns="0" bIns="0" rtlCol="0" anchor="ctr">
            <a:normAutofit/>
          </a:bodyPr>
          <a:lstStyle/>
          <a:p>
            <a:pPr indent="0" marL="0">
              <a:buNone/>
            </a:pPr>
            <a:r>
              <a:rPr lang="en-US" sz="800" dirty="0">
                <a:solidFill>
                  <a:srgbClr val="5A625C"/>
                </a:solidFill>
                <a:latin typeface="Calibri" pitchFamily="34" charset="0"/>
                <a:ea typeface="Calibri" pitchFamily="34" charset="-122"/>
                <a:cs typeface="Calibri" pitchFamily="34" charset="-120"/>
              </a:rPr>
              <a:t>Enterprise scale performance comparable to leading platforms.</a:t>
            </a:r>
            <a:endParaRPr lang="en-US" sz="800" dirty="0"/>
          </a:p>
        </p:txBody>
      </p:sp>
      <p:sp>
        <p:nvSpPr>
          <p:cNvPr id="71" name="Shape 69"/>
          <p:cNvSpPr/>
          <p:nvPr/>
        </p:nvSpPr>
        <p:spPr>
          <a:xfrm>
            <a:off x="621792" y="5440680"/>
            <a:ext cx="10948111" cy="548640"/>
          </a:xfrm>
          <a:prstGeom prst="roundRect">
            <a:avLst>
              <a:gd name="adj" fmla="val 6667"/>
            </a:avLst>
          </a:prstGeom>
          <a:solidFill>
            <a:srgbClr val="005730"/>
          </a:solidFill>
          <a:ln w="12700">
            <a:solidFill>
              <a:srgbClr val="005730"/>
            </a:solidFill>
            <a:prstDash val="solid"/>
          </a:ln>
        </p:spPr>
      </p:sp>
      <p:sp>
        <p:nvSpPr>
          <p:cNvPr id="72" name="Shape 70"/>
          <p:cNvSpPr/>
          <p:nvPr/>
        </p:nvSpPr>
        <p:spPr>
          <a:xfrm>
            <a:off x="621792" y="5440680"/>
            <a:ext cx="1508760" cy="548640"/>
          </a:xfrm>
          <a:prstGeom prst="rect">
            <a:avLst/>
          </a:prstGeom>
          <a:solidFill>
            <a:srgbClr val="3DCD58"/>
          </a:solidFill>
          <a:ln w="12700">
            <a:solidFill>
              <a:srgbClr val="3DCD58"/>
            </a:solidFill>
            <a:prstDash val="solid"/>
          </a:ln>
        </p:spPr>
      </p:sp>
      <p:sp>
        <p:nvSpPr>
          <p:cNvPr id="73" name="Text 71"/>
          <p:cNvSpPr/>
          <p:nvPr/>
        </p:nvSpPr>
        <p:spPr>
          <a:xfrm>
            <a:off x="740664" y="5440680"/>
            <a:ext cx="1271016" cy="548640"/>
          </a:xfrm>
          <a:prstGeom prst="rect">
            <a:avLst/>
          </a:prstGeom>
          <a:noFill/>
          <a:ln/>
        </p:spPr>
        <p:txBody>
          <a:bodyPr wrap="square" lIns="0" tIns="0" rIns="0" bIns="0" rtlCol="0" anchor="ctr">
            <a:normAutofit/>
          </a:bodyPr>
          <a:lstStyle/>
          <a:p>
            <a:pPr algn="ctr" indent="0" marL="0">
              <a:buNone/>
            </a:pPr>
            <a:r>
              <a:rPr lang="en-US" sz="800" b="1" spc="70" kern="0" dirty="0">
                <a:solidFill>
                  <a:srgbClr val="005730"/>
                </a:solidFill>
                <a:latin typeface="Calibri" pitchFamily="34" charset="0"/>
                <a:ea typeface="Calibri" pitchFamily="34" charset="-122"/>
                <a:cs typeface="Calibri" pitchFamily="34" charset="-120"/>
              </a:rPr>
              <a:t>BOARD IMPLICATION</a:t>
            </a:r>
            <a:endParaRPr lang="en-US" sz="800" dirty="0"/>
          </a:p>
        </p:txBody>
      </p:sp>
      <p:sp>
        <p:nvSpPr>
          <p:cNvPr id="74" name="Text 72"/>
          <p:cNvSpPr/>
          <p:nvPr/>
        </p:nvSpPr>
        <p:spPr>
          <a:xfrm>
            <a:off x="2322576" y="5495544"/>
            <a:ext cx="9046159" cy="438912"/>
          </a:xfrm>
          <a:prstGeom prst="rect">
            <a:avLst/>
          </a:prstGeom>
          <a:noFill/>
          <a:ln/>
        </p:spPr>
        <p:txBody>
          <a:bodyPr wrap="square" lIns="0" tIns="0" rIns="0" bIns="0" rtlCol="0" anchor="ctr">
            <a:normAutofit/>
          </a:bodyPr>
          <a:lstStyle/>
          <a:p>
            <a:pPr indent="0" marL="0">
              <a:buNone/>
            </a:pPr>
            <a:r>
              <a:rPr lang="en-US" sz="950" b="1" dirty="0">
                <a:solidFill>
                  <a:srgbClr val="FFFFFF"/>
                </a:solidFill>
                <a:latin typeface="Calibri" pitchFamily="34" charset="0"/>
                <a:ea typeface="Calibri" pitchFamily="34" charset="-122"/>
                <a:cs typeface="Calibri" pitchFamily="34" charset="-120"/>
              </a:rPr>
              <a:t>Roughly a third of capacity protected for core is what makes every product level claim on the previous slides defensible.</a:t>
            </a:r>
            <a:endParaRPr lang="en-US" sz="950" dirty="0"/>
          </a:p>
        </p:txBody>
      </p:sp>
      <p:sp>
        <p:nvSpPr>
          <p:cNvPr id="75" name="Text 73"/>
          <p:cNvSpPr/>
          <p:nvPr/>
        </p:nvSpPr>
        <p:spPr>
          <a:xfrm>
            <a:off x="621792" y="6053328"/>
            <a:ext cx="10948111" cy="228600"/>
          </a:xfrm>
          <a:prstGeom prst="rect">
            <a:avLst/>
          </a:prstGeom>
          <a:noFill/>
          <a:ln/>
        </p:spPr>
        <p:txBody>
          <a:bodyPr wrap="square" lIns="0" tIns="0" rIns="0" bIns="0" rtlCol="0" anchor="ctr">
            <a:normAutofit/>
          </a:bodyPr>
          <a:lstStyle/>
          <a:p>
            <a:pPr indent="0" marL="0">
              <a:buNone/>
            </a:pPr>
            <a:r>
              <a:rPr lang="en-US" sz="720" dirty="0">
                <a:solidFill>
                  <a:srgbClr val="5A625C"/>
                </a:solidFill>
                <a:latin typeface="Calibri" pitchFamily="34" charset="0"/>
                <a:ea typeface="Calibri" pitchFamily="34" charset="-122"/>
                <a:cs typeface="Calibri" pitchFamily="34" charset="-120"/>
              </a:rPr>
              <a:t>Source: RA+ 2026 and 2027 roadmap, competitor public product pages (Watershed, osapiens, Sphera, Persefoni, Arcadia, Deepki).</a:t>
            </a:r>
            <a:endParaRPr lang="en-US" sz="720" dirty="0"/>
          </a:p>
        </p:txBody>
      </p:sp>
      <p:sp>
        <p:nvSpPr>
          <p:cNvPr id="76" name="Shape 74"/>
          <p:cNvSpPr/>
          <p:nvPr/>
        </p:nvSpPr>
        <p:spPr>
          <a:xfrm>
            <a:off x="621792" y="6437376"/>
            <a:ext cx="10948111" cy="0"/>
          </a:xfrm>
          <a:prstGeom prst="line">
            <a:avLst/>
          </a:prstGeom>
          <a:noFill/>
          <a:ln w="9525">
            <a:solidFill>
              <a:srgbClr val="E2E6E2"/>
            </a:solidFill>
            <a:prstDash val="solid"/>
          </a:ln>
        </p:spPr>
      </p:sp>
      <p:sp>
        <p:nvSpPr>
          <p:cNvPr id="77" name="Text 7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78" name="Text 7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44728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11810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GO TO MARKET | BUYER JOURNEY</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How a Fortune 500 buyer moves from one product to the whole platform</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commercial motion mirrors the platform strategy: land on one urgent problem, prove value fast, then expand across Sustainability, Energy and Efficiency as the data spine compounds.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72436" cy="3588512"/>
          </a:xfrm>
          <a:prstGeom prst="roundRect">
            <a:avLst>
              <a:gd name="adj" fmla="val 1422"/>
            </a:avLst>
          </a:prstGeom>
          <a:solidFill>
            <a:srgbClr val="FFFFFF"/>
          </a:solidFill>
          <a:ln w="10160">
            <a:solidFill>
              <a:srgbClr val="E2E6E2"/>
            </a:solidFill>
            <a:prstDash val="solid"/>
          </a:ln>
        </p:spPr>
      </p:sp>
      <p:sp>
        <p:nvSpPr>
          <p:cNvPr id="10" name="Shape 8"/>
          <p:cNvSpPr/>
          <p:nvPr/>
        </p:nvSpPr>
        <p:spPr>
          <a:xfrm>
            <a:off x="621792" y="2084832"/>
            <a:ext cx="64008" cy="3588512"/>
          </a:xfrm>
          <a:prstGeom prst="rect">
            <a:avLst/>
          </a:prstGeom>
          <a:solidFill>
            <a:srgbClr val="3DCD58"/>
          </a:solidFill>
          <a:ln w="12700">
            <a:solidFill>
              <a:srgbClr val="3DCD58"/>
            </a:solidFill>
            <a:prstDash val="solid"/>
          </a:ln>
        </p:spPr>
      </p:sp>
      <p:sp>
        <p:nvSpPr>
          <p:cNvPr id="11" name="Text 9"/>
          <p:cNvSpPr/>
          <p:nvPr/>
        </p:nvSpPr>
        <p:spPr>
          <a:xfrm>
            <a:off x="841248" y="2231136"/>
            <a:ext cx="2133524" cy="237744"/>
          </a:xfrm>
          <a:prstGeom prst="rect">
            <a:avLst/>
          </a:prstGeom>
          <a:noFill/>
          <a:ln/>
        </p:spPr>
        <p:txBody>
          <a:bodyPr wrap="square" lIns="0" tIns="0" rIns="0" bIns="0" rtlCol="0" anchor="ctr">
            <a:normAutofit/>
          </a:bodyPr>
          <a:lstStyle/>
          <a:p>
            <a:pPr indent="0" marL="0">
              <a:buNone/>
            </a:pPr>
            <a:r>
              <a:rPr lang="en-US" sz="850" b="1" spc="120" kern="0" dirty="0">
                <a:solidFill>
                  <a:srgbClr val="007A27"/>
                </a:solidFill>
                <a:latin typeface="Calibri" pitchFamily="34" charset="0"/>
                <a:ea typeface="Calibri" pitchFamily="34" charset="-122"/>
                <a:cs typeface="Calibri" pitchFamily="34" charset="-120"/>
              </a:rPr>
              <a:t>STAGE 1 | LAND</a:t>
            </a:r>
            <a:endParaRPr lang="en-US" sz="850" dirty="0"/>
          </a:p>
        </p:txBody>
      </p:sp>
      <p:sp>
        <p:nvSpPr>
          <p:cNvPr id="12" name="Text 10"/>
          <p:cNvSpPr/>
          <p:nvPr/>
        </p:nvSpPr>
        <p:spPr>
          <a:xfrm>
            <a:off x="841248" y="2487168"/>
            <a:ext cx="2133524" cy="457200"/>
          </a:xfrm>
          <a:prstGeom prst="rect">
            <a:avLst/>
          </a:prstGeom>
          <a:noFill/>
          <a:ln/>
        </p:spPr>
        <p:txBody>
          <a:bodyPr wrap="square" lIns="0" tIns="0" rIns="0" bIns="0" rtlCol="0" anchor="t">
            <a:normAutofit/>
          </a:bodyPr>
          <a:lstStyle/>
          <a:p>
            <a:pPr indent="0" marL="0">
              <a:buNone/>
            </a:pPr>
            <a:r>
              <a:rPr lang="en-US" sz="1350" b="1" dirty="0">
                <a:solidFill>
                  <a:srgbClr val="1E2420"/>
                </a:solidFill>
                <a:latin typeface="Calibri" pitchFamily="34" charset="0"/>
                <a:ea typeface="Calibri" pitchFamily="34" charset="-122"/>
                <a:cs typeface="Calibri" pitchFamily="34" charset="-120"/>
              </a:rPr>
              <a:t>One urgent problem</a:t>
            </a:r>
            <a:endParaRPr lang="en-US" sz="1350" dirty="0"/>
          </a:p>
        </p:txBody>
      </p:sp>
      <p:sp>
        <p:nvSpPr>
          <p:cNvPr id="13" name="Text 11"/>
          <p:cNvSpPr/>
          <p:nvPr/>
        </p:nvSpPr>
        <p:spPr>
          <a:xfrm>
            <a:off x="841248" y="3017520"/>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BUYER MOMENT</a:t>
            </a:r>
            <a:endParaRPr lang="en-US" sz="700" dirty="0"/>
          </a:p>
        </p:txBody>
      </p:sp>
      <p:sp>
        <p:nvSpPr>
          <p:cNvPr id="14" name="Text 12"/>
          <p:cNvSpPr/>
          <p:nvPr/>
        </p:nvSpPr>
        <p:spPr>
          <a:xfrm>
            <a:off x="841248" y="3163824"/>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1E2420"/>
                </a:solidFill>
                <a:latin typeface="Calibri" pitchFamily="34" charset="0"/>
                <a:ea typeface="Calibri" pitchFamily="34" charset="-122"/>
                <a:cs typeface="Calibri" pitchFamily="34" charset="-120"/>
              </a:rPr>
              <a:t>A Chief Sustainability Officer faces a disclosure deadline or a Scope 3 inventory gap.</a:t>
            </a:r>
            <a:endParaRPr lang="en-US" sz="800" dirty="0"/>
          </a:p>
        </p:txBody>
      </p:sp>
      <p:sp>
        <p:nvSpPr>
          <p:cNvPr id="15" name="Text 13"/>
          <p:cNvSpPr/>
          <p:nvPr/>
        </p:nvSpPr>
        <p:spPr>
          <a:xfrm>
            <a:off x="841248" y="3624072"/>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PRODUCTS</a:t>
            </a:r>
            <a:endParaRPr lang="en-US" sz="700" dirty="0"/>
          </a:p>
        </p:txBody>
      </p:sp>
      <p:sp>
        <p:nvSpPr>
          <p:cNvPr id="16" name="Text 14"/>
          <p:cNvSpPr/>
          <p:nvPr/>
        </p:nvSpPr>
        <p:spPr>
          <a:xfrm>
            <a:off x="841248" y="3770376"/>
            <a:ext cx="2133524" cy="276352"/>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One product, typically Carbon Performance or Reporting &amp; Compliance.</a:t>
            </a:r>
            <a:endParaRPr lang="en-US" sz="800" dirty="0"/>
          </a:p>
        </p:txBody>
      </p:sp>
      <p:sp>
        <p:nvSpPr>
          <p:cNvPr id="17" name="Text 15"/>
          <p:cNvSpPr/>
          <p:nvPr/>
        </p:nvSpPr>
        <p:spPr>
          <a:xfrm>
            <a:off x="841248" y="4110736"/>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VALUE</a:t>
            </a:r>
            <a:endParaRPr lang="en-US" sz="700" dirty="0"/>
          </a:p>
        </p:txBody>
      </p:sp>
      <p:sp>
        <p:nvSpPr>
          <p:cNvPr id="18" name="Text 16"/>
          <p:cNvSpPr/>
          <p:nvPr/>
        </p:nvSpPr>
        <p:spPr>
          <a:xfrm>
            <a:off x="841248" y="4257040"/>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A consultant grade, AI driven inventory or a CSRD ready cycle in one reporting season.</a:t>
            </a:r>
            <a:endParaRPr lang="en-US" sz="800" dirty="0"/>
          </a:p>
        </p:txBody>
      </p:sp>
      <p:sp>
        <p:nvSpPr>
          <p:cNvPr id="19" name="Text 17"/>
          <p:cNvSpPr/>
          <p:nvPr/>
        </p:nvSpPr>
        <p:spPr>
          <a:xfrm>
            <a:off x="841248" y="4717288"/>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EXPANSION TRIGGER</a:t>
            </a:r>
            <a:endParaRPr lang="en-US" sz="700" dirty="0"/>
          </a:p>
        </p:txBody>
      </p:sp>
      <p:sp>
        <p:nvSpPr>
          <p:cNvPr id="20" name="Text 18"/>
          <p:cNvSpPr/>
          <p:nvPr/>
        </p:nvSpPr>
        <p:spPr>
          <a:xfrm>
            <a:off x="841248" y="4863592"/>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Regulatory deadline, audit pressure or a board level carbon commitment.</a:t>
            </a:r>
            <a:endParaRPr lang="en-US" sz="800" dirty="0"/>
          </a:p>
        </p:txBody>
      </p:sp>
      <p:sp>
        <p:nvSpPr>
          <p:cNvPr id="21" name="Text 19"/>
          <p:cNvSpPr/>
          <p:nvPr/>
        </p:nvSpPr>
        <p:spPr>
          <a:xfrm>
            <a:off x="3175940" y="3741928"/>
            <a:ext cx="274320" cy="274320"/>
          </a:xfrm>
          <a:prstGeom prst="rect">
            <a:avLst/>
          </a:prstGeom>
          <a:noFill/>
          <a:ln/>
        </p:spPr>
        <p:txBody>
          <a:bodyPr wrap="square" lIns="0" tIns="0" rIns="0" bIns="0" rtlCol="0" anchor="ctr"/>
          <a:lstStyle/>
          <a:p>
            <a:pPr algn="ctr" indent="0" marL="0">
              <a:buNone/>
            </a:pPr>
            <a:r>
              <a:rPr lang="en-US" sz="1400" b="1" dirty="0">
                <a:solidFill>
                  <a:srgbClr val="3DCD58"/>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3413684" y="2084832"/>
            <a:ext cx="2572436" cy="3588512"/>
          </a:xfrm>
          <a:prstGeom prst="roundRect">
            <a:avLst>
              <a:gd name="adj" fmla="val 1422"/>
            </a:avLst>
          </a:prstGeom>
          <a:solidFill>
            <a:srgbClr val="FFFFFF"/>
          </a:solidFill>
          <a:ln w="10160">
            <a:solidFill>
              <a:srgbClr val="E2E6E2"/>
            </a:solidFill>
            <a:prstDash val="solid"/>
          </a:ln>
        </p:spPr>
      </p:sp>
      <p:sp>
        <p:nvSpPr>
          <p:cNvPr id="23" name="Shape 21"/>
          <p:cNvSpPr/>
          <p:nvPr/>
        </p:nvSpPr>
        <p:spPr>
          <a:xfrm>
            <a:off x="3413684" y="2084832"/>
            <a:ext cx="64008" cy="3588512"/>
          </a:xfrm>
          <a:prstGeom prst="rect">
            <a:avLst/>
          </a:prstGeom>
          <a:solidFill>
            <a:srgbClr val="3DCD58"/>
          </a:solidFill>
          <a:ln w="12700">
            <a:solidFill>
              <a:srgbClr val="3DCD58"/>
            </a:solidFill>
            <a:prstDash val="solid"/>
          </a:ln>
        </p:spPr>
      </p:sp>
      <p:sp>
        <p:nvSpPr>
          <p:cNvPr id="24" name="Text 22"/>
          <p:cNvSpPr/>
          <p:nvPr/>
        </p:nvSpPr>
        <p:spPr>
          <a:xfrm>
            <a:off x="3633140" y="2231136"/>
            <a:ext cx="2133524" cy="237744"/>
          </a:xfrm>
          <a:prstGeom prst="rect">
            <a:avLst/>
          </a:prstGeom>
          <a:noFill/>
          <a:ln/>
        </p:spPr>
        <p:txBody>
          <a:bodyPr wrap="square" lIns="0" tIns="0" rIns="0" bIns="0" rtlCol="0" anchor="ctr">
            <a:normAutofit/>
          </a:bodyPr>
          <a:lstStyle/>
          <a:p>
            <a:pPr indent="0" marL="0">
              <a:buNone/>
            </a:pPr>
            <a:r>
              <a:rPr lang="en-US" sz="850" b="1" spc="120" kern="0" dirty="0">
                <a:solidFill>
                  <a:srgbClr val="007A27"/>
                </a:solidFill>
                <a:latin typeface="Calibri" pitchFamily="34" charset="0"/>
                <a:ea typeface="Calibri" pitchFamily="34" charset="-122"/>
                <a:cs typeface="Calibri" pitchFamily="34" charset="-120"/>
              </a:rPr>
              <a:t>STAGE 2 | PROVE</a:t>
            </a:r>
            <a:endParaRPr lang="en-US" sz="850" dirty="0"/>
          </a:p>
        </p:txBody>
      </p:sp>
      <p:sp>
        <p:nvSpPr>
          <p:cNvPr id="25" name="Text 23"/>
          <p:cNvSpPr/>
          <p:nvPr/>
        </p:nvSpPr>
        <p:spPr>
          <a:xfrm>
            <a:off x="3633140" y="2487168"/>
            <a:ext cx="2133524" cy="457200"/>
          </a:xfrm>
          <a:prstGeom prst="rect">
            <a:avLst/>
          </a:prstGeom>
          <a:noFill/>
          <a:ln/>
        </p:spPr>
        <p:txBody>
          <a:bodyPr wrap="square" lIns="0" tIns="0" rIns="0" bIns="0" rtlCol="0" anchor="t">
            <a:normAutofit/>
          </a:bodyPr>
          <a:lstStyle/>
          <a:p>
            <a:pPr indent="0" marL="0">
              <a:buNone/>
            </a:pPr>
            <a:r>
              <a:rPr lang="en-US" sz="1350" b="1" dirty="0">
                <a:solidFill>
                  <a:srgbClr val="1E2420"/>
                </a:solidFill>
                <a:latin typeface="Calibri" pitchFamily="34" charset="0"/>
                <a:ea typeface="Calibri" pitchFamily="34" charset="-122"/>
                <a:cs typeface="Calibri" pitchFamily="34" charset="-120"/>
              </a:rPr>
              <a:t>First measurable value</a:t>
            </a:r>
            <a:endParaRPr lang="en-US" sz="1350" dirty="0"/>
          </a:p>
        </p:txBody>
      </p:sp>
      <p:sp>
        <p:nvSpPr>
          <p:cNvPr id="26" name="Text 24"/>
          <p:cNvSpPr/>
          <p:nvPr/>
        </p:nvSpPr>
        <p:spPr>
          <a:xfrm>
            <a:off x="3633140" y="3017520"/>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BUYER MOMENT</a:t>
            </a:r>
            <a:endParaRPr lang="en-US" sz="700" dirty="0"/>
          </a:p>
        </p:txBody>
      </p:sp>
      <p:sp>
        <p:nvSpPr>
          <p:cNvPr id="27" name="Text 25"/>
          <p:cNvSpPr/>
          <p:nvPr/>
        </p:nvSpPr>
        <p:spPr>
          <a:xfrm>
            <a:off x="3633140" y="3163824"/>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1E2420"/>
                </a:solidFill>
                <a:latin typeface="Calibri" pitchFamily="34" charset="0"/>
                <a:ea typeface="Calibri" pitchFamily="34" charset="-122"/>
                <a:cs typeface="Calibri" pitchFamily="34" charset="-120"/>
              </a:rPr>
              <a:t>The same sponsor sees time to value measured in weeks, with evidence and lineage that survive audit.</a:t>
            </a:r>
            <a:endParaRPr lang="en-US" sz="800" dirty="0"/>
          </a:p>
        </p:txBody>
      </p:sp>
      <p:sp>
        <p:nvSpPr>
          <p:cNvPr id="28" name="Text 26"/>
          <p:cNvSpPr/>
          <p:nvPr/>
        </p:nvSpPr>
        <p:spPr>
          <a:xfrm>
            <a:off x="3633140" y="3624072"/>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PRODUCTS</a:t>
            </a:r>
            <a:endParaRPr lang="en-US" sz="700" dirty="0"/>
          </a:p>
        </p:txBody>
      </p:sp>
      <p:sp>
        <p:nvSpPr>
          <p:cNvPr id="29" name="Text 27"/>
          <p:cNvSpPr/>
          <p:nvPr/>
        </p:nvSpPr>
        <p:spPr>
          <a:xfrm>
            <a:off x="3633140" y="3770376"/>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Same product, deeper adoption: scenarios, initiatives and actions on the trusted baseline.</a:t>
            </a:r>
            <a:endParaRPr lang="en-US" sz="800" dirty="0"/>
          </a:p>
        </p:txBody>
      </p:sp>
      <p:sp>
        <p:nvSpPr>
          <p:cNvPr id="30" name="Text 28"/>
          <p:cNvSpPr/>
          <p:nvPr/>
        </p:nvSpPr>
        <p:spPr>
          <a:xfrm>
            <a:off x="3633140" y="4230624"/>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VALUE</a:t>
            </a:r>
            <a:endParaRPr lang="en-US" sz="700" dirty="0"/>
          </a:p>
        </p:txBody>
      </p:sp>
      <p:sp>
        <p:nvSpPr>
          <p:cNvPr id="31" name="Text 29"/>
          <p:cNvSpPr/>
          <p:nvPr/>
        </p:nvSpPr>
        <p:spPr>
          <a:xfrm>
            <a:off x="3633140" y="4376928"/>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From reporting the footprint to actively reducing it; the sponsor becomes our internal advocate.</a:t>
            </a:r>
            <a:endParaRPr lang="en-US" sz="800" dirty="0"/>
          </a:p>
        </p:txBody>
      </p:sp>
      <p:sp>
        <p:nvSpPr>
          <p:cNvPr id="32" name="Text 30"/>
          <p:cNvSpPr/>
          <p:nvPr/>
        </p:nvSpPr>
        <p:spPr>
          <a:xfrm>
            <a:off x="3633140" y="4837176"/>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EXPANSION TRIGGER</a:t>
            </a:r>
            <a:endParaRPr lang="en-US" sz="700" dirty="0"/>
          </a:p>
        </p:txBody>
      </p:sp>
      <p:sp>
        <p:nvSpPr>
          <p:cNvPr id="33" name="Text 31"/>
          <p:cNvSpPr/>
          <p:nvPr/>
        </p:nvSpPr>
        <p:spPr>
          <a:xfrm>
            <a:off x="3633140" y="4983480"/>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First audit passed, first board disclosure delivered, first reduction target tracked.</a:t>
            </a:r>
            <a:endParaRPr lang="en-US" sz="800" dirty="0"/>
          </a:p>
        </p:txBody>
      </p:sp>
      <p:sp>
        <p:nvSpPr>
          <p:cNvPr id="34" name="Text 32"/>
          <p:cNvSpPr/>
          <p:nvPr/>
        </p:nvSpPr>
        <p:spPr>
          <a:xfrm>
            <a:off x="5967832" y="3741928"/>
            <a:ext cx="274320" cy="274320"/>
          </a:xfrm>
          <a:prstGeom prst="rect">
            <a:avLst/>
          </a:prstGeom>
          <a:noFill/>
          <a:ln/>
        </p:spPr>
        <p:txBody>
          <a:bodyPr wrap="square" lIns="0" tIns="0" rIns="0" bIns="0" rtlCol="0" anchor="ctr"/>
          <a:lstStyle/>
          <a:p>
            <a:pPr algn="ctr" indent="0" marL="0">
              <a:buNone/>
            </a:pPr>
            <a:r>
              <a:rPr lang="en-US" sz="1400" b="1" dirty="0">
                <a:solidFill>
                  <a:srgbClr val="3DCD58"/>
                </a:solidFill>
                <a:latin typeface="Calibri" pitchFamily="34" charset="0"/>
                <a:ea typeface="Calibri" pitchFamily="34" charset="-122"/>
                <a:cs typeface="Calibri" pitchFamily="34" charset="-120"/>
              </a:rPr>
              <a:t>→</a:t>
            </a:r>
            <a:endParaRPr lang="en-US" sz="1400" dirty="0"/>
          </a:p>
        </p:txBody>
      </p:sp>
      <p:sp>
        <p:nvSpPr>
          <p:cNvPr id="35" name="Shape 33"/>
          <p:cNvSpPr/>
          <p:nvPr/>
        </p:nvSpPr>
        <p:spPr>
          <a:xfrm>
            <a:off x="6205576" y="2084832"/>
            <a:ext cx="2572436" cy="3588512"/>
          </a:xfrm>
          <a:prstGeom prst="roundRect">
            <a:avLst>
              <a:gd name="adj" fmla="val 1422"/>
            </a:avLst>
          </a:prstGeom>
          <a:solidFill>
            <a:srgbClr val="FFFFFF"/>
          </a:solidFill>
          <a:ln w="10160">
            <a:solidFill>
              <a:srgbClr val="E2E6E2"/>
            </a:solidFill>
            <a:prstDash val="solid"/>
          </a:ln>
        </p:spPr>
      </p:sp>
      <p:sp>
        <p:nvSpPr>
          <p:cNvPr id="36" name="Shape 34"/>
          <p:cNvSpPr/>
          <p:nvPr/>
        </p:nvSpPr>
        <p:spPr>
          <a:xfrm>
            <a:off x="6205576" y="2084832"/>
            <a:ext cx="64008" cy="3588512"/>
          </a:xfrm>
          <a:prstGeom prst="rect">
            <a:avLst/>
          </a:prstGeom>
          <a:solidFill>
            <a:srgbClr val="3DCD58"/>
          </a:solidFill>
          <a:ln w="12700">
            <a:solidFill>
              <a:srgbClr val="3DCD58"/>
            </a:solidFill>
            <a:prstDash val="solid"/>
          </a:ln>
        </p:spPr>
      </p:sp>
      <p:sp>
        <p:nvSpPr>
          <p:cNvPr id="37" name="Text 35"/>
          <p:cNvSpPr/>
          <p:nvPr/>
        </p:nvSpPr>
        <p:spPr>
          <a:xfrm>
            <a:off x="6425032" y="2231136"/>
            <a:ext cx="2133524" cy="237744"/>
          </a:xfrm>
          <a:prstGeom prst="rect">
            <a:avLst/>
          </a:prstGeom>
          <a:noFill/>
          <a:ln/>
        </p:spPr>
        <p:txBody>
          <a:bodyPr wrap="square" lIns="0" tIns="0" rIns="0" bIns="0" rtlCol="0" anchor="ctr">
            <a:normAutofit/>
          </a:bodyPr>
          <a:lstStyle/>
          <a:p>
            <a:pPr indent="0" marL="0">
              <a:buNone/>
            </a:pPr>
            <a:r>
              <a:rPr lang="en-US" sz="850" b="1" spc="120" kern="0" dirty="0">
                <a:solidFill>
                  <a:srgbClr val="007A27"/>
                </a:solidFill>
                <a:latin typeface="Calibri" pitchFamily="34" charset="0"/>
                <a:ea typeface="Calibri" pitchFamily="34" charset="-122"/>
                <a:cs typeface="Calibri" pitchFamily="34" charset="-120"/>
              </a:rPr>
              <a:t>STAGE 3 | EXPAND</a:t>
            </a:r>
            <a:endParaRPr lang="en-US" sz="850" dirty="0"/>
          </a:p>
        </p:txBody>
      </p:sp>
      <p:sp>
        <p:nvSpPr>
          <p:cNvPr id="38" name="Text 36"/>
          <p:cNvSpPr/>
          <p:nvPr/>
        </p:nvSpPr>
        <p:spPr>
          <a:xfrm>
            <a:off x="6425032" y="2487168"/>
            <a:ext cx="2133524" cy="457200"/>
          </a:xfrm>
          <a:prstGeom prst="rect">
            <a:avLst/>
          </a:prstGeom>
          <a:noFill/>
          <a:ln/>
        </p:spPr>
        <p:txBody>
          <a:bodyPr wrap="square" lIns="0" tIns="0" rIns="0" bIns="0" rtlCol="0" anchor="t">
            <a:normAutofit/>
          </a:bodyPr>
          <a:lstStyle/>
          <a:p>
            <a:pPr indent="0" marL="0">
              <a:buNone/>
            </a:pPr>
            <a:r>
              <a:rPr lang="en-US" sz="1350" b="1" dirty="0">
                <a:solidFill>
                  <a:srgbClr val="1E2420"/>
                </a:solidFill>
                <a:latin typeface="Calibri" pitchFamily="34" charset="0"/>
                <a:ea typeface="Calibri" pitchFamily="34" charset="-122"/>
                <a:cs typeface="Calibri" pitchFamily="34" charset="-120"/>
              </a:rPr>
              <a:t>Second and third product</a:t>
            </a:r>
            <a:endParaRPr lang="en-US" sz="1350" dirty="0"/>
          </a:p>
        </p:txBody>
      </p:sp>
      <p:sp>
        <p:nvSpPr>
          <p:cNvPr id="39" name="Text 37"/>
          <p:cNvSpPr/>
          <p:nvPr/>
        </p:nvSpPr>
        <p:spPr>
          <a:xfrm>
            <a:off x="6425032" y="3017520"/>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BUYER MOMENT</a:t>
            </a:r>
            <a:endParaRPr lang="en-US" sz="700" dirty="0"/>
          </a:p>
        </p:txBody>
      </p:sp>
      <p:sp>
        <p:nvSpPr>
          <p:cNvPr id="40" name="Text 38"/>
          <p:cNvSpPr/>
          <p:nvPr/>
        </p:nvSpPr>
        <p:spPr>
          <a:xfrm>
            <a:off x="6425032" y="3163824"/>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1E2420"/>
                </a:solidFill>
                <a:latin typeface="Calibri" pitchFamily="34" charset="0"/>
                <a:ea typeface="Calibri" pitchFamily="34" charset="-122"/>
                <a:cs typeface="Calibri" pitchFamily="34" charset="-120"/>
              </a:rPr>
              <a:t>Procurement, supply chain and energy leaders join; the data spine means no new baseline project.</a:t>
            </a:r>
            <a:endParaRPr lang="en-US" sz="800" dirty="0"/>
          </a:p>
        </p:txBody>
      </p:sp>
      <p:sp>
        <p:nvSpPr>
          <p:cNvPr id="41" name="Text 39"/>
          <p:cNvSpPr/>
          <p:nvPr/>
        </p:nvSpPr>
        <p:spPr>
          <a:xfrm>
            <a:off x="6425032" y="3624072"/>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PRODUCTS</a:t>
            </a:r>
            <a:endParaRPr lang="en-US" sz="700" dirty="0"/>
          </a:p>
        </p:txBody>
      </p:sp>
      <p:sp>
        <p:nvSpPr>
          <p:cNvPr id="42" name="Text 40"/>
          <p:cNvSpPr/>
          <p:nvPr/>
        </p:nvSpPr>
        <p:spPr>
          <a:xfrm>
            <a:off x="6425032" y="3770376"/>
            <a:ext cx="2133524" cy="516128"/>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Supply Chain for supplier emissions abatement, Climate Risk for value at risk, Energy &amp; Efficiency for metered reality.</a:t>
            </a:r>
            <a:endParaRPr lang="en-US" sz="800" dirty="0"/>
          </a:p>
        </p:txBody>
      </p:sp>
      <p:sp>
        <p:nvSpPr>
          <p:cNvPr id="43" name="Text 41"/>
          <p:cNvSpPr/>
          <p:nvPr/>
        </p:nvSpPr>
        <p:spPr>
          <a:xfrm>
            <a:off x="6425032" y="4350512"/>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VALUE</a:t>
            </a:r>
            <a:endParaRPr lang="en-US" sz="700" dirty="0"/>
          </a:p>
        </p:txBody>
      </p:sp>
      <p:sp>
        <p:nvSpPr>
          <p:cNvPr id="44" name="Text 42"/>
          <p:cNvSpPr/>
          <p:nvPr/>
        </p:nvSpPr>
        <p:spPr>
          <a:xfrm>
            <a:off x="6425032" y="4496816"/>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Category 1 and 4 flow into the CP inventory; energy and carbon cobenefits appear on one platform.</a:t>
            </a:r>
            <a:endParaRPr lang="en-US" sz="800" dirty="0"/>
          </a:p>
        </p:txBody>
      </p:sp>
      <p:sp>
        <p:nvSpPr>
          <p:cNvPr id="45" name="Text 43"/>
          <p:cNvSpPr/>
          <p:nvPr/>
        </p:nvSpPr>
        <p:spPr>
          <a:xfrm>
            <a:off x="6425032" y="4957064"/>
            <a:ext cx="2133524" cy="137160"/>
          </a:xfrm>
          <a:prstGeom prst="rect">
            <a:avLst/>
          </a:prstGeom>
          <a:noFill/>
          <a:ln/>
        </p:spPr>
        <p:txBody>
          <a:bodyPr wrap="square" lIns="0" tIns="0" rIns="0" bIns="0" rtlCol="0" anchor="ctr"/>
          <a:lstStyle/>
          <a:p>
            <a:pPr indent="0" marL="0">
              <a:buNone/>
            </a:pPr>
            <a:r>
              <a:rPr lang="en-US" sz="700" b="1" spc="80" kern="0" dirty="0">
                <a:solidFill>
                  <a:srgbClr val="007A27"/>
                </a:solidFill>
                <a:latin typeface="Calibri" pitchFamily="34" charset="0"/>
                <a:ea typeface="Calibri" pitchFamily="34" charset="-122"/>
                <a:cs typeface="Calibri" pitchFamily="34" charset="-120"/>
              </a:rPr>
              <a:t>EXPANSION TRIGGER</a:t>
            </a:r>
            <a:endParaRPr lang="en-US" sz="700" dirty="0"/>
          </a:p>
        </p:txBody>
      </p:sp>
      <p:sp>
        <p:nvSpPr>
          <p:cNvPr id="46" name="Text 44"/>
          <p:cNvSpPr/>
          <p:nvPr/>
        </p:nvSpPr>
        <p:spPr>
          <a:xfrm>
            <a:off x="6425032" y="5103368"/>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5A625C"/>
                </a:solidFill>
                <a:latin typeface="Calibri" pitchFamily="34" charset="0"/>
                <a:ea typeface="Calibri" pitchFamily="34" charset="-122"/>
                <a:cs typeface="Calibri" pitchFamily="34" charset="-120"/>
              </a:rPr>
              <a:t>Cross-functional steering committee sees one hierarchy, one evidence chain, one login.</a:t>
            </a:r>
            <a:endParaRPr lang="en-US" sz="800" dirty="0"/>
          </a:p>
        </p:txBody>
      </p:sp>
      <p:sp>
        <p:nvSpPr>
          <p:cNvPr id="47" name="Text 45"/>
          <p:cNvSpPr/>
          <p:nvPr/>
        </p:nvSpPr>
        <p:spPr>
          <a:xfrm>
            <a:off x="8759723" y="3741928"/>
            <a:ext cx="274320" cy="274320"/>
          </a:xfrm>
          <a:prstGeom prst="rect">
            <a:avLst/>
          </a:prstGeom>
          <a:noFill/>
          <a:ln/>
        </p:spPr>
        <p:txBody>
          <a:bodyPr wrap="square" lIns="0" tIns="0" rIns="0" bIns="0" rtlCol="0" anchor="ctr"/>
          <a:lstStyle/>
          <a:p>
            <a:pPr algn="ctr" indent="0" marL="0">
              <a:buNone/>
            </a:pPr>
            <a:r>
              <a:rPr lang="en-US" sz="1400" b="1" dirty="0">
                <a:solidFill>
                  <a:srgbClr val="3DCD58"/>
                </a:solidFill>
                <a:latin typeface="Calibri" pitchFamily="34" charset="0"/>
                <a:ea typeface="Calibri" pitchFamily="34" charset="-122"/>
                <a:cs typeface="Calibri" pitchFamily="34" charset="-120"/>
              </a:rPr>
              <a:t>→</a:t>
            </a:r>
            <a:endParaRPr lang="en-US" sz="1400" dirty="0"/>
          </a:p>
        </p:txBody>
      </p:sp>
      <p:sp>
        <p:nvSpPr>
          <p:cNvPr id="48" name="Shape 46"/>
          <p:cNvSpPr/>
          <p:nvPr/>
        </p:nvSpPr>
        <p:spPr>
          <a:xfrm>
            <a:off x="8997467" y="2084832"/>
            <a:ext cx="2572436" cy="3588512"/>
          </a:xfrm>
          <a:prstGeom prst="roundRect">
            <a:avLst>
              <a:gd name="adj" fmla="val 1422"/>
            </a:avLst>
          </a:prstGeom>
          <a:solidFill>
            <a:srgbClr val="0C3B25"/>
          </a:solidFill>
          <a:ln w="10160">
            <a:solidFill>
              <a:srgbClr val="0C3B25"/>
            </a:solidFill>
            <a:prstDash val="solid"/>
          </a:ln>
        </p:spPr>
      </p:sp>
      <p:sp>
        <p:nvSpPr>
          <p:cNvPr id="49" name="Shape 47"/>
          <p:cNvSpPr/>
          <p:nvPr/>
        </p:nvSpPr>
        <p:spPr>
          <a:xfrm>
            <a:off x="8997467" y="2084832"/>
            <a:ext cx="64008" cy="3588512"/>
          </a:xfrm>
          <a:prstGeom prst="rect">
            <a:avLst/>
          </a:prstGeom>
          <a:solidFill>
            <a:srgbClr val="CDFC57"/>
          </a:solidFill>
          <a:ln w="12700">
            <a:solidFill>
              <a:srgbClr val="CDFC57"/>
            </a:solidFill>
            <a:prstDash val="solid"/>
          </a:ln>
        </p:spPr>
      </p:sp>
      <p:sp>
        <p:nvSpPr>
          <p:cNvPr id="50" name="Text 48"/>
          <p:cNvSpPr/>
          <p:nvPr/>
        </p:nvSpPr>
        <p:spPr>
          <a:xfrm>
            <a:off x="9216923" y="2231136"/>
            <a:ext cx="2133524" cy="237744"/>
          </a:xfrm>
          <a:prstGeom prst="rect">
            <a:avLst/>
          </a:prstGeom>
          <a:noFill/>
          <a:ln/>
        </p:spPr>
        <p:txBody>
          <a:bodyPr wrap="square" lIns="0" tIns="0" rIns="0" bIns="0" rtlCol="0" anchor="ctr">
            <a:normAutofit/>
          </a:bodyPr>
          <a:lstStyle/>
          <a:p>
            <a:pPr indent="0" marL="0">
              <a:buNone/>
            </a:pPr>
            <a:r>
              <a:rPr lang="en-US" sz="850" b="1" spc="120" kern="0" dirty="0">
                <a:solidFill>
                  <a:srgbClr val="CDFC57"/>
                </a:solidFill>
                <a:latin typeface="Calibri" pitchFamily="34" charset="0"/>
                <a:ea typeface="Calibri" pitchFamily="34" charset="-122"/>
                <a:cs typeface="Calibri" pitchFamily="34" charset="-120"/>
              </a:rPr>
              <a:t>STAGE 4 | STANDARDIZE</a:t>
            </a:r>
            <a:endParaRPr lang="en-US" sz="850" dirty="0"/>
          </a:p>
        </p:txBody>
      </p:sp>
      <p:sp>
        <p:nvSpPr>
          <p:cNvPr id="51" name="Text 49"/>
          <p:cNvSpPr/>
          <p:nvPr/>
        </p:nvSpPr>
        <p:spPr>
          <a:xfrm>
            <a:off x="9216923" y="2487168"/>
            <a:ext cx="2133524" cy="457200"/>
          </a:xfrm>
          <a:prstGeom prst="rect">
            <a:avLst/>
          </a:prstGeom>
          <a:noFill/>
          <a:ln/>
        </p:spPr>
        <p:txBody>
          <a:bodyPr wrap="square" lIns="0" tIns="0" rIns="0" bIns="0" rtlCol="0" anchor="t">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Platform as the system of action</a:t>
            </a:r>
            <a:endParaRPr lang="en-US" sz="1350" dirty="0"/>
          </a:p>
        </p:txBody>
      </p:sp>
      <p:sp>
        <p:nvSpPr>
          <p:cNvPr id="52" name="Text 50"/>
          <p:cNvSpPr/>
          <p:nvPr/>
        </p:nvSpPr>
        <p:spPr>
          <a:xfrm>
            <a:off x="9216923" y="3017520"/>
            <a:ext cx="2133524" cy="137160"/>
          </a:xfrm>
          <a:prstGeom prst="rect">
            <a:avLst/>
          </a:prstGeom>
          <a:noFill/>
          <a:ln/>
        </p:spPr>
        <p:txBody>
          <a:bodyPr wrap="square" lIns="0" tIns="0" rIns="0" bIns="0" rtlCol="0" anchor="ctr"/>
          <a:lstStyle/>
          <a:p>
            <a:pPr indent="0" marL="0">
              <a:buNone/>
            </a:pPr>
            <a:r>
              <a:rPr lang="en-US" sz="700" b="1" spc="80" kern="0" dirty="0">
                <a:solidFill>
                  <a:srgbClr val="CDFC57"/>
                </a:solidFill>
                <a:latin typeface="Calibri" pitchFamily="34" charset="0"/>
                <a:ea typeface="Calibri" pitchFamily="34" charset="-122"/>
                <a:cs typeface="Calibri" pitchFamily="34" charset="-120"/>
              </a:rPr>
              <a:t>BUYER MOMENT</a:t>
            </a:r>
            <a:endParaRPr lang="en-US" sz="700" dirty="0"/>
          </a:p>
        </p:txBody>
      </p:sp>
      <p:sp>
        <p:nvSpPr>
          <p:cNvPr id="53" name="Text 51"/>
          <p:cNvSpPr/>
          <p:nvPr/>
        </p:nvSpPr>
        <p:spPr>
          <a:xfrm>
            <a:off x="9216923" y="3163824"/>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DCE9E1"/>
                </a:solidFill>
                <a:latin typeface="Calibri" pitchFamily="34" charset="0"/>
                <a:ea typeface="Calibri" pitchFamily="34" charset="-122"/>
                <a:cs typeface="Calibri" pitchFamily="34" charset="-120"/>
              </a:rPr>
              <a:t>CFO and board sponsor: RA+ becomes the trusted source for disclosure, decisions and capital allocation.</a:t>
            </a:r>
            <a:endParaRPr lang="en-US" sz="800" dirty="0"/>
          </a:p>
        </p:txBody>
      </p:sp>
      <p:sp>
        <p:nvSpPr>
          <p:cNvPr id="54" name="Text 52"/>
          <p:cNvSpPr/>
          <p:nvPr/>
        </p:nvSpPr>
        <p:spPr>
          <a:xfrm>
            <a:off x="9216923" y="3624072"/>
            <a:ext cx="2133524" cy="137160"/>
          </a:xfrm>
          <a:prstGeom prst="rect">
            <a:avLst/>
          </a:prstGeom>
          <a:noFill/>
          <a:ln/>
        </p:spPr>
        <p:txBody>
          <a:bodyPr wrap="square" lIns="0" tIns="0" rIns="0" bIns="0" rtlCol="0" anchor="ctr"/>
          <a:lstStyle/>
          <a:p>
            <a:pPr indent="0" marL="0">
              <a:buNone/>
            </a:pPr>
            <a:r>
              <a:rPr lang="en-US" sz="700" b="1" spc="80" kern="0" dirty="0">
                <a:solidFill>
                  <a:srgbClr val="CDFC57"/>
                </a:solidFill>
                <a:latin typeface="Calibri" pitchFamily="34" charset="0"/>
                <a:ea typeface="Calibri" pitchFamily="34" charset="-122"/>
                <a:cs typeface="Calibri" pitchFamily="34" charset="-120"/>
              </a:rPr>
              <a:t>PRODUCTS</a:t>
            </a:r>
            <a:endParaRPr lang="en-US" sz="700" dirty="0"/>
          </a:p>
        </p:txBody>
      </p:sp>
      <p:sp>
        <p:nvSpPr>
          <p:cNvPr id="55" name="Text 53"/>
          <p:cNvSpPr/>
          <p:nvPr/>
        </p:nvSpPr>
        <p:spPr>
          <a:xfrm>
            <a:off x="9216923" y="3770376"/>
            <a:ext cx="2133524" cy="516128"/>
          </a:xfrm>
          <a:prstGeom prst="rect">
            <a:avLst/>
          </a:prstGeom>
          <a:noFill/>
          <a:ln/>
        </p:spPr>
        <p:txBody>
          <a:bodyPr wrap="square" lIns="0" tIns="0" rIns="0" bIns="0" rtlCol="0" anchor="t">
            <a:normAutofit/>
          </a:bodyPr>
          <a:lstStyle/>
          <a:p>
            <a:pPr indent="0" marL="0">
              <a:lnSpc>
                <a:spcPct val="105000"/>
              </a:lnSpc>
              <a:buNone/>
            </a:pPr>
            <a:r>
              <a:rPr lang="en-US" sz="800" dirty="0">
                <a:solidFill>
                  <a:srgbClr val="BFD9C9"/>
                </a:solidFill>
                <a:latin typeface="Calibri" pitchFamily="34" charset="0"/>
                <a:ea typeface="Calibri" pitchFamily="34" charset="-122"/>
                <a:cs typeface="Calibri" pitchFamily="34" charset="-120"/>
              </a:rPr>
              <a:t>Full portfolio on the Portfolio tier: platform fee plus unlimited products, cross-domain intelligence and APIs.</a:t>
            </a:r>
            <a:endParaRPr lang="en-US" sz="800" dirty="0"/>
          </a:p>
        </p:txBody>
      </p:sp>
      <p:sp>
        <p:nvSpPr>
          <p:cNvPr id="56" name="Text 54"/>
          <p:cNvSpPr/>
          <p:nvPr/>
        </p:nvSpPr>
        <p:spPr>
          <a:xfrm>
            <a:off x="9216923" y="4350512"/>
            <a:ext cx="2133524" cy="137160"/>
          </a:xfrm>
          <a:prstGeom prst="rect">
            <a:avLst/>
          </a:prstGeom>
          <a:noFill/>
          <a:ln/>
        </p:spPr>
        <p:txBody>
          <a:bodyPr wrap="square" lIns="0" tIns="0" rIns="0" bIns="0" rtlCol="0" anchor="ctr"/>
          <a:lstStyle/>
          <a:p>
            <a:pPr indent="0" marL="0">
              <a:buNone/>
            </a:pPr>
            <a:r>
              <a:rPr lang="en-US" sz="700" b="1" spc="80" kern="0" dirty="0">
                <a:solidFill>
                  <a:srgbClr val="CDFC57"/>
                </a:solidFill>
                <a:latin typeface="Calibri" pitchFamily="34" charset="0"/>
                <a:ea typeface="Calibri" pitchFamily="34" charset="-122"/>
                <a:cs typeface="Calibri" pitchFamily="34" charset="-120"/>
              </a:rPr>
              <a:t>VALUE</a:t>
            </a:r>
            <a:endParaRPr lang="en-US" sz="700" dirty="0"/>
          </a:p>
        </p:txBody>
      </p:sp>
      <p:sp>
        <p:nvSpPr>
          <p:cNvPr id="57" name="Text 55"/>
          <p:cNvSpPr/>
          <p:nvPr/>
        </p:nvSpPr>
        <p:spPr>
          <a:xfrm>
            <a:off x="9216923" y="4496816"/>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BFD9C9"/>
                </a:solidFill>
                <a:latin typeface="Calibri" pitchFamily="34" charset="0"/>
                <a:ea typeface="Calibri" pitchFamily="34" charset="-122"/>
                <a:cs typeface="Calibri" pitchFamily="34" charset="-120"/>
              </a:rPr>
              <a:t>One platform replaces fragmented point tools; lower total cost of ownership and priced climate risk.</a:t>
            </a:r>
            <a:endParaRPr lang="en-US" sz="800" dirty="0"/>
          </a:p>
        </p:txBody>
      </p:sp>
      <p:sp>
        <p:nvSpPr>
          <p:cNvPr id="58" name="Text 56"/>
          <p:cNvSpPr/>
          <p:nvPr/>
        </p:nvSpPr>
        <p:spPr>
          <a:xfrm>
            <a:off x="9216923" y="4957064"/>
            <a:ext cx="2133524" cy="137160"/>
          </a:xfrm>
          <a:prstGeom prst="rect">
            <a:avLst/>
          </a:prstGeom>
          <a:noFill/>
          <a:ln/>
        </p:spPr>
        <p:txBody>
          <a:bodyPr wrap="square" lIns="0" tIns="0" rIns="0" bIns="0" rtlCol="0" anchor="ctr"/>
          <a:lstStyle/>
          <a:p>
            <a:pPr indent="0" marL="0">
              <a:buNone/>
            </a:pPr>
            <a:r>
              <a:rPr lang="en-US" sz="700" b="1" spc="80" kern="0" dirty="0">
                <a:solidFill>
                  <a:srgbClr val="CDFC57"/>
                </a:solidFill>
                <a:latin typeface="Calibri" pitchFamily="34" charset="0"/>
                <a:ea typeface="Calibri" pitchFamily="34" charset="-122"/>
                <a:cs typeface="Calibri" pitchFamily="34" charset="-120"/>
              </a:rPr>
              <a:t>EXPANSION TRIGGER</a:t>
            </a:r>
            <a:endParaRPr lang="en-US" sz="700" dirty="0"/>
          </a:p>
        </p:txBody>
      </p:sp>
      <p:sp>
        <p:nvSpPr>
          <p:cNvPr id="59" name="Text 57"/>
          <p:cNvSpPr/>
          <p:nvPr/>
        </p:nvSpPr>
        <p:spPr>
          <a:xfrm>
            <a:off x="9216923" y="5103368"/>
            <a:ext cx="2133524" cy="396240"/>
          </a:xfrm>
          <a:prstGeom prst="rect">
            <a:avLst/>
          </a:prstGeom>
          <a:noFill/>
          <a:ln/>
        </p:spPr>
        <p:txBody>
          <a:bodyPr wrap="square" lIns="0" tIns="0" rIns="0" bIns="0" rtlCol="0" anchor="t">
            <a:normAutofit/>
          </a:bodyPr>
          <a:lstStyle/>
          <a:p>
            <a:pPr indent="0" marL="0">
              <a:lnSpc>
                <a:spcPct val="105000"/>
              </a:lnSpc>
              <a:buNone/>
            </a:pPr>
            <a:r>
              <a:rPr lang="en-US" sz="800" dirty="0">
                <a:solidFill>
                  <a:srgbClr val="BFD9C9"/>
                </a:solidFill>
                <a:latin typeface="Calibri" pitchFamily="34" charset="0"/>
                <a:ea typeface="Calibri" pitchFamily="34" charset="-122"/>
                <a:cs typeface="Calibri" pitchFamily="34" charset="-120"/>
              </a:rPr>
              <a:t>Multi-year enterprise agreement; RA+ named the corporate energy &amp; sustainability system of action.</a:t>
            </a:r>
            <a:endParaRPr lang="en-US" sz="800" dirty="0"/>
          </a:p>
        </p:txBody>
      </p:sp>
      <p:sp>
        <p:nvSpPr>
          <p:cNvPr id="60" name="Shape 58"/>
          <p:cNvSpPr/>
          <p:nvPr/>
        </p:nvSpPr>
        <p:spPr>
          <a:xfrm>
            <a:off x="621792" y="5819648"/>
            <a:ext cx="10948111" cy="329184"/>
          </a:xfrm>
          <a:prstGeom prst="rect">
            <a:avLst/>
          </a:prstGeom>
          <a:solidFill>
            <a:srgbClr val="EAF8ED"/>
          </a:solidFill>
          <a:ln w="12700">
            <a:solidFill>
              <a:srgbClr val="EAF8ED"/>
            </a:solidFill>
            <a:prstDash val="solid"/>
          </a:ln>
        </p:spPr>
      </p:sp>
      <p:sp>
        <p:nvSpPr>
          <p:cNvPr id="61" name="Shape 59"/>
          <p:cNvSpPr/>
          <p:nvPr/>
        </p:nvSpPr>
        <p:spPr>
          <a:xfrm>
            <a:off x="621792" y="5819648"/>
            <a:ext cx="64008" cy="329184"/>
          </a:xfrm>
          <a:prstGeom prst="rect">
            <a:avLst/>
          </a:prstGeom>
          <a:solidFill>
            <a:srgbClr val="3DCD58"/>
          </a:solidFill>
          <a:ln w="12700">
            <a:solidFill>
              <a:srgbClr val="3DCD58"/>
            </a:solidFill>
            <a:prstDash val="solid"/>
          </a:ln>
        </p:spPr>
      </p:sp>
      <p:sp>
        <p:nvSpPr>
          <p:cNvPr id="62" name="Text 60"/>
          <p:cNvSpPr/>
          <p:nvPr/>
        </p:nvSpPr>
        <p:spPr>
          <a:xfrm>
            <a:off x="804672" y="5819648"/>
            <a:ext cx="10582351" cy="329184"/>
          </a:xfrm>
          <a:prstGeom prst="rect">
            <a:avLst/>
          </a:prstGeom>
          <a:noFill/>
          <a:ln/>
        </p:spPr>
        <p:txBody>
          <a:bodyPr wrap="square" lIns="0" tIns="0" rIns="0" bIns="0" rtlCol="0" anchor="ctr">
            <a:normAutofit/>
          </a:bodyPr>
          <a:lstStyle/>
          <a:p>
            <a:pPr indent="0" marL="0">
              <a:buNone/>
            </a:pPr>
            <a:r>
              <a:rPr lang="en-US" sz="1000" b="1" dirty="0">
                <a:solidFill>
                  <a:srgbClr val="1E2420"/>
                </a:solidFill>
                <a:latin typeface="Calibri" pitchFamily="34" charset="0"/>
                <a:ea typeface="Calibri" pitchFamily="34" charset="-122"/>
                <a:cs typeface="Calibri" pitchFamily="34" charset="-120"/>
              </a:rPr>
              <a:t>Every stage deepens the moat: the data spine makes each next product cheaper to adopt and harder to rip out. Value per product, energy savings, cost savings and risk reduction, sits on the value proposition page at /value-proposition.</a:t>
            </a:r>
            <a:endParaRPr lang="en-US" sz="1000" dirty="0"/>
          </a:p>
        </p:txBody>
      </p:sp>
      <p:sp>
        <p:nvSpPr>
          <p:cNvPr id="63" name="Shape 61"/>
          <p:cNvSpPr/>
          <p:nvPr/>
        </p:nvSpPr>
        <p:spPr>
          <a:xfrm>
            <a:off x="621792" y="6437376"/>
            <a:ext cx="10948111" cy="0"/>
          </a:xfrm>
          <a:prstGeom prst="line">
            <a:avLst/>
          </a:prstGeom>
          <a:noFill/>
          <a:ln w="9525">
            <a:solidFill>
              <a:srgbClr val="E2E6E2"/>
            </a:solidFill>
            <a:prstDash val="solid"/>
          </a:ln>
        </p:spPr>
      </p:sp>
      <p:sp>
        <p:nvSpPr>
          <p:cNvPr id="64" name="Text 6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65" name="Text 6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3</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03</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RA+ 2026 and 2027 sustainability family roadmap by product</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Carbon Performance, Supply Chain, Reporting and Compliance, Climate Risk, and the core platform they all stand on.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PRODUCTS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Four products, one carbon and sustainability data model</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Each product owns a customer outcome. All four read and write the same governed baseline.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0563209709732457e+50" dist="3.5210699032441527e+49" dir="1.9591041024000004e+59">
              <a:srgbClr val="0A1F12">
                <a:alpha val="1.2e+59"/>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359152"/>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Carbon Performance</a:t>
            </a:r>
            <a:endParaRPr lang="en-US" sz="1600" dirty="0"/>
          </a:p>
        </p:txBody>
      </p:sp>
      <p:sp>
        <p:nvSpPr>
          <p:cNvPr id="12" name="Text 10"/>
          <p:cNvSpPr/>
          <p:nvPr/>
        </p:nvSpPr>
        <p:spPr>
          <a:xfrm>
            <a:off x="804672" y="286207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Consultant grade and AI assisted GHG inventory across Scope 1, 2 and 3.</a:t>
            </a:r>
            <a:endParaRPr lang="en-US" sz="1100" dirty="0"/>
          </a:p>
        </p:txBody>
      </p:sp>
      <p:sp>
        <p:nvSpPr>
          <p:cNvPr id="13" name="Text 11"/>
          <p:cNvSpPr/>
          <p:nvPr/>
        </p:nvSpPr>
        <p:spPr>
          <a:xfrm>
            <a:off x="822960" y="3593592"/>
            <a:ext cx="2165528"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2026: emission factor and calculation depth</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add more Sera use cases, governance, assurance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Owns the inventory every other product consumes</a:t>
            </a:r>
            <a:endParaRPr lang="en-US" sz="1100" dirty="0"/>
          </a:p>
        </p:txBody>
      </p:sp>
      <p:sp>
        <p:nvSpPr>
          <p:cNvPr id="14" name="Shape 12"/>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341527633136022e+54" dist="4.471758777120074e+53" dir="1.1754624614400003e+64">
              <a:srgbClr val="0A1F12">
                <a:alpha val="1.2000000000000001e+64"/>
              </a:srgbClr>
            </a:outerShdw>
          </a:effectLst>
        </p:spPr>
      </p:sp>
      <p:sp>
        <p:nvSpPr>
          <p:cNvPr id="15" name="Shape 13"/>
          <p:cNvSpPr/>
          <p:nvPr/>
        </p:nvSpPr>
        <p:spPr>
          <a:xfrm>
            <a:off x="3427400" y="2084832"/>
            <a:ext cx="2531288" cy="73152"/>
          </a:xfrm>
          <a:prstGeom prst="rect">
            <a:avLst/>
          </a:prstGeom>
          <a:solidFill>
            <a:srgbClr val="007A27"/>
          </a:solidFill>
          <a:ln w="12700">
            <a:solidFill>
              <a:srgbClr val="007A27"/>
            </a:solidFill>
            <a:prstDash val="solid"/>
          </a:ln>
        </p:spPr>
      </p:sp>
      <p:sp>
        <p:nvSpPr>
          <p:cNvPr id="16" name="Text 14"/>
          <p:cNvSpPr/>
          <p:nvPr/>
        </p:nvSpPr>
        <p:spPr>
          <a:xfrm>
            <a:off x="3628568" y="2359152"/>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Supply Chain</a:t>
            </a:r>
            <a:endParaRPr lang="en-US" sz="1600" dirty="0"/>
          </a:p>
        </p:txBody>
      </p:sp>
      <p:sp>
        <p:nvSpPr>
          <p:cNvPr id="17" name="Text 15"/>
          <p:cNvSpPr/>
          <p:nvPr/>
        </p:nvSpPr>
        <p:spPr>
          <a:xfrm>
            <a:off x="3610280" y="286207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Supplier engagement and product level carbon footprint.</a:t>
            </a:r>
            <a:endParaRPr lang="en-US" sz="1100" dirty="0"/>
          </a:p>
        </p:txBody>
      </p:sp>
      <p:sp>
        <p:nvSpPr>
          <p:cNvPr id="18" name="Text 16"/>
          <p:cNvSpPr/>
          <p:nvPr/>
        </p:nvSpPr>
        <p:spPr>
          <a:xfrm>
            <a:off x="3628568" y="3593592"/>
            <a:ext cx="2165528"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2026: complete the RA+ migration, close sponsor gaps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multi tier visibility and supplier emissions abatement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Feeds category 1 and 4 into the CP inventory</a:t>
            </a:r>
            <a:endParaRPr lang="en-US" sz="1100" dirty="0"/>
          </a:p>
        </p:txBody>
      </p:sp>
      <p:sp>
        <p:nvSpPr>
          <p:cNvPr id="19" name="Shape 17"/>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7037400940827478e+58" dist="5.679133646942494e+57" dir="7.052774768640002e+68">
              <a:srgbClr val="0A1F12">
                <a:alpha val="1.2e+69"/>
              </a:srgbClr>
            </a:outerShdw>
          </a:effectLst>
        </p:spPr>
      </p:sp>
      <p:sp>
        <p:nvSpPr>
          <p:cNvPr id="20" name="Shape 18"/>
          <p:cNvSpPr/>
          <p:nvPr/>
        </p:nvSpPr>
        <p:spPr>
          <a:xfrm>
            <a:off x="6233008" y="2084832"/>
            <a:ext cx="2531288" cy="73152"/>
          </a:xfrm>
          <a:prstGeom prst="rect">
            <a:avLst/>
          </a:prstGeom>
          <a:solidFill>
            <a:srgbClr val="FFB04C"/>
          </a:solidFill>
          <a:ln w="12700">
            <a:solidFill>
              <a:srgbClr val="FFB04C"/>
            </a:solidFill>
            <a:prstDash val="solid"/>
          </a:ln>
        </p:spPr>
      </p:sp>
      <p:sp>
        <p:nvSpPr>
          <p:cNvPr id="21" name="Text 19"/>
          <p:cNvSpPr/>
          <p:nvPr/>
        </p:nvSpPr>
        <p:spPr>
          <a:xfrm>
            <a:off x="6434176" y="2359152"/>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Reporting and Compliance</a:t>
            </a:r>
            <a:endParaRPr lang="en-US" sz="1600" dirty="0"/>
          </a:p>
        </p:txBody>
      </p:sp>
      <p:sp>
        <p:nvSpPr>
          <p:cNvPr id="22" name="Text 20"/>
          <p:cNvSpPr/>
          <p:nvPr/>
        </p:nvSpPr>
        <p:spPr>
          <a:xfrm>
            <a:off x="6415888" y="286207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Disclosure ready output from the same numbers.</a:t>
            </a:r>
            <a:endParaRPr lang="en-US" sz="1100" dirty="0"/>
          </a:p>
        </p:txBody>
      </p:sp>
      <p:sp>
        <p:nvSpPr>
          <p:cNvPr id="23" name="Text 21"/>
          <p:cNvSpPr/>
          <p:nvPr/>
        </p:nvSpPr>
        <p:spPr>
          <a:xfrm>
            <a:off x="6434176" y="3593592"/>
            <a:ext cx="2165528"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2026: build foundations for CSRD reporting</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SE migrated off RA Classic, AI drafted disclosures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receiver from every other product to facilitate disclosure.</a:t>
            </a:r>
            <a:endParaRPr lang="en-US" sz="1100" dirty="0"/>
          </a:p>
        </p:txBody>
      </p:sp>
      <p:sp>
        <p:nvSpPr>
          <p:cNvPr id="24" name="Shape 22"/>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2.16374991948509e+62" dist="7.212499731616968e+61" dir="4.2316648611840007e+73">
              <a:srgbClr val="0A1F12">
                <a:alpha val="1.2e+74"/>
              </a:srgbClr>
            </a:outerShdw>
          </a:effectLst>
        </p:spPr>
      </p:sp>
      <p:sp>
        <p:nvSpPr>
          <p:cNvPr id="25" name="Shape 23"/>
          <p:cNvSpPr/>
          <p:nvPr/>
        </p:nvSpPr>
        <p:spPr>
          <a:xfrm>
            <a:off x="9038615" y="2084832"/>
            <a:ext cx="2531288" cy="73152"/>
          </a:xfrm>
          <a:prstGeom prst="rect">
            <a:avLst/>
          </a:prstGeom>
          <a:solidFill>
            <a:srgbClr val="275B7F"/>
          </a:solidFill>
          <a:ln w="12700">
            <a:solidFill>
              <a:srgbClr val="275B7F"/>
            </a:solidFill>
            <a:prstDash val="solid"/>
          </a:ln>
        </p:spPr>
      </p:sp>
      <p:sp>
        <p:nvSpPr>
          <p:cNvPr id="26" name="Text 24"/>
          <p:cNvSpPr/>
          <p:nvPr/>
        </p:nvSpPr>
        <p:spPr>
          <a:xfrm>
            <a:off x="9239783" y="2359152"/>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Climate Risk</a:t>
            </a:r>
            <a:endParaRPr lang="en-US" sz="1600" dirty="0"/>
          </a:p>
        </p:txBody>
      </p:sp>
      <p:sp>
        <p:nvSpPr>
          <p:cNvPr id="27" name="Text 25"/>
          <p:cNvSpPr/>
          <p:nvPr/>
        </p:nvSpPr>
        <p:spPr>
          <a:xfrm>
            <a:off x="9221495" y="286207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Forward looking physical and transition exposure.</a:t>
            </a:r>
            <a:endParaRPr lang="en-US" sz="1100" dirty="0"/>
          </a:p>
        </p:txBody>
      </p:sp>
      <p:sp>
        <p:nvSpPr>
          <p:cNvPr id="28" name="Text 26"/>
          <p:cNvSpPr/>
          <p:nvPr/>
        </p:nvSpPr>
        <p:spPr>
          <a:xfrm>
            <a:off x="9239783" y="3593592"/>
            <a:ext cx="2165528" cy="245059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2026: Eclr turned to a full self serve product with scalable performances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value at risk, scenario analysis and adaptation actions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Risk data flows into R&amp;C disclosures and are turned into financial values</a:t>
            </a:r>
            <a:endParaRPr lang="en-US" sz="1100" dirty="0"/>
          </a:p>
        </p:txBody>
      </p:sp>
      <p:sp>
        <p:nvSpPr>
          <p:cNvPr id="29" name="Shape 27"/>
          <p:cNvSpPr/>
          <p:nvPr/>
        </p:nvSpPr>
        <p:spPr>
          <a:xfrm>
            <a:off x="621792" y="6437376"/>
            <a:ext cx="10948111" cy="0"/>
          </a:xfrm>
          <a:prstGeom prst="line">
            <a:avLst/>
          </a:prstGeom>
          <a:noFill/>
          <a:ln w="9525">
            <a:solidFill>
              <a:srgbClr val="E2E6E2"/>
            </a:solidFill>
            <a:prstDash val="solid"/>
          </a:ln>
        </p:spPr>
      </p:sp>
      <p:sp>
        <p:nvSpPr>
          <p:cNvPr id="30" name="Text 2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1" name="Text 2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Every goal across the RA+ roadmap, part one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Four goals per product, sequenced Now, Next, Later inside each product section that follows.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2.747962397746064e+66" dist="9.15987465915355e+65" dir="2.5389989167104004e+78">
              <a:srgbClr val="0A1F12">
                <a:alpha val="1.2000000000000001e+79"/>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CARBON PERFORMANCE</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A consultant grade and AI driven inventory</a:t>
            </a:r>
            <a:endParaRPr lang="en-US" sz="1400" dirty="0"/>
          </a:p>
        </p:txBody>
      </p:sp>
      <p:sp>
        <p:nvSpPr>
          <p:cNvPr id="13" name="Text 11"/>
          <p:cNvSpPr/>
          <p:nvPr/>
        </p:nvSpPr>
        <p:spPr>
          <a:xfrm>
            <a:off x="822960"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Factors and calculation depth: make the number defensible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coverage: close the Scope 3 gaps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Boundaries and governance: consultant grade control</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and decision support: from inventory to action</a:t>
            </a:r>
            <a:endParaRPr lang="en-US" sz="1100" dirty="0"/>
          </a:p>
        </p:txBody>
      </p:sp>
      <p:sp>
        <p:nvSpPr>
          <p:cNvPr id="14" name="Shape 12"/>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3.4899122451375014e+70" dist="1.1633040817125008e+70" dir="1.5233993500262402e+83">
              <a:srgbClr val="0A1F12">
                <a:alpha val="1.2000000000000002e+84"/>
              </a:srgbClr>
            </a:outerShdw>
          </a:effectLst>
        </p:spPr>
      </p:sp>
      <p:sp>
        <p:nvSpPr>
          <p:cNvPr id="15" name="Shape 13"/>
          <p:cNvSpPr/>
          <p:nvPr/>
        </p:nvSpPr>
        <p:spPr>
          <a:xfrm>
            <a:off x="4362602" y="2084832"/>
            <a:ext cx="3466490" cy="73152"/>
          </a:xfrm>
          <a:prstGeom prst="rect">
            <a:avLst/>
          </a:prstGeom>
          <a:solidFill>
            <a:srgbClr val="007A27"/>
          </a:solidFill>
          <a:ln w="12700">
            <a:solidFill>
              <a:srgbClr val="007A27"/>
            </a:solidFill>
            <a:prstDash val="solid"/>
          </a:ln>
        </p:spPr>
      </p:sp>
      <p:sp>
        <p:nvSpPr>
          <p:cNvPr id="16" name="Text 14"/>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SUPPLY CHAIN</a:t>
            </a:r>
            <a:endParaRPr lang="en-US" sz="900" dirty="0"/>
          </a:p>
        </p:txBody>
      </p:sp>
      <p:sp>
        <p:nvSpPr>
          <p:cNvPr id="17" name="Text 15"/>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From migration to supplier action</a:t>
            </a:r>
            <a:endParaRPr lang="en-US" sz="1400" dirty="0"/>
          </a:p>
        </p:txBody>
      </p:sp>
      <p:sp>
        <p:nvSpPr>
          <p:cNvPr id="18" name="Text 16"/>
          <p:cNvSpPr/>
          <p:nvPr/>
        </p:nvSpPr>
        <p:spPr>
          <a:xfrm>
            <a:off x="4563770"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Zeigo Hub migration and core experience: land in RA+ properly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Product carbon footprint: the commercial gap closer</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collection campaigns: ask suppliers the right questions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quality assurance: numbers that survive review</a:t>
            </a:r>
            <a:endParaRPr lang="en-US" sz="1100" dirty="0"/>
          </a:p>
        </p:txBody>
      </p:sp>
      <p:sp>
        <p:nvSpPr>
          <p:cNvPr id="19" name="Shape 17"/>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4.432188551324627e+74" dist="1.477396183774876e+74" dir="9.14039610015744e+87">
              <a:srgbClr val="0A1F12">
                <a:alpha val="1.2000000000000002e+89"/>
              </a:srgbClr>
            </a:outerShdw>
          </a:effectLst>
        </p:spPr>
      </p:sp>
      <p:sp>
        <p:nvSpPr>
          <p:cNvPr id="20" name="Shape 18"/>
          <p:cNvSpPr/>
          <p:nvPr/>
        </p:nvSpPr>
        <p:spPr>
          <a:xfrm>
            <a:off x="8103413" y="2084832"/>
            <a:ext cx="3466490" cy="73152"/>
          </a:xfrm>
          <a:prstGeom prst="rect">
            <a:avLst/>
          </a:prstGeom>
          <a:solidFill>
            <a:srgbClr val="FFB04C"/>
          </a:solidFill>
          <a:ln w="12700">
            <a:solidFill>
              <a:srgbClr val="FFB04C"/>
            </a:solidFill>
            <a:prstDash val="solid"/>
          </a:ln>
        </p:spPr>
      </p:sp>
      <p:sp>
        <p:nvSpPr>
          <p:cNvPr id="21" name="Text 19"/>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REPORTING AND COMPLIANCE</a:t>
            </a:r>
            <a:endParaRPr lang="en-US" sz="900" dirty="0"/>
          </a:p>
        </p:txBody>
      </p:sp>
      <p:sp>
        <p:nvSpPr>
          <p:cNvPr id="22" name="Text 20"/>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Stand up, migrate, automate</a:t>
            </a:r>
            <a:endParaRPr lang="en-US" sz="1400" dirty="0"/>
          </a:p>
        </p:txBody>
      </p:sp>
      <p:sp>
        <p:nvSpPr>
          <p:cNvPr id="23" name="Text 21"/>
          <p:cNvSpPr/>
          <p:nvPr/>
        </p:nvSpPr>
        <p:spPr>
          <a:xfrm>
            <a:off x="8304581"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Framework Library: entry point and scope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Indicator Management: foundation of data management</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Management: reporting cycle workspace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Migration and assurance: prove it on Schneider first</a:t>
            </a:r>
            <a:endParaRPr lang="en-US" sz="1100" dirty="0"/>
          </a:p>
        </p:txBody>
      </p:sp>
      <p:sp>
        <p:nvSpPr>
          <p:cNvPr id="24" name="Shape 22"/>
          <p:cNvSpPr/>
          <p:nvPr/>
        </p:nvSpPr>
        <p:spPr>
          <a:xfrm>
            <a:off x="621792" y="6437376"/>
            <a:ext cx="10948111" cy="0"/>
          </a:xfrm>
          <a:prstGeom prst="line">
            <a:avLst/>
          </a:prstGeom>
          <a:noFill/>
          <a:ln w="9525">
            <a:solidFill>
              <a:srgbClr val="E2E6E2"/>
            </a:solidFill>
            <a:prstDash val="solid"/>
          </a:ln>
        </p:spPr>
      </p:sp>
      <p:sp>
        <p:nvSpPr>
          <p:cNvPr id="25" name="Text 23"/>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6" name="Text 24"/>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Every goal across the RA+ roadmap, part two</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remaining three products, same Now, Next, Later sequencing inside each section.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5.628879460182276e+78" dist="1.8762931533940924e+78" dir="5.484237660094465e+92">
              <a:srgbClr val="0A1F12">
                <a:alpha val="1.2000000000000001e+94"/>
              </a:srgbClr>
            </a:outerShdw>
          </a:effectLst>
        </p:spPr>
      </p:sp>
      <p:sp>
        <p:nvSpPr>
          <p:cNvPr id="10" name="Shape 8"/>
          <p:cNvSpPr/>
          <p:nvPr/>
        </p:nvSpPr>
        <p:spPr>
          <a:xfrm>
            <a:off x="621792" y="2084832"/>
            <a:ext cx="3466490" cy="73152"/>
          </a:xfrm>
          <a:prstGeom prst="rect">
            <a:avLst/>
          </a:prstGeom>
          <a:solidFill>
            <a:srgbClr val="275B7F"/>
          </a:solidFill>
          <a:ln w="12700">
            <a:solidFill>
              <a:srgbClr val="275B7F"/>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CLIMATE RISK</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From asset register to priced risk</a:t>
            </a:r>
            <a:endParaRPr lang="en-US" sz="1400" dirty="0"/>
          </a:p>
        </p:txBody>
      </p:sp>
      <p:sp>
        <p:nvSpPr>
          <p:cNvPr id="13" name="Text 11"/>
          <p:cNvSpPr/>
          <p:nvPr/>
        </p:nvSpPr>
        <p:spPr>
          <a:xfrm>
            <a:off x="822960"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Asset foundation: shared model before analytics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Exposure: first defensible risk output</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Scenarios and value at risk: decision grade analysis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from risk to response</a:t>
            </a:r>
            <a:endParaRPr lang="en-US" sz="1100" dirty="0"/>
          </a:p>
        </p:txBody>
      </p:sp>
      <p:sp>
        <p:nvSpPr>
          <p:cNvPr id="14" name="Shape 12"/>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7.14867691443149e+82" dist="2.3828923048104974e+82" dir="3.2905425960566786e+97">
              <a:srgbClr val="0A1F12">
                <a:alpha val="1.2e+99"/>
              </a:srgbClr>
            </a:outerShdw>
          </a:effectLst>
        </p:spPr>
      </p:sp>
      <p:sp>
        <p:nvSpPr>
          <p:cNvPr id="15" name="Shape 13"/>
          <p:cNvSpPr/>
          <p:nvPr/>
        </p:nvSpPr>
        <p:spPr>
          <a:xfrm>
            <a:off x="4362602" y="2084832"/>
            <a:ext cx="3466490" cy="73152"/>
          </a:xfrm>
          <a:prstGeom prst="rect">
            <a:avLst/>
          </a:prstGeom>
          <a:solidFill>
            <a:srgbClr val="3DCD58"/>
          </a:solidFill>
          <a:ln w="12700">
            <a:solidFill>
              <a:srgbClr val="3DCD58"/>
            </a:solidFill>
            <a:prstDash val="solid"/>
          </a:ln>
        </p:spPr>
      </p:sp>
      <p:sp>
        <p:nvSpPr>
          <p:cNvPr id="16" name="Text 14"/>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STRATEGY</a:t>
            </a:r>
            <a:endParaRPr lang="en-US" sz="900" dirty="0"/>
          </a:p>
        </p:txBody>
      </p:sp>
      <p:sp>
        <p:nvSpPr>
          <p:cNvPr id="17" name="Text 15"/>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Close the plan to execution gap</a:t>
            </a:r>
            <a:endParaRPr lang="en-US" sz="1400" dirty="0"/>
          </a:p>
        </p:txBody>
      </p:sp>
      <p:sp>
        <p:nvSpPr>
          <p:cNvPr id="18" name="Text 16"/>
          <p:cNvSpPr/>
          <p:nvPr/>
        </p:nvSpPr>
        <p:spPr>
          <a:xfrm>
            <a:off x="4563770"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Planning foundation: targets, scenarios, initiatives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Actions execution: programs, projects, purchases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Recommendations: Sera guided next steps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Scale and governance: enterprise structures</a:t>
            </a:r>
            <a:endParaRPr lang="en-US" sz="1100" dirty="0"/>
          </a:p>
        </p:txBody>
      </p:sp>
      <p:sp>
        <p:nvSpPr>
          <p:cNvPr id="19" name="Shape 17"/>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9.078819681327992e+86" dist="3.0262732271093317e+86" dir="1.9743255576340073e+102">
              <a:srgbClr val="0A1F12">
                <a:alpha val="1.2e+104"/>
              </a:srgbClr>
            </a:outerShdw>
          </a:effectLst>
        </p:spPr>
      </p:sp>
      <p:sp>
        <p:nvSpPr>
          <p:cNvPr id="20" name="Shape 18"/>
          <p:cNvSpPr/>
          <p:nvPr/>
        </p:nvSpPr>
        <p:spPr>
          <a:xfrm>
            <a:off x="8103413" y="2084832"/>
            <a:ext cx="3466490" cy="73152"/>
          </a:xfrm>
          <a:prstGeom prst="rect">
            <a:avLst/>
          </a:prstGeom>
          <a:solidFill>
            <a:srgbClr val="007A27"/>
          </a:solidFill>
          <a:ln w="12700">
            <a:solidFill>
              <a:srgbClr val="007A27"/>
            </a:solidFill>
            <a:prstDash val="solid"/>
          </a:ln>
        </p:spPr>
      </p:sp>
      <p:sp>
        <p:nvSpPr>
          <p:cNvPr id="21" name="Text 19"/>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CORE PLATFORM</a:t>
            </a:r>
            <a:endParaRPr lang="en-US" sz="900" dirty="0"/>
          </a:p>
        </p:txBody>
      </p:sp>
      <p:sp>
        <p:nvSpPr>
          <p:cNvPr id="22" name="Text 20"/>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Built once, inherited by all</a:t>
            </a:r>
            <a:endParaRPr lang="en-US" sz="1400" dirty="0"/>
          </a:p>
        </p:txBody>
      </p:sp>
      <p:sp>
        <p:nvSpPr>
          <p:cNvPr id="23" name="Text 21"/>
          <p:cNvSpPr/>
          <p:nvPr/>
        </p:nvSpPr>
        <p:spPr>
          <a:xfrm>
            <a:off x="8304581" y="3044952"/>
            <a:ext cx="3100730"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Ingestion and quality: data in, trusted</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Ontology and calculation: one model, one engine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Application and analytics: one experience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Trust and reach: enterprise ready</a:t>
            </a:r>
            <a:endParaRPr lang="en-US" sz="1100" dirty="0"/>
          </a:p>
        </p:txBody>
      </p:sp>
      <p:sp>
        <p:nvSpPr>
          <p:cNvPr id="24" name="Shape 22"/>
          <p:cNvSpPr/>
          <p:nvPr/>
        </p:nvSpPr>
        <p:spPr>
          <a:xfrm>
            <a:off x="621792" y="6437376"/>
            <a:ext cx="10948111" cy="0"/>
          </a:xfrm>
          <a:prstGeom prst="line">
            <a:avLst/>
          </a:prstGeom>
          <a:noFill/>
          <a:ln w="9525">
            <a:solidFill>
              <a:srgbClr val="E2E6E2"/>
            </a:solidFill>
            <a:prstDash val="solid"/>
          </a:ln>
        </p:spPr>
      </p:sp>
      <p:sp>
        <p:nvSpPr>
          <p:cNvPr id="25" name="Text 23"/>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6" name="Text 24"/>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24 goals roll up into four moves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Read top to bottom, this is the RA+ thesis for 2026 and 2027.</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153010099528655e+91" dist="3.8433669984288512e+90" dir="1.1845953345804043e+107">
              <a:srgbClr val="0A1F12">
                <a:alpha val="1.2e+109"/>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MOVE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Make the data trusted</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governed backbone.</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Core ingestion, quality and ontology (Platform)</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Emission factors and calculation depth (Carbon)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Boundaries, rebaselining and governance (Carbon)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data quality assurance (Supply Chain)</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4643228264013918e+95" dist="4.8810760880046414e+94" dir="7.107572007482426e+111">
              <a:srgbClr val="0A1F12">
                <a:alpha val="1.1999999999999999e+114"/>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MOVE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Cover the full sustainability and energy agenda</a:t>
            </a:r>
            <a:endParaRPr lang="en-US" sz="14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No material sustainability or energy domain left disconnected.</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Scope 3 category coverage to a full inventory (Carbon)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Product carbon footprint and transport (Supply Chain)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campaigns that feed the baseline (Supply Chain)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Asset register and exposure across the estate (Climate Risk)</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8596899895297677e+99" dist="6.198966631765894e+98" dir="4.2645432044894554e+116">
              <a:srgbClr val="0A1F12">
                <a:alpha val="1.1999999999999998e+119"/>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MOVE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Decide and act</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From measurement to funded action.</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Scenarios, value at risk and adaptation (Climate Risk)</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Targets, initiatives and execution (Strategy)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recommendations and next steps (Strategy)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assisted inventory and planning (Carbon)</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2.361806286702805e+103" dist="7.872687622342685e+102" dir="2.5587259226936733e+121">
              <a:srgbClr val="0A1F12">
                <a:alpha val="1.1999999999999998e+124"/>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MOVE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Prove and disclose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Audit ready output, enterprise scale.</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Frameworks, indicators and disclosures (R&amp;C)</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Schneider Electric migration as proof (R&amp;C)</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trail and evidence lineage (Platform)</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Enterprise readiness and reach (Platform)</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2</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02</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The 2026 and 2027 roadmap on one board</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Now is Q3 2026, Next is Q4 2026, Later is 2027 and beyond.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29057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96138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EXECUTIVE SUMMARY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One platform, three years of converging value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Sustainability and Energy &amp; Efficiency on one board, both supported by the Platform. Indicative MVP and Full GA quarters.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1874520"/>
            <a:ext cx="10948111" cy="457200"/>
          </a:xfrm>
          <a:prstGeom prst="rect">
            <a:avLst/>
          </a:prstGeom>
          <a:solidFill>
            <a:srgbClr val="F1F3F2"/>
          </a:solidFill>
          <a:ln w="6350">
            <a:solidFill>
              <a:srgbClr val="E2E6E2"/>
            </a:solidFill>
            <a:prstDash val="solid"/>
          </a:ln>
        </p:spPr>
      </p:sp>
      <p:sp>
        <p:nvSpPr>
          <p:cNvPr id="10" name="Text 8"/>
          <p:cNvSpPr/>
          <p:nvPr/>
        </p:nvSpPr>
        <p:spPr>
          <a:xfrm>
            <a:off x="749808" y="2020824"/>
            <a:ext cx="2606040" cy="164592"/>
          </a:xfrm>
          <a:prstGeom prst="rect">
            <a:avLst/>
          </a:prstGeom>
          <a:noFill/>
          <a:ln/>
        </p:spPr>
        <p:txBody>
          <a:bodyPr wrap="square" lIns="0" tIns="0" rIns="0" bIns="0" rtlCol="0" anchor="ctr"/>
          <a:lstStyle/>
          <a:p>
            <a:pPr indent="0" marL="0">
              <a:buNone/>
            </a:pPr>
            <a:r>
              <a:rPr lang="en-US" sz="850" b="1" spc="100" kern="0" dirty="0">
                <a:solidFill>
                  <a:srgbClr val="5A625C"/>
                </a:solidFill>
                <a:latin typeface="Calibri" pitchFamily="34" charset="0"/>
                <a:ea typeface="Calibri" pitchFamily="34" charset="-122"/>
                <a:cs typeface="Calibri" pitchFamily="34" charset="-120"/>
              </a:rPr>
              <a:t>CAPABILITY</a:t>
            </a:r>
            <a:endParaRPr lang="en-US" sz="850" dirty="0"/>
          </a:p>
        </p:txBody>
      </p:sp>
      <p:sp>
        <p:nvSpPr>
          <p:cNvPr id="11" name="Text 9"/>
          <p:cNvSpPr/>
          <p:nvPr/>
        </p:nvSpPr>
        <p:spPr>
          <a:xfrm>
            <a:off x="3456432"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2026</a:t>
            </a:r>
            <a:endParaRPr lang="en-US" sz="1200" dirty="0"/>
          </a:p>
        </p:txBody>
      </p:sp>
      <p:sp>
        <p:nvSpPr>
          <p:cNvPr id="12" name="Text 10"/>
          <p:cNvSpPr/>
          <p:nvPr/>
        </p:nvSpPr>
        <p:spPr>
          <a:xfrm>
            <a:off x="3456432"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3" name="Text 11"/>
          <p:cNvSpPr/>
          <p:nvPr/>
        </p:nvSpPr>
        <p:spPr>
          <a:xfrm>
            <a:off x="413255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4" name="Text 12"/>
          <p:cNvSpPr/>
          <p:nvPr/>
        </p:nvSpPr>
        <p:spPr>
          <a:xfrm>
            <a:off x="4808677"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15" name="Text 13"/>
          <p:cNvSpPr/>
          <p:nvPr/>
        </p:nvSpPr>
        <p:spPr>
          <a:xfrm>
            <a:off x="5484800"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16" name="Text 14"/>
          <p:cNvSpPr/>
          <p:nvPr/>
        </p:nvSpPr>
        <p:spPr>
          <a:xfrm>
            <a:off x="6160922"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2027</a:t>
            </a:r>
            <a:endParaRPr lang="en-US" sz="1200" dirty="0"/>
          </a:p>
        </p:txBody>
      </p:sp>
      <p:sp>
        <p:nvSpPr>
          <p:cNvPr id="17" name="Text 15"/>
          <p:cNvSpPr/>
          <p:nvPr/>
        </p:nvSpPr>
        <p:spPr>
          <a:xfrm>
            <a:off x="6160922"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18" name="Text 16"/>
          <p:cNvSpPr/>
          <p:nvPr/>
        </p:nvSpPr>
        <p:spPr>
          <a:xfrm>
            <a:off x="683704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19" name="Text 17"/>
          <p:cNvSpPr/>
          <p:nvPr/>
        </p:nvSpPr>
        <p:spPr>
          <a:xfrm>
            <a:off x="7513168"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0" name="Text 18"/>
          <p:cNvSpPr/>
          <p:nvPr/>
        </p:nvSpPr>
        <p:spPr>
          <a:xfrm>
            <a:off x="8189290"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1" name="Text 19"/>
          <p:cNvSpPr/>
          <p:nvPr/>
        </p:nvSpPr>
        <p:spPr>
          <a:xfrm>
            <a:off x="8865413" y="1901952"/>
            <a:ext cx="2704490" cy="201168"/>
          </a:xfrm>
          <a:prstGeom prst="rect">
            <a:avLst/>
          </a:prstGeom>
          <a:noFill/>
          <a:ln/>
        </p:spPr>
        <p:txBody>
          <a:bodyPr wrap="square" lIns="0" tIns="0" rIns="0" bIns="0" rtlCol="0" anchor="ctr"/>
          <a:lstStyle/>
          <a:p>
            <a:pPr algn="ctr" indent="0" marL="0">
              <a:buNone/>
            </a:pPr>
            <a:r>
              <a:rPr lang="en-US" sz="1200" b="1" dirty="0">
                <a:solidFill>
                  <a:srgbClr val="1E2420"/>
                </a:solidFill>
                <a:latin typeface="Calibri" pitchFamily="34" charset="0"/>
                <a:ea typeface="Calibri" pitchFamily="34" charset="-122"/>
                <a:cs typeface="Calibri" pitchFamily="34" charset="-120"/>
              </a:rPr>
              <a:t>2028</a:t>
            </a:r>
            <a:endParaRPr lang="en-US" sz="1200" dirty="0"/>
          </a:p>
        </p:txBody>
      </p:sp>
      <p:sp>
        <p:nvSpPr>
          <p:cNvPr id="22" name="Text 20"/>
          <p:cNvSpPr/>
          <p:nvPr/>
        </p:nvSpPr>
        <p:spPr>
          <a:xfrm>
            <a:off x="8865413"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Q1</a:t>
            </a:r>
            <a:endParaRPr lang="en-US" sz="800" dirty="0"/>
          </a:p>
        </p:txBody>
      </p:sp>
      <p:sp>
        <p:nvSpPr>
          <p:cNvPr id="23" name="Text 21"/>
          <p:cNvSpPr/>
          <p:nvPr/>
        </p:nvSpPr>
        <p:spPr>
          <a:xfrm>
            <a:off x="9541535"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Q2</a:t>
            </a:r>
            <a:endParaRPr lang="en-US" sz="800" dirty="0"/>
          </a:p>
        </p:txBody>
      </p:sp>
      <p:sp>
        <p:nvSpPr>
          <p:cNvPr id="24" name="Text 22"/>
          <p:cNvSpPr/>
          <p:nvPr/>
        </p:nvSpPr>
        <p:spPr>
          <a:xfrm>
            <a:off x="10217658"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Q3</a:t>
            </a:r>
            <a:endParaRPr lang="en-US" sz="800" dirty="0"/>
          </a:p>
        </p:txBody>
      </p:sp>
      <p:sp>
        <p:nvSpPr>
          <p:cNvPr id="25" name="Text 23"/>
          <p:cNvSpPr/>
          <p:nvPr/>
        </p:nvSpPr>
        <p:spPr>
          <a:xfrm>
            <a:off x="10893781" y="2121408"/>
            <a:ext cx="676123" cy="137160"/>
          </a:xfrm>
          <a:prstGeom prst="rect">
            <a:avLst/>
          </a:prstGeom>
          <a:noFill/>
          <a:ln/>
        </p:spPr>
        <p:txBody>
          <a:bodyPr wrap="square" lIns="0" tIns="0" rIns="0" bIns="0" rtlCol="0" anchor="ctr"/>
          <a:lstStyle/>
          <a:p>
            <a:pPr algn="ctr" indent="0" marL="0">
              <a:buNone/>
            </a:pPr>
            <a:r>
              <a:rPr lang="en-US" sz="800" dirty="0">
                <a:solidFill>
                  <a:srgbClr val="5A625C"/>
                </a:solidFill>
                <a:latin typeface="Calibri" pitchFamily="34" charset="0"/>
                <a:ea typeface="Calibri" pitchFamily="34" charset="-122"/>
                <a:cs typeface="Calibri" pitchFamily="34" charset="-120"/>
              </a:rPr>
              <a:t>Q4</a:t>
            </a:r>
            <a:endParaRPr lang="en-US" sz="800" dirty="0"/>
          </a:p>
        </p:txBody>
      </p:sp>
      <p:sp>
        <p:nvSpPr>
          <p:cNvPr id="26" name="Shape 24"/>
          <p:cNvSpPr/>
          <p:nvPr/>
        </p:nvSpPr>
        <p:spPr>
          <a:xfrm>
            <a:off x="3456432" y="2103120"/>
            <a:ext cx="0" cy="3794760"/>
          </a:xfrm>
          <a:prstGeom prst="line">
            <a:avLst/>
          </a:prstGeom>
          <a:noFill/>
          <a:ln w="11430">
            <a:solidFill>
              <a:srgbClr val="C8CECA"/>
            </a:solidFill>
            <a:prstDash val="solid"/>
          </a:ln>
        </p:spPr>
      </p:sp>
      <p:sp>
        <p:nvSpPr>
          <p:cNvPr id="27" name="Shape 25"/>
          <p:cNvSpPr/>
          <p:nvPr/>
        </p:nvSpPr>
        <p:spPr>
          <a:xfrm>
            <a:off x="4132555" y="2103120"/>
            <a:ext cx="0" cy="3794760"/>
          </a:xfrm>
          <a:prstGeom prst="line">
            <a:avLst/>
          </a:prstGeom>
          <a:noFill/>
          <a:ln w="4445">
            <a:solidFill>
              <a:srgbClr val="E2E6E2"/>
            </a:solidFill>
            <a:prstDash val="solid"/>
          </a:ln>
        </p:spPr>
      </p:sp>
      <p:sp>
        <p:nvSpPr>
          <p:cNvPr id="28" name="Shape 26"/>
          <p:cNvSpPr/>
          <p:nvPr/>
        </p:nvSpPr>
        <p:spPr>
          <a:xfrm>
            <a:off x="4808677" y="2103120"/>
            <a:ext cx="0" cy="3794760"/>
          </a:xfrm>
          <a:prstGeom prst="line">
            <a:avLst/>
          </a:prstGeom>
          <a:noFill/>
          <a:ln w="4445">
            <a:solidFill>
              <a:srgbClr val="E2E6E2"/>
            </a:solidFill>
            <a:prstDash val="solid"/>
          </a:ln>
        </p:spPr>
      </p:sp>
      <p:sp>
        <p:nvSpPr>
          <p:cNvPr id="29" name="Shape 27"/>
          <p:cNvSpPr/>
          <p:nvPr/>
        </p:nvSpPr>
        <p:spPr>
          <a:xfrm>
            <a:off x="5484800" y="2103120"/>
            <a:ext cx="0" cy="3794760"/>
          </a:xfrm>
          <a:prstGeom prst="line">
            <a:avLst/>
          </a:prstGeom>
          <a:noFill/>
          <a:ln w="4445">
            <a:solidFill>
              <a:srgbClr val="E2E6E2"/>
            </a:solidFill>
            <a:prstDash val="solid"/>
          </a:ln>
        </p:spPr>
      </p:sp>
      <p:sp>
        <p:nvSpPr>
          <p:cNvPr id="30" name="Shape 28"/>
          <p:cNvSpPr/>
          <p:nvPr/>
        </p:nvSpPr>
        <p:spPr>
          <a:xfrm>
            <a:off x="6160922" y="2103120"/>
            <a:ext cx="0" cy="3794760"/>
          </a:xfrm>
          <a:prstGeom prst="line">
            <a:avLst/>
          </a:prstGeom>
          <a:noFill/>
          <a:ln w="11430">
            <a:solidFill>
              <a:srgbClr val="C8CECA"/>
            </a:solidFill>
            <a:prstDash val="solid"/>
          </a:ln>
        </p:spPr>
      </p:sp>
      <p:sp>
        <p:nvSpPr>
          <p:cNvPr id="31" name="Shape 29"/>
          <p:cNvSpPr/>
          <p:nvPr/>
        </p:nvSpPr>
        <p:spPr>
          <a:xfrm>
            <a:off x="6837045" y="2103120"/>
            <a:ext cx="0" cy="3794760"/>
          </a:xfrm>
          <a:prstGeom prst="line">
            <a:avLst/>
          </a:prstGeom>
          <a:noFill/>
          <a:ln w="4445">
            <a:solidFill>
              <a:srgbClr val="E2E6E2"/>
            </a:solidFill>
            <a:prstDash val="solid"/>
          </a:ln>
        </p:spPr>
      </p:sp>
      <p:sp>
        <p:nvSpPr>
          <p:cNvPr id="32" name="Shape 30"/>
          <p:cNvSpPr/>
          <p:nvPr/>
        </p:nvSpPr>
        <p:spPr>
          <a:xfrm>
            <a:off x="7513168" y="2103120"/>
            <a:ext cx="0" cy="3794760"/>
          </a:xfrm>
          <a:prstGeom prst="line">
            <a:avLst/>
          </a:prstGeom>
          <a:noFill/>
          <a:ln w="4445">
            <a:solidFill>
              <a:srgbClr val="E2E6E2"/>
            </a:solidFill>
            <a:prstDash val="solid"/>
          </a:ln>
        </p:spPr>
      </p:sp>
      <p:sp>
        <p:nvSpPr>
          <p:cNvPr id="33" name="Shape 31"/>
          <p:cNvSpPr/>
          <p:nvPr/>
        </p:nvSpPr>
        <p:spPr>
          <a:xfrm>
            <a:off x="8189290" y="2103120"/>
            <a:ext cx="0" cy="3794760"/>
          </a:xfrm>
          <a:prstGeom prst="line">
            <a:avLst/>
          </a:prstGeom>
          <a:noFill/>
          <a:ln w="4445">
            <a:solidFill>
              <a:srgbClr val="E2E6E2"/>
            </a:solidFill>
            <a:prstDash val="solid"/>
          </a:ln>
        </p:spPr>
      </p:sp>
      <p:sp>
        <p:nvSpPr>
          <p:cNvPr id="34" name="Shape 32"/>
          <p:cNvSpPr/>
          <p:nvPr/>
        </p:nvSpPr>
        <p:spPr>
          <a:xfrm>
            <a:off x="8865413" y="2103120"/>
            <a:ext cx="0" cy="3794760"/>
          </a:xfrm>
          <a:prstGeom prst="line">
            <a:avLst/>
          </a:prstGeom>
          <a:noFill/>
          <a:ln w="11430">
            <a:solidFill>
              <a:srgbClr val="C8CECA"/>
            </a:solidFill>
            <a:prstDash val="solid"/>
          </a:ln>
        </p:spPr>
      </p:sp>
      <p:sp>
        <p:nvSpPr>
          <p:cNvPr id="35" name="Shape 33"/>
          <p:cNvSpPr/>
          <p:nvPr/>
        </p:nvSpPr>
        <p:spPr>
          <a:xfrm>
            <a:off x="9541535" y="2103120"/>
            <a:ext cx="0" cy="3794760"/>
          </a:xfrm>
          <a:prstGeom prst="line">
            <a:avLst/>
          </a:prstGeom>
          <a:noFill/>
          <a:ln w="4445">
            <a:solidFill>
              <a:srgbClr val="E2E6E2"/>
            </a:solidFill>
            <a:prstDash val="solid"/>
          </a:ln>
        </p:spPr>
      </p:sp>
      <p:sp>
        <p:nvSpPr>
          <p:cNvPr id="36" name="Shape 34"/>
          <p:cNvSpPr/>
          <p:nvPr/>
        </p:nvSpPr>
        <p:spPr>
          <a:xfrm>
            <a:off x="10217658" y="2103120"/>
            <a:ext cx="0" cy="3794760"/>
          </a:xfrm>
          <a:prstGeom prst="line">
            <a:avLst/>
          </a:prstGeom>
          <a:noFill/>
          <a:ln w="4445">
            <a:solidFill>
              <a:srgbClr val="E2E6E2"/>
            </a:solidFill>
            <a:prstDash val="solid"/>
          </a:ln>
        </p:spPr>
      </p:sp>
      <p:sp>
        <p:nvSpPr>
          <p:cNvPr id="37" name="Shape 35"/>
          <p:cNvSpPr/>
          <p:nvPr/>
        </p:nvSpPr>
        <p:spPr>
          <a:xfrm>
            <a:off x="10893781" y="2103120"/>
            <a:ext cx="0" cy="3794760"/>
          </a:xfrm>
          <a:prstGeom prst="line">
            <a:avLst/>
          </a:prstGeom>
          <a:noFill/>
          <a:ln w="4445">
            <a:solidFill>
              <a:srgbClr val="E2E6E2"/>
            </a:solidFill>
            <a:prstDash val="solid"/>
          </a:ln>
        </p:spPr>
      </p:sp>
      <p:sp>
        <p:nvSpPr>
          <p:cNvPr id="38" name="Shape 36"/>
          <p:cNvSpPr/>
          <p:nvPr/>
        </p:nvSpPr>
        <p:spPr>
          <a:xfrm>
            <a:off x="11569903" y="2103120"/>
            <a:ext cx="0" cy="3794760"/>
          </a:xfrm>
          <a:prstGeom prst="line">
            <a:avLst/>
          </a:prstGeom>
          <a:noFill/>
          <a:ln w="11430">
            <a:solidFill>
              <a:srgbClr val="C8CECA"/>
            </a:solidFill>
            <a:prstDash val="solid"/>
          </a:ln>
        </p:spPr>
      </p:sp>
      <p:sp>
        <p:nvSpPr>
          <p:cNvPr id="39" name="Shape 37"/>
          <p:cNvSpPr/>
          <p:nvPr/>
        </p:nvSpPr>
        <p:spPr>
          <a:xfrm>
            <a:off x="621792" y="2331720"/>
            <a:ext cx="411480" cy="1097280"/>
          </a:xfrm>
          <a:prstGeom prst="rect">
            <a:avLst/>
          </a:prstGeom>
          <a:solidFill>
            <a:srgbClr val="3DCD58"/>
          </a:solidFill>
          <a:ln w="7620">
            <a:solidFill>
              <a:srgbClr val="FFFFFF"/>
            </a:solidFill>
            <a:prstDash val="solid"/>
          </a:ln>
        </p:spPr>
      </p:sp>
      <p:sp>
        <p:nvSpPr>
          <p:cNvPr id="40" name="Text 38"/>
          <p:cNvSpPr/>
          <p:nvPr/>
        </p:nvSpPr>
        <p:spPr>
          <a:xfrm>
            <a:off x="649224" y="2350008"/>
            <a:ext cx="356616" cy="1060704"/>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SUSTAINABILITY</a:t>
            </a:r>
            <a:endParaRPr lang="en-US" sz="750" dirty="0"/>
          </a:p>
        </p:txBody>
      </p:sp>
      <p:sp>
        <p:nvSpPr>
          <p:cNvPr id="41" name="Shape 39"/>
          <p:cNvSpPr/>
          <p:nvPr/>
        </p:nvSpPr>
        <p:spPr>
          <a:xfrm>
            <a:off x="1033272" y="2606040"/>
            <a:ext cx="10536631" cy="0"/>
          </a:xfrm>
          <a:prstGeom prst="line">
            <a:avLst/>
          </a:prstGeom>
          <a:noFill/>
          <a:ln w="4445">
            <a:solidFill>
              <a:srgbClr val="E2E6E2"/>
            </a:solidFill>
            <a:prstDash val="solid"/>
          </a:ln>
        </p:spPr>
      </p:sp>
      <p:sp>
        <p:nvSpPr>
          <p:cNvPr id="42" name="Shape 40"/>
          <p:cNvSpPr/>
          <p:nvPr/>
        </p:nvSpPr>
        <p:spPr>
          <a:xfrm>
            <a:off x="1143000" y="2359152"/>
            <a:ext cx="45720" cy="219456"/>
          </a:xfrm>
          <a:prstGeom prst="roundRect">
            <a:avLst>
              <a:gd name="adj" fmla="val 60000"/>
            </a:avLst>
          </a:prstGeom>
          <a:solidFill>
            <a:srgbClr val="3DCD58"/>
          </a:solidFill>
          <a:ln w="12700">
            <a:solidFill>
              <a:srgbClr val="3DCD58"/>
            </a:solidFill>
            <a:prstDash val="solid"/>
          </a:ln>
        </p:spPr>
      </p:sp>
      <p:sp>
        <p:nvSpPr>
          <p:cNvPr id="43" name="Text 41"/>
          <p:cNvSpPr/>
          <p:nvPr/>
        </p:nvSpPr>
        <p:spPr>
          <a:xfrm>
            <a:off x="1243584" y="23225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Carbon Performance</a:t>
            </a:r>
            <a:endParaRPr lang="en-US" sz="950" dirty="0"/>
          </a:p>
        </p:txBody>
      </p:sp>
      <p:sp>
        <p:nvSpPr>
          <p:cNvPr id="44" name="Shape 42"/>
          <p:cNvSpPr/>
          <p:nvPr/>
        </p:nvSpPr>
        <p:spPr>
          <a:xfrm>
            <a:off x="3456432" y="2422246"/>
            <a:ext cx="2298817" cy="93269"/>
          </a:xfrm>
          <a:prstGeom prst="roundRect">
            <a:avLst>
              <a:gd name="adj" fmla="val 39216"/>
            </a:avLst>
          </a:prstGeom>
          <a:solidFill>
            <a:srgbClr val="3DCD58"/>
          </a:solidFill>
          <a:ln w="5080">
            <a:solidFill>
              <a:srgbClr val="3DCD58"/>
            </a:solidFill>
            <a:prstDash val="solid"/>
          </a:ln>
        </p:spPr>
      </p:sp>
      <p:sp>
        <p:nvSpPr>
          <p:cNvPr id="45" name="Shape 43"/>
          <p:cNvSpPr/>
          <p:nvPr/>
        </p:nvSpPr>
        <p:spPr>
          <a:xfrm>
            <a:off x="5755249" y="2422246"/>
            <a:ext cx="5814654" cy="93269"/>
          </a:xfrm>
          <a:prstGeom prst="roundRect">
            <a:avLst>
              <a:gd name="adj" fmla="val 24510"/>
            </a:avLst>
          </a:prstGeom>
          <a:solidFill>
            <a:srgbClr val="3DCD58">
              <a:alpha val="6000"/>
            </a:srgbClr>
          </a:solidFill>
          <a:ln w="6350">
            <a:solidFill>
              <a:srgbClr val="3DCD58">
                <a:alpha val="60000"/>
              </a:srgbClr>
            </a:solidFill>
            <a:prstDash val="solid"/>
          </a:ln>
        </p:spPr>
      </p:sp>
      <p:sp>
        <p:nvSpPr>
          <p:cNvPr id="46" name="Shape 44"/>
          <p:cNvSpPr/>
          <p:nvPr/>
        </p:nvSpPr>
        <p:spPr>
          <a:xfrm>
            <a:off x="5828401" y="2506370"/>
            <a:ext cx="63423" cy="-63423"/>
          </a:xfrm>
          <a:prstGeom prst="line">
            <a:avLst/>
          </a:prstGeom>
          <a:noFill/>
          <a:ln w="9525">
            <a:solidFill>
              <a:srgbClr val="3DCD58">
                <a:alpha val="84000"/>
              </a:srgbClr>
            </a:solidFill>
            <a:prstDash val="solid"/>
          </a:ln>
        </p:spPr>
      </p:sp>
      <p:sp>
        <p:nvSpPr>
          <p:cNvPr id="47" name="Shape 45"/>
          <p:cNvSpPr/>
          <p:nvPr/>
        </p:nvSpPr>
        <p:spPr>
          <a:xfrm>
            <a:off x="6102721" y="2506370"/>
            <a:ext cx="63423" cy="-63423"/>
          </a:xfrm>
          <a:prstGeom prst="line">
            <a:avLst/>
          </a:prstGeom>
          <a:noFill/>
          <a:ln w="9525">
            <a:solidFill>
              <a:srgbClr val="3DCD58">
                <a:alpha val="84000"/>
              </a:srgbClr>
            </a:solidFill>
            <a:prstDash val="solid"/>
          </a:ln>
        </p:spPr>
      </p:sp>
      <p:sp>
        <p:nvSpPr>
          <p:cNvPr id="48" name="Shape 46"/>
          <p:cNvSpPr/>
          <p:nvPr/>
        </p:nvSpPr>
        <p:spPr>
          <a:xfrm>
            <a:off x="6377041" y="2506370"/>
            <a:ext cx="63423" cy="-63423"/>
          </a:xfrm>
          <a:prstGeom prst="line">
            <a:avLst/>
          </a:prstGeom>
          <a:noFill/>
          <a:ln w="9525">
            <a:solidFill>
              <a:srgbClr val="3DCD58">
                <a:alpha val="84000"/>
              </a:srgbClr>
            </a:solidFill>
            <a:prstDash val="solid"/>
          </a:ln>
        </p:spPr>
      </p:sp>
      <p:sp>
        <p:nvSpPr>
          <p:cNvPr id="49" name="Shape 47"/>
          <p:cNvSpPr/>
          <p:nvPr/>
        </p:nvSpPr>
        <p:spPr>
          <a:xfrm>
            <a:off x="6651361" y="2506370"/>
            <a:ext cx="63423" cy="-63423"/>
          </a:xfrm>
          <a:prstGeom prst="line">
            <a:avLst/>
          </a:prstGeom>
          <a:noFill/>
          <a:ln w="9525">
            <a:solidFill>
              <a:srgbClr val="3DCD58">
                <a:alpha val="84000"/>
              </a:srgbClr>
            </a:solidFill>
            <a:prstDash val="solid"/>
          </a:ln>
        </p:spPr>
      </p:sp>
      <p:sp>
        <p:nvSpPr>
          <p:cNvPr id="50" name="Shape 48"/>
          <p:cNvSpPr/>
          <p:nvPr/>
        </p:nvSpPr>
        <p:spPr>
          <a:xfrm>
            <a:off x="6925681" y="2506370"/>
            <a:ext cx="63423" cy="-63423"/>
          </a:xfrm>
          <a:prstGeom prst="line">
            <a:avLst/>
          </a:prstGeom>
          <a:noFill/>
          <a:ln w="9525">
            <a:solidFill>
              <a:srgbClr val="3DCD58">
                <a:alpha val="84000"/>
              </a:srgbClr>
            </a:solidFill>
            <a:prstDash val="solid"/>
          </a:ln>
        </p:spPr>
      </p:sp>
      <p:sp>
        <p:nvSpPr>
          <p:cNvPr id="51" name="Shape 49"/>
          <p:cNvSpPr/>
          <p:nvPr/>
        </p:nvSpPr>
        <p:spPr>
          <a:xfrm>
            <a:off x="7200001" y="2506370"/>
            <a:ext cx="63423" cy="-63423"/>
          </a:xfrm>
          <a:prstGeom prst="line">
            <a:avLst/>
          </a:prstGeom>
          <a:noFill/>
          <a:ln w="9525">
            <a:solidFill>
              <a:srgbClr val="3DCD58">
                <a:alpha val="84000"/>
              </a:srgbClr>
            </a:solidFill>
            <a:prstDash val="solid"/>
          </a:ln>
        </p:spPr>
      </p:sp>
      <p:sp>
        <p:nvSpPr>
          <p:cNvPr id="52" name="Shape 50"/>
          <p:cNvSpPr/>
          <p:nvPr/>
        </p:nvSpPr>
        <p:spPr>
          <a:xfrm>
            <a:off x="7474321" y="2506370"/>
            <a:ext cx="63423" cy="-63423"/>
          </a:xfrm>
          <a:prstGeom prst="line">
            <a:avLst/>
          </a:prstGeom>
          <a:noFill/>
          <a:ln w="9525">
            <a:solidFill>
              <a:srgbClr val="3DCD58">
                <a:alpha val="84000"/>
              </a:srgbClr>
            </a:solidFill>
            <a:prstDash val="solid"/>
          </a:ln>
        </p:spPr>
      </p:sp>
      <p:sp>
        <p:nvSpPr>
          <p:cNvPr id="53" name="Shape 51"/>
          <p:cNvSpPr/>
          <p:nvPr/>
        </p:nvSpPr>
        <p:spPr>
          <a:xfrm>
            <a:off x="7748641" y="2506370"/>
            <a:ext cx="63423" cy="-63423"/>
          </a:xfrm>
          <a:prstGeom prst="line">
            <a:avLst/>
          </a:prstGeom>
          <a:noFill/>
          <a:ln w="9525">
            <a:solidFill>
              <a:srgbClr val="3DCD58">
                <a:alpha val="84000"/>
              </a:srgbClr>
            </a:solidFill>
            <a:prstDash val="solid"/>
          </a:ln>
        </p:spPr>
      </p:sp>
      <p:sp>
        <p:nvSpPr>
          <p:cNvPr id="54" name="Shape 52"/>
          <p:cNvSpPr/>
          <p:nvPr/>
        </p:nvSpPr>
        <p:spPr>
          <a:xfrm>
            <a:off x="8022961" y="2506370"/>
            <a:ext cx="63423" cy="-63423"/>
          </a:xfrm>
          <a:prstGeom prst="line">
            <a:avLst/>
          </a:prstGeom>
          <a:noFill/>
          <a:ln w="9525">
            <a:solidFill>
              <a:srgbClr val="3DCD58">
                <a:alpha val="84000"/>
              </a:srgbClr>
            </a:solidFill>
            <a:prstDash val="solid"/>
          </a:ln>
        </p:spPr>
      </p:sp>
      <p:sp>
        <p:nvSpPr>
          <p:cNvPr id="55" name="Shape 53"/>
          <p:cNvSpPr/>
          <p:nvPr/>
        </p:nvSpPr>
        <p:spPr>
          <a:xfrm>
            <a:off x="8297281" y="2506370"/>
            <a:ext cx="63423" cy="-63423"/>
          </a:xfrm>
          <a:prstGeom prst="line">
            <a:avLst/>
          </a:prstGeom>
          <a:noFill/>
          <a:ln w="9525">
            <a:solidFill>
              <a:srgbClr val="3DCD58">
                <a:alpha val="84000"/>
              </a:srgbClr>
            </a:solidFill>
            <a:prstDash val="solid"/>
          </a:ln>
        </p:spPr>
      </p:sp>
      <p:sp>
        <p:nvSpPr>
          <p:cNvPr id="56" name="Shape 54"/>
          <p:cNvSpPr/>
          <p:nvPr/>
        </p:nvSpPr>
        <p:spPr>
          <a:xfrm>
            <a:off x="8571601" y="2506370"/>
            <a:ext cx="63423" cy="-63423"/>
          </a:xfrm>
          <a:prstGeom prst="line">
            <a:avLst/>
          </a:prstGeom>
          <a:noFill/>
          <a:ln w="9525">
            <a:solidFill>
              <a:srgbClr val="3DCD58">
                <a:alpha val="84000"/>
              </a:srgbClr>
            </a:solidFill>
            <a:prstDash val="solid"/>
          </a:ln>
        </p:spPr>
      </p:sp>
      <p:sp>
        <p:nvSpPr>
          <p:cNvPr id="57" name="Shape 55"/>
          <p:cNvSpPr/>
          <p:nvPr/>
        </p:nvSpPr>
        <p:spPr>
          <a:xfrm>
            <a:off x="8845921" y="2506370"/>
            <a:ext cx="63423" cy="-63423"/>
          </a:xfrm>
          <a:prstGeom prst="line">
            <a:avLst/>
          </a:prstGeom>
          <a:noFill/>
          <a:ln w="9525">
            <a:solidFill>
              <a:srgbClr val="3DCD58">
                <a:alpha val="84000"/>
              </a:srgbClr>
            </a:solidFill>
            <a:prstDash val="solid"/>
          </a:ln>
        </p:spPr>
      </p:sp>
      <p:sp>
        <p:nvSpPr>
          <p:cNvPr id="58" name="Shape 56"/>
          <p:cNvSpPr/>
          <p:nvPr/>
        </p:nvSpPr>
        <p:spPr>
          <a:xfrm>
            <a:off x="9120241" y="2506370"/>
            <a:ext cx="63423" cy="-63423"/>
          </a:xfrm>
          <a:prstGeom prst="line">
            <a:avLst/>
          </a:prstGeom>
          <a:noFill/>
          <a:ln w="9525">
            <a:solidFill>
              <a:srgbClr val="3DCD58">
                <a:alpha val="84000"/>
              </a:srgbClr>
            </a:solidFill>
            <a:prstDash val="solid"/>
          </a:ln>
        </p:spPr>
      </p:sp>
      <p:sp>
        <p:nvSpPr>
          <p:cNvPr id="59" name="Shape 57"/>
          <p:cNvSpPr/>
          <p:nvPr/>
        </p:nvSpPr>
        <p:spPr>
          <a:xfrm>
            <a:off x="9394561" y="2506370"/>
            <a:ext cx="63423" cy="-63423"/>
          </a:xfrm>
          <a:prstGeom prst="line">
            <a:avLst/>
          </a:prstGeom>
          <a:noFill/>
          <a:ln w="9525">
            <a:solidFill>
              <a:srgbClr val="3DCD58">
                <a:alpha val="84000"/>
              </a:srgbClr>
            </a:solidFill>
            <a:prstDash val="solid"/>
          </a:ln>
        </p:spPr>
      </p:sp>
      <p:sp>
        <p:nvSpPr>
          <p:cNvPr id="60" name="Shape 58"/>
          <p:cNvSpPr/>
          <p:nvPr/>
        </p:nvSpPr>
        <p:spPr>
          <a:xfrm>
            <a:off x="9668881" y="2506370"/>
            <a:ext cx="63423" cy="-63423"/>
          </a:xfrm>
          <a:prstGeom prst="line">
            <a:avLst/>
          </a:prstGeom>
          <a:noFill/>
          <a:ln w="9525">
            <a:solidFill>
              <a:srgbClr val="3DCD58">
                <a:alpha val="84000"/>
              </a:srgbClr>
            </a:solidFill>
            <a:prstDash val="solid"/>
          </a:ln>
        </p:spPr>
      </p:sp>
      <p:sp>
        <p:nvSpPr>
          <p:cNvPr id="61" name="Shape 59"/>
          <p:cNvSpPr/>
          <p:nvPr/>
        </p:nvSpPr>
        <p:spPr>
          <a:xfrm>
            <a:off x="9943201" y="2506370"/>
            <a:ext cx="63423" cy="-63423"/>
          </a:xfrm>
          <a:prstGeom prst="line">
            <a:avLst/>
          </a:prstGeom>
          <a:noFill/>
          <a:ln w="9525">
            <a:solidFill>
              <a:srgbClr val="3DCD58">
                <a:alpha val="84000"/>
              </a:srgbClr>
            </a:solidFill>
            <a:prstDash val="solid"/>
          </a:ln>
        </p:spPr>
      </p:sp>
      <p:sp>
        <p:nvSpPr>
          <p:cNvPr id="62" name="Shape 60"/>
          <p:cNvSpPr/>
          <p:nvPr/>
        </p:nvSpPr>
        <p:spPr>
          <a:xfrm>
            <a:off x="10217521" y="2506370"/>
            <a:ext cx="63423" cy="-63423"/>
          </a:xfrm>
          <a:prstGeom prst="line">
            <a:avLst/>
          </a:prstGeom>
          <a:noFill/>
          <a:ln w="9525">
            <a:solidFill>
              <a:srgbClr val="3DCD58">
                <a:alpha val="84000"/>
              </a:srgbClr>
            </a:solidFill>
            <a:prstDash val="solid"/>
          </a:ln>
        </p:spPr>
      </p:sp>
      <p:sp>
        <p:nvSpPr>
          <p:cNvPr id="63" name="Shape 61"/>
          <p:cNvSpPr/>
          <p:nvPr/>
        </p:nvSpPr>
        <p:spPr>
          <a:xfrm>
            <a:off x="10491841" y="2506370"/>
            <a:ext cx="63423" cy="-63423"/>
          </a:xfrm>
          <a:prstGeom prst="line">
            <a:avLst/>
          </a:prstGeom>
          <a:noFill/>
          <a:ln w="9525">
            <a:solidFill>
              <a:srgbClr val="3DCD58">
                <a:alpha val="84000"/>
              </a:srgbClr>
            </a:solidFill>
            <a:prstDash val="solid"/>
          </a:ln>
        </p:spPr>
      </p:sp>
      <p:sp>
        <p:nvSpPr>
          <p:cNvPr id="64" name="Shape 62"/>
          <p:cNvSpPr/>
          <p:nvPr/>
        </p:nvSpPr>
        <p:spPr>
          <a:xfrm>
            <a:off x="10766161" y="2506370"/>
            <a:ext cx="63423" cy="-63423"/>
          </a:xfrm>
          <a:prstGeom prst="line">
            <a:avLst/>
          </a:prstGeom>
          <a:noFill/>
          <a:ln w="9525">
            <a:solidFill>
              <a:srgbClr val="3DCD58">
                <a:alpha val="84000"/>
              </a:srgbClr>
            </a:solidFill>
            <a:prstDash val="solid"/>
          </a:ln>
        </p:spPr>
      </p:sp>
      <p:sp>
        <p:nvSpPr>
          <p:cNvPr id="65" name="Shape 63"/>
          <p:cNvSpPr/>
          <p:nvPr/>
        </p:nvSpPr>
        <p:spPr>
          <a:xfrm>
            <a:off x="11040481" y="2506370"/>
            <a:ext cx="63423" cy="-63423"/>
          </a:xfrm>
          <a:prstGeom prst="line">
            <a:avLst/>
          </a:prstGeom>
          <a:noFill/>
          <a:ln w="9525">
            <a:solidFill>
              <a:srgbClr val="3DCD58">
                <a:alpha val="84000"/>
              </a:srgbClr>
            </a:solidFill>
            <a:prstDash val="solid"/>
          </a:ln>
        </p:spPr>
      </p:sp>
      <p:sp>
        <p:nvSpPr>
          <p:cNvPr id="66" name="Shape 64"/>
          <p:cNvSpPr/>
          <p:nvPr/>
        </p:nvSpPr>
        <p:spPr>
          <a:xfrm>
            <a:off x="11314801" y="2506370"/>
            <a:ext cx="63423" cy="-63423"/>
          </a:xfrm>
          <a:prstGeom prst="line">
            <a:avLst/>
          </a:prstGeom>
          <a:noFill/>
          <a:ln w="9525">
            <a:solidFill>
              <a:srgbClr val="3DCD58">
                <a:alpha val="84000"/>
              </a:srgbClr>
            </a:solidFill>
            <a:prstDash val="solid"/>
          </a:ln>
        </p:spPr>
      </p:sp>
      <p:sp>
        <p:nvSpPr>
          <p:cNvPr id="67" name="Shape 65"/>
          <p:cNvSpPr/>
          <p:nvPr/>
        </p:nvSpPr>
        <p:spPr>
          <a:xfrm>
            <a:off x="4338996" y="2404872"/>
            <a:ext cx="128016" cy="128016"/>
          </a:xfrm>
          <a:prstGeom prst="ellipse">
            <a:avLst/>
          </a:prstGeom>
          <a:solidFill>
            <a:srgbClr val="FFB04C"/>
          </a:solidFill>
          <a:ln w="12700">
            <a:solidFill>
              <a:srgbClr val="FFFFFF"/>
            </a:solidFill>
            <a:prstDash val="solid"/>
          </a:ln>
        </p:spPr>
      </p:sp>
      <p:sp>
        <p:nvSpPr>
          <p:cNvPr id="68" name="Shape 66"/>
          <p:cNvSpPr/>
          <p:nvPr/>
        </p:nvSpPr>
        <p:spPr>
          <a:xfrm>
            <a:off x="5691241" y="2404872"/>
            <a:ext cx="128016" cy="128016"/>
          </a:xfrm>
          <a:prstGeom prst="ellipse">
            <a:avLst/>
          </a:prstGeom>
          <a:solidFill>
            <a:srgbClr val="007A27"/>
          </a:solidFill>
          <a:ln w="12700">
            <a:solidFill>
              <a:srgbClr val="FFFFFF"/>
            </a:solidFill>
            <a:prstDash val="solid"/>
          </a:ln>
        </p:spPr>
      </p:sp>
      <p:sp>
        <p:nvSpPr>
          <p:cNvPr id="69" name="Shape 67"/>
          <p:cNvSpPr/>
          <p:nvPr/>
        </p:nvSpPr>
        <p:spPr>
          <a:xfrm>
            <a:off x="1033272" y="2606040"/>
            <a:ext cx="2423160" cy="274320"/>
          </a:xfrm>
          <a:prstGeom prst="rect">
            <a:avLst/>
          </a:prstGeom>
          <a:solidFill>
            <a:srgbClr val="F1F3F2">
              <a:alpha val="55000"/>
            </a:srgbClr>
          </a:solidFill>
          <a:ln w="12700">
            <a:solidFill>
              <a:srgbClr val="F1F3F2">
                <a:alpha val="0"/>
              </a:srgbClr>
            </a:solidFill>
            <a:prstDash val="solid"/>
          </a:ln>
        </p:spPr>
      </p:sp>
      <p:sp>
        <p:nvSpPr>
          <p:cNvPr id="70" name="Shape 68"/>
          <p:cNvSpPr/>
          <p:nvPr/>
        </p:nvSpPr>
        <p:spPr>
          <a:xfrm>
            <a:off x="1033272" y="2880360"/>
            <a:ext cx="10536631" cy="0"/>
          </a:xfrm>
          <a:prstGeom prst="line">
            <a:avLst/>
          </a:prstGeom>
          <a:noFill/>
          <a:ln w="4445">
            <a:solidFill>
              <a:srgbClr val="E2E6E2"/>
            </a:solidFill>
            <a:prstDash val="solid"/>
          </a:ln>
        </p:spPr>
      </p:sp>
      <p:sp>
        <p:nvSpPr>
          <p:cNvPr id="71" name="Shape 69"/>
          <p:cNvSpPr/>
          <p:nvPr/>
        </p:nvSpPr>
        <p:spPr>
          <a:xfrm>
            <a:off x="1143000" y="2633472"/>
            <a:ext cx="45720" cy="219456"/>
          </a:xfrm>
          <a:prstGeom prst="roundRect">
            <a:avLst>
              <a:gd name="adj" fmla="val 60000"/>
            </a:avLst>
          </a:prstGeom>
          <a:solidFill>
            <a:srgbClr val="3DCD58"/>
          </a:solidFill>
          <a:ln w="12700">
            <a:solidFill>
              <a:srgbClr val="3DCD58"/>
            </a:solidFill>
            <a:prstDash val="solid"/>
          </a:ln>
        </p:spPr>
      </p:sp>
      <p:sp>
        <p:nvSpPr>
          <p:cNvPr id="72" name="Text 70"/>
          <p:cNvSpPr/>
          <p:nvPr/>
        </p:nvSpPr>
        <p:spPr>
          <a:xfrm>
            <a:off x="1243584" y="25968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Supply Chain</a:t>
            </a:r>
            <a:endParaRPr lang="en-US" sz="950" dirty="0"/>
          </a:p>
        </p:txBody>
      </p:sp>
      <p:sp>
        <p:nvSpPr>
          <p:cNvPr id="73" name="Shape 71"/>
          <p:cNvSpPr/>
          <p:nvPr/>
        </p:nvSpPr>
        <p:spPr>
          <a:xfrm>
            <a:off x="3456432" y="2696566"/>
            <a:ext cx="338061" cy="93269"/>
          </a:xfrm>
          <a:prstGeom prst="roundRect">
            <a:avLst>
              <a:gd name="adj" fmla="val 39216"/>
            </a:avLst>
          </a:prstGeom>
          <a:solidFill>
            <a:srgbClr val="3DCD58"/>
          </a:solidFill>
          <a:ln w="5080">
            <a:solidFill>
              <a:srgbClr val="3DCD58"/>
            </a:solidFill>
            <a:prstDash val="solid"/>
          </a:ln>
        </p:spPr>
      </p:sp>
      <p:sp>
        <p:nvSpPr>
          <p:cNvPr id="74" name="Shape 72"/>
          <p:cNvSpPr/>
          <p:nvPr/>
        </p:nvSpPr>
        <p:spPr>
          <a:xfrm>
            <a:off x="3794493" y="2696566"/>
            <a:ext cx="7775410" cy="93269"/>
          </a:xfrm>
          <a:prstGeom prst="roundRect">
            <a:avLst>
              <a:gd name="adj" fmla="val 24510"/>
            </a:avLst>
          </a:prstGeom>
          <a:solidFill>
            <a:srgbClr val="3DCD58">
              <a:alpha val="6000"/>
            </a:srgbClr>
          </a:solidFill>
          <a:ln w="6350">
            <a:solidFill>
              <a:srgbClr val="3DCD58">
                <a:alpha val="60000"/>
              </a:srgbClr>
            </a:solidFill>
            <a:prstDash val="solid"/>
          </a:ln>
        </p:spPr>
      </p:sp>
      <p:sp>
        <p:nvSpPr>
          <p:cNvPr id="75" name="Shape 73"/>
          <p:cNvSpPr/>
          <p:nvPr/>
        </p:nvSpPr>
        <p:spPr>
          <a:xfrm>
            <a:off x="3867645" y="2780690"/>
            <a:ext cx="63423" cy="-63423"/>
          </a:xfrm>
          <a:prstGeom prst="line">
            <a:avLst/>
          </a:prstGeom>
          <a:noFill/>
          <a:ln w="9525">
            <a:solidFill>
              <a:srgbClr val="3DCD58">
                <a:alpha val="84000"/>
              </a:srgbClr>
            </a:solidFill>
            <a:prstDash val="solid"/>
          </a:ln>
        </p:spPr>
      </p:sp>
      <p:sp>
        <p:nvSpPr>
          <p:cNvPr id="76" name="Shape 74"/>
          <p:cNvSpPr/>
          <p:nvPr/>
        </p:nvSpPr>
        <p:spPr>
          <a:xfrm>
            <a:off x="4141965" y="2780690"/>
            <a:ext cx="63423" cy="-63423"/>
          </a:xfrm>
          <a:prstGeom prst="line">
            <a:avLst/>
          </a:prstGeom>
          <a:noFill/>
          <a:ln w="9525">
            <a:solidFill>
              <a:srgbClr val="3DCD58">
                <a:alpha val="84000"/>
              </a:srgbClr>
            </a:solidFill>
            <a:prstDash val="solid"/>
          </a:ln>
        </p:spPr>
      </p:sp>
      <p:sp>
        <p:nvSpPr>
          <p:cNvPr id="77" name="Shape 75"/>
          <p:cNvSpPr/>
          <p:nvPr/>
        </p:nvSpPr>
        <p:spPr>
          <a:xfrm>
            <a:off x="4416285" y="2780690"/>
            <a:ext cx="63423" cy="-63423"/>
          </a:xfrm>
          <a:prstGeom prst="line">
            <a:avLst/>
          </a:prstGeom>
          <a:noFill/>
          <a:ln w="9525">
            <a:solidFill>
              <a:srgbClr val="3DCD58">
                <a:alpha val="84000"/>
              </a:srgbClr>
            </a:solidFill>
            <a:prstDash val="solid"/>
          </a:ln>
        </p:spPr>
      </p:sp>
      <p:sp>
        <p:nvSpPr>
          <p:cNvPr id="78" name="Shape 76"/>
          <p:cNvSpPr/>
          <p:nvPr/>
        </p:nvSpPr>
        <p:spPr>
          <a:xfrm>
            <a:off x="4690605" y="2780690"/>
            <a:ext cx="63423" cy="-63423"/>
          </a:xfrm>
          <a:prstGeom prst="line">
            <a:avLst/>
          </a:prstGeom>
          <a:noFill/>
          <a:ln w="9525">
            <a:solidFill>
              <a:srgbClr val="3DCD58">
                <a:alpha val="84000"/>
              </a:srgbClr>
            </a:solidFill>
            <a:prstDash val="solid"/>
          </a:ln>
        </p:spPr>
      </p:sp>
      <p:sp>
        <p:nvSpPr>
          <p:cNvPr id="79" name="Shape 77"/>
          <p:cNvSpPr/>
          <p:nvPr/>
        </p:nvSpPr>
        <p:spPr>
          <a:xfrm>
            <a:off x="4964925" y="2780690"/>
            <a:ext cx="63423" cy="-63423"/>
          </a:xfrm>
          <a:prstGeom prst="line">
            <a:avLst/>
          </a:prstGeom>
          <a:noFill/>
          <a:ln w="9525">
            <a:solidFill>
              <a:srgbClr val="3DCD58">
                <a:alpha val="84000"/>
              </a:srgbClr>
            </a:solidFill>
            <a:prstDash val="solid"/>
          </a:ln>
        </p:spPr>
      </p:sp>
      <p:sp>
        <p:nvSpPr>
          <p:cNvPr id="80" name="Shape 78"/>
          <p:cNvSpPr/>
          <p:nvPr/>
        </p:nvSpPr>
        <p:spPr>
          <a:xfrm>
            <a:off x="5239245" y="2780690"/>
            <a:ext cx="63423" cy="-63423"/>
          </a:xfrm>
          <a:prstGeom prst="line">
            <a:avLst/>
          </a:prstGeom>
          <a:noFill/>
          <a:ln w="9525">
            <a:solidFill>
              <a:srgbClr val="3DCD58">
                <a:alpha val="84000"/>
              </a:srgbClr>
            </a:solidFill>
            <a:prstDash val="solid"/>
          </a:ln>
        </p:spPr>
      </p:sp>
      <p:sp>
        <p:nvSpPr>
          <p:cNvPr id="81" name="Shape 79"/>
          <p:cNvSpPr/>
          <p:nvPr/>
        </p:nvSpPr>
        <p:spPr>
          <a:xfrm>
            <a:off x="5513565" y="2780690"/>
            <a:ext cx="63423" cy="-63423"/>
          </a:xfrm>
          <a:prstGeom prst="line">
            <a:avLst/>
          </a:prstGeom>
          <a:noFill/>
          <a:ln w="9525">
            <a:solidFill>
              <a:srgbClr val="3DCD58">
                <a:alpha val="84000"/>
              </a:srgbClr>
            </a:solidFill>
            <a:prstDash val="solid"/>
          </a:ln>
        </p:spPr>
      </p:sp>
      <p:sp>
        <p:nvSpPr>
          <p:cNvPr id="82" name="Shape 80"/>
          <p:cNvSpPr/>
          <p:nvPr/>
        </p:nvSpPr>
        <p:spPr>
          <a:xfrm>
            <a:off x="5787885" y="2780690"/>
            <a:ext cx="63423" cy="-63423"/>
          </a:xfrm>
          <a:prstGeom prst="line">
            <a:avLst/>
          </a:prstGeom>
          <a:noFill/>
          <a:ln w="9525">
            <a:solidFill>
              <a:srgbClr val="3DCD58">
                <a:alpha val="84000"/>
              </a:srgbClr>
            </a:solidFill>
            <a:prstDash val="solid"/>
          </a:ln>
        </p:spPr>
      </p:sp>
      <p:sp>
        <p:nvSpPr>
          <p:cNvPr id="83" name="Shape 81"/>
          <p:cNvSpPr/>
          <p:nvPr/>
        </p:nvSpPr>
        <p:spPr>
          <a:xfrm>
            <a:off x="6062205" y="2780690"/>
            <a:ext cx="63423" cy="-63423"/>
          </a:xfrm>
          <a:prstGeom prst="line">
            <a:avLst/>
          </a:prstGeom>
          <a:noFill/>
          <a:ln w="9525">
            <a:solidFill>
              <a:srgbClr val="3DCD58">
                <a:alpha val="84000"/>
              </a:srgbClr>
            </a:solidFill>
            <a:prstDash val="solid"/>
          </a:ln>
        </p:spPr>
      </p:sp>
      <p:sp>
        <p:nvSpPr>
          <p:cNvPr id="84" name="Shape 82"/>
          <p:cNvSpPr/>
          <p:nvPr/>
        </p:nvSpPr>
        <p:spPr>
          <a:xfrm>
            <a:off x="6336525" y="2780690"/>
            <a:ext cx="63423" cy="-63423"/>
          </a:xfrm>
          <a:prstGeom prst="line">
            <a:avLst/>
          </a:prstGeom>
          <a:noFill/>
          <a:ln w="9525">
            <a:solidFill>
              <a:srgbClr val="3DCD58">
                <a:alpha val="84000"/>
              </a:srgbClr>
            </a:solidFill>
            <a:prstDash val="solid"/>
          </a:ln>
        </p:spPr>
      </p:sp>
      <p:sp>
        <p:nvSpPr>
          <p:cNvPr id="85" name="Shape 83"/>
          <p:cNvSpPr/>
          <p:nvPr/>
        </p:nvSpPr>
        <p:spPr>
          <a:xfrm>
            <a:off x="6610845" y="2780690"/>
            <a:ext cx="63423" cy="-63423"/>
          </a:xfrm>
          <a:prstGeom prst="line">
            <a:avLst/>
          </a:prstGeom>
          <a:noFill/>
          <a:ln w="9525">
            <a:solidFill>
              <a:srgbClr val="3DCD58">
                <a:alpha val="84000"/>
              </a:srgbClr>
            </a:solidFill>
            <a:prstDash val="solid"/>
          </a:ln>
        </p:spPr>
      </p:sp>
      <p:sp>
        <p:nvSpPr>
          <p:cNvPr id="86" name="Shape 84"/>
          <p:cNvSpPr/>
          <p:nvPr/>
        </p:nvSpPr>
        <p:spPr>
          <a:xfrm>
            <a:off x="6885165" y="2780690"/>
            <a:ext cx="63423" cy="-63423"/>
          </a:xfrm>
          <a:prstGeom prst="line">
            <a:avLst/>
          </a:prstGeom>
          <a:noFill/>
          <a:ln w="9525">
            <a:solidFill>
              <a:srgbClr val="3DCD58">
                <a:alpha val="84000"/>
              </a:srgbClr>
            </a:solidFill>
            <a:prstDash val="solid"/>
          </a:ln>
        </p:spPr>
      </p:sp>
      <p:sp>
        <p:nvSpPr>
          <p:cNvPr id="87" name="Shape 85"/>
          <p:cNvSpPr/>
          <p:nvPr/>
        </p:nvSpPr>
        <p:spPr>
          <a:xfrm>
            <a:off x="7159485" y="2780690"/>
            <a:ext cx="63423" cy="-63423"/>
          </a:xfrm>
          <a:prstGeom prst="line">
            <a:avLst/>
          </a:prstGeom>
          <a:noFill/>
          <a:ln w="9525">
            <a:solidFill>
              <a:srgbClr val="3DCD58">
                <a:alpha val="84000"/>
              </a:srgbClr>
            </a:solidFill>
            <a:prstDash val="solid"/>
          </a:ln>
        </p:spPr>
      </p:sp>
      <p:sp>
        <p:nvSpPr>
          <p:cNvPr id="88" name="Shape 86"/>
          <p:cNvSpPr/>
          <p:nvPr/>
        </p:nvSpPr>
        <p:spPr>
          <a:xfrm>
            <a:off x="7433805" y="2780690"/>
            <a:ext cx="63423" cy="-63423"/>
          </a:xfrm>
          <a:prstGeom prst="line">
            <a:avLst/>
          </a:prstGeom>
          <a:noFill/>
          <a:ln w="9525">
            <a:solidFill>
              <a:srgbClr val="3DCD58">
                <a:alpha val="84000"/>
              </a:srgbClr>
            </a:solidFill>
            <a:prstDash val="solid"/>
          </a:ln>
        </p:spPr>
      </p:sp>
      <p:sp>
        <p:nvSpPr>
          <p:cNvPr id="89" name="Shape 87"/>
          <p:cNvSpPr/>
          <p:nvPr/>
        </p:nvSpPr>
        <p:spPr>
          <a:xfrm>
            <a:off x="7708125" y="2780690"/>
            <a:ext cx="63423" cy="-63423"/>
          </a:xfrm>
          <a:prstGeom prst="line">
            <a:avLst/>
          </a:prstGeom>
          <a:noFill/>
          <a:ln w="9525">
            <a:solidFill>
              <a:srgbClr val="3DCD58">
                <a:alpha val="84000"/>
              </a:srgbClr>
            </a:solidFill>
            <a:prstDash val="solid"/>
          </a:ln>
        </p:spPr>
      </p:sp>
      <p:sp>
        <p:nvSpPr>
          <p:cNvPr id="90" name="Shape 88"/>
          <p:cNvSpPr/>
          <p:nvPr/>
        </p:nvSpPr>
        <p:spPr>
          <a:xfrm>
            <a:off x="7982445" y="2780690"/>
            <a:ext cx="63423" cy="-63423"/>
          </a:xfrm>
          <a:prstGeom prst="line">
            <a:avLst/>
          </a:prstGeom>
          <a:noFill/>
          <a:ln w="9525">
            <a:solidFill>
              <a:srgbClr val="3DCD58">
                <a:alpha val="84000"/>
              </a:srgbClr>
            </a:solidFill>
            <a:prstDash val="solid"/>
          </a:ln>
        </p:spPr>
      </p:sp>
      <p:sp>
        <p:nvSpPr>
          <p:cNvPr id="91" name="Shape 89"/>
          <p:cNvSpPr/>
          <p:nvPr/>
        </p:nvSpPr>
        <p:spPr>
          <a:xfrm>
            <a:off x="8256765" y="2780690"/>
            <a:ext cx="63423" cy="-63423"/>
          </a:xfrm>
          <a:prstGeom prst="line">
            <a:avLst/>
          </a:prstGeom>
          <a:noFill/>
          <a:ln w="9525">
            <a:solidFill>
              <a:srgbClr val="3DCD58">
                <a:alpha val="84000"/>
              </a:srgbClr>
            </a:solidFill>
            <a:prstDash val="solid"/>
          </a:ln>
        </p:spPr>
      </p:sp>
      <p:sp>
        <p:nvSpPr>
          <p:cNvPr id="92" name="Shape 90"/>
          <p:cNvSpPr/>
          <p:nvPr/>
        </p:nvSpPr>
        <p:spPr>
          <a:xfrm>
            <a:off x="8531085" y="2780690"/>
            <a:ext cx="63423" cy="-63423"/>
          </a:xfrm>
          <a:prstGeom prst="line">
            <a:avLst/>
          </a:prstGeom>
          <a:noFill/>
          <a:ln w="9525">
            <a:solidFill>
              <a:srgbClr val="3DCD58">
                <a:alpha val="84000"/>
              </a:srgbClr>
            </a:solidFill>
            <a:prstDash val="solid"/>
          </a:ln>
        </p:spPr>
      </p:sp>
      <p:sp>
        <p:nvSpPr>
          <p:cNvPr id="93" name="Shape 91"/>
          <p:cNvSpPr/>
          <p:nvPr/>
        </p:nvSpPr>
        <p:spPr>
          <a:xfrm>
            <a:off x="8805405" y="2780690"/>
            <a:ext cx="63423" cy="-63423"/>
          </a:xfrm>
          <a:prstGeom prst="line">
            <a:avLst/>
          </a:prstGeom>
          <a:noFill/>
          <a:ln w="9525">
            <a:solidFill>
              <a:srgbClr val="3DCD58">
                <a:alpha val="84000"/>
              </a:srgbClr>
            </a:solidFill>
            <a:prstDash val="solid"/>
          </a:ln>
        </p:spPr>
      </p:sp>
      <p:sp>
        <p:nvSpPr>
          <p:cNvPr id="94" name="Shape 92"/>
          <p:cNvSpPr/>
          <p:nvPr/>
        </p:nvSpPr>
        <p:spPr>
          <a:xfrm>
            <a:off x="9079725" y="2780690"/>
            <a:ext cx="63423" cy="-63423"/>
          </a:xfrm>
          <a:prstGeom prst="line">
            <a:avLst/>
          </a:prstGeom>
          <a:noFill/>
          <a:ln w="9525">
            <a:solidFill>
              <a:srgbClr val="3DCD58">
                <a:alpha val="84000"/>
              </a:srgbClr>
            </a:solidFill>
            <a:prstDash val="solid"/>
          </a:ln>
        </p:spPr>
      </p:sp>
      <p:sp>
        <p:nvSpPr>
          <p:cNvPr id="95" name="Shape 93"/>
          <p:cNvSpPr/>
          <p:nvPr/>
        </p:nvSpPr>
        <p:spPr>
          <a:xfrm>
            <a:off x="9354045" y="2780690"/>
            <a:ext cx="63423" cy="-63423"/>
          </a:xfrm>
          <a:prstGeom prst="line">
            <a:avLst/>
          </a:prstGeom>
          <a:noFill/>
          <a:ln w="9525">
            <a:solidFill>
              <a:srgbClr val="3DCD58">
                <a:alpha val="84000"/>
              </a:srgbClr>
            </a:solidFill>
            <a:prstDash val="solid"/>
          </a:ln>
        </p:spPr>
      </p:sp>
      <p:sp>
        <p:nvSpPr>
          <p:cNvPr id="96" name="Shape 94"/>
          <p:cNvSpPr/>
          <p:nvPr/>
        </p:nvSpPr>
        <p:spPr>
          <a:xfrm>
            <a:off x="9628365" y="2780690"/>
            <a:ext cx="63423" cy="-63423"/>
          </a:xfrm>
          <a:prstGeom prst="line">
            <a:avLst/>
          </a:prstGeom>
          <a:noFill/>
          <a:ln w="9525">
            <a:solidFill>
              <a:srgbClr val="3DCD58">
                <a:alpha val="84000"/>
              </a:srgbClr>
            </a:solidFill>
            <a:prstDash val="solid"/>
          </a:ln>
        </p:spPr>
      </p:sp>
      <p:sp>
        <p:nvSpPr>
          <p:cNvPr id="97" name="Shape 95"/>
          <p:cNvSpPr/>
          <p:nvPr/>
        </p:nvSpPr>
        <p:spPr>
          <a:xfrm>
            <a:off x="9902685" y="2780690"/>
            <a:ext cx="63423" cy="-63423"/>
          </a:xfrm>
          <a:prstGeom prst="line">
            <a:avLst/>
          </a:prstGeom>
          <a:noFill/>
          <a:ln w="9525">
            <a:solidFill>
              <a:srgbClr val="3DCD58">
                <a:alpha val="84000"/>
              </a:srgbClr>
            </a:solidFill>
            <a:prstDash val="solid"/>
          </a:ln>
        </p:spPr>
      </p:sp>
      <p:sp>
        <p:nvSpPr>
          <p:cNvPr id="98" name="Shape 96"/>
          <p:cNvSpPr/>
          <p:nvPr/>
        </p:nvSpPr>
        <p:spPr>
          <a:xfrm>
            <a:off x="10177005" y="2780690"/>
            <a:ext cx="63423" cy="-63423"/>
          </a:xfrm>
          <a:prstGeom prst="line">
            <a:avLst/>
          </a:prstGeom>
          <a:noFill/>
          <a:ln w="9525">
            <a:solidFill>
              <a:srgbClr val="3DCD58">
                <a:alpha val="84000"/>
              </a:srgbClr>
            </a:solidFill>
            <a:prstDash val="solid"/>
          </a:ln>
        </p:spPr>
      </p:sp>
      <p:sp>
        <p:nvSpPr>
          <p:cNvPr id="99" name="Shape 97"/>
          <p:cNvSpPr/>
          <p:nvPr/>
        </p:nvSpPr>
        <p:spPr>
          <a:xfrm>
            <a:off x="10451325" y="2780690"/>
            <a:ext cx="63423" cy="-63423"/>
          </a:xfrm>
          <a:prstGeom prst="line">
            <a:avLst/>
          </a:prstGeom>
          <a:noFill/>
          <a:ln w="9525">
            <a:solidFill>
              <a:srgbClr val="3DCD58">
                <a:alpha val="84000"/>
              </a:srgbClr>
            </a:solidFill>
            <a:prstDash val="solid"/>
          </a:ln>
        </p:spPr>
      </p:sp>
      <p:sp>
        <p:nvSpPr>
          <p:cNvPr id="100" name="Shape 98"/>
          <p:cNvSpPr/>
          <p:nvPr/>
        </p:nvSpPr>
        <p:spPr>
          <a:xfrm>
            <a:off x="10725645" y="2780690"/>
            <a:ext cx="63423" cy="-63423"/>
          </a:xfrm>
          <a:prstGeom prst="line">
            <a:avLst/>
          </a:prstGeom>
          <a:noFill/>
          <a:ln w="9525">
            <a:solidFill>
              <a:srgbClr val="3DCD58">
                <a:alpha val="84000"/>
              </a:srgbClr>
            </a:solidFill>
            <a:prstDash val="solid"/>
          </a:ln>
        </p:spPr>
      </p:sp>
      <p:sp>
        <p:nvSpPr>
          <p:cNvPr id="101" name="Shape 99"/>
          <p:cNvSpPr/>
          <p:nvPr/>
        </p:nvSpPr>
        <p:spPr>
          <a:xfrm>
            <a:off x="10999965" y="2780690"/>
            <a:ext cx="63423" cy="-63423"/>
          </a:xfrm>
          <a:prstGeom prst="line">
            <a:avLst/>
          </a:prstGeom>
          <a:noFill/>
          <a:ln w="9525">
            <a:solidFill>
              <a:srgbClr val="3DCD58">
                <a:alpha val="84000"/>
              </a:srgbClr>
            </a:solidFill>
            <a:prstDash val="solid"/>
          </a:ln>
        </p:spPr>
      </p:sp>
      <p:sp>
        <p:nvSpPr>
          <p:cNvPr id="102" name="Shape 100"/>
          <p:cNvSpPr/>
          <p:nvPr/>
        </p:nvSpPr>
        <p:spPr>
          <a:xfrm>
            <a:off x="11274285" y="2780690"/>
            <a:ext cx="63423" cy="-63423"/>
          </a:xfrm>
          <a:prstGeom prst="line">
            <a:avLst/>
          </a:prstGeom>
          <a:noFill/>
          <a:ln w="9525">
            <a:solidFill>
              <a:srgbClr val="3DCD58">
                <a:alpha val="84000"/>
              </a:srgbClr>
            </a:solidFill>
            <a:prstDash val="solid"/>
          </a:ln>
        </p:spPr>
      </p:sp>
      <p:sp>
        <p:nvSpPr>
          <p:cNvPr id="103" name="Shape 101"/>
          <p:cNvSpPr/>
          <p:nvPr/>
        </p:nvSpPr>
        <p:spPr>
          <a:xfrm>
            <a:off x="3730485" y="2679192"/>
            <a:ext cx="128016" cy="128016"/>
          </a:xfrm>
          <a:prstGeom prst="ellipse">
            <a:avLst/>
          </a:prstGeom>
          <a:solidFill>
            <a:srgbClr val="007A27"/>
          </a:solidFill>
          <a:ln w="12700">
            <a:solidFill>
              <a:srgbClr val="FFFFFF"/>
            </a:solidFill>
            <a:prstDash val="solid"/>
          </a:ln>
        </p:spPr>
      </p:sp>
      <p:sp>
        <p:nvSpPr>
          <p:cNvPr id="104" name="Shape 102"/>
          <p:cNvSpPr/>
          <p:nvPr/>
        </p:nvSpPr>
        <p:spPr>
          <a:xfrm>
            <a:off x="1033272" y="3154680"/>
            <a:ext cx="10536631" cy="0"/>
          </a:xfrm>
          <a:prstGeom prst="line">
            <a:avLst/>
          </a:prstGeom>
          <a:noFill/>
          <a:ln w="4445">
            <a:solidFill>
              <a:srgbClr val="E2E6E2"/>
            </a:solidFill>
            <a:prstDash val="solid"/>
          </a:ln>
        </p:spPr>
      </p:sp>
      <p:sp>
        <p:nvSpPr>
          <p:cNvPr id="105" name="Shape 103"/>
          <p:cNvSpPr/>
          <p:nvPr/>
        </p:nvSpPr>
        <p:spPr>
          <a:xfrm>
            <a:off x="1143000" y="2907792"/>
            <a:ext cx="45720" cy="219456"/>
          </a:xfrm>
          <a:prstGeom prst="roundRect">
            <a:avLst>
              <a:gd name="adj" fmla="val 60000"/>
            </a:avLst>
          </a:prstGeom>
          <a:solidFill>
            <a:srgbClr val="3DCD58"/>
          </a:solidFill>
          <a:ln w="12700">
            <a:solidFill>
              <a:srgbClr val="3DCD58"/>
            </a:solidFill>
            <a:prstDash val="solid"/>
          </a:ln>
        </p:spPr>
      </p:sp>
      <p:sp>
        <p:nvSpPr>
          <p:cNvPr id="106" name="Text 104"/>
          <p:cNvSpPr/>
          <p:nvPr/>
        </p:nvSpPr>
        <p:spPr>
          <a:xfrm>
            <a:off x="1243584" y="28712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Climate Risk</a:t>
            </a:r>
            <a:endParaRPr lang="en-US" sz="950" dirty="0"/>
          </a:p>
        </p:txBody>
      </p:sp>
      <p:sp>
        <p:nvSpPr>
          <p:cNvPr id="107" name="Shape 105"/>
          <p:cNvSpPr/>
          <p:nvPr/>
        </p:nvSpPr>
        <p:spPr>
          <a:xfrm>
            <a:off x="3456432" y="2970886"/>
            <a:ext cx="2839715" cy="93269"/>
          </a:xfrm>
          <a:prstGeom prst="roundRect">
            <a:avLst>
              <a:gd name="adj" fmla="val 39216"/>
            </a:avLst>
          </a:prstGeom>
          <a:solidFill>
            <a:srgbClr val="3DCD58"/>
          </a:solidFill>
          <a:ln w="5080">
            <a:solidFill>
              <a:srgbClr val="3DCD58"/>
            </a:solidFill>
            <a:prstDash val="solid"/>
          </a:ln>
        </p:spPr>
      </p:sp>
      <p:sp>
        <p:nvSpPr>
          <p:cNvPr id="108" name="Shape 106"/>
          <p:cNvSpPr/>
          <p:nvPr/>
        </p:nvSpPr>
        <p:spPr>
          <a:xfrm>
            <a:off x="6296147" y="2970886"/>
            <a:ext cx="5273756" cy="93269"/>
          </a:xfrm>
          <a:prstGeom prst="roundRect">
            <a:avLst>
              <a:gd name="adj" fmla="val 24510"/>
            </a:avLst>
          </a:prstGeom>
          <a:solidFill>
            <a:srgbClr val="3DCD58">
              <a:alpha val="6000"/>
            </a:srgbClr>
          </a:solidFill>
          <a:ln w="6350">
            <a:solidFill>
              <a:srgbClr val="3DCD58">
                <a:alpha val="60000"/>
              </a:srgbClr>
            </a:solidFill>
            <a:prstDash val="solid"/>
          </a:ln>
        </p:spPr>
      </p:sp>
      <p:sp>
        <p:nvSpPr>
          <p:cNvPr id="109" name="Shape 107"/>
          <p:cNvSpPr/>
          <p:nvPr/>
        </p:nvSpPr>
        <p:spPr>
          <a:xfrm>
            <a:off x="6369299" y="3055010"/>
            <a:ext cx="63423" cy="-63423"/>
          </a:xfrm>
          <a:prstGeom prst="line">
            <a:avLst/>
          </a:prstGeom>
          <a:noFill/>
          <a:ln w="9525">
            <a:solidFill>
              <a:srgbClr val="3DCD58">
                <a:alpha val="84000"/>
              </a:srgbClr>
            </a:solidFill>
            <a:prstDash val="solid"/>
          </a:ln>
        </p:spPr>
      </p:sp>
      <p:sp>
        <p:nvSpPr>
          <p:cNvPr id="110" name="Shape 108"/>
          <p:cNvSpPr/>
          <p:nvPr/>
        </p:nvSpPr>
        <p:spPr>
          <a:xfrm>
            <a:off x="6643619" y="3055010"/>
            <a:ext cx="63423" cy="-63423"/>
          </a:xfrm>
          <a:prstGeom prst="line">
            <a:avLst/>
          </a:prstGeom>
          <a:noFill/>
          <a:ln w="9525">
            <a:solidFill>
              <a:srgbClr val="3DCD58">
                <a:alpha val="84000"/>
              </a:srgbClr>
            </a:solidFill>
            <a:prstDash val="solid"/>
          </a:ln>
        </p:spPr>
      </p:sp>
      <p:sp>
        <p:nvSpPr>
          <p:cNvPr id="111" name="Shape 109"/>
          <p:cNvSpPr/>
          <p:nvPr/>
        </p:nvSpPr>
        <p:spPr>
          <a:xfrm>
            <a:off x="6917939" y="3055010"/>
            <a:ext cx="63423" cy="-63423"/>
          </a:xfrm>
          <a:prstGeom prst="line">
            <a:avLst/>
          </a:prstGeom>
          <a:noFill/>
          <a:ln w="9525">
            <a:solidFill>
              <a:srgbClr val="3DCD58">
                <a:alpha val="84000"/>
              </a:srgbClr>
            </a:solidFill>
            <a:prstDash val="solid"/>
          </a:ln>
        </p:spPr>
      </p:sp>
      <p:sp>
        <p:nvSpPr>
          <p:cNvPr id="112" name="Shape 110"/>
          <p:cNvSpPr/>
          <p:nvPr/>
        </p:nvSpPr>
        <p:spPr>
          <a:xfrm>
            <a:off x="7192259" y="3055010"/>
            <a:ext cx="63423" cy="-63423"/>
          </a:xfrm>
          <a:prstGeom prst="line">
            <a:avLst/>
          </a:prstGeom>
          <a:noFill/>
          <a:ln w="9525">
            <a:solidFill>
              <a:srgbClr val="3DCD58">
                <a:alpha val="84000"/>
              </a:srgbClr>
            </a:solidFill>
            <a:prstDash val="solid"/>
          </a:ln>
        </p:spPr>
      </p:sp>
      <p:sp>
        <p:nvSpPr>
          <p:cNvPr id="113" name="Shape 111"/>
          <p:cNvSpPr/>
          <p:nvPr/>
        </p:nvSpPr>
        <p:spPr>
          <a:xfrm>
            <a:off x="7466579" y="3055010"/>
            <a:ext cx="63423" cy="-63423"/>
          </a:xfrm>
          <a:prstGeom prst="line">
            <a:avLst/>
          </a:prstGeom>
          <a:noFill/>
          <a:ln w="9525">
            <a:solidFill>
              <a:srgbClr val="3DCD58">
                <a:alpha val="84000"/>
              </a:srgbClr>
            </a:solidFill>
            <a:prstDash val="solid"/>
          </a:ln>
        </p:spPr>
      </p:sp>
      <p:sp>
        <p:nvSpPr>
          <p:cNvPr id="114" name="Shape 112"/>
          <p:cNvSpPr/>
          <p:nvPr/>
        </p:nvSpPr>
        <p:spPr>
          <a:xfrm>
            <a:off x="7740899" y="3055010"/>
            <a:ext cx="63423" cy="-63423"/>
          </a:xfrm>
          <a:prstGeom prst="line">
            <a:avLst/>
          </a:prstGeom>
          <a:noFill/>
          <a:ln w="9525">
            <a:solidFill>
              <a:srgbClr val="3DCD58">
                <a:alpha val="84000"/>
              </a:srgbClr>
            </a:solidFill>
            <a:prstDash val="solid"/>
          </a:ln>
        </p:spPr>
      </p:sp>
      <p:sp>
        <p:nvSpPr>
          <p:cNvPr id="115" name="Shape 113"/>
          <p:cNvSpPr/>
          <p:nvPr/>
        </p:nvSpPr>
        <p:spPr>
          <a:xfrm>
            <a:off x="8015219" y="3055010"/>
            <a:ext cx="63423" cy="-63423"/>
          </a:xfrm>
          <a:prstGeom prst="line">
            <a:avLst/>
          </a:prstGeom>
          <a:noFill/>
          <a:ln w="9525">
            <a:solidFill>
              <a:srgbClr val="3DCD58">
                <a:alpha val="84000"/>
              </a:srgbClr>
            </a:solidFill>
            <a:prstDash val="solid"/>
          </a:ln>
        </p:spPr>
      </p:sp>
      <p:sp>
        <p:nvSpPr>
          <p:cNvPr id="116" name="Shape 114"/>
          <p:cNvSpPr/>
          <p:nvPr/>
        </p:nvSpPr>
        <p:spPr>
          <a:xfrm>
            <a:off x="8289539" y="3055010"/>
            <a:ext cx="63423" cy="-63423"/>
          </a:xfrm>
          <a:prstGeom prst="line">
            <a:avLst/>
          </a:prstGeom>
          <a:noFill/>
          <a:ln w="9525">
            <a:solidFill>
              <a:srgbClr val="3DCD58">
                <a:alpha val="84000"/>
              </a:srgbClr>
            </a:solidFill>
            <a:prstDash val="solid"/>
          </a:ln>
        </p:spPr>
      </p:sp>
      <p:sp>
        <p:nvSpPr>
          <p:cNvPr id="117" name="Shape 115"/>
          <p:cNvSpPr/>
          <p:nvPr/>
        </p:nvSpPr>
        <p:spPr>
          <a:xfrm>
            <a:off x="8563859" y="3055010"/>
            <a:ext cx="63423" cy="-63423"/>
          </a:xfrm>
          <a:prstGeom prst="line">
            <a:avLst/>
          </a:prstGeom>
          <a:noFill/>
          <a:ln w="9525">
            <a:solidFill>
              <a:srgbClr val="3DCD58">
                <a:alpha val="84000"/>
              </a:srgbClr>
            </a:solidFill>
            <a:prstDash val="solid"/>
          </a:ln>
        </p:spPr>
      </p:sp>
      <p:sp>
        <p:nvSpPr>
          <p:cNvPr id="118" name="Shape 116"/>
          <p:cNvSpPr/>
          <p:nvPr/>
        </p:nvSpPr>
        <p:spPr>
          <a:xfrm>
            <a:off x="8838179" y="3055010"/>
            <a:ext cx="63423" cy="-63423"/>
          </a:xfrm>
          <a:prstGeom prst="line">
            <a:avLst/>
          </a:prstGeom>
          <a:noFill/>
          <a:ln w="9525">
            <a:solidFill>
              <a:srgbClr val="3DCD58">
                <a:alpha val="84000"/>
              </a:srgbClr>
            </a:solidFill>
            <a:prstDash val="solid"/>
          </a:ln>
        </p:spPr>
      </p:sp>
      <p:sp>
        <p:nvSpPr>
          <p:cNvPr id="119" name="Shape 117"/>
          <p:cNvSpPr/>
          <p:nvPr/>
        </p:nvSpPr>
        <p:spPr>
          <a:xfrm>
            <a:off x="9112499" y="3055010"/>
            <a:ext cx="63423" cy="-63423"/>
          </a:xfrm>
          <a:prstGeom prst="line">
            <a:avLst/>
          </a:prstGeom>
          <a:noFill/>
          <a:ln w="9525">
            <a:solidFill>
              <a:srgbClr val="3DCD58">
                <a:alpha val="84000"/>
              </a:srgbClr>
            </a:solidFill>
            <a:prstDash val="solid"/>
          </a:ln>
        </p:spPr>
      </p:sp>
      <p:sp>
        <p:nvSpPr>
          <p:cNvPr id="120" name="Shape 118"/>
          <p:cNvSpPr/>
          <p:nvPr/>
        </p:nvSpPr>
        <p:spPr>
          <a:xfrm>
            <a:off x="9386819" y="3055010"/>
            <a:ext cx="63423" cy="-63423"/>
          </a:xfrm>
          <a:prstGeom prst="line">
            <a:avLst/>
          </a:prstGeom>
          <a:noFill/>
          <a:ln w="9525">
            <a:solidFill>
              <a:srgbClr val="3DCD58">
                <a:alpha val="84000"/>
              </a:srgbClr>
            </a:solidFill>
            <a:prstDash val="solid"/>
          </a:ln>
        </p:spPr>
      </p:sp>
      <p:sp>
        <p:nvSpPr>
          <p:cNvPr id="121" name="Shape 119"/>
          <p:cNvSpPr/>
          <p:nvPr/>
        </p:nvSpPr>
        <p:spPr>
          <a:xfrm>
            <a:off x="9661139" y="3055010"/>
            <a:ext cx="63423" cy="-63423"/>
          </a:xfrm>
          <a:prstGeom prst="line">
            <a:avLst/>
          </a:prstGeom>
          <a:noFill/>
          <a:ln w="9525">
            <a:solidFill>
              <a:srgbClr val="3DCD58">
                <a:alpha val="84000"/>
              </a:srgbClr>
            </a:solidFill>
            <a:prstDash val="solid"/>
          </a:ln>
        </p:spPr>
      </p:sp>
      <p:sp>
        <p:nvSpPr>
          <p:cNvPr id="122" name="Shape 120"/>
          <p:cNvSpPr/>
          <p:nvPr/>
        </p:nvSpPr>
        <p:spPr>
          <a:xfrm>
            <a:off x="9935459" y="3055010"/>
            <a:ext cx="63423" cy="-63423"/>
          </a:xfrm>
          <a:prstGeom prst="line">
            <a:avLst/>
          </a:prstGeom>
          <a:noFill/>
          <a:ln w="9525">
            <a:solidFill>
              <a:srgbClr val="3DCD58">
                <a:alpha val="84000"/>
              </a:srgbClr>
            </a:solidFill>
            <a:prstDash val="solid"/>
          </a:ln>
        </p:spPr>
      </p:sp>
      <p:sp>
        <p:nvSpPr>
          <p:cNvPr id="123" name="Shape 121"/>
          <p:cNvSpPr/>
          <p:nvPr/>
        </p:nvSpPr>
        <p:spPr>
          <a:xfrm>
            <a:off x="10209779" y="3055010"/>
            <a:ext cx="63423" cy="-63423"/>
          </a:xfrm>
          <a:prstGeom prst="line">
            <a:avLst/>
          </a:prstGeom>
          <a:noFill/>
          <a:ln w="9525">
            <a:solidFill>
              <a:srgbClr val="3DCD58">
                <a:alpha val="84000"/>
              </a:srgbClr>
            </a:solidFill>
            <a:prstDash val="solid"/>
          </a:ln>
        </p:spPr>
      </p:sp>
      <p:sp>
        <p:nvSpPr>
          <p:cNvPr id="124" name="Shape 122"/>
          <p:cNvSpPr/>
          <p:nvPr/>
        </p:nvSpPr>
        <p:spPr>
          <a:xfrm>
            <a:off x="10484099" y="3055010"/>
            <a:ext cx="63423" cy="-63423"/>
          </a:xfrm>
          <a:prstGeom prst="line">
            <a:avLst/>
          </a:prstGeom>
          <a:noFill/>
          <a:ln w="9525">
            <a:solidFill>
              <a:srgbClr val="3DCD58">
                <a:alpha val="84000"/>
              </a:srgbClr>
            </a:solidFill>
            <a:prstDash val="solid"/>
          </a:ln>
        </p:spPr>
      </p:sp>
      <p:sp>
        <p:nvSpPr>
          <p:cNvPr id="125" name="Shape 123"/>
          <p:cNvSpPr/>
          <p:nvPr/>
        </p:nvSpPr>
        <p:spPr>
          <a:xfrm>
            <a:off x="10758419" y="3055010"/>
            <a:ext cx="63423" cy="-63423"/>
          </a:xfrm>
          <a:prstGeom prst="line">
            <a:avLst/>
          </a:prstGeom>
          <a:noFill/>
          <a:ln w="9525">
            <a:solidFill>
              <a:srgbClr val="3DCD58">
                <a:alpha val="84000"/>
              </a:srgbClr>
            </a:solidFill>
            <a:prstDash val="solid"/>
          </a:ln>
        </p:spPr>
      </p:sp>
      <p:sp>
        <p:nvSpPr>
          <p:cNvPr id="126" name="Shape 124"/>
          <p:cNvSpPr/>
          <p:nvPr/>
        </p:nvSpPr>
        <p:spPr>
          <a:xfrm>
            <a:off x="11032739" y="3055010"/>
            <a:ext cx="63423" cy="-63423"/>
          </a:xfrm>
          <a:prstGeom prst="line">
            <a:avLst/>
          </a:prstGeom>
          <a:noFill/>
          <a:ln w="9525">
            <a:solidFill>
              <a:srgbClr val="3DCD58">
                <a:alpha val="84000"/>
              </a:srgbClr>
            </a:solidFill>
            <a:prstDash val="solid"/>
          </a:ln>
        </p:spPr>
      </p:sp>
      <p:sp>
        <p:nvSpPr>
          <p:cNvPr id="127" name="Shape 125"/>
          <p:cNvSpPr/>
          <p:nvPr/>
        </p:nvSpPr>
        <p:spPr>
          <a:xfrm>
            <a:off x="11307059" y="3055010"/>
            <a:ext cx="63423" cy="-63423"/>
          </a:xfrm>
          <a:prstGeom prst="line">
            <a:avLst/>
          </a:prstGeom>
          <a:noFill/>
          <a:ln w="9525">
            <a:solidFill>
              <a:srgbClr val="3DCD58">
                <a:alpha val="84000"/>
              </a:srgbClr>
            </a:solidFill>
            <a:prstDash val="solid"/>
          </a:ln>
        </p:spPr>
      </p:sp>
      <p:sp>
        <p:nvSpPr>
          <p:cNvPr id="128" name="Shape 126"/>
          <p:cNvSpPr/>
          <p:nvPr/>
        </p:nvSpPr>
        <p:spPr>
          <a:xfrm>
            <a:off x="4338996" y="2953512"/>
            <a:ext cx="128016" cy="128016"/>
          </a:xfrm>
          <a:prstGeom prst="ellipse">
            <a:avLst/>
          </a:prstGeom>
          <a:solidFill>
            <a:srgbClr val="FFB04C"/>
          </a:solidFill>
          <a:ln w="12700">
            <a:solidFill>
              <a:srgbClr val="FFFFFF"/>
            </a:solidFill>
            <a:prstDash val="solid"/>
          </a:ln>
        </p:spPr>
      </p:sp>
      <p:sp>
        <p:nvSpPr>
          <p:cNvPr id="129" name="Shape 127"/>
          <p:cNvSpPr/>
          <p:nvPr/>
        </p:nvSpPr>
        <p:spPr>
          <a:xfrm>
            <a:off x="6232139" y="2953512"/>
            <a:ext cx="128016" cy="128016"/>
          </a:xfrm>
          <a:prstGeom prst="ellipse">
            <a:avLst/>
          </a:prstGeom>
          <a:solidFill>
            <a:srgbClr val="007A27"/>
          </a:solidFill>
          <a:ln w="12700">
            <a:solidFill>
              <a:srgbClr val="FFFFFF"/>
            </a:solidFill>
            <a:prstDash val="solid"/>
          </a:ln>
        </p:spPr>
      </p:sp>
      <p:sp>
        <p:nvSpPr>
          <p:cNvPr id="130" name="Shape 128"/>
          <p:cNvSpPr/>
          <p:nvPr/>
        </p:nvSpPr>
        <p:spPr>
          <a:xfrm>
            <a:off x="1033272" y="3154680"/>
            <a:ext cx="2423160" cy="274320"/>
          </a:xfrm>
          <a:prstGeom prst="rect">
            <a:avLst/>
          </a:prstGeom>
          <a:solidFill>
            <a:srgbClr val="F1F3F2">
              <a:alpha val="55000"/>
            </a:srgbClr>
          </a:solidFill>
          <a:ln w="12700">
            <a:solidFill>
              <a:srgbClr val="F1F3F2">
                <a:alpha val="0"/>
              </a:srgbClr>
            </a:solidFill>
            <a:prstDash val="solid"/>
          </a:ln>
        </p:spPr>
      </p:sp>
      <p:sp>
        <p:nvSpPr>
          <p:cNvPr id="131" name="Shape 129"/>
          <p:cNvSpPr/>
          <p:nvPr/>
        </p:nvSpPr>
        <p:spPr>
          <a:xfrm>
            <a:off x="1033272" y="3429000"/>
            <a:ext cx="10536631" cy="0"/>
          </a:xfrm>
          <a:prstGeom prst="line">
            <a:avLst/>
          </a:prstGeom>
          <a:noFill/>
          <a:ln w="4445">
            <a:solidFill>
              <a:srgbClr val="E2E6E2"/>
            </a:solidFill>
            <a:prstDash val="solid"/>
          </a:ln>
        </p:spPr>
      </p:sp>
      <p:sp>
        <p:nvSpPr>
          <p:cNvPr id="132" name="Shape 130"/>
          <p:cNvSpPr/>
          <p:nvPr/>
        </p:nvSpPr>
        <p:spPr>
          <a:xfrm>
            <a:off x="1143000" y="3182112"/>
            <a:ext cx="45720" cy="219456"/>
          </a:xfrm>
          <a:prstGeom prst="roundRect">
            <a:avLst>
              <a:gd name="adj" fmla="val 60000"/>
            </a:avLst>
          </a:prstGeom>
          <a:solidFill>
            <a:srgbClr val="3DCD58"/>
          </a:solidFill>
          <a:ln w="12700">
            <a:solidFill>
              <a:srgbClr val="3DCD58"/>
            </a:solidFill>
            <a:prstDash val="solid"/>
          </a:ln>
        </p:spPr>
      </p:sp>
      <p:sp>
        <p:nvSpPr>
          <p:cNvPr id="133" name="Text 131"/>
          <p:cNvSpPr/>
          <p:nvPr/>
        </p:nvSpPr>
        <p:spPr>
          <a:xfrm>
            <a:off x="1243584" y="31455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RA+ Reporting &amp; Compliance</a:t>
            </a:r>
            <a:endParaRPr lang="en-US" sz="950" dirty="0"/>
          </a:p>
        </p:txBody>
      </p:sp>
      <p:sp>
        <p:nvSpPr>
          <p:cNvPr id="134" name="Shape 132"/>
          <p:cNvSpPr/>
          <p:nvPr/>
        </p:nvSpPr>
        <p:spPr>
          <a:xfrm>
            <a:off x="4132555" y="3245206"/>
            <a:ext cx="2974939" cy="93269"/>
          </a:xfrm>
          <a:prstGeom prst="roundRect">
            <a:avLst>
              <a:gd name="adj" fmla="val 39216"/>
            </a:avLst>
          </a:prstGeom>
          <a:solidFill>
            <a:srgbClr val="3DCD58"/>
          </a:solidFill>
          <a:ln w="5080">
            <a:solidFill>
              <a:srgbClr val="3DCD58"/>
            </a:solidFill>
            <a:prstDash val="solid"/>
          </a:ln>
        </p:spPr>
      </p:sp>
      <p:sp>
        <p:nvSpPr>
          <p:cNvPr id="135" name="Shape 133"/>
          <p:cNvSpPr/>
          <p:nvPr/>
        </p:nvSpPr>
        <p:spPr>
          <a:xfrm>
            <a:off x="7107494" y="3245206"/>
            <a:ext cx="4462409" cy="93269"/>
          </a:xfrm>
          <a:prstGeom prst="roundRect">
            <a:avLst>
              <a:gd name="adj" fmla="val 24510"/>
            </a:avLst>
          </a:prstGeom>
          <a:solidFill>
            <a:srgbClr val="3DCD58">
              <a:alpha val="6000"/>
            </a:srgbClr>
          </a:solidFill>
          <a:ln w="6350">
            <a:solidFill>
              <a:srgbClr val="3DCD58">
                <a:alpha val="60000"/>
              </a:srgbClr>
            </a:solidFill>
            <a:prstDash val="solid"/>
          </a:ln>
        </p:spPr>
      </p:sp>
      <p:sp>
        <p:nvSpPr>
          <p:cNvPr id="136" name="Shape 134"/>
          <p:cNvSpPr/>
          <p:nvPr/>
        </p:nvSpPr>
        <p:spPr>
          <a:xfrm>
            <a:off x="7180646" y="3329330"/>
            <a:ext cx="63423" cy="-63423"/>
          </a:xfrm>
          <a:prstGeom prst="line">
            <a:avLst/>
          </a:prstGeom>
          <a:noFill/>
          <a:ln w="9525">
            <a:solidFill>
              <a:srgbClr val="3DCD58">
                <a:alpha val="84000"/>
              </a:srgbClr>
            </a:solidFill>
            <a:prstDash val="solid"/>
          </a:ln>
        </p:spPr>
      </p:sp>
      <p:sp>
        <p:nvSpPr>
          <p:cNvPr id="137" name="Shape 135"/>
          <p:cNvSpPr/>
          <p:nvPr/>
        </p:nvSpPr>
        <p:spPr>
          <a:xfrm>
            <a:off x="7454966" y="3329330"/>
            <a:ext cx="63423" cy="-63423"/>
          </a:xfrm>
          <a:prstGeom prst="line">
            <a:avLst/>
          </a:prstGeom>
          <a:noFill/>
          <a:ln w="9525">
            <a:solidFill>
              <a:srgbClr val="3DCD58">
                <a:alpha val="84000"/>
              </a:srgbClr>
            </a:solidFill>
            <a:prstDash val="solid"/>
          </a:ln>
        </p:spPr>
      </p:sp>
      <p:sp>
        <p:nvSpPr>
          <p:cNvPr id="138" name="Shape 136"/>
          <p:cNvSpPr/>
          <p:nvPr/>
        </p:nvSpPr>
        <p:spPr>
          <a:xfrm>
            <a:off x="7729286" y="3329330"/>
            <a:ext cx="63423" cy="-63423"/>
          </a:xfrm>
          <a:prstGeom prst="line">
            <a:avLst/>
          </a:prstGeom>
          <a:noFill/>
          <a:ln w="9525">
            <a:solidFill>
              <a:srgbClr val="3DCD58">
                <a:alpha val="84000"/>
              </a:srgbClr>
            </a:solidFill>
            <a:prstDash val="solid"/>
          </a:ln>
        </p:spPr>
      </p:sp>
      <p:sp>
        <p:nvSpPr>
          <p:cNvPr id="139" name="Shape 137"/>
          <p:cNvSpPr/>
          <p:nvPr/>
        </p:nvSpPr>
        <p:spPr>
          <a:xfrm>
            <a:off x="8003606" y="3329330"/>
            <a:ext cx="63423" cy="-63423"/>
          </a:xfrm>
          <a:prstGeom prst="line">
            <a:avLst/>
          </a:prstGeom>
          <a:noFill/>
          <a:ln w="9525">
            <a:solidFill>
              <a:srgbClr val="3DCD58">
                <a:alpha val="84000"/>
              </a:srgbClr>
            </a:solidFill>
            <a:prstDash val="solid"/>
          </a:ln>
        </p:spPr>
      </p:sp>
      <p:sp>
        <p:nvSpPr>
          <p:cNvPr id="140" name="Shape 138"/>
          <p:cNvSpPr/>
          <p:nvPr/>
        </p:nvSpPr>
        <p:spPr>
          <a:xfrm>
            <a:off x="8277926" y="3329330"/>
            <a:ext cx="63423" cy="-63423"/>
          </a:xfrm>
          <a:prstGeom prst="line">
            <a:avLst/>
          </a:prstGeom>
          <a:noFill/>
          <a:ln w="9525">
            <a:solidFill>
              <a:srgbClr val="3DCD58">
                <a:alpha val="84000"/>
              </a:srgbClr>
            </a:solidFill>
            <a:prstDash val="solid"/>
          </a:ln>
        </p:spPr>
      </p:sp>
      <p:sp>
        <p:nvSpPr>
          <p:cNvPr id="141" name="Shape 139"/>
          <p:cNvSpPr/>
          <p:nvPr/>
        </p:nvSpPr>
        <p:spPr>
          <a:xfrm>
            <a:off x="8552246" y="3329330"/>
            <a:ext cx="63423" cy="-63423"/>
          </a:xfrm>
          <a:prstGeom prst="line">
            <a:avLst/>
          </a:prstGeom>
          <a:noFill/>
          <a:ln w="9525">
            <a:solidFill>
              <a:srgbClr val="3DCD58">
                <a:alpha val="84000"/>
              </a:srgbClr>
            </a:solidFill>
            <a:prstDash val="solid"/>
          </a:ln>
        </p:spPr>
      </p:sp>
      <p:sp>
        <p:nvSpPr>
          <p:cNvPr id="142" name="Shape 140"/>
          <p:cNvSpPr/>
          <p:nvPr/>
        </p:nvSpPr>
        <p:spPr>
          <a:xfrm>
            <a:off x="8826566" y="3329330"/>
            <a:ext cx="63423" cy="-63423"/>
          </a:xfrm>
          <a:prstGeom prst="line">
            <a:avLst/>
          </a:prstGeom>
          <a:noFill/>
          <a:ln w="9525">
            <a:solidFill>
              <a:srgbClr val="3DCD58">
                <a:alpha val="84000"/>
              </a:srgbClr>
            </a:solidFill>
            <a:prstDash val="solid"/>
          </a:ln>
        </p:spPr>
      </p:sp>
      <p:sp>
        <p:nvSpPr>
          <p:cNvPr id="143" name="Shape 141"/>
          <p:cNvSpPr/>
          <p:nvPr/>
        </p:nvSpPr>
        <p:spPr>
          <a:xfrm>
            <a:off x="9100886" y="3329330"/>
            <a:ext cx="63423" cy="-63423"/>
          </a:xfrm>
          <a:prstGeom prst="line">
            <a:avLst/>
          </a:prstGeom>
          <a:noFill/>
          <a:ln w="9525">
            <a:solidFill>
              <a:srgbClr val="3DCD58">
                <a:alpha val="84000"/>
              </a:srgbClr>
            </a:solidFill>
            <a:prstDash val="solid"/>
          </a:ln>
        </p:spPr>
      </p:sp>
      <p:sp>
        <p:nvSpPr>
          <p:cNvPr id="144" name="Shape 142"/>
          <p:cNvSpPr/>
          <p:nvPr/>
        </p:nvSpPr>
        <p:spPr>
          <a:xfrm>
            <a:off x="9375206" y="3329330"/>
            <a:ext cx="63423" cy="-63423"/>
          </a:xfrm>
          <a:prstGeom prst="line">
            <a:avLst/>
          </a:prstGeom>
          <a:noFill/>
          <a:ln w="9525">
            <a:solidFill>
              <a:srgbClr val="3DCD58">
                <a:alpha val="84000"/>
              </a:srgbClr>
            </a:solidFill>
            <a:prstDash val="solid"/>
          </a:ln>
        </p:spPr>
      </p:sp>
      <p:sp>
        <p:nvSpPr>
          <p:cNvPr id="145" name="Shape 143"/>
          <p:cNvSpPr/>
          <p:nvPr/>
        </p:nvSpPr>
        <p:spPr>
          <a:xfrm>
            <a:off x="9649526" y="3329330"/>
            <a:ext cx="63423" cy="-63423"/>
          </a:xfrm>
          <a:prstGeom prst="line">
            <a:avLst/>
          </a:prstGeom>
          <a:noFill/>
          <a:ln w="9525">
            <a:solidFill>
              <a:srgbClr val="3DCD58">
                <a:alpha val="84000"/>
              </a:srgbClr>
            </a:solidFill>
            <a:prstDash val="solid"/>
          </a:ln>
        </p:spPr>
      </p:sp>
      <p:sp>
        <p:nvSpPr>
          <p:cNvPr id="146" name="Shape 144"/>
          <p:cNvSpPr/>
          <p:nvPr/>
        </p:nvSpPr>
        <p:spPr>
          <a:xfrm>
            <a:off x="9923846" y="3329330"/>
            <a:ext cx="63423" cy="-63423"/>
          </a:xfrm>
          <a:prstGeom prst="line">
            <a:avLst/>
          </a:prstGeom>
          <a:noFill/>
          <a:ln w="9525">
            <a:solidFill>
              <a:srgbClr val="3DCD58">
                <a:alpha val="84000"/>
              </a:srgbClr>
            </a:solidFill>
            <a:prstDash val="solid"/>
          </a:ln>
        </p:spPr>
      </p:sp>
      <p:sp>
        <p:nvSpPr>
          <p:cNvPr id="147" name="Shape 145"/>
          <p:cNvSpPr/>
          <p:nvPr/>
        </p:nvSpPr>
        <p:spPr>
          <a:xfrm>
            <a:off x="10198166" y="3329330"/>
            <a:ext cx="63423" cy="-63423"/>
          </a:xfrm>
          <a:prstGeom prst="line">
            <a:avLst/>
          </a:prstGeom>
          <a:noFill/>
          <a:ln w="9525">
            <a:solidFill>
              <a:srgbClr val="3DCD58">
                <a:alpha val="84000"/>
              </a:srgbClr>
            </a:solidFill>
            <a:prstDash val="solid"/>
          </a:ln>
        </p:spPr>
      </p:sp>
      <p:sp>
        <p:nvSpPr>
          <p:cNvPr id="148" name="Shape 146"/>
          <p:cNvSpPr/>
          <p:nvPr/>
        </p:nvSpPr>
        <p:spPr>
          <a:xfrm>
            <a:off x="10472486" y="3329330"/>
            <a:ext cx="63423" cy="-63423"/>
          </a:xfrm>
          <a:prstGeom prst="line">
            <a:avLst/>
          </a:prstGeom>
          <a:noFill/>
          <a:ln w="9525">
            <a:solidFill>
              <a:srgbClr val="3DCD58">
                <a:alpha val="84000"/>
              </a:srgbClr>
            </a:solidFill>
            <a:prstDash val="solid"/>
          </a:ln>
        </p:spPr>
      </p:sp>
      <p:sp>
        <p:nvSpPr>
          <p:cNvPr id="149" name="Shape 147"/>
          <p:cNvSpPr/>
          <p:nvPr/>
        </p:nvSpPr>
        <p:spPr>
          <a:xfrm>
            <a:off x="10746806" y="3329330"/>
            <a:ext cx="63423" cy="-63423"/>
          </a:xfrm>
          <a:prstGeom prst="line">
            <a:avLst/>
          </a:prstGeom>
          <a:noFill/>
          <a:ln w="9525">
            <a:solidFill>
              <a:srgbClr val="3DCD58">
                <a:alpha val="84000"/>
              </a:srgbClr>
            </a:solidFill>
            <a:prstDash val="solid"/>
          </a:ln>
        </p:spPr>
      </p:sp>
      <p:sp>
        <p:nvSpPr>
          <p:cNvPr id="150" name="Shape 148"/>
          <p:cNvSpPr/>
          <p:nvPr/>
        </p:nvSpPr>
        <p:spPr>
          <a:xfrm>
            <a:off x="11021126" y="3329330"/>
            <a:ext cx="63423" cy="-63423"/>
          </a:xfrm>
          <a:prstGeom prst="line">
            <a:avLst/>
          </a:prstGeom>
          <a:noFill/>
          <a:ln w="9525">
            <a:solidFill>
              <a:srgbClr val="3DCD58">
                <a:alpha val="84000"/>
              </a:srgbClr>
            </a:solidFill>
            <a:prstDash val="solid"/>
          </a:ln>
        </p:spPr>
      </p:sp>
      <p:sp>
        <p:nvSpPr>
          <p:cNvPr id="151" name="Shape 149"/>
          <p:cNvSpPr/>
          <p:nvPr/>
        </p:nvSpPr>
        <p:spPr>
          <a:xfrm>
            <a:off x="11295446" y="3329330"/>
            <a:ext cx="63423" cy="-63423"/>
          </a:xfrm>
          <a:prstGeom prst="line">
            <a:avLst/>
          </a:prstGeom>
          <a:noFill/>
          <a:ln w="9525">
            <a:solidFill>
              <a:srgbClr val="3DCD58">
                <a:alpha val="84000"/>
              </a:srgbClr>
            </a:solidFill>
            <a:prstDash val="solid"/>
          </a:ln>
        </p:spPr>
      </p:sp>
      <p:sp>
        <p:nvSpPr>
          <p:cNvPr id="152" name="Shape 150"/>
          <p:cNvSpPr/>
          <p:nvPr/>
        </p:nvSpPr>
        <p:spPr>
          <a:xfrm>
            <a:off x="6232139" y="3227832"/>
            <a:ext cx="128016" cy="128016"/>
          </a:xfrm>
          <a:prstGeom prst="ellipse">
            <a:avLst/>
          </a:prstGeom>
          <a:solidFill>
            <a:srgbClr val="FFB04C"/>
          </a:solidFill>
          <a:ln w="12700">
            <a:solidFill>
              <a:srgbClr val="FFFFFF"/>
            </a:solidFill>
            <a:prstDash val="solid"/>
          </a:ln>
        </p:spPr>
      </p:sp>
      <p:sp>
        <p:nvSpPr>
          <p:cNvPr id="153" name="Shape 151"/>
          <p:cNvSpPr/>
          <p:nvPr/>
        </p:nvSpPr>
        <p:spPr>
          <a:xfrm>
            <a:off x="7043486" y="3227832"/>
            <a:ext cx="128016" cy="128016"/>
          </a:xfrm>
          <a:prstGeom prst="ellipse">
            <a:avLst/>
          </a:prstGeom>
          <a:solidFill>
            <a:srgbClr val="007A27"/>
          </a:solidFill>
          <a:ln w="12700">
            <a:solidFill>
              <a:srgbClr val="FFFFFF"/>
            </a:solidFill>
            <a:prstDash val="solid"/>
          </a:ln>
        </p:spPr>
      </p:sp>
      <p:sp>
        <p:nvSpPr>
          <p:cNvPr id="154" name="Shape 152"/>
          <p:cNvSpPr/>
          <p:nvPr/>
        </p:nvSpPr>
        <p:spPr>
          <a:xfrm>
            <a:off x="621792" y="3429000"/>
            <a:ext cx="411480" cy="2194560"/>
          </a:xfrm>
          <a:prstGeom prst="rect">
            <a:avLst/>
          </a:prstGeom>
          <a:solidFill>
            <a:srgbClr val="275B7F"/>
          </a:solidFill>
          <a:ln w="7620">
            <a:solidFill>
              <a:srgbClr val="FFFFFF"/>
            </a:solidFill>
            <a:prstDash val="solid"/>
          </a:ln>
        </p:spPr>
      </p:sp>
      <p:sp>
        <p:nvSpPr>
          <p:cNvPr id="155" name="Text 153"/>
          <p:cNvSpPr/>
          <p:nvPr/>
        </p:nvSpPr>
        <p:spPr>
          <a:xfrm>
            <a:off x="649224" y="3447288"/>
            <a:ext cx="356616" cy="2157984"/>
          </a:xfrm>
          <a:prstGeom prst="rect">
            <a:avLst/>
          </a:prstGeom>
          <a:noFill/>
          <a:ln/>
        </p:spPr>
        <p:txBody>
          <a:bodyPr wrap="square" lIns="0" tIns="0" rIns="0" bIns="0" rtlCol="0" anchor="ctr" vert="vert270">
            <a:normAutofit/>
          </a:bodyPr>
          <a:lstStyle/>
          <a:p>
            <a:pPr algn="ctr" indent="0" marL="0">
              <a:buNone/>
            </a:pPr>
            <a:r>
              <a:rPr lang="en-US" sz="750" b="1" dirty="0">
                <a:solidFill>
                  <a:srgbClr val="FFFFFF"/>
                </a:solidFill>
                <a:latin typeface="Calibri" pitchFamily="34" charset="0"/>
                <a:ea typeface="Calibri" pitchFamily="34" charset="-122"/>
                <a:cs typeface="Calibri" pitchFamily="34" charset="-120"/>
              </a:rPr>
              <a:t>ENERGY &amp; EFFICIENCY</a:t>
            </a:r>
            <a:endParaRPr lang="en-US" sz="750" dirty="0"/>
          </a:p>
        </p:txBody>
      </p:sp>
      <p:sp>
        <p:nvSpPr>
          <p:cNvPr id="156" name="Shape 154"/>
          <p:cNvSpPr/>
          <p:nvPr/>
        </p:nvSpPr>
        <p:spPr>
          <a:xfrm>
            <a:off x="1033272" y="3703320"/>
            <a:ext cx="10536631" cy="0"/>
          </a:xfrm>
          <a:prstGeom prst="line">
            <a:avLst/>
          </a:prstGeom>
          <a:noFill/>
          <a:ln w="4445">
            <a:solidFill>
              <a:srgbClr val="E2E6E2"/>
            </a:solidFill>
            <a:prstDash val="solid"/>
          </a:ln>
        </p:spPr>
      </p:sp>
      <p:sp>
        <p:nvSpPr>
          <p:cNvPr id="157" name="Shape 155"/>
          <p:cNvSpPr/>
          <p:nvPr/>
        </p:nvSpPr>
        <p:spPr>
          <a:xfrm>
            <a:off x="1143000" y="3456432"/>
            <a:ext cx="45720" cy="219456"/>
          </a:xfrm>
          <a:prstGeom prst="roundRect">
            <a:avLst>
              <a:gd name="adj" fmla="val 60000"/>
            </a:avLst>
          </a:prstGeom>
          <a:solidFill>
            <a:srgbClr val="275B7F"/>
          </a:solidFill>
          <a:ln w="12700">
            <a:solidFill>
              <a:srgbClr val="275B7F"/>
            </a:solidFill>
            <a:prstDash val="solid"/>
          </a:ln>
        </p:spPr>
      </p:sp>
      <p:sp>
        <p:nvSpPr>
          <p:cNvPr id="158" name="Text 156"/>
          <p:cNvSpPr/>
          <p:nvPr/>
        </p:nvSpPr>
        <p:spPr>
          <a:xfrm>
            <a:off x="1243584" y="34198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Energy Efficiency</a:t>
            </a:r>
            <a:endParaRPr lang="en-US" sz="950" dirty="0"/>
          </a:p>
        </p:txBody>
      </p:sp>
      <p:sp>
        <p:nvSpPr>
          <p:cNvPr id="159" name="Shape 157"/>
          <p:cNvSpPr/>
          <p:nvPr/>
        </p:nvSpPr>
        <p:spPr>
          <a:xfrm>
            <a:off x="4808677" y="3519526"/>
            <a:ext cx="4327185" cy="93269"/>
          </a:xfrm>
          <a:prstGeom prst="roundRect">
            <a:avLst>
              <a:gd name="adj" fmla="val 39216"/>
            </a:avLst>
          </a:prstGeom>
          <a:solidFill>
            <a:srgbClr val="275B7F"/>
          </a:solidFill>
          <a:ln w="5080">
            <a:solidFill>
              <a:srgbClr val="275B7F"/>
            </a:solidFill>
            <a:prstDash val="solid"/>
          </a:ln>
        </p:spPr>
      </p:sp>
      <p:sp>
        <p:nvSpPr>
          <p:cNvPr id="160" name="Shape 158"/>
          <p:cNvSpPr/>
          <p:nvPr/>
        </p:nvSpPr>
        <p:spPr>
          <a:xfrm>
            <a:off x="9135862" y="3519526"/>
            <a:ext cx="2434041" cy="93269"/>
          </a:xfrm>
          <a:prstGeom prst="roundRect">
            <a:avLst>
              <a:gd name="adj" fmla="val 24510"/>
            </a:avLst>
          </a:prstGeom>
          <a:solidFill>
            <a:srgbClr val="275B7F">
              <a:alpha val="6000"/>
            </a:srgbClr>
          </a:solidFill>
          <a:ln w="6350">
            <a:solidFill>
              <a:srgbClr val="275B7F">
                <a:alpha val="60000"/>
              </a:srgbClr>
            </a:solidFill>
            <a:prstDash val="solid"/>
          </a:ln>
        </p:spPr>
      </p:sp>
      <p:sp>
        <p:nvSpPr>
          <p:cNvPr id="161" name="Shape 159"/>
          <p:cNvSpPr/>
          <p:nvPr/>
        </p:nvSpPr>
        <p:spPr>
          <a:xfrm>
            <a:off x="9209014" y="3603650"/>
            <a:ext cx="63423" cy="-63423"/>
          </a:xfrm>
          <a:prstGeom prst="line">
            <a:avLst/>
          </a:prstGeom>
          <a:noFill/>
          <a:ln w="9525">
            <a:solidFill>
              <a:srgbClr val="275B7F">
                <a:alpha val="84000"/>
              </a:srgbClr>
            </a:solidFill>
            <a:prstDash val="solid"/>
          </a:ln>
        </p:spPr>
      </p:sp>
      <p:sp>
        <p:nvSpPr>
          <p:cNvPr id="162" name="Shape 160"/>
          <p:cNvSpPr/>
          <p:nvPr/>
        </p:nvSpPr>
        <p:spPr>
          <a:xfrm>
            <a:off x="9483334" y="3603650"/>
            <a:ext cx="63423" cy="-63423"/>
          </a:xfrm>
          <a:prstGeom prst="line">
            <a:avLst/>
          </a:prstGeom>
          <a:noFill/>
          <a:ln w="9525">
            <a:solidFill>
              <a:srgbClr val="275B7F">
                <a:alpha val="84000"/>
              </a:srgbClr>
            </a:solidFill>
            <a:prstDash val="solid"/>
          </a:ln>
        </p:spPr>
      </p:sp>
      <p:sp>
        <p:nvSpPr>
          <p:cNvPr id="163" name="Shape 161"/>
          <p:cNvSpPr/>
          <p:nvPr/>
        </p:nvSpPr>
        <p:spPr>
          <a:xfrm>
            <a:off x="9757654" y="3603650"/>
            <a:ext cx="63423" cy="-63423"/>
          </a:xfrm>
          <a:prstGeom prst="line">
            <a:avLst/>
          </a:prstGeom>
          <a:noFill/>
          <a:ln w="9525">
            <a:solidFill>
              <a:srgbClr val="275B7F">
                <a:alpha val="84000"/>
              </a:srgbClr>
            </a:solidFill>
            <a:prstDash val="solid"/>
          </a:ln>
        </p:spPr>
      </p:sp>
      <p:sp>
        <p:nvSpPr>
          <p:cNvPr id="164" name="Shape 162"/>
          <p:cNvSpPr/>
          <p:nvPr/>
        </p:nvSpPr>
        <p:spPr>
          <a:xfrm>
            <a:off x="10031974" y="3603650"/>
            <a:ext cx="63423" cy="-63423"/>
          </a:xfrm>
          <a:prstGeom prst="line">
            <a:avLst/>
          </a:prstGeom>
          <a:noFill/>
          <a:ln w="9525">
            <a:solidFill>
              <a:srgbClr val="275B7F">
                <a:alpha val="84000"/>
              </a:srgbClr>
            </a:solidFill>
            <a:prstDash val="solid"/>
          </a:ln>
        </p:spPr>
      </p:sp>
      <p:sp>
        <p:nvSpPr>
          <p:cNvPr id="165" name="Shape 163"/>
          <p:cNvSpPr/>
          <p:nvPr/>
        </p:nvSpPr>
        <p:spPr>
          <a:xfrm>
            <a:off x="10306294" y="3603650"/>
            <a:ext cx="63423" cy="-63423"/>
          </a:xfrm>
          <a:prstGeom prst="line">
            <a:avLst/>
          </a:prstGeom>
          <a:noFill/>
          <a:ln w="9525">
            <a:solidFill>
              <a:srgbClr val="275B7F">
                <a:alpha val="84000"/>
              </a:srgbClr>
            </a:solidFill>
            <a:prstDash val="solid"/>
          </a:ln>
        </p:spPr>
      </p:sp>
      <p:sp>
        <p:nvSpPr>
          <p:cNvPr id="166" name="Shape 164"/>
          <p:cNvSpPr/>
          <p:nvPr/>
        </p:nvSpPr>
        <p:spPr>
          <a:xfrm>
            <a:off x="10580614" y="3603650"/>
            <a:ext cx="63423" cy="-63423"/>
          </a:xfrm>
          <a:prstGeom prst="line">
            <a:avLst/>
          </a:prstGeom>
          <a:noFill/>
          <a:ln w="9525">
            <a:solidFill>
              <a:srgbClr val="275B7F">
                <a:alpha val="84000"/>
              </a:srgbClr>
            </a:solidFill>
            <a:prstDash val="solid"/>
          </a:ln>
        </p:spPr>
      </p:sp>
      <p:sp>
        <p:nvSpPr>
          <p:cNvPr id="167" name="Shape 165"/>
          <p:cNvSpPr/>
          <p:nvPr/>
        </p:nvSpPr>
        <p:spPr>
          <a:xfrm>
            <a:off x="10854934" y="3603650"/>
            <a:ext cx="63423" cy="-63423"/>
          </a:xfrm>
          <a:prstGeom prst="line">
            <a:avLst/>
          </a:prstGeom>
          <a:noFill/>
          <a:ln w="9525">
            <a:solidFill>
              <a:srgbClr val="275B7F">
                <a:alpha val="84000"/>
              </a:srgbClr>
            </a:solidFill>
            <a:prstDash val="solid"/>
          </a:ln>
        </p:spPr>
      </p:sp>
      <p:sp>
        <p:nvSpPr>
          <p:cNvPr id="168" name="Shape 166"/>
          <p:cNvSpPr/>
          <p:nvPr/>
        </p:nvSpPr>
        <p:spPr>
          <a:xfrm>
            <a:off x="11129254" y="3603650"/>
            <a:ext cx="63423" cy="-63423"/>
          </a:xfrm>
          <a:prstGeom prst="line">
            <a:avLst/>
          </a:prstGeom>
          <a:noFill/>
          <a:ln w="9525">
            <a:solidFill>
              <a:srgbClr val="275B7F">
                <a:alpha val="84000"/>
              </a:srgbClr>
            </a:solidFill>
            <a:prstDash val="solid"/>
          </a:ln>
        </p:spPr>
      </p:sp>
      <p:sp>
        <p:nvSpPr>
          <p:cNvPr id="169" name="Shape 167"/>
          <p:cNvSpPr/>
          <p:nvPr/>
        </p:nvSpPr>
        <p:spPr>
          <a:xfrm>
            <a:off x="11403574" y="3603650"/>
            <a:ext cx="63423" cy="-63423"/>
          </a:xfrm>
          <a:prstGeom prst="line">
            <a:avLst/>
          </a:prstGeom>
          <a:noFill/>
          <a:ln w="9525">
            <a:solidFill>
              <a:srgbClr val="275B7F">
                <a:alpha val="84000"/>
              </a:srgbClr>
            </a:solidFill>
            <a:prstDash val="solid"/>
          </a:ln>
        </p:spPr>
      </p:sp>
      <p:sp>
        <p:nvSpPr>
          <p:cNvPr id="170" name="Shape 168"/>
          <p:cNvSpPr/>
          <p:nvPr/>
        </p:nvSpPr>
        <p:spPr>
          <a:xfrm>
            <a:off x="7043486" y="3502152"/>
            <a:ext cx="128016" cy="128016"/>
          </a:xfrm>
          <a:prstGeom prst="ellipse">
            <a:avLst/>
          </a:prstGeom>
          <a:solidFill>
            <a:srgbClr val="FFB04C"/>
          </a:solidFill>
          <a:ln w="12700">
            <a:solidFill>
              <a:srgbClr val="FFFFFF"/>
            </a:solidFill>
            <a:prstDash val="solid"/>
          </a:ln>
        </p:spPr>
      </p:sp>
      <p:sp>
        <p:nvSpPr>
          <p:cNvPr id="171" name="Shape 169"/>
          <p:cNvSpPr/>
          <p:nvPr/>
        </p:nvSpPr>
        <p:spPr>
          <a:xfrm>
            <a:off x="9071854" y="3502152"/>
            <a:ext cx="128016" cy="128016"/>
          </a:xfrm>
          <a:prstGeom prst="ellipse">
            <a:avLst/>
          </a:prstGeom>
          <a:solidFill>
            <a:srgbClr val="007A27"/>
          </a:solidFill>
          <a:ln w="12700">
            <a:solidFill>
              <a:srgbClr val="FFFFFF"/>
            </a:solidFill>
            <a:prstDash val="solid"/>
          </a:ln>
        </p:spPr>
      </p:sp>
      <p:sp>
        <p:nvSpPr>
          <p:cNvPr id="172" name="Shape 170"/>
          <p:cNvSpPr/>
          <p:nvPr/>
        </p:nvSpPr>
        <p:spPr>
          <a:xfrm>
            <a:off x="1033272" y="3703320"/>
            <a:ext cx="2423160" cy="274320"/>
          </a:xfrm>
          <a:prstGeom prst="rect">
            <a:avLst/>
          </a:prstGeom>
          <a:solidFill>
            <a:srgbClr val="F1F3F2">
              <a:alpha val="55000"/>
            </a:srgbClr>
          </a:solidFill>
          <a:ln w="12700">
            <a:solidFill>
              <a:srgbClr val="F1F3F2">
                <a:alpha val="0"/>
              </a:srgbClr>
            </a:solidFill>
            <a:prstDash val="solid"/>
          </a:ln>
        </p:spPr>
      </p:sp>
      <p:sp>
        <p:nvSpPr>
          <p:cNvPr id="173" name="Shape 171"/>
          <p:cNvSpPr/>
          <p:nvPr/>
        </p:nvSpPr>
        <p:spPr>
          <a:xfrm>
            <a:off x="1033272" y="3977640"/>
            <a:ext cx="10536631" cy="0"/>
          </a:xfrm>
          <a:prstGeom prst="line">
            <a:avLst/>
          </a:prstGeom>
          <a:noFill/>
          <a:ln w="4445">
            <a:solidFill>
              <a:srgbClr val="E2E6E2"/>
            </a:solidFill>
            <a:prstDash val="solid"/>
          </a:ln>
        </p:spPr>
      </p:sp>
      <p:sp>
        <p:nvSpPr>
          <p:cNvPr id="174" name="Shape 172"/>
          <p:cNvSpPr/>
          <p:nvPr/>
        </p:nvSpPr>
        <p:spPr>
          <a:xfrm>
            <a:off x="1143000" y="3730752"/>
            <a:ext cx="45720" cy="219456"/>
          </a:xfrm>
          <a:prstGeom prst="roundRect">
            <a:avLst>
              <a:gd name="adj" fmla="val 60000"/>
            </a:avLst>
          </a:prstGeom>
          <a:solidFill>
            <a:srgbClr val="275B7F"/>
          </a:solidFill>
          <a:ln w="12700">
            <a:solidFill>
              <a:srgbClr val="275B7F"/>
            </a:solidFill>
            <a:prstDash val="solid"/>
          </a:ln>
        </p:spPr>
      </p:sp>
      <p:sp>
        <p:nvSpPr>
          <p:cNvPr id="175" name="Text 173"/>
          <p:cNvSpPr/>
          <p:nvPr/>
        </p:nvSpPr>
        <p:spPr>
          <a:xfrm>
            <a:off x="1243584" y="36941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Capital Asset Planning</a:t>
            </a:r>
            <a:endParaRPr lang="en-US" sz="950" dirty="0"/>
          </a:p>
        </p:txBody>
      </p:sp>
      <p:sp>
        <p:nvSpPr>
          <p:cNvPr id="176" name="Shape 174"/>
          <p:cNvSpPr/>
          <p:nvPr/>
        </p:nvSpPr>
        <p:spPr>
          <a:xfrm>
            <a:off x="6160922" y="3793846"/>
            <a:ext cx="3651062" cy="93269"/>
          </a:xfrm>
          <a:prstGeom prst="roundRect">
            <a:avLst>
              <a:gd name="adj" fmla="val 39216"/>
            </a:avLst>
          </a:prstGeom>
          <a:solidFill>
            <a:srgbClr val="275B7F"/>
          </a:solidFill>
          <a:ln w="5080">
            <a:solidFill>
              <a:srgbClr val="275B7F"/>
            </a:solidFill>
            <a:prstDash val="solid"/>
          </a:ln>
        </p:spPr>
      </p:sp>
      <p:sp>
        <p:nvSpPr>
          <p:cNvPr id="177" name="Shape 175"/>
          <p:cNvSpPr/>
          <p:nvPr/>
        </p:nvSpPr>
        <p:spPr>
          <a:xfrm>
            <a:off x="9811984" y="3793846"/>
            <a:ext cx="1757919" cy="93269"/>
          </a:xfrm>
          <a:prstGeom prst="roundRect">
            <a:avLst>
              <a:gd name="adj" fmla="val 24510"/>
            </a:avLst>
          </a:prstGeom>
          <a:solidFill>
            <a:srgbClr val="275B7F">
              <a:alpha val="6000"/>
            </a:srgbClr>
          </a:solidFill>
          <a:ln w="6350">
            <a:solidFill>
              <a:srgbClr val="275B7F">
                <a:alpha val="60000"/>
              </a:srgbClr>
            </a:solidFill>
            <a:prstDash val="solid"/>
          </a:ln>
        </p:spPr>
      </p:sp>
      <p:sp>
        <p:nvSpPr>
          <p:cNvPr id="178" name="Shape 176"/>
          <p:cNvSpPr/>
          <p:nvPr/>
        </p:nvSpPr>
        <p:spPr>
          <a:xfrm>
            <a:off x="9885136" y="3877970"/>
            <a:ext cx="63423" cy="-63423"/>
          </a:xfrm>
          <a:prstGeom prst="line">
            <a:avLst/>
          </a:prstGeom>
          <a:noFill/>
          <a:ln w="9525">
            <a:solidFill>
              <a:srgbClr val="275B7F">
                <a:alpha val="84000"/>
              </a:srgbClr>
            </a:solidFill>
            <a:prstDash val="solid"/>
          </a:ln>
        </p:spPr>
      </p:sp>
      <p:sp>
        <p:nvSpPr>
          <p:cNvPr id="179" name="Shape 177"/>
          <p:cNvSpPr/>
          <p:nvPr/>
        </p:nvSpPr>
        <p:spPr>
          <a:xfrm>
            <a:off x="10159456" y="3877970"/>
            <a:ext cx="63423" cy="-63423"/>
          </a:xfrm>
          <a:prstGeom prst="line">
            <a:avLst/>
          </a:prstGeom>
          <a:noFill/>
          <a:ln w="9525">
            <a:solidFill>
              <a:srgbClr val="275B7F">
                <a:alpha val="84000"/>
              </a:srgbClr>
            </a:solidFill>
            <a:prstDash val="solid"/>
          </a:ln>
        </p:spPr>
      </p:sp>
      <p:sp>
        <p:nvSpPr>
          <p:cNvPr id="180" name="Shape 178"/>
          <p:cNvSpPr/>
          <p:nvPr/>
        </p:nvSpPr>
        <p:spPr>
          <a:xfrm>
            <a:off x="10433776" y="3877970"/>
            <a:ext cx="63423" cy="-63423"/>
          </a:xfrm>
          <a:prstGeom prst="line">
            <a:avLst/>
          </a:prstGeom>
          <a:noFill/>
          <a:ln w="9525">
            <a:solidFill>
              <a:srgbClr val="275B7F">
                <a:alpha val="84000"/>
              </a:srgbClr>
            </a:solidFill>
            <a:prstDash val="solid"/>
          </a:ln>
        </p:spPr>
      </p:sp>
      <p:sp>
        <p:nvSpPr>
          <p:cNvPr id="181" name="Shape 179"/>
          <p:cNvSpPr/>
          <p:nvPr/>
        </p:nvSpPr>
        <p:spPr>
          <a:xfrm>
            <a:off x="10708096" y="3877970"/>
            <a:ext cx="63423" cy="-63423"/>
          </a:xfrm>
          <a:prstGeom prst="line">
            <a:avLst/>
          </a:prstGeom>
          <a:noFill/>
          <a:ln w="9525">
            <a:solidFill>
              <a:srgbClr val="275B7F">
                <a:alpha val="84000"/>
              </a:srgbClr>
            </a:solidFill>
            <a:prstDash val="solid"/>
          </a:ln>
        </p:spPr>
      </p:sp>
      <p:sp>
        <p:nvSpPr>
          <p:cNvPr id="182" name="Shape 180"/>
          <p:cNvSpPr/>
          <p:nvPr/>
        </p:nvSpPr>
        <p:spPr>
          <a:xfrm>
            <a:off x="10982416" y="3877970"/>
            <a:ext cx="63423" cy="-63423"/>
          </a:xfrm>
          <a:prstGeom prst="line">
            <a:avLst/>
          </a:prstGeom>
          <a:noFill/>
          <a:ln w="9525">
            <a:solidFill>
              <a:srgbClr val="275B7F">
                <a:alpha val="84000"/>
              </a:srgbClr>
            </a:solidFill>
            <a:prstDash val="solid"/>
          </a:ln>
        </p:spPr>
      </p:sp>
      <p:sp>
        <p:nvSpPr>
          <p:cNvPr id="183" name="Shape 181"/>
          <p:cNvSpPr/>
          <p:nvPr/>
        </p:nvSpPr>
        <p:spPr>
          <a:xfrm>
            <a:off x="11256736" y="3877970"/>
            <a:ext cx="63423" cy="-63423"/>
          </a:xfrm>
          <a:prstGeom prst="line">
            <a:avLst/>
          </a:prstGeom>
          <a:noFill/>
          <a:ln w="9525">
            <a:solidFill>
              <a:srgbClr val="275B7F">
                <a:alpha val="84000"/>
              </a:srgbClr>
            </a:solidFill>
            <a:prstDash val="solid"/>
          </a:ln>
        </p:spPr>
      </p:sp>
      <p:sp>
        <p:nvSpPr>
          <p:cNvPr id="184" name="Shape 182"/>
          <p:cNvSpPr/>
          <p:nvPr/>
        </p:nvSpPr>
        <p:spPr>
          <a:xfrm>
            <a:off x="11531056" y="3877970"/>
            <a:ext cx="38847" cy="-38847"/>
          </a:xfrm>
          <a:prstGeom prst="line">
            <a:avLst/>
          </a:prstGeom>
          <a:noFill/>
          <a:ln w="9525">
            <a:solidFill>
              <a:srgbClr val="275B7F">
                <a:alpha val="84000"/>
              </a:srgbClr>
            </a:solidFill>
            <a:prstDash val="solid"/>
          </a:ln>
        </p:spPr>
      </p:sp>
      <p:sp>
        <p:nvSpPr>
          <p:cNvPr id="185" name="Shape 183"/>
          <p:cNvSpPr/>
          <p:nvPr/>
        </p:nvSpPr>
        <p:spPr>
          <a:xfrm>
            <a:off x="8395731" y="3776472"/>
            <a:ext cx="128016" cy="128016"/>
          </a:xfrm>
          <a:prstGeom prst="ellipse">
            <a:avLst/>
          </a:prstGeom>
          <a:solidFill>
            <a:srgbClr val="FFB04C"/>
          </a:solidFill>
          <a:ln w="12700">
            <a:solidFill>
              <a:srgbClr val="FFFFFF"/>
            </a:solidFill>
            <a:prstDash val="solid"/>
          </a:ln>
        </p:spPr>
      </p:sp>
      <p:sp>
        <p:nvSpPr>
          <p:cNvPr id="186" name="Shape 184"/>
          <p:cNvSpPr/>
          <p:nvPr/>
        </p:nvSpPr>
        <p:spPr>
          <a:xfrm>
            <a:off x="9747976" y="3776472"/>
            <a:ext cx="128016" cy="128016"/>
          </a:xfrm>
          <a:prstGeom prst="ellipse">
            <a:avLst/>
          </a:prstGeom>
          <a:solidFill>
            <a:srgbClr val="007A27"/>
          </a:solidFill>
          <a:ln w="12700">
            <a:solidFill>
              <a:srgbClr val="FFFFFF"/>
            </a:solidFill>
            <a:prstDash val="solid"/>
          </a:ln>
        </p:spPr>
      </p:sp>
      <p:sp>
        <p:nvSpPr>
          <p:cNvPr id="187" name="Shape 185"/>
          <p:cNvSpPr/>
          <p:nvPr/>
        </p:nvSpPr>
        <p:spPr>
          <a:xfrm>
            <a:off x="1033272" y="4251960"/>
            <a:ext cx="10536631" cy="0"/>
          </a:xfrm>
          <a:prstGeom prst="line">
            <a:avLst/>
          </a:prstGeom>
          <a:noFill/>
          <a:ln w="4445">
            <a:solidFill>
              <a:srgbClr val="E2E6E2"/>
            </a:solidFill>
            <a:prstDash val="solid"/>
          </a:ln>
        </p:spPr>
      </p:sp>
      <p:sp>
        <p:nvSpPr>
          <p:cNvPr id="188" name="Shape 186"/>
          <p:cNvSpPr/>
          <p:nvPr/>
        </p:nvSpPr>
        <p:spPr>
          <a:xfrm>
            <a:off x="1143000" y="4005072"/>
            <a:ext cx="45720" cy="219456"/>
          </a:xfrm>
          <a:prstGeom prst="roundRect">
            <a:avLst>
              <a:gd name="adj" fmla="val 60000"/>
            </a:avLst>
          </a:prstGeom>
          <a:solidFill>
            <a:srgbClr val="275B7F"/>
          </a:solidFill>
          <a:ln w="12700">
            <a:solidFill>
              <a:srgbClr val="275B7F"/>
            </a:solidFill>
            <a:prstDash val="solid"/>
          </a:ln>
        </p:spPr>
      </p:sp>
      <p:sp>
        <p:nvSpPr>
          <p:cNvPr id="189" name="Text 187"/>
          <p:cNvSpPr/>
          <p:nvPr/>
        </p:nvSpPr>
        <p:spPr>
          <a:xfrm>
            <a:off x="1243584" y="39684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Metering &amp; Interval Data</a:t>
            </a:r>
            <a:endParaRPr lang="en-US" sz="950" dirty="0"/>
          </a:p>
        </p:txBody>
      </p:sp>
      <p:sp>
        <p:nvSpPr>
          <p:cNvPr id="190" name="Shape 188"/>
          <p:cNvSpPr/>
          <p:nvPr/>
        </p:nvSpPr>
        <p:spPr>
          <a:xfrm>
            <a:off x="4808677" y="4068166"/>
            <a:ext cx="4327185" cy="93269"/>
          </a:xfrm>
          <a:prstGeom prst="roundRect">
            <a:avLst>
              <a:gd name="adj" fmla="val 39216"/>
            </a:avLst>
          </a:prstGeom>
          <a:solidFill>
            <a:srgbClr val="275B7F"/>
          </a:solidFill>
          <a:ln w="5080">
            <a:solidFill>
              <a:srgbClr val="275B7F"/>
            </a:solidFill>
            <a:prstDash val="solid"/>
          </a:ln>
        </p:spPr>
      </p:sp>
      <p:sp>
        <p:nvSpPr>
          <p:cNvPr id="191" name="Shape 189"/>
          <p:cNvSpPr/>
          <p:nvPr/>
        </p:nvSpPr>
        <p:spPr>
          <a:xfrm>
            <a:off x="9135862" y="4068166"/>
            <a:ext cx="2434041" cy="93269"/>
          </a:xfrm>
          <a:prstGeom prst="roundRect">
            <a:avLst>
              <a:gd name="adj" fmla="val 24510"/>
            </a:avLst>
          </a:prstGeom>
          <a:solidFill>
            <a:srgbClr val="275B7F">
              <a:alpha val="6000"/>
            </a:srgbClr>
          </a:solidFill>
          <a:ln w="6350">
            <a:solidFill>
              <a:srgbClr val="275B7F">
                <a:alpha val="60000"/>
              </a:srgbClr>
            </a:solidFill>
            <a:prstDash val="solid"/>
          </a:ln>
        </p:spPr>
      </p:sp>
      <p:sp>
        <p:nvSpPr>
          <p:cNvPr id="192" name="Shape 190"/>
          <p:cNvSpPr/>
          <p:nvPr/>
        </p:nvSpPr>
        <p:spPr>
          <a:xfrm>
            <a:off x="9209014" y="4152290"/>
            <a:ext cx="63423" cy="-63423"/>
          </a:xfrm>
          <a:prstGeom prst="line">
            <a:avLst/>
          </a:prstGeom>
          <a:noFill/>
          <a:ln w="9525">
            <a:solidFill>
              <a:srgbClr val="275B7F">
                <a:alpha val="84000"/>
              </a:srgbClr>
            </a:solidFill>
            <a:prstDash val="solid"/>
          </a:ln>
        </p:spPr>
      </p:sp>
      <p:sp>
        <p:nvSpPr>
          <p:cNvPr id="193" name="Shape 191"/>
          <p:cNvSpPr/>
          <p:nvPr/>
        </p:nvSpPr>
        <p:spPr>
          <a:xfrm>
            <a:off x="9483334" y="4152290"/>
            <a:ext cx="63423" cy="-63423"/>
          </a:xfrm>
          <a:prstGeom prst="line">
            <a:avLst/>
          </a:prstGeom>
          <a:noFill/>
          <a:ln w="9525">
            <a:solidFill>
              <a:srgbClr val="275B7F">
                <a:alpha val="84000"/>
              </a:srgbClr>
            </a:solidFill>
            <a:prstDash val="solid"/>
          </a:ln>
        </p:spPr>
      </p:sp>
      <p:sp>
        <p:nvSpPr>
          <p:cNvPr id="194" name="Shape 192"/>
          <p:cNvSpPr/>
          <p:nvPr/>
        </p:nvSpPr>
        <p:spPr>
          <a:xfrm>
            <a:off x="9757654" y="4152290"/>
            <a:ext cx="63423" cy="-63423"/>
          </a:xfrm>
          <a:prstGeom prst="line">
            <a:avLst/>
          </a:prstGeom>
          <a:noFill/>
          <a:ln w="9525">
            <a:solidFill>
              <a:srgbClr val="275B7F">
                <a:alpha val="84000"/>
              </a:srgbClr>
            </a:solidFill>
            <a:prstDash val="solid"/>
          </a:ln>
        </p:spPr>
      </p:sp>
      <p:sp>
        <p:nvSpPr>
          <p:cNvPr id="195" name="Shape 193"/>
          <p:cNvSpPr/>
          <p:nvPr/>
        </p:nvSpPr>
        <p:spPr>
          <a:xfrm>
            <a:off x="10031974" y="4152290"/>
            <a:ext cx="63423" cy="-63423"/>
          </a:xfrm>
          <a:prstGeom prst="line">
            <a:avLst/>
          </a:prstGeom>
          <a:noFill/>
          <a:ln w="9525">
            <a:solidFill>
              <a:srgbClr val="275B7F">
                <a:alpha val="84000"/>
              </a:srgbClr>
            </a:solidFill>
            <a:prstDash val="solid"/>
          </a:ln>
        </p:spPr>
      </p:sp>
      <p:sp>
        <p:nvSpPr>
          <p:cNvPr id="196" name="Shape 194"/>
          <p:cNvSpPr/>
          <p:nvPr/>
        </p:nvSpPr>
        <p:spPr>
          <a:xfrm>
            <a:off x="10306294" y="4152290"/>
            <a:ext cx="63423" cy="-63423"/>
          </a:xfrm>
          <a:prstGeom prst="line">
            <a:avLst/>
          </a:prstGeom>
          <a:noFill/>
          <a:ln w="9525">
            <a:solidFill>
              <a:srgbClr val="275B7F">
                <a:alpha val="84000"/>
              </a:srgbClr>
            </a:solidFill>
            <a:prstDash val="solid"/>
          </a:ln>
        </p:spPr>
      </p:sp>
      <p:sp>
        <p:nvSpPr>
          <p:cNvPr id="197" name="Shape 195"/>
          <p:cNvSpPr/>
          <p:nvPr/>
        </p:nvSpPr>
        <p:spPr>
          <a:xfrm>
            <a:off x="10580614" y="4152290"/>
            <a:ext cx="63423" cy="-63423"/>
          </a:xfrm>
          <a:prstGeom prst="line">
            <a:avLst/>
          </a:prstGeom>
          <a:noFill/>
          <a:ln w="9525">
            <a:solidFill>
              <a:srgbClr val="275B7F">
                <a:alpha val="84000"/>
              </a:srgbClr>
            </a:solidFill>
            <a:prstDash val="solid"/>
          </a:ln>
        </p:spPr>
      </p:sp>
      <p:sp>
        <p:nvSpPr>
          <p:cNvPr id="198" name="Shape 196"/>
          <p:cNvSpPr/>
          <p:nvPr/>
        </p:nvSpPr>
        <p:spPr>
          <a:xfrm>
            <a:off x="10854934" y="4152290"/>
            <a:ext cx="63423" cy="-63423"/>
          </a:xfrm>
          <a:prstGeom prst="line">
            <a:avLst/>
          </a:prstGeom>
          <a:noFill/>
          <a:ln w="9525">
            <a:solidFill>
              <a:srgbClr val="275B7F">
                <a:alpha val="84000"/>
              </a:srgbClr>
            </a:solidFill>
            <a:prstDash val="solid"/>
          </a:ln>
        </p:spPr>
      </p:sp>
      <p:sp>
        <p:nvSpPr>
          <p:cNvPr id="199" name="Shape 197"/>
          <p:cNvSpPr/>
          <p:nvPr/>
        </p:nvSpPr>
        <p:spPr>
          <a:xfrm>
            <a:off x="11129254" y="4152290"/>
            <a:ext cx="63423" cy="-63423"/>
          </a:xfrm>
          <a:prstGeom prst="line">
            <a:avLst/>
          </a:prstGeom>
          <a:noFill/>
          <a:ln w="9525">
            <a:solidFill>
              <a:srgbClr val="275B7F">
                <a:alpha val="84000"/>
              </a:srgbClr>
            </a:solidFill>
            <a:prstDash val="solid"/>
          </a:ln>
        </p:spPr>
      </p:sp>
      <p:sp>
        <p:nvSpPr>
          <p:cNvPr id="200" name="Shape 198"/>
          <p:cNvSpPr/>
          <p:nvPr/>
        </p:nvSpPr>
        <p:spPr>
          <a:xfrm>
            <a:off x="11403574" y="4152290"/>
            <a:ext cx="63423" cy="-63423"/>
          </a:xfrm>
          <a:prstGeom prst="line">
            <a:avLst/>
          </a:prstGeom>
          <a:noFill/>
          <a:ln w="9525">
            <a:solidFill>
              <a:srgbClr val="275B7F">
                <a:alpha val="84000"/>
              </a:srgbClr>
            </a:solidFill>
            <a:prstDash val="solid"/>
          </a:ln>
        </p:spPr>
      </p:sp>
      <p:sp>
        <p:nvSpPr>
          <p:cNvPr id="201" name="Shape 199"/>
          <p:cNvSpPr/>
          <p:nvPr/>
        </p:nvSpPr>
        <p:spPr>
          <a:xfrm>
            <a:off x="7043486" y="4050792"/>
            <a:ext cx="128016" cy="128016"/>
          </a:xfrm>
          <a:prstGeom prst="ellipse">
            <a:avLst/>
          </a:prstGeom>
          <a:solidFill>
            <a:srgbClr val="FFB04C"/>
          </a:solidFill>
          <a:ln w="12700">
            <a:solidFill>
              <a:srgbClr val="FFFFFF"/>
            </a:solidFill>
            <a:prstDash val="solid"/>
          </a:ln>
        </p:spPr>
      </p:sp>
      <p:sp>
        <p:nvSpPr>
          <p:cNvPr id="202" name="Shape 200"/>
          <p:cNvSpPr/>
          <p:nvPr/>
        </p:nvSpPr>
        <p:spPr>
          <a:xfrm>
            <a:off x="9071854" y="4050792"/>
            <a:ext cx="128016" cy="128016"/>
          </a:xfrm>
          <a:prstGeom prst="ellipse">
            <a:avLst/>
          </a:prstGeom>
          <a:solidFill>
            <a:srgbClr val="007A27"/>
          </a:solidFill>
          <a:ln w="12700">
            <a:solidFill>
              <a:srgbClr val="FFFFFF"/>
            </a:solidFill>
            <a:prstDash val="solid"/>
          </a:ln>
        </p:spPr>
      </p:sp>
      <p:sp>
        <p:nvSpPr>
          <p:cNvPr id="203" name="Shape 201"/>
          <p:cNvSpPr/>
          <p:nvPr/>
        </p:nvSpPr>
        <p:spPr>
          <a:xfrm>
            <a:off x="1033272" y="4251960"/>
            <a:ext cx="2423160" cy="274320"/>
          </a:xfrm>
          <a:prstGeom prst="rect">
            <a:avLst/>
          </a:prstGeom>
          <a:solidFill>
            <a:srgbClr val="F1F3F2">
              <a:alpha val="55000"/>
            </a:srgbClr>
          </a:solidFill>
          <a:ln w="12700">
            <a:solidFill>
              <a:srgbClr val="F1F3F2">
                <a:alpha val="0"/>
              </a:srgbClr>
            </a:solidFill>
            <a:prstDash val="solid"/>
          </a:ln>
        </p:spPr>
      </p:sp>
      <p:sp>
        <p:nvSpPr>
          <p:cNvPr id="204" name="Shape 202"/>
          <p:cNvSpPr/>
          <p:nvPr/>
        </p:nvSpPr>
        <p:spPr>
          <a:xfrm>
            <a:off x="1033272" y="4526280"/>
            <a:ext cx="10536631" cy="0"/>
          </a:xfrm>
          <a:prstGeom prst="line">
            <a:avLst/>
          </a:prstGeom>
          <a:noFill/>
          <a:ln w="4445">
            <a:solidFill>
              <a:srgbClr val="E2E6E2"/>
            </a:solidFill>
            <a:prstDash val="solid"/>
          </a:ln>
        </p:spPr>
      </p:sp>
      <p:sp>
        <p:nvSpPr>
          <p:cNvPr id="205" name="Shape 203"/>
          <p:cNvSpPr/>
          <p:nvPr/>
        </p:nvSpPr>
        <p:spPr>
          <a:xfrm>
            <a:off x="1143000" y="4279392"/>
            <a:ext cx="45720" cy="219456"/>
          </a:xfrm>
          <a:prstGeom prst="roundRect">
            <a:avLst>
              <a:gd name="adj" fmla="val 60000"/>
            </a:avLst>
          </a:prstGeom>
          <a:solidFill>
            <a:srgbClr val="275B7F"/>
          </a:solidFill>
          <a:ln w="12700">
            <a:solidFill>
              <a:srgbClr val="275B7F"/>
            </a:solidFill>
            <a:prstDash val="solid"/>
          </a:ln>
        </p:spPr>
      </p:sp>
      <p:sp>
        <p:nvSpPr>
          <p:cNvPr id="206" name="Text 204"/>
          <p:cNvSpPr/>
          <p:nvPr/>
        </p:nvSpPr>
        <p:spPr>
          <a:xfrm>
            <a:off x="1243584" y="42428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Energy Portfolio Management</a:t>
            </a:r>
            <a:endParaRPr lang="en-US" sz="950" dirty="0"/>
          </a:p>
        </p:txBody>
      </p:sp>
      <p:sp>
        <p:nvSpPr>
          <p:cNvPr id="207" name="Shape 205"/>
          <p:cNvSpPr/>
          <p:nvPr/>
        </p:nvSpPr>
        <p:spPr>
          <a:xfrm>
            <a:off x="5484800" y="4342486"/>
            <a:ext cx="3448225" cy="93269"/>
          </a:xfrm>
          <a:prstGeom prst="roundRect">
            <a:avLst>
              <a:gd name="adj" fmla="val 39216"/>
            </a:avLst>
          </a:prstGeom>
          <a:solidFill>
            <a:srgbClr val="275B7F"/>
          </a:solidFill>
          <a:ln w="5080">
            <a:solidFill>
              <a:srgbClr val="275B7F"/>
            </a:solidFill>
            <a:prstDash val="solid"/>
          </a:ln>
        </p:spPr>
      </p:sp>
      <p:sp>
        <p:nvSpPr>
          <p:cNvPr id="208" name="Shape 206"/>
          <p:cNvSpPr/>
          <p:nvPr/>
        </p:nvSpPr>
        <p:spPr>
          <a:xfrm>
            <a:off x="8933025" y="4342486"/>
            <a:ext cx="2636878" cy="93269"/>
          </a:xfrm>
          <a:prstGeom prst="roundRect">
            <a:avLst>
              <a:gd name="adj" fmla="val 24510"/>
            </a:avLst>
          </a:prstGeom>
          <a:solidFill>
            <a:srgbClr val="275B7F">
              <a:alpha val="6000"/>
            </a:srgbClr>
          </a:solidFill>
          <a:ln w="6350">
            <a:solidFill>
              <a:srgbClr val="275B7F">
                <a:alpha val="60000"/>
              </a:srgbClr>
            </a:solidFill>
            <a:prstDash val="solid"/>
          </a:ln>
        </p:spPr>
      </p:sp>
      <p:sp>
        <p:nvSpPr>
          <p:cNvPr id="209" name="Shape 207"/>
          <p:cNvSpPr/>
          <p:nvPr/>
        </p:nvSpPr>
        <p:spPr>
          <a:xfrm>
            <a:off x="9006177" y="4426610"/>
            <a:ext cx="63423" cy="-63423"/>
          </a:xfrm>
          <a:prstGeom prst="line">
            <a:avLst/>
          </a:prstGeom>
          <a:noFill/>
          <a:ln w="9525">
            <a:solidFill>
              <a:srgbClr val="275B7F">
                <a:alpha val="84000"/>
              </a:srgbClr>
            </a:solidFill>
            <a:prstDash val="solid"/>
          </a:ln>
        </p:spPr>
      </p:sp>
      <p:sp>
        <p:nvSpPr>
          <p:cNvPr id="210" name="Shape 208"/>
          <p:cNvSpPr/>
          <p:nvPr/>
        </p:nvSpPr>
        <p:spPr>
          <a:xfrm>
            <a:off x="9280497" y="4426610"/>
            <a:ext cx="63423" cy="-63423"/>
          </a:xfrm>
          <a:prstGeom prst="line">
            <a:avLst/>
          </a:prstGeom>
          <a:noFill/>
          <a:ln w="9525">
            <a:solidFill>
              <a:srgbClr val="275B7F">
                <a:alpha val="84000"/>
              </a:srgbClr>
            </a:solidFill>
            <a:prstDash val="solid"/>
          </a:ln>
        </p:spPr>
      </p:sp>
      <p:sp>
        <p:nvSpPr>
          <p:cNvPr id="211" name="Shape 209"/>
          <p:cNvSpPr/>
          <p:nvPr/>
        </p:nvSpPr>
        <p:spPr>
          <a:xfrm>
            <a:off x="9554817" y="4426610"/>
            <a:ext cx="63423" cy="-63423"/>
          </a:xfrm>
          <a:prstGeom prst="line">
            <a:avLst/>
          </a:prstGeom>
          <a:noFill/>
          <a:ln w="9525">
            <a:solidFill>
              <a:srgbClr val="275B7F">
                <a:alpha val="84000"/>
              </a:srgbClr>
            </a:solidFill>
            <a:prstDash val="solid"/>
          </a:ln>
        </p:spPr>
      </p:sp>
      <p:sp>
        <p:nvSpPr>
          <p:cNvPr id="212" name="Shape 210"/>
          <p:cNvSpPr/>
          <p:nvPr/>
        </p:nvSpPr>
        <p:spPr>
          <a:xfrm>
            <a:off x="9829137" y="4426610"/>
            <a:ext cx="63423" cy="-63423"/>
          </a:xfrm>
          <a:prstGeom prst="line">
            <a:avLst/>
          </a:prstGeom>
          <a:noFill/>
          <a:ln w="9525">
            <a:solidFill>
              <a:srgbClr val="275B7F">
                <a:alpha val="84000"/>
              </a:srgbClr>
            </a:solidFill>
            <a:prstDash val="solid"/>
          </a:ln>
        </p:spPr>
      </p:sp>
      <p:sp>
        <p:nvSpPr>
          <p:cNvPr id="213" name="Shape 211"/>
          <p:cNvSpPr/>
          <p:nvPr/>
        </p:nvSpPr>
        <p:spPr>
          <a:xfrm>
            <a:off x="10103457" y="4426610"/>
            <a:ext cx="63423" cy="-63423"/>
          </a:xfrm>
          <a:prstGeom prst="line">
            <a:avLst/>
          </a:prstGeom>
          <a:noFill/>
          <a:ln w="9525">
            <a:solidFill>
              <a:srgbClr val="275B7F">
                <a:alpha val="84000"/>
              </a:srgbClr>
            </a:solidFill>
            <a:prstDash val="solid"/>
          </a:ln>
        </p:spPr>
      </p:sp>
      <p:sp>
        <p:nvSpPr>
          <p:cNvPr id="214" name="Shape 212"/>
          <p:cNvSpPr/>
          <p:nvPr/>
        </p:nvSpPr>
        <p:spPr>
          <a:xfrm>
            <a:off x="10377777" y="4426610"/>
            <a:ext cx="63423" cy="-63423"/>
          </a:xfrm>
          <a:prstGeom prst="line">
            <a:avLst/>
          </a:prstGeom>
          <a:noFill/>
          <a:ln w="9525">
            <a:solidFill>
              <a:srgbClr val="275B7F">
                <a:alpha val="84000"/>
              </a:srgbClr>
            </a:solidFill>
            <a:prstDash val="solid"/>
          </a:ln>
        </p:spPr>
      </p:sp>
      <p:sp>
        <p:nvSpPr>
          <p:cNvPr id="215" name="Shape 213"/>
          <p:cNvSpPr/>
          <p:nvPr/>
        </p:nvSpPr>
        <p:spPr>
          <a:xfrm>
            <a:off x="10652097" y="4426610"/>
            <a:ext cx="63423" cy="-63423"/>
          </a:xfrm>
          <a:prstGeom prst="line">
            <a:avLst/>
          </a:prstGeom>
          <a:noFill/>
          <a:ln w="9525">
            <a:solidFill>
              <a:srgbClr val="275B7F">
                <a:alpha val="84000"/>
              </a:srgbClr>
            </a:solidFill>
            <a:prstDash val="solid"/>
          </a:ln>
        </p:spPr>
      </p:sp>
      <p:sp>
        <p:nvSpPr>
          <p:cNvPr id="216" name="Shape 214"/>
          <p:cNvSpPr/>
          <p:nvPr/>
        </p:nvSpPr>
        <p:spPr>
          <a:xfrm>
            <a:off x="10926417" y="4426610"/>
            <a:ext cx="63423" cy="-63423"/>
          </a:xfrm>
          <a:prstGeom prst="line">
            <a:avLst/>
          </a:prstGeom>
          <a:noFill/>
          <a:ln w="9525">
            <a:solidFill>
              <a:srgbClr val="275B7F">
                <a:alpha val="84000"/>
              </a:srgbClr>
            </a:solidFill>
            <a:prstDash val="solid"/>
          </a:ln>
        </p:spPr>
      </p:sp>
      <p:sp>
        <p:nvSpPr>
          <p:cNvPr id="217" name="Shape 215"/>
          <p:cNvSpPr/>
          <p:nvPr/>
        </p:nvSpPr>
        <p:spPr>
          <a:xfrm>
            <a:off x="11200737" y="4426610"/>
            <a:ext cx="63423" cy="-63423"/>
          </a:xfrm>
          <a:prstGeom prst="line">
            <a:avLst/>
          </a:prstGeom>
          <a:noFill/>
          <a:ln w="9525">
            <a:solidFill>
              <a:srgbClr val="275B7F">
                <a:alpha val="84000"/>
              </a:srgbClr>
            </a:solidFill>
            <a:prstDash val="solid"/>
          </a:ln>
        </p:spPr>
      </p:sp>
      <p:sp>
        <p:nvSpPr>
          <p:cNvPr id="218" name="Shape 216"/>
          <p:cNvSpPr/>
          <p:nvPr/>
        </p:nvSpPr>
        <p:spPr>
          <a:xfrm>
            <a:off x="11475057" y="4426610"/>
            <a:ext cx="63423" cy="-63423"/>
          </a:xfrm>
          <a:prstGeom prst="line">
            <a:avLst/>
          </a:prstGeom>
          <a:noFill/>
          <a:ln w="9525">
            <a:solidFill>
              <a:srgbClr val="275B7F">
                <a:alpha val="84000"/>
              </a:srgbClr>
            </a:solidFill>
            <a:prstDash val="solid"/>
          </a:ln>
        </p:spPr>
      </p:sp>
      <p:sp>
        <p:nvSpPr>
          <p:cNvPr id="219" name="Shape 217"/>
          <p:cNvSpPr/>
          <p:nvPr/>
        </p:nvSpPr>
        <p:spPr>
          <a:xfrm>
            <a:off x="6773037" y="4325112"/>
            <a:ext cx="128016" cy="128016"/>
          </a:xfrm>
          <a:prstGeom prst="ellipse">
            <a:avLst/>
          </a:prstGeom>
          <a:solidFill>
            <a:srgbClr val="FFB04C"/>
          </a:solidFill>
          <a:ln w="12700">
            <a:solidFill>
              <a:srgbClr val="FFFFFF"/>
            </a:solidFill>
            <a:prstDash val="solid"/>
          </a:ln>
        </p:spPr>
      </p:sp>
      <p:sp>
        <p:nvSpPr>
          <p:cNvPr id="220" name="Shape 218"/>
          <p:cNvSpPr/>
          <p:nvPr/>
        </p:nvSpPr>
        <p:spPr>
          <a:xfrm>
            <a:off x="8869017" y="4325112"/>
            <a:ext cx="128016" cy="128016"/>
          </a:xfrm>
          <a:prstGeom prst="ellipse">
            <a:avLst/>
          </a:prstGeom>
          <a:solidFill>
            <a:srgbClr val="007A27"/>
          </a:solidFill>
          <a:ln w="12700">
            <a:solidFill>
              <a:srgbClr val="FFFFFF"/>
            </a:solidFill>
            <a:prstDash val="solid"/>
          </a:ln>
        </p:spPr>
      </p:sp>
      <p:sp>
        <p:nvSpPr>
          <p:cNvPr id="221" name="Shape 219"/>
          <p:cNvSpPr/>
          <p:nvPr/>
        </p:nvSpPr>
        <p:spPr>
          <a:xfrm>
            <a:off x="1033272" y="4800600"/>
            <a:ext cx="10536631" cy="0"/>
          </a:xfrm>
          <a:prstGeom prst="line">
            <a:avLst/>
          </a:prstGeom>
          <a:noFill/>
          <a:ln w="4445">
            <a:solidFill>
              <a:srgbClr val="E2E6E2"/>
            </a:solidFill>
            <a:prstDash val="solid"/>
          </a:ln>
        </p:spPr>
      </p:sp>
      <p:sp>
        <p:nvSpPr>
          <p:cNvPr id="222" name="Shape 220"/>
          <p:cNvSpPr/>
          <p:nvPr/>
        </p:nvSpPr>
        <p:spPr>
          <a:xfrm>
            <a:off x="1143000" y="4553712"/>
            <a:ext cx="45720" cy="219456"/>
          </a:xfrm>
          <a:prstGeom prst="roundRect">
            <a:avLst>
              <a:gd name="adj" fmla="val 60000"/>
            </a:avLst>
          </a:prstGeom>
          <a:solidFill>
            <a:srgbClr val="275B7F"/>
          </a:solidFill>
          <a:ln w="12700">
            <a:solidFill>
              <a:srgbClr val="275B7F"/>
            </a:solidFill>
            <a:prstDash val="solid"/>
          </a:ln>
        </p:spPr>
      </p:sp>
      <p:sp>
        <p:nvSpPr>
          <p:cNvPr id="223" name="Text 221"/>
          <p:cNvSpPr/>
          <p:nvPr/>
        </p:nvSpPr>
        <p:spPr>
          <a:xfrm>
            <a:off x="1243584" y="451713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Utility Data Management</a:t>
            </a:r>
            <a:endParaRPr lang="en-US" sz="950" dirty="0"/>
          </a:p>
        </p:txBody>
      </p:sp>
      <p:sp>
        <p:nvSpPr>
          <p:cNvPr id="224" name="Shape 222"/>
          <p:cNvSpPr/>
          <p:nvPr/>
        </p:nvSpPr>
        <p:spPr>
          <a:xfrm>
            <a:off x="4808677" y="4616806"/>
            <a:ext cx="3651062" cy="93269"/>
          </a:xfrm>
          <a:prstGeom prst="roundRect">
            <a:avLst>
              <a:gd name="adj" fmla="val 39216"/>
            </a:avLst>
          </a:prstGeom>
          <a:solidFill>
            <a:srgbClr val="275B7F"/>
          </a:solidFill>
          <a:ln w="5080">
            <a:solidFill>
              <a:srgbClr val="275B7F"/>
            </a:solidFill>
            <a:prstDash val="solid"/>
          </a:ln>
        </p:spPr>
      </p:sp>
      <p:sp>
        <p:nvSpPr>
          <p:cNvPr id="225" name="Shape 223"/>
          <p:cNvSpPr/>
          <p:nvPr/>
        </p:nvSpPr>
        <p:spPr>
          <a:xfrm>
            <a:off x="8459739" y="4616806"/>
            <a:ext cx="3110164" cy="93269"/>
          </a:xfrm>
          <a:prstGeom prst="roundRect">
            <a:avLst>
              <a:gd name="adj" fmla="val 24510"/>
            </a:avLst>
          </a:prstGeom>
          <a:solidFill>
            <a:srgbClr val="275B7F">
              <a:alpha val="6000"/>
            </a:srgbClr>
          </a:solidFill>
          <a:ln w="6350">
            <a:solidFill>
              <a:srgbClr val="275B7F">
                <a:alpha val="60000"/>
              </a:srgbClr>
            </a:solidFill>
            <a:prstDash val="solid"/>
          </a:ln>
        </p:spPr>
      </p:sp>
      <p:sp>
        <p:nvSpPr>
          <p:cNvPr id="226" name="Shape 224"/>
          <p:cNvSpPr/>
          <p:nvPr/>
        </p:nvSpPr>
        <p:spPr>
          <a:xfrm>
            <a:off x="8532891" y="4700930"/>
            <a:ext cx="63423" cy="-63423"/>
          </a:xfrm>
          <a:prstGeom prst="line">
            <a:avLst/>
          </a:prstGeom>
          <a:noFill/>
          <a:ln w="9525">
            <a:solidFill>
              <a:srgbClr val="275B7F">
                <a:alpha val="84000"/>
              </a:srgbClr>
            </a:solidFill>
            <a:prstDash val="solid"/>
          </a:ln>
        </p:spPr>
      </p:sp>
      <p:sp>
        <p:nvSpPr>
          <p:cNvPr id="227" name="Shape 225"/>
          <p:cNvSpPr/>
          <p:nvPr/>
        </p:nvSpPr>
        <p:spPr>
          <a:xfrm>
            <a:off x="8807211" y="4700930"/>
            <a:ext cx="63423" cy="-63423"/>
          </a:xfrm>
          <a:prstGeom prst="line">
            <a:avLst/>
          </a:prstGeom>
          <a:noFill/>
          <a:ln w="9525">
            <a:solidFill>
              <a:srgbClr val="275B7F">
                <a:alpha val="84000"/>
              </a:srgbClr>
            </a:solidFill>
            <a:prstDash val="solid"/>
          </a:ln>
        </p:spPr>
      </p:sp>
      <p:sp>
        <p:nvSpPr>
          <p:cNvPr id="228" name="Shape 226"/>
          <p:cNvSpPr/>
          <p:nvPr/>
        </p:nvSpPr>
        <p:spPr>
          <a:xfrm>
            <a:off x="9081531" y="4700930"/>
            <a:ext cx="63423" cy="-63423"/>
          </a:xfrm>
          <a:prstGeom prst="line">
            <a:avLst/>
          </a:prstGeom>
          <a:noFill/>
          <a:ln w="9525">
            <a:solidFill>
              <a:srgbClr val="275B7F">
                <a:alpha val="84000"/>
              </a:srgbClr>
            </a:solidFill>
            <a:prstDash val="solid"/>
          </a:ln>
        </p:spPr>
      </p:sp>
      <p:sp>
        <p:nvSpPr>
          <p:cNvPr id="229" name="Shape 227"/>
          <p:cNvSpPr/>
          <p:nvPr/>
        </p:nvSpPr>
        <p:spPr>
          <a:xfrm>
            <a:off x="9355851" y="4700930"/>
            <a:ext cx="63423" cy="-63423"/>
          </a:xfrm>
          <a:prstGeom prst="line">
            <a:avLst/>
          </a:prstGeom>
          <a:noFill/>
          <a:ln w="9525">
            <a:solidFill>
              <a:srgbClr val="275B7F">
                <a:alpha val="84000"/>
              </a:srgbClr>
            </a:solidFill>
            <a:prstDash val="solid"/>
          </a:ln>
        </p:spPr>
      </p:sp>
      <p:sp>
        <p:nvSpPr>
          <p:cNvPr id="230" name="Shape 228"/>
          <p:cNvSpPr/>
          <p:nvPr/>
        </p:nvSpPr>
        <p:spPr>
          <a:xfrm>
            <a:off x="9630171" y="4700930"/>
            <a:ext cx="63423" cy="-63423"/>
          </a:xfrm>
          <a:prstGeom prst="line">
            <a:avLst/>
          </a:prstGeom>
          <a:noFill/>
          <a:ln w="9525">
            <a:solidFill>
              <a:srgbClr val="275B7F">
                <a:alpha val="84000"/>
              </a:srgbClr>
            </a:solidFill>
            <a:prstDash val="solid"/>
          </a:ln>
        </p:spPr>
      </p:sp>
      <p:sp>
        <p:nvSpPr>
          <p:cNvPr id="231" name="Shape 229"/>
          <p:cNvSpPr/>
          <p:nvPr/>
        </p:nvSpPr>
        <p:spPr>
          <a:xfrm>
            <a:off x="9904491" y="4700930"/>
            <a:ext cx="63423" cy="-63423"/>
          </a:xfrm>
          <a:prstGeom prst="line">
            <a:avLst/>
          </a:prstGeom>
          <a:noFill/>
          <a:ln w="9525">
            <a:solidFill>
              <a:srgbClr val="275B7F">
                <a:alpha val="84000"/>
              </a:srgbClr>
            </a:solidFill>
            <a:prstDash val="solid"/>
          </a:ln>
        </p:spPr>
      </p:sp>
      <p:sp>
        <p:nvSpPr>
          <p:cNvPr id="232" name="Shape 230"/>
          <p:cNvSpPr/>
          <p:nvPr/>
        </p:nvSpPr>
        <p:spPr>
          <a:xfrm>
            <a:off x="10178811" y="4700930"/>
            <a:ext cx="63423" cy="-63423"/>
          </a:xfrm>
          <a:prstGeom prst="line">
            <a:avLst/>
          </a:prstGeom>
          <a:noFill/>
          <a:ln w="9525">
            <a:solidFill>
              <a:srgbClr val="275B7F">
                <a:alpha val="84000"/>
              </a:srgbClr>
            </a:solidFill>
            <a:prstDash val="solid"/>
          </a:ln>
        </p:spPr>
      </p:sp>
      <p:sp>
        <p:nvSpPr>
          <p:cNvPr id="233" name="Shape 231"/>
          <p:cNvSpPr/>
          <p:nvPr/>
        </p:nvSpPr>
        <p:spPr>
          <a:xfrm>
            <a:off x="10453131" y="4700930"/>
            <a:ext cx="63423" cy="-63423"/>
          </a:xfrm>
          <a:prstGeom prst="line">
            <a:avLst/>
          </a:prstGeom>
          <a:noFill/>
          <a:ln w="9525">
            <a:solidFill>
              <a:srgbClr val="275B7F">
                <a:alpha val="84000"/>
              </a:srgbClr>
            </a:solidFill>
            <a:prstDash val="solid"/>
          </a:ln>
        </p:spPr>
      </p:sp>
      <p:sp>
        <p:nvSpPr>
          <p:cNvPr id="234" name="Shape 232"/>
          <p:cNvSpPr/>
          <p:nvPr/>
        </p:nvSpPr>
        <p:spPr>
          <a:xfrm>
            <a:off x="10727451" y="4700930"/>
            <a:ext cx="63423" cy="-63423"/>
          </a:xfrm>
          <a:prstGeom prst="line">
            <a:avLst/>
          </a:prstGeom>
          <a:noFill/>
          <a:ln w="9525">
            <a:solidFill>
              <a:srgbClr val="275B7F">
                <a:alpha val="84000"/>
              </a:srgbClr>
            </a:solidFill>
            <a:prstDash val="solid"/>
          </a:ln>
        </p:spPr>
      </p:sp>
      <p:sp>
        <p:nvSpPr>
          <p:cNvPr id="235" name="Shape 233"/>
          <p:cNvSpPr/>
          <p:nvPr/>
        </p:nvSpPr>
        <p:spPr>
          <a:xfrm>
            <a:off x="11001771" y="4700930"/>
            <a:ext cx="63423" cy="-63423"/>
          </a:xfrm>
          <a:prstGeom prst="line">
            <a:avLst/>
          </a:prstGeom>
          <a:noFill/>
          <a:ln w="9525">
            <a:solidFill>
              <a:srgbClr val="275B7F">
                <a:alpha val="84000"/>
              </a:srgbClr>
            </a:solidFill>
            <a:prstDash val="solid"/>
          </a:ln>
        </p:spPr>
      </p:sp>
      <p:sp>
        <p:nvSpPr>
          <p:cNvPr id="236" name="Shape 234"/>
          <p:cNvSpPr/>
          <p:nvPr/>
        </p:nvSpPr>
        <p:spPr>
          <a:xfrm>
            <a:off x="11276091" y="4700930"/>
            <a:ext cx="63423" cy="-63423"/>
          </a:xfrm>
          <a:prstGeom prst="line">
            <a:avLst/>
          </a:prstGeom>
          <a:noFill/>
          <a:ln w="9525">
            <a:solidFill>
              <a:srgbClr val="275B7F">
                <a:alpha val="84000"/>
              </a:srgbClr>
            </a:solidFill>
            <a:prstDash val="solid"/>
          </a:ln>
        </p:spPr>
      </p:sp>
      <p:sp>
        <p:nvSpPr>
          <p:cNvPr id="237" name="Shape 235"/>
          <p:cNvSpPr/>
          <p:nvPr/>
        </p:nvSpPr>
        <p:spPr>
          <a:xfrm>
            <a:off x="7111098" y="4599432"/>
            <a:ext cx="128016" cy="128016"/>
          </a:xfrm>
          <a:prstGeom prst="ellipse">
            <a:avLst/>
          </a:prstGeom>
          <a:solidFill>
            <a:srgbClr val="FFB04C"/>
          </a:solidFill>
          <a:ln w="12700">
            <a:solidFill>
              <a:srgbClr val="FFFFFF"/>
            </a:solidFill>
            <a:prstDash val="solid"/>
          </a:ln>
        </p:spPr>
      </p:sp>
      <p:sp>
        <p:nvSpPr>
          <p:cNvPr id="238" name="Shape 236"/>
          <p:cNvSpPr/>
          <p:nvPr/>
        </p:nvSpPr>
        <p:spPr>
          <a:xfrm>
            <a:off x="8395731" y="4599432"/>
            <a:ext cx="128016" cy="128016"/>
          </a:xfrm>
          <a:prstGeom prst="ellipse">
            <a:avLst/>
          </a:prstGeom>
          <a:solidFill>
            <a:srgbClr val="007A27"/>
          </a:solidFill>
          <a:ln w="12700">
            <a:solidFill>
              <a:srgbClr val="FFFFFF"/>
            </a:solidFill>
            <a:prstDash val="solid"/>
          </a:ln>
        </p:spPr>
      </p:sp>
      <p:sp>
        <p:nvSpPr>
          <p:cNvPr id="239" name="Shape 237"/>
          <p:cNvSpPr/>
          <p:nvPr/>
        </p:nvSpPr>
        <p:spPr>
          <a:xfrm>
            <a:off x="1033272" y="4800600"/>
            <a:ext cx="2423160" cy="274320"/>
          </a:xfrm>
          <a:prstGeom prst="rect">
            <a:avLst/>
          </a:prstGeom>
          <a:solidFill>
            <a:srgbClr val="F1F3F2">
              <a:alpha val="55000"/>
            </a:srgbClr>
          </a:solidFill>
          <a:ln w="12700">
            <a:solidFill>
              <a:srgbClr val="F1F3F2">
                <a:alpha val="0"/>
              </a:srgbClr>
            </a:solidFill>
            <a:prstDash val="solid"/>
          </a:ln>
        </p:spPr>
      </p:sp>
      <p:sp>
        <p:nvSpPr>
          <p:cNvPr id="240" name="Shape 238"/>
          <p:cNvSpPr/>
          <p:nvPr/>
        </p:nvSpPr>
        <p:spPr>
          <a:xfrm>
            <a:off x="1033272" y="5074920"/>
            <a:ext cx="10536631" cy="0"/>
          </a:xfrm>
          <a:prstGeom prst="line">
            <a:avLst/>
          </a:prstGeom>
          <a:noFill/>
          <a:ln w="4445">
            <a:solidFill>
              <a:srgbClr val="E2E6E2"/>
            </a:solidFill>
            <a:prstDash val="solid"/>
          </a:ln>
        </p:spPr>
      </p:sp>
      <p:sp>
        <p:nvSpPr>
          <p:cNvPr id="241" name="Shape 239"/>
          <p:cNvSpPr/>
          <p:nvPr/>
        </p:nvSpPr>
        <p:spPr>
          <a:xfrm>
            <a:off x="1143000" y="4828032"/>
            <a:ext cx="45720" cy="219456"/>
          </a:xfrm>
          <a:prstGeom prst="roundRect">
            <a:avLst>
              <a:gd name="adj" fmla="val 60000"/>
            </a:avLst>
          </a:prstGeom>
          <a:solidFill>
            <a:srgbClr val="275B7F"/>
          </a:solidFill>
          <a:ln w="12700">
            <a:solidFill>
              <a:srgbClr val="275B7F"/>
            </a:solidFill>
            <a:prstDash val="solid"/>
          </a:ln>
        </p:spPr>
      </p:sp>
      <p:sp>
        <p:nvSpPr>
          <p:cNvPr id="242" name="Text 240"/>
          <p:cNvSpPr/>
          <p:nvPr/>
        </p:nvSpPr>
        <p:spPr>
          <a:xfrm>
            <a:off x="1243584" y="479145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Budget &amp; Tariff Intelligence</a:t>
            </a:r>
            <a:endParaRPr lang="en-US" sz="950" dirty="0"/>
          </a:p>
        </p:txBody>
      </p:sp>
      <p:sp>
        <p:nvSpPr>
          <p:cNvPr id="243" name="Shape 241"/>
          <p:cNvSpPr/>
          <p:nvPr/>
        </p:nvSpPr>
        <p:spPr>
          <a:xfrm>
            <a:off x="5484800" y="4891126"/>
            <a:ext cx="3651062" cy="93269"/>
          </a:xfrm>
          <a:prstGeom prst="roundRect">
            <a:avLst>
              <a:gd name="adj" fmla="val 39216"/>
            </a:avLst>
          </a:prstGeom>
          <a:solidFill>
            <a:srgbClr val="275B7F"/>
          </a:solidFill>
          <a:ln w="5080">
            <a:solidFill>
              <a:srgbClr val="275B7F"/>
            </a:solidFill>
            <a:prstDash val="solid"/>
          </a:ln>
        </p:spPr>
      </p:sp>
      <p:sp>
        <p:nvSpPr>
          <p:cNvPr id="244" name="Shape 242"/>
          <p:cNvSpPr/>
          <p:nvPr/>
        </p:nvSpPr>
        <p:spPr>
          <a:xfrm>
            <a:off x="9135862" y="4891126"/>
            <a:ext cx="2434041" cy="93269"/>
          </a:xfrm>
          <a:prstGeom prst="roundRect">
            <a:avLst>
              <a:gd name="adj" fmla="val 24510"/>
            </a:avLst>
          </a:prstGeom>
          <a:solidFill>
            <a:srgbClr val="275B7F">
              <a:alpha val="6000"/>
            </a:srgbClr>
          </a:solidFill>
          <a:ln w="6350">
            <a:solidFill>
              <a:srgbClr val="275B7F">
                <a:alpha val="60000"/>
              </a:srgbClr>
            </a:solidFill>
            <a:prstDash val="solid"/>
          </a:ln>
        </p:spPr>
      </p:sp>
      <p:sp>
        <p:nvSpPr>
          <p:cNvPr id="245" name="Shape 243"/>
          <p:cNvSpPr/>
          <p:nvPr/>
        </p:nvSpPr>
        <p:spPr>
          <a:xfrm>
            <a:off x="9209014" y="4975250"/>
            <a:ext cx="63423" cy="-63423"/>
          </a:xfrm>
          <a:prstGeom prst="line">
            <a:avLst/>
          </a:prstGeom>
          <a:noFill/>
          <a:ln w="9525">
            <a:solidFill>
              <a:srgbClr val="275B7F">
                <a:alpha val="84000"/>
              </a:srgbClr>
            </a:solidFill>
            <a:prstDash val="solid"/>
          </a:ln>
        </p:spPr>
      </p:sp>
      <p:sp>
        <p:nvSpPr>
          <p:cNvPr id="246" name="Shape 244"/>
          <p:cNvSpPr/>
          <p:nvPr/>
        </p:nvSpPr>
        <p:spPr>
          <a:xfrm>
            <a:off x="9483334" y="4975250"/>
            <a:ext cx="63423" cy="-63423"/>
          </a:xfrm>
          <a:prstGeom prst="line">
            <a:avLst/>
          </a:prstGeom>
          <a:noFill/>
          <a:ln w="9525">
            <a:solidFill>
              <a:srgbClr val="275B7F">
                <a:alpha val="84000"/>
              </a:srgbClr>
            </a:solidFill>
            <a:prstDash val="solid"/>
          </a:ln>
        </p:spPr>
      </p:sp>
      <p:sp>
        <p:nvSpPr>
          <p:cNvPr id="247" name="Shape 245"/>
          <p:cNvSpPr/>
          <p:nvPr/>
        </p:nvSpPr>
        <p:spPr>
          <a:xfrm>
            <a:off x="9757654" y="4975250"/>
            <a:ext cx="63423" cy="-63423"/>
          </a:xfrm>
          <a:prstGeom prst="line">
            <a:avLst/>
          </a:prstGeom>
          <a:noFill/>
          <a:ln w="9525">
            <a:solidFill>
              <a:srgbClr val="275B7F">
                <a:alpha val="84000"/>
              </a:srgbClr>
            </a:solidFill>
            <a:prstDash val="solid"/>
          </a:ln>
        </p:spPr>
      </p:sp>
      <p:sp>
        <p:nvSpPr>
          <p:cNvPr id="248" name="Shape 246"/>
          <p:cNvSpPr/>
          <p:nvPr/>
        </p:nvSpPr>
        <p:spPr>
          <a:xfrm>
            <a:off x="10031974" y="4975250"/>
            <a:ext cx="63423" cy="-63423"/>
          </a:xfrm>
          <a:prstGeom prst="line">
            <a:avLst/>
          </a:prstGeom>
          <a:noFill/>
          <a:ln w="9525">
            <a:solidFill>
              <a:srgbClr val="275B7F">
                <a:alpha val="84000"/>
              </a:srgbClr>
            </a:solidFill>
            <a:prstDash val="solid"/>
          </a:ln>
        </p:spPr>
      </p:sp>
      <p:sp>
        <p:nvSpPr>
          <p:cNvPr id="249" name="Shape 247"/>
          <p:cNvSpPr/>
          <p:nvPr/>
        </p:nvSpPr>
        <p:spPr>
          <a:xfrm>
            <a:off x="10306294" y="4975250"/>
            <a:ext cx="63423" cy="-63423"/>
          </a:xfrm>
          <a:prstGeom prst="line">
            <a:avLst/>
          </a:prstGeom>
          <a:noFill/>
          <a:ln w="9525">
            <a:solidFill>
              <a:srgbClr val="275B7F">
                <a:alpha val="84000"/>
              </a:srgbClr>
            </a:solidFill>
            <a:prstDash val="solid"/>
          </a:ln>
        </p:spPr>
      </p:sp>
      <p:sp>
        <p:nvSpPr>
          <p:cNvPr id="250" name="Shape 248"/>
          <p:cNvSpPr/>
          <p:nvPr/>
        </p:nvSpPr>
        <p:spPr>
          <a:xfrm>
            <a:off x="10580614" y="4975250"/>
            <a:ext cx="63423" cy="-63423"/>
          </a:xfrm>
          <a:prstGeom prst="line">
            <a:avLst/>
          </a:prstGeom>
          <a:noFill/>
          <a:ln w="9525">
            <a:solidFill>
              <a:srgbClr val="275B7F">
                <a:alpha val="84000"/>
              </a:srgbClr>
            </a:solidFill>
            <a:prstDash val="solid"/>
          </a:ln>
        </p:spPr>
      </p:sp>
      <p:sp>
        <p:nvSpPr>
          <p:cNvPr id="251" name="Shape 249"/>
          <p:cNvSpPr/>
          <p:nvPr/>
        </p:nvSpPr>
        <p:spPr>
          <a:xfrm>
            <a:off x="10854934" y="4975250"/>
            <a:ext cx="63423" cy="-63423"/>
          </a:xfrm>
          <a:prstGeom prst="line">
            <a:avLst/>
          </a:prstGeom>
          <a:noFill/>
          <a:ln w="9525">
            <a:solidFill>
              <a:srgbClr val="275B7F">
                <a:alpha val="84000"/>
              </a:srgbClr>
            </a:solidFill>
            <a:prstDash val="solid"/>
          </a:ln>
        </p:spPr>
      </p:sp>
      <p:sp>
        <p:nvSpPr>
          <p:cNvPr id="252" name="Shape 250"/>
          <p:cNvSpPr/>
          <p:nvPr/>
        </p:nvSpPr>
        <p:spPr>
          <a:xfrm>
            <a:off x="11129254" y="4975250"/>
            <a:ext cx="63423" cy="-63423"/>
          </a:xfrm>
          <a:prstGeom prst="line">
            <a:avLst/>
          </a:prstGeom>
          <a:noFill/>
          <a:ln w="9525">
            <a:solidFill>
              <a:srgbClr val="275B7F">
                <a:alpha val="84000"/>
              </a:srgbClr>
            </a:solidFill>
            <a:prstDash val="solid"/>
          </a:ln>
        </p:spPr>
      </p:sp>
      <p:sp>
        <p:nvSpPr>
          <p:cNvPr id="253" name="Shape 251"/>
          <p:cNvSpPr/>
          <p:nvPr/>
        </p:nvSpPr>
        <p:spPr>
          <a:xfrm>
            <a:off x="11403574" y="4975250"/>
            <a:ext cx="63423" cy="-63423"/>
          </a:xfrm>
          <a:prstGeom prst="line">
            <a:avLst/>
          </a:prstGeom>
          <a:noFill/>
          <a:ln w="9525">
            <a:solidFill>
              <a:srgbClr val="275B7F">
                <a:alpha val="84000"/>
              </a:srgbClr>
            </a:solidFill>
            <a:prstDash val="solid"/>
          </a:ln>
        </p:spPr>
      </p:sp>
      <p:sp>
        <p:nvSpPr>
          <p:cNvPr id="254" name="Shape 252"/>
          <p:cNvSpPr/>
          <p:nvPr/>
        </p:nvSpPr>
        <p:spPr>
          <a:xfrm>
            <a:off x="7719609" y="4873752"/>
            <a:ext cx="128016" cy="128016"/>
          </a:xfrm>
          <a:prstGeom prst="ellipse">
            <a:avLst/>
          </a:prstGeom>
          <a:solidFill>
            <a:srgbClr val="FFB04C"/>
          </a:solidFill>
          <a:ln w="12700">
            <a:solidFill>
              <a:srgbClr val="FFFFFF"/>
            </a:solidFill>
            <a:prstDash val="solid"/>
          </a:ln>
        </p:spPr>
      </p:sp>
      <p:sp>
        <p:nvSpPr>
          <p:cNvPr id="255" name="Shape 253"/>
          <p:cNvSpPr/>
          <p:nvPr/>
        </p:nvSpPr>
        <p:spPr>
          <a:xfrm>
            <a:off x="9071854" y="4873752"/>
            <a:ext cx="128016" cy="128016"/>
          </a:xfrm>
          <a:prstGeom prst="ellipse">
            <a:avLst/>
          </a:prstGeom>
          <a:solidFill>
            <a:srgbClr val="007A27"/>
          </a:solidFill>
          <a:ln w="12700">
            <a:solidFill>
              <a:srgbClr val="FFFFFF"/>
            </a:solidFill>
            <a:prstDash val="solid"/>
          </a:ln>
        </p:spPr>
      </p:sp>
      <p:sp>
        <p:nvSpPr>
          <p:cNvPr id="256" name="Shape 254"/>
          <p:cNvSpPr/>
          <p:nvPr/>
        </p:nvSpPr>
        <p:spPr>
          <a:xfrm>
            <a:off x="1033272" y="5349240"/>
            <a:ext cx="10536631" cy="0"/>
          </a:xfrm>
          <a:prstGeom prst="line">
            <a:avLst/>
          </a:prstGeom>
          <a:noFill/>
          <a:ln w="4445">
            <a:solidFill>
              <a:srgbClr val="E2E6E2"/>
            </a:solidFill>
            <a:prstDash val="solid"/>
          </a:ln>
        </p:spPr>
      </p:sp>
      <p:sp>
        <p:nvSpPr>
          <p:cNvPr id="257" name="Shape 255"/>
          <p:cNvSpPr/>
          <p:nvPr/>
        </p:nvSpPr>
        <p:spPr>
          <a:xfrm>
            <a:off x="1143000" y="5102352"/>
            <a:ext cx="45720" cy="219456"/>
          </a:xfrm>
          <a:prstGeom prst="roundRect">
            <a:avLst>
              <a:gd name="adj" fmla="val 60000"/>
            </a:avLst>
          </a:prstGeom>
          <a:solidFill>
            <a:srgbClr val="275B7F"/>
          </a:solidFill>
          <a:ln w="12700">
            <a:solidFill>
              <a:srgbClr val="275B7F"/>
            </a:solidFill>
            <a:prstDash val="solid"/>
          </a:ln>
        </p:spPr>
      </p:sp>
      <p:sp>
        <p:nvSpPr>
          <p:cNvPr id="258" name="Text 256"/>
          <p:cNvSpPr/>
          <p:nvPr/>
        </p:nvSpPr>
        <p:spPr>
          <a:xfrm>
            <a:off x="1243584" y="506577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Sourcing &amp; Procurement</a:t>
            </a:r>
            <a:endParaRPr lang="en-US" sz="950" dirty="0"/>
          </a:p>
        </p:txBody>
      </p:sp>
      <p:sp>
        <p:nvSpPr>
          <p:cNvPr id="259" name="Shape 257"/>
          <p:cNvSpPr/>
          <p:nvPr/>
        </p:nvSpPr>
        <p:spPr>
          <a:xfrm>
            <a:off x="6160922" y="5165446"/>
            <a:ext cx="4327185" cy="93269"/>
          </a:xfrm>
          <a:prstGeom prst="roundRect">
            <a:avLst>
              <a:gd name="adj" fmla="val 39216"/>
            </a:avLst>
          </a:prstGeom>
          <a:solidFill>
            <a:srgbClr val="275B7F"/>
          </a:solidFill>
          <a:ln w="5080">
            <a:solidFill>
              <a:srgbClr val="275B7F"/>
            </a:solidFill>
            <a:prstDash val="solid"/>
          </a:ln>
        </p:spPr>
      </p:sp>
      <p:sp>
        <p:nvSpPr>
          <p:cNvPr id="260" name="Shape 258"/>
          <p:cNvSpPr/>
          <p:nvPr/>
        </p:nvSpPr>
        <p:spPr>
          <a:xfrm>
            <a:off x="10488107" y="5165446"/>
            <a:ext cx="1081796" cy="93269"/>
          </a:xfrm>
          <a:prstGeom prst="roundRect">
            <a:avLst>
              <a:gd name="adj" fmla="val 24510"/>
            </a:avLst>
          </a:prstGeom>
          <a:solidFill>
            <a:srgbClr val="275B7F">
              <a:alpha val="6000"/>
            </a:srgbClr>
          </a:solidFill>
          <a:ln w="6350">
            <a:solidFill>
              <a:srgbClr val="275B7F">
                <a:alpha val="60000"/>
              </a:srgbClr>
            </a:solidFill>
            <a:prstDash val="solid"/>
          </a:ln>
        </p:spPr>
      </p:sp>
      <p:sp>
        <p:nvSpPr>
          <p:cNvPr id="261" name="Shape 259"/>
          <p:cNvSpPr/>
          <p:nvPr/>
        </p:nvSpPr>
        <p:spPr>
          <a:xfrm>
            <a:off x="10561259" y="5249570"/>
            <a:ext cx="63423" cy="-63423"/>
          </a:xfrm>
          <a:prstGeom prst="line">
            <a:avLst/>
          </a:prstGeom>
          <a:noFill/>
          <a:ln w="9525">
            <a:solidFill>
              <a:srgbClr val="275B7F">
                <a:alpha val="84000"/>
              </a:srgbClr>
            </a:solidFill>
            <a:prstDash val="solid"/>
          </a:ln>
        </p:spPr>
      </p:sp>
      <p:sp>
        <p:nvSpPr>
          <p:cNvPr id="262" name="Shape 260"/>
          <p:cNvSpPr/>
          <p:nvPr/>
        </p:nvSpPr>
        <p:spPr>
          <a:xfrm>
            <a:off x="10835579" y="5249570"/>
            <a:ext cx="63423" cy="-63423"/>
          </a:xfrm>
          <a:prstGeom prst="line">
            <a:avLst/>
          </a:prstGeom>
          <a:noFill/>
          <a:ln w="9525">
            <a:solidFill>
              <a:srgbClr val="275B7F">
                <a:alpha val="84000"/>
              </a:srgbClr>
            </a:solidFill>
            <a:prstDash val="solid"/>
          </a:ln>
        </p:spPr>
      </p:sp>
      <p:sp>
        <p:nvSpPr>
          <p:cNvPr id="263" name="Shape 261"/>
          <p:cNvSpPr/>
          <p:nvPr/>
        </p:nvSpPr>
        <p:spPr>
          <a:xfrm>
            <a:off x="11109899" y="5249570"/>
            <a:ext cx="63423" cy="-63423"/>
          </a:xfrm>
          <a:prstGeom prst="line">
            <a:avLst/>
          </a:prstGeom>
          <a:noFill/>
          <a:ln w="9525">
            <a:solidFill>
              <a:srgbClr val="275B7F">
                <a:alpha val="84000"/>
              </a:srgbClr>
            </a:solidFill>
            <a:prstDash val="solid"/>
          </a:ln>
        </p:spPr>
      </p:sp>
      <p:sp>
        <p:nvSpPr>
          <p:cNvPr id="264" name="Shape 262"/>
          <p:cNvSpPr/>
          <p:nvPr/>
        </p:nvSpPr>
        <p:spPr>
          <a:xfrm>
            <a:off x="11384219" y="5249570"/>
            <a:ext cx="63423" cy="-63423"/>
          </a:xfrm>
          <a:prstGeom prst="line">
            <a:avLst/>
          </a:prstGeom>
          <a:noFill/>
          <a:ln w="9525">
            <a:solidFill>
              <a:srgbClr val="275B7F">
                <a:alpha val="84000"/>
              </a:srgbClr>
            </a:solidFill>
            <a:prstDash val="solid"/>
          </a:ln>
        </p:spPr>
      </p:sp>
      <p:sp>
        <p:nvSpPr>
          <p:cNvPr id="265" name="Shape 263"/>
          <p:cNvSpPr/>
          <p:nvPr/>
        </p:nvSpPr>
        <p:spPr>
          <a:xfrm>
            <a:off x="9071854" y="5148072"/>
            <a:ext cx="128016" cy="128016"/>
          </a:xfrm>
          <a:prstGeom prst="ellipse">
            <a:avLst/>
          </a:prstGeom>
          <a:solidFill>
            <a:srgbClr val="FFB04C"/>
          </a:solidFill>
          <a:ln w="12700">
            <a:solidFill>
              <a:srgbClr val="FFFFFF"/>
            </a:solidFill>
            <a:prstDash val="solid"/>
          </a:ln>
        </p:spPr>
      </p:sp>
      <p:sp>
        <p:nvSpPr>
          <p:cNvPr id="266" name="Shape 264"/>
          <p:cNvSpPr/>
          <p:nvPr/>
        </p:nvSpPr>
        <p:spPr>
          <a:xfrm>
            <a:off x="10424099" y="5148072"/>
            <a:ext cx="128016" cy="128016"/>
          </a:xfrm>
          <a:prstGeom prst="ellipse">
            <a:avLst/>
          </a:prstGeom>
          <a:solidFill>
            <a:srgbClr val="007A27"/>
          </a:solidFill>
          <a:ln w="12700">
            <a:solidFill>
              <a:srgbClr val="FFFFFF"/>
            </a:solidFill>
            <a:prstDash val="solid"/>
          </a:ln>
        </p:spPr>
      </p:sp>
      <p:sp>
        <p:nvSpPr>
          <p:cNvPr id="267" name="Shape 265"/>
          <p:cNvSpPr/>
          <p:nvPr/>
        </p:nvSpPr>
        <p:spPr>
          <a:xfrm>
            <a:off x="1033272" y="5349240"/>
            <a:ext cx="2423160" cy="274320"/>
          </a:xfrm>
          <a:prstGeom prst="rect">
            <a:avLst/>
          </a:prstGeom>
          <a:solidFill>
            <a:srgbClr val="F1F3F2">
              <a:alpha val="55000"/>
            </a:srgbClr>
          </a:solidFill>
          <a:ln w="12700">
            <a:solidFill>
              <a:srgbClr val="F1F3F2">
                <a:alpha val="0"/>
              </a:srgbClr>
            </a:solidFill>
            <a:prstDash val="solid"/>
          </a:ln>
        </p:spPr>
      </p:sp>
      <p:sp>
        <p:nvSpPr>
          <p:cNvPr id="268" name="Shape 266"/>
          <p:cNvSpPr/>
          <p:nvPr/>
        </p:nvSpPr>
        <p:spPr>
          <a:xfrm>
            <a:off x="1033272" y="5623560"/>
            <a:ext cx="10536631" cy="0"/>
          </a:xfrm>
          <a:prstGeom prst="line">
            <a:avLst/>
          </a:prstGeom>
          <a:noFill/>
          <a:ln w="4445">
            <a:solidFill>
              <a:srgbClr val="E2E6E2"/>
            </a:solidFill>
            <a:prstDash val="solid"/>
          </a:ln>
        </p:spPr>
      </p:sp>
      <p:sp>
        <p:nvSpPr>
          <p:cNvPr id="269" name="Shape 267"/>
          <p:cNvSpPr/>
          <p:nvPr/>
        </p:nvSpPr>
        <p:spPr>
          <a:xfrm>
            <a:off x="1143000" y="5376672"/>
            <a:ext cx="45720" cy="219456"/>
          </a:xfrm>
          <a:prstGeom prst="roundRect">
            <a:avLst>
              <a:gd name="adj" fmla="val 60000"/>
            </a:avLst>
          </a:prstGeom>
          <a:solidFill>
            <a:srgbClr val="275B7F"/>
          </a:solidFill>
          <a:ln w="12700">
            <a:solidFill>
              <a:srgbClr val="275B7F"/>
            </a:solidFill>
            <a:prstDash val="solid"/>
          </a:ln>
        </p:spPr>
      </p:sp>
      <p:sp>
        <p:nvSpPr>
          <p:cNvPr id="270" name="Text 268"/>
          <p:cNvSpPr/>
          <p:nvPr/>
        </p:nvSpPr>
        <p:spPr>
          <a:xfrm>
            <a:off x="1243584" y="534009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PPAs &amp; EACs</a:t>
            </a:r>
            <a:endParaRPr lang="en-US" sz="950" dirty="0"/>
          </a:p>
        </p:txBody>
      </p:sp>
      <p:sp>
        <p:nvSpPr>
          <p:cNvPr id="271" name="Shape 269"/>
          <p:cNvSpPr/>
          <p:nvPr/>
        </p:nvSpPr>
        <p:spPr>
          <a:xfrm>
            <a:off x="6837045" y="5439766"/>
            <a:ext cx="4327185" cy="93269"/>
          </a:xfrm>
          <a:prstGeom prst="roundRect">
            <a:avLst>
              <a:gd name="adj" fmla="val 39216"/>
            </a:avLst>
          </a:prstGeom>
          <a:solidFill>
            <a:srgbClr val="275B7F"/>
          </a:solidFill>
          <a:ln w="5080">
            <a:solidFill>
              <a:srgbClr val="275B7F"/>
            </a:solidFill>
            <a:prstDash val="solid"/>
          </a:ln>
        </p:spPr>
      </p:sp>
      <p:sp>
        <p:nvSpPr>
          <p:cNvPr id="272" name="Shape 270"/>
          <p:cNvSpPr/>
          <p:nvPr/>
        </p:nvSpPr>
        <p:spPr>
          <a:xfrm>
            <a:off x="11164230" y="5439766"/>
            <a:ext cx="405674" cy="93269"/>
          </a:xfrm>
          <a:prstGeom prst="roundRect">
            <a:avLst>
              <a:gd name="adj" fmla="val 24510"/>
            </a:avLst>
          </a:prstGeom>
          <a:solidFill>
            <a:srgbClr val="275B7F">
              <a:alpha val="6000"/>
            </a:srgbClr>
          </a:solidFill>
          <a:ln w="6350">
            <a:solidFill>
              <a:srgbClr val="275B7F">
                <a:alpha val="60000"/>
              </a:srgbClr>
            </a:solidFill>
            <a:prstDash val="solid"/>
          </a:ln>
        </p:spPr>
      </p:sp>
      <p:sp>
        <p:nvSpPr>
          <p:cNvPr id="273" name="Shape 271"/>
          <p:cNvSpPr/>
          <p:nvPr/>
        </p:nvSpPr>
        <p:spPr>
          <a:xfrm>
            <a:off x="11237382" y="5523890"/>
            <a:ext cx="63423" cy="-63423"/>
          </a:xfrm>
          <a:prstGeom prst="line">
            <a:avLst/>
          </a:prstGeom>
          <a:noFill/>
          <a:ln w="9525">
            <a:solidFill>
              <a:srgbClr val="275B7F">
                <a:alpha val="84000"/>
              </a:srgbClr>
            </a:solidFill>
            <a:prstDash val="solid"/>
          </a:ln>
        </p:spPr>
      </p:sp>
      <p:sp>
        <p:nvSpPr>
          <p:cNvPr id="274" name="Shape 272"/>
          <p:cNvSpPr/>
          <p:nvPr/>
        </p:nvSpPr>
        <p:spPr>
          <a:xfrm>
            <a:off x="11511702" y="5523890"/>
            <a:ext cx="58202" cy="-58202"/>
          </a:xfrm>
          <a:prstGeom prst="line">
            <a:avLst/>
          </a:prstGeom>
          <a:noFill/>
          <a:ln w="9525">
            <a:solidFill>
              <a:srgbClr val="275B7F">
                <a:alpha val="84000"/>
              </a:srgbClr>
            </a:solidFill>
            <a:prstDash val="solid"/>
          </a:ln>
        </p:spPr>
      </p:sp>
      <p:sp>
        <p:nvSpPr>
          <p:cNvPr id="275" name="Shape 273"/>
          <p:cNvSpPr/>
          <p:nvPr/>
        </p:nvSpPr>
        <p:spPr>
          <a:xfrm>
            <a:off x="9747976" y="5422392"/>
            <a:ext cx="128016" cy="128016"/>
          </a:xfrm>
          <a:prstGeom prst="ellipse">
            <a:avLst/>
          </a:prstGeom>
          <a:solidFill>
            <a:srgbClr val="FFB04C"/>
          </a:solidFill>
          <a:ln w="12700">
            <a:solidFill>
              <a:srgbClr val="FFFFFF"/>
            </a:solidFill>
            <a:prstDash val="solid"/>
          </a:ln>
        </p:spPr>
      </p:sp>
      <p:sp>
        <p:nvSpPr>
          <p:cNvPr id="276" name="Shape 274"/>
          <p:cNvSpPr/>
          <p:nvPr/>
        </p:nvSpPr>
        <p:spPr>
          <a:xfrm>
            <a:off x="11100222" y="5422392"/>
            <a:ext cx="128016" cy="128016"/>
          </a:xfrm>
          <a:prstGeom prst="ellipse">
            <a:avLst/>
          </a:prstGeom>
          <a:solidFill>
            <a:srgbClr val="007A27"/>
          </a:solidFill>
          <a:ln w="12700">
            <a:solidFill>
              <a:srgbClr val="FFFFFF"/>
            </a:solidFill>
            <a:prstDash val="solid"/>
          </a:ln>
        </p:spPr>
      </p:sp>
      <p:sp>
        <p:nvSpPr>
          <p:cNvPr id="277" name="Shape 275"/>
          <p:cNvSpPr/>
          <p:nvPr/>
        </p:nvSpPr>
        <p:spPr>
          <a:xfrm>
            <a:off x="621792" y="5623560"/>
            <a:ext cx="411480" cy="274320"/>
          </a:xfrm>
          <a:prstGeom prst="rect">
            <a:avLst/>
          </a:prstGeom>
          <a:solidFill>
            <a:srgbClr val="007A27"/>
          </a:solidFill>
          <a:ln w="7620">
            <a:solidFill>
              <a:srgbClr val="FFFFFF"/>
            </a:solidFill>
            <a:prstDash val="solid"/>
          </a:ln>
        </p:spPr>
      </p:sp>
      <p:sp>
        <p:nvSpPr>
          <p:cNvPr id="278" name="Text 276"/>
          <p:cNvSpPr/>
          <p:nvPr/>
        </p:nvSpPr>
        <p:spPr>
          <a:xfrm>
            <a:off x="649224" y="5641848"/>
            <a:ext cx="356616" cy="237744"/>
          </a:xfrm>
          <a:prstGeom prst="rect">
            <a:avLst/>
          </a:prstGeom>
          <a:noFill/>
          <a:ln/>
        </p:spPr>
        <p:txBody>
          <a:bodyPr wrap="square" lIns="0" tIns="0" rIns="0" bIns="0" rtlCol="0" anchor="ctr">
            <a:normAutofit/>
          </a:bodyPr>
          <a:lstStyle/>
          <a:p>
            <a:pPr algn="ctr" indent="0" marL="0">
              <a:buNone/>
            </a:pPr>
            <a:r>
              <a:rPr lang="en-US" sz="550" b="1" dirty="0">
                <a:solidFill>
                  <a:srgbClr val="FFFFFF"/>
                </a:solidFill>
                <a:latin typeface="Calibri" pitchFamily="34" charset="0"/>
                <a:ea typeface="Calibri" pitchFamily="34" charset="-122"/>
                <a:cs typeface="Calibri" pitchFamily="34" charset="-120"/>
              </a:rPr>
              <a:t>PLATFORM</a:t>
            </a:r>
            <a:endParaRPr lang="en-US" sz="550" dirty="0"/>
          </a:p>
        </p:txBody>
      </p:sp>
      <p:sp>
        <p:nvSpPr>
          <p:cNvPr id="279" name="Shape 277"/>
          <p:cNvSpPr/>
          <p:nvPr/>
        </p:nvSpPr>
        <p:spPr>
          <a:xfrm>
            <a:off x="1033272" y="5897880"/>
            <a:ext cx="10536631" cy="0"/>
          </a:xfrm>
          <a:prstGeom prst="line">
            <a:avLst/>
          </a:prstGeom>
          <a:noFill/>
          <a:ln w="4445">
            <a:solidFill>
              <a:srgbClr val="E2E6E2"/>
            </a:solidFill>
            <a:prstDash val="solid"/>
          </a:ln>
        </p:spPr>
      </p:sp>
      <p:sp>
        <p:nvSpPr>
          <p:cNvPr id="280" name="Shape 278"/>
          <p:cNvSpPr/>
          <p:nvPr/>
        </p:nvSpPr>
        <p:spPr>
          <a:xfrm>
            <a:off x="1143000" y="5650992"/>
            <a:ext cx="45720" cy="219456"/>
          </a:xfrm>
          <a:prstGeom prst="roundRect">
            <a:avLst>
              <a:gd name="adj" fmla="val 60000"/>
            </a:avLst>
          </a:prstGeom>
          <a:solidFill>
            <a:srgbClr val="007A27"/>
          </a:solidFill>
          <a:ln w="12700">
            <a:solidFill>
              <a:srgbClr val="007A27"/>
            </a:solidFill>
            <a:prstDash val="solid"/>
          </a:ln>
        </p:spPr>
      </p:sp>
      <p:sp>
        <p:nvSpPr>
          <p:cNvPr id="281" name="Text 279"/>
          <p:cNvSpPr/>
          <p:nvPr/>
        </p:nvSpPr>
        <p:spPr>
          <a:xfrm>
            <a:off x="1243584" y="5614416"/>
            <a:ext cx="2075688" cy="292608"/>
          </a:xfrm>
          <a:prstGeom prst="rect">
            <a:avLst/>
          </a:prstGeom>
          <a:noFill/>
          <a:ln/>
        </p:spPr>
        <p:txBody>
          <a:bodyPr wrap="square" lIns="0" tIns="0" rIns="0" bIns="0" rtlCol="0" anchor="ctr">
            <a:normAutofit/>
          </a:bodyPr>
          <a:lstStyle/>
          <a:p>
            <a:pPr indent="0" marL="0">
              <a:buNone/>
            </a:pPr>
            <a:r>
              <a:rPr lang="en-US" sz="950" dirty="0">
                <a:solidFill>
                  <a:srgbClr val="1E2420"/>
                </a:solidFill>
                <a:latin typeface="Calibri" pitchFamily="34" charset="0"/>
                <a:ea typeface="Calibri" pitchFamily="34" charset="-122"/>
                <a:cs typeface="Calibri" pitchFamily="34" charset="-120"/>
              </a:rPr>
              <a:t>Shared platform foundations</a:t>
            </a:r>
            <a:endParaRPr lang="en-US" sz="950" dirty="0"/>
          </a:p>
        </p:txBody>
      </p:sp>
      <p:sp>
        <p:nvSpPr>
          <p:cNvPr id="282" name="Shape 280"/>
          <p:cNvSpPr/>
          <p:nvPr/>
        </p:nvSpPr>
        <p:spPr>
          <a:xfrm>
            <a:off x="3456432" y="5714086"/>
            <a:ext cx="8113471" cy="93269"/>
          </a:xfrm>
          <a:prstGeom prst="roundRect">
            <a:avLst>
              <a:gd name="adj" fmla="val 39216"/>
            </a:avLst>
          </a:prstGeom>
          <a:solidFill>
            <a:srgbClr val="007A27"/>
          </a:solidFill>
          <a:ln w="5080">
            <a:solidFill>
              <a:srgbClr val="007A27"/>
            </a:solidFill>
            <a:prstDash val="solid"/>
          </a:ln>
        </p:spPr>
      </p:sp>
      <p:sp>
        <p:nvSpPr>
          <p:cNvPr id="283" name="Shape 281"/>
          <p:cNvSpPr/>
          <p:nvPr/>
        </p:nvSpPr>
        <p:spPr>
          <a:xfrm>
            <a:off x="7315200" y="6080760"/>
            <a:ext cx="146304" cy="146304"/>
          </a:xfrm>
          <a:prstGeom prst="ellipse">
            <a:avLst/>
          </a:prstGeom>
          <a:solidFill>
            <a:srgbClr val="FFB04C"/>
          </a:solidFill>
          <a:ln w="10160">
            <a:solidFill>
              <a:srgbClr val="FFFFFF"/>
            </a:solidFill>
            <a:prstDash val="solid"/>
          </a:ln>
        </p:spPr>
      </p:sp>
      <p:sp>
        <p:nvSpPr>
          <p:cNvPr id="284" name="Text 282"/>
          <p:cNvSpPr/>
          <p:nvPr/>
        </p:nvSpPr>
        <p:spPr>
          <a:xfrm>
            <a:off x="7534656" y="6071616"/>
            <a:ext cx="50292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MVP</a:t>
            </a:r>
            <a:endParaRPr lang="en-US" sz="850" dirty="0"/>
          </a:p>
        </p:txBody>
      </p:sp>
      <p:sp>
        <p:nvSpPr>
          <p:cNvPr id="285" name="Shape 283"/>
          <p:cNvSpPr/>
          <p:nvPr/>
        </p:nvSpPr>
        <p:spPr>
          <a:xfrm>
            <a:off x="8183880" y="6080760"/>
            <a:ext cx="146304" cy="146304"/>
          </a:xfrm>
          <a:prstGeom prst="ellipse">
            <a:avLst/>
          </a:prstGeom>
          <a:solidFill>
            <a:srgbClr val="007A27"/>
          </a:solidFill>
          <a:ln w="10160">
            <a:solidFill>
              <a:srgbClr val="FFFFFF"/>
            </a:solidFill>
            <a:prstDash val="solid"/>
          </a:ln>
        </p:spPr>
      </p:sp>
      <p:sp>
        <p:nvSpPr>
          <p:cNvPr id="286" name="Text 284"/>
          <p:cNvSpPr/>
          <p:nvPr/>
        </p:nvSpPr>
        <p:spPr>
          <a:xfrm>
            <a:off x="8403336" y="6071616"/>
            <a:ext cx="73152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Full GA</a:t>
            </a:r>
            <a:endParaRPr lang="en-US" sz="850" dirty="0"/>
          </a:p>
        </p:txBody>
      </p:sp>
      <p:sp>
        <p:nvSpPr>
          <p:cNvPr id="287" name="Shape 285"/>
          <p:cNvSpPr/>
          <p:nvPr/>
        </p:nvSpPr>
        <p:spPr>
          <a:xfrm>
            <a:off x="9326880" y="6099048"/>
            <a:ext cx="457200" cy="109728"/>
          </a:xfrm>
          <a:prstGeom prst="roundRect">
            <a:avLst>
              <a:gd name="adj" fmla="val 20833"/>
            </a:avLst>
          </a:prstGeom>
          <a:solidFill>
            <a:srgbClr val="3DCD58">
              <a:alpha val="6000"/>
            </a:srgbClr>
          </a:solidFill>
          <a:ln w="6350">
            <a:solidFill>
              <a:srgbClr val="3DCD58">
                <a:alpha val="60000"/>
              </a:srgbClr>
            </a:solidFill>
            <a:prstDash val="solid"/>
          </a:ln>
        </p:spPr>
      </p:sp>
      <p:sp>
        <p:nvSpPr>
          <p:cNvPr id="288" name="Shape 286"/>
          <p:cNvSpPr/>
          <p:nvPr/>
        </p:nvSpPr>
        <p:spPr>
          <a:xfrm>
            <a:off x="9390888" y="6185916"/>
            <a:ext cx="64008" cy="-64008"/>
          </a:xfrm>
          <a:prstGeom prst="line">
            <a:avLst/>
          </a:prstGeom>
          <a:noFill/>
          <a:ln w="9525">
            <a:solidFill>
              <a:srgbClr val="3DCD58">
                <a:alpha val="84000"/>
              </a:srgbClr>
            </a:solidFill>
            <a:prstDash val="solid"/>
          </a:ln>
        </p:spPr>
      </p:sp>
      <p:sp>
        <p:nvSpPr>
          <p:cNvPr id="289" name="Shape 287"/>
          <p:cNvSpPr/>
          <p:nvPr/>
        </p:nvSpPr>
        <p:spPr>
          <a:xfrm>
            <a:off x="9573768" y="6185916"/>
            <a:ext cx="64008" cy="-64008"/>
          </a:xfrm>
          <a:prstGeom prst="line">
            <a:avLst/>
          </a:prstGeom>
          <a:noFill/>
          <a:ln w="9525">
            <a:solidFill>
              <a:srgbClr val="3DCD58">
                <a:alpha val="84000"/>
              </a:srgbClr>
            </a:solidFill>
            <a:prstDash val="solid"/>
          </a:ln>
        </p:spPr>
      </p:sp>
      <p:sp>
        <p:nvSpPr>
          <p:cNvPr id="290" name="Shape 288"/>
          <p:cNvSpPr/>
          <p:nvPr/>
        </p:nvSpPr>
        <p:spPr>
          <a:xfrm>
            <a:off x="9756648" y="6185916"/>
            <a:ext cx="64008" cy="-64008"/>
          </a:xfrm>
          <a:prstGeom prst="line">
            <a:avLst/>
          </a:prstGeom>
          <a:noFill/>
          <a:ln w="9525">
            <a:solidFill>
              <a:srgbClr val="3DCD58">
                <a:alpha val="84000"/>
              </a:srgbClr>
            </a:solidFill>
            <a:prstDash val="solid"/>
          </a:ln>
        </p:spPr>
      </p:sp>
      <p:sp>
        <p:nvSpPr>
          <p:cNvPr id="291" name="Text 289"/>
          <p:cNvSpPr/>
          <p:nvPr/>
        </p:nvSpPr>
        <p:spPr>
          <a:xfrm>
            <a:off x="9857232" y="6071616"/>
            <a:ext cx="1737360" cy="164592"/>
          </a:xfrm>
          <a:prstGeom prst="rect">
            <a:avLst/>
          </a:prstGeom>
          <a:noFill/>
          <a:ln/>
        </p:spPr>
        <p:txBody>
          <a:bodyPr wrap="square" lIns="0" tIns="0" rIns="0" bIns="0" rtlCol="0" anchor="ctr"/>
          <a:lstStyle/>
          <a:p>
            <a:pPr indent="0" marL="0">
              <a:buNone/>
            </a:pPr>
            <a:r>
              <a:rPr lang="en-US" sz="850" dirty="0">
                <a:solidFill>
                  <a:srgbClr val="5A625C"/>
                </a:solidFill>
                <a:latin typeface="Calibri" pitchFamily="34" charset="0"/>
                <a:ea typeface="Calibri" pitchFamily="34" charset="-122"/>
                <a:cs typeface="Calibri" pitchFamily="34" charset="-120"/>
              </a:rPr>
              <a:t>Continuous investment after GA</a:t>
            </a:r>
            <a:endParaRPr lang="en-US" sz="850" dirty="0"/>
          </a:p>
        </p:txBody>
      </p:sp>
      <p:sp>
        <p:nvSpPr>
          <p:cNvPr id="292" name="Shape 290"/>
          <p:cNvSpPr/>
          <p:nvPr/>
        </p:nvSpPr>
        <p:spPr>
          <a:xfrm>
            <a:off x="621792" y="6437376"/>
            <a:ext cx="10948111" cy="0"/>
          </a:xfrm>
          <a:prstGeom prst="line">
            <a:avLst/>
          </a:prstGeom>
          <a:noFill/>
          <a:ln w="9525">
            <a:solidFill>
              <a:srgbClr val="E2E6E2"/>
            </a:solidFill>
            <a:prstDash val="solid"/>
          </a:ln>
        </p:spPr>
      </p:sp>
      <p:sp>
        <p:nvSpPr>
          <p:cNvPr id="293" name="Text 291"/>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4" name="Text 292"/>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86994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54076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ONE PAGE VIEW</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RA+ 2026 and 2027 at board altitude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What each product commits to per half year.</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21792" y="2084832"/>
          <a:ext cx="10948111" cy="914400"/>
        </p:xfrm>
        <a:graphic>
          <a:graphicData uri="http://schemas.openxmlformats.org/drawingml/2006/table">
            <a:tbl>
              <a:tblPr/>
              <a:tblGrid>
                <a:gridCol w="1005840"/>
                <a:gridCol w="3314090"/>
                <a:gridCol w="3314090"/>
                <a:gridCol w="3314090"/>
              </a:tblGrid>
              <a:tr h="51206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PRODUCT</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H2 2026</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H1 2027</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H2 2027</a:t>
                      </a:r>
                      <a:endParaRPr lang="en-US" sz="900" dirty="0">
                        <a:latin typeface="Calibri" charset="0"/>
                        <a:ea typeface="Calibri" charset="0"/>
                        <a:cs typeface="Calibri" charset="0"/>
                      </a:endParaRPr>
                    </a:p>
                  </a:txBody>
                  <a:tcPr marL="73152" marR="73152" marT="73152" marB="73152"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005730"/>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Carbon Performance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Factors, market based Scope 2, boundaries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Category 4 and 9 transport, category 5, consolidation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Category 15, FLAG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Supply Chain</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SC emissions management, PCF calculator, DQ assurance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Multi tier visibility, supplier onboarding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Climate risk and ESG compliance integrations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Reporting and Compliance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Standalone launch, indicator management, CSRD</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SE migrated, AI assisted disclosure authoring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Assurance workflow, voluntary frameworks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Climate Risk</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Asset register, physical hazard exposure</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Scenario analysis and adaptation actions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Transition plan linked to targets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Strategy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Actions library, ECM and initiative recommendations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Cascading targets, complex structures, ECM library</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Market intelligence, multi hierarchy plans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tcPr>
                </a:tc>
              </a:tr>
              <a:tr h="512064">
                <a:tc>
                  <a:txBody>
                    <a:bodyPr/>
                    <a:lstStyle/>
                    <a:p>
                      <a:pPr indent="0" marL="0">
                        <a:buNone/>
                      </a:pPr>
                      <a:r>
                        <a:rPr lang="en-US" sz="1000" b="1" dirty="0">
                          <a:solidFill>
                            <a:srgbClr val="007A27"/>
                          </a:solidFill>
                          <a:latin typeface="Calibri" pitchFamily="34" charset="0"/>
                          <a:ea typeface="Calibri" pitchFamily="34" charset="-122"/>
                          <a:cs typeface="Calibri" pitchFamily="34" charset="-120"/>
                        </a:rPr>
                        <a:t>Core platform</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Data quality L1 and L2, audit trail, allocations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Control plane, calculation governance, analytics</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c>
                  <a:txBody>
                    <a:bodyPr/>
                    <a:lstStyle/>
                    <a:p>
                      <a:pPr indent="0" marL="0">
                        <a:buNone/>
                      </a:pPr>
                      <a:r>
                        <a:rPr lang="en-US" sz="1000" dirty="0">
                          <a:solidFill>
                            <a:srgbClr val="1E2420"/>
                          </a:solidFill>
                          <a:latin typeface="Calibri" pitchFamily="34" charset="0"/>
                          <a:ea typeface="Calibri" pitchFamily="34" charset="-122"/>
                          <a:cs typeface="Calibri" pitchFamily="34" charset="-120"/>
                        </a:rPr>
                        <a:t>DQ scoring, Sera agents, EU hosting</a:t>
                      </a:r>
                      <a:endParaRPr lang="en-US" sz="1000" dirty="0">
                        <a:latin typeface="Calibri" charset="0"/>
                        <a:ea typeface="Calibri" charset="0"/>
                        <a:cs typeface="Calibri" charset="0"/>
                      </a:endParaRPr>
                    </a:p>
                  </a:txBody>
                  <a:tcPr marL="91440" marR="91440" marT="91440" marB="91440" anchor="ctr">
                    <a:lnL w="5080" cap="flat" cmpd="sng" algn="ctr">
                      <a:solidFill>
                        <a:srgbClr val="E2E6E2"/>
                      </a:solidFill>
                      <a:prstDash val="solid"/>
                      <a:round/>
                      <a:headEnd type="none" w="med" len="med"/>
                      <a:tailEnd type="none" w="med" len="med"/>
                    </a:lnL>
                    <a:lnR w="5080" cap="flat" cmpd="sng" algn="ctr">
                      <a:solidFill>
                        <a:srgbClr val="E2E6E2"/>
                      </a:solidFill>
                      <a:prstDash val="solid"/>
                      <a:round/>
                      <a:headEnd type="none" w="med" len="med"/>
                      <a:tailEnd type="none" w="med" len="med"/>
                    </a:lnR>
                    <a:lnT w="5080" cap="flat" cmpd="sng" algn="ctr">
                      <a:solidFill>
                        <a:srgbClr val="E2E6E2"/>
                      </a:solidFill>
                      <a:prstDash val="solid"/>
                      <a:round/>
                      <a:headEnd type="none" w="med" len="med"/>
                      <a:tailEnd type="none" w="med" len="med"/>
                    </a:lnT>
                    <a:lnB w="5080" cap="flat" cmpd="sng" algn="ctr">
                      <a:solidFill>
                        <a:srgbClr val="E2E6E2"/>
                      </a:solidFill>
                      <a:prstDash val="solid"/>
                      <a:round/>
                      <a:headEnd type="none" w="med" len="med"/>
                      <a:tailEnd type="none" w="med" len="med"/>
                    </a:lnB>
                    <a:solidFill>
                      <a:srgbClr val="F7F8F7"/>
                    </a:solidFill>
                  </a:tcPr>
                </a:tc>
              </a:tr>
            </a:tbl>
          </a:graphicData>
        </a:graphic>
      </p:graphicFrame>
      <p:sp>
        <p:nvSpPr>
          <p:cNvPr id="10" name="Shape 7"/>
          <p:cNvSpPr/>
          <p:nvPr/>
        </p:nvSpPr>
        <p:spPr>
          <a:xfrm>
            <a:off x="621792" y="6437376"/>
            <a:ext cx="10948111" cy="0"/>
          </a:xfrm>
          <a:prstGeom prst="line">
            <a:avLst/>
          </a:prstGeom>
          <a:noFill/>
          <a:ln w="9525">
            <a:solidFill>
              <a:srgbClr val="E2E6E2"/>
            </a:solidFill>
            <a:prstDash val="solid"/>
          </a:ln>
        </p:spPr>
      </p:sp>
      <p:sp>
        <p:nvSpPr>
          <p:cNvPr id="11" name="Text 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12" name="Text 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APPENDIX</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A</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Appendix: product detail</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Detailed product by product plans, evidence and sequencing. Available for questions, not required for the decision.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1</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01</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Where Carbon Performance stands</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Honest accounting of Q3 before we commit anything for Q4 and 2027.</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02666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69748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 2026</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Deepen the inventory in 2026</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Emission factor and calculation depth first. Sequenced from the ranked theme list and the delivery capacity we actually hold.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2.999493984112562e+107" dist="9.998313280375211e+106" dir="1.535235553616204e+126">
              <a:srgbClr val="0A1F12">
                <a:alpha val="1.1999999999999998e+129"/>
              </a:srgbClr>
            </a:outerShdw>
          </a:effectLst>
        </p:spPr>
      </p:sp>
      <p:sp>
        <p:nvSpPr>
          <p:cNvPr id="10" name="Shape 8"/>
          <p:cNvSpPr/>
          <p:nvPr/>
        </p:nvSpPr>
        <p:spPr>
          <a:xfrm>
            <a:off x="621792" y="2084832"/>
            <a:ext cx="5346040"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5071720" cy="376210"/>
          </a:xfrm>
          <a:prstGeom prst="roundRect">
            <a:avLst>
              <a:gd name="adj" fmla="val 7292"/>
            </a:avLst>
          </a:prstGeom>
          <a:solidFill>
            <a:srgbClr val="F7F8F7"/>
          </a:solidFill>
          <a:ln w="5080">
            <a:solidFill>
              <a:srgbClr val="F7F8F7"/>
            </a:solidFill>
            <a:prstDash val="solid"/>
          </a:ln>
        </p:spPr>
      </p:sp>
      <p:sp>
        <p:nvSpPr>
          <p:cNvPr id="15" name="Text 13"/>
          <p:cNvSpPr/>
          <p:nvPr/>
        </p:nvSpPr>
        <p:spPr>
          <a:xfrm>
            <a:off x="822960" y="2953512"/>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Sold product emissions</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3 categories 10, 11, 12</a:t>
            </a:r>
            <a:endParaRPr lang="en-US" sz="1000" dirty="0"/>
          </a:p>
        </p:txBody>
      </p:sp>
      <p:sp>
        <p:nvSpPr>
          <p:cNvPr id="16" name="Shape 14"/>
          <p:cNvSpPr/>
          <p:nvPr/>
        </p:nvSpPr>
        <p:spPr>
          <a:xfrm>
            <a:off x="758952" y="3402874"/>
            <a:ext cx="5071720" cy="376210"/>
          </a:xfrm>
          <a:prstGeom prst="roundRect">
            <a:avLst>
              <a:gd name="adj" fmla="val 7292"/>
            </a:avLst>
          </a:prstGeom>
          <a:solidFill>
            <a:srgbClr val="F7F8F7"/>
          </a:solidFill>
          <a:ln w="5080">
            <a:solidFill>
              <a:srgbClr val="F7F8F7"/>
            </a:solidFill>
            <a:prstDash val="solid"/>
          </a:ln>
        </p:spPr>
      </p:sp>
      <p:sp>
        <p:nvSpPr>
          <p:cNvPr id="17" name="Text 15"/>
          <p:cNvSpPr/>
          <p:nvPr/>
        </p:nvSpPr>
        <p:spPr>
          <a:xfrm>
            <a:off x="822960" y="3402874"/>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System admin improvements</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Config engine, calc methods, templates</a:t>
            </a:r>
            <a:endParaRPr lang="en-US" sz="1000" dirty="0"/>
          </a:p>
        </p:txBody>
      </p:sp>
      <p:sp>
        <p:nvSpPr>
          <p:cNvPr id="18" name="Shape 16"/>
          <p:cNvSpPr/>
          <p:nvPr/>
        </p:nvSpPr>
        <p:spPr>
          <a:xfrm>
            <a:off x="758952" y="3852237"/>
            <a:ext cx="5071720" cy="376210"/>
          </a:xfrm>
          <a:prstGeom prst="roundRect">
            <a:avLst>
              <a:gd name="adj" fmla="val 7292"/>
            </a:avLst>
          </a:prstGeom>
          <a:solidFill>
            <a:srgbClr val="F7F8F7"/>
          </a:solidFill>
          <a:ln w="5080">
            <a:solidFill>
              <a:srgbClr val="F7F8F7"/>
            </a:solidFill>
            <a:prstDash val="solid"/>
          </a:ln>
        </p:spPr>
      </p:sp>
      <p:sp>
        <p:nvSpPr>
          <p:cNvPr id="19" name="Text 17"/>
          <p:cNvSpPr/>
          <p:nvPr/>
        </p:nvSpPr>
        <p:spPr>
          <a:xfrm>
            <a:off x="822960" y="3852237"/>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Inventory revamp</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Clarity, per gas breakdown</a:t>
            </a:r>
            <a:endParaRPr lang="en-US" sz="1000" dirty="0"/>
          </a:p>
        </p:txBody>
      </p:sp>
      <p:sp>
        <p:nvSpPr>
          <p:cNvPr id="20" name="Shape 18"/>
          <p:cNvSpPr/>
          <p:nvPr/>
        </p:nvSpPr>
        <p:spPr>
          <a:xfrm>
            <a:off x="758952" y="4301599"/>
            <a:ext cx="5071720" cy="376210"/>
          </a:xfrm>
          <a:prstGeom prst="roundRect">
            <a:avLst>
              <a:gd name="adj" fmla="val 7292"/>
            </a:avLst>
          </a:prstGeom>
          <a:solidFill>
            <a:srgbClr val="F7F8F7"/>
          </a:solidFill>
          <a:ln w="5080">
            <a:solidFill>
              <a:srgbClr val="F7F8F7"/>
            </a:solidFill>
            <a:prstDash val="solid"/>
          </a:ln>
        </p:spPr>
      </p:sp>
      <p:sp>
        <p:nvSpPr>
          <p:cNvPr id="21" name="Text 19"/>
          <p:cNvSpPr/>
          <p:nvPr/>
        </p:nvSpPr>
        <p:spPr>
          <a:xfrm>
            <a:off x="822960" y="4301599"/>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Pre-calculated emissions import</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Ingestion of client calculated data</a:t>
            </a:r>
            <a:endParaRPr lang="en-US" sz="1000" dirty="0"/>
          </a:p>
        </p:txBody>
      </p:sp>
      <p:sp>
        <p:nvSpPr>
          <p:cNvPr id="22" name="Shape 20"/>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3.809357359822954e+111" dist="1.2697857866076517e+111" dir="9.211413321697224e+130">
              <a:srgbClr val="0A1F12">
                <a:alpha val="1.1999999999999998e+134"/>
              </a:srgbClr>
            </a:outerShdw>
          </a:effectLst>
        </p:spPr>
      </p:sp>
      <p:sp>
        <p:nvSpPr>
          <p:cNvPr id="23" name="Shape 21"/>
          <p:cNvSpPr/>
          <p:nvPr/>
        </p:nvSpPr>
        <p:spPr>
          <a:xfrm>
            <a:off x="6223864" y="2084832"/>
            <a:ext cx="5346040" cy="713232"/>
          </a:xfrm>
          <a:prstGeom prst="rect">
            <a:avLst/>
          </a:prstGeom>
          <a:solidFill>
            <a:srgbClr val="EAF8ED"/>
          </a:solidFill>
          <a:ln w="12700">
            <a:solidFill>
              <a:srgbClr val="EAF8ED"/>
            </a:solidFill>
            <a:prstDash val="solid"/>
          </a:ln>
        </p:spPr>
      </p:sp>
      <p:sp>
        <p:nvSpPr>
          <p:cNvPr id="24" name="Shape 22"/>
          <p:cNvSpPr/>
          <p:nvPr/>
        </p:nvSpPr>
        <p:spPr>
          <a:xfrm>
            <a:off x="6223864" y="2084832"/>
            <a:ext cx="54864" cy="4178808"/>
          </a:xfrm>
          <a:prstGeom prst="rect">
            <a:avLst/>
          </a:prstGeom>
          <a:solidFill>
            <a:srgbClr val="007A27"/>
          </a:solidFill>
          <a:ln w="12700">
            <a:solidFill>
              <a:srgbClr val="007A27"/>
            </a:solidFill>
            <a:prstDash val="solid"/>
          </a:ln>
        </p:spPr>
      </p:sp>
      <p:sp>
        <p:nvSpPr>
          <p:cNvPr id="25" name="Text 23"/>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6" name="Text 24"/>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7" name="Shape 25"/>
          <p:cNvSpPr/>
          <p:nvPr/>
        </p:nvSpPr>
        <p:spPr>
          <a:xfrm>
            <a:off x="6361024" y="2953512"/>
            <a:ext cx="5071720" cy="376210"/>
          </a:xfrm>
          <a:prstGeom prst="roundRect">
            <a:avLst>
              <a:gd name="adj" fmla="val 7292"/>
            </a:avLst>
          </a:prstGeom>
          <a:solidFill>
            <a:srgbClr val="F7F8F7"/>
          </a:solidFill>
          <a:ln w="5080">
            <a:solidFill>
              <a:srgbClr val="F7F8F7"/>
            </a:solidFill>
            <a:prstDash val="solid"/>
          </a:ln>
        </p:spPr>
      </p:sp>
      <p:sp>
        <p:nvSpPr>
          <p:cNvPr id="28" name="Text 26"/>
          <p:cNvSpPr/>
          <p:nvPr/>
        </p:nvSpPr>
        <p:spPr>
          <a:xfrm>
            <a:off x="6425032" y="2953512"/>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EAC and PPA management</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Market based Scope 2 coverage</a:t>
            </a:r>
            <a:endParaRPr lang="en-US" sz="1000" dirty="0"/>
          </a:p>
        </p:txBody>
      </p:sp>
      <p:sp>
        <p:nvSpPr>
          <p:cNvPr id="29" name="Shape 27"/>
          <p:cNvSpPr/>
          <p:nvPr/>
        </p:nvSpPr>
        <p:spPr>
          <a:xfrm>
            <a:off x="6361024" y="3402874"/>
            <a:ext cx="5071720" cy="376210"/>
          </a:xfrm>
          <a:prstGeom prst="roundRect">
            <a:avLst>
              <a:gd name="adj" fmla="val 7292"/>
            </a:avLst>
          </a:prstGeom>
          <a:solidFill>
            <a:srgbClr val="F7F8F7"/>
          </a:solidFill>
          <a:ln w="5080">
            <a:solidFill>
              <a:srgbClr val="F7F8F7"/>
            </a:solidFill>
            <a:prstDash val="solid"/>
          </a:ln>
        </p:spPr>
      </p:sp>
      <p:sp>
        <p:nvSpPr>
          <p:cNvPr id="30" name="Text 28"/>
          <p:cNvSpPr/>
          <p:nvPr/>
        </p:nvSpPr>
        <p:spPr>
          <a:xfrm>
            <a:off x="6425032" y="3402874"/>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Base year, exclusions, materiality</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GHGP compliant boundaries</a:t>
            </a:r>
            <a:endParaRPr lang="en-US" sz="950" dirty="0"/>
          </a:p>
        </p:txBody>
      </p:sp>
      <p:sp>
        <p:nvSpPr>
          <p:cNvPr id="31" name="Shape 29"/>
          <p:cNvSpPr/>
          <p:nvPr/>
        </p:nvSpPr>
        <p:spPr>
          <a:xfrm>
            <a:off x="6361024" y="3852237"/>
            <a:ext cx="5071720" cy="376210"/>
          </a:xfrm>
          <a:prstGeom prst="roundRect">
            <a:avLst>
              <a:gd name="adj" fmla="val 7292"/>
            </a:avLst>
          </a:prstGeom>
          <a:solidFill>
            <a:srgbClr val="F7F8F7"/>
          </a:solidFill>
          <a:ln w="5080">
            <a:solidFill>
              <a:srgbClr val="F7F8F7"/>
            </a:solidFill>
            <a:prstDash val="solid"/>
          </a:ln>
        </p:spPr>
      </p:sp>
      <p:sp>
        <p:nvSpPr>
          <p:cNvPr id="32" name="Text 30"/>
          <p:cNvSpPr/>
          <p:nvPr/>
        </p:nvSpPr>
        <p:spPr>
          <a:xfrm>
            <a:off x="6425032" y="3852237"/>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Thermal source attribution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Defensible Scope 1 and 2 split</a:t>
            </a:r>
            <a:endParaRPr lang="en-US" sz="1000" dirty="0"/>
          </a:p>
        </p:txBody>
      </p:sp>
      <p:sp>
        <p:nvSpPr>
          <p:cNvPr id="33" name="Shape 31"/>
          <p:cNvSpPr/>
          <p:nvPr/>
        </p:nvSpPr>
        <p:spPr>
          <a:xfrm>
            <a:off x="6361024" y="4301599"/>
            <a:ext cx="5071720" cy="376210"/>
          </a:xfrm>
          <a:prstGeom prst="roundRect">
            <a:avLst>
              <a:gd name="adj" fmla="val 7292"/>
            </a:avLst>
          </a:prstGeom>
          <a:solidFill>
            <a:srgbClr val="F7F8F7"/>
          </a:solidFill>
          <a:ln w="5080">
            <a:solidFill>
              <a:srgbClr val="F7F8F7"/>
            </a:solidFill>
            <a:prstDash val="solid"/>
          </a:ln>
        </p:spPr>
      </p:sp>
      <p:sp>
        <p:nvSpPr>
          <p:cNvPr id="34" name="Text 32"/>
          <p:cNvSpPr/>
          <p:nvPr/>
        </p:nvSpPr>
        <p:spPr>
          <a:xfrm>
            <a:off x="6425032" y="4301599"/>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Refrigerant leakage to usage</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1 fugitive emissions</a:t>
            </a:r>
            <a:endParaRPr lang="en-US" sz="1000" dirty="0"/>
          </a:p>
        </p:txBody>
      </p:sp>
      <p:sp>
        <p:nvSpPr>
          <p:cNvPr id="35" name="Shape 33"/>
          <p:cNvSpPr/>
          <p:nvPr/>
        </p:nvSpPr>
        <p:spPr>
          <a:xfrm>
            <a:off x="6361024" y="4750961"/>
            <a:ext cx="5071720" cy="376210"/>
          </a:xfrm>
          <a:prstGeom prst="roundRect">
            <a:avLst>
              <a:gd name="adj" fmla="val 7292"/>
            </a:avLst>
          </a:prstGeom>
          <a:solidFill>
            <a:srgbClr val="F7F8F7"/>
          </a:solidFill>
          <a:ln w="5080">
            <a:solidFill>
              <a:srgbClr val="F7F8F7"/>
            </a:solidFill>
            <a:prstDash val="solid"/>
          </a:ln>
        </p:spPr>
      </p:sp>
      <p:sp>
        <p:nvSpPr>
          <p:cNvPr id="36" name="Text 34"/>
          <p:cNvSpPr/>
          <p:nvPr/>
        </p:nvSpPr>
        <p:spPr>
          <a:xfrm>
            <a:off x="6425032" y="4750961"/>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Employee commuting and WFH</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3 category 7</a:t>
            </a:r>
            <a:endParaRPr lang="en-US" sz="1000" dirty="0"/>
          </a:p>
        </p:txBody>
      </p:sp>
      <p:sp>
        <p:nvSpPr>
          <p:cNvPr id="37" name="Shape 35"/>
          <p:cNvSpPr/>
          <p:nvPr/>
        </p:nvSpPr>
        <p:spPr>
          <a:xfrm>
            <a:off x="6361024" y="5200323"/>
            <a:ext cx="5071720" cy="376210"/>
          </a:xfrm>
          <a:prstGeom prst="roundRect">
            <a:avLst>
              <a:gd name="adj" fmla="val 7292"/>
            </a:avLst>
          </a:prstGeom>
          <a:solidFill>
            <a:srgbClr val="F7F8F7"/>
          </a:solidFill>
          <a:ln w="5080">
            <a:solidFill>
              <a:srgbClr val="F7F8F7"/>
            </a:solidFill>
            <a:prstDash val="solid"/>
          </a:ln>
        </p:spPr>
      </p:sp>
      <p:sp>
        <p:nvSpPr>
          <p:cNvPr id="38" name="Text 36"/>
          <p:cNvSpPr/>
          <p:nvPr/>
        </p:nvSpPr>
        <p:spPr>
          <a:xfrm>
            <a:off x="6425032" y="5200323"/>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Sera for carbon inventory</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AI guided troubleshooting</a:t>
            </a:r>
            <a:endParaRPr lang="en-US" sz="1000" dirty="0"/>
          </a:p>
        </p:txBody>
      </p:sp>
      <p:sp>
        <p:nvSpPr>
          <p:cNvPr id="39" name="Shape 37"/>
          <p:cNvSpPr/>
          <p:nvPr/>
        </p:nvSpPr>
        <p:spPr>
          <a:xfrm>
            <a:off x="6361024" y="5649686"/>
            <a:ext cx="5071720" cy="376210"/>
          </a:xfrm>
          <a:prstGeom prst="roundRect">
            <a:avLst>
              <a:gd name="adj" fmla="val 7292"/>
            </a:avLst>
          </a:prstGeom>
          <a:solidFill>
            <a:srgbClr val="F7F8F7"/>
          </a:solidFill>
          <a:ln w="5080">
            <a:solidFill>
              <a:srgbClr val="F7F8F7"/>
            </a:solidFill>
            <a:prstDash val="solid"/>
          </a:ln>
        </p:spPr>
      </p:sp>
      <p:sp>
        <p:nvSpPr>
          <p:cNvPr id="40" name="Text 38"/>
          <p:cNvSpPr/>
          <p:nvPr/>
        </p:nvSpPr>
        <p:spPr>
          <a:xfrm>
            <a:off x="6425032" y="5649686"/>
            <a:ext cx="4943704"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Advanced scenario analysis and decarbonization planning</a:t>
            </a:r>
            <a:endParaRPr lang="en-US" sz="900" dirty="0"/>
          </a:p>
          <a:p>
            <a:pPr indent="0" marL="0">
              <a:lnSpc>
                <a:spcPct val="95000"/>
              </a:lnSpc>
              <a:buNone/>
            </a:pPr>
            <a:r>
              <a:rPr lang="en-US" sz="750" dirty="0">
                <a:solidFill>
                  <a:srgbClr val="5A625C"/>
                </a:solidFill>
                <a:latin typeface="Calibri" pitchFamily="34" charset="0"/>
                <a:ea typeface="Calibri" pitchFamily="34" charset="-122"/>
                <a:cs typeface="Calibri" pitchFamily="34" charset="-120"/>
              </a:rPr>
              <a:t>Initiatives and actions management</a:t>
            </a:r>
            <a:endParaRPr lang="en-US" sz="900" dirty="0"/>
          </a:p>
        </p:txBody>
      </p:sp>
      <p:sp>
        <p:nvSpPr>
          <p:cNvPr id="41" name="Shape 39"/>
          <p:cNvSpPr/>
          <p:nvPr/>
        </p:nvSpPr>
        <p:spPr>
          <a:xfrm>
            <a:off x="621792" y="6437376"/>
            <a:ext cx="10948111" cy="0"/>
          </a:xfrm>
          <a:prstGeom prst="line">
            <a:avLst/>
          </a:prstGeom>
          <a:noFill/>
          <a:ln w="9525">
            <a:solidFill>
              <a:srgbClr val="E2E6E2"/>
            </a:solidFill>
            <a:prstDash val="solid"/>
          </a:ln>
        </p:spPr>
      </p:sp>
      <p:sp>
        <p:nvSpPr>
          <p:cNvPr id="42" name="Text 40"/>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43" name="Text 41"/>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02666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69748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 2027</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Close the remaining categories in 2027</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Coverage, governance and assurance, building on the 2026 inventory depth.</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4.837883846975152e+115" dist="1.6126279489917177e+115" dir="5.526847993018334e+135">
              <a:srgbClr val="0A1F12">
                <a:alpha val="1.1999999999999998e+139"/>
              </a:srgbClr>
            </a:outerShdw>
          </a:effectLst>
        </p:spPr>
      </p:sp>
      <p:sp>
        <p:nvSpPr>
          <p:cNvPr id="10" name="Shape 8"/>
          <p:cNvSpPr/>
          <p:nvPr/>
        </p:nvSpPr>
        <p:spPr>
          <a:xfrm>
            <a:off x="621792" y="2084832"/>
            <a:ext cx="5346040" cy="713232"/>
          </a:xfrm>
          <a:prstGeom prst="rect">
            <a:avLst/>
          </a:prstGeom>
          <a:solidFill>
            <a:srgbClr val="FFF4E3"/>
          </a:solidFill>
          <a:ln w="12700">
            <a:solidFill>
              <a:srgbClr val="FFF4E3"/>
            </a:solidFill>
            <a:prstDash val="solid"/>
          </a:ln>
        </p:spPr>
      </p:sp>
      <p:sp>
        <p:nvSpPr>
          <p:cNvPr id="11" name="Shape 9"/>
          <p:cNvSpPr/>
          <p:nvPr/>
        </p:nvSpPr>
        <p:spPr>
          <a:xfrm>
            <a:off x="621792" y="2084832"/>
            <a:ext cx="54864" cy="4178808"/>
          </a:xfrm>
          <a:prstGeom prst="rect">
            <a:avLst/>
          </a:prstGeom>
          <a:solidFill>
            <a:srgbClr val="FFB04C"/>
          </a:solidFill>
          <a:ln w="12700">
            <a:solidFill>
              <a:srgbClr val="FFB04C"/>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14" name="Shape 12"/>
          <p:cNvSpPr/>
          <p:nvPr/>
        </p:nvSpPr>
        <p:spPr>
          <a:xfrm>
            <a:off x="758952" y="2953512"/>
            <a:ext cx="5071720" cy="376210"/>
          </a:xfrm>
          <a:prstGeom prst="roundRect">
            <a:avLst>
              <a:gd name="adj" fmla="val 7292"/>
            </a:avLst>
          </a:prstGeom>
          <a:solidFill>
            <a:srgbClr val="F7F8F7"/>
          </a:solidFill>
          <a:ln w="5080">
            <a:solidFill>
              <a:srgbClr val="F7F8F7"/>
            </a:solidFill>
            <a:prstDash val="solid"/>
          </a:ln>
        </p:spPr>
      </p:sp>
      <p:sp>
        <p:nvSpPr>
          <p:cNvPr id="15" name="Text 13"/>
          <p:cNvSpPr/>
          <p:nvPr/>
        </p:nvSpPr>
        <p:spPr>
          <a:xfrm>
            <a:off x="822960" y="2953512"/>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Category 4 and 9 product linked transport</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Upstream and downstream transport</a:t>
            </a:r>
            <a:endParaRPr lang="en-US" sz="950" dirty="0"/>
          </a:p>
        </p:txBody>
      </p:sp>
      <p:sp>
        <p:nvSpPr>
          <p:cNvPr id="16" name="Shape 14"/>
          <p:cNvSpPr/>
          <p:nvPr/>
        </p:nvSpPr>
        <p:spPr>
          <a:xfrm>
            <a:off x="758952" y="3402874"/>
            <a:ext cx="5071720" cy="376210"/>
          </a:xfrm>
          <a:prstGeom prst="roundRect">
            <a:avLst>
              <a:gd name="adj" fmla="val 7292"/>
            </a:avLst>
          </a:prstGeom>
          <a:solidFill>
            <a:srgbClr val="F7F8F7"/>
          </a:solidFill>
          <a:ln w="5080">
            <a:solidFill>
              <a:srgbClr val="F7F8F7"/>
            </a:solidFill>
            <a:prstDash val="solid"/>
          </a:ln>
        </p:spPr>
      </p:sp>
      <p:sp>
        <p:nvSpPr>
          <p:cNvPr id="17" name="Text 15"/>
          <p:cNvSpPr/>
          <p:nvPr/>
        </p:nvSpPr>
        <p:spPr>
          <a:xfrm>
            <a:off x="822960" y="3402874"/>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Financial and equity consolidation</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Ownership boundary roll up</a:t>
            </a:r>
            <a:endParaRPr lang="en-US" sz="950" dirty="0"/>
          </a:p>
        </p:txBody>
      </p:sp>
      <p:sp>
        <p:nvSpPr>
          <p:cNvPr id="18" name="Shape 16"/>
          <p:cNvSpPr/>
          <p:nvPr/>
        </p:nvSpPr>
        <p:spPr>
          <a:xfrm>
            <a:off x="758952" y="3852237"/>
            <a:ext cx="5071720" cy="376210"/>
          </a:xfrm>
          <a:prstGeom prst="roundRect">
            <a:avLst>
              <a:gd name="adj" fmla="val 7292"/>
            </a:avLst>
          </a:prstGeom>
          <a:solidFill>
            <a:srgbClr val="F7F8F7"/>
          </a:solidFill>
          <a:ln w="5080">
            <a:solidFill>
              <a:srgbClr val="F7F8F7"/>
            </a:solidFill>
            <a:prstDash val="solid"/>
          </a:ln>
        </p:spPr>
      </p:sp>
      <p:sp>
        <p:nvSpPr>
          <p:cNvPr id="19" name="Text 17"/>
          <p:cNvSpPr/>
          <p:nvPr/>
        </p:nvSpPr>
        <p:spPr>
          <a:xfrm>
            <a:off x="822960" y="3852237"/>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Waste emission estimation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3 category 5</a:t>
            </a:r>
            <a:endParaRPr lang="en-US" sz="1000" dirty="0"/>
          </a:p>
        </p:txBody>
      </p:sp>
      <p:sp>
        <p:nvSpPr>
          <p:cNvPr id="20" name="Shape 18"/>
          <p:cNvSpPr/>
          <p:nvPr/>
        </p:nvSpPr>
        <p:spPr>
          <a:xfrm>
            <a:off x="758952" y="4301599"/>
            <a:ext cx="5071720" cy="376210"/>
          </a:xfrm>
          <a:prstGeom prst="roundRect">
            <a:avLst>
              <a:gd name="adj" fmla="val 7292"/>
            </a:avLst>
          </a:prstGeom>
          <a:solidFill>
            <a:srgbClr val="F7F8F7"/>
          </a:solidFill>
          <a:ln w="5080">
            <a:solidFill>
              <a:srgbClr val="F7F8F7"/>
            </a:solidFill>
            <a:prstDash val="solid"/>
          </a:ln>
        </p:spPr>
      </p:sp>
      <p:sp>
        <p:nvSpPr>
          <p:cNvPr id="21" name="Text 19"/>
          <p:cNvSpPr/>
          <p:nvPr/>
        </p:nvSpPr>
        <p:spPr>
          <a:xfrm>
            <a:off x="822960" y="4301599"/>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Improved method transparency per data point</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Methodology transparency</a:t>
            </a:r>
            <a:endParaRPr lang="en-US" sz="950" dirty="0"/>
          </a:p>
        </p:txBody>
      </p:sp>
      <p:sp>
        <p:nvSpPr>
          <p:cNvPr id="22" name="Shape 20"/>
          <p:cNvSpPr/>
          <p:nvPr/>
        </p:nvSpPr>
        <p:spPr>
          <a:xfrm>
            <a:off x="758952" y="4750961"/>
            <a:ext cx="5071720" cy="376210"/>
          </a:xfrm>
          <a:prstGeom prst="roundRect">
            <a:avLst>
              <a:gd name="adj" fmla="val 7292"/>
            </a:avLst>
          </a:prstGeom>
          <a:solidFill>
            <a:srgbClr val="F7F8F7"/>
          </a:solidFill>
          <a:ln w="5080">
            <a:solidFill>
              <a:srgbClr val="F7F8F7"/>
            </a:solidFill>
            <a:prstDash val="solid"/>
          </a:ln>
        </p:spPr>
      </p:sp>
      <p:sp>
        <p:nvSpPr>
          <p:cNvPr id="23" name="Text 21"/>
          <p:cNvSpPr/>
          <p:nvPr/>
        </p:nvSpPr>
        <p:spPr>
          <a:xfrm>
            <a:off x="822960" y="4750961"/>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Rebaselining</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Base year recalculation workflows</a:t>
            </a:r>
            <a:endParaRPr lang="en-US" sz="1000" dirty="0"/>
          </a:p>
        </p:txBody>
      </p:sp>
      <p:sp>
        <p:nvSpPr>
          <p:cNvPr id="24" name="Shape 22"/>
          <p:cNvSpPr/>
          <p:nvPr/>
        </p:nvSpPr>
        <p:spPr>
          <a:xfrm>
            <a:off x="758952" y="5200323"/>
            <a:ext cx="5071720" cy="376210"/>
          </a:xfrm>
          <a:prstGeom prst="roundRect">
            <a:avLst>
              <a:gd name="adj" fmla="val 7292"/>
            </a:avLst>
          </a:prstGeom>
          <a:solidFill>
            <a:srgbClr val="F7F8F7"/>
          </a:solidFill>
          <a:ln w="5080">
            <a:solidFill>
              <a:srgbClr val="F7F8F7"/>
            </a:solidFill>
            <a:prstDash val="solid"/>
          </a:ln>
        </p:spPr>
      </p:sp>
      <p:sp>
        <p:nvSpPr>
          <p:cNvPr id="25" name="Text 23"/>
          <p:cNvSpPr/>
          <p:nvPr/>
        </p:nvSpPr>
        <p:spPr>
          <a:xfrm>
            <a:off x="822960" y="5200323"/>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Supply chain PCF integration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Supplier specific factors</a:t>
            </a:r>
            <a:endParaRPr lang="en-US" sz="1000" dirty="0"/>
          </a:p>
        </p:txBody>
      </p:sp>
      <p:sp>
        <p:nvSpPr>
          <p:cNvPr id="26" name="Shape 24"/>
          <p:cNvSpPr/>
          <p:nvPr/>
        </p:nvSpPr>
        <p:spPr>
          <a:xfrm>
            <a:off x="758952" y="5649686"/>
            <a:ext cx="5071720" cy="376210"/>
          </a:xfrm>
          <a:prstGeom prst="roundRect">
            <a:avLst>
              <a:gd name="adj" fmla="val 7292"/>
            </a:avLst>
          </a:prstGeom>
          <a:solidFill>
            <a:srgbClr val="F7F8F7"/>
          </a:solidFill>
          <a:ln w="5080">
            <a:solidFill>
              <a:srgbClr val="F7F8F7"/>
            </a:solidFill>
            <a:prstDash val="solid"/>
          </a:ln>
        </p:spPr>
      </p:sp>
      <p:sp>
        <p:nvSpPr>
          <p:cNvPr id="27" name="Text 25"/>
          <p:cNvSpPr/>
          <p:nvPr/>
        </p:nvSpPr>
        <p:spPr>
          <a:xfrm>
            <a:off x="822960" y="5649686"/>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Advanced ECM library</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Energy and carbon cobenefits</a:t>
            </a:r>
            <a:endParaRPr lang="en-US" sz="1000" dirty="0"/>
          </a:p>
        </p:txBody>
      </p:sp>
      <p:sp>
        <p:nvSpPr>
          <p:cNvPr id="28" name="Shape 26"/>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6.144112485658443e+119" dist="2.0480374952194813e+119" dir="3.3161087958110005e+140">
              <a:srgbClr val="0A1F12">
                <a:alpha val="1.1999999999999999e+144"/>
              </a:srgbClr>
            </a:outerShdw>
          </a:effectLst>
        </p:spPr>
      </p:sp>
      <p:sp>
        <p:nvSpPr>
          <p:cNvPr id="29" name="Shape 27"/>
          <p:cNvSpPr/>
          <p:nvPr/>
        </p:nvSpPr>
        <p:spPr>
          <a:xfrm>
            <a:off x="6223864" y="2084832"/>
            <a:ext cx="5346040" cy="713232"/>
          </a:xfrm>
          <a:prstGeom prst="rect">
            <a:avLst/>
          </a:prstGeom>
          <a:solidFill>
            <a:srgbClr val="EAF1F5"/>
          </a:solidFill>
          <a:ln w="12700">
            <a:solidFill>
              <a:srgbClr val="EAF1F5"/>
            </a:solidFill>
            <a:prstDash val="solid"/>
          </a:ln>
        </p:spPr>
      </p:sp>
      <p:sp>
        <p:nvSpPr>
          <p:cNvPr id="30" name="Shape 28"/>
          <p:cNvSpPr/>
          <p:nvPr/>
        </p:nvSpPr>
        <p:spPr>
          <a:xfrm>
            <a:off x="6223864" y="2084832"/>
            <a:ext cx="54864" cy="4178808"/>
          </a:xfrm>
          <a:prstGeom prst="rect">
            <a:avLst/>
          </a:prstGeom>
          <a:solidFill>
            <a:srgbClr val="275B7F"/>
          </a:solidFill>
          <a:ln w="12700">
            <a:solidFill>
              <a:srgbClr val="275B7F"/>
            </a:solidFill>
            <a:prstDash val="solid"/>
          </a:ln>
        </p:spPr>
      </p:sp>
      <p:sp>
        <p:nvSpPr>
          <p:cNvPr id="31" name="Text 29"/>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32" name="Text 30"/>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33" name="Shape 31"/>
          <p:cNvSpPr/>
          <p:nvPr/>
        </p:nvSpPr>
        <p:spPr>
          <a:xfrm>
            <a:off x="6361024" y="2953512"/>
            <a:ext cx="5071720" cy="376210"/>
          </a:xfrm>
          <a:prstGeom prst="roundRect">
            <a:avLst>
              <a:gd name="adj" fmla="val 7292"/>
            </a:avLst>
          </a:prstGeom>
          <a:solidFill>
            <a:srgbClr val="F7F8F7"/>
          </a:solidFill>
          <a:ln w="5080">
            <a:solidFill>
              <a:srgbClr val="F7F8F7"/>
            </a:solidFill>
            <a:prstDash val="solid"/>
          </a:ln>
        </p:spPr>
      </p:sp>
      <p:sp>
        <p:nvSpPr>
          <p:cNvPr id="34" name="Text 32"/>
          <p:cNvSpPr/>
          <p:nvPr/>
        </p:nvSpPr>
        <p:spPr>
          <a:xfrm>
            <a:off x="6425032" y="2953512"/>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Category 15 investments</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PCAF aligned financed emissions</a:t>
            </a:r>
            <a:endParaRPr lang="en-US" sz="1000" dirty="0"/>
          </a:p>
        </p:txBody>
      </p:sp>
      <p:sp>
        <p:nvSpPr>
          <p:cNvPr id="35" name="Shape 33"/>
          <p:cNvSpPr/>
          <p:nvPr/>
        </p:nvSpPr>
        <p:spPr>
          <a:xfrm>
            <a:off x="6361024" y="3402874"/>
            <a:ext cx="5071720" cy="376210"/>
          </a:xfrm>
          <a:prstGeom prst="roundRect">
            <a:avLst>
              <a:gd name="adj" fmla="val 7292"/>
            </a:avLst>
          </a:prstGeom>
          <a:solidFill>
            <a:srgbClr val="F7F8F7"/>
          </a:solidFill>
          <a:ln w="5080">
            <a:solidFill>
              <a:srgbClr val="F7F8F7"/>
            </a:solidFill>
            <a:prstDash val="solid"/>
          </a:ln>
        </p:spPr>
      </p:sp>
      <p:sp>
        <p:nvSpPr>
          <p:cNvPr id="36" name="Text 34"/>
          <p:cNvSpPr/>
          <p:nvPr/>
        </p:nvSpPr>
        <p:spPr>
          <a:xfrm>
            <a:off x="6425032" y="3402874"/>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FLAG segmentation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Specialised standards</a:t>
            </a:r>
            <a:endParaRPr lang="en-US" sz="1000" dirty="0"/>
          </a:p>
        </p:txBody>
      </p:sp>
      <p:sp>
        <p:nvSpPr>
          <p:cNvPr id="37" name="Shape 35"/>
          <p:cNvSpPr/>
          <p:nvPr/>
        </p:nvSpPr>
        <p:spPr>
          <a:xfrm>
            <a:off x="6361024" y="3852237"/>
            <a:ext cx="5071720" cy="376210"/>
          </a:xfrm>
          <a:prstGeom prst="roundRect">
            <a:avLst>
              <a:gd name="adj" fmla="val 7292"/>
            </a:avLst>
          </a:prstGeom>
          <a:solidFill>
            <a:srgbClr val="F7F8F7"/>
          </a:solidFill>
          <a:ln w="5080">
            <a:solidFill>
              <a:srgbClr val="F7F8F7"/>
            </a:solidFill>
            <a:prstDash val="solid"/>
          </a:ln>
        </p:spPr>
      </p:sp>
      <p:sp>
        <p:nvSpPr>
          <p:cNvPr id="38" name="Text 36"/>
          <p:cNvSpPr/>
          <p:nvPr/>
        </p:nvSpPr>
        <p:spPr>
          <a:xfrm>
            <a:off x="6425032" y="3852237"/>
            <a:ext cx="4943704" cy="376210"/>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Dedicated auditor experience</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Variance checks, reports, status</a:t>
            </a:r>
            <a:endParaRPr lang="en-US" sz="1000" dirty="0"/>
          </a:p>
        </p:txBody>
      </p:sp>
      <p:sp>
        <p:nvSpPr>
          <p:cNvPr id="39" name="Shape 37"/>
          <p:cNvSpPr/>
          <p:nvPr/>
        </p:nvSpPr>
        <p:spPr>
          <a:xfrm>
            <a:off x="621792" y="6437376"/>
            <a:ext cx="10948111" cy="0"/>
          </a:xfrm>
          <a:prstGeom prst="line">
            <a:avLst/>
          </a:prstGeom>
          <a:noFill/>
          <a:ln w="9525">
            <a:solidFill>
              <a:srgbClr val="E2E6E2"/>
            </a:solidFill>
            <a:prstDash val="solid"/>
          </a:ln>
        </p:spPr>
      </p:sp>
      <p:sp>
        <p:nvSpPr>
          <p:cNvPr id="40" name="Text 3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41" name="Text 3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Carbon Performance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Factors and calculation depth first, then coverage, then the governance that makes it auditable.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7.803022856786223e+123" dist="2.6010076189287412e+123" dir="1.9896652774866004e+145">
              <a:srgbClr val="0A1F12">
                <a:alpha val="1.1999999999999998e+149"/>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Factors and calculation depth</a:t>
            </a:r>
            <a:endParaRPr lang="en-US" sz="14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Make the number defensible.</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EAC and PPA management for market based Scope 2</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Thermal source attribution across Scope 1 and 2</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Refrigerant leakage to usage based fugitive emissions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specific and standard factor datasets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Improved method transparency per data point</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9.909839028118503e+127" dist="3.303279676039501e+127" dir="1.1937991664919603e+150">
              <a:srgbClr val="0A1F12">
                <a:alpha val="1.1999999999999998e+154"/>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Inventory coverage</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Close the Scope 3 gaps.</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Sold product emissions, categories 10, 11 and 12</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Employee commuting and working from home, category 7</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Category 4 and 9 product linked transport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Waste emission estimation, category 5</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Category 15 investments and FLAG segmentation</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2585495565710499e+132" dist="4.195165188570166e+131" dir="7.162794998951762e+154">
              <a:srgbClr val="0A1F12">
                <a:alpha val="1.1999999999999998e+159"/>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Boundaries and governance</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Consultant grade control.</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Base year, exclusions and materiality settings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Financial and equity consolidation of ownership</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Rebaselining and base year recalculation workflows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revamp with per gas breakdown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Dedicated auditor experience</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5983579368452334e+136" dist="5.327859789484111e+135" dir="4.297676999371057e+159">
              <a:srgbClr val="0A1F12">
                <a:alpha val="1.1999999999999998e+164"/>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AI and decision support</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From inventory to action.</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for carbon inventory, AI guided troubleshooting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scenario analysis and decarbonization planning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Initiatives and actions management</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ECM library with energy and carbon cobenefits</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76275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43357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 STATUS TEST</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Carbon Performance roadmap by delivery confidence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same roadmap reframed around what is underway, committed, planned and still aspirational.</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2.0299145797934463e+140" dist="6.766381932644821e+139" dir="2.5786061996226343e+164">
              <a:srgbClr val="0A1F12">
                <a:alpha val="1.1999999999999998e+169"/>
              </a:srgbClr>
            </a:outerShdw>
          </a:effectLst>
        </p:spPr>
      </p:sp>
      <p:sp>
        <p:nvSpPr>
          <p:cNvPr id="10" name="Shape 8"/>
          <p:cNvSpPr/>
          <p:nvPr/>
        </p:nvSpPr>
        <p:spPr>
          <a:xfrm>
            <a:off x="621792" y="2084832"/>
            <a:ext cx="2545004"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2215820"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IN DELIVERY</a:t>
            </a:r>
            <a:endParaRPr lang="en-US" sz="850" dirty="0"/>
          </a:p>
        </p:txBody>
      </p:sp>
      <p:sp>
        <p:nvSpPr>
          <p:cNvPr id="13" name="Text 11"/>
          <p:cNvSpPr/>
          <p:nvPr/>
        </p:nvSpPr>
        <p:spPr>
          <a:xfrm>
            <a:off x="804672"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2270684" cy="555955"/>
          </a:xfrm>
          <a:prstGeom prst="roundRect">
            <a:avLst>
              <a:gd name="adj" fmla="val 4934"/>
            </a:avLst>
          </a:prstGeom>
          <a:solidFill>
            <a:srgbClr val="F7F8F7"/>
          </a:solidFill>
          <a:ln w="5080">
            <a:solidFill>
              <a:srgbClr val="F7F8F7"/>
            </a:solidFill>
            <a:prstDash val="solid"/>
          </a:ln>
        </p:spPr>
      </p:sp>
      <p:sp>
        <p:nvSpPr>
          <p:cNvPr id="15" name="Text 13"/>
          <p:cNvSpPr/>
          <p:nvPr/>
        </p:nvSpPr>
        <p:spPr>
          <a:xfrm>
            <a:off x="822960"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Sold product emissions</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3 categories 10, 11 and 12</a:t>
            </a:r>
            <a:endParaRPr lang="en-US" sz="1000" dirty="0"/>
          </a:p>
        </p:txBody>
      </p:sp>
      <p:sp>
        <p:nvSpPr>
          <p:cNvPr id="16" name="Shape 14"/>
          <p:cNvSpPr/>
          <p:nvPr/>
        </p:nvSpPr>
        <p:spPr>
          <a:xfrm>
            <a:off x="758952" y="3582619"/>
            <a:ext cx="2270684" cy="555955"/>
          </a:xfrm>
          <a:prstGeom prst="roundRect">
            <a:avLst>
              <a:gd name="adj" fmla="val 4934"/>
            </a:avLst>
          </a:prstGeom>
          <a:solidFill>
            <a:srgbClr val="F7F8F7"/>
          </a:solidFill>
          <a:ln w="5080">
            <a:solidFill>
              <a:srgbClr val="F7F8F7"/>
            </a:solidFill>
            <a:prstDash val="solid"/>
          </a:ln>
        </p:spPr>
      </p:sp>
      <p:sp>
        <p:nvSpPr>
          <p:cNvPr id="17" name="Text 15"/>
          <p:cNvSpPr/>
          <p:nvPr/>
        </p:nvSpPr>
        <p:spPr>
          <a:xfrm>
            <a:off x="822960"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System admin improvements</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Configuration, methods and templates</a:t>
            </a:r>
            <a:endParaRPr lang="en-US" sz="1000" dirty="0"/>
          </a:p>
        </p:txBody>
      </p:sp>
      <p:sp>
        <p:nvSpPr>
          <p:cNvPr id="18" name="Shape 16"/>
          <p:cNvSpPr/>
          <p:nvPr/>
        </p:nvSpPr>
        <p:spPr>
          <a:xfrm>
            <a:off x="758952" y="4211726"/>
            <a:ext cx="2270684" cy="555955"/>
          </a:xfrm>
          <a:prstGeom prst="roundRect">
            <a:avLst>
              <a:gd name="adj" fmla="val 4934"/>
            </a:avLst>
          </a:prstGeom>
          <a:solidFill>
            <a:srgbClr val="F7F8F7"/>
          </a:solidFill>
          <a:ln w="5080">
            <a:solidFill>
              <a:srgbClr val="F7F8F7"/>
            </a:solidFill>
            <a:prstDash val="solid"/>
          </a:ln>
        </p:spPr>
      </p:sp>
      <p:sp>
        <p:nvSpPr>
          <p:cNvPr id="19" name="Text 17"/>
          <p:cNvSpPr/>
          <p:nvPr/>
        </p:nvSpPr>
        <p:spPr>
          <a:xfrm>
            <a:off x="822960"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Inventory revamp</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Clarity and per gas breakdown</a:t>
            </a:r>
            <a:endParaRPr lang="en-US" sz="1000" dirty="0"/>
          </a:p>
        </p:txBody>
      </p:sp>
      <p:sp>
        <p:nvSpPr>
          <p:cNvPr id="20" name="Shape 18"/>
          <p:cNvSpPr/>
          <p:nvPr/>
        </p:nvSpPr>
        <p:spPr>
          <a:xfrm>
            <a:off x="758952" y="4840834"/>
            <a:ext cx="2270684" cy="555955"/>
          </a:xfrm>
          <a:prstGeom prst="roundRect">
            <a:avLst>
              <a:gd name="adj" fmla="val 4934"/>
            </a:avLst>
          </a:prstGeom>
          <a:solidFill>
            <a:srgbClr val="F7F8F7"/>
          </a:solidFill>
          <a:ln w="5080">
            <a:solidFill>
              <a:srgbClr val="F7F8F7"/>
            </a:solidFill>
            <a:prstDash val="solid"/>
          </a:ln>
        </p:spPr>
      </p:sp>
      <p:sp>
        <p:nvSpPr>
          <p:cNvPr id="21" name="Text 19"/>
          <p:cNvSpPr/>
          <p:nvPr/>
        </p:nvSpPr>
        <p:spPr>
          <a:xfrm>
            <a:off x="822960"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Pre-calculated emissions import</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Client-calculated data ingestion</a:t>
            </a:r>
            <a:endParaRPr lang="en-US" sz="1000" dirty="0"/>
          </a:p>
        </p:txBody>
      </p:sp>
      <p:sp>
        <p:nvSpPr>
          <p:cNvPr id="22" name="Shape 20"/>
          <p:cNvSpPr/>
          <p:nvPr/>
        </p:nvSpPr>
        <p:spPr>
          <a:xfrm>
            <a:off x="3422828"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2.577991516337677e+144" dist="8.593305054458923e+143" dir="1.5471637197735807e+169">
              <a:srgbClr val="0A1F12">
                <a:alpha val="1.1999999999999997e+174"/>
              </a:srgbClr>
            </a:outerShdw>
          </a:effectLst>
        </p:spPr>
      </p:sp>
      <p:sp>
        <p:nvSpPr>
          <p:cNvPr id="23" name="Shape 21"/>
          <p:cNvSpPr/>
          <p:nvPr/>
        </p:nvSpPr>
        <p:spPr>
          <a:xfrm>
            <a:off x="3422828" y="2084832"/>
            <a:ext cx="2545004" cy="713232"/>
          </a:xfrm>
          <a:prstGeom prst="rect">
            <a:avLst/>
          </a:prstGeom>
          <a:solidFill>
            <a:srgbClr val="EAF8ED"/>
          </a:solidFill>
          <a:ln w="12700">
            <a:solidFill>
              <a:srgbClr val="EAF8ED"/>
            </a:solidFill>
            <a:prstDash val="solid"/>
          </a:ln>
        </p:spPr>
      </p:sp>
      <p:sp>
        <p:nvSpPr>
          <p:cNvPr id="24" name="Shape 22"/>
          <p:cNvSpPr/>
          <p:nvPr/>
        </p:nvSpPr>
        <p:spPr>
          <a:xfrm>
            <a:off x="3422828" y="2084832"/>
            <a:ext cx="54864" cy="4178808"/>
          </a:xfrm>
          <a:prstGeom prst="rect">
            <a:avLst/>
          </a:prstGeom>
          <a:solidFill>
            <a:srgbClr val="007A27"/>
          </a:solidFill>
          <a:ln w="12700">
            <a:solidFill>
              <a:srgbClr val="007A27"/>
            </a:solidFill>
            <a:prstDash val="solid"/>
          </a:ln>
        </p:spPr>
      </p:sp>
      <p:sp>
        <p:nvSpPr>
          <p:cNvPr id="25" name="Text 23"/>
          <p:cNvSpPr/>
          <p:nvPr/>
        </p:nvSpPr>
        <p:spPr>
          <a:xfrm>
            <a:off x="3605708" y="2176272"/>
            <a:ext cx="2215820"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COMMITTED</a:t>
            </a:r>
            <a:endParaRPr lang="en-US" sz="850" dirty="0"/>
          </a:p>
        </p:txBody>
      </p:sp>
      <p:sp>
        <p:nvSpPr>
          <p:cNvPr id="26" name="Text 24"/>
          <p:cNvSpPr/>
          <p:nvPr/>
        </p:nvSpPr>
        <p:spPr>
          <a:xfrm>
            <a:off x="3605708"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 committed</a:t>
            </a:r>
            <a:endParaRPr lang="en-US" sz="1400" dirty="0"/>
          </a:p>
        </p:txBody>
      </p:sp>
      <p:sp>
        <p:nvSpPr>
          <p:cNvPr id="27" name="Shape 25"/>
          <p:cNvSpPr/>
          <p:nvPr/>
        </p:nvSpPr>
        <p:spPr>
          <a:xfrm>
            <a:off x="3559988" y="2953512"/>
            <a:ext cx="2270684" cy="555955"/>
          </a:xfrm>
          <a:prstGeom prst="roundRect">
            <a:avLst>
              <a:gd name="adj" fmla="val 4934"/>
            </a:avLst>
          </a:prstGeom>
          <a:solidFill>
            <a:srgbClr val="F7F8F7"/>
          </a:solidFill>
          <a:ln w="5080">
            <a:solidFill>
              <a:srgbClr val="F7F8F7"/>
            </a:solidFill>
            <a:prstDash val="solid"/>
          </a:ln>
        </p:spPr>
      </p:sp>
      <p:sp>
        <p:nvSpPr>
          <p:cNvPr id="28" name="Text 26"/>
          <p:cNvSpPr/>
          <p:nvPr/>
        </p:nvSpPr>
        <p:spPr>
          <a:xfrm>
            <a:off x="3623996"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EAC and PPA management</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Market based Scope 2</a:t>
            </a:r>
            <a:endParaRPr lang="en-US" sz="1000" dirty="0"/>
          </a:p>
        </p:txBody>
      </p:sp>
      <p:sp>
        <p:nvSpPr>
          <p:cNvPr id="29" name="Shape 27"/>
          <p:cNvSpPr/>
          <p:nvPr/>
        </p:nvSpPr>
        <p:spPr>
          <a:xfrm>
            <a:off x="3559988" y="3582619"/>
            <a:ext cx="2270684" cy="555955"/>
          </a:xfrm>
          <a:prstGeom prst="roundRect">
            <a:avLst>
              <a:gd name="adj" fmla="val 4934"/>
            </a:avLst>
          </a:prstGeom>
          <a:solidFill>
            <a:srgbClr val="F7F8F7"/>
          </a:solidFill>
          <a:ln w="5080">
            <a:solidFill>
              <a:srgbClr val="F7F8F7"/>
            </a:solidFill>
            <a:prstDash val="solid"/>
          </a:ln>
        </p:spPr>
      </p:sp>
      <p:sp>
        <p:nvSpPr>
          <p:cNvPr id="30" name="Text 28"/>
          <p:cNvSpPr/>
          <p:nvPr/>
        </p:nvSpPr>
        <p:spPr>
          <a:xfrm>
            <a:off x="3623996"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Base year, exclusions and materiality</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GHGP compliant boundaries</a:t>
            </a:r>
            <a:endParaRPr lang="en-US" sz="950" dirty="0"/>
          </a:p>
        </p:txBody>
      </p:sp>
      <p:sp>
        <p:nvSpPr>
          <p:cNvPr id="31" name="Shape 29"/>
          <p:cNvSpPr/>
          <p:nvPr/>
        </p:nvSpPr>
        <p:spPr>
          <a:xfrm>
            <a:off x="3559988" y="4211726"/>
            <a:ext cx="2270684" cy="555955"/>
          </a:xfrm>
          <a:prstGeom prst="roundRect">
            <a:avLst>
              <a:gd name="adj" fmla="val 4934"/>
            </a:avLst>
          </a:prstGeom>
          <a:solidFill>
            <a:srgbClr val="F7F8F7"/>
          </a:solidFill>
          <a:ln w="5080">
            <a:solidFill>
              <a:srgbClr val="F7F8F7"/>
            </a:solidFill>
            <a:prstDash val="solid"/>
          </a:ln>
        </p:spPr>
      </p:sp>
      <p:sp>
        <p:nvSpPr>
          <p:cNvPr id="32" name="Text 30"/>
          <p:cNvSpPr/>
          <p:nvPr/>
        </p:nvSpPr>
        <p:spPr>
          <a:xfrm>
            <a:off x="3623996"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Thermal source attribution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1 and 2 split</a:t>
            </a:r>
            <a:endParaRPr lang="en-US" sz="1000" dirty="0"/>
          </a:p>
        </p:txBody>
      </p:sp>
      <p:sp>
        <p:nvSpPr>
          <p:cNvPr id="33" name="Shape 31"/>
          <p:cNvSpPr/>
          <p:nvPr/>
        </p:nvSpPr>
        <p:spPr>
          <a:xfrm>
            <a:off x="3559988" y="4840834"/>
            <a:ext cx="2270684" cy="555955"/>
          </a:xfrm>
          <a:prstGeom prst="roundRect">
            <a:avLst>
              <a:gd name="adj" fmla="val 4934"/>
            </a:avLst>
          </a:prstGeom>
          <a:solidFill>
            <a:srgbClr val="F7F8F7"/>
          </a:solidFill>
          <a:ln w="5080">
            <a:solidFill>
              <a:srgbClr val="F7F8F7"/>
            </a:solidFill>
            <a:prstDash val="solid"/>
          </a:ln>
        </p:spPr>
      </p:sp>
      <p:sp>
        <p:nvSpPr>
          <p:cNvPr id="34" name="Text 32"/>
          <p:cNvSpPr/>
          <p:nvPr/>
        </p:nvSpPr>
        <p:spPr>
          <a:xfrm>
            <a:off x="3623996"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Refrigerant leakage to usage</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1 fugitive emissions</a:t>
            </a:r>
            <a:endParaRPr lang="en-US" sz="1000" dirty="0"/>
          </a:p>
        </p:txBody>
      </p:sp>
      <p:sp>
        <p:nvSpPr>
          <p:cNvPr id="35" name="Shape 33"/>
          <p:cNvSpPr/>
          <p:nvPr/>
        </p:nvSpPr>
        <p:spPr>
          <a:xfrm>
            <a:off x="6223864"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3.2740492257488497e+148" dist="1.0913497419162833e+148" dir="9.282982318641485e+173">
              <a:srgbClr val="0A1F12">
                <a:alpha val="1.1999999999999996e+179"/>
              </a:srgbClr>
            </a:outerShdw>
          </a:effectLst>
        </p:spPr>
      </p:sp>
      <p:sp>
        <p:nvSpPr>
          <p:cNvPr id="36" name="Shape 34"/>
          <p:cNvSpPr/>
          <p:nvPr/>
        </p:nvSpPr>
        <p:spPr>
          <a:xfrm>
            <a:off x="6223864" y="2084832"/>
            <a:ext cx="2545004" cy="713232"/>
          </a:xfrm>
          <a:prstGeom prst="rect">
            <a:avLst/>
          </a:prstGeom>
          <a:solidFill>
            <a:srgbClr val="FFF4E3"/>
          </a:solidFill>
          <a:ln w="12700">
            <a:solidFill>
              <a:srgbClr val="FFF4E3"/>
            </a:solidFill>
            <a:prstDash val="solid"/>
          </a:ln>
        </p:spPr>
      </p:sp>
      <p:sp>
        <p:nvSpPr>
          <p:cNvPr id="37" name="Shape 35"/>
          <p:cNvSpPr/>
          <p:nvPr/>
        </p:nvSpPr>
        <p:spPr>
          <a:xfrm>
            <a:off x="6223864" y="2084832"/>
            <a:ext cx="54864" cy="4178808"/>
          </a:xfrm>
          <a:prstGeom prst="rect">
            <a:avLst/>
          </a:prstGeom>
          <a:solidFill>
            <a:srgbClr val="FFB04C"/>
          </a:solidFill>
          <a:ln w="12700">
            <a:solidFill>
              <a:srgbClr val="FFB04C"/>
            </a:solidFill>
            <a:prstDash val="solid"/>
          </a:ln>
        </p:spPr>
      </p:sp>
      <p:sp>
        <p:nvSpPr>
          <p:cNvPr id="38" name="Text 36"/>
          <p:cNvSpPr/>
          <p:nvPr/>
        </p:nvSpPr>
        <p:spPr>
          <a:xfrm>
            <a:off x="6406744" y="2176272"/>
            <a:ext cx="2215820"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PLANNED</a:t>
            </a:r>
            <a:endParaRPr lang="en-US" sz="850" dirty="0"/>
          </a:p>
        </p:txBody>
      </p:sp>
      <p:sp>
        <p:nvSpPr>
          <p:cNvPr id="39" name="Text 37"/>
          <p:cNvSpPr/>
          <p:nvPr/>
        </p:nvSpPr>
        <p:spPr>
          <a:xfrm>
            <a:off x="6406744"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 planned</a:t>
            </a:r>
            <a:endParaRPr lang="en-US" sz="1400" dirty="0"/>
          </a:p>
        </p:txBody>
      </p:sp>
      <p:sp>
        <p:nvSpPr>
          <p:cNvPr id="40" name="Shape 38"/>
          <p:cNvSpPr/>
          <p:nvPr/>
        </p:nvSpPr>
        <p:spPr>
          <a:xfrm>
            <a:off x="6361024" y="2953512"/>
            <a:ext cx="2270684" cy="555955"/>
          </a:xfrm>
          <a:prstGeom prst="roundRect">
            <a:avLst>
              <a:gd name="adj" fmla="val 4934"/>
            </a:avLst>
          </a:prstGeom>
          <a:solidFill>
            <a:srgbClr val="F7F8F7"/>
          </a:solidFill>
          <a:ln w="5080">
            <a:solidFill>
              <a:srgbClr val="F7F8F7"/>
            </a:solidFill>
            <a:prstDash val="solid"/>
          </a:ln>
        </p:spPr>
      </p:sp>
      <p:sp>
        <p:nvSpPr>
          <p:cNvPr id="41" name="Text 39"/>
          <p:cNvSpPr/>
          <p:nvPr/>
        </p:nvSpPr>
        <p:spPr>
          <a:xfrm>
            <a:off x="6425032"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Employee commuting and WFH</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Scope 3 category 7</a:t>
            </a:r>
            <a:endParaRPr lang="en-US" sz="1000" dirty="0"/>
          </a:p>
        </p:txBody>
      </p:sp>
      <p:sp>
        <p:nvSpPr>
          <p:cNvPr id="42" name="Shape 40"/>
          <p:cNvSpPr/>
          <p:nvPr/>
        </p:nvSpPr>
        <p:spPr>
          <a:xfrm>
            <a:off x="6361024" y="3582619"/>
            <a:ext cx="2270684" cy="555955"/>
          </a:xfrm>
          <a:prstGeom prst="roundRect">
            <a:avLst>
              <a:gd name="adj" fmla="val 4934"/>
            </a:avLst>
          </a:prstGeom>
          <a:solidFill>
            <a:srgbClr val="F7F8F7"/>
          </a:solidFill>
          <a:ln w="5080">
            <a:solidFill>
              <a:srgbClr val="F7F8F7"/>
            </a:solidFill>
            <a:prstDash val="solid"/>
          </a:ln>
        </p:spPr>
      </p:sp>
      <p:sp>
        <p:nvSpPr>
          <p:cNvPr id="43" name="Text 41"/>
          <p:cNvSpPr/>
          <p:nvPr/>
        </p:nvSpPr>
        <p:spPr>
          <a:xfrm>
            <a:off x="6425032"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Sera for carbon inventory</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AI guided troubleshooting</a:t>
            </a:r>
            <a:endParaRPr lang="en-US" sz="1000" dirty="0"/>
          </a:p>
        </p:txBody>
      </p:sp>
      <p:sp>
        <p:nvSpPr>
          <p:cNvPr id="44" name="Shape 42"/>
          <p:cNvSpPr/>
          <p:nvPr/>
        </p:nvSpPr>
        <p:spPr>
          <a:xfrm>
            <a:off x="6361024" y="4211726"/>
            <a:ext cx="2270684" cy="555955"/>
          </a:xfrm>
          <a:prstGeom prst="roundRect">
            <a:avLst>
              <a:gd name="adj" fmla="val 4934"/>
            </a:avLst>
          </a:prstGeom>
          <a:solidFill>
            <a:srgbClr val="F7F8F7"/>
          </a:solidFill>
          <a:ln w="5080">
            <a:solidFill>
              <a:srgbClr val="F7F8F7"/>
            </a:solidFill>
            <a:prstDash val="solid"/>
          </a:ln>
        </p:spPr>
      </p:sp>
      <p:sp>
        <p:nvSpPr>
          <p:cNvPr id="45" name="Text 43"/>
          <p:cNvSpPr/>
          <p:nvPr/>
        </p:nvSpPr>
        <p:spPr>
          <a:xfrm>
            <a:off x="6425032"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Scenario and decarbonization planning</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Initiatives and actions</a:t>
            </a:r>
            <a:endParaRPr lang="en-US" sz="950" dirty="0"/>
          </a:p>
        </p:txBody>
      </p:sp>
      <p:sp>
        <p:nvSpPr>
          <p:cNvPr id="46" name="Shape 44"/>
          <p:cNvSpPr/>
          <p:nvPr/>
        </p:nvSpPr>
        <p:spPr>
          <a:xfrm>
            <a:off x="9024899" y="2084832"/>
            <a:ext cx="2545004" cy="4178808"/>
          </a:xfrm>
          <a:prstGeom prst="roundRect">
            <a:avLst>
              <a:gd name="adj" fmla="val 2156"/>
            </a:avLst>
          </a:prstGeom>
          <a:solidFill>
            <a:srgbClr val="FFFFFF"/>
          </a:solidFill>
          <a:ln w="9525">
            <a:solidFill>
              <a:srgbClr val="E2E6E2"/>
            </a:solidFill>
            <a:prstDash val="solid"/>
          </a:ln>
          <a:effectLst>
            <a:outerShdw sx="100000" sy="100000" kx="0" ky="0" algn="bl" rotWithShape="0" blurRad="4.158042516701039e+152" dist="1.38601417223368e+152" dir="5.569789391184891e+178">
              <a:srgbClr val="0A1F12">
                <a:alpha val="1.1999999999999996e+184"/>
              </a:srgbClr>
            </a:outerShdw>
          </a:effectLst>
        </p:spPr>
      </p:sp>
      <p:sp>
        <p:nvSpPr>
          <p:cNvPr id="47" name="Shape 45"/>
          <p:cNvSpPr/>
          <p:nvPr/>
        </p:nvSpPr>
        <p:spPr>
          <a:xfrm>
            <a:off x="9024899" y="2084832"/>
            <a:ext cx="2545004" cy="713232"/>
          </a:xfrm>
          <a:prstGeom prst="rect">
            <a:avLst/>
          </a:prstGeom>
          <a:solidFill>
            <a:srgbClr val="EAF1F5"/>
          </a:solidFill>
          <a:ln w="12700">
            <a:solidFill>
              <a:srgbClr val="EAF1F5"/>
            </a:solidFill>
            <a:prstDash val="solid"/>
          </a:ln>
        </p:spPr>
      </p:sp>
      <p:sp>
        <p:nvSpPr>
          <p:cNvPr id="48" name="Shape 46"/>
          <p:cNvSpPr/>
          <p:nvPr/>
        </p:nvSpPr>
        <p:spPr>
          <a:xfrm>
            <a:off x="9024899" y="2084832"/>
            <a:ext cx="54864" cy="4178808"/>
          </a:xfrm>
          <a:prstGeom prst="rect">
            <a:avLst/>
          </a:prstGeom>
          <a:solidFill>
            <a:srgbClr val="275B7F"/>
          </a:solidFill>
          <a:ln w="12700">
            <a:solidFill>
              <a:srgbClr val="275B7F"/>
            </a:solidFill>
            <a:prstDash val="solid"/>
          </a:ln>
        </p:spPr>
      </p:sp>
      <p:sp>
        <p:nvSpPr>
          <p:cNvPr id="49" name="Text 47"/>
          <p:cNvSpPr/>
          <p:nvPr/>
        </p:nvSpPr>
        <p:spPr>
          <a:xfrm>
            <a:off x="9207779" y="2176272"/>
            <a:ext cx="2215820"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ASPIRATIONAL</a:t>
            </a:r>
            <a:endParaRPr lang="en-US" sz="850" dirty="0"/>
          </a:p>
        </p:txBody>
      </p:sp>
      <p:sp>
        <p:nvSpPr>
          <p:cNvPr id="50" name="Text 48"/>
          <p:cNvSpPr/>
          <p:nvPr/>
        </p:nvSpPr>
        <p:spPr>
          <a:xfrm>
            <a:off x="9207779" y="2423160"/>
            <a:ext cx="2215820"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a:t>
            </a:r>
            <a:endParaRPr lang="en-US" sz="1400" dirty="0"/>
          </a:p>
        </p:txBody>
      </p:sp>
      <p:sp>
        <p:nvSpPr>
          <p:cNvPr id="51" name="Shape 49"/>
          <p:cNvSpPr/>
          <p:nvPr/>
        </p:nvSpPr>
        <p:spPr>
          <a:xfrm>
            <a:off x="9162059" y="2953512"/>
            <a:ext cx="2270684" cy="555955"/>
          </a:xfrm>
          <a:prstGeom prst="roundRect">
            <a:avLst>
              <a:gd name="adj" fmla="val 4934"/>
            </a:avLst>
          </a:prstGeom>
          <a:solidFill>
            <a:srgbClr val="F7F8F7"/>
          </a:solidFill>
          <a:ln w="5080">
            <a:solidFill>
              <a:srgbClr val="F7F8F7"/>
            </a:solidFill>
            <a:prstDash val="solid"/>
          </a:ln>
        </p:spPr>
      </p:sp>
      <p:sp>
        <p:nvSpPr>
          <p:cNvPr id="52" name="Text 50"/>
          <p:cNvSpPr/>
          <p:nvPr/>
        </p:nvSpPr>
        <p:spPr>
          <a:xfrm>
            <a:off x="9226067" y="2953512"/>
            <a:ext cx="2142668"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Close transport and waste categories</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Categories 4, 5 and 9</a:t>
            </a:r>
            <a:endParaRPr lang="en-US" sz="950" dirty="0"/>
          </a:p>
        </p:txBody>
      </p:sp>
      <p:sp>
        <p:nvSpPr>
          <p:cNvPr id="53" name="Shape 51"/>
          <p:cNvSpPr/>
          <p:nvPr/>
        </p:nvSpPr>
        <p:spPr>
          <a:xfrm>
            <a:off x="9162059" y="3582619"/>
            <a:ext cx="2270684" cy="555955"/>
          </a:xfrm>
          <a:prstGeom prst="roundRect">
            <a:avLst>
              <a:gd name="adj" fmla="val 4934"/>
            </a:avLst>
          </a:prstGeom>
          <a:solidFill>
            <a:srgbClr val="F7F8F7"/>
          </a:solidFill>
          <a:ln w="5080">
            <a:solidFill>
              <a:srgbClr val="F7F8F7"/>
            </a:solidFill>
            <a:prstDash val="solid"/>
          </a:ln>
        </p:spPr>
      </p:sp>
      <p:sp>
        <p:nvSpPr>
          <p:cNvPr id="54" name="Text 52"/>
          <p:cNvSpPr/>
          <p:nvPr/>
        </p:nvSpPr>
        <p:spPr>
          <a:xfrm>
            <a:off x="9226067" y="3582619"/>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Consolidation and rebaselining</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Ownership and base year controls</a:t>
            </a:r>
            <a:endParaRPr lang="en-US" sz="1000" dirty="0"/>
          </a:p>
        </p:txBody>
      </p:sp>
      <p:sp>
        <p:nvSpPr>
          <p:cNvPr id="55" name="Shape 53"/>
          <p:cNvSpPr/>
          <p:nvPr/>
        </p:nvSpPr>
        <p:spPr>
          <a:xfrm>
            <a:off x="9162059" y="4211726"/>
            <a:ext cx="2270684" cy="555955"/>
          </a:xfrm>
          <a:prstGeom prst="roundRect">
            <a:avLst>
              <a:gd name="adj" fmla="val 4934"/>
            </a:avLst>
          </a:prstGeom>
          <a:solidFill>
            <a:srgbClr val="F7F8F7"/>
          </a:solidFill>
          <a:ln w="5080">
            <a:solidFill>
              <a:srgbClr val="F7F8F7"/>
            </a:solidFill>
            <a:prstDash val="solid"/>
          </a:ln>
        </p:spPr>
      </p:sp>
      <p:sp>
        <p:nvSpPr>
          <p:cNvPr id="56" name="Text 54"/>
          <p:cNvSpPr/>
          <p:nvPr/>
        </p:nvSpPr>
        <p:spPr>
          <a:xfrm>
            <a:off x="9226067" y="4211726"/>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PCF and ECM integration</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Cross-product intelligence</a:t>
            </a:r>
            <a:endParaRPr lang="en-US" sz="1000" dirty="0"/>
          </a:p>
        </p:txBody>
      </p:sp>
      <p:sp>
        <p:nvSpPr>
          <p:cNvPr id="57" name="Shape 55"/>
          <p:cNvSpPr/>
          <p:nvPr/>
        </p:nvSpPr>
        <p:spPr>
          <a:xfrm>
            <a:off x="9162059" y="4840834"/>
            <a:ext cx="2270684" cy="555955"/>
          </a:xfrm>
          <a:prstGeom prst="roundRect">
            <a:avLst>
              <a:gd name="adj" fmla="val 4934"/>
            </a:avLst>
          </a:prstGeom>
          <a:solidFill>
            <a:srgbClr val="F7F8F7"/>
          </a:solidFill>
          <a:ln w="5080">
            <a:solidFill>
              <a:srgbClr val="F7F8F7"/>
            </a:solidFill>
            <a:prstDash val="solid"/>
          </a:ln>
        </p:spPr>
      </p:sp>
      <p:sp>
        <p:nvSpPr>
          <p:cNvPr id="58" name="Text 56"/>
          <p:cNvSpPr/>
          <p:nvPr/>
        </p:nvSpPr>
        <p:spPr>
          <a:xfrm>
            <a:off x="9226067" y="4840834"/>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Category 15 and FLAG</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Specialised standards</a:t>
            </a:r>
            <a:endParaRPr lang="en-US" sz="1000" dirty="0"/>
          </a:p>
        </p:txBody>
      </p:sp>
      <p:sp>
        <p:nvSpPr>
          <p:cNvPr id="59" name="Shape 57"/>
          <p:cNvSpPr/>
          <p:nvPr/>
        </p:nvSpPr>
        <p:spPr>
          <a:xfrm>
            <a:off x="9162059" y="5469941"/>
            <a:ext cx="2270684" cy="555955"/>
          </a:xfrm>
          <a:prstGeom prst="roundRect">
            <a:avLst>
              <a:gd name="adj" fmla="val 4934"/>
            </a:avLst>
          </a:prstGeom>
          <a:solidFill>
            <a:srgbClr val="F7F8F7"/>
          </a:solidFill>
          <a:ln w="5080">
            <a:solidFill>
              <a:srgbClr val="F7F8F7"/>
            </a:solidFill>
            <a:prstDash val="solid"/>
          </a:ln>
        </p:spPr>
      </p:sp>
      <p:sp>
        <p:nvSpPr>
          <p:cNvPr id="60" name="Text 58"/>
          <p:cNvSpPr/>
          <p:nvPr/>
        </p:nvSpPr>
        <p:spPr>
          <a:xfrm>
            <a:off x="9226067" y="5469941"/>
            <a:ext cx="2142668"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Dedicated auditor experience</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Assurance workflows</a:t>
            </a:r>
            <a:endParaRPr lang="en-US" sz="1000" dirty="0"/>
          </a:p>
        </p:txBody>
      </p:sp>
      <p:sp>
        <p:nvSpPr>
          <p:cNvPr id="61" name="Shape 59"/>
          <p:cNvSpPr/>
          <p:nvPr/>
        </p:nvSpPr>
        <p:spPr>
          <a:xfrm>
            <a:off x="621792" y="6437376"/>
            <a:ext cx="10948111" cy="0"/>
          </a:xfrm>
          <a:prstGeom prst="line">
            <a:avLst/>
          </a:prstGeom>
          <a:noFill/>
          <a:ln w="9525">
            <a:solidFill>
              <a:srgbClr val="E2E6E2"/>
            </a:solidFill>
            <a:prstDash val="solid"/>
          </a:ln>
        </p:spPr>
      </p:sp>
      <p:sp>
        <p:nvSpPr>
          <p:cNvPr id="62" name="Text 60"/>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63" name="Text 61"/>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76275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43357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 STATUS TEST</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each delivery status means for the roadmap</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 decision-oriented breakdown separates active delivery from commitments, plans and longer-term ambition.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5.28071399621032e+156" dist="1.7602379987367734e+156" dir="3.3418736347109347e+183">
              <a:srgbClr val="0A1F12">
                <a:alpha val="1.1999999999999995e+189"/>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IN DELIVERY, Q3</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Work is active</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Teams and scope are mobilized now.</a:t>
            </a:r>
            <a:endParaRPr lang="en-US" sz="1100" dirty="0"/>
          </a:p>
        </p:txBody>
      </p:sp>
      <p:sp>
        <p:nvSpPr>
          <p:cNvPr id="14" name="Text 12"/>
          <p:cNvSpPr/>
          <p:nvPr/>
        </p:nvSpPr>
        <p:spPr>
          <a:xfrm>
            <a:off x="822960" y="3776472"/>
            <a:ext cx="2165528"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Sold product emissions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revamp</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Pre-calculated emissions import</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System administration</a:t>
            </a:r>
            <a:endParaRPr lang="en-US" sz="1100" dirty="0"/>
          </a:p>
        </p:txBody>
      </p:sp>
      <p:sp>
        <p:nvSpPr>
          <p:cNvPr id="15" name="Shape 13"/>
          <p:cNvSpPr/>
          <p:nvPr/>
        </p:nvSpPr>
        <p:spPr>
          <a:xfrm>
            <a:off x="3427400"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6.706506775187106e+160" dist="2.235502258395702e+160" dir="2.0051241808265608e+188">
              <a:srgbClr val="0A1F12">
                <a:alpha val="1.1999999999999995e+194"/>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COMMITTED, Q4</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Outcome is protected</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Scope is committed within the delivery envelope.</a:t>
            </a:r>
            <a:endParaRPr lang="en-US" sz="1100" dirty="0"/>
          </a:p>
        </p:txBody>
      </p:sp>
      <p:sp>
        <p:nvSpPr>
          <p:cNvPr id="20" name="Text 18"/>
          <p:cNvSpPr/>
          <p:nvPr/>
        </p:nvSpPr>
        <p:spPr>
          <a:xfrm>
            <a:off x="3628568" y="3776472"/>
            <a:ext cx="2165528"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EAC and PPA management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Base year and materiality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Thermal source attribution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Refrigerant leakage</a:t>
            </a:r>
            <a:endParaRPr lang="en-US" sz="1100" dirty="0"/>
          </a:p>
        </p:txBody>
      </p:sp>
      <p:sp>
        <p:nvSpPr>
          <p:cNvPr id="21" name="Shape 19"/>
          <p:cNvSpPr/>
          <p:nvPr/>
        </p:nvSpPr>
        <p:spPr>
          <a:xfrm>
            <a:off x="6233008"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8.517263604487625e+164" dist="2.8390878681625417e+164" dir="1.2030745084959364e+193">
              <a:srgbClr val="0A1F12">
                <a:alpha val="1.1999999999999994e+199"/>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PLANNED, Q4</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Sequenced, not protected</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intent is clear, but delivery depends on capacity.</a:t>
            </a:r>
            <a:endParaRPr lang="en-US" sz="1100" dirty="0"/>
          </a:p>
        </p:txBody>
      </p:sp>
      <p:sp>
        <p:nvSpPr>
          <p:cNvPr id="26" name="Text 24"/>
          <p:cNvSpPr/>
          <p:nvPr/>
        </p:nvSpPr>
        <p:spPr>
          <a:xfrm>
            <a:off x="6434176" y="3776472"/>
            <a:ext cx="2165528"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Employee commuting and WFH</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inventory guidance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Scenario planning</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Actions management</a:t>
            </a:r>
            <a:endParaRPr lang="en-US" sz="1100" dirty="0"/>
          </a:p>
        </p:txBody>
      </p:sp>
      <p:sp>
        <p:nvSpPr>
          <p:cNvPr id="27" name="Shape 25"/>
          <p:cNvSpPr/>
          <p:nvPr/>
        </p:nvSpPr>
        <p:spPr>
          <a:xfrm>
            <a:off x="9038615" y="2084832"/>
            <a:ext cx="2531288" cy="3419856"/>
          </a:xfrm>
          <a:prstGeom prst="roundRect">
            <a:avLst>
              <a:gd name="adj" fmla="val 2167"/>
            </a:avLst>
          </a:prstGeom>
          <a:solidFill>
            <a:srgbClr val="FFFFFF"/>
          </a:solidFill>
          <a:ln w="9525">
            <a:solidFill>
              <a:srgbClr val="E2E6E2"/>
            </a:solidFill>
            <a:prstDash val="solid"/>
          </a:ln>
          <a:effectLst>
            <a:outerShdw sx="100000" sy="100000" kx="0" ky="0" algn="bl" rotWithShape="0" blurRad="1.0816924777699284e+169" dist="3.605641592566428e+168" dir="7.218447050975619e+197">
              <a:srgbClr val="0A1F12">
                <a:alpha val="1.1999999999999994e+204"/>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ASPIRATIONAL, 2027</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Direction, not commitment</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ambition is retained without implying a fixed date.</a:t>
            </a:r>
            <a:endParaRPr lang="en-US" sz="1100" dirty="0"/>
          </a:p>
        </p:txBody>
      </p:sp>
      <p:sp>
        <p:nvSpPr>
          <p:cNvPr id="32" name="Text 30"/>
          <p:cNvSpPr/>
          <p:nvPr/>
        </p:nvSpPr>
        <p:spPr>
          <a:xfrm>
            <a:off x="9239783" y="3776472"/>
            <a:ext cx="2165528" cy="1508760"/>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Remaining Scope 3 categories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Consolidation and rebaselining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PCF and ECM integration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experience</a:t>
            </a:r>
            <a:endParaRPr lang="en-US" sz="1100" dirty="0"/>
          </a:p>
        </p:txBody>
      </p:sp>
      <p:sp>
        <p:nvSpPr>
          <p:cNvPr id="33" name="Shape 31"/>
          <p:cNvSpPr/>
          <p:nvPr/>
        </p:nvSpPr>
        <p:spPr>
          <a:xfrm>
            <a:off x="621792" y="5650992"/>
            <a:ext cx="10948111" cy="585216"/>
          </a:xfrm>
          <a:prstGeom prst="roundRect">
            <a:avLst>
              <a:gd name="adj" fmla="val 12500"/>
            </a:avLst>
          </a:prstGeom>
          <a:solidFill>
            <a:srgbClr val="EFFAF1"/>
          </a:solidFill>
          <a:ln w="12700">
            <a:solidFill>
              <a:srgbClr val="BCE8C9"/>
            </a:solidFill>
            <a:prstDash val="solid"/>
          </a:ln>
          <a:effectLst>
            <a:outerShdw sx="100000" sy="100000" kx="0" ky="0" algn="bl" rotWithShape="0" blurRad="1.3737494467678092e+173" dist="4.579164822559364e+172" dir="4.3310682305853715e+202">
              <a:srgbClr val="0A1F12">
                <a:alpha val="1.1999999999999994e+209"/>
              </a:srgbClr>
            </a:outerShdw>
          </a:effectLst>
        </p:spPr>
      </p:sp>
      <p:sp>
        <p:nvSpPr>
          <p:cNvPr id="34" name="Shape 32"/>
          <p:cNvSpPr/>
          <p:nvPr/>
        </p:nvSpPr>
        <p:spPr>
          <a:xfrm>
            <a:off x="676656" y="5760720"/>
            <a:ext cx="45720" cy="365760"/>
          </a:xfrm>
          <a:prstGeom prst="rect">
            <a:avLst/>
          </a:prstGeom>
          <a:solidFill>
            <a:srgbClr val="3DCD58"/>
          </a:solidFill>
          <a:ln w="12700">
            <a:solidFill>
              <a:srgbClr val="3DCD58"/>
            </a:solidFill>
            <a:prstDash val="solid"/>
          </a:ln>
        </p:spPr>
      </p:sp>
      <p:sp>
        <p:nvSpPr>
          <p:cNvPr id="35" name="Text 33"/>
          <p:cNvSpPr/>
          <p:nvPr/>
        </p:nvSpPr>
        <p:spPr>
          <a:xfrm>
            <a:off x="859536" y="5650992"/>
            <a:ext cx="10527487" cy="585216"/>
          </a:xfrm>
          <a:prstGeom prst="rect">
            <a:avLst/>
          </a:prstGeom>
          <a:noFill/>
          <a:ln/>
        </p:spPr>
        <p:txBody>
          <a:bodyPr wrap="square" lIns="0" tIns="0" rIns="0" bIns="0" rtlCol="0" anchor="ctr">
            <a:normAutofit/>
          </a:bodyPr>
          <a:lstStyle/>
          <a:p>
            <a:pPr indent="0" marL="0">
              <a:buNone/>
            </a:pPr>
            <a:r>
              <a:rPr lang="en-US" sz="1200" dirty="0">
                <a:solidFill>
                  <a:srgbClr val="3A423C"/>
                </a:solidFill>
                <a:latin typeface="Calibri" pitchFamily="34" charset="0"/>
                <a:ea typeface="Calibri" pitchFamily="34" charset="-122"/>
                <a:cs typeface="Calibri" pitchFamily="34" charset="-120"/>
              </a:rPr>
              <a:t>Test framing: status reflects delivery confidence, not product priority.</a:t>
            </a:r>
            <a:endParaRPr lang="en-US" sz="1200" dirty="0"/>
          </a:p>
        </p:txBody>
      </p:sp>
      <p:sp>
        <p:nvSpPr>
          <p:cNvPr id="36" name="Shape 34"/>
          <p:cNvSpPr/>
          <p:nvPr/>
        </p:nvSpPr>
        <p:spPr>
          <a:xfrm>
            <a:off x="621792" y="6437376"/>
            <a:ext cx="10948111" cy="0"/>
          </a:xfrm>
          <a:prstGeom prst="line">
            <a:avLst/>
          </a:prstGeom>
          <a:noFill/>
          <a:ln w="9525">
            <a:solidFill>
              <a:srgbClr val="E2E6E2"/>
            </a:solidFill>
            <a:prstDash val="solid"/>
          </a:ln>
        </p:spPr>
      </p:sp>
      <p:sp>
        <p:nvSpPr>
          <p:cNvPr id="37" name="Text 35"/>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8" name="Text 36"/>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CARBON PERFORMANCE</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Carbon Performance owns the inventory every product consumes</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It is the producer of record, so its data model decisions constrain the other three products.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7446617973951177e+177" dist="5.815539324650392e+176" dir="2.598640938351223e+207">
              <a:srgbClr val="0A1F12">
                <a:alpha val="1.1999999999999993e+214"/>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PLATFORM</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Ingestion and quality</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Prerequisites for depth.</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Pipeline and transformation foundation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data quality checks, L1 and L2</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Programmatic connectors for activity data</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Allocations foundation</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2.2157204826917993e+181" dist="7.385734942305998e+180" dir="1.5591845630107338e+212">
              <a:srgbClr val="0A1F12">
                <a:alpha val="1.1999999999999994e+219"/>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ONTOLOGY</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Hierarchy and calculation</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Inherited, not rebuilt.</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entity hierarchy and organisational boundary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Calculation governance and versioning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Emission factor library owned by core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trail and lineage on key values</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2.813965013018585e+185" dist="9.379883376728618e+184" dir="9.355107378064403e+216">
              <a:srgbClr val="0A1F12">
                <a:alpha val="1.1999999999999994e+224"/>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CROSS PRODUCT</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Who consumes the inventory</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baseline, four experiences.</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Supply Chain feeds categories 1 and 4 into the inventory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Reporting and Compliance discloses emissions from Collect</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Strategy plans reductions against the same baseline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Climate Risk reads transition exposure from it</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3.5737355665336036e+189" dist="1.1912451888445345e+189" dir="5.613064426838642e+221">
              <a:srgbClr val="0A1F12">
                <a:alpha val="1.1999999999999994e+229"/>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SERA</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AI capabilities</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Where the differentiation sits.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guided inventory troubleshooting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Anomaly explanation and discrepancy management</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Mapping memory and smart mapping suggestions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assisted method selection guidance</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4</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04</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Q4 2026 in detail</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Carbon Performance, Supply Chain, Reporting and Compliance, Climate Risk, Strategy, and Core Platform: the wedge, the capacity math, and the ranked plan for each.</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185416"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856232"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Q4 POINT OF VIEW</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Q3 landed ingestion, Q4 closes emission factor and calculation depth</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Protect what is in flight, sequence the wedge themes, defer the rest with a clear reason.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4.5386441694976765e+193" dist="1.5128813898325588e+193" dir="3.367838656103185e+226">
              <a:srgbClr val="0A1F12">
                <a:alpha val="1.1999999999999994e+234"/>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PROTECT</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Carry over that must finish</a:t>
            </a:r>
            <a:endParaRPr lang="en-US" sz="14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These are already funded and partly built. Slipping them costs more than starting anything new.</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data quality and overview</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Scope 3 product emissions, categories 10, 11, 12</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Pre-calculated emissions import</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revamp, scoped</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Accor portfolio experience</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5.764078095262049e+197" dist="1.9213593650873497e+197" dir="2.020703193661911e+231">
              <a:srgbClr val="0A1F12">
                <a:alpha val="1.1999999999999992e+239"/>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SEQUENCE</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The Q4 wedge</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Emission factors and calculation depth: the gaps that still force hypercare on every enterprise deal.</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Custom and supplier specific emission factors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Standard EF datasets: EcoInvent, Exiobase, FLAG, EEA, Base Carbone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Deterministic emission factor configuration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Renewable energy and market based Scope 2, RECs and EACs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Inventory statements and extended classification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contextual intelligence</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7.320379180982803e+201" dist="2.440126393660934e+201" dir="1.2124219161971466e+236">
              <a:srgbClr val="0A1F12">
                <a:alpha val="1.1999999999999992e+244"/>
              </a:srgbClr>
            </a:outerShdw>
          </a:effectLst>
        </p:spPr>
      </p:sp>
      <p:sp>
        <p:nvSpPr>
          <p:cNvPr id="22" name="Shape 20"/>
          <p:cNvSpPr/>
          <p:nvPr/>
        </p:nvSpPr>
        <p:spPr>
          <a:xfrm>
            <a:off x="8103413" y="2084832"/>
            <a:ext cx="3466490" cy="73152"/>
          </a:xfrm>
          <a:prstGeom prst="rect">
            <a:avLst/>
          </a:prstGeom>
          <a:solidFill>
            <a:srgbClr val="FFB04C"/>
          </a:solidFill>
          <a:ln w="12700">
            <a:solidFill>
              <a:srgbClr val="FFB04C"/>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DEFER</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Real, but not Q4</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Named explicitly so the room knows what is being traded away and when it returns.</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Self serve decarbonization planning and execution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Dedicated auditor experience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Category 15 investments and FLAG depth, 2027</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Languages and EU hosting, out of Q4 scope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Full PCF inside CP, rides supply chain</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SUPPLY CHAIN, 2026</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Migrate and close the competitive gap in 2026</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The 2026 goals, sequenced against the RA+ migration.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9.296881559848159e+205" dist="3.0989605199493864e+205" dir="7.27453149718288e+240">
              <a:srgbClr val="0A1F12">
                <a:alpha val="1.1999999999999991e+249"/>
              </a:srgbClr>
            </a:outerShdw>
          </a:effectLst>
        </p:spPr>
      </p:sp>
      <p:sp>
        <p:nvSpPr>
          <p:cNvPr id="10" name="Shape 8"/>
          <p:cNvSpPr/>
          <p:nvPr/>
        </p:nvSpPr>
        <p:spPr>
          <a:xfrm>
            <a:off x="621792" y="2084832"/>
            <a:ext cx="5346040"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5071720" cy="713232"/>
          </a:xfrm>
          <a:prstGeom prst="roundRect">
            <a:avLst>
              <a:gd name="adj" fmla="val 3846"/>
            </a:avLst>
          </a:prstGeom>
          <a:solidFill>
            <a:srgbClr val="F7F8F7"/>
          </a:solidFill>
          <a:ln w="5080">
            <a:solidFill>
              <a:srgbClr val="F7F8F7"/>
            </a:solidFill>
            <a:prstDash val="solid"/>
          </a:ln>
        </p:spPr>
      </p:sp>
      <p:sp>
        <p:nvSpPr>
          <p:cNvPr id="15" name="Text 13"/>
          <p:cNvSpPr/>
          <p:nvPr/>
        </p:nvSpPr>
        <p:spPr>
          <a:xfrm>
            <a:off x="822960"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RA+ tech integrations and shared UI</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Navigation, layouts, database</a:t>
            </a:r>
            <a:endParaRPr lang="en-US" sz="950" dirty="0"/>
          </a:p>
        </p:txBody>
      </p:sp>
      <p:sp>
        <p:nvSpPr>
          <p:cNvPr id="16" name="Shape 14"/>
          <p:cNvSpPr/>
          <p:nvPr/>
        </p:nvSpPr>
        <p:spPr>
          <a:xfrm>
            <a:off x="758952" y="3739896"/>
            <a:ext cx="5071720" cy="713232"/>
          </a:xfrm>
          <a:prstGeom prst="roundRect">
            <a:avLst>
              <a:gd name="adj" fmla="val 3846"/>
            </a:avLst>
          </a:prstGeom>
          <a:solidFill>
            <a:srgbClr val="F7F8F7"/>
          </a:solidFill>
          <a:ln w="5080">
            <a:solidFill>
              <a:srgbClr val="F7F8F7"/>
            </a:solidFill>
            <a:prstDash val="solid"/>
          </a:ln>
        </p:spPr>
      </p:sp>
      <p:sp>
        <p:nvSpPr>
          <p:cNvPr id="17" name="Text 15"/>
          <p:cNvSpPr/>
          <p:nvPr/>
        </p:nvSpPr>
        <p:spPr>
          <a:xfrm>
            <a:off x="822960"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End to end supply chain emissions management</a:t>
            </a:r>
            <a:endParaRPr lang="en-US" sz="950" dirty="0"/>
          </a:p>
        </p:txBody>
      </p:sp>
      <p:sp>
        <p:nvSpPr>
          <p:cNvPr id="18" name="Shape 16"/>
          <p:cNvSpPr/>
          <p:nvPr/>
        </p:nvSpPr>
        <p:spPr>
          <a:xfrm>
            <a:off x="758952" y="4526280"/>
            <a:ext cx="5071720" cy="713232"/>
          </a:xfrm>
          <a:prstGeom prst="roundRect">
            <a:avLst>
              <a:gd name="adj" fmla="val 3846"/>
            </a:avLst>
          </a:prstGeom>
          <a:solidFill>
            <a:srgbClr val="F7F8F7"/>
          </a:solidFill>
          <a:ln w="5080">
            <a:solidFill>
              <a:srgbClr val="F7F8F7"/>
            </a:solidFill>
            <a:prstDash val="solid"/>
          </a:ln>
        </p:spPr>
      </p:sp>
      <p:sp>
        <p:nvSpPr>
          <p:cNvPr id="19" name="Text 17"/>
          <p:cNvSpPr/>
          <p:nvPr/>
        </p:nvSpPr>
        <p:spPr>
          <a:xfrm>
            <a:off x="822960"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Custom questionnaires</a:t>
            </a:r>
            <a:endParaRPr lang="en-US" sz="1000" dirty="0"/>
          </a:p>
        </p:txBody>
      </p:sp>
      <p:sp>
        <p:nvSpPr>
          <p:cNvPr id="20" name="Shape 18"/>
          <p:cNvSpPr/>
          <p:nvPr/>
        </p:nvSpPr>
        <p:spPr>
          <a:xfrm>
            <a:off x="758952" y="5312664"/>
            <a:ext cx="5071720" cy="713232"/>
          </a:xfrm>
          <a:prstGeom prst="roundRect">
            <a:avLst>
              <a:gd name="adj" fmla="val 3846"/>
            </a:avLst>
          </a:prstGeom>
          <a:solidFill>
            <a:srgbClr val="F7F8F7"/>
          </a:solidFill>
          <a:ln w="5080">
            <a:solidFill>
              <a:srgbClr val="F7F8F7"/>
            </a:solidFill>
            <a:prstDash val="solid"/>
          </a:ln>
        </p:spPr>
      </p:sp>
      <p:sp>
        <p:nvSpPr>
          <p:cNvPr id="21" name="Text 19"/>
          <p:cNvSpPr/>
          <p:nvPr/>
        </p:nvSpPr>
        <p:spPr>
          <a:xfrm>
            <a:off x="822960"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Guided supplier decarbonisation actions</a:t>
            </a:r>
            <a:endParaRPr lang="en-US" sz="950" dirty="0"/>
          </a:p>
        </p:txBody>
      </p:sp>
      <p:sp>
        <p:nvSpPr>
          <p:cNvPr id="22" name="Shape 20"/>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1.1807039581007161e+210" dist="3.9356798603357206e+209" dir="4.364718898309728e+245">
              <a:srgbClr val="0A1F12">
                <a:alpha val="1.1999999999999991e+254"/>
              </a:srgbClr>
            </a:outerShdw>
          </a:effectLst>
        </p:spPr>
      </p:sp>
      <p:sp>
        <p:nvSpPr>
          <p:cNvPr id="23" name="Shape 21"/>
          <p:cNvSpPr/>
          <p:nvPr/>
        </p:nvSpPr>
        <p:spPr>
          <a:xfrm>
            <a:off x="6223864" y="2084832"/>
            <a:ext cx="5346040" cy="713232"/>
          </a:xfrm>
          <a:prstGeom prst="rect">
            <a:avLst/>
          </a:prstGeom>
          <a:solidFill>
            <a:srgbClr val="EAF8ED"/>
          </a:solidFill>
          <a:ln w="12700">
            <a:solidFill>
              <a:srgbClr val="EAF8ED"/>
            </a:solidFill>
            <a:prstDash val="solid"/>
          </a:ln>
        </p:spPr>
      </p:sp>
      <p:sp>
        <p:nvSpPr>
          <p:cNvPr id="24" name="Shape 22"/>
          <p:cNvSpPr/>
          <p:nvPr/>
        </p:nvSpPr>
        <p:spPr>
          <a:xfrm>
            <a:off x="6223864" y="2084832"/>
            <a:ext cx="54864" cy="4178808"/>
          </a:xfrm>
          <a:prstGeom prst="rect">
            <a:avLst/>
          </a:prstGeom>
          <a:solidFill>
            <a:srgbClr val="007A27"/>
          </a:solidFill>
          <a:ln w="12700">
            <a:solidFill>
              <a:srgbClr val="007A27"/>
            </a:solidFill>
            <a:prstDash val="solid"/>
          </a:ln>
        </p:spPr>
      </p:sp>
      <p:sp>
        <p:nvSpPr>
          <p:cNvPr id="25" name="Text 23"/>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6" name="Text 24"/>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7" name="Shape 25"/>
          <p:cNvSpPr/>
          <p:nvPr/>
        </p:nvSpPr>
        <p:spPr>
          <a:xfrm>
            <a:off x="6361024" y="2953512"/>
            <a:ext cx="5071720" cy="713232"/>
          </a:xfrm>
          <a:prstGeom prst="roundRect">
            <a:avLst>
              <a:gd name="adj" fmla="val 3846"/>
            </a:avLst>
          </a:prstGeom>
          <a:solidFill>
            <a:srgbClr val="F7F8F7"/>
          </a:solidFill>
          <a:ln w="5080">
            <a:solidFill>
              <a:srgbClr val="F7F8F7"/>
            </a:solidFill>
            <a:prstDash val="solid"/>
          </a:ln>
        </p:spPr>
      </p:sp>
      <p:sp>
        <p:nvSpPr>
          <p:cNvPr id="28" name="Text 26"/>
          <p:cNvSpPr/>
          <p:nvPr/>
        </p:nvSpPr>
        <p:spPr>
          <a:xfrm>
            <a:off x="6425032"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Rebranding completion to a stronger RA+ experience</a:t>
            </a:r>
            <a:endParaRPr lang="en-US" sz="900" dirty="0"/>
          </a:p>
        </p:txBody>
      </p:sp>
      <p:sp>
        <p:nvSpPr>
          <p:cNvPr id="29" name="Shape 27"/>
          <p:cNvSpPr/>
          <p:nvPr/>
        </p:nvSpPr>
        <p:spPr>
          <a:xfrm>
            <a:off x="6361024" y="3739896"/>
            <a:ext cx="5071720" cy="713232"/>
          </a:xfrm>
          <a:prstGeom prst="roundRect">
            <a:avLst>
              <a:gd name="adj" fmla="val 3846"/>
            </a:avLst>
          </a:prstGeom>
          <a:solidFill>
            <a:srgbClr val="F7F8F7"/>
          </a:solidFill>
          <a:ln w="5080">
            <a:solidFill>
              <a:srgbClr val="F7F8F7"/>
            </a:solidFill>
            <a:prstDash val="solid"/>
          </a:ln>
        </p:spPr>
      </p:sp>
      <p:sp>
        <p:nvSpPr>
          <p:cNvPr id="30" name="Text 28"/>
          <p:cNvSpPr/>
          <p:nvPr/>
        </p:nvSpPr>
        <p:spPr>
          <a:xfrm>
            <a:off x="6425032"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Improve data quality assurance</a:t>
            </a:r>
            <a:endParaRPr lang="en-US" sz="1000" dirty="0"/>
          </a:p>
        </p:txBody>
      </p:sp>
      <p:sp>
        <p:nvSpPr>
          <p:cNvPr id="31" name="Shape 29"/>
          <p:cNvSpPr/>
          <p:nvPr/>
        </p:nvSpPr>
        <p:spPr>
          <a:xfrm>
            <a:off x="6361024" y="4526280"/>
            <a:ext cx="5071720" cy="713232"/>
          </a:xfrm>
          <a:prstGeom prst="roundRect">
            <a:avLst>
              <a:gd name="adj" fmla="val 3846"/>
            </a:avLst>
          </a:prstGeom>
          <a:solidFill>
            <a:srgbClr val="F7F8F7"/>
          </a:solidFill>
          <a:ln w="5080">
            <a:solidFill>
              <a:srgbClr val="F7F8F7"/>
            </a:solidFill>
            <a:prstDash val="solid"/>
          </a:ln>
        </p:spPr>
      </p:sp>
      <p:sp>
        <p:nvSpPr>
          <p:cNvPr id="32" name="Text 30"/>
          <p:cNvSpPr/>
          <p:nvPr/>
        </p:nvSpPr>
        <p:spPr>
          <a:xfrm>
            <a:off x="6425032"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Sponsor decision support and supplier transparency</a:t>
            </a:r>
            <a:endParaRPr lang="en-US" sz="900" dirty="0"/>
          </a:p>
        </p:txBody>
      </p:sp>
      <p:sp>
        <p:nvSpPr>
          <p:cNvPr id="33" name="Shape 31"/>
          <p:cNvSpPr/>
          <p:nvPr/>
        </p:nvSpPr>
        <p:spPr>
          <a:xfrm>
            <a:off x="6361024" y="5312664"/>
            <a:ext cx="5071720" cy="713232"/>
          </a:xfrm>
          <a:prstGeom prst="roundRect">
            <a:avLst>
              <a:gd name="adj" fmla="val 3846"/>
            </a:avLst>
          </a:prstGeom>
          <a:solidFill>
            <a:srgbClr val="F7F8F7"/>
          </a:solidFill>
          <a:ln w="5080">
            <a:solidFill>
              <a:srgbClr val="F7F8F7"/>
            </a:solidFill>
            <a:prstDash val="solid"/>
          </a:ln>
        </p:spPr>
      </p:sp>
      <p:sp>
        <p:nvSpPr>
          <p:cNvPr id="34" name="Text 32"/>
          <p:cNvSpPr/>
          <p:nvPr/>
        </p:nvSpPr>
        <p:spPr>
          <a:xfrm>
            <a:off x="6425032"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Zeigo network integration</a:t>
            </a:r>
            <a:endParaRPr lang="en-US" sz="1000" dirty="0"/>
          </a:p>
        </p:txBody>
      </p:sp>
      <p:sp>
        <p:nvSpPr>
          <p:cNvPr id="35" name="Shape 33"/>
          <p:cNvSpPr/>
          <p:nvPr/>
        </p:nvSpPr>
        <p:spPr>
          <a:xfrm>
            <a:off x="621792" y="6437376"/>
            <a:ext cx="10948111" cy="0"/>
          </a:xfrm>
          <a:prstGeom prst="line">
            <a:avLst/>
          </a:prstGeom>
          <a:noFill/>
          <a:ln w="9525">
            <a:solidFill>
              <a:srgbClr val="E2E6E2"/>
            </a:solidFill>
            <a:prstDash val="solid"/>
          </a:ln>
        </p:spPr>
      </p:sp>
      <p:sp>
        <p:nvSpPr>
          <p:cNvPr id="36" name="Text 3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7" name="Text 3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SUPPLY CHAIN, 2027</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Drive supplier action in 2027</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From measurement to supplier engagement, integration and discovery.</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1.4994940267879094e+214" dist="4.9983134226263654e+213" dir="2.6188313389858368e+250">
              <a:srgbClr val="0A1F12">
                <a:alpha val="1.1999999999999991e+259"/>
              </a:srgbClr>
            </a:outerShdw>
          </a:effectLst>
        </p:spPr>
      </p:sp>
      <p:sp>
        <p:nvSpPr>
          <p:cNvPr id="10" name="Shape 8"/>
          <p:cNvSpPr/>
          <p:nvPr/>
        </p:nvSpPr>
        <p:spPr>
          <a:xfrm>
            <a:off x="621792" y="2084832"/>
            <a:ext cx="5346040" cy="713232"/>
          </a:xfrm>
          <a:prstGeom prst="rect">
            <a:avLst/>
          </a:prstGeom>
          <a:solidFill>
            <a:srgbClr val="FFF4E3"/>
          </a:solidFill>
          <a:ln w="12700">
            <a:solidFill>
              <a:srgbClr val="FFF4E3"/>
            </a:solidFill>
            <a:prstDash val="solid"/>
          </a:ln>
        </p:spPr>
      </p:sp>
      <p:sp>
        <p:nvSpPr>
          <p:cNvPr id="11" name="Shape 9"/>
          <p:cNvSpPr/>
          <p:nvPr/>
        </p:nvSpPr>
        <p:spPr>
          <a:xfrm>
            <a:off x="621792" y="2084832"/>
            <a:ext cx="54864" cy="4178808"/>
          </a:xfrm>
          <a:prstGeom prst="rect">
            <a:avLst/>
          </a:prstGeom>
          <a:solidFill>
            <a:srgbClr val="FFB04C"/>
          </a:solidFill>
          <a:ln w="12700">
            <a:solidFill>
              <a:srgbClr val="FFB04C"/>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14" name="Shape 12"/>
          <p:cNvSpPr/>
          <p:nvPr/>
        </p:nvSpPr>
        <p:spPr>
          <a:xfrm>
            <a:off x="758952" y="2953512"/>
            <a:ext cx="5071720" cy="555955"/>
          </a:xfrm>
          <a:prstGeom prst="roundRect">
            <a:avLst>
              <a:gd name="adj" fmla="val 4934"/>
            </a:avLst>
          </a:prstGeom>
          <a:solidFill>
            <a:srgbClr val="F7F8F7"/>
          </a:solidFill>
          <a:ln w="5080">
            <a:solidFill>
              <a:srgbClr val="F7F8F7"/>
            </a:solidFill>
            <a:prstDash val="solid"/>
          </a:ln>
        </p:spPr>
      </p:sp>
      <p:sp>
        <p:nvSpPr>
          <p:cNvPr id="15" name="Text 13"/>
          <p:cNvSpPr/>
          <p:nvPr/>
        </p:nvSpPr>
        <p:spPr>
          <a:xfrm>
            <a:off x="822960" y="2953512"/>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Light PCF calculator, SEED integrations</a:t>
            </a:r>
            <a:endParaRPr lang="en-US" sz="950" dirty="0"/>
          </a:p>
        </p:txBody>
      </p:sp>
      <p:sp>
        <p:nvSpPr>
          <p:cNvPr id="16" name="Shape 14"/>
          <p:cNvSpPr/>
          <p:nvPr/>
        </p:nvSpPr>
        <p:spPr>
          <a:xfrm>
            <a:off x="758952" y="3582619"/>
            <a:ext cx="5071720" cy="555955"/>
          </a:xfrm>
          <a:prstGeom prst="roundRect">
            <a:avLst>
              <a:gd name="adj" fmla="val 4934"/>
            </a:avLst>
          </a:prstGeom>
          <a:solidFill>
            <a:srgbClr val="F7F8F7"/>
          </a:solidFill>
          <a:ln w="5080">
            <a:solidFill>
              <a:srgbClr val="F7F8F7"/>
            </a:solidFill>
            <a:prstDash val="solid"/>
          </a:ln>
        </p:spPr>
      </p:sp>
      <p:sp>
        <p:nvSpPr>
          <p:cNvPr id="17" name="Text 15"/>
          <p:cNvSpPr/>
          <p:nvPr/>
        </p:nvSpPr>
        <p:spPr>
          <a:xfrm>
            <a:off x="822960" y="3582619"/>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Advanced tier level subscription</a:t>
            </a:r>
            <a:endParaRPr lang="en-US" sz="1000" dirty="0"/>
          </a:p>
        </p:txBody>
      </p:sp>
      <p:sp>
        <p:nvSpPr>
          <p:cNvPr id="18" name="Shape 16"/>
          <p:cNvSpPr/>
          <p:nvPr/>
        </p:nvSpPr>
        <p:spPr>
          <a:xfrm>
            <a:off x="758952" y="4211726"/>
            <a:ext cx="5071720" cy="555955"/>
          </a:xfrm>
          <a:prstGeom prst="roundRect">
            <a:avLst>
              <a:gd name="adj" fmla="val 4934"/>
            </a:avLst>
          </a:prstGeom>
          <a:solidFill>
            <a:srgbClr val="F7F8F7"/>
          </a:solidFill>
          <a:ln w="5080">
            <a:solidFill>
              <a:srgbClr val="F7F8F7"/>
            </a:solidFill>
            <a:prstDash val="solid"/>
          </a:ln>
        </p:spPr>
      </p:sp>
      <p:sp>
        <p:nvSpPr>
          <p:cNvPr id="19" name="Text 17"/>
          <p:cNvSpPr/>
          <p:nvPr/>
        </p:nvSpPr>
        <p:spPr>
          <a:xfrm>
            <a:off x="822960" y="4211726"/>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Multi tier supplier visibility</a:t>
            </a:r>
            <a:endParaRPr lang="en-US" sz="1000" dirty="0"/>
          </a:p>
        </p:txBody>
      </p:sp>
      <p:sp>
        <p:nvSpPr>
          <p:cNvPr id="20" name="Shape 18"/>
          <p:cNvSpPr/>
          <p:nvPr/>
        </p:nvSpPr>
        <p:spPr>
          <a:xfrm>
            <a:off x="758952" y="4840834"/>
            <a:ext cx="5071720" cy="555955"/>
          </a:xfrm>
          <a:prstGeom prst="roundRect">
            <a:avLst>
              <a:gd name="adj" fmla="val 4934"/>
            </a:avLst>
          </a:prstGeom>
          <a:solidFill>
            <a:srgbClr val="F7F8F7"/>
          </a:solidFill>
          <a:ln w="5080">
            <a:solidFill>
              <a:srgbClr val="F7F8F7"/>
            </a:solidFill>
            <a:prstDash val="solid"/>
          </a:ln>
        </p:spPr>
      </p:sp>
      <p:sp>
        <p:nvSpPr>
          <p:cNvPr id="21" name="Text 19"/>
          <p:cNvSpPr/>
          <p:nvPr/>
        </p:nvSpPr>
        <p:spPr>
          <a:xfrm>
            <a:off x="822960" y="4840834"/>
            <a:ext cx="4943704"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Supplier onboarding and programme participation</a:t>
            </a:r>
            <a:endParaRPr lang="en-US" sz="900" dirty="0"/>
          </a:p>
        </p:txBody>
      </p:sp>
      <p:sp>
        <p:nvSpPr>
          <p:cNvPr id="22" name="Shape 20"/>
          <p:cNvSpPr/>
          <p:nvPr/>
        </p:nvSpPr>
        <p:spPr>
          <a:xfrm>
            <a:off x="758952" y="5469941"/>
            <a:ext cx="5071720" cy="555955"/>
          </a:xfrm>
          <a:prstGeom prst="roundRect">
            <a:avLst>
              <a:gd name="adj" fmla="val 4934"/>
            </a:avLst>
          </a:prstGeom>
          <a:solidFill>
            <a:srgbClr val="F7F8F7"/>
          </a:solidFill>
          <a:ln w="5080">
            <a:solidFill>
              <a:srgbClr val="F7F8F7"/>
            </a:solidFill>
            <a:prstDash val="solid"/>
          </a:ln>
        </p:spPr>
      </p:sp>
      <p:sp>
        <p:nvSpPr>
          <p:cNvPr id="23" name="Text 21"/>
          <p:cNvSpPr/>
          <p:nvPr/>
        </p:nvSpPr>
        <p:spPr>
          <a:xfrm>
            <a:off x="822960" y="5469941"/>
            <a:ext cx="4943704"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Zeigo Activate sunset to be replaced by a light CP calculator</a:t>
            </a:r>
            <a:endParaRPr lang="en-US" sz="900" dirty="0"/>
          </a:p>
        </p:txBody>
      </p:sp>
      <p:sp>
        <p:nvSpPr>
          <p:cNvPr id="24" name="Shape 22"/>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1.904357414020645e+218" dist="6.347858046735484e+217" dir="1.571298803391502e+255">
              <a:srgbClr val="0A1F12">
                <a:alpha val="1.199999999999999e+264"/>
              </a:srgbClr>
            </a:outerShdw>
          </a:effectLst>
        </p:spPr>
      </p:sp>
      <p:sp>
        <p:nvSpPr>
          <p:cNvPr id="25" name="Shape 23"/>
          <p:cNvSpPr/>
          <p:nvPr/>
        </p:nvSpPr>
        <p:spPr>
          <a:xfrm>
            <a:off x="6223864" y="2084832"/>
            <a:ext cx="5346040" cy="713232"/>
          </a:xfrm>
          <a:prstGeom prst="rect">
            <a:avLst/>
          </a:prstGeom>
          <a:solidFill>
            <a:srgbClr val="EAF1F5"/>
          </a:solidFill>
          <a:ln w="12700">
            <a:solidFill>
              <a:srgbClr val="EAF1F5"/>
            </a:solidFill>
            <a:prstDash val="solid"/>
          </a:ln>
        </p:spPr>
      </p:sp>
      <p:sp>
        <p:nvSpPr>
          <p:cNvPr id="26" name="Shape 24"/>
          <p:cNvSpPr/>
          <p:nvPr/>
        </p:nvSpPr>
        <p:spPr>
          <a:xfrm>
            <a:off x="6223864" y="2084832"/>
            <a:ext cx="54864" cy="4178808"/>
          </a:xfrm>
          <a:prstGeom prst="rect">
            <a:avLst/>
          </a:prstGeom>
          <a:solidFill>
            <a:srgbClr val="275B7F"/>
          </a:solidFill>
          <a:ln w="12700">
            <a:solidFill>
              <a:srgbClr val="275B7F"/>
            </a:solidFill>
            <a:prstDash val="solid"/>
          </a:ln>
        </p:spPr>
      </p:sp>
      <p:sp>
        <p:nvSpPr>
          <p:cNvPr id="27" name="Text 25"/>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28" name="Text 26"/>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29" name="Shape 27"/>
          <p:cNvSpPr/>
          <p:nvPr/>
        </p:nvSpPr>
        <p:spPr>
          <a:xfrm>
            <a:off x="6361024" y="2953512"/>
            <a:ext cx="5071720" cy="555955"/>
          </a:xfrm>
          <a:prstGeom prst="roundRect">
            <a:avLst>
              <a:gd name="adj" fmla="val 4934"/>
            </a:avLst>
          </a:prstGeom>
          <a:solidFill>
            <a:srgbClr val="F7F8F7"/>
          </a:solidFill>
          <a:ln w="5080">
            <a:solidFill>
              <a:srgbClr val="F7F8F7"/>
            </a:solidFill>
            <a:prstDash val="solid"/>
          </a:ln>
        </p:spPr>
      </p:sp>
      <p:sp>
        <p:nvSpPr>
          <p:cNvPr id="30" name="Text 28"/>
          <p:cNvSpPr/>
          <p:nvPr/>
        </p:nvSpPr>
        <p:spPr>
          <a:xfrm>
            <a:off x="6425032" y="2953512"/>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Supply chain and climate risk integration</a:t>
            </a:r>
            <a:endParaRPr lang="en-US" sz="950" dirty="0"/>
          </a:p>
        </p:txBody>
      </p:sp>
      <p:sp>
        <p:nvSpPr>
          <p:cNvPr id="31" name="Shape 29"/>
          <p:cNvSpPr/>
          <p:nvPr/>
        </p:nvSpPr>
        <p:spPr>
          <a:xfrm>
            <a:off x="6361024" y="3582619"/>
            <a:ext cx="5071720" cy="555955"/>
          </a:xfrm>
          <a:prstGeom prst="roundRect">
            <a:avLst>
              <a:gd name="adj" fmla="val 4934"/>
            </a:avLst>
          </a:prstGeom>
          <a:solidFill>
            <a:srgbClr val="F7F8F7"/>
          </a:solidFill>
          <a:ln w="5080">
            <a:solidFill>
              <a:srgbClr val="F7F8F7"/>
            </a:solidFill>
            <a:prstDash val="solid"/>
          </a:ln>
        </p:spPr>
      </p:sp>
      <p:sp>
        <p:nvSpPr>
          <p:cNvPr id="32" name="Text 30"/>
          <p:cNvSpPr/>
          <p:nvPr/>
        </p:nvSpPr>
        <p:spPr>
          <a:xfrm>
            <a:off x="6425032" y="3582619"/>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ESG reporting and compliance integration</a:t>
            </a:r>
            <a:endParaRPr lang="en-US" sz="950" dirty="0"/>
          </a:p>
        </p:txBody>
      </p:sp>
      <p:sp>
        <p:nvSpPr>
          <p:cNvPr id="33" name="Shape 31"/>
          <p:cNvSpPr/>
          <p:nvPr/>
        </p:nvSpPr>
        <p:spPr>
          <a:xfrm>
            <a:off x="6361024" y="4211726"/>
            <a:ext cx="5071720" cy="555955"/>
          </a:xfrm>
          <a:prstGeom prst="roundRect">
            <a:avLst>
              <a:gd name="adj" fmla="val 4934"/>
            </a:avLst>
          </a:prstGeom>
          <a:solidFill>
            <a:srgbClr val="F7F8F7"/>
          </a:solidFill>
          <a:ln w="5080">
            <a:solidFill>
              <a:srgbClr val="F7F8F7"/>
            </a:solidFill>
            <a:prstDash val="solid"/>
          </a:ln>
        </p:spPr>
      </p:sp>
      <p:sp>
        <p:nvSpPr>
          <p:cNvPr id="34" name="Text 32"/>
          <p:cNvSpPr/>
          <p:nvPr/>
        </p:nvSpPr>
        <p:spPr>
          <a:xfrm>
            <a:off x="6425032" y="4211726"/>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Engagement gamification and leaderboards</a:t>
            </a:r>
            <a:endParaRPr lang="en-US" sz="950" dirty="0"/>
          </a:p>
        </p:txBody>
      </p:sp>
      <p:sp>
        <p:nvSpPr>
          <p:cNvPr id="35" name="Shape 33"/>
          <p:cNvSpPr/>
          <p:nvPr/>
        </p:nvSpPr>
        <p:spPr>
          <a:xfrm>
            <a:off x="6361024" y="4840834"/>
            <a:ext cx="5071720" cy="555955"/>
          </a:xfrm>
          <a:prstGeom prst="roundRect">
            <a:avLst>
              <a:gd name="adj" fmla="val 4934"/>
            </a:avLst>
          </a:prstGeom>
          <a:solidFill>
            <a:srgbClr val="F7F8F7"/>
          </a:solidFill>
          <a:ln w="5080">
            <a:solidFill>
              <a:srgbClr val="F7F8F7"/>
            </a:solidFill>
            <a:prstDash val="solid"/>
          </a:ln>
        </p:spPr>
      </p:sp>
      <p:sp>
        <p:nvSpPr>
          <p:cNvPr id="36" name="Text 34"/>
          <p:cNvSpPr/>
          <p:nvPr/>
        </p:nvSpPr>
        <p:spPr>
          <a:xfrm>
            <a:off x="6425032" y="4840834"/>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Cross programme supplier discovery</a:t>
            </a:r>
            <a:endParaRPr lang="en-US" sz="950" dirty="0"/>
          </a:p>
        </p:txBody>
      </p:sp>
      <p:sp>
        <p:nvSpPr>
          <p:cNvPr id="37" name="Shape 35"/>
          <p:cNvSpPr/>
          <p:nvPr/>
        </p:nvSpPr>
        <p:spPr>
          <a:xfrm>
            <a:off x="621792" y="6437376"/>
            <a:ext cx="10948111" cy="0"/>
          </a:xfrm>
          <a:prstGeom prst="line">
            <a:avLst/>
          </a:prstGeom>
          <a:noFill/>
          <a:ln w="9525">
            <a:solidFill>
              <a:srgbClr val="E2E6E2"/>
            </a:solidFill>
            <a:prstDash val="solid"/>
          </a:ln>
        </p:spPr>
      </p:sp>
      <p:sp>
        <p:nvSpPr>
          <p:cNvPr id="38" name="Text 3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9" name="Text 3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SUPPLY CHAIN</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supply chain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Migration and shared experience first, then the capabilities that close the competitive gap.</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2.4185339158062192e+222" dist="8.061779719354066e+221" dir="9.427792820349012e+259">
              <a:srgbClr val="0A1F12">
                <a:alpha val="1.1999999999999991e+269"/>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Migration and core experience</a:t>
            </a:r>
            <a:endParaRPr lang="en-US" sz="14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Land in RA+ properly.</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Platform stabilisation and core experience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navigation, page layouts and responsive design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embedded onboarding and recommendations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Additional languages: Chinese, French, Spanish, Portuguese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Notification centre and in product reminders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3.0715380730738986e+226" dist="1.0238460243579663e+226" dir="5.656675692209407e+264">
              <a:srgbClr val="0A1F12">
                <a:alpha val="1.199999999999999e+274"/>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Product carbon footprint</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commercial gap closer.</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Product level PCF tables with CSV download</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Light PCF calculator, SEED and AI scraping integrations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risk overview, emissions heatmap, top ten hotspots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Category and material footprint charts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PACT compliance targets, action alerts and KPI strip</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3.900853352803852e+230" dist="1.3002844509346172e+230" dir="3.3940054153256444e+269">
              <a:srgbClr val="0A1F12">
                <a:alpha val="1.199999999999999e+279"/>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Data collection campaigns</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Ask suppliers the right questions.</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Custom questionnaires with a guided builder wizard</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Drag and drop ordering and conditional logic</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upload against responses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Response tracking, evidence preview and export</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Simplified participant forms for suppliers</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4.9540837580608916e+234" dist="1.6513612526869638e+234" dir="2.0364032491953868e+274">
              <a:srgbClr val="0A1F12">
                <a:alpha val="1.199999999999999e+284"/>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Data quality assurance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Numbers that survive review.</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Outlier detection and peer benchmarking</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upload with AI validation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Composite supplier data quality score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 product validation against CP inventories</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SUPPLY CHAIN</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From measurement to supplier action</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Supplier data becomes decarbonisation the sponsor can evidence.</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6.291686372737332e+238" dist="2.097228790912444e+238" dir="1.221841949517232e+279">
              <a:srgbClr val="0A1F12">
                <a:alpha val="1.199999999999999e+289"/>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TAKE ACTION</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Guided decarbonisation</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Sera powered recommendations.</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Project recommendations with regional and category filters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Sponsor highlighted projects and project discovery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learning content and delivery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participant, sponsor and admin views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7.990441693376412e+242" dist="2.663480564458804e+242" dir="7.331051697103393e+283">
              <a:srgbClr val="0A1F12">
                <a:alpha val="1.199999999999999e+294"/>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SPONSOR</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Decision support</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Prove the programme works.</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Enhanced sponsor dashboards and reporting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Sponsor planning and supplier transparency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Programme analytics and engagement tracking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Zeigo network integration</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0147860950588043e+247" dist="3.3826203168626813e+246" dir="4.3986310182620354e+288">
              <a:srgbClr val="0A1F12">
                <a:alpha val="1.199999999999999e+299"/>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2027 H1</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Reach and scale</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Beyond tier one.</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Multi tier supplier visibility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onboarding and programme participation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tier level subscription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Zeigo Activate sunset replaced by a light CP calculator</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2887783407246816e+251" dist="4.295927802415605e+250" dir="2.6391786109572213e+293">
              <a:srgbClr val="0A1F12">
                <a:alpha val="1.199999999999999e+304"/>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2027 H2</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Resilience and reuse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Connect the products.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Supply chain and climate risk integration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ESG reporting and compliance integration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Gamification, leaderboards and custom nudges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 programme supplier discovery</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65760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32841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REPORTING AND COMPLIANCE, 2026</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Stand the product up in 2026</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Core platform foundations first, then Framework Library, Indicator Management and Disclosure Management, in that order.</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1.6367484927203455e+255" dist="5.455828309067819e+254" dir="1.5835071665743328e+298">
              <a:srgbClr val="0A1F12">
                <a:alpha val="Infinity"/>
              </a:srgbClr>
            </a:outerShdw>
          </a:effectLst>
        </p:spPr>
      </p:sp>
      <p:sp>
        <p:nvSpPr>
          <p:cNvPr id="10" name="Shape 8"/>
          <p:cNvSpPr/>
          <p:nvPr/>
        </p:nvSpPr>
        <p:spPr>
          <a:xfrm>
            <a:off x="621792" y="2084832"/>
            <a:ext cx="5346040"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5071720" cy="376210"/>
          </a:xfrm>
          <a:prstGeom prst="roundRect">
            <a:avLst>
              <a:gd name="adj" fmla="val 7292"/>
            </a:avLst>
          </a:prstGeom>
          <a:solidFill>
            <a:srgbClr val="F7F8F7"/>
          </a:solidFill>
          <a:ln w="5080">
            <a:solidFill>
              <a:srgbClr val="F7F8F7"/>
            </a:solidFill>
            <a:prstDash val="solid"/>
          </a:ln>
        </p:spPr>
      </p:sp>
      <p:sp>
        <p:nvSpPr>
          <p:cNvPr id="15" name="Text 13"/>
          <p:cNvSpPr/>
          <p:nvPr/>
        </p:nvSpPr>
        <p:spPr>
          <a:xfrm>
            <a:off x="822960" y="2953512"/>
            <a:ext cx="4943704"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Core platform foundations built and current time spent on the planning for everything to build on the top of the core.</a:t>
            </a:r>
            <a:endParaRPr lang="en-US" sz="900" dirty="0"/>
          </a:p>
        </p:txBody>
      </p:sp>
      <p:sp>
        <p:nvSpPr>
          <p:cNvPr id="16" name="Shape 14"/>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2.0786705857548387e+259" dist="6.928901952516129e+258" dir="9.501042999445996e+302">
              <a:srgbClr val="0A1F12">
                <a:alpha val="Infinity"/>
              </a:srgbClr>
            </a:outerShdw>
          </a:effectLst>
        </p:spPr>
      </p:sp>
      <p:sp>
        <p:nvSpPr>
          <p:cNvPr id="17" name="Shape 15"/>
          <p:cNvSpPr/>
          <p:nvPr/>
        </p:nvSpPr>
        <p:spPr>
          <a:xfrm>
            <a:off x="6223864" y="2084832"/>
            <a:ext cx="5346040" cy="713232"/>
          </a:xfrm>
          <a:prstGeom prst="rect">
            <a:avLst/>
          </a:prstGeom>
          <a:solidFill>
            <a:srgbClr val="EAF8ED"/>
          </a:solidFill>
          <a:ln w="12700">
            <a:solidFill>
              <a:srgbClr val="EAF8ED"/>
            </a:solidFill>
            <a:prstDash val="solid"/>
          </a:ln>
        </p:spPr>
      </p:sp>
      <p:sp>
        <p:nvSpPr>
          <p:cNvPr id="18" name="Shape 16"/>
          <p:cNvSpPr/>
          <p:nvPr/>
        </p:nvSpPr>
        <p:spPr>
          <a:xfrm>
            <a:off x="6223864" y="2084832"/>
            <a:ext cx="54864" cy="4178808"/>
          </a:xfrm>
          <a:prstGeom prst="rect">
            <a:avLst/>
          </a:prstGeom>
          <a:solidFill>
            <a:srgbClr val="007A27"/>
          </a:solidFill>
          <a:ln w="12700">
            <a:solidFill>
              <a:srgbClr val="007A27"/>
            </a:solidFill>
            <a:prstDash val="solid"/>
          </a:ln>
        </p:spPr>
      </p:sp>
      <p:sp>
        <p:nvSpPr>
          <p:cNvPr id="19" name="Text 17"/>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0" name="Text 18"/>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1" name="Shape 19"/>
          <p:cNvSpPr/>
          <p:nvPr/>
        </p:nvSpPr>
        <p:spPr>
          <a:xfrm>
            <a:off x="6361024" y="2953512"/>
            <a:ext cx="5071720" cy="376210"/>
          </a:xfrm>
          <a:prstGeom prst="roundRect">
            <a:avLst>
              <a:gd name="adj" fmla="val 7292"/>
            </a:avLst>
          </a:prstGeom>
          <a:solidFill>
            <a:srgbClr val="F7F8F7"/>
          </a:solidFill>
          <a:ln w="5080">
            <a:solidFill>
              <a:srgbClr val="F7F8F7"/>
            </a:solidFill>
            <a:prstDash val="solid"/>
          </a:ln>
        </p:spPr>
      </p:sp>
      <p:sp>
        <p:nvSpPr>
          <p:cNvPr id="22" name="Text 20"/>
          <p:cNvSpPr/>
          <p:nvPr/>
        </p:nvSpPr>
        <p:spPr>
          <a:xfrm>
            <a:off x="6425032" y="2953512"/>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Build indicator library foundation</a:t>
            </a:r>
            <a:endParaRPr lang="en-US" sz="950" dirty="0"/>
          </a:p>
        </p:txBody>
      </p:sp>
      <p:sp>
        <p:nvSpPr>
          <p:cNvPr id="23" name="Shape 21"/>
          <p:cNvSpPr/>
          <p:nvPr/>
        </p:nvSpPr>
        <p:spPr>
          <a:xfrm>
            <a:off x="6361024" y="3402874"/>
            <a:ext cx="5071720" cy="376210"/>
          </a:xfrm>
          <a:prstGeom prst="roundRect">
            <a:avLst>
              <a:gd name="adj" fmla="val 7292"/>
            </a:avLst>
          </a:prstGeom>
          <a:solidFill>
            <a:srgbClr val="F7F8F7"/>
          </a:solidFill>
          <a:ln w="5080">
            <a:solidFill>
              <a:srgbClr val="F7F8F7"/>
            </a:solidFill>
            <a:prstDash val="solid"/>
          </a:ln>
        </p:spPr>
      </p:sp>
      <p:sp>
        <p:nvSpPr>
          <p:cNvPr id="24" name="Text 22"/>
          <p:cNvSpPr/>
          <p:nvPr/>
        </p:nvSpPr>
        <p:spPr>
          <a:xfrm>
            <a:off x="6425032" y="3402874"/>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Approval hierarchies and bulk assignment</a:t>
            </a:r>
            <a:endParaRPr lang="en-US" sz="950" dirty="0"/>
          </a:p>
        </p:txBody>
      </p:sp>
      <p:sp>
        <p:nvSpPr>
          <p:cNvPr id="25" name="Shape 23"/>
          <p:cNvSpPr/>
          <p:nvPr/>
        </p:nvSpPr>
        <p:spPr>
          <a:xfrm>
            <a:off x="6361024" y="3852237"/>
            <a:ext cx="5071720" cy="376210"/>
          </a:xfrm>
          <a:prstGeom prst="roundRect">
            <a:avLst>
              <a:gd name="adj" fmla="val 7292"/>
            </a:avLst>
          </a:prstGeom>
          <a:solidFill>
            <a:srgbClr val="F7F8F7"/>
          </a:solidFill>
          <a:ln w="5080">
            <a:solidFill>
              <a:srgbClr val="F7F8F7"/>
            </a:solidFill>
            <a:prstDash val="solid"/>
          </a:ln>
        </p:spPr>
      </p:sp>
      <p:sp>
        <p:nvSpPr>
          <p:cNvPr id="26" name="Text 24"/>
          <p:cNvSpPr/>
          <p:nvPr/>
        </p:nvSpPr>
        <p:spPr>
          <a:xfrm>
            <a:off x="6425032" y="3852237"/>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Reporting cycles and reporting workspace</a:t>
            </a:r>
            <a:endParaRPr lang="en-US" sz="950" dirty="0"/>
          </a:p>
        </p:txBody>
      </p:sp>
      <p:sp>
        <p:nvSpPr>
          <p:cNvPr id="27" name="Shape 25"/>
          <p:cNvSpPr/>
          <p:nvPr/>
        </p:nvSpPr>
        <p:spPr>
          <a:xfrm>
            <a:off x="6361024" y="4301599"/>
            <a:ext cx="5071720" cy="376210"/>
          </a:xfrm>
          <a:prstGeom prst="roundRect">
            <a:avLst>
              <a:gd name="adj" fmla="val 7292"/>
            </a:avLst>
          </a:prstGeom>
          <a:solidFill>
            <a:srgbClr val="F7F8F7"/>
          </a:solidFill>
          <a:ln w="5080">
            <a:solidFill>
              <a:srgbClr val="F7F8F7"/>
            </a:solidFill>
            <a:prstDash val="solid"/>
          </a:ln>
        </p:spPr>
      </p:sp>
      <p:sp>
        <p:nvSpPr>
          <p:cNvPr id="28" name="Text 26"/>
          <p:cNvSpPr/>
          <p:nvPr/>
        </p:nvSpPr>
        <p:spPr>
          <a:xfrm>
            <a:off x="6425032" y="4301599"/>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Governed data collection campaigns</a:t>
            </a:r>
            <a:endParaRPr lang="en-US" sz="950" dirty="0"/>
          </a:p>
        </p:txBody>
      </p:sp>
      <p:sp>
        <p:nvSpPr>
          <p:cNvPr id="29" name="Shape 27"/>
          <p:cNvSpPr/>
          <p:nvPr/>
        </p:nvSpPr>
        <p:spPr>
          <a:xfrm>
            <a:off x="6361024" y="4750961"/>
            <a:ext cx="5071720" cy="376210"/>
          </a:xfrm>
          <a:prstGeom prst="roundRect">
            <a:avLst>
              <a:gd name="adj" fmla="val 7292"/>
            </a:avLst>
          </a:prstGeom>
          <a:solidFill>
            <a:srgbClr val="F7F8F7"/>
          </a:solidFill>
          <a:ln w="5080">
            <a:solidFill>
              <a:srgbClr val="F7F8F7"/>
            </a:solidFill>
            <a:prstDash val="solid"/>
          </a:ln>
        </p:spPr>
      </p:sp>
      <p:sp>
        <p:nvSpPr>
          <p:cNvPr id="30" name="Text 28"/>
          <p:cNvSpPr/>
          <p:nvPr/>
        </p:nvSpPr>
        <p:spPr>
          <a:xfrm>
            <a:off x="6425032" y="4750961"/>
            <a:ext cx="4943704" cy="376210"/>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Regulated frameworks and templates</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CSRD, ESRS, EU Taxonomy, IFRS S1 and S2</a:t>
            </a:r>
            <a:endParaRPr lang="en-US" sz="950" dirty="0"/>
          </a:p>
        </p:txBody>
      </p:sp>
      <p:sp>
        <p:nvSpPr>
          <p:cNvPr id="31" name="Shape 29"/>
          <p:cNvSpPr/>
          <p:nvPr/>
        </p:nvSpPr>
        <p:spPr>
          <a:xfrm>
            <a:off x="6361024" y="5200323"/>
            <a:ext cx="5071720" cy="376210"/>
          </a:xfrm>
          <a:prstGeom prst="roundRect">
            <a:avLst>
              <a:gd name="adj" fmla="val 7292"/>
            </a:avLst>
          </a:prstGeom>
          <a:solidFill>
            <a:srgbClr val="F7F8F7"/>
          </a:solidFill>
          <a:ln w="5080">
            <a:solidFill>
              <a:srgbClr val="F7F8F7"/>
            </a:solidFill>
            <a:prstDash val="solid"/>
          </a:ln>
        </p:spPr>
      </p:sp>
      <p:sp>
        <p:nvSpPr>
          <p:cNvPr id="32" name="Text 30"/>
          <p:cNvSpPr/>
          <p:nvPr/>
        </p:nvSpPr>
        <p:spPr>
          <a:xfrm>
            <a:off x="6425032" y="5200323"/>
            <a:ext cx="4943704"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Set foundations: configure, collect, disclose end to end</a:t>
            </a:r>
            <a:endParaRPr lang="en-US" sz="900" dirty="0"/>
          </a:p>
        </p:txBody>
      </p:sp>
      <p:sp>
        <p:nvSpPr>
          <p:cNvPr id="33" name="Shape 31"/>
          <p:cNvSpPr/>
          <p:nvPr/>
        </p:nvSpPr>
        <p:spPr>
          <a:xfrm>
            <a:off x="6361024" y="5649686"/>
            <a:ext cx="5071720" cy="376210"/>
          </a:xfrm>
          <a:prstGeom prst="roundRect">
            <a:avLst>
              <a:gd name="adj" fmla="val 7292"/>
            </a:avLst>
          </a:prstGeom>
          <a:solidFill>
            <a:srgbClr val="F7F8F7"/>
          </a:solidFill>
          <a:ln w="5080">
            <a:solidFill>
              <a:srgbClr val="F7F8F7"/>
            </a:solidFill>
            <a:prstDash val="solid"/>
          </a:ln>
        </p:spPr>
      </p:sp>
      <p:sp>
        <p:nvSpPr>
          <p:cNvPr id="34" name="Text 32"/>
          <p:cNvSpPr/>
          <p:nvPr/>
        </p:nvSpPr>
        <p:spPr>
          <a:xfrm>
            <a:off x="6425032" y="5649686"/>
            <a:ext cx="4943704" cy="376210"/>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Set foundations: Advanced data ingestion and transformation rules</a:t>
            </a:r>
            <a:endParaRPr lang="en-US" sz="900" dirty="0"/>
          </a:p>
        </p:txBody>
      </p:sp>
      <p:sp>
        <p:nvSpPr>
          <p:cNvPr id="35" name="Shape 33"/>
          <p:cNvSpPr/>
          <p:nvPr/>
        </p:nvSpPr>
        <p:spPr>
          <a:xfrm>
            <a:off x="621792" y="6437376"/>
            <a:ext cx="10948111" cy="0"/>
          </a:xfrm>
          <a:prstGeom prst="line">
            <a:avLst/>
          </a:prstGeom>
          <a:noFill/>
          <a:ln w="9525">
            <a:solidFill>
              <a:srgbClr val="E2E6E2"/>
            </a:solidFill>
            <a:prstDash val="solid"/>
          </a:ln>
        </p:spPr>
      </p:sp>
      <p:sp>
        <p:nvSpPr>
          <p:cNvPr id="36" name="Text 3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7" name="Text 3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65760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332841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REPORTING AND COMPLIANCE, 2027</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Migrate SE and automate in 2027</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Migration, AI assisted authoring and assurance once the 2026 foundations hold.</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2.639911643908645e+263" dist="8.799705479695485e+262" dir="5.700625799667598e+307">
              <a:srgbClr val="0A1F12">
                <a:alpha val="Infinity"/>
              </a:srgbClr>
            </a:outerShdw>
          </a:effectLst>
        </p:spPr>
      </p:sp>
      <p:sp>
        <p:nvSpPr>
          <p:cNvPr id="10" name="Shape 8"/>
          <p:cNvSpPr/>
          <p:nvPr/>
        </p:nvSpPr>
        <p:spPr>
          <a:xfrm>
            <a:off x="621792" y="2084832"/>
            <a:ext cx="5346040" cy="713232"/>
          </a:xfrm>
          <a:prstGeom prst="rect">
            <a:avLst/>
          </a:prstGeom>
          <a:solidFill>
            <a:srgbClr val="FFF4E3"/>
          </a:solidFill>
          <a:ln w="12700">
            <a:solidFill>
              <a:srgbClr val="FFF4E3"/>
            </a:solidFill>
            <a:prstDash val="solid"/>
          </a:ln>
        </p:spPr>
      </p:sp>
      <p:sp>
        <p:nvSpPr>
          <p:cNvPr id="11" name="Shape 9"/>
          <p:cNvSpPr/>
          <p:nvPr/>
        </p:nvSpPr>
        <p:spPr>
          <a:xfrm>
            <a:off x="621792" y="2084832"/>
            <a:ext cx="54864" cy="4178808"/>
          </a:xfrm>
          <a:prstGeom prst="rect">
            <a:avLst/>
          </a:prstGeom>
          <a:solidFill>
            <a:srgbClr val="FFB04C"/>
          </a:solidFill>
          <a:ln w="12700">
            <a:solidFill>
              <a:srgbClr val="FFB04C"/>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14" name="Shape 12"/>
          <p:cNvSpPr/>
          <p:nvPr/>
        </p:nvSpPr>
        <p:spPr>
          <a:xfrm>
            <a:off x="758952" y="2953512"/>
            <a:ext cx="5071720" cy="555955"/>
          </a:xfrm>
          <a:prstGeom prst="roundRect">
            <a:avLst>
              <a:gd name="adj" fmla="val 4934"/>
            </a:avLst>
          </a:prstGeom>
          <a:solidFill>
            <a:srgbClr val="F7F8F7"/>
          </a:solidFill>
          <a:ln w="5080">
            <a:solidFill>
              <a:srgbClr val="F7F8F7"/>
            </a:solidFill>
            <a:prstDash val="solid"/>
          </a:ln>
        </p:spPr>
      </p:sp>
      <p:sp>
        <p:nvSpPr>
          <p:cNvPr id="15" name="Text 13"/>
          <p:cNvSpPr/>
          <p:nvPr/>
        </p:nvSpPr>
        <p:spPr>
          <a:xfrm>
            <a:off x="822960" y="2953512"/>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Advanced campaign management</a:t>
            </a:r>
            <a:endParaRPr lang="en-US" sz="1000" dirty="0"/>
          </a:p>
        </p:txBody>
      </p:sp>
      <p:sp>
        <p:nvSpPr>
          <p:cNvPr id="16" name="Shape 14"/>
          <p:cNvSpPr/>
          <p:nvPr/>
        </p:nvSpPr>
        <p:spPr>
          <a:xfrm>
            <a:off x="758952" y="3582619"/>
            <a:ext cx="5071720" cy="555955"/>
          </a:xfrm>
          <a:prstGeom prst="roundRect">
            <a:avLst>
              <a:gd name="adj" fmla="val 4934"/>
            </a:avLst>
          </a:prstGeom>
          <a:solidFill>
            <a:srgbClr val="F7F8F7"/>
          </a:solidFill>
          <a:ln w="5080">
            <a:solidFill>
              <a:srgbClr val="F7F8F7"/>
            </a:solidFill>
            <a:prstDash val="solid"/>
          </a:ln>
        </p:spPr>
      </p:sp>
      <p:sp>
        <p:nvSpPr>
          <p:cNvPr id="17" name="Text 15"/>
          <p:cNvSpPr/>
          <p:nvPr/>
        </p:nvSpPr>
        <p:spPr>
          <a:xfrm>
            <a:off x="822960" y="3582619"/>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Indicator performance analytics</a:t>
            </a:r>
            <a:endParaRPr lang="en-US" sz="1000" dirty="0"/>
          </a:p>
        </p:txBody>
      </p:sp>
      <p:sp>
        <p:nvSpPr>
          <p:cNvPr id="18" name="Shape 16"/>
          <p:cNvSpPr/>
          <p:nvPr/>
        </p:nvSpPr>
        <p:spPr>
          <a:xfrm>
            <a:off x="758952" y="4211726"/>
            <a:ext cx="5071720" cy="555955"/>
          </a:xfrm>
          <a:prstGeom prst="roundRect">
            <a:avLst>
              <a:gd name="adj" fmla="val 4934"/>
            </a:avLst>
          </a:prstGeom>
          <a:solidFill>
            <a:srgbClr val="F7F8F7"/>
          </a:solidFill>
          <a:ln w="5080">
            <a:solidFill>
              <a:srgbClr val="F7F8F7"/>
            </a:solidFill>
            <a:prstDash val="solid"/>
          </a:ln>
        </p:spPr>
      </p:sp>
      <p:sp>
        <p:nvSpPr>
          <p:cNvPr id="19" name="Text 17"/>
          <p:cNvSpPr/>
          <p:nvPr/>
        </p:nvSpPr>
        <p:spPr>
          <a:xfrm>
            <a:off x="822960" y="4211726"/>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Governed disclosure authoring with AI drafting</a:t>
            </a:r>
            <a:endParaRPr lang="en-US" sz="950" dirty="0"/>
          </a:p>
        </p:txBody>
      </p:sp>
      <p:sp>
        <p:nvSpPr>
          <p:cNvPr id="20" name="Shape 18"/>
          <p:cNvSpPr/>
          <p:nvPr/>
        </p:nvSpPr>
        <p:spPr>
          <a:xfrm>
            <a:off x="758952" y="4840834"/>
            <a:ext cx="5071720" cy="555955"/>
          </a:xfrm>
          <a:prstGeom prst="roundRect">
            <a:avLst>
              <a:gd name="adj" fmla="val 4934"/>
            </a:avLst>
          </a:prstGeom>
          <a:solidFill>
            <a:srgbClr val="F7F8F7"/>
          </a:solidFill>
          <a:ln w="5080">
            <a:solidFill>
              <a:srgbClr val="F7F8F7"/>
            </a:solidFill>
            <a:prstDash val="solid"/>
          </a:ln>
        </p:spPr>
      </p:sp>
      <p:sp>
        <p:nvSpPr>
          <p:cNvPr id="21" name="Text 19"/>
          <p:cNvSpPr/>
          <p:nvPr/>
        </p:nvSpPr>
        <p:spPr>
          <a:xfrm>
            <a:off x="822960" y="4840834"/>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Corporate SE fully migrated off RA Classic</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Historical data migrated, Q1 2027 CSRD cycle run in RA+</a:t>
            </a:r>
            <a:endParaRPr lang="en-US" sz="950" dirty="0"/>
          </a:p>
        </p:txBody>
      </p:sp>
      <p:sp>
        <p:nvSpPr>
          <p:cNvPr id="22" name="Shape 20"/>
          <p:cNvSpPr/>
          <p:nvPr/>
        </p:nvSpPr>
        <p:spPr>
          <a:xfrm>
            <a:off x="758952" y="5469941"/>
            <a:ext cx="5071720" cy="555955"/>
          </a:xfrm>
          <a:prstGeom prst="roundRect">
            <a:avLst>
              <a:gd name="adj" fmla="val 4934"/>
            </a:avLst>
          </a:prstGeom>
          <a:solidFill>
            <a:srgbClr val="F7F8F7"/>
          </a:solidFill>
          <a:ln w="5080">
            <a:solidFill>
              <a:srgbClr val="F7F8F7"/>
            </a:solidFill>
            <a:prstDash val="solid"/>
          </a:ln>
        </p:spPr>
      </p:sp>
      <p:sp>
        <p:nvSpPr>
          <p:cNvPr id="23" name="Text 21"/>
          <p:cNvSpPr/>
          <p:nvPr/>
        </p:nvSpPr>
        <p:spPr>
          <a:xfrm>
            <a:off x="822960" y="5469941"/>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Audit ready disclosures produced in product</a:t>
            </a:r>
            <a:endParaRPr lang="en-US" sz="950" dirty="0"/>
          </a:p>
        </p:txBody>
      </p:sp>
      <p:sp>
        <p:nvSpPr>
          <p:cNvPr id="24" name="Shape 22"/>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3.352687787763979e+267" dist="1.1175625959213265e+267" dir="Infinity">
              <a:srgbClr val="0A1F12">
                <a:alpha val="Infinity"/>
              </a:srgbClr>
            </a:outerShdw>
          </a:effectLst>
        </p:spPr>
      </p:sp>
      <p:sp>
        <p:nvSpPr>
          <p:cNvPr id="25" name="Shape 23"/>
          <p:cNvSpPr/>
          <p:nvPr/>
        </p:nvSpPr>
        <p:spPr>
          <a:xfrm>
            <a:off x="6223864" y="2084832"/>
            <a:ext cx="5346040" cy="713232"/>
          </a:xfrm>
          <a:prstGeom prst="rect">
            <a:avLst/>
          </a:prstGeom>
          <a:solidFill>
            <a:srgbClr val="EAF1F5"/>
          </a:solidFill>
          <a:ln w="12700">
            <a:solidFill>
              <a:srgbClr val="EAF1F5"/>
            </a:solidFill>
            <a:prstDash val="solid"/>
          </a:ln>
        </p:spPr>
      </p:sp>
      <p:sp>
        <p:nvSpPr>
          <p:cNvPr id="26" name="Shape 24"/>
          <p:cNvSpPr/>
          <p:nvPr/>
        </p:nvSpPr>
        <p:spPr>
          <a:xfrm>
            <a:off x="6223864" y="2084832"/>
            <a:ext cx="54864" cy="4178808"/>
          </a:xfrm>
          <a:prstGeom prst="rect">
            <a:avLst/>
          </a:prstGeom>
          <a:solidFill>
            <a:srgbClr val="275B7F"/>
          </a:solidFill>
          <a:ln w="12700">
            <a:solidFill>
              <a:srgbClr val="275B7F"/>
            </a:solidFill>
            <a:prstDash val="solid"/>
          </a:ln>
        </p:spPr>
      </p:sp>
      <p:sp>
        <p:nvSpPr>
          <p:cNvPr id="27" name="Text 25"/>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28" name="Text 26"/>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29" name="Shape 27"/>
          <p:cNvSpPr/>
          <p:nvPr/>
        </p:nvSpPr>
        <p:spPr>
          <a:xfrm>
            <a:off x="6361024" y="2953512"/>
            <a:ext cx="5071720" cy="555955"/>
          </a:xfrm>
          <a:prstGeom prst="roundRect">
            <a:avLst>
              <a:gd name="adj" fmla="val 4934"/>
            </a:avLst>
          </a:prstGeom>
          <a:solidFill>
            <a:srgbClr val="F7F8F7"/>
          </a:solidFill>
          <a:ln w="5080">
            <a:solidFill>
              <a:srgbClr val="F7F8F7"/>
            </a:solidFill>
            <a:prstDash val="solid"/>
          </a:ln>
        </p:spPr>
      </p:sp>
      <p:sp>
        <p:nvSpPr>
          <p:cNvPr id="30" name="Text 28"/>
          <p:cNvSpPr/>
          <p:nvPr/>
        </p:nvSpPr>
        <p:spPr>
          <a:xfrm>
            <a:off x="6425032" y="2953512"/>
            <a:ext cx="4943704"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AI compliance intelligence and mapping suggestions</a:t>
            </a:r>
            <a:endParaRPr lang="en-US" sz="900" dirty="0"/>
          </a:p>
        </p:txBody>
      </p:sp>
      <p:sp>
        <p:nvSpPr>
          <p:cNvPr id="31" name="Shape 29"/>
          <p:cNvSpPr/>
          <p:nvPr/>
        </p:nvSpPr>
        <p:spPr>
          <a:xfrm>
            <a:off x="6361024" y="3582619"/>
            <a:ext cx="5071720" cy="555955"/>
          </a:xfrm>
          <a:prstGeom prst="roundRect">
            <a:avLst>
              <a:gd name="adj" fmla="val 4934"/>
            </a:avLst>
          </a:prstGeom>
          <a:solidFill>
            <a:srgbClr val="F7F8F7"/>
          </a:solidFill>
          <a:ln w="5080">
            <a:solidFill>
              <a:srgbClr val="F7F8F7"/>
            </a:solidFill>
            <a:prstDash val="solid"/>
          </a:ln>
        </p:spPr>
      </p:sp>
      <p:sp>
        <p:nvSpPr>
          <p:cNvPr id="32" name="Text 30"/>
          <p:cNvSpPr/>
          <p:nvPr/>
        </p:nvSpPr>
        <p:spPr>
          <a:xfrm>
            <a:off x="6425032" y="3582619"/>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External assurance and auditor experience</a:t>
            </a:r>
            <a:endParaRPr lang="en-US" sz="950" dirty="0"/>
          </a:p>
        </p:txBody>
      </p:sp>
      <p:sp>
        <p:nvSpPr>
          <p:cNvPr id="33" name="Shape 31"/>
          <p:cNvSpPr/>
          <p:nvPr/>
        </p:nvSpPr>
        <p:spPr>
          <a:xfrm>
            <a:off x="6361024" y="4211726"/>
            <a:ext cx="5071720" cy="555955"/>
          </a:xfrm>
          <a:prstGeom prst="roundRect">
            <a:avLst>
              <a:gd name="adj" fmla="val 4934"/>
            </a:avLst>
          </a:prstGeom>
          <a:solidFill>
            <a:srgbClr val="F7F8F7"/>
          </a:solidFill>
          <a:ln w="5080">
            <a:solidFill>
              <a:srgbClr val="F7F8F7"/>
            </a:solidFill>
            <a:prstDash val="solid"/>
          </a:ln>
        </p:spPr>
      </p:sp>
      <p:sp>
        <p:nvSpPr>
          <p:cNvPr id="34" name="Text 32"/>
          <p:cNvSpPr/>
          <p:nvPr/>
        </p:nvSpPr>
        <p:spPr>
          <a:xfrm>
            <a:off x="6425032" y="4211726"/>
            <a:ext cx="4943704"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Voluntary frameworks: GRI, SASB, GRESB, EcoVadis</a:t>
            </a:r>
            <a:endParaRPr lang="en-US" sz="900" dirty="0"/>
          </a:p>
        </p:txBody>
      </p:sp>
      <p:sp>
        <p:nvSpPr>
          <p:cNvPr id="35" name="Shape 33"/>
          <p:cNvSpPr/>
          <p:nvPr/>
        </p:nvSpPr>
        <p:spPr>
          <a:xfrm>
            <a:off x="6361024" y="4840834"/>
            <a:ext cx="5071720" cy="555955"/>
          </a:xfrm>
          <a:prstGeom prst="roundRect">
            <a:avLst>
              <a:gd name="adj" fmla="val 4934"/>
            </a:avLst>
          </a:prstGeom>
          <a:solidFill>
            <a:srgbClr val="F7F8F7"/>
          </a:solidFill>
          <a:ln w="5080">
            <a:solidFill>
              <a:srgbClr val="F7F8F7"/>
            </a:solidFill>
            <a:prstDash val="solid"/>
          </a:ln>
        </p:spPr>
      </p:sp>
      <p:sp>
        <p:nvSpPr>
          <p:cNvPr id="36" name="Text 34"/>
          <p:cNvSpPr/>
          <p:nvPr/>
        </p:nvSpPr>
        <p:spPr>
          <a:xfrm>
            <a:off x="6425032" y="4840834"/>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CP emissions and CR risk feeding disclosures</a:t>
            </a:r>
            <a:endParaRPr lang="en-US" sz="950" dirty="0"/>
          </a:p>
        </p:txBody>
      </p:sp>
      <p:sp>
        <p:nvSpPr>
          <p:cNvPr id="37" name="Shape 35"/>
          <p:cNvSpPr/>
          <p:nvPr/>
        </p:nvSpPr>
        <p:spPr>
          <a:xfrm>
            <a:off x="621792" y="6437376"/>
            <a:ext cx="10948111" cy="0"/>
          </a:xfrm>
          <a:prstGeom prst="line">
            <a:avLst/>
          </a:prstGeom>
          <a:noFill/>
          <a:ln w="9525">
            <a:solidFill>
              <a:srgbClr val="E2E6E2"/>
            </a:solidFill>
            <a:prstDash val="solid"/>
          </a:ln>
        </p:spPr>
      </p:sp>
      <p:sp>
        <p:nvSpPr>
          <p:cNvPr id="38" name="Text 3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9" name="Text 3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RA+ PLATFORM</a:t>
            </a:r>
            <a:endParaRPr lang="en-US" sz="950" dirty="0"/>
          </a:p>
        </p:txBody>
      </p:sp>
      <p:sp>
        <p:nvSpPr>
          <p:cNvPr id="6" name="Text 4"/>
          <p:cNvSpPr/>
          <p:nvPr/>
        </p:nvSpPr>
        <p:spPr>
          <a:xfrm>
            <a:off x="621792" y="768096"/>
            <a:ext cx="10948111" cy="804672"/>
          </a:xfrm>
          <a:prstGeom prst="rect">
            <a:avLst/>
          </a:prstGeom>
          <a:noFill/>
          <a:ln/>
        </p:spPr>
        <p:txBody>
          <a:bodyPr wrap="square" lIns="0" tIns="0" rIns="0" bIns="0" rtlCol="0" anchor="t">
            <a:normAutofit/>
          </a:bodyPr>
          <a:lstStyle/>
          <a:p>
            <a:pPr indent="0" marL="0">
              <a:buNone/>
            </a:pPr>
            <a:r>
              <a:rPr lang="en-US" sz="2800" b="1" dirty="0">
                <a:solidFill>
                  <a:srgbClr val="1E2420"/>
                </a:solidFill>
                <a:latin typeface="Calibri" pitchFamily="34" charset="0"/>
                <a:ea typeface="Calibri" pitchFamily="34" charset="-122"/>
                <a:cs typeface="Calibri" pitchFamily="34" charset="-120"/>
              </a:rPr>
              <a:t>Core platform foundations: configure, collect, disclose end to end</a:t>
            </a:r>
            <a:endParaRPr lang="en-US" sz="2800" dirty="0"/>
          </a:p>
        </p:txBody>
      </p:sp>
      <p:sp>
        <p:nvSpPr>
          <p:cNvPr id="7" name="Text 5"/>
          <p:cNvSpPr/>
          <p:nvPr/>
        </p:nvSpPr>
        <p:spPr>
          <a:xfrm>
            <a:off x="621792" y="1572768"/>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Built once in the core, consumed by every product on top.</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4.257913490460253e+271" dist="1.4193044968200846e+271" dir="Infinity">
              <a:srgbClr val="0A1F12">
                <a:alpha val="Infinity"/>
              </a:srgbClr>
            </a:outerShdw>
          </a:effectLst>
        </p:spPr>
      </p:sp>
      <p:sp>
        <p:nvSpPr>
          <p:cNvPr id="10" name="Shape 8"/>
          <p:cNvSpPr/>
          <p:nvPr/>
        </p:nvSpPr>
        <p:spPr>
          <a:xfrm>
            <a:off x="621792" y="2084832"/>
            <a:ext cx="3466490" cy="73152"/>
          </a:xfrm>
          <a:prstGeom prst="rect">
            <a:avLst/>
          </a:prstGeom>
          <a:solidFill>
            <a:srgbClr val="3DCD58"/>
          </a:solidFill>
          <a:ln w="12700">
            <a:solidFill>
              <a:srgbClr val="3DCD58"/>
            </a:solidFill>
            <a:prstDash val="solid"/>
          </a:ln>
        </p:spPr>
      </p:sp>
      <p:sp>
        <p:nvSpPr>
          <p:cNvPr id="11" name="Text 9"/>
          <p:cNvSpPr/>
          <p:nvPr/>
        </p:nvSpPr>
        <p:spPr>
          <a:xfrm>
            <a:off x="822960" y="2286000"/>
            <a:ext cx="3100730"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STEP 1</a:t>
            </a:r>
            <a:endParaRPr lang="en-US" sz="900" dirty="0"/>
          </a:p>
        </p:txBody>
      </p:sp>
      <p:sp>
        <p:nvSpPr>
          <p:cNvPr id="12" name="Text 10"/>
          <p:cNvSpPr/>
          <p:nvPr/>
        </p:nvSpPr>
        <p:spPr>
          <a:xfrm>
            <a:off x="82296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Configure</a:t>
            </a:r>
            <a:endParaRPr lang="en-US" sz="1600" dirty="0"/>
          </a:p>
        </p:txBody>
      </p:sp>
      <p:sp>
        <p:nvSpPr>
          <p:cNvPr id="13" name="Text 11"/>
          <p:cNvSpPr/>
          <p:nvPr/>
        </p:nvSpPr>
        <p:spPr>
          <a:xfrm>
            <a:off x="80467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Set the structure once.</a:t>
            </a:r>
            <a:endParaRPr lang="en-US" sz="1100" dirty="0"/>
          </a:p>
        </p:txBody>
      </p:sp>
      <p:sp>
        <p:nvSpPr>
          <p:cNvPr id="14" name="Text 12"/>
          <p:cNvSpPr/>
          <p:nvPr/>
        </p:nvSpPr>
        <p:spPr>
          <a:xfrm>
            <a:off x="82296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hierarchy and emission factors, owned by the core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Config engine, calc methods and templates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Framework and disclosure definitions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Approval hierarchies and bulk assignment</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Permissions, roles and workspace setup</a:t>
            </a:r>
            <a:endParaRPr lang="en-US" sz="1100" dirty="0"/>
          </a:p>
        </p:txBody>
      </p:sp>
      <p:sp>
        <p:nvSpPr>
          <p:cNvPr id="15" name="Shape 13"/>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5.4075501328845217e+275" dist="1.8025167109615074e+275" dir="Infinity">
              <a:srgbClr val="0A1F12">
                <a:alpha val="Infinity"/>
              </a:srgbClr>
            </a:outerShdw>
          </a:effectLst>
        </p:spPr>
      </p:sp>
      <p:sp>
        <p:nvSpPr>
          <p:cNvPr id="16" name="Shape 14"/>
          <p:cNvSpPr/>
          <p:nvPr/>
        </p:nvSpPr>
        <p:spPr>
          <a:xfrm>
            <a:off x="4362602" y="2084832"/>
            <a:ext cx="3466490" cy="73152"/>
          </a:xfrm>
          <a:prstGeom prst="rect">
            <a:avLst/>
          </a:prstGeom>
          <a:solidFill>
            <a:srgbClr val="007A27"/>
          </a:solidFill>
          <a:ln w="12700">
            <a:solidFill>
              <a:srgbClr val="007A27"/>
            </a:solidFill>
            <a:prstDash val="solid"/>
          </a:ln>
        </p:spPr>
      </p:sp>
      <p:sp>
        <p:nvSpPr>
          <p:cNvPr id="17" name="Text 15"/>
          <p:cNvSpPr/>
          <p:nvPr/>
        </p:nvSpPr>
        <p:spPr>
          <a:xfrm>
            <a:off x="4563770" y="2286000"/>
            <a:ext cx="3100730"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STEP 2</a:t>
            </a:r>
            <a:endParaRPr lang="en-US" sz="900" dirty="0"/>
          </a:p>
        </p:txBody>
      </p:sp>
      <p:sp>
        <p:nvSpPr>
          <p:cNvPr id="18" name="Text 16"/>
          <p:cNvSpPr/>
          <p:nvPr/>
        </p:nvSpPr>
        <p:spPr>
          <a:xfrm>
            <a:off x="4563770"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Collect</a:t>
            </a:r>
            <a:endParaRPr lang="en-US" sz="1600" dirty="0"/>
          </a:p>
        </p:txBody>
      </p:sp>
      <p:sp>
        <p:nvSpPr>
          <p:cNvPr id="19" name="Text 17"/>
          <p:cNvSpPr/>
          <p:nvPr/>
        </p:nvSpPr>
        <p:spPr>
          <a:xfrm>
            <a:off x="4545482"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Get the data in, governed.</a:t>
            </a:r>
            <a:endParaRPr lang="en-US" sz="1100" dirty="0"/>
          </a:p>
        </p:txBody>
      </p:sp>
      <p:sp>
        <p:nvSpPr>
          <p:cNvPr id="20" name="Text 18"/>
          <p:cNvSpPr/>
          <p:nvPr/>
        </p:nvSpPr>
        <p:spPr>
          <a:xfrm>
            <a:off x="4563770"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data ingestion and transformation rules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Governed data collection campaigns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Reporting cycles and reporting workspace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quality assurance and validation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Bulk uploads, integrations and connectors</a:t>
            </a:r>
            <a:endParaRPr lang="en-US" sz="1100" dirty="0"/>
          </a:p>
        </p:txBody>
      </p:sp>
      <p:sp>
        <p:nvSpPr>
          <p:cNvPr id="21" name="Shape 19"/>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6.867588668763342e+279" dist="2.2891962229211143e+279" dir="Infinity">
              <a:srgbClr val="0A1F12">
                <a:alpha val="Infinity"/>
              </a:srgbClr>
            </a:outerShdw>
          </a:effectLst>
        </p:spPr>
      </p:sp>
      <p:sp>
        <p:nvSpPr>
          <p:cNvPr id="22" name="Shape 20"/>
          <p:cNvSpPr/>
          <p:nvPr/>
        </p:nvSpPr>
        <p:spPr>
          <a:xfrm>
            <a:off x="8103413" y="2084832"/>
            <a:ext cx="3466490" cy="73152"/>
          </a:xfrm>
          <a:prstGeom prst="rect">
            <a:avLst/>
          </a:prstGeom>
          <a:solidFill>
            <a:srgbClr val="FFB04C"/>
          </a:solidFill>
          <a:ln w="12700">
            <a:solidFill>
              <a:srgbClr val="FFB04C"/>
            </a:solidFill>
            <a:prstDash val="solid"/>
          </a:ln>
        </p:spPr>
      </p:sp>
      <p:sp>
        <p:nvSpPr>
          <p:cNvPr id="23" name="Text 21"/>
          <p:cNvSpPr/>
          <p:nvPr/>
        </p:nvSpPr>
        <p:spPr>
          <a:xfrm>
            <a:off x="8304581" y="2286000"/>
            <a:ext cx="3100730"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STEP 3</a:t>
            </a:r>
            <a:endParaRPr lang="en-US" sz="900" dirty="0"/>
          </a:p>
        </p:txBody>
      </p:sp>
      <p:sp>
        <p:nvSpPr>
          <p:cNvPr id="24" name="Text 22"/>
          <p:cNvSpPr/>
          <p:nvPr/>
        </p:nvSpPr>
        <p:spPr>
          <a:xfrm>
            <a:off x="8304581" y="2569464"/>
            <a:ext cx="3100730"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Disclose</a:t>
            </a:r>
            <a:endParaRPr lang="en-US" sz="1600" dirty="0"/>
          </a:p>
        </p:txBody>
      </p:sp>
      <p:sp>
        <p:nvSpPr>
          <p:cNvPr id="25" name="Text 23"/>
          <p:cNvSpPr/>
          <p:nvPr/>
        </p:nvSpPr>
        <p:spPr>
          <a:xfrm>
            <a:off x="8286293" y="3044952"/>
            <a:ext cx="3100730"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Produce the output, audit ready.</a:t>
            </a:r>
            <a:endParaRPr lang="en-US" sz="1100" dirty="0"/>
          </a:p>
        </p:txBody>
      </p:sp>
      <p:sp>
        <p:nvSpPr>
          <p:cNvPr id="26" name="Text 24"/>
          <p:cNvSpPr/>
          <p:nvPr/>
        </p:nvSpPr>
        <p:spPr>
          <a:xfrm>
            <a:off x="8304581" y="3776472"/>
            <a:ext cx="3100730"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management on the shared indicator library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Full traceability from disclosure back to source data</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Evidence and audit trail by design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Regulated framework output: CSRD, ESRS, IFRS S1 and S2</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Every product consumes the same foundation</a:t>
            </a:r>
            <a:endParaRPr lang="en-US" sz="1100" dirty="0"/>
          </a:p>
        </p:txBody>
      </p:sp>
      <p:sp>
        <p:nvSpPr>
          <p:cNvPr id="27" name="Shape 25"/>
          <p:cNvSpPr/>
          <p:nvPr/>
        </p:nvSpPr>
        <p:spPr>
          <a:xfrm>
            <a:off x="621792" y="6437376"/>
            <a:ext cx="10948111" cy="0"/>
          </a:xfrm>
          <a:prstGeom prst="line">
            <a:avLst/>
          </a:prstGeom>
          <a:noFill/>
          <a:ln w="9525">
            <a:solidFill>
              <a:srgbClr val="E2E6E2"/>
            </a:solidFill>
            <a:prstDash val="solid"/>
          </a:ln>
        </p:spPr>
      </p:sp>
      <p:sp>
        <p:nvSpPr>
          <p:cNvPr id="28" name="Text 2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29" name="Text 2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302666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69748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REPORTING AND COMPLIANCE</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reporting and compliance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Framework Library scopes the work, Indicator Management holds the data, Disclosure Management produces the output.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8.721837609329444e+283" dist="2.9072792031098153e+283"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Framework Library</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Entry point and scope.</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Pre-built templates: CSRD and ESRS, EU Taxonomy, CDP, IFRS S1 and S2, CA Climate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powered framework question and answer and interpretation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indicator to framework mapping suggestions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Regulated frameworks and templates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2027: GRI, SASB, GRESB, EcoVadis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1076733763848394e+288" dist="3.6922445879494656e+287"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Indicator Management</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Foundation of data management.</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Standard indicator catalogue pre-aligned to major frameworks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Custom indicators with formula and transform engine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Dataset registry, schema and source mapping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Flexible approval hierarchies and bulk assignment</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Direct indicator data uploads</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4067451880087461e+292" dist="4.6891506266958215e+291"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Disclosure Management</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Reporting cycle workspace.</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Disclosure attributes and schema definition</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Governed multi hierarchy reporting cycles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collection campaigns across entities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AI assisted drafting with data lineage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Multi step approvals, audit trail and export</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1.7865663887711077e+296" dist="5.955221295903693e+295"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Migration and assurance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Prove it on Schneider first.</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Corporate SE migrated off RA Classic</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 indicators connected to its Datahub</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ready disclosures with full lineage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External assurance and auditor experience</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CLIMATE RISK, 2026</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Turn Eclr into a self serve product in 2026</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Asset register and exposure first: the foundations for scenarios and value at risk.</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2.2689393137393066e+300" dist="7.56313104579769e+299" dir="Infinity">
              <a:srgbClr val="0A1F12">
                <a:alpha val="Infinity"/>
              </a:srgbClr>
            </a:outerShdw>
          </a:effectLst>
        </p:spPr>
      </p:sp>
      <p:sp>
        <p:nvSpPr>
          <p:cNvPr id="10" name="Shape 8"/>
          <p:cNvSpPr/>
          <p:nvPr/>
        </p:nvSpPr>
        <p:spPr>
          <a:xfrm>
            <a:off x="621792" y="2084832"/>
            <a:ext cx="5346040"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5071720" cy="713232"/>
          </a:xfrm>
          <a:prstGeom prst="roundRect">
            <a:avLst>
              <a:gd name="adj" fmla="val 3846"/>
            </a:avLst>
          </a:prstGeom>
          <a:solidFill>
            <a:srgbClr val="F7F8F7"/>
          </a:solidFill>
          <a:ln w="5080">
            <a:solidFill>
              <a:srgbClr val="F7F8F7"/>
            </a:solidFill>
            <a:prstDash val="solid"/>
          </a:ln>
        </p:spPr>
      </p:sp>
      <p:sp>
        <p:nvSpPr>
          <p:cNvPr id="15" name="Text 13"/>
          <p:cNvSpPr/>
          <p:nvPr/>
        </p:nvSpPr>
        <p:spPr>
          <a:xfrm>
            <a:off x="822960"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Asset and site register on the shared hierarchy</a:t>
            </a:r>
            <a:endParaRPr lang="en-US" sz="900" dirty="0"/>
          </a:p>
        </p:txBody>
      </p:sp>
      <p:sp>
        <p:nvSpPr>
          <p:cNvPr id="16" name="Shape 14"/>
          <p:cNvSpPr/>
          <p:nvPr/>
        </p:nvSpPr>
        <p:spPr>
          <a:xfrm>
            <a:off x="758952" y="3739896"/>
            <a:ext cx="5071720" cy="713232"/>
          </a:xfrm>
          <a:prstGeom prst="roundRect">
            <a:avLst>
              <a:gd name="adj" fmla="val 3846"/>
            </a:avLst>
          </a:prstGeom>
          <a:solidFill>
            <a:srgbClr val="F7F8F7"/>
          </a:solidFill>
          <a:ln w="5080">
            <a:solidFill>
              <a:srgbClr val="F7F8F7"/>
            </a:solidFill>
            <a:prstDash val="solid"/>
          </a:ln>
        </p:spPr>
      </p:sp>
      <p:sp>
        <p:nvSpPr>
          <p:cNvPr id="17" name="Text 15"/>
          <p:cNvSpPr/>
          <p:nvPr/>
        </p:nvSpPr>
        <p:spPr>
          <a:xfrm>
            <a:off x="822960"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Eclr platform stabilisation on RA+</a:t>
            </a:r>
            <a:endParaRPr lang="en-US" sz="950" dirty="0"/>
          </a:p>
        </p:txBody>
      </p:sp>
      <p:sp>
        <p:nvSpPr>
          <p:cNvPr id="18" name="Shape 16"/>
          <p:cNvSpPr/>
          <p:nvPr/>
        </p:nvSpPr>
        <p:spPr>
          <a:xfrm>
            <a:off x="758952" y="4526280"/>
            <a:ext cx="5071720" cy="713232"/>
          </a:xfrm>
          <a:prstGeom prst="roundRect">
            <a:avLst>
              <a:gd name="adj" fmla="val 3846"/>
            </a:avLst>
          </a:prstGeom>
          <a:solidFill>
            <a:srgbClr val="F7F8F7"/>
          </a:solidFill>
          <a:ln w="5080">
            <a:solidFill>
              <a:srgbClr val="F7F8F7"/>
            </a:solidFill>
            <a:prstDash val="solid"/>
          </a:ln>
        </p:spPr>
      </p:sp>
      <p:sp>
        <p:nvSpPr>
          <p:cNvPr id="19" name="Text 17"/>
          <p:cNvSpPr/>
          <p:nvPr/>
        </p:nvSpPr>
        <p:spPr>
          <a:xfrm>
            <a:off x="822960"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Hazard data foundations</a:t>
            </a:r>
            <a:endParaRPr lang="en-US" sz="1000" dirty="0"/>
          </a:p>
        </p:txBody>
      </p:sp>
      <p:sp>
        <p:nvSpPr>
          <p:cNvPr id="20" name="Shape 18"/>
          <p:cNvSpPr/>
          <p:nvPr/>
        </p:nvSpPr>
        <p:spPr>
          <a:xfrm>
            <a:off x="758952" y="5312664"/>
            <a:ext cx="5071720" cy="713232"/>
          </a:xfrm>
          <a:prstGeom prst="roundRect">
            <a:avLst>
              <a:gd name="adj" fmla="val 3846"/>
            </a:avLst>
          </a:prstGeom>
          <a:solidFill>
            <a:srgbClr val="F7F8F7"/>
          </a:solidFill>
          <a:ln w="5080">
            <a:solidFill>
              <a:srgbClr val="F7F8F7"/>
            </a:solidFill>
            <a:prstDash val="solid"/>
          </a:ln>
        </p:spPr>
      </p:sp>
      <p:sp>
        <p:nvSpPr>
          <p:cNvPr id="21" name="Text 19"/>
          <p:cNvSpPr/>
          <p:nvPr/>
        </p:nvSpPr>
        <p:spPr>
          <a:xfrm>
            <a:off x="822960"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Resilience impact types in the shared taxonomy</a:t>
            </a:r>
            <a:endParaRPr lang="en-US" sz="950" dirty="0"/>
          </a:p>
        </p:txBody>
      </p:sp>
      <p:sp>
        <p:nvSpPr>
          <p:cNvPr id="22" name="Shape 20"/>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2.8815529284489193e+304" dist="9.605176428163068e+303" dir="Infinity">
              <a:srgbClr val="0A1F12">
                <a:alpha val="Infinity"/>
              </a:srgbClr>
            </a:outerShdw>
          </a:effectLst>
        </p:spPr>
      </p:sp>
      <p:sp>
        <p:nvSpPr>
          <p:cNvPr id="23" name="Shape 21"/>
          <p:cNvSpPr/>
          <p:nvPr/>
        </p:nvSpPr>
        <p:spPr>
          <a:xfrm>
            <a:off x="6223864" y="2084832"/>
            <a:ext cx="5346040" cy="713232"/>
          </a:xfrm>
          <a:prstGeom prst="rect">
            <a:avLst/>
          </a:prstGeom>
          <a:solidFill>
            <a:srgbClr val="EAF8ED"/>
          </a:solidFill>
          <a:ln w="12700">
            <a:solidFill>
              <a:srgbClr val="EAF8ED"/>
            </a:solidFill>
            <a:prstDash val="solid"/>
          </a:ln>
        </p:spPr>
      </p:sp>
      <p:sp>
        <p:nvSpPr>
          <p:cNvPr id="24" name="Shape 22"/>
          <p:cNvSpPr/>
          <p:nvPr/>
        </p:nvSpPr>
        <p:spPr>
          <a:xfrm>
            <a:off x="6223864" y="2084832"/>
            <a:ext cx="54864" cy="4178808"/>
          </a:xfrm>
          <a:prstGeom prst="rect">
            <a:avLst/>
          </a:prstGeom>
          <a:solidFill>
            <a:srgbClr val="007A27"/>
          </a:solidFill>
          <a:ln w="12700">
            <a:solidFill>
              <a:srgbClr val="007A27"/>
            </a:solidFill>
            <a:prstDash val="solid"/>
          </a:ln>
        </p:spPr>
      </p:sp>
      <p:sp>
        <p:nvSpPr>
          <p:cNvPr id="25" name="Text 23"/>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6" name="Text 24"/>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7" name="Shape 25"/>
          <p:cNvSpPr/>
          <p:nvPr/>
        </p:nvSpPr>
        <p:spPr>
          <a:xfrm>
            <a:off x="6361024" y="2953512"/>
            <a:ext cx="5071720" cy="713232"/>
          </a:xfrm>
          <a:prstGeom prst="roundRect">
            <a:avLst>
              <a:gd name="adj" fmla="val 3846"/>
            </a:avLst>
          </a:prstGeom>
          <a:solidFill>
            <a:srgbClr val="F7F8F7"/>
          </a:solidFill>
          <a:ln w="5080">
            <a:solidFill>
              <a:srgbClr val="F7F8F7"/>
            </a:solidFill>
            <a:prstDash val="solid"/>
          </a:ln>
        </p:spPr>
      </p:sp>
      <p:sp>
        <p:nvSpPr>
          <p:cNvPr id="28" name="Text 26"/>
          <p:cNvSpPr/>
          <p:nvPr/>
        </p:nvSpPr>
        <p:spPr>
          <a:xfrm>
            <a:off x="6425032"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Physical hazard exposure on owned assets</a:t>
            </a:r>
            <a:endParaRPr lang="en-US" sz="950" dirty="0"/>
          </a:p>
        </p:txBody>
      </p:sp>
      <p:sp>
        <p:nvSpPr>
          <p:cNvPr id="29" name="Shape 27"/>
          <p:cNvSpPr/>
          <p:nvPr/>
        </p:nvSpPr>
        <p:spPr>
          <a:xfrm>
            <a:off x="6361024" y="3739896"/>
            <a:ext cx="5071720" cy="713232"/>
          </a:xfrm>
          <a:prstGeom prst="roundRect">
            <a:avLst>
              <a:gd name="adj" fmla="val 3846"/>
            </a:avLst>
          </a:prstGeom>
          <a:solidFill>
            <a:srgbClr val="F7F8F7"/>
          </a:solidFill>
          <a:ln w="5080">
            <a:solidFill>
              <a:srgbClr val="F7F8F7"/>
            </a:solidFill>
            <a:prstDash val="solid"/>
          </a:ln>
        </p:spPr>
      </p:sp>
      <p:sp>
        <p:nvSpPr>
          <p:cNvPr id="30" name="Text 28"/>
          <p:cNvSpPr/>
          <p:nvPr/>
        </p:nvSpPr>
        <p:spPr>
          <a:xfrm>
            <a:off x="6425032"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Eclr turned to a full self serve product</a:t>
            </a:r>
            <a:endParaRPr lang="en-US" sz="950" dirty="0"/>
          </a:p>
        </p:txBody>
      </p:sp>
      <p:sp>
        <p:nvSpPr>
          <p:cNvPr id="31" name="Shape 29"/>
          <p:cNvSpPr/>
          <p:nvPr/>
        </p:nvSpPr>
        <p:spPr>
          <a:xfrm>
            <a:off x="6361024" y="4526280"/>
            <a:ext cx="5071720" cy="713232"/>
          </a:xfrm>
          <a:prstGeom prst="roundRect">
            <a:avLst>
              <a:gd name="adj" fmla="val 3846"/>
            </a:avLst>
          </a:prstGeom>
          <a:solidFill>
            <a:srgbClr val="F7F8F7"/>
          </a:solidFill>
          <a:ln w="5080">
            <a:solidFill>
              <a:srgbClr val="F7F8F7"/>
            </a:solidFill>
            <a:prstDash val="solid"/>
          </a:ln>
        </p:spPr>
      </p:sp>
      <p:sp>
        <p:nvSpPr>
          <p:cNvPr id="32" name="Text 30"/>
          <p:cNvSpPr/>
          <p:nvPr/>
        </p:nvSpPr>
        <p:spPr>
          <a:xfrm>
            <a:off x="6425032"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Scalable performance at portfolio volumes</a:t>
            </a:r>
            <a:endParaRPr lang="en-US" sz="950" dirty="0"/>
          </a:p>
        </p:txBody>
      </p:sp>
      <p:sp>
        <p:nvSpPr>
          <p:cNvPr id="33" name="Shape 31"/>
          <p:cNvSpPr/>
          <p:nvPr/>
        </p:nvSpPr>
        <p:spPr>
          <a:xfrm>
            <a:off x="6361024" y="5312664"/>
            <a:ext cx="5071720" cy="713232"/>
          </a:xfrm>
          <a:prstGeom prst="roundRect">
            <a:avLst>
              <a:gd name="adj" fmla="val 3846"/>
            </a:avLst>
          </a:prstGeom>
          <a:solidFill>
            <a:srgbClr val="F7F8F7"/>
          </a:solidFill>
          <a:ln w="5080">
            <a:solidFill>
              <a:srgbClr val="F7F8F7"/>
            </a:solidFill>
            <a:prstDash val="solid"/>
          </a:ln>
        </p:spPr>
      </p:sp>
      <p:sp>
        <p:nvSpPr>
          <p:cNvPr id="34" name="Text 32"/>
          <p:cNvSpPr/>
          <p:nvPr/>
        </p:nvSpPr>
        <p:spPr>
          <a:xfrm>
            <a:off x="6425032"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Adaptation planning primitives with Strategy</a:t>
            </a:r>
            <a:endParaRPr lang="en-US" sz="950" dirty="0"/>
          </a:p>
        </p:txBody>
      </p:sp>
      <p:sp>
        <p:nvSpPr>
          <p:cNvPr id="35" name="Shape 33"/>
          <p:cNvSpPr/>
          <p:nvPr/>
        </p:nvSpPr>
        <p:spPr>
          <a:xfrm>
            <a:off x="621792" y="6437376"/>
            <a:ext cx="10948111" cy="0"/>
          </a:xfrm>
          <a:prstGeom prst="line">
            <a:avLst/>
          </a:prstGeom>
          <a:noFill/>
          <a:ln w="9525">
            <a:solidFill>
              <a:srgbClr val="E2E6E2"/>
            </a:solidFill>
            <a:prstDash val="solid"/>
          </a:ln>
        </p:spPr>
      </p:sp>
      <p:sp>
        <p:nvSpPr>
          <p:cNvPr id="36" name="Text 3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7" name="Text 3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39572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206654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CLIMATE RISK, 2027</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Price the risk in 2027</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Scenarios, value at risk and adaptation, connected to the rest of the platform.</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1.2198574063767096e+308" dir="Infinity">
              <a:srgbClr val="0A1F12">
                <a:alpha val="Infinity"/>
              </a:srgbClr>
            </a:outerShdw>
          </a:effectLst>
        </p:spPr>
      </p:sp>
      <p:sp>
        <p:nvSpPr>
          <p:cNvPr id="10" name="Shape 8"/>
          <p:cNvSpPr/>
          <p:nvPr/>
        </p:nvSpPr>
        <p:spPr>
          <a:xfrm>
            <a:off x="621792" y="2084832"/>
            <a:ext cx="5346040" cy="713232"/>
          </a:xfrm>
          <a:prstGeom prst="rect">
            <a:avLst/>
          </a:prstGeom>
          <a:solidFill>
            <a:srgbClr val="FFF4E3"/>
          </a:solidFill>
          <a:ln w="12700">
            <a:solidFill>
              <a:srgbClr val="FFF4E3"/>
            </a:solidFill>
            <a:prstDash val="solid"/>
          </a:ln>
        </p:spPr>
      </p:sp>
      <p:sp>
        <p:nvSpPr>
          <p:cNvPr id="11" name="Shape 9"/>
          <p:cNvSpPr/>
          <p:nvPr/>
        </p:nvSpPr>
        <p:spPr>
          <a:xfrm>
            <a:off x="621792" y="2084832"/>
            <a:ext cx="54864" cy="4178808"/>
          </a:xfrm>
          <a:prstGeom prst="rect">
            <a:avLst/>
          </a:prstGeom>
          <a:solidFill>
            <a:srgbClr val="FFB04C"/>
          </a:solidFill>
          <a:ln w="12700">
            <a:solidFill>
              <a:srgbClr val="FFB04C"/>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14" name="Shape 12"/>
          <p:cNvSpPr/>
          <p:nvPr/>
        </p:nvSpPr>
        <p:spPr>
          <a:xfrm>
            <a:off x="758952" y="2953512"/>
            <a:ext cx="5071720" cy="713232"/>
          </a:xfrm>
          <a:prstGeom prst="roundRect">
            <a:avLst>
              <a:gd name="adj" fmla="val 3846"/>
            </a:avLst>
          </a:prstGeom>
          <a:solidFill>
            <a:srgbClr val="F7F8F7"/>
          </a:solidFill>
          <a:ln w="5080">
            <a:solidFill>
              <a:srgbClr val="F7F8F7"/>
            </a:solidFill>
            <a:prstDash val="solid"/>
          </a:ln>
        </p:spPr>
      </p:sp>
      <p:sp>
        <p:nvSpPr>
          <p:cNvPr id="15" name="Text 13"/>
          <p:cNvSpPr/>
          <p:nvPr/>
        </p:nvSpPr>
        <p:spPr>
          <a:xfrm>
            <a:off x="822960"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Physical and transition scenario analysis</a:t>
            </a:r>
            <a:endParaRPr lang="en-US" sz="950" dirty="0"/>
          </a:p>
        </p:txBody>
      </p:sp>
      <p:sp>
        <p:nvSpPr>
          <p:cNvPr id="16" name="Shape 14"/>
          <p:cNvSpPr/>
          <p:nvPr/>
        </p:nvSpPr>
        <p:spPr>
          <a:xfrm>
            <a:off x="758952" y="3739896"/>
            <a:ext cx="5071720" cy="713232"/>
          </a:xfrm>
          <a:prstGeom prst="roundRect">
            <a:avLst>
              <a:gd name="adj" fmla="val 3846"/>
            </a:avLst>
          </a:prstGeom>
          <a:solidFill>
            <a:srgbClr val="F7F8F7"/>
          </a:solidFill>
          <a:ln w="5080">
            <a:solidFill>
              <a:srgbClr val="F7F8F7"/>
            </a:solidFill>
            <a:prstDash val="solid"/>
          </a:ln>
        </p:spPr>
      </p:sp>
      <p:sp>
        <p:nvSpPr>
          <p:cNvPr id="17" name="Text 15"/>
          <p:cNvSpPr/>
          <p:nvPr/>
        </p:nvSpPr>
        <p:spPr>
          <a:xfrm>
            <a:off x="822960"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ClimVar - Value at Risk</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Expressed in financial terms</a:t>
            </a:r>
            <a:endParaRPr lang="en-US" sz="1000" dirty="0"/>
          </a:p>
        </p:txBody>
      </p:sp>
      <p:sp>
        <p:nvSpPr>
          <p:cNvPr id="18" name="Shape 16"/>
          <p:cNvSpPr/>
          <p:nvPr/>
        </p:nvSpPr>
        <p:spPr>
          <a:xfrm>
            <a:off x="758952" y="4526280"/>
            <a:ext cx="5071720" cy="713232"/>
          </a:xfrm>
          <a:prstGeom prst="roundRect">
            <a:avLst>
              <a:gd name="adj" fmla="val 3846"/>
            </a:avLst>
          </a:prstGeom>
          <a:solidFill>
            <a:srgbClr val="F7F8F7"/>
          </a:solidFill>
          <a:ln w="5080">
            <a:solidFill>
              <a:srgbClr val="F7F8F7"/>
            </a:solidFill>
            <a:prstDash val="solid"/>
          </a:ln>
        </p:spPr>
      </p:sp>
      <p:sp>
        <p:nvSpPr>
          <p:cNvPr id="19" name="Text 17"/>
          <p:cNvSpPr/>
          <p:nvPr/>
        </p:nvSpPr>
        <p:spPr>
          <a:xfrm>
            <a:off x="822960"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Adaptation actions tracked with monthly actuals</a:t>
            </a:r>
            <a:endParaRPr lang="en-US" sz="900" dirty="0"/>
          </a:p>
        </p:txBody>
      </p:sp>
      <p:sp>
        <p:nvSpPr>
          <p:cNvPr id="20" name="Shape 18"/>
          <p:cNvSpPr/>
          <p:nvPr/>
        </p:nvSpPr>
        <p:spPr>
          <a:xfrm>
            <a:off x="758952" y="5312664"/>
            <a:ext cx="5071720" cy="713232"/>
          </a:xfrm>
          <a:prstGeom prst="roundRect">
            <a:avLst>
              <a:gd name="adj" fmla="val 3846"/>
            </a:avLst>
          </a:prstGeom>
          <a:solidFill>
            <a:srgbClr val="F7F8F7"/>
          </a:solidFill>
          <a:ln w="5080">
            <a:solidFill>
              <a:srgbClr val="F7F8F7"/>
            </a:solidFill>
            <a:prstDash val="solid"/>
          </a:ln>
        </p:spPr>
      </p:sp>
      <p:sp>
        <p:nvSpPr>
          <p:cNvPr id="21" name="Text 19"/>
          <p:cNvSpPr/>
          <p:nvPr/>
        </p:nvSpPr>
        <p:spPr>
          <a:xfrm>
            <a:off x="822960"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Portfolio level risk analytics and heatmaps</a:t>
            </a:r>
            <a:endParaRPr lang="en-US" sz="950" dirty="0"/>
          </a:p>
        </p:txBody>
      </p:sp>
      <p:sp>
        <p:nvSpPr>
          <p:cNvPr id="22" name="Shape 20"/>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3" name="Shape 21"/>
          <p:cNvSpPr/>
          <p:nvPr/>
        </p:nvSpPr>
        <p:spPr>
          <a:xfrm>
            <a:off x="6223864" y="2084832"/>
            <a:ext cx="5346040" cy="713232"/>
          </a:xfrm>
          <a:prstGeom prst="rect">
            <a:avLst/>
          </a:prstGeom>
          <a:solidFill>
            <a:srgbClr val="EAF1F5"/>
          </a:solidFill>
          <a:ln w="12700">
            <a:solidFill>
              <a:srgbClr val="EAF1F5"/>
            </a:solidFill>
            <a:prstDash val="solid"/>
          </a:ln>
        </p:spPr>
      </p:sp>
      <p:sp>
        <p:nvSpPr>
          <p:cNvPr id="24" name="Shape 22"/>
          <p:cNvSpPr/>
          <p:nvPr/>
        </p:nvSpPr>
        <p:spPr>
          <a:xfrm>
            <a:off x="6223864" y="2084832"/>
            <a:ext cx="54864" cy="4178808"/>
          </a:xfrm>
          <a:prstGeom prst="rect">
            <a:avLst/>
          </a:prstGeom>
          <a:solidFill>
            <a:srgbClr val="275B7F"/>
          </a:solidFill>
          <a:ln w="12700">
            <a:solidFill>
              <a:srgbClr val="275B7F"/>
            </a:solidFill>
            <a:prstDash val="solid"/>
          </a:ln>
        </p:spPr>
      </p:sp>
      <p:sp>
        <p:nvSpPr>
          <p:cNvPr id="25" name="Text 23"/>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26" name="Text 24"/>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27" name="Shape 25"/>
          <p:cNvSpPr/>
          <p:nvPr/>
        </p:nvSpPr>
        <p:spPr>
          <a:xfrm>
            <a:off x="6361024" y="2953512"/>
            <a:ext cx="5071720" cy="713232"/>
          </a:xfrm>
          <a:prstGeom prst="roundRect">
            <a:avLst>
              <a:gd name="adj" fmla="val 3846"/>
            </a:avLst>
          </a:prstGeom>
          <a:solidFill>
            <a:srgbClr val="F7F8F7"/>
          </a:solidFill>
          <a:ln w="5080">
            <a:solidFill>
              <a:srgbClr val="F7F8F7"/>
            </a:solidFill>
            <a:prstDash val="solid"/>
          </a:ln>
        </p:spPr>
      </p:sp>
      <p:sp>
        <p:nvSpPr>
          <p:cNvPr id="28" name="Text 26"/>
          <p:cNvSpPr/>
          <p:nvPr/>
        </p:nvSpPr>
        <p:spPr>
          <a:xfrm>
            <a:off x="6425032"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Transition plan modelling linked to targets</a:t>
            </a:r>
            <a:endParaRPr lang="en-US" sz="950" dirty="0"/>
          </a:p>
        </p:txBody>
      </p:sp>
      <p:sp>
        <p:nvSpPr>
          <p:cNvPr id="29" name="Shape 27"/>
          <p:cNvSpPr/>
          <p:nvPr/>
        </p:nvSpPr>
        <p:spPr>
          <a:xfrm>
            <a:off x="6361024" y="3739896"/>
            <a:ext cx="5071720" cy="713232"/>
          </a:xfrm>
          <a:prstGeom prst="roundRect">
            <a:avLst>
              <a:gd name="adj" fmla="val 3846"/>
            </a:avLst>
          </a:prstGeom>
          <a:solidFill>
            <a:srgbClr val="F7F8F7"/>
          </a:solidFill>
          <a:ln w="5080">
            <a:solidFill>
              <a:srgbClr val="F7F8F7"/>
            </a:solidFill>
            <a:prstDash val="solid"/>
          </a:ln>
        </p:spPr>
      </p:sp>
      <p:sp>
        <p:nvSpPr>
          <p:cNvPr id="30" name="Text 28"/>
          <p:cNvSpPr/>
          <p:nvPr/>
        </p:nvSpPr>
        <p:spPr>
          <a:xfrm>
            <a:off x="6425032"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Risk data flowing into R&amp;C disclosures</a:t>
            </a:r>
            <a:endParaRPr lang="en-US" sz="950" dirty="0"/>
          </a:p>
        </p:txBody>
      </p:sp>
      <p:sp>
        <p:nvSpPr>
          <p:cNvPr id="31" name="Shape 29"/>
          <p:cNvSpPr/>
          <p:nvPr/>
        </p:nvSpPr>
        <p:spPr>
          <a:xfrm>
            <a:off x="6361024" y="4526280"/>
            <a:ext cx="5071720" cy="713232"/>
          </a:xfrm>
          <a:prstGeom prst="roundRect">
            <a:avLst>
              <a:gd name="adj" fmla="val 3846"/>
            </a:avLst>
          </a:prstGeom>
          <a:solidFill>
            <a:srgbClr val="F7F8F7"/>
          </a:solidFill>
          <a:ln w="5080">
            <a:solidFill>
              <a:srgbClr val="F7F8F7"/>
            </a:solidFill>
            <a:prstDash val="solid"/>
          </a:ln>
        </p:spPr>
      </p:sp>
      <p:sp>
        <p:nvSpPr>
          <p:cNvPr id="32" name="Text 30"/>
          <p:cNvSpPr/>
          <p:nvPr/>
        </p:nvSpPr>
        <p:spPr>
          <a:xfrm>
            <a:off x="6425032"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Supply chain and climate risk integration</a:t>
            </a:r>
            <a:endParaRPr lang="en-US" sz="950" dirty="0"/>
          </a:p>
        </p:txBody>
      </p:sp>
      <p:sp>
        <p:nvSpPr>
          <p:cNvPr id="33" name="Shape 31"/>
          <p:cNvSpPr/>
          <p:nvPr/>
        </p:nvSpPr>
        <p:spPr>
          <a:xfrm>
            <a:off x="6361024" y="5312664"/>
            <a:ext cx="5071720" cy="713232"/>
          </a:xfrm>
          <a:prstGeom prst="roundRect">
            <a:avLst>
              <a:gd name="adj" fmla="val 3846"/>
            </a:avLst>
          </a:prstGeom>
          <a:solidFill>
            <a:srgbClr val="F7F8F7"/>
          </a:solidFill>
          <a:ln w="5080">
            <a:solidFill>
              <a:srgbClr val="F7F8F7"/>
            </a:solidFill>
            <a:prstDash val="solid"/>
          </a:ln>
        </p:spPr>
      </p:sp>
      <p:sp>
        <p:nvSpPr>
          <p:cNvPr id="34" name="Text 32"/>
          <p:cNvSpPr/>
          <p:nvPr/>
        </p:nvSpPr>
        <p:spPr>
          <a:xfrm>
            <a:off x="6425032"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Value at risk across the extended value chain</a:t>
            </a:r>
            <a:endParaRPr lang="en-US" sz="950" dirty="0"/>
          </a:p>
        </p:txBody>
      </p:sp>
      <p:sp>
        <p:nvSpPr>
          <p:cNvPr id="35" name="Shape 33"/>
          <p:cNvSpPr/>
          <p:nvPr/>
        </p:nvSpPr>
        <p:spPr>
          <a:xfrm>
            <a:off x="621792" y="6437376"/>
            <a:ext cx="10948111" cy="0"/>
          </a:xfrm>
          <a:prstGeom prst="line">
            <a:avLst/>
          </a:prstGeom>
          <a:noFill/>
          <a:ln w="9525">
            <a:solidFill>
              <a:srgbClr val="E2E6E2"/>
            </a:solidFill>
            <a:prstDash val="solid"/>
          </a:ln>
        </p:spPr>
      </p:sp>
      <p:sp>
        <p:nvSpPr>
          <p:cNvPr id="36" name="Text 3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7" name="Text 3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764792"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435608"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CLIMATE RISK</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climate risk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 shared asset model first, then exposure, then decision grade analysis.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Asset foundation</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Shared model before analytics.</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Asset and site register on the shared hierarchy</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Eclr platform stabilisation and self serve onboarding</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Scalable performance at portfolio data volumes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access aligned to the entity hierarchy</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Exposure</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First defensible risk output.</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Physical hazard exposure on owned assets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Resilience impact types in the shared taxonomy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Portfolio heatmaps and hotspot ranking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Hazard data provenance and methodology transparency</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Scenarios and value at risk</a:t>
            </a:r>
            <a:endParaRPr lang="en-US" sz="14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Decision grade analysis.</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Physical and transition scenario analysis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ClimVar - Value at Risk expressed in financial terms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Time horizon comparison across scenarios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exposure read from the CP inventory</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Adaptation</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From risk to response.</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actions on the shared Strategy action model</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Monthly plan versus actuals on adaptation measures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plan modelling linked to targets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Supply chain and climate risk integration</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97510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64592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 2026</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Close the plan to execution gap in 2026</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Actions, recommendations and targets: the shared planning layer consumed by CP decarbonisation, CR adaptation and supplier action.</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5346040"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NOW</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Q3 2026</a:t>
            </a:r>
            <a:endParaRPr lang="en-US" sz="1400" dirty="0"/>
          </a:p>
        </p:txBody>
      </p:sp>
      <p:sp>
        <p:nvSpPr>
          <p:cNvPr id="14" name="Shape 12"/>
          <p:cNvSpPr/>
          <p:nvPr/>
        </p:nvSpPr>
        <p:spPr>
          <a:xfrm>
            <a:off x="758952" y="2953512"/>
            <a:ext cx="5071720" cy="555955"/>
          </a:xfrm>
          <a:prstGeom prst="roundRect">
            <a:avLst>
              <a:gd name="adj" fmla="val 4934"/>
            </a:avLst>
          </a:prstGeom>
          <a:solidFill>
            <a:srgbClr val="F7F8F7"/>
          </a:solidFill>
          <a:ln w="5080">
            <a:solidFill>
              <a:srgbClr val="F7F8F7"/>
            </a:solidFill>
            <a:prstDash val="solid"/>
          </a:ln>
        </p:spPr>
      </p:sp>
      <p:sp>
        <p:nvSpPr>
          <p:cNvPr id="15" name="Text 13"/>
          <p:cNvSpPr/>
          <p:nvPr/>
        </p:nvSpPr>
        <p:spPr>
          <a:xfrm>
            <a:off x="822960" y="2953512"/>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Introduce actions</a:t>
            </a:r>
            <a:endParaRPr lang="en-US" sz="1000" dirty="0"/>
          </a:p>
        </p:txBody>
      </p:sp>
      <p:sp>
        <p:nvSpPr>
          <p:cNvPr id="16" name="Shape 14"/>
          <p:cNvSpPr/>
          <p:nvPr/>
        </p:nvSpPr>
        <p:spPr>
          <a:xfrm>
            <a:off x="758952" y="3582619"/>
            <a:ext cx="5071720" cy="555955"/>
          </a:xfrm>
          <a:prstGeom prst="roundRect">
            <a:avLst>
              <a:gd name="adj" fmla="val 4934"/>
            </a:avLst>
          </a:prstGeom>
          <a:solidFill>
            <a:srgbClr val="F7F8F7"/>
          </a:solidFill>
          <a:ln w="5080">
            <a:solidFill>
              <a:srgbClr val="F7F8F7"/>
            </a:solidFill>
            <a:prstDash val="solid"/>
          </a:ln>
        </p:spPr>
      </p:sp>
      <p:sp>
        <p:nvSpPr>
          <p:cNvPr id="17" name="Text 15"/>
          <p:cNvSpPr/>
          <p:nvPr/>
        </p:nvSpPr>
        <p:spPr>
          <a:xfrm>
            <a:off x="822960" y="3582619"/>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Centralised actions library</a:t>
            </a:r>
            <a:endParaRPr lang="en-US" sz="1000" dirty="0"/>
          </a:p>
        </p:txBody>
      </p:sp>
      <p:sp>
        <p:nvSpPr>
          <p:cNvPr id="18" name="Shape 16"/>
          <p:cNvSpPr/>
          <p:nvPr/>
        </p:nvSpPr>
        <p:spPr>
          <a:xfrm>
            <a:off x="758952" y="4211726"/>
            <a:ext cx="5071720" cy="555955"/>
          </a:xfrm>
          <a:prstGeom prst="roundRect">
            <a:avLst>
              <a:gd name="adj" fmla="val 4934"/>
            </a:avLst>
          </a:prstGeom>
          <a:solidFill>
            <a:srgbClr val="F7F8F7"/>
          </a:solidFill>
          <a:ln w="5080">
            <a:solidFill>
              <a:srgbClr val="F7F8F7"/>
            </a:solidFill>
            <a:prstDash val="solid"/>
          </a:ln>
        </p:spPr>
      </p:sp>
      <p:sp>
        <p:nvSpPr>
          <p:cNvPr id="19" name="Text 17"/>
          <p:cNvSpPr/>
          <p:nvPr/>
        </p:nvSpPr>
        <p:spPr>
          <a:xfrm>
            <a:off x="822960" y="4211726"/>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Configure action types</a:t>
            </a:r>
            <a:endParaRPr lang="en-US" sz="1000" dirty="0"/>
          </a:p>
        </p:txBody>
      </p:sp>
      <p:sp>
        <p:nvSpPr>
          <p:cNvPr id="20" name="Shape 18"/>
          <p:cNvSpPr/>
          <p:nvPr/>
        </p:nvSpPr>
        <p:spPr>
          <a:xfrm>
            <a:off x="758952" y="4840834"/>
            <a:ext cx="5071720" cy="555955"/>
          </a:xfrm>
          <a:prstGeom prst="roundRect">
            <a:avLst>
              <a:gd name="adj" fmla="val 4934"/>
            </a:avLst>
          </a:prstGeom>
          <a:solidFill>
            <a:srgbClr val="F7F8F7"/>
          </a:solidFill>
          <a:ln w="5080">
            <a:solidFill>
              <a:srgbClr val="F7F8F7"/>
            </a:solidFill>
            <a:prstDash val="solid"/>
          </a:ln>
        </p:spPr>
      </p:sp>
      <p:sp>
        <p:nvSpPr>
          <p:cNvPr id="21" name="Text 19"/>
          <p:cNvSpPr/>
          <p:nvPr/>
        </p:nvSpPr>
        <p:spPr>
          <a:xfrm>
            <a:off x="822960" y="4840834"/>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Library of standard initiative types</a:t>
            </a:r>
            <a:endParaRPr lang="en-US" sz="950" dirty="0"/>
          </a:p>
        </p:txBody>
      </p:sp>
      <p:sp>
        <p:nvSpPr>
          <p:cNvPr id="22" name="Shape 20"/>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3" name="Shape 21"/>
          <p:cNvSpPr/>
          <p:nvPr/>
        </p:nvSpPr>
        <p:spPr>
          <a:xfrm>
            <a:off x="6223864" y="2084832"/>
            <a:ext cx="5346040" cy="713232"/>
          </a:xfrm>
          <a:prstGeom prst="rect">
            <a:avLst/>
          </a:prstGeom>
          <a:solidFill>
            <a:srgbClr val="EAF8ED"/>
          </a:solidFill>
          <a:ln w="12700">
            <a:solidFill>
              <a:srgbClr val="EAF8ED"/>
            </a:solidFill>
            <a:prstDash val="solid"/>
          </a:ln>
        </p:spPr>
      </p:sp>
      <p:sp>
        <p:nvSpPr>
          <p:cNvPr id="24" name="Shape 22"/>
          <p:cNvSpPr/>
          <p:nvPr/>
        </p:nvSpPr>
        <p:spPr>
          <a:xfrm>
            <a:off x="6223864" y="2084832"/>
            <a:ext cx="54864" cy="4178808"/>
          </a:xfrm>
          <a:prstGeom prst="rect">
            <a:avLst/>
          </a:prstGeom>
          <a:solidFill>
            <a:srgbClr val="007A27"/>
          </a:solidFill>
          <a:ln w="12700">
            <a:solidFill>
              <a:srgbClr val="007A27"/>
            </a:solidFill>
            <a:prstDash val="solid"/>
          </a:ln>
        </p:spPr>
      </p:sp>
      <p:sp>
        <p:nvSpPr>
          <p:cNvPr id="25" name="Text 23"/>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NEXT</a:t>
            </a:r>
            <a:endParaRPr lang="en-US" sz="850" dirty="0"/>
          </a:p>
        </p:txBody>
      </p:sp>
      <p:sp>
        <p:nvSpPr>
          <p:cNvPr id="26" name="Text 24"/>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Q4 2026</a:t>
            </a:r>
            <a:endParaRPr lang="en-US" sz="1400" dirty="0"/>
          </a:p>
        </p:txBody>
      </p:sp>
      <p:sp>
        <p:nvSpPr>
          <p:cNvPr id="27" name="Shape 25"/>
          <p:cNvSpPr/>
          <p:nvPr/>
        </p:nvSpPr>
        <p:spPr>
          <a:xfrm>
            <a:off x="6361024" y="2953512"/>
            <a:ext cx="5071720" cy="555955"/>
          </a:xfrm>
          <a:prstGeom prst="roundRect">
            <a:avLst>
              <a:gd name="adj" fmla="val 4934"/>
            </a:avLst>
          </a:prstGeom>
          <a:solidFill>
            <a:srgbClr val="F7F8F7"/>
          </a:solidFill>
          <a:ln w="5080">
            <a:solidFill>
              <a:srgbClr val="F7F8F7"/>
            </a:solidFill>
            <a:prstDash val="solid"/>
          </a:ln>
        </p:spPr>
      </p:sp>
      <p:sp>
        <p:nvSpPr>
          <p:cNvPr id="28" name="Text 26"/>
          <p:cNvSpPr/>
          <p:nvPr/>
        </p:nvSpPr>
        <p:spPr>
          <a:xfrm>
            <a:off x="6425032" y="2953512"/>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Actions bulk upload</a:t>
            </a:r>
            <a:endParaRPr lang="en-US" sz="1000" dirty="0"/>
          </a:p>
        </p:txBody>
      </p:sp>
      <p:sp>
        <p:nvSpPr>
          <p:cNvPr id="29" name="Shape 27"/>
          <p:cNvSpPr/>
          <p:nvPr/>
        </p:nvSpPr>
        <p:spPr>
          <a:xfrm>
            <a:off x="6361024" y="3582619"/>
            <a:ext cx="5071720" cy="555955"/>
          </a:xfrm>
          <a:prstGeom prst="roundRect">
            <a:avLst>
              <a:gd name="adj" fmla="val 4934"/>
            </a:avLst>
          </a:prstGeom>
          <a:solidFill>
            <a:srgbClr val="F7F8F7"/>
          </a:solidFill>
          <a:ln w="5080">
            <a:solidFill>
              <a:srgbClr val="F7F8F7"/>
            </a:solidFill>
            <a:prstDash val="solid"/>
          </a:ln>
        </p:spPr>
      </p:sp>
      <p:sp>
        <p:nvSpPr>
          <p:cNvPr id="30" name="Text 28"/>
          <p:cNvSpPr/>
          <p:nvPr/>
        </p:nvSpPr>
        <p:spPr>
          <a:xfrm>
            <a:off x="6425032" y="3582619"/>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ECM recommendations</a:t>
            </a:r>
            <a:endParaRPr lang="en-US" sz="1000" dirty="0"/>
          </a:p>
        </p:txBody>
      </p:sp>
      <p:sp>
        <p:nvSpPr>
          <p:cNvPr id="31" name="Shape 29"/>
          <p:cNvSpPr/>
          <p:nvPr/>
        </p:nvSpPr>
        <p:spPr>
          <a:xfrm>
            <a:off x="6361024" y="4211726"/>
            <a:ext cx="5071720" cy="555955"/>
          </a:xfrm>
          <a:prstGeom prst="roundRect">
            <a:avLst>
              <a:gd name="adj" fmla="val 4934"/>
            </a:avLst>
          </a:prstGeom>
          <a:solidFill>
            <a:srgbClr val="F7F8F7"/>
          </a:solidFill>
          <a:ln w="5080">
            <a:solidFill>
              <a:srgbClr val="F7F8F7"/>
            </a:solidFill>
            <a:prstDash val="solid"/>
          </a:ln>
        </p:spPr>
      </p:sp>
      <p:sp>
        <p:nvSpPr>
          <p:cNvPr id="32" name="Text 30"/>
          <p:cNvSpPr/>
          <p:nvPr/>
        </p:nvSpPr>
        <p:spPr>
          <a:xfrm>
            <a:off x="6425032" y="4211726"/>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Initiative type recommendations</a:t>
            </a:r>
            <a:endParaRPr lang="en-US" sz="1000" dirty="0"/>
          </a:p>
        </p:txBody>
      </p:sp>
      <p:sp>
        <p:nvSpPr>
          <p:cNvPr id="33" name="Shape 31"/>
          <p:cNvSpPr/>
          <p:nvPr/>
        </p:nvSpPr>
        <p:spPr>
          <a:xfrm>
            <a:off x="6361024" y="4840834"/>
            <a:ext cx="5071720" cy="555955"/>
          </a:xfrm>
          <a:prstGeom prst="roundRect">
            <a:avLst>
              <a:gd name="adj" fmla="val 4934"/>
            </a:avLst>
          </a:prstGeom>
          <a:solidFill>
            <a:srgbClr val="F7F8F7"/>
          </a:solidFill>
          <a:ln w="5080">
            <a:solidFill>
              <a:srgbClr val="F7F8F7"/>
            </a:solidFill>
            <a:prstDash val="solid"/>
          </a:ln>
        </p:spPr>
      </p:sp>
      <p:sp>
        <p:nvSpPr>
          <p:cNvPr id="34" name="Text 32"/>
          <p:cNvSpPr/>
          <p:nvPr/>
        </p:nvSpPr>
        <p:spPr>
          <a:xfrm>
            <a:off x="6425032" y="4840834"/>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Energy, water and waste targets</a:t>
            </a:r>
            <a:endParaRPr lang="en-US" sz="1000" dirty="0"/>
          </a:p>
        </p:txBody>
      </p:sp>
      <p:sp>
        <p:nvSpPr>
          <p:cNvPr id="35" name="Shape 33"/>
          <p:cNvSpPr/>
          <p:nvPr/>
        </p:nvSpPr>
        <p:spPr>
          <a:xfrm>
            <a:off x="6361024" y="5469941"/>
            <a:ext cx="5071720" cy="555955"/>
          </a:xfrm>
          <a:prstGeom prst="roundRect">
            <a:avLst>
              <a:gd name="adj" fmla="val 4934"/>
            </a:avLst>
          </a:prstGeom>
          <a:solidFill>
            <a:srgbClr val="F7F8F7"/>
          </a:solidFill>
          <a:ln w="5080">
            <a:solidFill>
              <a:srgbClr val="F7F8F7"/>
            </a:solidFill>
            <a:prstDash val="solid"/>
          </a:ln>
        </p:spPr>
      </p:sp>
      <p:sp>
        <p:nvSpPr>
          <p:cNvPr id="36" name="Text 34"/>
          <p:cNvSpPr/>
          <p:nvPr/>
        </p:nvSpPr>
        <p:spPr>
          <a:xfrm>
            <a:off x="6425032" y="5469941"/>
            <a:ext cx="4943704"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Advanced scenario analysis and decarbonization planning</a:t>
            </a:r>
            <a:endParaRPr lang="en-US" sz="900" dirty="0"/>
          </a:p>
        </p:txBody>
      </p:sp>
      <p:sp>
        <p:nvSpPr>
          <p:cNvPr id="37" name="Shape 35"/>
          <p:cNvSpPr/>
          <p:nvPr/>
        </p:nvSpPr>
        <p:spPr>
          <a:xfrm>
            <a:off x="621792" y="6437376"/>
            <a:ext cx="10948111" cy="0"/>
          </a:xfrm>
          <a:prstGeom prst="line">
            <a:avLst/>
          </a:prstGeom>
          <a:noFill/>
          <a:ln w="9525">
            <a:solidFill>
              <a:srgbClr val="E2E6E2"/>
            </a:solidFill>
            <a:prstDash val="solid"/>
          </a:ln>
        </p:spPr>
      </p:sp>
      <p:sp>
        <p:nvSpPr>
          <p:cNvPr id="38" name="Text 3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9" name="Text 3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97510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64592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 2027</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Recommend, then widen scope in 2027</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Cascading targets and scenario intelligence on top of the 2026 planning layer.</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5346040" cy="713232"/>
          </a:xfrm>
          <a:prstGeom prst="rect">
            <a:avLst/>
          </a:prstGeom>
          <a:solidFill>
            <a:srgbClr val="FFF4E3"/>
          </a:solidFill>
          <a:ln w="12700">
            <a:solidFill>
              <a:srgbClr val="FFF4E3"/>
            </a:solidFill>
            <a:prstDash val="solid"/>
          </a:ln>
        </p:spPr>
      </p:sp>
      <p:sp>
        <p:nvSpPr>
          <p:cNvPr id="11" name="Shape 9"/>
          <p:cNvSpPr/>
          <p:nvPr/>
        </p:nvSpPr>
        <p:spPr>
          <a:xfrm>
            <a:off x="621792" y="2084832"/>
            <a:ext cx="54864" cy="4178808"/>
          </a:xfrm>
          <a:prstGeom prst="rect">
            <a:avLst/>
          </a:prstGeom>
          <a:solidFill>
            <a:srgbClr val="FFB04C"/>
          </a:solidFill>
          <a:ln w="12700">
            <a:solidFill>
              <a:srgbClr val="FFB04C"/>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LATER</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H1</a:t>
            </a:r>
            <a:endParaRPr lang="en-US" sz="1400" dirty="0"/>
          </a:p>
        </p:txBody>
      </p:sp>
      <p:sp>
        <p:nvSpPr>
          <p:cNvPr id="14" name="Shape 12"/>
          <p:cNvSpPr/>
          <p:nvPr/>
        </p:nvSpPr>
        <p:spPr>
          <a:xfrm>
            <a:off x="758952" y="2953512"/>
            <a:ext cx="5071720" cy="555955"/>
          </a:xfrm>
          <a:prstGeom prst="roundRect">
            <a:avLst>
              <a:gd name="adj" fmla="val 4934"/>
            </a:avLst>
          </a:prstGeom>
          <a:solidFill>
            <a:srgbClr val="F7F8F7"/>
          </a:solidFill>
          <a:ln w="5080">
            <a:solidFill>
              <a:srgbClr val="F7F8F7"/>
            </a:solidFill>
            <a:prstDash val="solid"/>
          </a:ln>
        </p:spPr>
      </p:sp>
      <p:sp>
        <p:nvSpPr>
          <p:cNvPr id="15" name="Text 13"/>
          <p:cNvSpPr/>
          <p:nvPr/>
        </p:nvSpPr>
        <p:spPr>
          <a:xfrm>
            <a:off x="822960" y="2953512"/>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Complex target structures</a:t>
            </a:r>
            <a:endParaRPr lang="en-US" sz="1000" dirty="0"/>
          </a:p>
        </p:txBody>
      </p:sp>
      <p:sp>
        <p:nvSpPr>
          <p:cNvPr id="16" name="Shape 14"/>
          <p:cNvSpPr/>
          <p:nvPr/>
        </p:nvSpPr>
        <p:spPr>
          <a:xfrm>
            <a:off x="758952" y="3582619"/>
            <a:ext cx="5071720" cy="555955"/>
          </a:xfrm>
          <a:prstGeom prst="roundRect">
            <a:avLst>
              <a:gd name="adj" fmla="val 4934"/>
            </a:avLst>
          </a:prstGeom>
          <a:solidFill>
            <a:srgbClr val="F7F8F7"/>
          </a:solidFill>
          <a:ln w="5080">
            <a:solidFill>
              <a:srgbClr val="F7F8F7"/>
            </a:solidFill>
            <a:prstDash val="solid"/>
          </a:ln>
        </p:spPr>
      </p:sp>
      <p:sp>
        <p:nvSpPr>
          <p:cNvPr id="17" name="Text 15"/>
          <p:cNvSpPr/>
          <p:nvPr/>
        </p:nvSpPr>
        <p:spPr>
          <a:xfrm>
            <a:off x="822960" y="3582619"/>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Cascading reduction targets</a:t>
            </a:r>
            <a:endParaRPr lang="en-US" sz="1000" dirty="0"/>
          </a:p>
        </p:txBody>
      </p:sp>
      <p:sp>
        <p:nvSpPr>
          <p:cNvPr id="18" name="Shape 16"/>
          <p:cNvSpPr/>
          <p:nvPr/>
        </p:nvSpPr>
        <p:spPr>
          <a:xfrm>
            <a:off x="758952" y="4211726"/>
            <a:ext cx="5071720" cy="555955"/>
          </a:xfrm>
          <a:prstGeom prst="roundRect">
            <a:avLst>
              <a:gd name="adj" fmla="val 4934"/>
            </a:avLst>
          </a:prstGeom>
          <a:solidFill>
            <a:srgbClr val="F7F8F7"/>
          </a:solidFill>
          <a:ln w="5080">
            <a:solidFill>
              <a:srgbClr val="F7F8F7"/>
            </a:solidFill>
            <a:prstDash val="solid"/>
          </a:ln>
        </p:spPr>
      </p:sp>
      <p:sp>
        <p:nvSpPr>
          <p:cNvPr id="19" name="Text 17"/>
          <p:cNvSpPr/>
          <p:nvPr/>
        </p:nvSpPr>
        <p:spPr>
          <a:xfrm>
            <a:off x="822960" y="4211726"/>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Implementation statuses and on track</a:t>
            </a:r>
            <a:endParaRPr lang="en-US" sz="950" dirty="0"/>
          </a:p>
        </p:txBody>
      </p:sp>
      <p:sp>
        <p:nvSpPr>
          <p:cNvPr id="20" name="Shape 18"/>
          <p:cNvSpPr/>
          <p:nvPr/>
        </p:nvSpPr>
        <p:spPr>
          <a:xfrm>
            <a:off x="758952" y="4840834"/>
            <a:ext cx="5071720" cy="555955"/>
          </a:xfrm>
          <a:prstGeom prst="roundRect">
            <a:avLst>
              <a:gd name="adj" fmla="val 4934"/>
            </a:avLst>
          </a:prstGeom>
          <a:solidFill>
            <a:srgbClr val="F7F8F7"/>
          </a:solidFill>
          <a:ln w="5080">
            <a:solidFill>
              <a:srgbClr val="F7F8F7"/>
            </a:solidFill>
            <a:prstDash val="solid"/>
          </a:ln>
        </p:spPr>
      </p:sp>
      <p:sp>
        <p:nvSpPr>
          <p:cNvPr id="21" name="Text 19"/>
          <p:cNvSpPr/>
          <p:nvPr/>
        </p:nvSpPr>
        <p:spPr>
          <a:xfrm>
            <a:off x="822960" y="4840834"/>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Advanced ECM library</a:t>
            </a:r>
            <a:endParaRPr lang="en-US" sz="1000" dirty="0"/>
          </a:p>
          <a:p>
            <a:pPr indent="0" marL="0">
              <a:lnSpc>
                <a:spcPct val="95000"/>
              </a:lnSpc>
              <a:buNone/>
            </a:pPr>
            <a:r>
              <a:rPr lang="en-US" sz="850" dirty="0">
                <a:solidFill>
                  <a:srgbClr val="5A625C"/>
                </a:solidFill>
                <a:latin typeface="Calibri" pitchFamily="34" charset="0"/>
                <a:ea typeface="Calibri" pitchFamily="34" charset="-122"/>
                <a:cs typeface="Calibri" pitchFamily="34" charset="-120"/>
              </a:rPr>
              <a:t>Energy and carbon cobenefits</a:t>
            </a:r>
            <a:endParaRPr lang="en-US" sz="1000" dirty="0"/>
          </a:p>
        </p:txBody>
      </p:sp>
      <p:sp>
        <p:nvSpPr>
          <p:cNvPr id="22" name="Shape 20"/>
          <p:cNvSpPr/>
          <p:nvPr/>
        </p:nvSpPr>
        <p:spPr>
          <a:xfrm>
            <a:off x="758952" y="5469941"/>
            <a:ext cx="5071720" cy="555955"/>
          </a:xfrm>
          <a:prstGeom prst="roundRect">
            <a:avLst>
              <a:gd name="adj" fmla="val 4934"/>
            </a:avLst>
          </a:prstGeom>
          <a:solidFill>
            <a:srgbClr val="F7F8F7"/>
          </a:solidFill>
          <a:ln w="5080">
            <a:solidFill>
              <a:srgbClr val="F7F8F7"/>
            </a:solidFill>
            <a:prstDash val="solid"/>
          </a:ln>
        </p:spPr>
      </p:sp>
      <p:sp>
        <p:nvSpPr>
          <p:cNvPr id="23" name="Text 21"/>
          <p:cNvSpPr/>
          <p:nvPr/>
        </p:nvSpPr>
        <p:spPr>
          <a:xfrm>
            <a:off x="822960" y="5469941"/>
            <a:ext cx="4943704" cy="555955"/>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Enhanced strategy landing page and notifications</a:t>
            </a:r>
            <a:endParaRPr lang="en-US" sz="900" dirty="0"/>
          </a:p>
        </p:txBody>
      </p:sp>
      <p:sp>
        <p:nvSpPr>
          <p:cNvPr id="24" name="Shape 22"/>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5" name="Shape 23"/>
          <p:cNvSpPr/>
          <p:nvPr/>
        </p:nvSpPr>
        <p:spPr>
          <a:xfrm>
            <a:off x="6223864" y="2084832"/>
            <a:ext cx="5346040" cy="713232"/>
          </a:xfrm>
          <a:prstGeom prst="rect">
            <a:avLst/>
          </a:prstGeom>
          <a:solidFill>
            <a:srgbClr val="EAF1F5"/>
          </a:solidFill>
          <a:ln w="12700">
            <a:solidFill>
              <a:srgbClr val="EAF1F5"/>
            </a:solidFill>
            <a:prstDash val="solid"/>
          </a:ln>
        </p:spPr>
      </p:sp>
      <p:sp>
        <p:nvSpPr>
          <p:cNvPr id="26" name="Shape 24"/>
          <p:cNvSpPr/>
          <p:nvPr/>
        </p:nvSpPr>
        <p:spPr>
          <a:xfrm>
            <a:off x="6223864" y="2084832"/>
            <a:ext cx="54864" cy="4178808"/>
          </a:xfrm>
          <a:prstGeom prst="rect">
            <a:avLst/>
          </a:prstGeom>
          <a:solidFill>
            <a:srgbClr val="275B7F"/>
          </a:solidFill>
          <a:ln w="12700">
            <a:solidFill>
              <a:srgbClr val="275B7F"/>
            </a:solidFill>
            <a:prstDash val="solid"/>
          </a:ln>
        </p:spPr>
      </p:sp>
      <p:sp>
        <p:nvSpPr>
          <p:cNvPr id="27" name="Text 25"/>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LATER</a:t>
            </a:r>
            <a:endParaRPr lang="en-US" sz="850" dirty="0"/>
          </a:p>
        </p:txBody>
      </p:sp>
      <p:sp>
        <p:nvSpPr>
          <p:cNvPr id="28" name="Text 26"/>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2027 H2</a:t>
            </a:r>
            <a:endParaRPr lang="en-US" sz="1400" dirty="0"/>
          </a:p>
        </p:txBody>
      </p:sp>
      <p:sp>
        <p:nvSpPr>
          <p:cNvPr id="29" name="Shape 27"/>
          <p:cNvSpPr/>
          <p:nvPr/>
        </p:nvSpPr>
        <p:spPr>
          <a:xfrm>
            <a:off x="6361024" y="2953512"/>
            <a:ext cx="5071720" cy="555955"/>
          </a:xfrm>
          <a:prstGeom prst="roundRect">
            <a:avLst>
              <a:gd name="adj" fmla="val 4934"/>
            </a:avLst>
          </a:prstGeom>
          <a:solidFill>
            <a:srgbClr val="F7F8F7"/>
          </a:solidFill>
          <a:ln w="5080">
            <a:solidFill>
              <a:srgbClr val="F7F8F7"/>
            </a:solidFill>
            <a:prstDash val="solid"/>
          </a:ln>
        </p:spPr>
      </p:sp>
      <p:sp>
        <p:nvSpPr>
          <p:cNvPr id="30" name="Text 28"/>
          <p:cNvSpPr/>
          <p:nvPr/>
        </p:nvSpPr>
        <p:spPr>
          <a:xfrm>
            <a:off x="6425032" y="2953512"/>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Qualitative market intelligence</a:t>
            </a:r>
            <a:endParaRPr lang="en-US" sz="1000" dirty="0"/>
          </a:p>
        </p:txBody>
      </p:sp>
      <p:sp>
        <p:nvSpPr>
          <p:cNvPr id="31" name="Shape 29"/>
          <p:cNvSpPr/>
          <p:nvPr/>
        </p:nvSpPr>
        <p:spPr>
          <a:xfrm>
            <a:off x="6361024" y="3582619"/>
            <a:ext cx="5071720" cy="555955"/>
          </a:xfrm>
          <a:prstGeom prst="roundRect">
            <a:avLst>
              <a:gd name="adj" fmla="val 4934"/>
            </a:avLst>
          </a:prstGeom>
          <a:solidFill>
            <a:srgbClr val="F7F8F7"/>
          </a:solidFill>
          <a:ln w="5080">
            <a:solidFill>
              <a:srgbClr val="F7F8F7"/>
            </a:solidFill>
            <a:prstDash val="solid"/>
          </a:ln>
        </p:spPr>
      </p:sp>
      <p:sp>
        <p:nvSpPr>
          <p:cNvPr id="32" name="Text 30"/>
          <p:cNvSpPr/>
          <p:nvPr/>
        </p:nvSpPr>
        <p:spPr>
          <a:xfrm>
            <a:off x="6425032" y="3582619"/>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Net zero scenario suggestions</a:t>
            </a:r>
            <a:endParaRPr lang="en-US" sz="1000" dirty="0"/>
          </a:p>
        </p:txBody>
      </p:sp>
      <p:sp>
        <p:nvSpPr>
          <p:cNvPr id="33" name="Shape 31"/>
          <p:cNvSpPr/>
          <p:nvPr/>
        </p:nvSpPr>
        <p:spPr>
          <a:xfrm>
            <a:off x="6361024" y="4211726"/>
            <a:ext cx="5071720" cy="555955"/>
          </a:xfrm>
          <a:prstGeom prst="roundRect">
            <a:avLst>
              <a:gd name="adj" fmla="val 4934"/>
            </a:avLst>
          </a:prstGeom>
          <a:solidFill>
            <a:srgbClr val="F7F8F7"/>
          </a:solidFill>
          <a:ln w="5080">
            <a:solidFill>
              <a:srgbClr val="F7F8F7"/>
            </a:solidFill>
            <a:prstDash val="solid"/>
          </a:ln>
        </p:spPr>
      </p:sp>
      <p:sp>
        <p:nvSpPr>
          <p:cNvPr id="34" name="Text 32"/>
          <p:cNvSpPr/>
          <p:nvPr/>
        </p:nvSpPr>
        <p:spPr>
          <a:xfrm>
            <a:off x="6425032" y="4211726"/>
            <a:ext cx="4943704" cy="555955"/>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Multi hierarchy plans</a:t>
            </a:r>
            <a:endParaRPr lang="en-US" sz="1000" dirty="0"/>
          </a:p>
        </p:txBody>
      </p:sp>
      <p:sp>
        <p:nvSpPr>
          <p:cNvPr id="35" name="Shape 33"/>
          <p:cNvSpPr/>
          <p:nvPr/>
        </p:nvSpPr>
        <p:spPr>
          <a:xfrm>
            <a:off x="6361024" y="4840834"/>
            <a:ext cx="5071720" cy="555955"/>
          </a:xfrm>
          <a:prstGeom prst="roundRect">
            <a:avLst>
              <a:gd name="adj" fmla="val 4934"/>
            </a:avLst>
          </a:prstGeom>
          <a:solidFill>
            <a:srgbClr val="F7F8F7"/>
          </a:solidFill>
          <a:ln w="5080">
            <a:solidFill>
              <a:srgbClr val="F7F8F7"/>
            </a:solidFill>
            <a:prstDash val="solid"/>
          </a:ln>
        </p:spPr>
      </p:sp>
      <p:sp>
        <p:nvSpPr>
          <p:cNvPr id="36" name="Text 34"/>
          <p:cNvSpPr/>
          <p:nvPr/>
        </p:nvSpPr>
        <p:spPr>
          <a:xfrm>
            <a:off x="6425032" y="4840834"/>
            <a:ext cx="4943704" cy="555955"/>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Cascading allocation across entities</a:t>
            </a:r>
            <a:endParaRPr lang="en-US" sz="950" dirty="0"/>
          </a:p>
        </p:txBody>
      </p:sp>
      <p:sp>
        <p:nvSpPr>
          <p:cNvPr id="37" name="Shape 35"/>
          <p:cNvSpPr/>
          <p:nvPr/>
        </p:nvSpPr>
        <p:spPr>
          <a:xfrm>
            <a:off x="621792" y="6437376"/>
            <a:ext cx="10948111" cy="0"/>
          </a:xfrm>
          <a:prstGeom prst="line">
            <a:avLst/>
          </a:prstGeom>
          <a:noFill/>
          <a:ln w="9525">
            <a:solidFill>
              <a:srgbClr val="E2E6E2"/>
            </a:solidFill>
            <a:prstDash val="solid"/>
          </a:ln>
        </p:spPr>
      </p:sp>
      <p:sp>
        <p:nvSpPr>
          <p:cNvPr id="38" name="Text 36"/>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9" name="Text 37"/>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ships inside the strategy goals</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Targets and initiatives, then execution, then guided recommendations.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Planning foundation</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Targets, scenarios, initiatives.</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Reduction goals by entity, scope and horizon, with pathway comparison</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Initiative portfolios showing contribution to each target</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Relevancy and business as usual views</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Standard initiative types, impact sequencing</a:t>
            </a:r>
            <a:endParaRPr lang="en-US" sz="1050" dirty="0"/>
          </a:p>
          <a:p>
            <a:pPr indent="0" marL="0">
              <a:lnSpc>
                <a:spcPct val="118000"/>
              </a:lnSpc>
              <a:spcAft>
                <a:spcPts val="300"/>
              </a:spcAft>
              <a:buNone/>
            </a:pPr>
            <a:r>
              <a:rPr lang="en-US" sz="105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Beyond GHG: energy, water and waste targets</a:t>
            </a:r>
            <a:endParaRPr lang="en-US" sz="105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Actions execution</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Programs, projects, purchases.</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Site level actions with absolute measures under each initiative</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Configurable action types published without engineering releases</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Monthly plan versus actuals with underperformance alerts</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Audit ready evidence: vendor, contract, EAC registry, documents</a:t>
            </a:r>
            <a:endParaRPr lang="en-US" sz="1050" dirty="0"/>
          </a:p>
          <a:p>
            <a:pPr indent="0" marL="0">
              <a:lnSpc>
                <a:spcPct val="118000"/>
              </a:lnSpc>
              <a:spcAft>
                <a:spcPts val="300"/>
              </a:spcAft>
              <a:buNone/>
            </a:pPr>
            <a:r>
              <a:rPr lang="en-US" sz="105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Centralised action library deployed across many sites</a:t>
            </a:r>
            <a:endParaRPr lang="en-US" sz="105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Recommendations</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Sera guided next steps.</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Site aware energy efficiency measures from the governed ECM catalogue</a:t>
            </a:r>
            <a:endParaRPr lang="en-US" sz="1050" dirty="0"/>
          </a:p>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Initiative type recommendations from residual emissions</a:t>
            </a:r>
            <a:endParaRPr lang="en-US" sz="1050" dirty="0"/>
          </a:p>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Typical savings, cost ranges and feasibility in site context</a:t>
            </a:r>
            <a:endParaRPr lang="en-US" sz="1050" dirty="0"/>
          </a:p>
          <a:p>
            <a:pPr indent="0" marL="0">
              <a:lnSpc>
                <a:spcPct val="118000"/>
              </a:lnSpc>
              <a:spcAft>
                <a:spcPts val="300"/>
              </a:spcAft>
              <a:buNone/>
            </a:pPr>
            <a:r>
              <a:rPr lang="en-US" sz="105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Later: qualitative market intelligence and net zero scenarios</a:t>
            </a:r>
            <a:endParaRPr lang="en-US" sz="105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Scale and governance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Enterprise structures.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05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Complex and cascading target structures</a:t>
            </a:r>
            <a:endParaRPr lang="en-US" sz="1050" dirty="0"/>
          </a:p>
          <a:p>
            <a:pPr indent="0" marL="0">
              <a:lnSpc>
                <a:spcPct val="118000"/>
              </a:lnSpc>
              <a:spcAft>
                <a:spcPts val="300"/>
              </a:spcAft>
              <a:buNone/>
            </a:pPr>
            <a:r>
              <a:rPr lang="en-US" sz="105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Multi hierarchy plans and cascading allocation</a:t>
            </a:r>
            <a:endParaRPr lang="en-US" sz="1050" dirty="0"/>
          </a:p>
          <a:p>
            <a:pPr indent="0" marL="0">
              <a:lnSpc>
                <a:spcPct val="118000"/>
              </a:lnSpc>
              <a:spcAft>
                <a:spcPts val="300"/>
              </a:spcAft>
              <a:buNone/>
            </a:pPr>
            <a:r>
              <a:rPr lang="en-US" sz="105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Implementation statuses and on track reporting</a:t>
            </a:r>
            <a:endParaRPr lang="en-US" sz="1050" dirty="0"/>
          </a:p>
          <a:p>
            <a:pPr indent="0" marL="0">
              <a:lnSpc>
                <a:spcPct val="118000"/>
              </a:lnSpc>
              <a:spcAft>
                <a:spcPts val="300"/>
              </a:spcAft>
              <a:buNone/>
            </a:pPr>
            <a:r>
              <a:rPr lang="en-US" sz="105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050" dirty="0">
                <a:solidFill>
                  <a:srgbClr val="3A423C"/>
                </a:solidFill>
                <a:latin typeface="Calibri" pitchFamily="34" charset="0"/>
                <a:ea typeface="Calibri" pitchFamily="34" charset="-122"/>
                <a:cs typeface="Calibri" pitchFamily="34" charset="-120"/>
              </a:rPr>
              <a:t>Strategy landing page and notifications</a:t>
            </a:r>
            <a:endParaRPr lang="en-US" sz="105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34416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01498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STRATEGY</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One planning layer serves every product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Adaptation actions share the same action model as decarbonisation actions.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CARBON PERFORMANCE</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Decarbonisation planning</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Plan against the inventory.</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Targets set on the governed baseline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scenario analysis and decarbonization planning</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Initiatives and actions management inside CP</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Advanced ECM library with energy and carbon cobenefits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CLIMATE RISK</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Adaptation planning</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Same model, resilience measures.</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planning primitives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Resilience impact types in the shared taxonomy</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Adaptation actions with monthly actuals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plan modelling linked to targets</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SUPPLY CHAIN</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Supplier action</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Extend the plan outward.</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Guided supplier decarbonisation actions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Project recommendations from the shared action library</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Programme analytics on supplier progress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reductions credited to corporate targets</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REPORTING</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Evidence and disclosure</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Plans become statements.</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Targets and progress disclosed against frameworks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Transition plan narrative with lineage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ready evidence on every action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Indicator performance analytics on plan delivery</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86994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54076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CORE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The platform work none of the products can ship alone</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Funded as core so it is built once and inherited by all products.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GOAL 1</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Ingestion and quality</a:t>
            </a:r>
            <a:endParaRPr lang="en-US" sz="1600" dirty="0"/>
          </a:p>
        </p:txBody>
      </p:sp>
      <p:sp>
        <p:nvSpPr>
          <p:cNvPr id="13" name="Text 11"/>
          <p:cNvSpPr/>
          <p:nvPr/>
        </p:nvSpPr>
        <p:spPr>
          <a:xfrm>
            <a:off x="804672"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Data in, trusted.</a:t>
            </a:r>
            <a:endParaRPr lang="en-US" sz="1100" dirty="0"/>
          </a:p>
        </p:txBody>
      </p:sp>
      <p:sp>
        <p:nvSpPr>
          <p:cNvPr id="14" name="Text 12"/>
          <p:cNvSpPr/>
          <p:nvPr/>
        </p:nvSpPr>
        <p:spPr>
          <a:xfrm>
            <a:off x="822960"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Pipeline and transformation foundation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Programmatic connectors and APIs</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 quality across the L0 to L4 lifecycle</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Standard and supplier specific factor datasets</a:t>
            </a:r>
            <a:endParaRPr lang="en-US" sz="1100" dirty="0"/>
          </a:p>
        </p:txBody>
      </p:sp>
      <p:sp>
        <p:nvSpPr>
          <p:cNvPr id="15" name="Shape 13"/>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6" name="Shape 14"/>
          <p:cNvSpPr/>
          <p:nvPr/>
        </p:nvSpPr>
        <p:spPr>
          <a:xfrm>
            <a:off x="3427400" y="2084832"/>
            <a:ext cx="2531288" cy="73152"/>
          </a:xfrm>
          <a:prstGeom prst="rect">
            <a:avLst/>
          </a:prstGeom>
          <a:solidFill>
            <a:srgbClr val="007A27"/>
          </a:solidFill>
          <a:ln w="12700">
            <a:solidFill>
              <a:srgbClr val="007A27"/>
            </a:solidFill>
            <a:prstDash val="solid"/>
          </a:ln>
        </p:spPr>
      </p:sp>
      <p:sp>
        <p:nvSpPr>
          <p:cNvPr id="17" name="Text 15"/>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GOAL 2</a:t>
            </a:r>
            <a:endParaRPr lang="en-US" sz="900" dirty="0"/>
          </a:p>
        </p:txBody>
      </p:sp>
      <p:sp>
        <p:nvSpPr>
          <p:cNvPr id="18" name="Text 16"/>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Ontology and calculation</a:t>
            </a:r>
            <a:endParaRPr lang="en-US" sz="1600" dirty="0"/>
          </a:p>
        </p:txBody>
      </p:sp>
      <p:sp>
        <p:nvSpPr>
          <p:cNvPr id="19" name="Text 17"/>
          <p:cNvSpPr/>
          <p:nvPr/>
        </p:nvSpPr>
        <p:spPr>
          <a:xfrm>
            <a:off x="3610280"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model, one engine.</a:t>
            </a:r>
            <a:endParaRPr lang="en-US" sz="1100" dirty="0"/>
          </a:p>
        </p:txBody>
      </p:sp>
      <p:sp>
        <p:nvSpPr>
          <p:cNvPr id="20" name="Text 18"/>
          <p:cNvSpPr/>
          <p:nvPr/>
        </p:nvSpPr>
        <p:spPr>
          <a:xfrm>
            <a:off x="3628568"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One ontology: typed objects, relationships, actions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Control plane for tenant governance of hierarchies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Allocations and calculation versioning</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regression testing on the engine</a:t>
            </a:r>
            <a:endParaRPr lang="en-US" sz="1100" dirty="0"/>
          </a:p>
        </p:txBody>
      </p:sp>
      <p:sp>
        <p:nvSpPr>
          <p:cNvPr id="21" name="Shape 19"/>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2" name="Shape 20"/>
          <p:cNvSpPr/>
          <p:nvPr/>
        </p:nvSpPr>
        <p:spPr>
          <a:xfrm>
            <a:off x="6233008" y="2084832"/>
            <a:ext cx="2531288" cy="73152"/>
          </a:xfrm>
          <a:prstGeom prst="rect">
            <a:avLst/>
          </a:prstGeom>
          <a:solidFill>
            <a:srgbClr val="FFB04C"/>
          </a:solidFill>
          <a:ln w="12700">
            <a:solidFill>
              <a:srgbClr val="FFB04C"/>
            </a:solidFill>
            <a:prstDash val="solid"/>
          </a:ln>
        </p:spPr>
      </p:sp>
      <p:sp>
        <p:nvSpPr>
          <p:cNvPr id="23" name="Text 21"/>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GOAL 3</a:t>
            </a:r>
            <a:endParaRPr lang="en-US" sz="900" dirty="0"/>
          </a:p>
        </p:txBody>
      </p:sp>
      <p:sp>
        <p:nvSpPr>
          <p:cNvPr id="24" name="Text 22"/>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Application and analytics</a:t>
            </a:r>
            <a:endParaRPr lang="en-US" sz="1600" dirty="0"/>
          </a:p>
        </p:txBody>
      </p:sp>
      <p:sp>
        <p:nvSpPr>
          <p:cNvPr id="25" name="Text 23"/>
          <p:cNvSpPr/>
          <p:nvPr/>
        </p:nvSpPr>
        <p:spPr>
          <a:xfrm>
            <a:off x="6415888"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One experience.</a:t>
            </a:r>
            <a:endParaRPr lang="en-US" sz="1100" dirty="0"/>
          </a:p>
        </p:txBody>
      </p:sp>
      <p:sp>
        <p:nvSpPr>
          <p:cNvPr id="26" name="Text 24"/>
          <p:cNvSpPr/>
          <p:nvPr/>
        </p:nvSpPr>
        <p:spPr>
          <a:xfrm>
            <a:off x="6434176"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Unified application experience and product switcher</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Reusable analytics and query infrastructure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contextual intelligence across products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Multi level approval and audit trail</a:t>
            </a:r>
            <a:endParaRPr lang="en-US" sz="1100" dirty="0"/>
          </a:p>
        </p:txBody>
      </p:sp>
      <p:sp>
        <p:nvSpPr>
          <p:cNvPr id="27" name="Shape 25"/>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8" name="Shape 26"/>
          <p:cNvSpPr/>
          <p:nvPr/>
        </p:nvSpPr>
        <p:spPr>
          <a:xfrm>
            <a:off x="9038615" y="2084832"/>
            <a:ext cx="2531288" cy="73152"/>
          </a:xfrm>
          <a:prstGeom prst="rect">
            <a:avLst/>
          </a:prstGeom>
          <a:solidFill>
            <a:srgbClr val="275B7F"/>
          </a:solidFill>
          <a:ln w="12700">
            <a:solidFill>
              <a:srgbClr val="275B7F"/>
            </a:solidFill>
            <a:prstDash val="solid"/>
          </a:ln>
        </p:spPr>
      </p:sp>
      <p:sp>
        <p:nvSpPr>
          <p:cNvPr id="29" name="Text 27"/>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GOAL 4</a:t>
            </a:r>
            <a:endParaRPr lang="en-US" sz="900" dirty="0"/>
          </a:p>
        </p:txBody>
      </p:sp>
      <p:sp>
        <p:nvSpPr>
          <p:cNvPr id="30" name="Text 28"/>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Trust and reach</a:t>
            </a:r>
            <a:endParaRPr lang="en-US" sz="1600" dirty="0"/>
          </a:p>
        </p:txBody>
      </p:sp>
      <p:sp>
        <p:nvSpPr>
          <p:cNvPr id="31" name="Text 29"/>
          <p:cNvSpPr/>
          <p:nvPr/>
        </p:nvSpPr>
        <p:spPr>
          <a:xfrm>
            <a:off x="9221495" y="3044952"/>
            <a:ext cx="2165528" cy="64008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Enterprise ready.</a:t>
            </a:r>
            <a:endParaRPr lang="en-US" sz="1100" dirty="0"/>
          </a:p>
        </p:txBody>
      </p:sp>
      <p:sp>
        <p:nvSpPr>
          <p:cNvPr id="32" name="Text 30"/>
          <p:cNvSpPr/>
          <p:nvPr/>
        </p:nvSpPr>
        <p:spPr>
          <a:xfrm>
            <a:off x="9239783" y="3776472"/>
            <a:ext cx="2165528" cy="226771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EU hosting and data residency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Languages and localisation</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Role based access and segregation of duties</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Performance at enterprise data volumes</a:t>
            </a:r>
            <a:endParaRPr lang="en-US" sz="11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869948"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540764"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CORE PLATFORM</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What core unblocks in each product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Core is judged on what the products can ship because of it.</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2531288" cy="73152"/>
          </a:xfrm>
          <a:prstGeom prst="rect">
            <a:avLst/>
          </a:prstGeom>
          <a:solidFill>
            <a:srgbClr val="3DCD58"/>
          </a:solidFill>
          <a:ln w="12700">
            <a:solidFill>
              <a:srgbClr val="3DCD58"/>
            </a:solidFill>
            <a:prstDash val="solid"/>
          </a:ln>
        </p:spPr>
      </p:sp>
      <p:sp>
        <p:nvSpPr>
          <p:cNvPr id="11" name="Text 9"/>
          <p:cNvSpPr/>
          <p:nvPr/>
        </p:nvSpPr>
        <p:spPr>
          <a:xfrm>
            <a:off x="822960" y="2286000"/>
            <a:ext cx="2165528" cy="210312"/>
          </a:xfrm>
          <a:prstGeom prst="rect">
            <a:avLst/>
          </a:prstGeom>
          <a:noFill/>
          <a:ln/>
        </p:spPr>
        <p:txBody>
          <a:bodyPr wrap="square" lIns="0" tIns="0" rIns="0" bIns="0" rtlCol="0" anchor="ctr"/>
          <a:lstStyle/>
          <a:p>
            <a:pPr indent="0" marL="0">
              <a:buNone/>
            </a:pPr>
            <a:r>
              <a:rPr lang="en-US" sz="900" b="1" spc="120" kern="0" dirty="0">
                <a:solidFill>
                  <a:srgbClr val="3DCD58"/>
                </a:solidFill>
                <a:latin typeface="Calibri" pitchFamily="34" charset="0"/>
                <a:ea typeface="Calibri" pitchFamily="34" charset="-122"/>
                <a:cs typeface="Calibri" pitchFamily="34" charset="-120"/>
              </a:rPr>
              <a:t>CARBON PERFORMANCE</a:t>
            </a:r>
            <a:endParaRPr lang="en-US" sz="900" dirty="0"/>
          </a:p>
        </p:txBody>
      </p:sp>
      <p:sp>
        <p:nvSpPr>
          <p:cNvPr id="12" name="Text 10"/>
          <p:cNvSpPr/>
          <p:nvPr/>
        </p:nvSpPr>
        <p:spPr>
          <a:xfrm>
            <a:off x="822960"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Depth and defensibility</a:t>
            </a:r>
            <a:endParaRPr lang="en-US" sz="1600" dirty="0"/>
          </a:p>
        </p:txBody>
      </p:sp>
      <p:sp>
        <p:nvSpPr>
          <p:cNvPr id="13" name="Text 11"/>
          <p:cNvSpPr/>
          <p:nvPr/>
        </p:nvSpPr>
        <p:spPr>
          <a:xfrm>
            <a:off x="822960"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Automated data quality checks on activity data</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Calculation governance and versioning</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Allocations foundation</a:t>
            </a:r>
            <a:endParaRPr lang="en-US" sz="1100" dirty="0"/>
          </a:p>
          <a:p>
            <a:pPr indent="0" marL="0">
              <a:lnSpc>
                <a:spcPct val="118000"/>
              </a:lnSpc>
              <a:spcAft>
                <a:spcPts val="3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Audit trail on every inventory value</a:t>
            </a:r>
            <a:endParaRPr lang="en-US" sz="1100" dirty="0"/>
          </a:p>
        </p:txBody>
      </p:sp>
      <p:sp>
        <p:nvSpPr>
          <p:cNvPr id="14" name="Shape 12"/>
          <p:cNvSpPr/>
          <p:nvPr/>
        </p:nvSpPr>
        <p:spPr>
          <a:xfrm>
            <a:off x="3427400"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5" name="Shape 13"/>
          <p:cNvSpPr/>
          <p:nvPr/>
        </p:nvSpPr>
        <p:spPr>
          <a:xfrm>
            <a:off x="3427400" y="2084832"/>
            <a:ext cx="2531288" cy="73152"/>
          </a:xfrm>
          <a:prstGeom prst="rect">
            <a:avLst/>
          </a:prstGeom>
          <a:solidFill>
            <a:srgbClr val="007A27"/>
          </a:solidFill>
          <a:ln w="12700">
            <a:solidFill>
              <a:srgbClr val="007A27"/>
            </a:solidFill>
            <a:prstDash val="solid"/>
          </a:ln>
        </p:spPr>
      </p:sp>
      <p:sp>
        <p:nvSpPr>
          <p:cNvPr id="16" name="Text 14"/>
          <p:cNvSpPr/>
          <p:nvPr/>
        </p:nvSpPr>
        <p:spPr>
          <a:xfrm>
            <a:off x="3628568" y="2286000"/>
            <a:ext cx="2165528" cy="210312"/>
          </a:xfrm>
          <a:prstGeom prst="rect">
            <a:avLst/>
          </a:prstGeom>
          <a:noFill/>
          <a:ln/>
        </p:spPr>
        <p:txBody>
          <a:bodyPr wrap="square" lIns="0" tIns="0" rIns="0" bIns="0" rtlCol="0" anchor="ctr"/>
          <a:lstStyle/>
          <a:p>
            <a:pPr indent="0" marL="0">
              <a:buNone/>
            </a:pPr>
            <a:r>
              <a:rPr lang="en-US" sz="900" b="1" spc="120" kern="0" dirty="0">
                <a:solidFill>
                  <a:srgbClr val="007A27"/>
                </a:solidFill>
                <a:latin typeface="Calibri" pitchFamily="34" charset="0"/>
                <a:ea typeface="Calibri" pitchFamily="34" charset="-122"/>
                <a:cs typeface="Calibri" pitchFamily="34" charset="-120"/>
              </a:rPr>
              <a:t>SUPPLY CHAIN</a:t>
            </a:r>
            <a:endParaRPr lang="en-US" sz="900" dirty="0"/>
          </a:p>
        </p:txBody>
      </p:sp>
      <p:sp>
        <p:nvSpPr>
          <p:cNvPr id="17" name="Text 15"/>
          <p:cNvSpPr/>
          <p:nvPr/>
        </p:nvSpPr>
        <p:spPr>
          <a:xfrm>
            <a:off x="3628568"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Scale of engagement</a:t>
            </a:r>
            <a:endParaRPr lang="en-US" sz="1600" dirty="0"/>
          </a:p>
        </p:txBody>
      </p:sp>
      <p:sp>
        <p:nvSpPr>
          <p:cNvPr id="18" name="Text 16"/>
          <p:cNvSpPr/>
          <p:nvPr/>
        </p:nvSpPr>
        <p:spPr>
          <a:xfrm>
            <a:off x="3628568"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navigation, layouts and database</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Supplier specific factor datasets</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Languages and localisation</a:t>
            </a:r>
            <a:endParaRPr lang="en-US" sz="1100" dirty="0"/>
          </a:p>
          <a:p>
            <a:pPr indent="0" marL="0">
              <a:lnSpc>
                <a:spcPct val="118000"/>
              </a:lnSpc>
              <a:spcAft>
                <a:spcPts val="300"/>
              </a:spcAft>
              <a:buNone/>
            </a:pPr>
            <a:r>
              <a:rPr lang="en-US" sz="1100" b="1" dirty="0">
                <a:solidFill>
                  <a:srgbClr val="007A27"/>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Cross product validation against CP inventories</a:t>
            </a:r>
            <a:endParaRPr lang="en-US" sz="1100" dirty="0"/>
          </a:p>
        </p:txBody>
      </p:sp>
      <p:sp>
        <p:nvSpPr>
          <p:cNvPr id="19" name="Shape 17"/>
          <p:cNvSpPr/>
          <p:nvPr/>
        </p:nvSpPr>
        <p:spPr>
          <a:xfrm>
            <a:off x="6233008"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0" name="Shape 18"/>
          <p:cNvSpPr/>
          <p:nvPr/>
        </p:nvSpPr>
        <p:spPr>
          <a:xfrm>
            <a:off x="6233008" y="2084832"/>
            <a:ext cx="2531288" cy="73152"/>
          </a:xfrm>
          <a:prstGeom prst="rect">
            <a:avLst/>
          </a:prstGeom>
          <a:solidFill>
            <a:srgbClr val="FFB04C"/>
          </a:solidFill>
          <a:ln w="12700">
            <a:solidFill>
              <a:srgbClr val="FFB04C"/>
            </a:solidFill>
            <a:prstDash val="solid"/>
          </a:ln>
        </p:spPr>
      </p:sp>
      <p:sp>
        <p:nvSpPr>
          <p:cNvPr id="21" name="Text 19"/>
          <p:cNvSpPr/>
          <p:nvPr/>
        </p:nvSpPr>
        <p:spPr>
          <a:xfrm>
            <a:off x="6434176" y="2286000"/>
            <a:ext cx="2165528" cy="210312"/>
          </a:xfrm>
          <a:prstGeom prst="rect">
            <a:avLst/>
          </a:prstGeom>
          <a:noFill/>
          <a:ln/>
        </p:spPr>
        <p:txBody>
          <a:bodyPr wrap="square" lIns="0" tIns="0" rIns="0" bIns="0" rtlCol="0" anchor="ctr"/>
          <a:lstStyle/>
          <a:p>
            <a:pPr indent="0" marL="0">
              <a:buNone/>
            </a:pPr>
            <a:r>
              <a:rPr lang="en-US" sz="900" b="1" spc="120" kern="0" dirty="0">
                <a:solidFill>
                  <a:srgbClr val="FFB04C"/>
                </a:solidFill>
                <a:latin typeface="Calibri" pitchFamily="34" charset="0"/>
                <a:ea typeface="Calibri" pitchFamily="34" charset="-122"/>
                <a:cs typeface="Calibri" pitchFamily="34" charset="-120"/>
              </a:rPr>
              <a:t>REPORTING</a:t>
            </a:r>
            <a:endParaRPr lang="en-US" sz="900" dirty="0"/>
          </a:p>
        </p:txBody>
      </p:sp>
      <p:sp>
        <p:nvSpPr>
          <p:cNvPr id="22" name="Text 20"/>
          <p:cNvSpPr/>
          <p:nvPr/>
        </p:nvSpPr>
        <p:spPr>
          <a:xfrm>
            <a:off x="6434176"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Launch prerequisites</a:t>
            </a:r>
            <a:endParaRPr lang="en-US" sz="1600" dirty="0"/>
          </a:p>
        </p:txBody>
      </p:sp>
      <p:sp>
        <p:nvSpPr>
          <p:cNvPr id="23" name="Text 21"/>
          <p:cNvSpPr/>
          <p:nvPr/>
        </p:nvSpPr>
        <p:spPr>
          <a:xfrm>
            <a:off x="6434176"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Dataset registry and column mapping</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Formula and transform engine</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Flexible approval hierarchies</a:t>
            </a:r>
            <a:endParaRPr lang="en-US" sz="1100" dirty="0"/>
          </a:p>
          <a:p>
            <a:pPr indent="0" marL="0">
              <a:lnSpc>
                <a:spcPct val="118000"/>
              </a:lnSpc>
              <a:spcAft>
                <a:spcPts val="300"/>
              </a:spcAft>
              <a:buNone/>
            </a:pPr>
            <a:r>
              <a:rPr lang="en-US" sz="1100" b="1" dirty="0">
                <a:solidFill>
                  <a:srgbClr val="FFB04C"/>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Lineage from source to disclosure field</a:t>
            </a:r>
            <a:endParaRPr lang="en-US" sz="1100" dirty="0"/>
          </a:p>
        </p:txBody>
      </p:sp>
      <p:sp>
        <p:nvSpPr>
          <p:cNvPr id="24" name="Shape 22"/>
          <p:cNvSpPr/>
          <p:nvPr/>
        </p:nvSpPr>
        <p:spPr>
          <a:xfrm>
            <a:off x="9038615" y="2084832"/>
            <a:ext cx="2531288" cy="4178808"/>
          </a:xfrm>
          <a:prstGeom prst="roundRect">
            <a:avLst>
              <a:gd name="adj" fmla="val 2167"/>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5" name="Shape 23"/>
          <p:cNvSpPr/>
          <p:nvPr/>
        </p:nvSpPr>
        <p:spPr>
          <a:xfrm>
            <a:off x="9038615" y="2084832"/>
            <a:ext cx="2531288" cy="73152"/>
          </a:xfrm>
          <a:prstGeom prst="rect">
            <a:avLst/>
          </a:prstGeom>
          <a:solidFill>
            <a:srgbClr val="275B7F"/>
          </a:solidFill>
          <a:ln w="12700">
            <a:solidFill>
              <a:srgbClr val="275B7F"/>
            </a:solidFill>
            <a:prstDash val="solid"/>
          </a:ln>
        </p:spPr>
      </p:sp>
      <p:sp>
        <p:nvSpPr>
          <p:cNvPr id="26" name="Text 24"/>
          <p:cNvSpPr/>
          <p:nvPr/>
        </p:nvSpPr>
        <p:spPr>
          <a:xfrm>
            <a:off x="9239783" y="2286000"/>
            <a:ext cx="2165528" cy="210312"/>
          </a:xfrm>
          <a:prstGeom prst="rect">
            <a:avLst/>
          </a:prstGeom>
          <a:noFill/>
          <a:ln/>
        </p:spPr>
        <p:txBody>
          <a:bodyPr wrap="square" lIns="0" tIns="0" rIns="0" bIns="0" rtlCol="0" anchor="ctr"/>
          <a:lstStyle/>
          <a:p>
            <a:pPr indent="0" marL="0">
              <a:buNone/>
            </a:pPr>
            <a:r>
              <a:rPr lang="en-US" sz="900" b="1" spc="120" kern="0" dirty="0">
                <a:solidFill>
                  <a:srgbClr val="275B7F"/>
                </a:solidFill>
                <a:latin typeface="Calibri" pitchFamily="34" charset="0"/>
                <a:ea typeface="Calibri" pitchFamily="34" charset="-122"/>
                <a:cs typeface="Calibri" pitchFamily="34" charset="-120"/>
              </a:rPr>
              <a:t>RISK AND STRATEGY</a:t>
            </a:r>
            <a:endParaRPr lang="en-US" sz="900" dirty="0"/>
          </a:p>
        </p:txBody>
      </p:sp>
      <p:sp>
        <p:nvSpPr>
          <p:cNvPr id="27" name="Text 25"/>
          <p:cNvSpPr/>
          <p:nvPr/>
        </p:nvSpPr>
        <p:spPr>
          <a:xfrm>
            <a:off x="9239783" y="2569464"/>
            <a:ext cx="2165528" cy="502920"/>
          </a:xfrm>
          <a:prstGeom prst="rect">
            <a:avLst/>
          </a:prstGeom>
          <a:noFill/>
          <a:ln/>
        </p:spPr>
        <p:txBody>
          <a:bodyPr wrap="square" lIns="0" tIns="0" rIns="0" bIns="0" rtlCol="0" anchor="t">
            <a:normAutofit/>
          </a:bodyPr>
          <a:lstStyle/>
          <a:p>
            <a:pPr indent="0" marL="0">
              <a:buNone/>
            </a:pPr>
            <a:r>
              <a:rPr lang="en-US" sz="1600" b="1" dirty="0">
                <a:solidFill>
                  <a:srgbClr val="1E2420"/>
                </a:solidFill>
                <a:latin typeface="Calibri" pitchFamily="34" charset="0"/>
                <a:ea typeface="Calibri" pitchFamily="34" charset="-122"/>
                <a:cs typeface="Calibri" pitchFamily="34" charset="-120"/>
              </a:rPr>
              <a:t>Model and planning</a:t>
            </a:r>
            <a:endParaRPr lang="en-US" sz="1600" dirty="0"/>
          </a:p>
        </p:txBody>
      </p:sp>
      <p:sp>
        <p:nvSpPr>
          <p:cNvPr id="28" name="Text 26"/>
          <p:cNvSpPr/>
          <p:nvPr/>
        </p:nvSpPr>
        <p:spPr>
          <a:xfrm>
            <a:off x="9239783" y="3044952"/>
            <a:ext cx="2165528" cy="2999232"/>
          </a:xfrm>
          <a:prstGeom prst="rect">
            <a:avLst/>
          </a:prstGeom>
          <a:noFill/>
          <a:ln/>
        </p:spPr>
        <p:txBody>
          <a:bodyPr wrap="square" lIns="0" tIns="0" rIns="0" bIns="0" rtlCol="0" anchor="t">
            <a:normAutofit/>
          </a:bodyPr>
          <a:lstStyle/>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Shared entity and asset hierarchy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Reusable analytics and query infrastructure</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Sera agents on the shared ontology</a:t>
            </a:r>
            <a:endParaRPr lang="en-US" sz="1100" dirty="0"/>
          </a:p>
          <a:p>
            <a:pPr indent="0" marL="0">
              <a:lnSpc>
                <a:spcPct val="118000"/>
              </a:lnSpc>
              <a:spcAft>
                <a:spcPts val="300"/>
              </a:spcAft>
              <a:buNone/>
            </a:pPr>
            <a:r>
              <a:rPr lang="en-US" sz="1100" b="1" dirty="0">
                <a:solidFill>
                  <a:srgbClr val="275B7F"/>
                </a:solidFill>
                <a:latin typeface="Calibri" pitchFamily="34" charset="0"/>
                <a:ea typeface="Calibri" pitchFamily="34" charset="-122"/>
                <a:cs typeface="Calibri" pitchFamily="34" charset="-120"/>
              </a:rPr>
              <a:t>▪ </a:t>
            </a:r>
            <a:pPr indent="0" marL="0">
              <a:lnSpc>
                <a:spcPct val="118000"/>
              </a:lnSpc>
              <a:spcAft>
                <a:spcPts val="300"/>
              </a:spcAft>
              <a:buNone/>
            </a:pPr>
            <a:r>
              <a:rPr lang="en-US" sz="1100" dirty="0">
                <a:solidFill>
                  <a:srgbClr val="3A423C"/>
                </a:solidFill>
                <a:latin typeface="Calibri" pitchFamily="34" charset="0"/>
                <a:ea typeface="Calibri" pitchFamily="34" charset="-122"/>
                <a:cs typeface="Calibri" pitchFamily="34" charset="-120"/>
              </a:rPr>
              <a:t>Performance at portfolio data volumes</a:t>
            </a:r>
            <a:endParaRPr lang="en-US" sz="1100" dirty="0"/>
          </a:p>
        </p:txBody>
      </p:sp>
      <p:sp>
        <p:nvSpPr>
          <p:cNvPr id="29" name="Shape 27"/>
          <p:cNvSpPr/>
          <p:nvPr/>
        </p:nvSpPr>
        <p:spPr>
          <a:xfrm>
            <a:off x="621792" y="6437376"/>
            <a:ext cx="10948111" cy="0"/>
          </a:xfrm>
          <a:prstGeom prst="line">
            <a:avLst/>
          </a:prstGeom>
          <a:noFill/>
          <a:ln w="9525">
            <a:solidFill>
              <a:srgbClr val="E2E6E2"/>
            </a:solidFill>
            <a:prstDash val="solid"/>
          </a:ln>
        </p:spPr>
      </p:sp>
      <p:sp>
        <p:nvSpPr>
          <p:cNvPr id="30" name="Text 28"/>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1" name="Text 29"/>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05730"/>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8641080" y="822960"/>
            <a:ext cx="0" cy="5212080"/>
          </a:xfrm>
          <a:prstGeom prst="line">
            <a:avLst/>
          </a:prstGeom>
          <a:noFill/>
          <a:ln w="12700">
            <a:solidFill>
              <a:srgbClr val="2C8058"/>
            </a:solidFill>
            <a:prstDash val="solid"/>
          </a:ln>
        </p:spPr>
      </p:sp>
      <p:sp>
        <p:nvSpPr>
          <p:cNvPr id="5" name="Text 3"/>
          <p:cNvSpPr/>
          <p:nvPr/>
        </p:nvSpPr>
        <p:spPr>
          <a:xfrm>
            <a:off x="9144000" y="841248"/>
            <a:ext cx="2194560" cy="228600"/>
          </a:xfrm>
          <a:prstGeom prst="rect">
            <a:avLst/>
          </a:prstGeom>
          <a:noFill/>
          <a:ln/>
        </p:spPr>
        <p:txBody>
          <a:bodyPr wrap="square" lIns="0" tIns="0" rIns="0" bIns="0" rtlCol="0" anchor="ctr"/>
          <a:lstStyle/>
          <a:p>
            <a:pPr indent="0" marL="0">
              <a:buNone/>
            </a:pPr>
            <a:r>
              <a:rPr lang="en-US" sz="900" b="1" spc="180" kern="0" dirty="0">
                <a:solidFill>
                  <a:srgbClr val="BFE6CE"/>
                </a:solidFill>
                <a:latin typeface="Calibri" pitchFamily="34" charset="0"/>
                <a:ea typeface="Calibri" pitchFamily="34" charset="-122"/>
                <a:cs typeface="Calibri" pitchFamily="34" charset="-120"/>
              </a:rPr>
              <a:t>RA+ ROADMAP</a:t>
            </a:r>
            <a:endParaRPr lang="en-US" sz="900" dirty="0"/>
          </a:p>
        </p:txBody>
      </p:sp>
      <p:sp>
        <p:nvSpPr>
          <p:cNvPr id="6" name="Text 4"/>
          <p:cNvSpPr/>
          <p:nvPr/>
        </p:nvSpPr>
        <p:spPr>
          <a:xfrm>
            <a:off x="9144000" y="1325880"/>
            <a:ext cx="219456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libri" pitchFamily="34" charset="0"/>
                <a:ea typeface="Calibri" pitchFamily="34" charset="-122"/>
                <a:cs typeface="Calibri" pitchFamily="34" charset="-120"/>
              </a:rPr>
              <a:t>2026</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2027</a:t>
            </a:r>
            <a:endParaRPr lang="en-US" sz="3600" dirty="0"/>
          </a:p>
        </p:txBody>
      </p:sp>
      <p:sp>
        <p:nvSpPr>
          <p:cNvPr id="7" name="Text 5"/>
          <p:cNvSpPr/>
          <p:nvPr/>
        </p:nvSpPr>
        <p:spPr>
          <a:xfrm>
            <a:off x="621792" y="960120"/>
            <a:ext cx="7132320" cy="274320"/>
          </a:xfrm>
          <a:prstGeom prst="rect">
            <a:avLst/>
          </a:prstGeom>
          <a:noFill/>
          <a:ln/>
        </p:spPr>
        <p:txBody>
          <a:bodyPr wrap="square" lIns="0" tIns="0" rIns="0" bIns="0" rtlCol="0" anchor="ctr"/>
          <a:lstStyle/>
          <a:p>
            <a:pPr indent="0" marL="0">
              <a:buNone/>
            </a:pPr>
            <a:r>
              <a:rPr lang="en-US" sz="1100" b="1" spc="220" kern="0" dirty="0">
                <a:solidFill>
                  <a:srgbClr val="BFE6CE"/>
                </a:solidFill>
                <a:latin typeface="Calibri" pitchFamily="34" charset="0"/>
                <a:ea typeface="Calibri" pitchFamily="34" charset="-122"/>
                <a:cs typeface="Calibri" pitchFamily="34" charset="-120"/>
              </a:rPr>
              <a:t>AGENDA ITEM 5</a:t>
            </a:r>
            <a:endParaRPr lang="en-US" sz="1100" dirty="0"/>
          </a:p>
        </p:txBody>
      </p:sp>
      <p:sp>
        <p:nvSpPr>
          <p:cNvPr id="8" name="Text 6"/>
          <p:cNvSpPr/>
          <p:nvPr/>
        </p:nvSpPr>
        <p:spPr>
          <a:xfrm>
            <a:off x="621792" y="1508760"/>
            <a:ext cx="1920240" cy="914400"/>
          </a:xfrm>
          <a:prstGeom prst="rect">
            <a:avLst/>
          </a:prstGeom>
          <a:noFill/>
          <a:ln/>
        </p:spPr>
        <p:txBody>
          <a:bodyPr wrap="square" lIns="0" tIns="0" rIns="0" bIns="0" rtlCol="0" anchor="ctr"/>
          <a:lstStyle/>
          <a:p>
            <a:pPr indent="0" marL="0">
              <a:buNone/>
            </a:pPr>
            <a:r>
              <a:rPr lang="en-US" sz="5800" b="1" dirty="0">
                <a:solidFill>
                  <a:srgbClr val="3DCD58"/>
                </a:solidFill>
                <a:latin typeface="Calibri" pitchFamily="34" charset="0"/>
                <a:ea typeface="Calibri" pitchFamily="34" charset="-122"/>
                <a:cs typeface="Calibri" pitchFamily="34" charset="-120"/>
              </a:rPr>
              <a:t>05</a:t>
            </a:r>
            <a:endParaRPr lang="en-US" sz="5800" dirty="0"/>
          </a:p>
        </p:txBody>
      </p:sp>
      <p:sp>
        <p:nvSpPr>
          <p:cNvPr id="9" name="Text 7"/>
          <p:cNvSpPr/>
          <p:nvPr/>
        </p:nvSpPr>
        <p:spPr>
          <a:xfrm>
            <a:off x="621792" y="2606040"/>
            <a:ext cx="7406640" cy="114300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libri" pitchFamily="34" charset="0"/>
                <a:ea typeface="Calibri" pitchFamily="34" charset="-122"/>
                <a:cs typeface="Calibri" pitchFamily="34" charset="-120"/>
              </a:rPr>
              <a:t>2027 direction</a:t>
            </a:r>
            <a:endParaRPr lang="en-US" sz="3200" dirty="0"/>
          </a:p>
        </p:txBody>
      </p:sp>
      <p:sp>
        <p:nvSpPr>
          <p:cNvPr id="10" name="Text 8"/>
          <p:cNvSpPr/>
          <p:nvPr/>
        </p:nvSpPr>
        <p:spPr>
          <a:xfrm>
            <a:off x="621792" y="4005072"/>
            <a:ext cx="7040880" cy="658368"/>
          </a:xfrm>
          <a:prstGeom prst="rect">
            <a:avLst/>
          </a:prstGeom>
          <a:noFill/>
          <a:ln/>
        </p:spPr>
        <p:txBody>
          <a:bodyPr wrap="square" lIns="0" tIns="0" rIns="0" bIns="0" rtlCol="0" anchor="t">
            <a:normAutofit/>
          </a:bodyPr>
          <a:lstStyle/>
          <a:p>
            <a:pPr indent="0" marL="0">
              <a:buNone/>
            </a:pPr>
            <a:r>
              <a:rPr lang="en-US" sz="1400" dirty="0">
                <a:solidFill>
                  <a:srgbClr val="D6EADF"/>
                </a:solidFill>
                <a:latin typeface="Calibri" pitchFamily="34" charset="0"/>
                <a:ea typeface="Calibri" pitchFamily="34" charset="-122"/>
                <a:cs typeface="Calibri" pitchFamily="34" charset="-120"/>
              </a:rPr>
              <a:t>Three bets that turn a compliant inventory into a differentiated platform.</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08026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75107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SEQUENCING</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How 2027 lays out: H1</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First half shape of the 2027 bets, based on current theme ranks.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5346040" cy="713232"/>
          </a:xfrm>
          <a:prstGeom prst="rect">
            <a:avLst/>
          </a:prstGeom>
          <a:solidFill>
            <a:srgbClr val="EAF8ED"/>
          </a:solidFill>
          <a:ln w="12700">
            <a:solidFill>
              <a:srgbClr val="EAF8ED"/>
            </a:solidFill>
            <a:prstDash val="solid"/>
          </a:ln>
        </p:spPr>
      </p:sp>
      <p:sp>
        <p:nvSpPr>
          <p:cNvPr id="11" name="Shape 9"/>
          <p:cNvSpPr/>
          <p:nvPr/>
        </p:nvSpPr>
        <p:spPr>
          <a:xfrm>
            <a:off x="621792" y="2084832"/>
            <a:ext cx="54864" cy="4178808"/>
          </a:xfrm>
          <a:prstGeom prst="rect">
            <a:avLst/>
          </a:prstGeom>
          <a:solidFill>
            <a:srgbClr val="3DCD58"/>
          </a:solidFill>
          <a:ln w="12700">
            <a:solidFill>
              <a:srgbClr val="3DCD58"/>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3DCD58"/>
                </a:solidFill>
                <a:latin typeface="Calibri" pitchFamily="34" charset="0"/>
                <a:ea typeface="Calibri" pitchFamily="34" charset="-122"/>
                <a:cs typeface="Calibri" pitchFamily="34" charset="-120"/>
              </a:rPr>
              <a:t>H1 2027</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Complete the categories</a:t>
            </a:r>
            <a:endParaRPr lang="en-US" sz="1400" dirty="0"/>
          </a:p>
        </p:txBody>
      </p:sp>
      <p:sp>
        <p:nvSpPr>
          <p:cNvPr id="14" name="Shape 12"/>
          <p:cNvSpPr/>
          <p:nvPr/>
        </p:nvSpPr>
        <p:spPr>
          <a:xfrm>
            <a:off x="758952" y="2953512"/>
            <a:ext cx="5071720" cy="713232"/>
          </a:xfrm>
          <a:prstGeom prst="roundRect">
            <a:avLst>
              <a:gd name="adj" fmla="val 3846"/>
            </a:avLst>
          </a:prstGeom>
          <a:solidFill>
            <a:srgbClr val="F7F8F7"/>
          </a:solidFill>
          <a:ln w="5080">
            <a:solidFill>
              <a:srgbClr val="F7F8F7"/>
            </a:solidFill>
            <a:prstDash val="solid"/>
          </a:ln>
        </p:spPr>
      </p:sp>
      <p:sp>
        <p:nvSpPr>
          <p:cNvPr id="15" name="Text 13"/>
          <p:cNvSpPr/>
          <p:nvPr/>
        </p:nvSpPr>
        <p:spPr>
          <a:xfrm>
            <a:off x="822960"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Category 4 and 9 product linked transport</a:t>
            </a:r>
            <a:endParaRPr lang="en-US" sz="950" dirty="0"/>
          </a:p>
          <a:p>
            <a:pPr indent="0" marL="0">
              <a:lnSpc>
                <a:spcPct val="95000"/>
              </a:lnSpc>
              <a:buNone/>
            </a:pPr>
            <a:r>
              <a:rPr lang="en-US" sz="800" dirty="0">
                <a:solidFill>
                  <a:srgbClr val="5A625C"/>
                </a:solidFill>
                <a:latin typeface="Calibri" pitchFamily="34" charset="0"/>
                <a:ea typeface="Calibri" pitchFamily="34" charset="-122"/>
                <a:cs typeface="Calibri" pitchFamily="34" charset="-120"/>
              </a:rPr>
              <a:t>Upstream and downstream transport</a:t>
            </a:r>
            <a:endParaRPr lang="en-US" sz="950" dirty="0"/>
          </a:p>
        </p:txBody>
      </p:sp>
      <p:sp>
        <p:nvSpPr>
          <p:cNvPr id="16" name="Shape 14"/>
          <p:cNvSpPr/>
          <p:nvPr/>
        </p:nvSpPr>
        <p:spPr>
          <a:xfrm>
            <a:off x="758952" y="3739896"/>
            <a:ext cx="5071720" cy="713232"/>
          </a:xfrm>
          <a:prstGeom prst="roundRect">
            <a:avLst>
              <a:gd name="adj" fmla="val 3846"/>
            </a:avLst>
          </a:prstGeom>
          <a:solidFill>
            <a:srgbClr val="F7F8F7"/>
          </a:solidFill>
          <a:ln w="5080">
            <a:solidFill>
              <a:srgbClr val="F7F8F7"/>
            </a:solidFill>
            <a:prstDash val="solid"/>
          </a:ln>
        </p:spPr>
      </p:sp>
      <p:sp>
        <p:nvSpPr>
          <p:cNvPr id="17" name="Text 15"/>
          <p:cNvSpPr/>
          <p:nvPr/>
        </p:nvSpPr>
        <p:spPr>
          <a:xfrm>
            <a:off x="822960"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Waste emission estimation, category 5</a:t>
            </a:r>
            <a:endParaRPr lang="en-US" sz="950" dirty="0"/>
          </a:p>
        </p:txBody>
      </p:sp>
      <p:sp>
        <p:nvSpPr>
          <p:cNvPr id="18" name="Shape 16"/>
          <p:cNvSpPr/>
          <p:nvPr/>
        </p:nvSpPr>
        <p:spPr>
          <a:xfrm>
            <a:off x="758952" y="4526280"/>
            <a:ext cx="5071720" cy="713232"/>
          </a:xfrm>
          <a:prstGeom prst="roundRect">
            <a:avLst>
              <a:gd name="adj" fmla="val 3846"/>
            </a:avLst>
          </a:prstGeom>
          <a:solidFill>
            <a:srgbClr val="F7F8F7"/>
          </a:solidFill>
          <a:ln w="5080">
            <a:solidFill>
              <a:srgbClr val="F7F8F7"/>
            </a:solidFill>
            <a:prstDash val="solid"/>
          </a:ln>
        </p:spPr>
      </p:sp>
      <p:sp>
        <p:nvSpPr>
          <p:cNvPr id="19" name="Text 17"/>
          <p:cNvSpPr/>
          <p:nvPr/>
        </p:nvSpPr>
        <p:spPr>
          <a:xfrm>
            <a:off x="822960"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Enterprise GHG inventory foundations</a:t>
            </a:r>
            <a:endParaRPr lang="en-US" sz="950" dirty="0"/>
          </a:p>
        </p:txBody>
      </p:sp>
      <p:sp>
        <p:nvSpPr>
          <p:cNvPr id="20" name="Shape 18"/>
          <p:cNvSpPr/>
          <p:nvPr/>
        </p:nvSpPr>
        <p:spPr>
          <a:xfrm>
            <a:off x="758952" y="5312664"/>
            <a:ext cx="5071720" cy="713232"/>
          </a:xfrm>
          <a:prstGeom prst="roundRect">
            <a:avLst>
              <a:gd name="adj" fmla="val 3846"/>
            </a:avLst>
          </a:prstGeom>
          <a:solidFill>
            <a:srgbClr val="F7F8F7"/>
          </a:solidFill>
          <a:ln w="5080">
            <a:solidFill>
              <a:srgbClr val="F7F8F7"/>
            </a:solidFill>
            <a:prstDash val="solid"/>
          </a:ln>
        </p:spPr>
      </p:sp>
      <p:sp>
        <p:nvSpPr>
          <p:cNvPr id="21" name="Text 19"/>
          <p:cNvSpPr/>
          <p:nvPr/>
        </p:nvSpPr>
        <p:spPr>
          <a:xfrm>
            <a:off x="822960"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Financial and equity consolidation</a:t>
            </a:r>
            <a:endParaRPr lang="en-US" sz="950" dirty="0"/>
          </a:p>
        </p:txBody>
      </p:sp>
      <p:sp>
        <p:nvSpPr>
          <p:cNvPr id="22" name="Shape 20"/>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3" name="Shape 21"/>
          <p:cNvSpPr/>
          <p:nvPr/>
        </p:nvSpPr>
        <p:spPr>
          <a:xfrm>
            <a:off x="6223864" y="2084832"/>
            <a:ext cx="5346040" cy="713232"/>
          </a:xfrm>
          <a:prstGeom prst="rect">
            <a:avLst/>
          </a:prstGeom>
          <a:solidFill>
            <a:srgbClr val="EAF8ED"/>
          </a:solidFill>
          <a:ln w="12700">
            <a:solidFill>
              <a:srgbClr val="EAF8ED"/>
            </a:solidFill>
            <a:prstDash val="solid"/>
          </a:ln>
        </p:spPr>
      </p:sp>
      <p:sp>
        <p:nvSpPr>
          <p:cNvPr id="24" name="Shape 22"/>
          <p:cNvSpPr/>
          <p:nvPr/>
        </p:nvSpPr>
        <p:spPr>
          <a:xfrm>
            <a:off x="6223864" y="2084832"/>
            <a:ext cx="54864" cy="4178808"/>
          </a:xfrm>
          <a:prstGeom prst="rect">
            <a:avLst/>
          </a:prstGeom>
          <a:solidFill>
            <a:srgbClr val="007A27"/>
          </a:solidFill>
          <a:ln w="12700">
            <a:solidFill>
              <a:srgbClr val="007A27"/>
            </a:solidFill>
            <a:prstDash val="solid"/>
          </a:ln>
        </p:spPr>
      </p:sp>
      <p:sp>
        <p:nvSpPr>
          <p:cNvPr id="25" name="Text 23"/>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007A27"/>
                </a:solidFill>
                <a:latin typeface="Calibri" pitchFamily="34" charset="0"/>
                <a:ea typeface="Calibri" pitchFamily="34" charset="-122"/>
                <a:cs typeface="Calibri" pitchFamily="34" charset="-120"/>
              </a:rPr>
              <a:t>H1 2027</a:t>
            </a:r>
            <a:endParaRPr lang="en-US" sz="850" dirty="0"/>
          </a:p>
        </p:txBody>
      </p:sp>
      <p:sp>
        <p:nvSpPr>
          <p:cNvPr id="26" name="Text 24"/>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Governance and trust</a:t>
            </a:r>
            <a:endParaRPr lang="en-US" sz="1400" dirty="0"/>
          </a:p>
        </p:txBody>
      </p:sp>
      <p:sp>
        <p:nvSpPr>
          <p:cNvPr id="27" name="Shape 25"/>
          <p:cNvSpPr/>
          <p:nvPr/>
        </p:nvSpPr>
        <p:spPr>
          <a:xfrm>
            <a:off x="6361024" y="2953512"/>
            <a:ext cx="5071720" cy="713232"/>
          </a:xfrm>
          <a:prstGeom prst="roundRect">
            <a:avLst>
              <a:gd name="adj" fmla="val 3846"/>
            </a:avLst>
          </a:prstGeom>
          <a:solidFill>
            <a:srgbClr val="F7F8F7"/>
          </a:solidFill>
          <a:ln w="5080">
            <a:solidFill>
              <a:srgbClr val="F7F8F7"/>
            </a:solidFill>
            <a:prstDash val="solid"/>
          </a:ln>
        </p:spPr>
      </p:sp>
      <p:sp>
        <p:nvSpPr>
          <p:cNvPr id="28" name="Text 26"/>
          <p:cNvSpPr/>
          <p:nvPr/>
        </p:nvSpPr>
        <p:spPr>
          <a:xfrm>
            <a:off x="6425032"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Calculation governance and methodology transparency</a:t>
            </a:r>
            <a:endParaRPr lang="en-US" sz="900" dirty="0"/>
          </a:p>
        </p:txBody>
      </p:sp>
      <p:sp>
        <p:nvSpPr>
          <p:cNvPr id="29" name="Shape 27"/>
          <p:cNvSpPr/>
          <p:nvPr/>
        </p:nvSpPr>
        <p:spPr>
          <a:xfrm>
            <a:off x="6361024" y="3739896"/>
            <a:ext cx="5071720" cy="713232"/>
          </a:xfrm>
          <a:prstGeom prst="roundRect">
            <a:avLst>
              <a:gd name="adj" fmla="val 3846"/>
            </a:avLst>
          </a:prstGeom>
          <a:solidFill>
            <a:srgbClr val="F7F8F7"/>
          </a:solidFill>
          <a:ln w="5080">
            <a:solidFill>
              <a:srgbClr val="F7F8F7"/>
            </a:solidFill>
            <a:prstDash val="solid"/>
          </a:ln>
        </p:spPr>
      </p:sp>
      <p:sp>
        <p:nvSpPr>
          <p:cNvPr id="30" name="Text 28"/>
          <p:cNvSpPr/>
          <p:nvPr/>
        </p:nvSpPr>
        <p:spPr>
          <a:xfrm>
            <a:off x="6425032"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User defined custom calculation methods</a:t>
            </a:r>
            <a:endParaRPr lang="en-US" sz="950" dirty="0"/>
          </a:p>
        </p:txBody>
      </p:sp>
      <p:sp>
        <p:nvSpPr>
          <p:cNvPr id="31" name="Shape 29"/>
          <p:cNvSpPr/>
          <p:nvPr/>
        </p:nvSpPr>
        <p:spPr>
          <a:xfrm>
            <a:off x="6361024" y="4526280"/>
            <a:ext cx="5071720" cy="713232"/>
          </a:xfrm>
          <a:prstGeom prst="roundRect">
            <a:avLst>
              <a:gd name="adj" fmla="val 3846"/>
            </a:avLst>
          </a:prstGeom>
          <a:solidFill>
            <a:srgbClr val="F7F8F7"/>
          </a:solidFill>
          <a:ln w="5080">
            <a:solidFill>
              <a:srgbClr val="F7F8F7"/>
            </a:solidFill>
            <a:prstDash val="solid"/>
          </a:ln>
        </p:spPr>
      </p:sp>
      <p:sp>
        <p:nvSpPr>
          <p:cNvPr id="32" name="Text 30"/>
          <p:cNvSpPr/>
          <p:nvPr/>
        </p:nvSpPr>
        <p:spPr>
          <a:xfrm>
            <a:off x="6425032"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Reusable inventory setup and boundaries</a:t>
            </a:r>
            <a:endParaRPr lang="en-US" sz="950" dirty="0"/>
          </a:p>
        </p:txBody>
      </p:sp>
      <p:sp>
        <p:nvSpPr>
          <p:cNvPr id="33" name="Shape 31"/>
          <p:cNvSpPr/>
          <p:nvPr/>
        </p:nvSpPr>
        <p:spPr>
          <a:xfrm>
            <a:off x="6361024" y="5312664"/>
            <a:ext cx="5071720" cy="713232"/>
          </a:xfrm>
          <a:prstGeom prst="roundRect">
            <a:avLst>
              <a:gd name="adj" fmla="val 3846"/>
            </a:avLst>
          </a:prstGeom>
          <a:solidFill>
            <a:srgbClr val="F7F8F7"/>
          </a:solidFill>
          <a:ln w="5080">
            <a:solidFill>
              <a:srgbClr val="F7F8F7"/>
            </a:solidFill>
            <a:prstDash val="solid"/>
          </a:ln>
        </p:spPr>
      </p:sp>
      <p:sp>
        <p:nvSpPr>
          <p:cNvPr id="34" name="Text 32"/>
          <p:cNvSpPr/>
          <p:nvPr/>
        </p:nvSpPr>
        <p:spPr>
          <a:xfrm>
            <a:off x="6425032"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Automated regression testing on the engine</a:t>
            </a:r>
            <a:endParaRPr lang="en-US" sz="950" dirty="0"/>
          </a:p>
        </p:txBody>
      </p:sp>
      <p:sp>
        <p:nvSpPr>
          <p:cNvPr id="35" name="Shape 33"/>
          <p:cNvSpPr/>
          <p:nvPr/>
        </p:nvSpPr>
        <p:spPr>
          <a:xfrm>
            <a:off x="621792" y="6437376"/>
            <a:ext cx="10948111" cy="0"/>
          </a:xfrm>
          <a:prstGeom prst="line">
            <a:avLst/>
          </a:prstGeom>
          <a:noFill/>
          <a:ln w="9525">
            <a:solidFill>
              <a:srgbClr val="E2E6E2"/>
            </a:solidFill>
            <a:prstDash val="solid"/>
          </a:ln>
        </p:spPr>
      </p:sp>
      <p:sp>
        <p:nvSpPr>
          <p:cNvPr id="36" name="Text 34"/>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7" name="Text 35"/>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2080260"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751076"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SEQUENCING</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How 2027 lays out: H2</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Second half shape of the 2027 bets, based on current theme ranks.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5346040" cy="713232"/>
          </a:xfrm>
          <a:prstGeom prst="rect">
            <a:avLst/>
          </a:prstGeom>
          <a:solidFill>
            <a:srgbClr val="FFF4E3"/>
          </a:solidFill>
          <a:ln w="12700">
            <a:solidFill>
              <a:srgbClr val="FFF4E3"/>
            </a:solidFill>
            <a:prstDash val="solid"/>
          </a:ln>
        </p:spPr>
      </p:sp>
      <p:sp>
        <p:nvSpPr>
          <p:cNvPr id="11" name="Shape 9"/>
          <p:cNvSpPr/>
          <p:nvPr/>
        </p:nvSpPr>
        <p:spPr>
          <a:xfrm>
            <a:off x="621792" y="2084832"/>
            <a:ext cx="54864" cy="4178808"/>
          </a:xfrm>
          <a:prstGeom prst="rect">
            <a:avLst/>
          </a:prstGeom>
          <a:solidFill>
            <a:srgbClr val="FFB04C"/>
          </a:solidFill>
          <a:ln w="12700">
            <a:solidFill>
              <a:srgbClr val="FFB04C"/>
            </a:solidFill>
            <a:prstDash val="solid"/>
          </a:ln>
        </p:spPr>
      </p:sp>
      <p:sp>
        <p:nvSpPr>
          <p:cNvPr id="12" name="Text 10"/>
          <p:cNvSpPr/>
          <p:nvPr/>
        </p:nvSpPr>
        <p:spPr>
          <a:xfrm>
            <a:off x="804672" y="2176272"/>
            <a:ext cx="5016856" cy="201168"/>
          </a:xfrm>
          <a:prstGeom prst="rect">
            <a:avLst/>
          </a:prstGeom>
          <a:noFill/>
          <a:ln/>
        </p:spPr>
        <p:txBody>
          <a:bodyPr wrap="square" lIns="0" tIns="0" rIns="0" bIns="0" rtlCol="0" anchor="ctr"/>
          <a:lstStyle/>
          <a:p>
            <a:pPr indent="0" marL="0">
              <a:buNone/>
            </a:pPr>
            <a:r>
              <a:rPr lang="en-US" sz="850" b="1" spc="130" kern="0" dirty="0">
                <a:solidFill>
                  <a:srgbClr val="FFB04C"/>
                </a:solidFill>
                <a:latin typeface="Calibri" pitchFamily="34" charset="0"/>
                <a:ea typeface="Calibri" pitchFamily="34" charset="-122"/>
                <a:cs typeface="Calibri" pitchFamily="34" charset="-120"/>
              </a:rPr>
              <a:t>H2 2027</a:t>
            </a:r>
            <a:endParaRPr lang="en-US" sz="850" dirty="0"/>
          </a:p>
        </p:txBody>
      </p:sp>
      <p:sp>
        <p:nvSpPr>
          <p:cNvPr id="13" name="Text 11"/>
          <p:cNvSpPr/>
          <p:nvPr/>
        </p:nvSpPr>
        <p:spPr>
          <a:xfrm>
            <a:off x="804672"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Assurance and AI</a:t>
            </a:r>
            <a:endParaRPr lang="en-US" sz="1400" dirty="0"/>
          </a:p>
        </p:txBody>
      </p:sp>
      <p:sp>
        <p:nvSpPr>
          <p:cNvPr id="14" name="Shape 12"/>
          <p:cNvSpPr/>
          <p:nvPr/>
        </p:nvSpPr>
        <p:spPr>
          <a:xfrm>
            <a:off x="758952" y="2953512"/>
            <a:ext cx="5071720" cy="713232"/>
          </a:xfrm>
          <a:prstGeom prst="roundRect">
            <a:avLst>
              <a:gd name="adj" fmla="val 3846"/>
            </a:avLst>
          </a:prstGeom>
          <a:solidFill>
            <a:srgbClr val="F7F8F7"/>
          </a:solidFill>
          <a:ln w="5080">
            <a:solidFill>
              <a:srgbClr val="F7F8F7"/>
            </a:solidFill>
            <a:prstDash val="solid"/>
          </a:ln>
        </p:spPr>
      </p:sp>
      <p:sp>
        <p:nvSpPr>
          <p:cNvPr id="15" name="Text 13"/>
          <p:cNvSpPr/>
          <p:nvPr/>
        </p:nvSpPr>
        <p:spPr>
          <a:xfrm>
            <a:off x="822960"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AI powered emissions troubleshooting</a:t>
            </a:r>
            <a:endParaRPr lang="en-US" sz="950" dirty="0"/>
          </a:p>
        </p:txBody>
      </p:sp>
      <p:sp>
        <p:nvSpPr>
          <p:cNvPr id="16" name="Shape 14"/>
          <p:cNvSpPr/>
          <p:nvPr/>
        </p:nvSpPr>
        <p:spPr>
          <a:xfrm>
            <a:off x="758952" y="3739896"/>
            <a:ext cx="5071720" cy="713232"/>
          </a:xfrm>
          <a:prstGeom prst="roundRect">
            <a:avLst>
              <a:gd name="adj" fmla="val 3846"/>
            </a:avLst>
          </a:prstGeom>
          <a:solidFill>
            <a:srgbClr val="F7F8F7"/>
          </a:solidFill>
          <a:ln w="5080">
            <a:solidFill>
              <a:srgbClr val="F7F8F7"/>
            </a:solidFill>
            <a:prstDash val="solid"/>
          </a:ln>
        </p:spPr>
      </p:sp>
      <p:sp>
        <p:nvSpPr>
          <p:cNvPr id="17" name="Text 15"/>
          <p:cNvSpPr/>
          <p:nvPr/>
        </p:nvSpPr>
        <p:spPr>
          <a:xfrm>
            <a:off x="822960"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Year on year variance checks, Scope 1 and 2</a:t>
            </a:r>
            <a:endParaRPr lang="en-US" sz="950" dirty="0"/>
          </a:p>
        </p:txBody>
      </p:sp>
      <p:sp>
        <p:nvSpPr>
          <p:cNvPr id="18" name="Shape 16"/>
          <p:cNvSpPr/>
          <p:nvPr/>
        </p:nvSpPr>
        <p:spPr>
          <a:xfrm>
            <a:off x="758952" y="4526280"/>
            <a:ext cx="5071720" cy="713232"/>
          </a:xfrm>
          <a:prstGeom prst="roundRect">
            <a:avLst>
              <a:gd name="adj" fmla="val 3846"/>
            </a:avLst>
          </a:prstGeom>
          <a:solidFill>
            <a:srgbClr val="F7F8F7"/>
          </a:solidFill>
          <a:ln w="5080">
            <a:solidFill>
              <a:srgbClr val="F7F8F7"/>
            </a:solidFill>
            <a:prstDash val="solid"/>
          </a:ln>
        </p:spPr>
      </p:sp>
      <p:sp>
        <p:nvSpPr>
          <p:cNvPr id="19" name="Text 17"/>
          <p:cNvSpPr/>
          <p:nvPr/>
        </p:nvSpPr>
        <p:spPr>
          <a:xfrm>
            <a:off x="822960"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Scope 1, 2, 3 disclosure reporting</a:t>
            </a:r>
            <a:endParaRPr lang="en-US" sz="950" dirty="0"/>
          </a:p>
        </p:txBody>
      </p:sp>
      <p:sp>
        <p:nvSpPr>
          <p:cNvPr id="20" name="Shape 18"/>
          <p:cNvSpPr/>
          <p:nvPr/>
        </p:nvSpPr>
        <p:spPr>
          <a:xfrm>
            <a:off x="6223864" y="2084832"/>
            <a:ext cx="5346040" cy="4178808"/>
          </a:xfrm>
          <a:prstGeom prst="roundRect">
            <a:avLst>
              <a:gd name="adj" fmla="val 131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1" name="Shape 19"/>
          <p:cNvSpPr/>
          <p:nvPr/>
        </p:nvSpPr>
        <p:spPr>
          <a:xfrm>
            <a:off x="6223864" y="2084832"/>
            <a:ext cx="5346040" cy="713232"/>
          </a:xfrm>
          <a:prstGeom prst="rect">
            <a:avLst/>
          </a:prstGeom>
          <a:solidFill>
            <a:srgbClr val="EAF1F5"/>
          </a:solidFill>
          <a:ln w="12700">
            <a:solidFill>
              <a:srgbClr val="EAF1F5"/>
            </a:solidFill>
            <a:prstDash val="solid"/>
          </a:ln>
        </p:spPr>
      </p:sp>
      <p:sp>
        <p:nvSpPr>
          <p:cNvPr id="22" name="Shape 20"/>
          <p:cNvSpPr/>
          <p:nvPr/>
        </p:nvSpPr>
        <p:spPr>
          <a:xfrm>
            <a:off x="6223864" y="2084832"/>
            <a:ext cx="54864" cy="4178808"/>
          </a:xfrm>
          <a:prstGeom prst="rect">
            <a:avLst/>
          </a:prstGeom>
          <a:solidFill>
            <a:srgbClr val="275B7F"/>
          </a:solidFill>
          <a:ln w="12700">
            <a:solidFill>
              <a:srgbClr val="275B7F"/>
            </a:solidFill>
            <a:prstDash val="solid"/>
          </a:ln>
        </p:spPr>
      </p:sp>
      <p:sp>
        <p:nvSpPr>
          <p:cNvPr id="23" name="Text 21"/>
          <p:cNvSpPr/>
          <p:nvPr/>
        </p:nvSpPr>
        <p:spPr>
          <a:xfrm>
            <a:off x="6406744" y="2176272"/>
            <a:ext cx="5016856" cy="201168"/>
          </a:xfrm>
          <a:prstGeom prst="rect">
            <a:avLst/>
          </a:prstGeom>
          <a:noFill/>
          <a:ln/>
        </p:spPr>
        <p:txBody>
          <a:bodyPr wrap="square" lIns="0" tIns="0" rIns="0" bIns="0" rtlCol="0" anchor="ctr"/>
          <a:lstStyle/>
          <a:p>
            <a:pPr indent="0" marL="0">
              <a:buNone/>
            </a:pPr>
            <a:r>
              <a:rPr lang="en-US" sz="850" b="1" spc="130" kern="0" dirty="0">
                <a:solidFill>
                  <a:srgbClr val="275B7F"/>
                </a:solidFill>
                <a:latin typeface="Calibri" pitchFamily="34" charset="0"/>
                <a:ea typeface="Calibri" pitchFamily="34" charset="-122"/>
                <a:cs typeface="Calibri" pitchFamily="34" charset="-120"/>
              </a:rPr>
              <a:t>H2 2027</a:t>
            </a:r>
            <a:endParaRPr lang="en-US" sz="850" dirty="0"/>
          </a:p>
        </p:txBody>
      </p:sp>
      <p:sp>
        <p:nvSpPr>
          <p:cNvPr id="24" name="Text 22"/>
          <p:cNvSpPr/>
          <p:nvPr/>
        </p:nvSpPr>
        <p:spPr>
          <a:xfrm>
            <a:off x="6406744" y="2423160"/>
            <a:ext cx="5016856" cy="274320"/>
          </a:xfrm>
          <a:prstGeom prst="rect">
            <a:avLst/>
          </a:prstGeom>
          <a:noFill/>
          <a:ln/>
        </p:spPr>
        <p:txBody>
          <a:bodyPr wrap="square" lIns="0" tIns="0" rIns="0" bIns="0" rtlCol="0" anchor="ctr">
            <a:normAutofit/>
          </a:bodyPr>
          <a:lstStyle/>
          <a:p>
            <a:pPr indent="0" marL="0">
              <a:buNone/>
            </a:pPr>
            <a:r>
              <a:rPr lang="en-US" sz="1400" b="1" dirty="0">
                <a:solidFill>
                  <a:srgbClr val="1E2420"/>
                </a:solidFill>
                <a:latin typeface="Calibri" pitchFamily="34" charset="0"/>
                <a:ea typeface="Calibri" pitchFamily="34" charset="-122"/>
                <a:cs typeface="Calibri" pitchFamily="34" charset="-120"/>
              </a:rPr>
              <a:t>Insight and scale</a:t>
            </a:r>
            <a:endParaRPr lang="en-US" sz="1400" dirty="0"/>
          </a:p>
        </p:txBody>
      </p:sp>
      <p:sp>
        <p:nvSpPr>
          <p:cNvPr id="25" name="Shape 23"/>
          <p:cNvSpPr/>
          <p:nvPr/>
        </p:nvSpPr>
        <p:spPr>
          <a:xfrm>
            <a:off x="6361024" y="2953512"/>
            <a:ext cx="5071720" cy="713232"/>
          </a:xfrm>
          <a:prstGeom prst="roundRect">
            <a:avLst>
              <a:gd name="adj" fmla="val 3846"/>
            </a:avLst>
          </a:prstGeom>
          <a:solidFill>
            <a:srgbClr val="F7F8F7"/>
          </a:solidFill>
          <a:ln w="5080">
            <a:solidFill>
              <a:srgbClr val="F7F8F7"/>
            </a:solidFill>
            <a:prstDash val="solid"/>
          </a:ln>
        </p:spPr>
      </p:sp>
      <p:sp>
        <p:nvSpPr>
          <p:cNvPr id="26" name="Text 24"/>
          <p:cNvSpPr/>
          <p:nvPr/>
        </p:nvSpPr>
        <p:spPr>
          <a:xfrm>
            <a:off x="6425032" y="2953512"/>
            <a:ext cx="4943704" cy="713232"/>
          </a:xfrm>
          <a:prstGeom prst="rect">
            <a:avLst/>
          </a:prstGeom>
          <a:noFill/>
          <a:ln/>
        </p:spPr>
        <p:txBody>
          <a:bodyPr wrap="square" lIns="381" tIns="381" rIns="381" bIns="381" rtlCol="0" anchor="ctr">
            <a:normAutofit/>
          </a:bodyPr>
          <a:lstStyle/>
          <a:p>
            <a:pPr indent="0" marL="0">
              <a:lnSpc>
                <a:spcPct val="95000"/>
              </a:lnSpc>
              <a:buNone/>
            </a:pPr>
            <a:r>
              <a:rPr lang="en-US" sz="950" b="1" dirty="0">
                <a:solidFill>
                  <a:srgbClr val="1E2420"/>
                </a:solidFill>
                <a:latin typeface="Calibri" pitchFamily="34" charset="0"/>
                <a:ea typeface="Calibri" pitchFamily="34" charset="-122"/>
                <a:cs typeface="Calibri" pitchFamily="34" charset="-120"/>
              </a:rPr>
              <a:t>Intensity and normalisation metrics</a:t>
            </a:r>
            <a:endParaRPr lang="en-US" sz="950" dirty="0"/>
          </a:p>
        </p:txBody>
      </p:sp>
      <p:sp>
        <p:nvSpPr>
          <p:cNvPr id="27" name="Shape 25"/>
          <p:cNvSpPr/>
          <p:nvPr/>
        </p:nvSpPr>
        <p:spPr>
          <a:xfrm>
            <a:off x="6361024" y="3739896"/>
            <a:ext cx="5071720" cy="713232"/>
          </a:xfrm>
          <a:prstGeom prst="roundRect">
            <a:avLst>
              <a:gd name="adj" fmla="val 3846"/>
            </a:avLst>
          </a:prstGeom>
          <a:solidFill>
            <a:srgbClr val="F7F8F7"/>
          </a:solidFill>
          <a:ln w="5080">
            <a:solidFill>
              <a:srgbClr val="F7F8F7"/>
            </a:solidFill>
            <a:prstDash val="solid"/>
          </a:ln>
        </p:spPr>
      </p:sp>
      <p:sp>
        <p:nvSpPr>
          <p:cNvPr id="28" name="Text 26"/>
          <p:cNvSpPr/>
          <p:nvPr/>
        </p:nvSpPr>
        <p:spPr>
          <a:xfrm>
            <a:off x="6425032" y="3739896"/>
            <a:ext cx="4943704"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Water data support</a:t>
            </a:r>
            <a:endParaRPr lang="en-US" sz="1000" dirty="0"/>
          </a:p>
        </p:txBody>
      </p:sp>
      <p:sp>
        <p:nvSpPr>
          <p:cNvPr id="29" name="Shape 27"/>
          <p:cNvSpPr/>
          <p:nvPr/>
        </p:nvSpPr>
        <p:spPr>
          <a:xfrm>
            <a:off x="6361024" y="4526280"/>
            <a:ext cx="5071720" cy="713232"/>
          </a:xfrm>
          <a:prstGeom prst="roundRect">
            <a:avLst>
              <a:gd name="adj" fmla="val 3846"/>
            </a:avLst>
          </a:prstGeom>
          <a:solidFill>
            <a:srgbClr val="F7F8F7"/>
          </a:solidFill>
          <a:ln w="5080">
            <a:solidFill>
              <a:srgbClr val="F7F8F7"/>
            </a:solidFill>
            <a:prstDash val="solid"/>
          </a:ln>
        </p:spPr>
      </p:sp>
      <p:sp>
        <p:nvSpPr>
          <p:cNvPr id="30" name="Text 28"/>
          <p:cNvSpPr/>
          <p:nvPr/>
        </p:nvSpPr>
        <p:spPr>
          <a:xfrm>
            <a:off x="6425032" y="4526280"/>
            <a:ext cx="4943704" cy="713232"/>
          </a:xfrm>
          <a:prstGeom prst="rect">
            <a:avLst/>
          </a:prstGeom>
          <a:noFill/>
          <a:ln/>
        </p:spPr>
        <p:txBody>
          <a:bodyPr wrap="square" lIns="381" tIns="381" rIns="381" bIns="381" rtlCol="0" anchor="ctr">
            <a:normAutofit/>
          </a:bodyPr>
          <a:lstStyle/>
          <a:p>
            <a:pPr indent="0" marL="0">
              <a:lnSpc>
                <a:spcPct val="95000"/>
              </a:lnSpc>
              <a:buNone/>
            </a:pPr>
            <a:r>
              <a:rPr lang="en-US" sz="1000" b="1" dirty="0">
                <a:solidFill>
                  <a:srgbClr val="1E2420"/>
                </a:solidFill>
                <a:latin typeface="Calibri" pitchFamily="34" charset="0"/>
                <a:ea typeface="Calibri" pitchFamily="34" charset="-122"/>
                <a:cs typeface="Calibri" pitchFamily="34" charset="-120"/>
              </a:rPr>
              <a:t>Multi level approval workflows</a:t>
            </a:r>
            <a:endParaRPr lang="en-US" sz="1000" dirty="0"/>
          </a:p>
        </p:txBody>
      </p:sp>
      <p:sp>
        <p:nvSpPr>
          <p:cNvPr id="31" name="Shape 29"/>
          <p:cNvSpPr/>
          <p:nvPr/>
        </p:nvSpPr>
        <p:spPr>
          <a:xfrm>
            <a:off x="6361024" y="5312664"/>
            <a:ext cx="5071720" cy="713232"/>
          </a:xfrm>
          <a:prstGeom prst="roundRect">
            <a:avLst>
              <a:gd name="adj" fmla="val 3846"/>
            </a:avLst>
          </a:prstGeom>
          <a:solidFill>
            <a:srgbClr val="F7F8F7"/>
          </a:solidFill>
          <a:ln w="5080">
            <a:solidFill>
              <a:srgbClr val="F7F8F7"/>
            </a:solidFill>
            <a:prstDash val="solid"/>
          </a:ln>
        </p:spPr>
      </p:sp>
      <p:sp>
        <p:nvSpPr>
          <p:cNvPr id="32" name="Text 30"/>
          <p:cNvSpPr/>
          <p:nvPr/>
        </p:nvSpPr>
        <p:spPr>
          <a:xfrm>
            <a:off x="6425032" y="5312664"/>
            <a:ext cx="4943704" cy="713232"/>
          </a:xfrm>
          <a:prstGeom prst="rect">
            <a:avLst/>
          </a:prstGeom>
          <a:noFill/>
          <a:ln/>
        </p:spPr>
        <p:txBody>
          <a:bodyPr wrap="square" lIns="381" tIns="381" rIns="381" bIns="381" rtlCol="0" anchor="ctr">
            <a:normAutofit/>
          </a:bodyPr>
          <a:lstStyle/>
          <a:p>
            <a:pPr indent="0" marL="0">
              <a:lnSpc>
                <a:spcPct val="95000"/>
              </a:lnSpc>
              <a:buNone/>
            </a:pPr>
            <a:r>
              <a:rPr lang="en-US" sz="900" b="1" dirty="0">
                <a:solidFill>
                  <a:srgbClr val="1E2420"/>
                </a:solidFill>
                <a:latin typeface="Calibri" pitchFamily="34" charset="0"/>
                <a:ea typeface="Calibri" pitchFamily="34" charset="-122"/>
                <a:cs typeface="Calibri" pitchFamily="34" charset="-120"/>
              </a:rPr>
              <a:t>Live currency conversion for spend based calculations</a:t>
            </a:r>
            <a:endParaRPr lang="en-US" sz="900" dirty="0"/>
          </a:p>
        </p:txBody>
      </p:sp>
      <p:sp>
        <p:nvSpPr>
          <p:cNvPr id="33" name="Shape 31"/>
          <p:cNvSpPr/>
          <p:nvPr/>
        </p:nvSpPr>
        <p:spPr>
          <a:xfrm>
            <a:off x="621792" y="6437376"/>
            <a:ext cx="10948111" cy="0"/>
          </a:xfrm>
          <a:prstGeom prst="line">
            <a:avLst/>
          </a:prstGeom>
          <a:noFill/>
          <a:ln w="9525">
            <a:solidFill>
              <a:srgbClr val="E2E6E2"/>
            </a:solidFill>
            <a:prstDash val="solid"/>
          </a:ln>
        </p:spPr>
      </p:sp>
      <p:sp>
        <p:nvSpPr>
          <p:cNvPr id="34" name="Text 32"/>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5" name="Text 33"/>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Carbon Performance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rather than a list of features.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Close the inventory</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Eliminate the methodology and category gaps that still force hypercare. Consultant grade means no off platform workarounds.</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Scope 3 category 15 investments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Additional emission sources outside GHGP scopes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Calculation governance and methodology transparency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Inventory boundaries, exclusions and quality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Specialized standards: PCAF, FLAG, Bilan Carbone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Organizational boundary and consolidation</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From inventory to decision</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Turn a trustworthy inventory into boardroom ready insight and self serve planning, the wedge that replaces the consultant.</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From reporting to decision support</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Boardroom ready decarbonization reporting</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Self serve decarbonization planning and execution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Decision support for performance management</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Dedicated auditor experience</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Cross product compounding</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CP data becomes more valuable when supply chain, climate risk, and reporting and compliance can consume it. Network effects across RA+.</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Enhanced end to end supply chain emissions management (rank 44)</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R&amp;C integration with CP emissions data (rank 33)</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Supplier specific emission factors, CP and SC</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Reusable analytics infrastructure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PCF integrations</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Supply Chain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rather than a list of features.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Win on product carbon footprint</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Close the competitive gap on PCF so the supply base measures on RA+ rather than on a rival tool.</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Light PCF calculator, SEED integrations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Advanced tier level subscription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Zeigo Activate sunset, replaced by a light CP calculator</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Supplier specific emission factors, CP and SC</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Scale supplier participation</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A network only compounds when suppliers join, stay engaged and keep data flowing across programmes.</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Supplier onboarding and programme participation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Multi tier supplier visibility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Engagement gamification and leaderboards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Cross programme supplier discovery</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From data to supplier action</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Sponsor decision support turns collected data into evidenced decarbonisation the board can stand behind.</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Sponsor decision support and supplier transparency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Guided supplier decarbonisation actions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Supply chain and climate risk integration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ESG reporting and compliance integration</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Reporting and Compliance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rather than a list of features.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Complete the SE migration</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Corporate SE runs its Q1 2027 CSRD cycle in RA+, which is the proof point that retires RA Classic for good.</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Corporate SE fully migrated off RA Classic</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Historical data migrated and reconciled</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Audit ready disclosures produced in product</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Advanced campaign management</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AI assisted disclosure</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Drafting, mapping and analytics compress the cost of every reporting cycle and widen what one team can cover.</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Governed disclosure authoring with AI drafting</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AI compliance intelligence and mapping suggestions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Indicator performance analytics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Approval hierarchies and bulk assignment</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The disclosure hub for RA+</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Every product feeds its evidence into R&amp;C, so disclosure becomes the reason the platform holds together.</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CP emissions and CR risk feeding disclosures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External assurance and auditor experience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Voluntary frameworks: GRI, SASB, GRESB, EcoVadis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Data receiver from every product to facilitate disclosure</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Climate Risk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rather than a list of features.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Price the risk</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ClimVar turns exposure into financial value at risk, the language the CFO and the board actually trade in.</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ClimVar - Value at Risk, expressed in financial terms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Physical and transition scenario analysis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Portfolio level risk analytics and heatmaps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Transition plan modelling linked to targets</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From risk to funded adaptation</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Scenarios convert into tracked adaptation actions with monthly actuals, not reports that sit on a shelf.</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Adaptation planning primitives with Strategy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Adaptation actions tracked with monthly actuals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Value at risk, scenario analysis and adaptation actions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Decision grade analysis at portfolio volumes</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Risk beyond owned assets</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The model extends into the value chain and into disclosures, so risk stops being a standalone exercise.</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Supply chain and climate risk integration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Value at risk across the extended value chain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Risk data flowing into R&amp;C disclosures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Risk data turned into financial values for disclosure</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3DCD58"/>
          </a:solidFill>
          <a:ln w="12700">
            <a:solidFill>
              <a:srgbClr val="3DCD58"/>
            </a:solidFill>
            <a:prstDash val="solid"/>
          </a:ln>
        </p:spPr>
      </p:sp>
      <p:sp>
        <p:nvSpPr>
          <p:cNvPr id="3" name="Shape 1"/>
          <p:cNvSpPr/>
          <p:nvPr/>
        </p:nvSpPr>
        <p:spPr>
          <a:xfrm>
            <a:off x="0" y="82296"/>
            <a:ext cx="12191695" cy="13716"/>
          </a:xfrm>
          <a:prstGeom prst="rect">
            <a:avLst/>
          </a:prstGeom>
          <a:solidFill>
            <a:srgbClr val="005730"/>
          </a:solidFill>
          <a:ln w="12700">
            <a:solidFill>
              <a:srgbClr val="005730"/>
            </a:solidFill>
            <a:prstDash val="solid"/>
          </a:ln>
        </p:spPr>
      </p:sp>
      <p:sp>
        <p:nvSpPr>
          <p:cNvPr id="4" name="Shape 2"/>
          <p:cNvSpPr/>
          <p:nvPr/>
        </p:nvSpPr>
        <p:spPr>
          <a:xfrm>
            <a:off x="621792" y="310896"/>
            <a:ext cx="1449324" cy="292608"/>
          </a:xfrm>
          <a:prstGeom prst="roundRect">
            <a:avLst>
              <a:gd name="adj" fmla="val 50000"/>
            </a:avLst>
          </a:prstGeom>
          <a:solidFill>
            <a:srgbClr val="EAF8ED"/>
          </a:solidFill>
          <a:ln w="12700">
            <a:solidFill>
              <a:srgbClr val="EAF8ED"/>
            </a:solidFill>
            <a:prstDash val="solid"/>
          </a:ln>
        </p:spPr>
      </p:sp>
      <p:sp>
        <p:nvSpPr>
          <p:cNvPr id="5" name="Text 3"/>
          <p:cNvSpPr/>
          <p:nvPr/>
        </p:nvSpPr>
        <p:spPr>
          <a:xfrm>
            <a:off x="804672" y="329184"/>
            <a:ext cx="1120140" cy="256032"/>
          </a:xfrm>
          <a:prstGeom prst="rect">
            <a:avLst/>
          </a:prstGeom>
          <a:noFill/>
          <a:ln/>
        </p:spPr>
        <p:txBody>
          <a:bodyPr wrap="none" lIns="0" tIns="0" rIns="0" bIns="0" rtlCol="0" anchor="ctr"/>
          <a:lstStyle/>
          <a:p>
            <a:pPr indent="0" marL="0">
              <a:buNone/>
            </a:pPr>
            <a:r>
              <a:rPr lang="en-US" sz="950" b="1" spc="140" kern="0" dirty="0">
                <a:solidFill>
                  <a:srgbClr val="007A27"/>
                </a:solidFill>
                <a:latin typeface="Calibri" pitchFamily="34" charset="0"/>
                <a:ea typeface="Calibri" pitchFamily="34" charset="-122"/>
                <a:cs typeface="Calibri" pitchFamily="34" charset="-120"/>
              </a:rPr>
              <a:t>2027 BETS</a:t>
            </a:r>
            <a:endParaRPr lang="en-US" sz="950" dirty="0"/>
          </a:p>
        </p:txBody>
      </p:sp>
      <p:sp>
        <p:nvSpPr>
          <p:cNvPr id="6" name="Text 4"/>
          <p:cNvSpPr/>
          <p:nvPr/>
        </p:nvSpPr>
        <p:spPr>
          <a:xfrm>
            <a:off x="621792" y="768096"/>
            <a:ext cx="10948111" cy="658368"/>
          </a:xfrm>
          <a:prstGeom prst="rect">
            <a:avLst/>
          </a:prstGeom>
          <a:noFill/>
          <a:ln/>
        </p:spPr>
        <p:txBody>
          <a:bodyPr wrap="square" lIns="0" tIns="0" rIns="0" bIns="0" rtlCol="0" anchor="t">
            <a:normAutofit/>
          </a:bodyPr>
          <a:lstStyle/>
          <a:p>
            <a:pPr indent="0" marL="0">
              <a:buNone/>
            </a:pPr>
            <a:r>
              <a:rPr lang="en-US" sz="3200" b="1" dirty="0">
                <a:solidFill>
                  <a:srgbClr val="1E2420"/>
                </a:solidFill>
                <a:latin typeface="Calibri" pitchFamily="34" charset="0"/>
                <a:ea typeface="Calibri" pitchFamily="34" charset="-122"/>
                <a:cs typeface="Calibri" pitchFamily="34" charset="-120"/>
              </a:rPr>
              <a:t>Where the RA+ Platform goes next</a:t>
            </a:r>
            <a:endParaRPr lang="en-US" sz="3200" dirty="0"/>
          </a:p>
        </p:txBody>
      </p:sp>
      <p:sp>
        <p:nvSpPr>
          <p:cNvPr id="7" name="Text 5"/>
          <p:cNvSpPr/>
          <p:nvPr/>
        </p:nvSpPr>
        <p:spPr>
          <a:xfrm>
            <a:off x="621792" y="1463040"/>
            <a:ext cx="10948111" cy="310896"/>
          </a:xfrm>
          <a:prstGeom prst="rect">
            <a:avLst/>
          </a:prstGeom>
          <a:noFill/>
          <a:ln/>
        </p:spPr>
        <p:txBody>
          <a:bodyPr wrap="square" lIns="0" tIns="0" rIns="0" bIns="0" rtlCol="0" anchor="t">
            <a:normAutofit/>
          </a:bodyPr>
          <a:lstStyle/>
          <a:p>
            <a:pPr indent="0" marL="0">
              <a:buNone/>
            </a:pPr>
            <a:r>
              <a:rPr lang="en-US" sz="1250" dirty="0">
                <a:solidFill>
                  <a:srgbClr val="5A625C"/>
                </a:solidFill>
                <a:latin typeface="Calibri" pitchFamily="34" charset="0"/>
                <a:ea typeface="Calibri" pitchFamily="34" charset="-122"/>
                <a:cs typeface="Calibri" pitchFamily="34" charset="-120"/>
              </a:rPr>
              <a:t>Direction for the year, expressed as three bets that every product inherits.</a:t>
            </a:r>
            <a:endParaRPr lang="en-US" sz="1250" dirty="0"/>
          </a:p>
        </p:txBody>
      </p:sp>
      <p:sp>
        <p:nvSpPr>
          <p:cNvPr id="8" name="Shape 6"/>
          <p:cNvSpPr/>
          <p:nvPr/>
        </p:nvSpPr>
        <p:spPr>
          <a:xfrm>
            <a:off x="621792" y="1920240"/>
            <a:ext cx="10948111" cy="0"/>
          </a:xfrm>
          <a:prstGeom prst="line">
            <a:avLst/>
          </a:prstGeom>
          <a:noFill/>
          <a:ln w="9525">
            <a:solidFill>
              <a:srgbClr val="E2E6E2"/>
            </a:solidFill>
            <a:prstDash val="solid"/>
          </a:ln>
        </p:spPr>
      </p:sp>
      <p:sp>
        <p:nvSpPr>
          <p:cNvPr id="9" name="Shape 7"/>
          <p:cNvSpPr/>
          <p:nvPr/>
        </p:nvSpPr>
        <p:spPr>
          <a:xfrm>
            <a:off x="62179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0" name="Shape 8"/>
          <p:cNvSpPr/>
          <p:nvPr/>
        </p:nvSpPr>
        <p:spPr>
          <a:xfrm>
            <a:off x="621792" y="2084832"/>
            <a:ext cx="64008" cy="4178808"/>
          </a:xfrm>
          <a:prstGeom prst="rect">
            <a:avLst/>
          </a:prstGeom>
          <a:solidFill>
            <a:srgbClr val="3DCD58"/>
          </a:solidFill>
          <a:ln w="12700">
            <a:solidFill>
              <a:srgbClr val="3DCD58"/>
            </a:solidFill>
            <a:prstDash val="solid"/>
          </a:ln>
        </p:spPr>
      </p:sp>
      <p:sp>
        <p:nvSpPr>
          <p:cNvPr id="11" name="Shape 9"/>
          <p:cNvSpPr/>
          <p:nvPr/>
        </p:nvSpPr>
        <p:spPr>
          <a:xfrm>
            <a:off x="868680" y="2286000"/>
            <a:ext cx="438912" cy="438912"/>
          </a:xfrm>
          <a:prstGeom prst="ellipse">
            <a:avLst/>
          </a:prstGeom>
          <a:solidFill>
            <a:srgbClr val="EAF8ED"/>
          </a:solidFill>
          <a:ln w="12700">
            <a:solidFill>
              <a:srgbClr val="EAF8ED"/>
            </a:solidFill>
            <a:prstDash val="solid"/>
          </a:ln>
        </p:spPr>
      </p:sp>
      <p:sp>
        <p:nvSpPr>
          <p:cNvPr id="12" name="Text 10"/>
          <p:cNvSpPr/>
          <p:nvPr/>
        </p:nvSpPr>
        <p:spPr>
          <a:xfrm>
            <a:off x="86868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01</a:t>
            </a:r>
            <a:endParaRPr lang="en-US" sz="1200" dirty="0"/>
          </a:p>
        </p:txBody>
      </p:sp>
      <p:sp>
        <p:nvSpPr>
          <p:cNvPr id="13" name="Text 11"/>
          <p:cNvSpPr/>
          <p:nvPr/>
        </p:nvSpPr>
        <p:spPr>
          <a:xfrm>
            <a:off x="139903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One trusted data backbone</a:t>
            </a:r>
            <a:endParaRPr lang="en-US" sz="1500" dirty="0"/>
          </a:p>
        </p:txBody>
      </p:sp>
      <p:sp>
        <p:nvSpPr>
          <p:cNvPr id="14" name="Text 12"/>
          <p:cNvSpPr/>
          <p:nvPr/>
        </p:nvSpPr>
        <p:spPr>
          <a:xfrm>
            <a:off x="85039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Ingestion, quality and ontology are built once so Carbon Performance, Supply Chain, Reporting and Climate Risk all consume the same source of truth.</a:t>
            </a:r>
            <a:endParaRPr lang="en-US" sz="1100" dirty="0"/>
          </a:p>
        </p:txBody>
      </p:sp>
      <p:sp>
        <p:nvSpPr>
          <p:cNvPr id="15" name="Text 13"/>
          <p:cNvSpPr/>
          <p:nvPr/>
        </p:nvSpPr>
        <p:spPr>
          <a:xfrm>
            <a:off x="85039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Advanced data ingestion and transformation rules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Data quality across the L0 to L4 lifecycle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Control plane for tenant ontology governance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Programmatic connectors and APIs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Data receiver from every product to facilitate disclosure</a:t>
            </a:r>
            <a:endParaRPr lang="en-US" sz="1100" dirty="0"/>
          </a:p>
        </p:txBody>
      </p:sp>
      <p:sp>
        <p:nvSpPr>
          <p:cNvPr id="16" name="Shape 14"/>
          <p:cNvSpPr/>
          <p:nvPr/>
        </p:nvSpPr>
        <p:spPr>
          <a:xfrm>
            <a:off x="4362602"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17" name="Shape 15"/>
          <p:cNvSpPr/>
          <p:nvPr/>
        </p:nvSpPr>
        <p:spPr>
          <a:xfrm>
            <a:off x="4362602" y="2084832"/>
            <a:ext cx="64008" cy="4178808"/>
          </a:xfrm>
          <a:prstGeom prst="rect">
            <a:avLst/>
          </a:prstGeom>
          <a:solidFill>
            <a:srgbClr val="3DCD58"/>
          </a:solidFill>
          <a:ln w="12700">
            <a:solidFill>
              <a:srgbClr val="3DCD58"/>
            </a:solidFill>
            <a:prstDash val="solid"/>
          </a:ln>
        </p:spPr>
      </p:sp>
      <p:sp>
        <p:nvSpPr>
          <p:cNvPr id="18" name="Shape 16"/>
          <p:cNvSpPr/>
          <p:nvPr/>
        </p:nvSpPr>
        <p:spPr>
          <a:xfrm>
            <a:off x="4609490" y="2286000"/>
            <a:ext cx="438912" cy="438912"/>
          </a:xfrm>
          <a:prstGeom prst="ellipse">
            <a:avLst/>
          </a:prstGeom>
          <a:solidFill>
            <a:srgbClr val="EAF8ED"/>
          </a:solidFill>
          <a:ln w="12700">
            <a:solidFill>
              <a:srgbClr val="EAF8ED"/>
            </a:solidFill>
            <a:prstDash val="solid"/>
          </a:ln>
        </p:spPr>
      </p:sp>
      <p:sp>
        <p:nvSpPr>
          <p:cNvPr id="19" name="Text 17"/>
          <p:cNvSpPr/>
          <p:nvPr/>
        </p:nvSpPr>
        <p:spPr>
          <a:xfrm>
            <a:off x="4609490"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5139842"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One calculation and trust engine</a:t>
            </a:r>
            <a:endParaRPr lang="en-US" sz="1500" dirty="0"/>
          </a:p>
        </p:txBody>
      </p:sp>
      <p:sp>
        <p:nvSpPr>
          <p:cNvPr id="21" name="Text 19"/>
          <p:cNvSpPr/>
          <p:nvPr/>
        </p:nvSpPr>
        <p:spPr>
          <a:xfrm>
            <a:off x="4591202"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Calculations, allocations and lineage are governed centrally so every product's numbers are defensible and reproducible.</a:t>
            </a:r>
            <a:endParaRPr lang="en-US" sz="1100" dirty="0"/>
          </a:p>
        </p:txBody>
      </p:sp>
      <p:sp>
        <p:nvSpPr>
          <p:cNvPr id="22" name="Text 20"/>
          <p:cNvSpPr/>
          <p:nvPr/>
        </p:nvSpPr>
        <p:spPr>
          <a:xfrm>
            <a:off x="4591202"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Calculation governance and versioning</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Allocations foundation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Audit trail and data lineage on key values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Automated regression testing on the engine</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Anomaly and consistency checks on aggregates</a:t>
            </a:r>
            <a:endParaRPr lang="en-US" sz="1100" dirty="0"/>
          </a:p>
        </p:txBody>
      </p:sp>
      <p:sp>
        <p:nvSpPr>
          <p:cNvPr id="23" name="Shape 21"/>
          <p:cNvSpPr/>
          <p:nvPr/>
        </p:nvSpPr>
        <p:spPr>
          <a:xfrm>
            <a:off x="8103413" y="2084832"/>
            <a:ext cx="3466490" cy="4178808"/>
          </a:xfrm>
          <a:prstGeom prst="roundRect">
            <a:avLst>
              <a:gd name="adj" fmla="val 1583"/>
            </a:avLst>
          </a:prstGeom>
          <a:solidFill>
            <a:srgbClr val="FFFFFF"/>
          </a:solidFill>
          <a:ln w="9525">
            <a:solidFill>
              <a:srgbClr val="E2E6E2"/>
            </a:solidFill>
            <a:prstDash val="solid"/>
          </a:ln>
          <a:effectLst>
            <a:outerShdw sx="100000" sy="100000" kx="0" ky="0" algn="bl" rotWithShape="0" blurRad="Infinity" dist="Infinity" dir="Infinity">
              <a:srgbClr val="0A1F12">
                <a:alpha val="Infinity"/>
              </a:srgbClr>
            </a:outerShdw>
          </a:effectLst>
        </p:spPr>
      </p:sp>
      <p:sp>
        <p:nvSpPr>
          <p:cNvPr id="24" name="Shape 22"/>
          <p:cNvSpPr/>
          <p:nvPr/>
        </p:nvSpPr>
        <p:spPr>
          <a:xfrm>
            <a:off x="8103413" y="2084832"/>
            <a:ext cx="64008" cy="4178808"/>
          </a:xfrm>
          <a:prstGeom prst="rect">
            <a:avLst/>
          </a:prstGeom>
          <a:solidFill>
            <a:srgbClr val="3DCD58"/>
          </a:solidFill>
          <a:ln w="12700">
            <a:solidFill>
              <a:srgbClr val="3DCD58"/>
            </a:solidFill>
            <a:prstDash val="solid"/>
          </a:ln>
        </p:spPr>
      </p:sp>
      <p:sp>
        <p:nvSpPr>
          <p:cNvPr id="25" name="Shape 23"/>
          <p:cNvSpPr/>
          <p:nvPr/>
        </p:nvSpPr>
        <p:spPr>
          <a:xfrm>
            <a:off x="8350301" y="2286000"/>
            <a:ext cx="438912" cy="438912"/>
          </a:xfrm>
          <a:prstGeom prst="ellipse">
            <a:avLst/>
          </a:prstGeom>
          <a:solidFill>
            <a:srgbClr val="EAF8ED"/>
          </a:solidFill>
          <a:ln w="12700">
            <a:solidFill>
              <a:srgbClr val="EAF8ED"/>
            </a:solidFill>
            <a:prstDash val="solid"/>
          </a:ln>
        </p:spPr>
      </p:sp>
      <p:sp>
        <p:nvSpPr>
          <p:cNvPr id="26" name="Text 24"/>
          <p:cNvSpPr/>
          <p:nvPr/>
        </p:nvSpPr>
        <p:spPr>
          <a:xfrm>
            <a:off x="8350301" y="2286000"/>
            <a:ext cx="438912" cy="438912"/>
          </a:xfrm>
          <a:prstGeom prst="rect">
            <a:avLst/>
          </a:prstGeom>
          <a:noFill/>
          <a:ln/>
        </p:spPr>
        <p:txBody>
          <a:bodyPr wrap="square" lIns="0" tIns="0" rIns="0" bIns="0" rtlCol="0" anchor="ctr"/>
          <a:lstStyle/>
          <a:p>
            <a:pPr algn="ctr" indent="0" marL="0">
              <a:buNone/>
            </a:pPr>
            <a:r>
              <a:rPr lang="en-US" sz="1200" b="1" dirty="0">
                <a:solidFill>
                  <a:srgbClr val="007A27"/>
                </a:solidFill>
                <a:latin typeface="Calibri" pitchFamily="34" charset="0"/>
                <a:ea typeface="Calibri" pitchFamily="34" charset="-122"/>
                <a:cs typeface="Calibri" pitchFamily="34" charset="-120"/>
              </a:rPr>
              <a:t>03</a:t>
            </a:r>
            <a:endParaRPr lang="en-US" sz="1200" dirty="0"/>
          </a:p>
        </p:txBody>
      </p:sp>
      <p:sp>
        <p:nvSpPr>
          <p:cNvPr id="27" name="Text 25"/>
          <p:cNvSpPr/>
          <p:nvPr/>
        </p:nvSpPr>
        <p:spPr>
          <a:xfrm>
            <a:off x="8880653" y="2267712"/>
            <a:ext cx="2460650" cy="502920"/>
          </a:xfrm>
          <a:prstGeom prst="rect">
            <a:avLst/>
          </a:prstGeom>
          <a:noFill/>
          <a:ln/>
        </p:spPr>
        <p:txBody>
          <a:bodyPr wrap="square" lIns="0" tIns="0" rIns="0" bIns="0" rtlCol="0" anchor="ctr">
            <a:normAutofit/>
          </a:bodyPr>
          <a:lstStyle/>
          <a:p>
            <a:pPr indent="0" marL="0">
              <a:buNone/>
            </a:pPr>
            <a:r>
              <a:rPr lang="en-US" sz="1500" b="1" dirty="0">
                <a:solidFill>
                  <a:srgbClr val="1E2420"/>
                </a:solidFill>
                <a:latin typeface="Calibri" pitchFamily="34" charset="0"/>
                <a:ea typeface="Calibri" pitchFamily="34" charset="-122"/>
                <a:cs typeface="Calibri" pitchFamily="34" charset="-120"/>
              </a:rPr>
              <a:t>Enterprise scale and intelligence</a:t>
            </a:r>
            <a:endParaRPr lang="en-US" sz="1500" dirty="0"/>
          </a:p>
        </p:txBody>
      </p:sp>
      <p:sp>
        <p:nvSpPr>
          <p:cNvPr id="28" name="Text 26"/>
          <p:cNvSpPr/>
          <p:nvPr/>
        </p:nvSpPr>
        <p:spPr>
          <a:xfrm>
            <a:off x="8332013" y="2862072"/>
            <a:ext cx="3009290" cy="777240"/>
          </a:xfrm>
          <a:prstGeom prst="rect">
            <a:avLst/>
          </a:prstGeom>
          <a:noFill/>
          <a:ln/>
        </p:spPr>
        <p:txBody>
          <a:bodyPr wrap="square" lIns="0" tIns="0" rIns="0" bIns="0" rtlCol="0" anchor="t">
            <a:normAutofit/>
          </a:bodyPr>
          <a:lstStyle/>
          <a:p>
            <a:pPr indent="0" marL="0">
              <a:buNone/>
            </a:pPr>
            <a:r>
              <a:rPr lang="en-US" sz="1100" dirty="0">
                <a:solidFill>
                  <a:srgbClr val="5A625C"/>
                </a:solidFill>
                <a:latin typeface="Calibri" pitchFamily="34" charset="0"/>
                <a:ea typeface="Calibri" pitchFamily="34" charset="-122"/>
                <a:cs typeface="Calibri" pitchFamily="34" charset="-120"/>
              </a:rPr>
              <a:t>EU hosting, languages, performance and Sera make RA+ deployable at enterprise scale and understandable to every user.</a:t>
            </a:r>
            <a:endParaRPr lang="en-US" sz="1100" dirty="0"/>
          </a:p>
        </p:txBody>
      </p:sp>
      <p:sp>
        <p:nvSpPr>
          <p:cNvPr id="29" name="Text 27"/>
          <p:cNvSpPr/>
          <p:nvPr/>
        </p:nvSpPr>
        <p:spPr>
          <a:xfrm>
            <a:off x="8332013" y="3685032"/>
            <a:ext cx="3009290" cy="2395728"/>
          </a:xfrm>
          <a:prstGeom prst="rect">
            <a:avLst/>
          </a:prstGeom>
          <a:noFill/>
          <a:ln/>
        </p:spPr>
        <p:txBody>
          <a:bodyPr wrap="square" lIns="0" tIns="0" rIns="0" bIns="0" rtlCol="0" anchor="t">
            <a:normAutofit/>
          </a:bodyPr>
          <a:lstStyle/>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EU hosting and data residency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Languages and localisation</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Performance at enterprise data volumes</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Sera agents acting on the shared ontology</a:t>
            </a:r>
            <a:endParaRPr lang="en-US" sz="1100" dirty="0"/>
          </a:p>
          <a:p>
            <a:pPr indent="0" marL="0">
              <a:lnSpc>
                <a:spcPct val="110000"/>
              </a:lnSpc>
              <a:spcAft>
                <a:spcPts val="200"/>
              </a:spcAft>
              <a:buNone/>
            </a:pPr>
            <a:r>
              <a:rPr lang="en-US" sz="1100" b="1" dirty="0">
                <a:solidFill>
                  <a:srgbClr val="3DCD58"/>
                </a:solidFill>
                <a:latin typeface="Calibri" pitchFamily="34" charset="0"/>
                <a:ea typeface="Calibri" pitchFamily="34" charset="-122"/>
                <a:cs typeface="Calibri" pitchFamily="34" charset="-120"/>
              </a:rPr>
              <a:t>▪ </a:t>
            </a:r>
            <a:pPr indent="0" marL="0">
              <a:lnSpc>
                <a:spcPct val="110000"/>
              </a:lnSpc>
              <a:spcAft>
                <a:spcPts val="200"/>
              </a:spcAft>
              <a:buNone/>
            </a:pPr>
            <a:r>
              <a:rPr lang="en-US" sz="1100" dirty="0">
                <a:solidFill>
                  <a:srgbClr val="3A423C"/>
                </a:solidFill>
                <a:latin typeface="Calibri" pitchFamily="34" charset="0"/>
                <a:ea typeface="Calibri" pitchFamily="34" charset="-122"/>
                <a:cs typeface="Calibri" pitchFamily="34" charset="-120"/>
              </a:rPr>
              <a:t>Reusable analytics and query infrastructure</a:t>
            </a:r>
            <a:endParaRPr lang="en-US" sz="1100" dirty="0"/>
          </a:p>
        </p:txBody>
      </p:sp>
      <p:sp>
        <p:nvSpPr>
          <p:cNvPr id="30" name="Shape 28"/>
          <p:cNvSpPr/>
          <p:nvPr/>
        </p:nvSpPr>
        <p:spPr>
          <a:xfrm>
            <a:off x="621792" y="6437376"/>
            <a:ext cx="10948111" cy="0"/>
          </a:xfrm>
          <a:prstGeom prst="line">
            <a:avLst/>
          </a:prstGeom>
          <a:noFill/>
          <a:ln w="9525">
            <a:solidFill>
              <a:srgbClr val="E2E6E2"/>
            </a:solidFill>
            <a:prstDash val="solid"/>
          </a:ln>
        </p:spPr>
      </p:sp>
      <p:sp>
        <p:nvSpPr>
          <p:cNvPr id="31" name="Text 29"/>
          <p:cNvSpPr/>
          <p:nvPr/>
        </p:nvSpPr>
        <p:spPr>
          <a:xfrm>
            <a:off x="621792" y="6510528"/>
            <a:ext cx="5029200" cy="164592"/>
          </a:xfrm>
          <a:prstGeom prst="rect">
            <a:avLst/>
          </a:prstGeom>
          <a:noFill/>
          <a:ln/>
        </p:spPr>
        <p:txBody>
          <a:bodyPr wrap="square" lIns="0" tIns="0" rIns="0" bIns="0" rtlCol="0" anchor="ctr"/>
          <a:lstStyle/>
          <a:p>
            <a:pPr indent="0" marL="0">
              <a:buNone/>
            </a:pPr>
            <a:r>
              <a:rPr lang="en-US" sz="750" b="1" spc="110" kern="0" dirty="0">
                <a:solidFill>
                  <a:srgbClr val="007A27"/>
                </a:solidFill>
                <a:latin typeface="Calibri" pitchFamily="34" charset="0"/>
                <a:ea typeface="Calibri" pitchFamily="34" charset="-122"/>
                <a:cs typeface="Calibri" pitchFamily="34" charset="-120"/>
              </a:rPr>
              <a:t>SCHNEIDER ELECTRIC</a:t>
            </a:r>
            <a:pPr indent="0" marL="0">
              <a:buNone/>
            </a:pPr>
            <a:r>
              <a:rPr lang="en-US" sz="750" b="1" spc="110" kern="0" dirty="0">
                <a:solidFill>
                  <a:srgbClr val="5A625C"/>
                </a:solidFill>
                <a:latin typeface="Calibri" pitchFamily="34" charset="0"/>
                <a:ea typeface="Calibri" pitchFamily="34" charset="-122"/>
                <a:cs typeface="Calibri" pitchFamily="34" charset="-120"/>
              </a:rPr>
              <a:t>  |  RA+ ROADMAP</a:t>
            </a:r>
            <a:endParaRPr lang="en-US" sz="750" dirty="0"/>
          </a:p>
        </p:txBody>
      </p:sp>
      <p:sp>
        <p:nvSpPr>
          <p:cNvPr id="32" name="Text 30"/>
          <p:cNvSpPr/>
          <p:nvPr/>
        </p:nvSpPr>
        <p:spPr>
          <a:xfrm>
            <a:off x="8643823" y="6510528"/>
            <a:ext cx="2103120" cy="164592"/>
          </a:xfrm>
          <a:prstGeom prst="rect">
            <a:avLst/>
          </a:prstGeom>
          <a:noFill/>
          <a:ln/>
        </p:spPr>
        <p:txBody>
          <a:bodyPr wrap="square" lIns="0" tIns="0" rIns="0" bIns="0" rtlCol="0" anchor="ctr"/>
          <a:lstStyle/>
          <a:p>
            <a:pPr algn="r" indent="0" marL="0">
              <a:buNone/>
            </a:pPr>
            <a:r>
              <a:rPr lang="en-US" sz="750" b="1" spc="110" kern="0" dirty="0">
                <a:solidFill>
                  <a:srgbClr val="5A625C"/>
                </a:solidFill>
                <a:latin typeface="Calibri" pitchFamily="34" charset="0"/>
                <a:ea typeface="Calibri" pitchFamily="34" charset="-122"/>
                <a:cs typeface="Calibri" pitchFamily="34" charset="-120"/>
              </a:rPr>
              <a:t>INTERNAL USE ONLY</a:t>
            </a:r>
            <a:endParaRPr lang="en-US" sz="75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007A27"/>
                </a:solidFill>
                <a:latin typeface="Calibri"/>
                <a:ea typeface="Calibri"/>
                <a:cs typeface="Calibri"/>
              </a:defRPr>
            </a:lvl1pPr>
          </a:lstStyle>
          <a:p>
            <a:pPr algn="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C3B25"/>
        </a:solidFill>
      </p:bgPr>
    </p:bg>
    <p:spTree>
      <p:nvGrpSpPr>
        <p:cNvPr id="1" name=""/>
        <p:cNvGrpSpPr/>
        <p:nvPr/>
      </p:nvGrpSpPr>
      <p:grpSpPr>
        <a:xfrm>
          <a:off x="0" y="0"/>
          <a:ext cx="0" cy="0"/>
          <a:chOff x="0" y="0"/>
          <a:chExt cx="0" cy="0"/>
        </a:xfrm>
      </p:grpSpPr>
      <p:sp>
        <p:nvSpPr>
          <p:cNvPr id="2" name="Shape 0"/>
          <p:cNvSpPr/>
          <p:nvPr/>
        </p:nvSpPr>
        <p:spPr>
          <a:xfrm>
            <a:off x="5135728" y="502920"/>
            <a:ext cx="1920240" cy="310896"/>
          </a:xfrm>
          <a:prstGeom prst="roundRect">
            <a:avLst>
              <a:gd name="adj" fmla="val 50000"/>
            </a:avLst>
          </a:prstGeom>
          <a:solidFill>
            <a:srgbClr val="0C3B25"/>
          </a:solidFill>
          <a:ln w="12700">
            <a:solidFill>
              <a:srgbClr val="CDFC57"/>
            </a:solidFill>
            <a:prstDash val="solid"/>
          </a:ln>
        </p:spPr>
      </p:sp>
      <p:sp>
        <p:nvSpPr>
          <p:cNvPr id="3" name="Text 1"/>
          <p:cNvSpPr/>
          <p:nvPr/>
        </p:nvSpPr>
        <p:spPr>
          <a:xfrm>
            <a:off x="5135728" y="502920"/>
            <a:ext cx="1920240" cy="310896"/>
          </a:xfrm>
          <a:prstGeom prst="rect">
            <a:avLst/>
          </a:prstGeom>
          <a:noFill/>
          <a:ln/>
        </p:spPr>
        <p:txBody>
          <a:bodyPr wrap="square" lIns="0" tIns="0" rIns="0" bIns="0" rtlCol="0" anchor="ctr"/>
          <a:lstStyle/>
          <a:p>
            <a:pPr algn="ctr" indent="0" marL="0">
              <a:buNone/>
            </a:pPr>
            <a:r>
              <a:rPr lang="en-US" sz="1000" b="1" spc="300" kern="0" dirty="0">
                <a:solidFill>
                  <a:srgbClr val="CDFC57"/>
                </a:solidFill>
                <a:latin typeface="Calibri" pitchFamily="34" charset="0"/>
                <a:ea typeface="Calibri" pitchFamily="34" charset="-122"/>
                <a:cs typeface="Calibri" pitchFamily="34" charset="-120"/>
              </a:rPr>
              <a:t>2027 VISION</a:t>
            </a:r>
            <a:endParaRPr lang="en-US" sz="1000" dirty="0"/>
          </a:p>
        </p:txBody>
      </p:sp>
      <p:sp>
        <p:nvSpPr>
          <p:cNvPr id="4" name="Text 2"/>
          <p:cNvSpPr/>
          <p:nvPr/>
        </p:nvSpPr>
        <p:spPr>
          <a:xfrm>
            <a:off x="621792" y="1005840"/>
            <a:ext cx="10948111" cy="868680"/>
          </a:xfrm>
          <a:prstGeom prst="rect">
            <a:avLst/>
          </a:prstGeom>
          <a:noFill/>
          <a:ln/>
        </p:spPr>
        <p:txBody>
          <a:bodyPr wrap="square" lIns="0" tIns="0" rIns="0" bIns="0" rtlCol="0" anchor="ctr">
            <a:normAutofit/>
          </a:bodyPr>
          <a:lstStyle/>
          <a:p>
            <a:pPr algn="ctr" indent="0" marL="0">
              <a:buNone/>
            </a:pPr>
            <a:r>
              <a:rPr lang="en-US" sz="3000" b="1" dirty="0">
                <a:solidFill>
                  <a:srgbClr val="FFFFFF"/>
                </a:solidFill>
                <a:latin typeface="Calibri" pitchFamily="34" charset="0"/>
                <a:ea typeface="Calibri" pitchFamily="34" charset="-122"/>
                <a:cs typeface="Calibri" pitchFamily="34" charset="-120"/>
              </a:rPr>
              <a:t>From data you collect </a:t>
            </a:r>
            <a:pPr algn="ctr" indent="0" marL="0">
              <a:buNone/>
            </a:pPr>
            <a:r>
              <a:rPr lang="en-US" sz="3000" b="1" dirty="0">
                <a:solidFill>
                  <a:srgbClr val="CDFC57"/>
                </a:solidFill>
                <a:latin typeface="Calibri" pitchFamily="34" charset="0"/>
                <a:ea typeface="Calibri" pitchFamily="34" charset="-122"/>
                <a:cs typeface="Calibri" pitchFamily="34" charset="-120"/>
              </a:rPr>
              <a:t>to intelligence that decides.</a:t>
            </a:r>
            <a:endParaRPr lang="en-US" sz="3000" dirty="0"/>
          </a:p>
        </p:txBody>
      </p:sp>
      <p:sp>
        <p:nvSpPr>
          <p:cNvPr id="5" name="Text 3"/>
          <p:cNvSpPr/>
          <p:nvPr/>
        </p:nvSpPr>
        <p:spPr>
          <a:xfrm>
            <a:off x="2163928" y="1965960"/>
            <a:ext cx="7863840" cy="960120"/>
          </a:xfrm>
          <a:prstGeom prst="rect">
            <a:avLst/>
          </a:prstGeom>
          <a:noFill/>
          <a:ln/>
        </p:spPr>
        <p:txBody>
          <a:bodyPr wrap="square" lIns="0" tIns="0" rIns="0" bIns="0" rtlCol="0" anchor="t">
            <a:normAutofit/>
          </a:bodyPr>
          <a:lstStyle/>
          <a:p>
            <a:pPr algn="ctr" indent="0" marL="0">
              <a:lnSpc>
                <a:spcPct val="125000"/>
              </a:lnSpc>
              <a:buNone/>
            </a:pPr>
            <a:r>
              <a:rPr lang="en-US" sz="1200" dirty="0">
                <a:solidFill>
                  <a:srgbClr val="BFD9C9"/>
                </a:solidFill>
                <a:latin typeface="Calibri" pitchFamily="34" charset="0"/>
                <a:ea typeface="Calibri" pitchFamily="34" charset="-122"/>
                <a:cs typeface="Calibri" pitchFamily="34" charset="-120"/>
              </a:rPr>
              <a:t>By 2027, RA+ is no longer the place where sustainability data is stored. It is the place where the business is run: every footprint consultant grade, every risk priced in financial terms, every disclosure generated from the same trusted numbers, every decision grounded in one shared source of truth.</a:t>
            </a:r>
            <a:endParaRPr lang="en-US" sz="1200" dirty="0"/>
          </a:p>
        </p:txBody>
      </p:sp>
      <p:sp>
        <p:nvSpPr>
          <p:cNvPr id="6" name="Shape 4"/>
          <p:cNvSpPr/>
          <p:nvPr/>
        </p:nvSpPr>
        <p:spPr>
          <a:xfrm>
            <a:off x="621792" y="3246120"/>
            <a:ext cx="3405530" cy="1828800"/>
          </a:xfrm>
          <a:prstGeom prst="roundRect">
            <a:avLst>
              <a:gd name="adj" fmla="val 3000"/>
            </a:avLst>
          </a:prstGeom>
          <a:solidFill>
            <a:srgbClr val="0F4A2E"/>
          </a:solidFill>
          <a:ln w="9525">
            <a:solidFill>
              <a:srgbClr val="CDFC57"/>
            </a:solidFill>
            <a:prstDash val="solid"/>
          </a:ln>
        </p:spPr>
      </p:sp>
      <p:sp>
        <p:nvSpPr>
          <p:cNvPr id="7" name="Text 5"/>
          <p:cNvSpPr/>
          <p:nvPr/>
        </p:nvSpPr>
        <p:spPr>
          <a:xfrm>
            <a:off x="850392" y="3447288"/>
            <a:ext cx="2948330" cy="365760"/>
          </a:xfrm>
          <a:prstGeom prst="rect">
            <a:avLst/>
          </a:prstGeom>
          <a:noFill/>
          <a:ln/>
        </p:spPr>
        <p:txBody>
          <a:bodyPr wrap="square" lIns="0" tIns="0" rIns="0" bIns="0" rtlCol="0" anchor="ctr">
            <a:normAutofit/>
          </a:bodyPr>
          <a:lstStyle/>
          <a:p>
            <a:pPr algn="ctr" indent="0" marL="0">
              <a:buNone/>
            </a:pPr>
            <a:r>
              <a:rPr lang="en-US" sz="1500" b="1" dirty="0">
                <a:solidFill>
                  <a:srgbClr val="CDFC57"/>
                </a:solidFill>
                <a:latin typeface="Calibri" pitchFamily="34" charset="0"/>
                <a:ea typeface="Calibri" pitchFamily="34" charset="-122"/>
                <a:cs typeface="Calibri" pitchFamily="34" charset="-120"/>
              </a:rPr>
              <a:t>One platform</a:t>
            </a:r>
            <a:endParaRPr lang="en-US" sz="1500" dirty="0"/>
          </a:p>
        </p:txBody>
      </p:sp>
      <p:sp>
        <p:nvSpPr>
          <p:cNvPr id="8" name="Text 6"/>
          <p:cNvSpPr/>
          <p:nvPr/>
        </p:nvSpPr>
        <p:spPr>
          <a:xfrm>
            <a:off x="850392" y="3886200"/>
            <a:ext cx="2948330" cy="960120"/>
          </a:xfrm>
          <a:prstGeom prst="rect">
            <a:avLst/>
          </a:prstGeom>
          <a:noFill/>
          <a:ln/>
        </p:spPr>
        <p:txBody>
          <a:bodyPr wrap="square" lIns="0" tIns="0" rIns="0" bIns="0" rtlCol="0" anchor="t">
            <a:normAutofit/>
          </a:bodyPr>
          <a:lstStyle/>
          <a:p>
            <a:pPr algn="ctr" indent="0" marL="0">
              <a:lnSpc>
                <a:spcPct val="120000"/>
              </a:lnSpc>
              <a:buNone/>
            </a:pPr>
            <a:r>
              <a:rPr lang="en-US" sz="1050" dirty="0">
                <a:solidFill>
                  <a:srgbClr val="BFD9C9"/>
                </a:solidFill>
                <a:latin typeface="Calibri" pitchFamily="34" charset="0"/>
                <a:ea typeface="Calibri" pitchFamily="34" charset="-122"/>
                <a:cs typeface="Calibri" pitchFamily="34" charset="-120"/>
              </a:rPr>
              <a:t>Sustainability, Energy and Efficiency converge on a single data spine. One hierarchy, one ontology, one version of the truth for every product.</a:t>
            </a:r>
            <a:endParaRPr lang="en-US" sz="1050" dirty="0"/>
          </a:p>
        </p:txBody>
      </p:sp>
      <p:sp>
        <p:nvSpPr>
          <p:cNvPr id="9" name="Shape 7"/>
          <p:cNvSpPr/>
          <p:nvPr/>
        </p:nvSpPr>
        <p:spPr>
          <a:xfrm>
            <a:off x="4393082" y="3246120"/>
            <a:ext cx="3405530" cy="1828800"/>
          </a:xfrm>
          <a:prstGeom prst="roundRect">
            <a:avLst>
              <a:gd name="adj" fmla="val 3000"/>
            </a:avLst>
          </a:prstGeom>
          <a:solidFill>
            <a:srgbClr val="0F4A2E"/>
          </a:solidFill>
          <a:ln w="9525">
            <a:solidFill>
              <a:srgbClr val="CDFC57"/>
            </a:solidFill>
            <a:prstDash val="solid"/>
          </a:ln>
        </p:spPr>
      </p:sp>
      <p:sp>
        <p:nvSpPr>
          <p:cNvPr id="10" name="Text 8"/>
          <p:cNvSpPr/>
          <p:nvPr/>
        </p:nvSpPr>
        <p:spPr>
          <a:xfrm>
            <a:off x="4621682" y="3447288"/>
            <a:ext cx="2948330" cy="365760"/>
          </a:xfrm>
          <a:prstGeom prst="rect">
            <a:avLst/>
          </a:prstGeom>
          <a:noFill/>
          <a:ln/>
        </p:spPr>
        <p:txBody>
          <a:bodyPr wrap="square" lIns="0" tIns="0" rIns="0" bIns="0" rtlCol="0" anchor="ctr">
            <a:normAutofit/>
          </a:bodyPr>
          <a:lstStyle/>
          <a:p>
            <a:pPr algn="ctr" indent="0" marL="0">
              <a:buNone/>
            </a:pPr>
            <a:r>
              <a:rPr lang="en-US" sz="1500" b="1" dirty="0">
                <a:solidFill>
                  <a:srgbClr val="CDFC57"/>
                </a:solidFill>
                <a:latin typeface="Calibri" pitchFamily="34" charset="0"/>
                <a:ea typeface="Calibri" pitchFamily="34" charset="-122"/>
                <a:cs typeface="Calibri" pitchFamily="34" charset="-120"/>
              </a:rPr>
              <a:t>AI native</a:t>
            </a:r>
            <a:endParaRPr lang="en-US" sz="1500" dirty="0"/>
          </a:p>
        </p:txBody>
      </p:sp>
      <p:sp>
        <p:nvSpPr>
          <p:cNvPr id="11" name="Text 9"/>
          <p:cNvSpPr/>
          <p:nvPr/>
        </p:nvSpPr>
        <p:spPr>
          <a:xfrm>
            <a:off x="4621682" y="3886200"/>
            <a:ext cx="2948330" cy="960120"/>
          </a:xfrm>
          <a:prstGeom prst="rect">
            <a:avLst/>
          </a:prstGeom>
          <a:noFill/>
          <a:ln/>
        </p:spPr>
        <p:txBody>
          <a:bodyPr wrap="square" lIns="0" tIns="0" rIns="0" bIns="0" rtlCol="0" anchor="t">
            <a:normAutofit/>
          </a:bodyPr>
          <a:lstStyle/>
          <a:p>
            <a:pPr algn="ctr" indent="0" marL="0">
              <a:lnSpc>
                <a:spcPct val="120000"/>
              </a:lnSpc>
              <a:buNone/>
            </a:pPr>
            <a:r>
              <a:rPr lang="en-US" sz="1050" dirty="0">
                <a:solidFill>
                  <a:srgbClr val="BFD9C9"/>
                </a:solidFill>
                <a:latin typeface="Calibri" pitchFamily="34" charset="0"/>
                <a:ea typeface="Calibri" pitchFamily="34" charset="-122"/>
                <a:cs typeface="Calibri" pitchFamily="34" charset="-120"/>
              </a:rPr>
              <a:t>Sera agents act on the shared ontology across every product, turning data into recommendations, scenarios and actions before anyone asks.</a:t>
            </a:r>
            <a:endParaRPr lang="en-US" sz="1050" dirty="0"/>
          </a:p>
        </p:txBody>
      </p:sp>
      <p:sp>
        <p:nvSpPr>
          <p:cNvPr id="12" name="Shape 10"/>
          <p:cNvSpPr/>
          <p:nvPr/>
        </p:nvSpPr>
        <p:spPr>
          <a:xfrm>
            <a:off x="8164373" y="3246120"/>
            <a:ext cx="3405530" cy="1828800"/>
          </a:xfrm>
          <a:prstGeom prst="roundRect">
            <a:avLst>
              <a:gd name="adj" fmla="val 3000"/>
            </a:avLst>
          </a:prstGeom>
          <a:solidFill>
            <a:srgbClr val="0F4A2E"/>
          </a:solidFill>
          <a:ln w="9525">
            <a:solidFill>
              <a:srgbClr val="CDFC57"/>
            </a:solidFill>
            <a:prstDash val="solid"/>
          </a:ln>
        </p:spPr>
      </p:sp>
      <p:sp>
        <p:nvSpPr>
          <p:cNvPr id="13" name="Text 11"/>
          <p:cNvSpPr/>
          <p:nvPr/>
        </p:nvSpPr>
        <p:spPr>
          <a:xfrm>
            <a:off x="8392973" y="3447288"/>
            <a:ext cx="2948330" cy="365760"/>
          </a:xfrm>
          <a:prstGeom prst="rect">
            <a:avLst/>
          </a:prstGeom>
          <a:noFill/>
          <a:ln/>
        </p:spPr>
        <p:txBody>
          <a:bodyPr wrap="square" lIns="0" tIns="0" rIns="0" bIns="0" rtlCol="0" anchor="ctr">
            <a:normAutofit/>
          </a:bodyPr>
          <a:lstStyle/>
          <a:p>
            <a:pPr algn="ctr" indent="0" marL="0">
              <a:buNone/>
            </a:pPr>
            <a:r>
              <a:rPr lang="en-US" sz="1500" b="1" dirty="0">
                <a:solidFill>
                  <a:srgbClr val="CDFC57"/>
                </a:solidFill>
                <a:latin typeface="Calibri" pitchFamily="34" charset="0"/>
                <a:ea typeface="Calibri" pitchFamily="34" charset="-122"/>
                <a:cs typeface="Calibri" pitchFamily="34" charset="-120"/>
              </a:rPr>
              <a:t>Board grade</a:t>
            </a:r>
            <a:endParaRPr lang="en-US" sz="1500" dirty="0"/>
          </a:p>
        </p:txBody>
      </p:sp>
      <p:sp>
        <p:nvSpPr>
          <p:cNvPr id="14" name="Text 12"/>
          <p:cNvSpPr/>
          <p:nvPr/>
        </p:nvSpPr>
        <p:spPr>
          <a:xfrm>
            <a:off x="8392973" y="3886200"/>
            <a:ext cx="2948330" cy="960120"/>
          </a:xfrm>
          <a:prstGeom prst="rect">
            <a:avLst/>
          </a:prstGeom>
          <a:noFill/>
          <a:ln/>
        </p:spPr>
        <p:txBody>
          <a:bodyPr wrap="square" lIns="0" tIns="0" rIns="0" bIns="0" rtlCol="0" anchor="t">
            <a:normAutofit/>
          </a:bodyPr>
          <a:lstStyle/>
          <a:p>
            <a:pPr algn="ctr" indent="0" marL="0">
              <a:lnSpc>
                <a:spcPct val="120000"/>
              </a:lnSpc>
              <a:buNone/>
            </a:pPr>
            <a:r>
              <a:rPr lang="en-US" sz="1050" dirty="0">
                <a:solidFill>
                  <a:srgbClr val="BFD9C9"/>
                </a:solidFill>
                <a:latin typeface="Calibri" pitchFamily="34" charset="0"/>
                <a:ea typeface="Calibri" pitchFamily="34" charset="-122"/>
                <a:cs typeface="Calibri" pitchFamily="34" charset="-120"/>
              </a:rPr>
              <a:t>Every number is auditable, every disclosure is generated, every value at risk is expressed in the language the CFO and the board trade in.</a:t>
            </a:r>
            <a:endParaRPr lang="en-US" sz="1050" dirty="0"/>
          </a:p>
        </p:txBody>
      </p:sp>
      <p:sp>
        <p:nvSpPr>
          <p:cNvPr id="15" name="Text 13"/>
          <p:cNvSpPr/>
          <p:nvPr/>
        </p:nvSpPr>
        <p:spPr>
          <a:xfrm>
            <a:off x="621792" y="5532120"/>
            <a:ext cx="10948111" cy="457200"/>
          </a:xfrm>
          <a:prstGeom prst="rect">
            <a:avLst/>
          </a:prstGeom>
          <a:noFill/>
          <a:ln/>
        </p:spPr>
        <p:txBody>
          <a:bodyPr wrap="square" lIns="0" tIns="0" rIns="0" bIns="0" rtlCol="0" anchor="ctr"/>
          <a:lstStyle/>
          <a:p>
            <a:pPr algn="ctr" indent="0" marL="0">
              <a:buNone/>
            </a:pPr>
            <a:r>
              <a:rPr lang="en-US" sz="1800" spc="100" kern="0" dirty="0">
                <a:solidFill>
                  <a:srgbClr val="FFFFFF"/>
                </a:solidFill>
                <a:latin typeface="Calibri" pitchFamily="34" charset="0"/>
                <a:ea typeface="Calibri" pitchFamily="34" charset="-122"/>
                <a:cs typeface="Calibri" pitchFamily="34" charset="-120"/>
              </a:rPr>
              <a:t>End-to-end value, only we can deliver.</a:t>
            </a:r>
            <a:endParaRPr lang="en-US" sz="1800" dirty="0"/>
          </a:p>
        </p:txBody>
      </p:sp>
      <p:sp>
        <p:nvSpPr>
          <p:cNvPr id="16" name="Text 14"/>
          <p:cNvSpPr/>
          <p:nvPr/>
        </p:nvSpPr>
        <p:spPr>
          <a:xfrm>
            <a:off x="8460943" y="6355080"/>
            <a:ext cx="3108960" cy="274320"/>
          </a:xfrm>
          <a:prstGeom prst="rect">
            <a:avLst/>
          </a:prstGeom>
          <a:noFill/>
          <a:ln/>
        </p:spPr>
        <p:txBody>
          <a:bodyPr wrap="square" lIns="0" tIns="0" rIns="0" bIns="0" rtlCol="0" anchor="ctr"/>
          <a:lstStyle/>
          <a:p>
            <a:pPr algn="r" indent="0" marL="0">
              <a:buNone/>
            </a:pPr>
            <a:r>
              <a:rPr lang="en-US" sz="1300" b="1" dirty="0">
                <a:solidFill>
                  <a:srgbClr val="3DCD58"/>
                </a:solidFill>
                <a:latin typeface="Calibri" pitchFamily="34" charset="0"/>
                <a:ea typeface="Calibri" pitchFamily="34" charset="-122"/>
                <a:cs typeface="Calibri" pitchFamily="34" charset="-120"/>
              </a:rPr>
              <a:t>SE </a:t>
            </a:r>
            <a:pPr algn="r" indent="0" marL="0">
              <a:buNone/>
            </a:pPr>
            <a:r>
              <a:rPr lang="en-US" sz="1300" dirty="0">
                <a:solidFill>
                  <a:srgbClr val="FFFFFF"/>
                </a:solidFill>
                <a:latin typeface="Calibri" pitchFamily="34" charset="0"/>
                <a:ea typeface="Calibri" pitchFamily="34" charset="-122"/>
                <a:cs typeface="Calibri" pitchFamily="34" charset="-120"/>
              </a:rPr>
              <a:t>ADVISORY SERVICES</a:t>
            </a:r>
            <a:endParaRPr lang="en-US" sz="1300" dirty="0"/>
          </a:p>
        </p:txBody>
      </p:sp>
      <p:sp>
        <p:nvSpPr>
          <p:cNvPr id="25" name="Slide Number Placeholder 0"/>
          <p:cNvSpPr>
            <a:spLocks noGrp="1"/>
          </p:cNvSpPr>
          <p:nvPr>
            <p:ph type="sldNum" sz="quarter" idx="4294967295"/>
          </p:nvPr>
        </p:nvSpPr>
        <p:spPr>
          <a:xfrm>
            <a:off x="10929823" y="608076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C3B25"/>
        </a:solidFill>
      </p:bgPr>
    </p:bg>
    <p:spTree>
      <p:nvGrpSpPr>
        <p:cNvPr id="1" name=""/>
        <p:cNvGrpSpPr/>
        <p:nvPr/>
      </p:nvGrpSpPr>
      <p:grpSpPr>
        <a:xfrm>
          <a:off x="0" y="0"/>
          <a:ext cx="0" cy="0"/>
          <a:chOff x="0" y="0"/>
          <a:chExt cx="0" cy="0"/>
        </a:xfrm>
      </p:grpSpPr>
      <p:sp>
        <p:nvSpPr>
          <p:cNvPr id="2" name="Shape 0"/>
          <p:cNvSpPr/>
          <p:nvPr/>
        </p:nvSpPr>
        <p:spPr>
          <a:xfrm>
            <a:off x="621792" y="384048"/>
            <a:ext cx="2514600" cy="310896"/>
          </a:xfrm>
          <a:prstGeom prst="roundRect">
            <a:avLst>
              <a:gd name="adj" fmla="val 50000"/>
            </a:avLst>
          </a:prstGeom>
          <a:solidFill>
            <a:srgbClr val="0C3B25"/>
          </a:solidFill>
          <a:ln w="12700">
            <a:solidFill>
              <a:srgbClr val="CDFC57"/>
            </a:solidFill>
            <a:prstDash val="solid"/>
          </a:ln>
        </p:spPr>
      </p:sp>
      <p:sp>
        <p:nvSpPr>
          <p:cNvPr id="3" name="Text 1"/>
          <p:cNvSpPr/>
          <p:nvPr/>
        </p:nvSpPr>
        <p:spPr>
          <a:xfrm>
            <a:off x="621792" y="384048"/>
            <a:ext cx="2514600" cy="310896"/>
          </a:xfrm>
          <a:prstGeom prst="rect">
            <a:avLst/>
          </a:prstGeom>
          <a:noFill/>
          <a:ln/>
        </p:spPr>
        <p:txBody>
          <a:bodyPr wrap="square" lIns="0" tIns="0" rIns="0" bIns="0" rtlCol="0" anchor="ctr"/>
          <a:lstStyle/>
          <a:p>
            <a:pPr algn="ctr" indent="0" marL="0">
              <a:buNone/>
            </a:pPr>
            <a:r>
              <a:rPr lang="en-US" sz="900" b="1" spc="180" kern="0" dirty="0">
                <a:solidFill>
                  <a:srgbClr val="CDFC57"/>
                </a:solidFill>
                <a:latin typeface="Calibri" pitchFamily="34" charset="0"/>
                <a:ea typeface="Calibri" pitchFamily="34" charset="-122"/>
                <a:cs typeface="Calibri" pitchFamily="34" charset="-120"/>
              </a:rPr>
              <a:t>BEYOND 2027 | DIRECTIONAL</a:t>
            </a:r>
            <a:endParaRPr lang="en-US" sz="900" dirty="0"/>
          </a:p>
        </p:txBody>
      </p:sp>
      <p:sp>
        <p:nvSpPr>
          <p:cNvPr id="4" name="Text 2"/>
          <p:cNvSpPr/>
          <p:nvPr/>
        </p:nvSpPr>
        <p:spPr>
          <a:xfrm>
            <a:off x="621792" y="850392"/>
            <a:ext cx="10948111" cy="713232"/>
          </a:xfrm>
          <a:prstGeom prst="rect">
            <a:avLst/>
          </a:prstGeom>
          <a:noFill/>
          <a:ln/>
        </p:spPr>
        <p:txBody>
          <a:bodyPr wrap="square" lIns="0" tIns="0" rIns="0" bIns="0" rtlCol="0" anchor="ctr">
            <a:normAutofit/>
          </a:bodyPr>
          <a:lstStyle/>
          <a:p>
            <a:pPr indent="0" marL="0">
              <a:buNone/>
            </a:pPr>
            <a:r>
              <a:rPr lang="en-US" sz="2700" b="1" dirty="0">
                <a:solidFill>
                  <a:srgbClr val="FFFFFF"/>
                </a:solidFill>
                <a:latin typeface="Calibri" pitchFamily="34" charset="0"/>
                <a:ea typeface="Calibri" pitchFamily="34" charset="-122"/>
                <a:cs typeface="Calibri" pitchFamily="34" charset="-120"/>
              </a:rPr>
              <a:t>The long-term path: from connected products to an autonomous value platform</a:t>
            </a:r>
            <a:endParaRPr lang="en-US" sz="2700" dirty="0"/>
          </a:p>
        </p:txBody>
      </p:sp>
      <p:sp>
        <p:nvSpPr>
          <p:cNvPr id="5" name="Text 3"/>
          <p:cNvSpPr/>
          <p:nvPr/>
        </p:nvSpPr>
        <p:spPr>
          <a:xfrm>
            <a:off x="621792" y="1627632"/>
            <a:ext cx="9875520" cy="438912"/>
          </a:xfrm>
          <a:prstGeom prst="rect">
            <a:avLst/>
          </a:prstGeom>
          <a:noFill/>
          <a:ln/>
        </p:spPr>
        <p:txBody>
          <a:bodyPr wrap="square" lIns="0" tIns="0" rIns="0" bIns="0" rtlCol="0" anchor="t">
            <a:normAutofit/>
          </a:bodyPr>
          <a:lstStyle/>
          <a:p>
            <a:pPr indent="0" marL="0">
              <a:buNone/>
            </a:pPr>
            <a:r>
              <a:rPr lang="en-US" sz="1150" dirty="0">
                <a:solidFill>
                  <a:srgbClr val="BFD9C9"/>
                </a:solidFill>
                <a:latin typeface="Calibri" pitchFamily="34" charset="0"/>
                <a:ea typeface="Calibri" pitchFamily="34" charset="-122"/>
                <a:cs typeface="Calibri" pitchFamily="34" charset="-120"/>
              </a:rPr>
              <a:t>A strategic horizon, not a committed release plan. Each stage compounds the shared data, intelligence and experience built through 2027.</a:t>
            </a:r>
            <a:endParaRPr lang="en-US" sz="1150" dirty="0"/>
          </a:p>
        </p:txBody>
      </p:sp>
      <p:sp>
        <p:nvSpPr>
          <p:cNvPr id="6" name="Shape 4"/>
          <p:cNvSpPr/>
          <p:nvPr/>
        </p:nvSpPr>
        <p:spPr>
          <a:xfrm>
            <a:off x="621792" y="2267712"/>
            <a:ext cx="3393338" cy="0"/>
          </a:xfrm>
          <a:prstGeom prst="line">
            <a:avLst/>
          </a:prstGeom>
          <a:noFill/>
          <a:ln w="10160">
            <a:solidFill>
              <a:srgbClr val="5E806E"/>
            </a:solidFill>
            <a:prstDash val="solid"/>
          </a:ln>
        </p:spPr>
      </p:sp>
      <p:sp>
        <p:nvSpPr>
          <p:cNvPr id="7" name="Text 5"/>
          <p:cNvSpPr/>
          <p:nvPr/>
        </p:nvSpPr>
        <p:spPr>
          <a:xfrm>
            <a:off x="4115714" y="2148840"/>
            <a:ext cx="182880" cy="228600"/>
          </a:xfrm>
          <a:prstGeom prst="rect">
            <a:avLst/>
          </a:prstGeom>
          <a:noFill/>
          <a:ln/>
        </p:spPr>
        <p:txBody>
          <a:bodyPr wrap="square" lIns="0" tIns="0" rIns="0" bIns="0" rtlCol="0" anchor="ctr"/>
          <a:lstStyle/>
          <a:p>
            <a:pPr algn="ctr" indent="0" marL="0">
              <a:buNone/>
            </a:pPr>
            <a:r>
              <a:rPr lang="en-US" sz="1700" dirty="0">
                <a:solidFill>
                  <a:srgbClr val="769585"/>
                </a:solidFill>
                <a:latin typeface="Calibri" pitchFamily="34" charset="0"/>
                <a:ea typeface="Calibri" pitchFamily="34" charset="-122"/>
                <a:cs typeface="Calibri" pitchFamily="34" charset="-120"/>
              </a:rPr>
              <a:t>›</a:t>
            </a:r>
            <a:endParaRPr lang="en-US" sz="1700" dirty="0"/>
          </a:p>
        </p:txBody>
      </p:sp>
      <p:sp>
        <p:nvSpPr>
          <p:cNvPr id="8" name="Shape 6"/>
          <p:cNvSpPr/>
          <p:nvPr/>
        </p:nvSpPr>
        <p:spPr>
          <a:xfrm>
            <a:off x="621792" y="2432304"/>
            <a:ext cx="731520" cy="292608"/>
          </a:xfrm>
          <a:prstGeom prst="roundRect">
            <a:avLst>
              <a:gd name="adj" fmla="val 12500"/>
            </a:avLst>
          </a:prstGeom>
          <a:solidFill>
            <a:srgbClr val="0C3B25"/>
          </a:solidFill>
          <a:ln w="12700">
            <a:solidFill>
              <a:srgbClr val="3DCD58"/>
            </a:solidFill>
            <a:prstDash val="solid"/>
          </a:ln>
        </p:spPr>
      </p:sp>
      <p:sp>
        <p:nvSpPr>
          <p:cNvPr id="9" name="Text 7"/>
          <p:cNvSpPr/>
          <p:nvPr/>
        </p:nvSpPr>
        <p:spPr>
          <a:xfrm>
            <a:off x="621792" y="2432304"/>
            <a:ext cx="731520" cy="292608"/>
          </a:xfrm>
          <a:prstGeom prst="rect">
            <a:avLst/>
          </a:prstGeom>
          <a:noFill/>
          <a:ln/>
        </p:spPr>
        <p:txBody>
          <a:bodyPr wrap="square" lIns="0" tIns="0" rIns="0" bIns="0" rtlCol="0" anchor="ctr"/>
          <a:lstStyle/>
          <a:p>
            <a:pPr algn="ctr" indent="0" marL="0">
              <a:buNone/>
            </a:pPr>
            <a:r>
              <a:rPr lang="en-US" sz="1000" b="1" dirty="0">
                <a:solidFill>
                  <a:srgbClr val="3DCD58"/>
                </a:solidFill>
                <a:latin typeface="Calibri" pitchFamily="34" charset="0"/>
                <a:ea typeface="Calibri" pitchFamily="34" charset="-122"/>
                <a:cs typeface="Calibri" pitchFamily="34" charset="-120"/>
              </a:rPr>
              <a:t>2028</a:t>
            </a:r>
            <a:endParaRPr lang="en-US" sz="1000" dirty="0"/>
          </a:p>
        </p:txBody>
      </p:sp>
      <p:sp>
        <p:nvSpPr>
          <p:cNvPr id="10" name="Text 8"/>
          <p:cNvSpPr/>
          <p:nvPr/>
        </p:nvSpPr>
        <p:spPr>
          <a:xfrm>
            <a:off x="621792" y="2889504"/>
            <a:ext cx="3393338" cy="38404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Scale the platform</a:t>
            </a:r>
            <a:endParaRPr lang="en-US" sz="1600" dirty="0"/>
          </a:p>
        </p:txBody>
      </p:sp>
      <p:sp>
        <p:nvSpPr>
          <p:cNvPr id="11" name="Text 9"/>
          <p:cNvSpPr/>
          <p:nvPr/>
        </p:nvSpPr>
        <p:spPr>
          <a:xfrm>
            <a:off x="621792" y="3310128"/>
            <a:ext cx="3393338" cy="594360"/>
          </a:xfrm>
          <a:prstGeom prst="rect">
            <a:avLst/>
          </a:prstGeom>
          <a:noFill/>
          <a:ln/>
        </p:spPr>
        <p:txBody>
          <a:bodyPr wrap="square" lIns="0" tIns="0" rIns="0" bIns="0" rtlCol="0" anchor="t">
            <a:normAutofit/>
          </a:bodyPr>
          <a:lstStyle/>
          <a:p>
            <a:pPr indent="0" marL="0">
              <a:buNone/>
            </a:pPr>
            <a:r>
              <a:rPr lang="en-US" sz="1000" dirty="0">
                <a:solidFill>
                  <a:srgbClr val="BFD9C9"/>
                </a:solidFill>
                <a:latin typeface="Calibri" pitchFamily="34" charset="0"/>
                <a:ea typeface="Calibri" pitchFamily="34" charset="-122"/>
                <a:cs typeface="Calibri" pitchFamily="34" charset="-120"/>
              </a:rPr>
              <a:t>Make one trusted foundation deployable across the enterprise and the extended value chain.</a:t>
            </a:r>
            <a:endParaRPr lang="en-US" sz="1000" dirty="0"/>
          </a:p>
        </p:txBody>
      </p:sp>
      <p:sp>
        <p:nvSpPr>
          <p:cNvPr id="12" name="Shape 10"/>
          <p:cNvSpPr/>
          <p:nvPr/>
        </p:nvSpPr>
        <p:spPr>
          <a:xfrm>
            <a:off x="621792" y="3977640"/>
            <a:ext cx="3393338" cy="0"/>
          </a:xfrm>
          <a:prstGeom prst="line">
            <a:avLst/>
          </a:prstGeom>
          <a:noFill/>
          <a:ln w="6350">
            <a:solidFill>
              <a:srgbClr val="315D47"/>
            </a:solidFill>
            <a:prstDash val="solid"/>
          </a:ln>
        </p:spPr>
      </p:sp>
      <p:sp>
        <p:nvSpPr>
          <p:cNvPr id="13" name="Shape 11"/>
          <p:cNvSpPr/>
          <p:nvPr/>
        </p:nvSpPr>
        <p:spPr>
          <a:xfrm>
            <a:off x="621792" y="4114800"/>
            <a:ext cx="54864" cy="54864"/>
          </a:xfrm>
          <a:prstGeom prst="ellipse">
            <a:avLst/>
          </a:prstGeom>
          <a:solidFill>
            <a:srgbClr val="3DCD58"/>
          </a:solidFill>
          <a:ln w="12700">
            <a:solidFill>
              <a:srgbClr val="3DCD58"/>
            </a:solidFill>
            <a:prstDash val="solid"/>
          </a:ln>
        </p:spPr>
      </p:sp>
      <p:sp>
        <p:nvSpPr>
          <p:cNvPr id="14" name="Text 12"/>
          <p:cNvSpPr/>
          <p:nvPr/>
        </p:nvSpPr>
        <p:spPr>
          <a:xfrm>
            <a:off x="768096" y="4059936"/>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Sustainability Performance broadens the carbon baseline</a:t>
            </a:r>
            <a:endParaRPr lang="en-US" sz="900" dirty="0"/>
          </a:p>
        </p:txBody>
      </p:sp>
      <p:sp>
        <p:nvSpPr>
          <p:cNvPr id="15" name="Shape 13"/>
          <p:cNvSpPr/>
          <p:nvPr/>
        </p:nvSpPr>
        <p:spPr>
          <a:xfrm>
            <a:off x="621792" y="4443984"/>
            <a:ext cx="3393338" cy="0"/>
          </a:xfrm>
          <a:prstGeom prst="line">
            <a:avLst/>
          </a:prstGeom>
          <a:noFill/>
          <a:ln w="6350">
            <a:solidFill>
              <a:srgbClr val="315D47"/>
            </a:solidFill>
            <a:prstDash val="solid"/>
          </a:ln>
        </p:spPr>
      </p:sp>
      <p:sp>
        <p:nvSpPr>
          <p:cNvPr id="16" name="Shape 14"/>
          <p:cNvSpPr/>
          <p:nvPr/>
        </p:nvSpPr>
        <p:spPr>
          <a:xfrm>
            <a:off x="621792" y="4581144"/>
            <a:ext cx="54864" cy="54864"/>
          </a:xfrm>
          <a:prstGeom prst="ellipse">
            <a:avLst/>
          </a:prstGeom>
          <a:solidFill>
            <a:srgbClr val="3DCD58"/>
          </a:solidFill>
          <a:ln w="12700">
            <a:solidFill>
              <a:srgbClr val="3DCD58"/>
            </a:solidFill>
            <a:prstDash val="solid"/>
          </a:ln>
        </p:spPr>
      </p:sp>
      <p:sp>
        <p:nvSpPr>
          <p:cNvPr id="17" name="Text 15"/>
          <p:cNvSpPr/>
          <p:nvPr/>
        </p:nvSpPr>
        <p:spPr>
          <a:xfrm>
            <a:off x="768096" y="4526280"/>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Energy and efficiency data converge on the shared spine</a:t>
            </a:r>
            <a:endParaRPr lang="en-US" sz="900" dirty="0"/>
          </a:p>
        </p:txBody>
      </p:sp>
      <p:sp>
        <p:nvSpPr>
          <p:cNvPr id="18" name="Shape 16"/>
          <p:cNvSpPr/>
          <p:nvPr/>
        </p:nvSpPr>
        <p:spPr>
          <a:xfrm>
            <a:off x="621792" y="4910328"/>
            <a:ext cx="3393338" cy="0"/>
          </a:xfrm>
          <a:prstGeom prst="line">
            <a:avLst/>
          </a:prstGeom>
          <a:noFill/>
          <a:ln w="6350">
            <a:solidFill>
              <a:srgbClr val="315D47"/>
            </a:solidFill>
            <a:prstDash val="solid"/>
          </a:ln>
        </p:spPr>
      </p:sp>
      <p:sp>
        <p:nvSpPr>
          <p:cNvPr id="19" name="Shape 17"/>
          <p:cNvSpPr/>
          <p:nvPr/>
        </p:nvSpPr>
        <p:spPr>
          <a:xfrm>
            <a:off x="621792" y="5047488"/>
            <a:ext cx="54864" cy="54864"/>
          </a:xfrm>
          <a:prstGeom prst="ellipse">
            <a:avLst/>
          </a:prstGeom>
          <a:solidFill>
            <a:srgbClr val="3DCD58"/>
          </a:solidFill>
          <a:ln w="12700">
            <a:solidFill>
              <a:srgbClr val="3DCD58"/>
            </a:solidFill>
            <a:prstDash val="solid"/>
          </a:ln>
        </p:spPr>
      </p:sp>
      <p:sp>
        <p:nvSpPr>
          <p:cNvPr id="20" name="Text 18"/>
          <p:cNvSpPr/>
          <p:nvPr/>
        </p:nvSpPr>
        <p:spPr>
          <a:xfrm>
            <a:off x="768096" y="4992624"/>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Global deployment, localisation and ecosystem APIs</a:t>
            </a:r>
            <a:endParaRPr lang="en-US" sz="900" dirty="0"/>
          </a:p>
        </p:txBody>
      </p:sp>
      <p:sp>
        <p:nvSpPr>
          <p:cNvPr id="21" name="Shape 19"/>
          <p:cNvSpPr/>
          <p:nvPr/>
        </p:nvSpPr>
        <p:spPr>
          <a:xfrm>
            <a:off x="4399178" y="2267712"/>
            <a:ext cx="3393338" cy="0"/>
          </a:xfrm>
          <a:prstGeom prst="line">
            <a:avLst/>
          </a:prstGeom>
          <a:noFill/>
          <a:ln w="10160">
            <a:solidFill>
              <a:srgbClr val="5E806E"/>
            </a:solidFill>
            <a:prstDash val="solid"/>
          </a:ln>
        </p:spPr>
      </p:sp>
      <p:sp>
        <p:nvSpPr>
          <p:cNvPr id="22" name="Text 20"/>
          <p:cNvSpPr/>
          <p:nvPr/>
        </p:nvSpPr>
        <p:spPr>
          <a:xfrm>
            <a:off x="7893101" y="2148840"/>
            <a:ext cx="182880" cy="228600"/>
          </a:xfrm>
          <a:prstGeom prst="rect">
            <a:avLst/>
          </a:prstGeom>
          <a:noFill/>
          <a:ln/>
        </p:spPr>
        <p:txBody>
          <a:bodyPr wrap="square" lIns="0" tIns="0" rIns="0" bIns="0" rtlCol="0" anchor="ctr"/>
          <a:lstStyle/>
          <a:p>
            <a:pPr algn="ctr" indent="0" marL="0">
              <a:buNone/>
            </a:pPr>
            <a:r>
              <a:rPr lang="en-US" sz="1700" dirty="0">
                <a:solidFill>
                  <a:srgbClr val="769585"/>
                </a:solidFill>
                <a:latin typeface="Calibri" pitchFamily="34" charset="0"/>
                <a:ea typeface="Calibri" pitchFamily="34" charset="-122"/>
                <a:cs typeface="Calibri" pitchFamily="34" charset="-120"/>
              </a:rPr>
              <a:t>›</a:t>
            </a:r>
            <a:endParaRPr lang="en-US" sz="1700" dirty="0"/>
          </a:p>
        </p:txBody>
      </p:sp>
      <p:sp>
        <p:nvSpPr>
          <p:cNvPr id="23" name="Shape 21"/>
          <p:cNvSpPr/>
          <p:nvPr/>
        </p:nvSpPr>
        <p:spPr>
          <a:xfrm>
            <a:off x="4399178" y="2432304"/>
            <a:ext cx="731520" cy="292608"/>
          </a:xfrm>
          <a:prstGeom prst="roundRect">
            <a:avLst>
              <a:gd name="adj" fmla="val 12500"/>
            </a:avLst>
          </a:prstGeom>
          <a:solidFill>
            <a:srgbClr val="0C3B25"/>
          </a:solidFill>
          <a:ln w="12700">
            <a:solidFill>
              <a:srgbClr val="CDFC57"/>
            </a:solidFill>
            <a:prstDash val="solid"/>
          </a:ln>
        </p:spPr>
      </p:sp>
      <p:sp>
        <p:nvSpPr>
          <p:cNvPr id="24" name="Text 22"/>
          <p:cNvSpPr/>
          <p:nvPr/>
        </p:nvSpPr>
        <p:spPr>
          <a:xfrm>
            <a:off x="4399178" y="2432304"/>
            <a:ext cx="731520" cy="292608"/>
          </a:xfrm>
          <a:prstGeom prst="rect">
            <a:avLst/>
          </a:prstGeom>
          <a:noFill/>
          <a:ln/>
        </p:spPr>
        <p:txBody>
          <a:bodyPr wrap="square" lIns="0" tIns="0" rIns="0" bIns="0" rtlCol="0" anchor="ctr"/>
          <a:lstStyle/>
          <a:p>
            <a:pPr algn="ctr" indent="0" marL="0">
              <a:buNone/>
            </a:pPr>
            <a:r>
              <a:rPr lang="en-US" sz="1000" b="1" dirty="0">
                <a:solidFill>
                  <a:srgbClr val="CDFC57"/>
                </a:solidFill>
                <a:latin typeface="Calibri" pitchFamily="34" charset="0"/>
                <a:ea typeface="Calibri" pitchFamily="34" charset="-122"/>
                <a:cs typeface="Calibri" pitchFamily="34" charset="-120"/>
              </a:rPr>
              <a:t>2029</a:t>
            </a:r>
            <a:endParaRPr lang="en-US" sz="1000" dirty="0"/>
          </a:p>
        </p:txBody>
      </p:sp>
      <p:sp>
        <p:nvSpPr>
          <p:cNvPr id="25" name="Text 23"/>
          <p:cNvSpPr/>
          <p:nvPr/>
        </p:nvSpPr>
        <p:spPr>
          <a:xfrm>
            <a:off x="4399178" y="2889504"/>
            <a:ext cx="3393338" cy="38404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Industrialise intelligence</a:t>
            </a:r>
            <a:endParaRPr lang="en-US" sz="1600" dirty="0"/>
          </a:p>
        </p:txBody>
      </p:sp>
      <p:sp>
        <p:nvSpPr>
          <p:cNvPr id="26" name="Text 24"/>
          <p:cNvSpPr/>
          <p:nvPr/>
        </p:nvSpPr>
        <p:spPr>
          <a:xfrm>
            <a:off x="4399178" y="3310128"/>
            <a:ext cx="3393338" cy="594360"/>
          </a:xfrm>
          <a:prstGeom prst="rect">
            <a:avLst/>
          </a:prstGeom>
          <a:noFill/>
          <a:ln/>
        </p:spPr>
        <p:txBody>
          <a:bodyPr wrap="square" lIns="0" tIns="0" rIns="0" bIns="0" rtlCol="0" anchor="t">
            <a:normAutofit/>
          </a:bodyPr>
          <a:lstStyle/>
          <a:p>
            <a:pPr indent="0" marL="0">
              <a:buNone/>
            </a:pPr>
            <a:r>
              <a:rPr lang="en-US" sz="1000" dirty="0">
                <a:solidFill>
                  <a:srgbClr val="BFD9C9"/>
                </a:solidFill>
                <a:latin typeface="Calibri" pitchFamily="34" charset="0"/>
                <a:ea typeface="Calibri" pitchFamily="34" charset="-122"/>
                <a:cs typeface="Calibri" pitchFamily="34" charset="-120"/>
              </a:rPr>
              <a:t>Turn shared context into decision support that works across every product and workflow.</a:t>
            </a:r>
            <a:endParaRPr lang="en-US" sz="1000" dirty="0"/>
          </a:p>
        </p:txBody>
      </p:sp>
      <p:sp>
        <p:nvSpPr>
          <p:cNvPr id="27" name="Shape 25"/>
          <p:cNvSpPr/>
          <p:nvPr/>
        </p:nvSpPr>
        <p:spPr>
          <a:xfrm>
            <a:off x="4399178" y="3977640"/>
            <a:ext cx="3393338" cy="0"/>
          </a:xfrm>
          <a:prstGeom prst="line">
            <a:avLst/>
          </a:prstGeom>
          <a:noFill/>
          <a:ln w="6350">
            <a:solidFill>
              <a:srgbClr val="315D47"/>
            </a:solidFill>
            <a:prstDash val="solid"/>
          </a:ln>
        </p:spPr>
      </p:sp>
      <p:sp>
        <p:nvSpPr>
          <p:cNvPr id="28" name="Shape 26"/>
          <p:cNvSpPr/>
          <p:nvPr/>
        </p:nvSpPr>
        <p:spPr>
          <a:xfrm>
            <a:off x="4399178" y="4114800"/>
            <a:ext cx="54864" cy="54864"/>
          </a:xfrm>
          <a:prstGeom prst="ellipse">
            <a:avLst/>
          </a:prstGeom>
          <a:solidFill>
            <a:srgbClr val="3DCD58"/>
          </a:solidFill>
          <a:ln w="12700">
            <a:solidFill>
              <a:srgbClr val="3DCD58"/>
            </a:solidFill>
            <a:prstDash val="solid"/>
          </a:ln>
        </p:spPr>
      </p:sp>
      <p:sp>
        <p:nvSpPr>
          <p:cNvPr id="29" name="Text 27"/>
          <p:cNvSpPr/>
          <p:nvPr/>
        </p:nvSpPr>
        <p:spPr>
          <a:xfrm>
            <a:off x="4545482" y="4059936"/>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Cross-domain scenarios connect cost, carbon, energy and risk</a:t>
            </a:r>
            <a:endParaRPr lang="en-US" sz="900" dirty="0"/>
          </a:p>
        </p:txBody>
      </p:sp>
      <p:sp>
        <p:nvSpPr>
          <p:cNvPr id="30" name="Shape 28"/>
          <p:cNvSpPr/>
          <p:nvPr/>
        </p:nvSpPr>
        <p:spPr>
          <a:xfrm>
            <a:off x="4399178" y="4443984"/>
            <a:ext cx="3393338" cy="0"/>
          </a:xfrm>
          <a:prstGeom prst="line">
            <a:avLst/>
          </a:prstGeom>
          <a:noFill/>
          <a:ln w="6350">
            <a:solidFill>
              <a:srgbClr val="315D47"/>
            </a:solidFill>
            <a:prstDash val="solid"/>
          </a:ln>
        </p:spPr>
      </p:sp>
      <p:sp>
        <p:nvSpPr>
          <p:cNvPr id="31" name="Shape 29"/>
          <p:cNvSpPr/>
          <p:nvPr/>
        </p:nvSpPr>
        <p:spPr>
          <a:xfrm>
            <a:off x="4399178" y="4581144"/>
            <a:ext cx="54864" cy="54864"/>
          </a:xfrm>
          <a:prstGeom prst="ellipse">
            <a:avLst/>
          </a:prstGeom>
          <a:solidFill>
            <a:srgbClr val="3DCD58"/>
          </a:solidFill>
          <a:ln w="12700">
            <a:solidFill>
              <a:srgbClr val="3DCD58"/>
            </a:solidFill>
            <a:prstDash val="solid"/>
          </a:ln>
        </p:spPr>
      </p:sp>
      <p:sp>
        <p:nvSpPr>
          <p:cNvPr id="32" name="Text 30"/>
          <p:cNvSpPr/>
          <p:nvPr/>
        </p:nvSpPr>
        <p:spPr>
          <a:xfrm>
            <a:off x="4545482" y="4526280"/>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Sera orchestrates recommendations across the portfolio</a:t>
            </a:r>
            <a:endParaRPr lang="en-US" sz="900" dirty="0"/>
          </a:p>
        </p:txBody>
      </p:sp>
      <p:sp>
        <p:nvSpPr>
          <p:cNvPr id="33" name="Shape 31"/>
          <p:cNvSpPr/>
          <p:nvPr/>
        </p:nvSpPr>
        <p:spPr>
          <a:xfrm>
            <a:off x="4399178" y="4910328"/>
            <a:ext cx="3393338" cy="0"/>
          </a:xfrm>
          <a:prstGeom prst="line">
            <a:avLst/>
          </a:prstGeom>
          <a:noFill/>
          <a:ln w="6350">
            <a:solidFill>
              <a:srgbClr val="315D47"/>
            </a:solidFill>
            <a:prstDash val="solid"/>
          </a:ln>
        </p:spPr>
      </p:sp>
      <p:sp>
        <p:nvSpPr>
          <p:cNvPr id="34" name="Shape 32"/>
          <p:cNvSpPr/>
          <p:nvPr/>
        </p:nvSpPr>
        <p:spPr>
          <a:xfrm>
            <a:off x="4399178" y="5047488"/>
            <a:ext cx="54864" cy="54864"/>
          </a:xfrm>
          <a:prstGeom prst="ellipse">
            <a:avLst/>
          </a:prstGeom>
          <a:solidFill>
            <a:srgbClr val="3DCD58"/>
          </a:solidFill>
          <a:ln w="12700">
            <a:solidFill>
              <a:srgbClr val="3DCD58"/>
            </a:solidFill>
            <a:prstDash val="solid"/>
          </a:ln>
        </p:spPr>
      </p:sp>
      <p:sp>
        <p:nvSpPr>
          <p:cNvPr id="35" name="Text 33"/>
          <p:cNvSpPr/>
          <p:nvPr/>
        </p:nvSpPr>
        <p:spPr>
          <a:xfrm>
            <a:off x="4545482" y="4992624"/>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Predictive controls surface value and exposure earlier</a:t>
            </a:r>
            <a:endParaRPr lang="en-US" sz="900" dirty="0"/>
          </a:p>
        </p:txBody>
      </p:sp>
      <p:sp>
        <p:nvSpPr>
          <p:cNvPr id="36" name="Shape 34"/>
          <p:cNvSpPr/>
          <p:nvPr/>
        </p:nvSpPr>
        <p:spPr>
          <a:xfrm>
            <a:off x="8176565" y="2267712"/>
            <a:ext cx="3393338" cy="0"/>
          </a:xfrm>
          <a:prstGeom prst="line">
            <a:avLst/>
          </a:prstGeom>
          <a:noFill/>
          <a:ln w="10160">
            <a:solidFill>
              <a:srgbClr val="5E806E"/>
            </a:solidFill>
            <a:prstDash val="solid"/>
          </a:ln>
        </p:spPr>
      </p:sp>
      <p:sp>
        <p:nvSpPr>
          <p:cNvPr id="37" name="Shape 35"/>
          <p:cNvSpPr/>
          <p:nvPr/>
        </p:nvSpPr>
        <p:spPr>
          <a:xfrm>
            <a:off x="8176565" y="2432304"/>
            <a:ext cx="731520" cy="292608"/>
          </a:xfrm>
          <a:prstGeom prst="roundRect">
            <a:avLst>
              <a:gd name="adj" fmla="val 12500"/>
            </a:avLst>
          </a:prstGeom>
          <a:solidFill>
            <a:srgbClr val="0C3B25"/>
          </a:solidFill>
          <a:ln w="12700">
            <a:solidFill>
              <a:srgbClr val="FFB04C"/>
            </a:solidFill>
            <a:prstDash val="solid"/>
          </a:ln>
        </p:spPr>
      </p:sp>
      <p:sp>
        <p:nvSpPr>
          <p:cNvPr id="38" name="Text 36"/>
          <p:cNvSpPr/>
          <p:nvPr/>
        </p:nvSpPr>
        <p:spPr>
          <a:xfrm>
            <a:off x="8176565" y="2432304"/>
            <a:ext cx="731520" cy="292608"/>
          </a:xfrm>
          <a:prstGeom prst="rect">
            <a:avLst/>
          </a:prstGeom>
          <a:noFill/>
          <a:ln/>
        </p:spPr>
        <p:txBody>
          <a:bodyPr wrap="square" lIns="0" tIns="0" rIns="0" bIns="0" rtlCol="0" anchor="ctr"/>
          <a:lstStyle/>
          <a:p>
            <a:pPr algn="ctr" indent="0" marL="0">
              <a:buNone/>
            </a:pPr>
            <a:r>
              <a:rPr lang="en-US" sz="1000" b="1" dirty="0">
                <a:solidFill>
                  <a:srgbClr val="FFB04C"/>
                </a:solidFill>
                <a:latin typeface="Calibri" pitchFamily="34" charset="0"/>
                <a:ea typeface="Calibri" pitchFamily="34" charset="-122"/>
                <a:cs typeface="Calibri" pitchFamily="34" charset="-120"/>
              </a:rPr>
              <a:t>2030+</a:t>
            </a:r>
            <a:endParaRPr lang="en-US" sz="1000" dirty="0"/>
          </a:p>
        </p:txBody>
      </p:sp>
      <p:sp>
        <p:nvSpPr>
          <p:cNvPr id="39" name="Text 37"/>
          <p:cNvSpPr/>
          <p:nvPr/>
        </p:nvSpPr>
        <p:spPr>
          <a:xfrm>
            <a:off x="8176565" y="2889504"/>
            <a:ext cx="3393338" cy="38404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Calibri" pitchFamily="34" charset="0"/>
                <a:ea typeface="Calibri" pitchFamily="34" charset="-122"/>
                <a:cs typeface="Calibri" pitchFamily="34" charset="-120"/>
              </a:rPr>
              <a:t>Autonomous value</a:t>
            </a:r>
            <a:endParaRPr lang="en-US" sz="1600" dirty="0"/>
          </a:p>
        </p:txBody>
      </p:sp>
      <p:sp>
        <p:nvSpPr>
          <p:cNvPr id="40" name="Text 38"/>
          <p:cNvSpPr/>
          <p:nvPr/>
        </p:nvSpPr>
        <p:spPr>
          <a:xfrm>
            <a:off x="8176565" y="3310128"/>
            <a:ext cx="3393338" cy="594360"/>
          </a:xfrm>
          <a:prstGeom prst="rect">
            <a:avLst/>
          </a:prstGeom>
          <a:noFill/>
          <a:ln/>
        </p:spPr>
        <p:txBody>
          <a:bodyPr wrap="square" lIns="0" tIns="0" rIns="0" bIns="0" rtlCol="0" anchor="t">
            <a:normAutofit/>
          </a:bodyPr>
          <a:lstStyle/>
          <a:p>
            <a:pPr indent="0" marL="0">
              <a:buNone/>
            </a:pPr>
            <a:r>
              <a:rPr lang="en-US" sz="1000" dirty="0">
                <a:solidFill>
                  <a:srgbClr val="BFD9C9"/>
                </a:solidFill>
                <a:latin typeface="Calibri" pitchFamily="34" charset="0"/>
                <a:ea typeface="Calibri" pitchFamily="34" charset="-122"/>
                <a:cs typeface="Calibri" pitchFamily="34" charset="-120"/>
              </a:rPr>
              <a:t>Move from insight to governed action, with humans setting ambition, guardrails and accountability.</a:t>
            </a:r>
            <a:endParaRPr lang="en-US" sz="1000" dirty="0"/>
          </a:p>
        </p:txBody>
      </p:sp>
      <p:sp>
        <p:nvSpPr>
          <p:cNvPr id="41" name="Shape 39"/>
          <p:cNvSpPr/>
          <p:nvPr/>
        </p:nvSpPr>
        <p:spPr>
          <a:xfrm>
            <a:off x="8176565" y="3977640"/>
            <a:ext cx="3393338" cy="0"/>
          </a:xfrm>
          <a:prstGeom prst="line">
            <a:avLst/>
          </a:prstGeom>
          <a:noFill/>
          <a:ln w="6350">
            <a:solidFill>
              <a:srgbClr val="315D47"/>
            </a:solidFill>
            <a:prstDash val="solid"/>
          </a:ln>
        </p:spPr>
      </p:sp>
      <p:sp>
        <p:nvSpPr>
          <p:cNvPr id="42" name="Shape 40"/>
          <p:cNvSpPr/>
          <p:nvPr/>
        </p:nvSpPr>
        <p:spPr>
          <a:xfrm>
            <a:off x="8176565" y="4114800"/>
            <a:ext cx="54864" cy="54864"/>
          </a:xfrm>
          <a:prstGeom prst="ellipse">
            <a:avLst/>
          </a:prstGeom>
          <a:solidFill>
            <a:srgbClr val="3DCD58"/>
          </a:solidFill>
          <a:ln w="12700">
            <a:solidFill>
              <a:srgbClr val="3DCD58"/>
            </a:solidFill>
            <a:prstDash val="solid"/>
          </a:ln>
        </p:spPr>
      </p:sp>
      <p:sp>
        <p:nvSpPr>
          <p:cNvPr id="43" name="Text 41"/>
          <p:cNvSpPr/>
          <p:nvPr/>
        </p:nvSpPr>
        <p:spPr>
          <a:xfrm>
            <a:off x="8322869" y="4059936"/>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Continuous optimisation of energy, efficiency and sustainability</a:t>
            </a:r>
            <a:endParaRPr lang="en-US" sz="900" dirty="0"/>
          </a:p>
        </p:txBody>
      </p:sp>
      <p:sp>
        <p:nvSpPr>
          <p:cNvPr id="44" name="Shape 42"/>
          <p:cNvSpPr/>
          <p:nvPr/>
        </p:nvSpPr>
        <p:spPr>
          <a:xfrm>
            <a:off x="8176565" y="4443984"/>
            <a:ext cx="3393338" cy="0"/>
          </a:xfrm>
          <a:prstGeom prst="line">
            <a:avLst/>
          </a:prstGeom>
          <a:noFill/>
          <a:ln w="6350">
            <a:solidFill>
              <a:srgbClr val="315D47"/>
            </a:solidFill>
            <a:prstDash val="solid"/>
          </a:ln>
        </p:spPr>
      </p:sp>
      <p:sp>
        <p:nvSpPr>
          <p:cNvPr id="45" name="Shape 43"/>
          <p:cNvSpPr/>
          <p:nvPr/>
        </p:nvSpPr>
        <p:spPr>
          <a:xfrm>
            <a:off x="8176565" y="4581144"/>
            <a:ext cx="54864" cy="54864"/>
          </a:xfrm>
          <a:prstGeom prst="ellipse">
            <a:avLst/>
          </a:prstGeom>
          <a:solidFill>
            <a:srgbClr val="3DCD58"/>
          </a:solidFill>
          <a:ln w="12700">
            <a:solidFill>
              <a:srgbClr val="3DCD58"/>
            </a:solidFill>
            <a:prstDash val="solid"/>
          </a:ln>
        </p:spPr>
      </p:sp>
      <p:sp>
        <p:nvSpPr>
          <p:cNvPr id="46" name="Text 44"/>
          <p:cNvSpPr/>
          <p:nvPr/>
        </p:nvSpPr>
        <p:spPr>
          <a:xfrm>
            <a:off x="8322869" y="4526280"/>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Closed-loop execution with evidence and assurance by design</a:t>
            </a:r>
            <a:endParaRPr lang="en-US" sz="900" dirty="0"/>
          </a:p>
        </p:txBody>
      </p:sp>
      <p:sp>
        <p:nvSpPr>
          <p:cNvPr id="47" name="Shape 45"/>
          <p:cNvSpPr/>
          <p:nvPr/>
        </p:nvSpPr>
        <p:spPr>
          <a:xfrm>
            <a:off x="8176565" y="4910328"/>
            <a:ext cx="3393338" cy="0"/>
          </a:xfrm>
          <a:prstGeom prst="line">
            <a:avLst/>
          </a:prstGeom>
          <a:noFill/>
          <a:ln w="6350">
            <a:solidFill>
              <a:srgbClr val="315D47"/>
            </a:solidFill>
            <a:prstDash val="solid"/>
          </a:ln>
        </p:spPr>
      </p:sp>
      <p:sp>
        <p:nvSpPr>
          <p:cNvPr id="48" name="Shape 46"/>
          <p:cNvSpPr/>
          <p:nvPr/>
        </p:nvSpPr>
        <p:spPr>
          <a:xfrm>
            <a:off x="8176565" y="5047488"/>
            <a:ext cx="54864" cy="54864"/>
          </a:xfrm>
          <a:prstGeom prst="ellipse">
            <a:avLst/>
          </a:prstGeom>
          <a:solidFill>
            <a:srgbClr val="3DCD58"/>
          </a:solidFill>
          <a:ln w="12700">
            <a:solidFill>
              <a:srgbClr val="3DCD58"/>
            </a:solidFill>
            <a:prstDash val="solid"/>
          </a:ln>
        </p:spPr>
      </p:sp>
      <p:sp>
        <p:nvSpPr>
          <p:cNvPr id="49" name="Text 47"/>
          <p:cNvSpPr/>
          <p:nvPr/>
        </p:nvSpPr>
        <p:spPr>
          <a:xfrm>
            <a:off x="8322869" y="4992624"/>
            <a:ext cx="3247034" cy="292608"/>
          </a:xfrm>
          <a:prstGeom prst="rect">
            <a:avLst/>
          </a:prstGeom>
          <a:noFill/>
          <a:ln/>
        </p:spPr>
        <p:txBody>
          <a:bodyPr wrap="square" lIns="0" tIns="0" rIns="0" bIns="0" rtlCol="0" anchor="t">
            <a:normAutofit/>
          </a:bodyPr>
          <a:lstStyle/>
          <a:p>
            <a:pPr indent="0" marL="0">
              <a:buNone/>
            </a:pPr>
            <a:r>
              <a:rPr lang="en-US" sz="900" dirty="0">
                <a:solidFill>
                  <a:srgbClr val="FFFFFF"/>
                </a:solidFill>
                <a:latin typeface="Calibri" pitchFamily="34" charset="0"/>
                <a:ea typeface="Calibri" pitchFamily="34" charset="-122"/>
                <a:cs typeface="Calibri" pitchFamily="34" charset="-120"/>
              </a:rPr>
              <a:t>Outcome-led services powered by the RA+ intelligence layer</a:t>
            </a:r>
            <a:endParaRPr lang="en-US" sz="900" dirty="0"/>
          </a:p>
        </p:txBody>
      </p:sp>
      <p:sp>
        <p:nvSpPr>
          <p:cNvPr id="50" name="Shape 48"/>
          <p:cNvSpPr/>
          <p:nvPr/>
        </p:nvSpPr>
        <p:spPr>
          <a:xfrm>
            <a:off x="621792" y="5276088"/>
            <a:ext cx="10948111" cy="0"/>
          </a:xfrm>
          <a:prstGeom prst="line">
            <a:avLst/>
          </a:prstGeom>
          <a:noFill/>
          <a:ln w="10160">
            <a:solidFill>
              <a:srgbClr val="5E806E"/>
            </a:solidFill>
            <a:prstDash val="solid"/>
          </a:ln>
        </p:spPr>
      </p:sp>
      <p:sp>
        <p:nvSpPr>
          <p:cNvPr id="51" name="Text 49"/>
          <p:cNvSpPr/>
          <p:nvPr/>
        </p:nvSpPr>
        <p:spPr>
          <a:xfrm>
            <a:off x="621792" y="5404104"/>
            <a:ext cx="1828800" cy="201168"/>
          </a:xfrm>
          <a:prstGeom prst="rect">
            <a:avLst/>
          </a:prstGeom>
          <a:noFill/>
          <a:ln/>
        </p:spPr>
        <p:txBody>
          <a:bodyPr wrap="square" lIns="0" tIns="0" rIns="0" bIns="0" rtlCol="0" anchor="ctr"/>
          <a:lstStyle/>
          <a:p>
            <a:pPr indent="0" marL="0">
              <a:buNone/>
            </a:pPr>
            <a:r>
              <a:rPr lang="en-US" sz="900" b="1" spc="180" kern="0" dirty="0">
                <a:solidFill>
                  <a:srgbClr val="CDFC57"/>
                </a:solidFill>
                <a:latin typeface="Calibri" pitchFamily="34" charset="0"/>
                <a:ea typeface="Calibri" pitchFamily="34" charset="-122"/>
                <a:cs typeface="Calibri" pitchFamily="34" charset="-120"/>
              </a:rPr>
              <a:t>STRATEGIC DRIVERS</a:t>
            </a:r>
            <a:endParaRPr lang="en-US" sz="900" dirty="0"/>
          </a:p>
        </p:txBody>
      </p:sp>
      <p:sp>
        <p:nvSpPr>
          <p:cNvPr id="52" name="Text 50"/>
          <p:cNvSpPr/>
          <p:nvPr/>
        </p:nvSpPr>
        <p:spPr>
          <a:xfrm>
            <a:off x="621792" y="5669280"/>
            <a:ext cx="2531288" cy="228600"/>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Customer economics</a:t>
            </a:r>
            <a:endParaRPr lang="en-US" sz="1100" dirty="0"/>
          </a:p>
        </p:txBody>
      </p:sp>
      <p:sp>
        <p:nvSpPr>
          <p:cNvPr id="53" name="Text 51"/>
          <p:cNvSpPr/>
          <p:nvPr/>
        </p:nvSpPr>
        <p:spPr>
          <a:xfrm>
            <a:off x="621792" y="5934456"/>
            <a:ext cx="2531288" cy="365760"/>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Convert fragmented spend into measurable enterprise value.</a:t>
            </a:r>
            <a:endParaRPr lang="en-US" sz="850" dirty="0"/>
          </a:p>
        </p:txBody>
      </p:sp>
      <p:sp>
        <p:nvSpPr>
          <p:cNvPr id="54" name="Text 52"/>
          <p:cNvSpPr/>
          <p:nvPr/>
        </p:nvSpPr>
        <p:spPr>
          <a:xfrm>
            <a:off x="3427400" y="5669280"/>
            <a:ext cx="2531288" cy="228600"/>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Regulation and trust</a:t>
            </a:r>
            <a:endParaRPr lang="en-US" sz="1100" dirty="0"/>
          </a:p>
        </p:txBody>
      </p:sp>
      <p:sp>
        <p:nvSpPr>
          <p:cNvPr id="55" name="Text 53"/>
          <p:cNvSpPr/>
          <p:nvPr/>
        </p:nvSpPr>
        <p:spPr>
          <a:xfrm>
            <a:off x="3427400" y="5934456"/>
            <a:ext cx="2531288" cy="365760"/>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Keep every decision traceable, defensible and disclosure ready.</a:t>
            </a:r>
            <a:endParaRPr lang="en-US" sz="850" dirty="0"/>
          </a:p>
        </p:txBody>
      </p:sp>
      <p:sp>
        <p:nvSpPr>
          <p:cNvPr id="56" name="Text 54"/>
          <p:cNvSpPr/>
          <p:nvPr/>
        </p:nvSpPr>
        <p:spPr>
          <a:xfrm>
            <a:off x="6233008" y="5669280"/>
            <a:ext cx="2531288" cy="228600"/>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AI-native differentiation</a:t>
            </a:r>
            <a:endParaRPr lang="en-US" sz="1100" dirty="0"/>
          </a:p>
        </p:txBody>
      </p:sp>
      <p:sp>
        <p:nvSpPr>
          <p:cNvPr id="57" name="Text 55"/>
          <p:cNvSpPr/>
          <p:nvPr/>
        </p:nvSpPr>
        <p:spPr>
          <a:xfrm>
            <a:off x="6233008" y="5934456"/>
            <a:ext cx="2531288" cy="365760"/>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Use shared context to move from copilots to governed agents.</a:t>
            </a:r>
            <a:endParaRPr lang="en-US" sz="850" dirty="0"/>
          </a:p>
        </p:txBody>
      </p:sp>
      <p:sp>
        <p:nvSpPr>
          <p:cNvPr id="58" name="Text 56"/>
          <p:cNvSpPr/>
          <p:nvPr/>
        </p:nvSpPr>
        <p:spPr>
          <a:xfrm>
            <a:off x="9038615" y="5669280"/>
            <a:ext cx="2531288" cy="228600"/>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Calibri" pitchFamily="34" charset="0"/>
                <a:ea typeface="Calibri" pitchFamily="34" charset="-122"/>
                <a:cs typeface="Calibri" pitchFamily="34" charset="-120"/>
              </a:rPr>
              <a:t>Platform leverage</a:t>
            </a:r>
            <a:endParaRPr lang="en-US" sz="1100" dirty="0"/>
          </a:p>
        </p:txBody>
      </p:sp>
      <p:sp>
        <p:nvSpPr>
          <p:cNvPr id="59" name="Text 57"/>
          <p:cNvSpPr/>
          <p:nvPr/>
        </p:nvSpPr>
        <p:spPr>
          <a:xfrm>
            <a:off x="9038615" y="5934456"/>
            <a:ext cx="2531288" cy="365760"/>
          </a:xfrm>
          <a:prstGeom prst="rect">
            <a:avLst/>
          </a:prstGeom>
          <a:noFill/>
          <a:ln/>
        </p:spPr>
        <p:txBody>
          <a:bodyPr wrap="square" lIns="0" tIns="0" rIns="0" bIns="0" rtlCol="0" anchor="t">
            <a:normAutofit/>
          </a:bodyPr>
          <a:lstStyle/>
          <a:p>
            <a:pPr indent="0" marL="0">
              <a:buNone/>
            </a:pPr>
            <a:r>
              <a:rPr lang="en-US" sz="850" dirty="0">
                <a:solidFill>
                  <a:srgbClr val="BFD9C9"/>
                </a:solidFill>
                <a:latin typeface="Calibri" pitchFamily="34" charset="0"/>
                <a:ea typeface="Calibri" pitchFamily="34" charset="-122"/>
                <a:cs typeface="Calibri" pitchFamily="34" charset="-120"/>
              </a:rPr>
              <a:t>Build core capabilities once, then compound them across every product.</a:t>
            </a:r>
            <a:endParaRPr lang="en-US" sz="850" dirty="0"/>
          </a:p>
        </p:txBody>
      </p:sp>
      <p:sp>
        <p:nvSpPr>
          <p:cNvPr id="60" name="Text 58"/>
          <p:cNvSpPr/>
          <p:nvPr/>
        </p:nvSpPr>
        <p:spPr>
          <a:xfrm>
            <a:off x="621792" y="6464808"/>
            <a:ext cx="9875520" cy="182880"/>
          </a:xfrm>
          <a:prstGeom prst="rect">
            <a:avLst/>
          </a:prstGeom>
          <a:noFill/>
          <a:ln/>
        </p:spPr>
        <p:txBody>
          <a:bodyPr wrap="square" lIns="0" tIns="0" rIns="0" bIns="0" rtlCol="0" anchor="ctr">
            <a:normAutofit/>
          </a:bodyPr>
          <a:lstStyle/>
          <a:p>
            <a:pPr indent="0" marL="0">
              <a:buNone/>
            </a:pPr>
            <a:r>
              <a:rPr lang="en-US" sz="700" i="1" dirty="0">
                <a:solidFill>
                  <a:srgbClr val="769585"/>
                </a:solidFill>
                <a:latin typeface="Calibri" pitchFamily="34" charset="0"/>
                <a:ea typeface="Calibri" pitchFamily="34" charset="-122"/>
                <a:cs typeface="Calibri" pitchFamily="34" charset="-120"/>
              </a:rPr>
              <a:t>Strategic direction beyond 2027. Sequencing and investment gates remain subject to customer validation, architecture readiness and annual portfolio decisions.</a:t>
            </a:r>
            <a:endParaRPr lang="en-US" sz="700" dirty="0"/>
          </a:p>
        </p:txBody>
      </p:sp>
      <p:sp>
        <p:nvSpPr>
          <p:cNvPr id="25" name="Slide Number Placeholder 0"/>
          <p:cNvSpPr>
            <a:spLocks noGrp="1"/>
          </p:cNvSpPr>
          <p:nvPr>
            <p:ph type="sldNum" sz="quarter" idx="4294967295"/>
          </p:nvPr>
        </p:nvSpPr>
        <p:spPr>
          <a:xfrm>
            <a:off x="10929823" y="6492240"/>
            <a:ext cx="64008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3DCD58"/>
                </a:solidFill>
                <a:latin typeface="Calibri"/>
                <a:ea typeface="Calibri"/>
                <a:cs typeface="Calibri"/>
              </a:defRPr>
            </a:lvl1pPr>
          </a:lstStyle>
          <a:p>
            <a:pPr algn="r"/>
            <a:fld id="{F7021451-1387-4CA6-816F-3879F97B5CBC}" type="slidenum">
              <a:rPr b="1" lang="en-US"/>
              <a:t>65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Performance Roadmap 2026 and 2027</dc:title>
  <dc:subject>PptxGenJS Presentation</dc:subject>
  <dc:creator>Schneider Electric, Sustainability Business</dc:creator>
  <cp:lastModifiedBy>Schneider Electric, Sustainability Business</cp:lastModifiedBy>
  <cp:revision>1</cp:revision>
  <dcterms:created xsi:type="dcterms:W3CDTF">2026-09-15T13:52:46Z</dcterms:created>
  <dcterms:modified xsi:type="dcterms:W3CDTF">2026-09-15T13:52:46Z</dcterms:modified>
</cp:coreProperties>
</file>