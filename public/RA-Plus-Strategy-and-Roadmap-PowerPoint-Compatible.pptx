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1</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01</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platform we are building</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One data spine, three domains, and the convergence that no point solution can copy.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Trust: data, AI and security</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system of record only works if customers and auditors trust how it handles their data.</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76200" dist="25400" dir="5400000">
              <a:srgbClr val="0A1F12">
                <a:alpha val="12000"/>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DATA</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Traceable by design</a:t>
            </a:r>
            <a:endParaRPr lang="en-US" sz="16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Every number can be explained back to its source.</a:t>
            </a:r>
            <a:endParaRPr lang="en-US" sz="1100" dirty="0"/>
          </a:p>
        </p:txBody>
      </p:sp>
      <p:sp>
        <p:nvSpPr>
          <p:cNvPr id="14" name="Text 12"/>
          <p:cNvSpPr/>
          <p:nvPr/>
        </p:nvSpPr>
        <p:spPr>
          <a:xfrm>
            <a:off x="822960"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Lineage from source record to disclosed figure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and audit trail held with the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data definitions and controls applied consistently across products</a:t>
            </a:r>
            <a:endParaRPr lang="en-US" sz="1100" dirty="0"/>
          </a:p>
        </p:txBody>
      </p:sp>
      <p:sp>
        <p:nvSpPr>
          <p:cNvPr id="15" name="Shape 13"/>
          <p:cNvSpPr/>
          <p:nvPr/>
        </p:nvSpPr>
        <p:spPr>
          <a:xfrm>
            <a:off x="4362602"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967740000" dist="322580000" dir="324000000000">
              <a:srgbClr val="0A1F12">
                <a:alpha val="1200000000"/>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AI</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Assisted, never unaccountable</a:t>
            </a:r>
            <a:endParaRPr lang="en-US" sz="14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AI accelerates the work, humans keep the sign off.</a:t>
            </a:r>
            <a:endParaRPr lang="en-US" sz="1100" dirty="0"/>
          </a:p>
        </p:txBody>
      </p:sp>
      <p:sp>
        <p:nvSpPr>
          <p:cNvPr id="20" name="Text 18"/>
          <p:cNvSpPr/>
          <p:nvPr/>
        </p:nvSpPr>
        <p:spPr>
          <a:xfrm>
            <a:off x="4563770"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suggestions are reviewable and reversible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Method and factor choices remain transparent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No AI output enters a disclosure without human approval</a:t>
            </a:r>
            <a:endParaRPr lang="en-US" sz="1100" dirty="0"/>
          </a:p>
        </p:txBody>
      </p:sp>
      <p:sp>
        <p:nvSpPr>
          <p:cNvPr id="21" name="Shape 19"/>
          <p:cNvSpPr/>
          <p:nvPr/>
        </p:nvSpPr>
        <p:spPr>
          <a:xfrm>
            <a:off x="8103413"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12290298000000" dist="4096766000000" dir="19440000000000000">
              <a:srgbClr val="0A1F12">
                <a:alpha val="120000000000000"/>
              </a:srgbClr>
            </a:outerShdw>
          </a:effectLst>
        </p:spPr>
      </p:sp>
      <p:sp>
        <p:nvSpPr>
          <p:cNvPr id="22" name="Shape 20"/>
          <p:cNvSpPr/>
          <p:nvPr/>
        </p:nvSpPr>
        <p:spPr>
          <a:xfrm>
            <a:off x="8103413" y="2084832"/>
            <a:ext cx="3466490" cy="73152"/>
          </a:xfrm>
          <a:prstGeom prst="rect">
            <a:avLst/>
          </a:prstGeom>
          <a:solidFill>
            <a:srgbClr val="275B7F"/>
          </a:solidFill>
          <a:ln w="12700">
            <a:solidFill>
              <a:srgbClr val="275B7F"/>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SECURITY</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Enterprise grade controls</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Aligned to Schneider Electric enterprise standards.</a:t>
            </a:r>
            <a:endParaRPr lang="en-US" sz="1100" dirty="0"/>
          </a:p>
        </p:txBody>
      </p:sp>
      <p:sp>
        <p:nvSpPr>
          <p:cNvPr id="26" name="Text 24"/>
          <p:cNvSpPr/>
          <p:nvPr/>
        </p:nvSpPr>
        <p:spPr>
          <a:xfrm>
            <a:off x="8304581"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across products and hierarchy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Segregated customer data with controlled sharing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Security and compliance posture confirmed with the internal teams</a:t>
            </a:r>
            <a:endParaRPr lang="en-US" sz="1100" dirty="0"/>
          </a:p>
        </p:txBody>
      </p:sp>
      <p:sp>
        <p:nvSpPr>
          <p:cNvPr id="27" name="Shape 25"/>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156086784600000000" dist="52028928200000000" dir="1.1664e+21">
              <a:srgbClr val="0A1F12">
                <a:alpha val="12000000000000000000"/>
              </a:srgbClr>
            </a:outerShdw>
          </a:effectLst>
        </p:spPr>
      </p:sp>
      <p:sp>
        <p:nvSpPr>
          <p:cNvPr id="28" name="Shape 26"/>
          <p:cNvSpPr/>
          <p:nvPr/>
        </p:nvSpPr>
        <p:spPr>
          <a:xfrm>
            <a:off x="676656" y="5760720"/>
            <a:ext cx="45720" cy="365760"/>
          </a:xfrm>
          <a:prstGeom prst="rect">
            <a:avLst/>
          </a:prstGeom>
          <a:solidFill>
            <a:srgbClr val="3DCD58"/>
          </a:solidFill>
          <a:ln w="12700">
            <a:solidFill>
              <a:srgbClr val="3DCD58"/>
            </a:solidFill>
            <a:prstDash val="solid"/>
          </a:ln>
        </p:spPr>
      </p:sp>
      <p:sp>
        <p:nvSpPr>
          <p:cNvPr id="29" name="Text 27"/>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Certification and audit statements to be confirmed with Security and Legal before external use.</a:t>
            </a:r>
            <a:endParaRPr lang="en-US" sz="12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095848" cy="73152"/>
          </a:xfrm>
          <a:prstGeom prst="rect">
            <a:avLst/>
          </a:prstGeom>
          <a:solidFill>
            <a:srgbClr val="3DCD58"/>
          </a:solidFill>
          <a:ln w="12700">
            <a:solidFill>
              <a:srgbClr val="3DCD58">
                <a:alpha val="0"/>
              </a:srgbClr>
            </a:solidFill>
            <a:prstDash val="solid"/>
          </a:ln>
        </p:spPr>
      </p:sp>
      <p:sp>
        <p:nvSpPr>
          <p:cNvPr id="3" name="Shape 1"/>
          <p:cNvSpPr/>
          <p:nvPr/>
        </p:nvSpPr>
        <p:spPr>
          <a:xfrm>
            <a:off x="4724248" y="685800"/>
            <a:ext cx="2743200" cy="384048"/>
          </a:xfrm>
          <a:prstGeom prst="roundRect">
            <a:avLst>
              <a:gd name="adj" fmla="val 50000"/>
            </a:avLst>
          </a:prstGeom>
          <a:solidFill>
            <a:srgbClr val="EAF8ED"/>
          </a:solidFill>
          <a:ln w="12700">
            <a:solidFill>
              <a:srgbClr val="EAF8ED"/>
            </a:solidFill>
            <a:prstDash val="solid"/>
          </a:ln>
        </p:spPr>
      </p:sp>
      <p:sp>
        <p:nvSpPr>
          <p:cNvPr id="4" name="Text 2"/>
          <p:cNvSpPr/>
          <p:nvPr/>
        </p:nvSpPr>
        <p:spPr>
          <a:xfrm>
            <a:off x="4724248" y="685800"/>
            <a:ext cx="2743200" cy="384048"/>
          </a:xfrm>
          <a:prstGeom prst="rect">
            <a:avLst/>
          </a:prstGeom>
          <a:noFill/>
          <a:ln/>
        </p:spPr>
        <p:txBody>
          <a:bodyPr wrap="square" lIns="0" tIns="0" rIns="0" bIns="0" rtlCol="0" anchor="ctr"/>
          <a:lstStyle/>
          <a:p>
            <a:pPr algn="ctr" indent="0" marL="0">
              <a:buNone/>
            </a:pPr>
            <a:r>
              <a:rPr lang="en-US" sz="1200" b="1" spc="100" kern="0" dirty="0">
                <a:solidFill>
                  <a:srgbClr val="3DCD58"/>
                </a:solidFill>
                <a:latin typeface="Calibri" pitchFamily="34" charset="0"/>
                <a:ea typeface="Calibri" pitchFamily="34" charset="-122"/>
                <a:cs typeface="Calibri" pitchFamily="34" charset="-120"/>
              </a:rPr>
              <a:t>✦  RA+ STRATEGY 2026</a:t>
            </a:r>
            <a:endParaRPr lang="en-US" sz="1200" dirty="0"/>
          </a:p>
        </p:txBody>
      </p:sp>
      <p:sp>
        <p:nvSpPr>
          <p:cNvPr id="5" name="Text 3"/>
          <p:cNvSpPr/>
          <p:nvPr/>
        </p:nvSpPr>
        <p:spPr>
          <a:xfrm>
            <a:off x="621792" y="1554480"/>
            <a:ext cx="10948111" cy="914400"/>
          </a:xfrm>
          <a:prstGeom prst="rect">
            <a:avLst/>
          </a:prstGeom>
          <a:noFill/>
          <a:ln/>
        </p:spPr>
        <p:txBody>
          <a:bodyPr wrap="square" lIns="0" tIns="0" rIns="0" bIns="0" rtlCol="0" anchor="ctr">
            <a:normAutofit/>
          </a:bodyPr>
          <a:lstStyle/>
          <a:p>
            <a:pPr algn="ctr" indent="0" marL="0">
              <a:buNone/>
            </a:pPr>
            <a:r>
              <a:rPr lang="en-US" sz="4400" b="1" dirty="0">
                <a:solidFill>
                  <a:srgbClr val="1E2420"/>
                </a:solidFill>
                <a:latin typeface="Calibri" pitchFamily="34" charset="0"/>
                <a:ea typeface="Calibri" pitchFamily="34" charset="-122"/>
                <a:cs typeface="Calibri" pitchFamily="34" charset="-120"/>
              </a:rPr>
              <a:t>One platform.</a:t>
            </a:r>
            <a:endParaRPr lang="en-US" sz="4400" dirty="0"/>
          </a:p>
        </p:txBody>
      </p:sp>
      <p:sp>
        <p:nvSpPr>
          <p:cNvPr id="6" name="Text 4"/>
          <p:cNvSpPr/>
          <p:nvPr/>
        </p:nvSpPr>
        <p:spPr>
          <a:xfrm>
            <a:off x="621792" y="2514600"/>
            <a:ext cx="10948111" cy="960120"/>
          </a:xfrm>
          <a:prstGeom prst="rect">
            <a:avLst/>
          </a:prstGeom>
          <a:noFill/>
          <a:ln/>
        </p:spPr>
        <p:txBody>
          <a:bodyPr wrap="square" lIns="0" tIns="0" rIns="0" bIns="0" rtlCol="0" anchor="ctr">
            <a:normAutofit/>
          </a:bodyPr>
          <a:lstStyle/>
          <a:p>
            <a:pPr algn="ctr" indent="0" marL="0">
              <a:buNone/>
            </a:pPr>
            <a:r>
              <a:rPr lang="en-US" sz="4400" b="1" dirty="0">
                <a:solidFill>
                  <a:srgbClr val="3DCD58"/>
                </a:solidFill>
                <a:latin typeface="Calibri" pitchFamily="34" charset="0"/>
                <a:ea typeface="Calibri" pitchFamily="34" charset="-122"/>
                <a:cs typeface="Calibri" pitchFamily="34" charset="-120"/>
              </a:rPr>
              <a:t>Sustainability, Energy, Efficiency.</a:t>
            </a:r>
            <a:endParaRPr lang="en-US" sz="4400" dirty="0"/>
          </a:p>
        </p:txBody>
      </p:sp>
      <p:sp>
        <p:nvSpPr>
          <p:cNvPr id="7" name="Text 5"/>
          <p:cNvSpPr/>
          <p:nvPr/>
        </p:nvSpPr>
        <p:spPr>
          <a:xfrm>
            <a:off x="621792" y="3703320"/>
            <a:ext cx="10948111" cy="411480"/>
          </a:xfrm>
          <a:prstGeom prst="rect">
            <a:avLst/>
          </a:prstGeom>
          <a:noFill/>
          <a:ln/>
        </p:spPr>
        <p:txBody>
          <a:bodyPr wrap="square" lIns="0" tIns="0" rIns="0" bIns="0" rtlCol="0" anchor="ctr"/>
          <a:lstStyle/>
          <a:p>
            <a:pPr algn="ctr" indent="0" marL="0">
              <a:buNone/>
            </a:pPr>
            <a:r>
              <a:rPr lang="en-US" sz="2000" b="1" dirty="0">
                <a:solidFill>
                  <a:srgbClr val="3DCD58"/>
                </a:solidFill>
                <a:latin typeface="Calibri" pitchFamily="34" charset="0"/>
                <a:ea typeface="Calibri" pitchFamily="34" charset="-122"/>
                <a:cs typeface="Calibri" pitchFamily="34" charset="-120"/>
              </a:rPr>
              <a:t>End-to-end value, only we can deliver.</a:t>
            </a:r>
            <a:endParaRPr lang="en-US" sz="2000" dirty="0"/>
          </a:p>
        </p:txBody>
      </p:sp>
      <p:sp>
        <p:nvSpPr>
          <p:cNvPr id="8" name="Text 6"/>
          <p:cNvSpPr/>
          <p:nvPr/>
        </p:nvSpPr>
        <p:spPr>
          <a:xfrm>
            <a:off x="2346808" y="4206240"/>
            <a:ext cx="7498080" cy="777240"/>
          </a:xfrm>
          <a:prstGeom prst="rect">
            <a:avLst/>
          </a:prstGeom>
          <a:noFill/>
          <a:ln/>
        </p:spPr>
        <p:txBody>
          <a:bodyPr wrap="square" lIns="0" tIns="0" rIns="0" bIns="0" rtlCol="0" anchor="t">
            <a:normAutofit/>
          </a:bodyPr>
          <a:lstStyle/>
          <a:p>
            <a:pPr algn="ctr" indent="0" marL="0">
              <a:buNone/>
            </a:pPr>
            <a:r>
              <a:rPr lang="en-US" sz="1300" dirty="0">
                <a:solidFill>
                  <a:srgbClr val="5A625C"/>
                </a:solidFill>
                <a:latin typeface="Calibri" pitchFamily="34" charset="0"/>
                <a:ea typeface="Calibri" pitchFamily="34" charset="-122"/>
                <a:cs typeface="Calibri" pitchFamily="34" charset="-120"/>
              </a:rPr>
              <a:t>Sustainability data, energy &amp; supply intelligence, and efficiency expertise, converged onto a single, AI-native platform. One source of truth, one trusted advisor, one path to measurable savings.</a:t>
            </a:r>
            <a:endParaRPr lang="en-US" sz="1300" dirty="0"/>
          </a:p>
        </p:txBody>
      </p:sp>
      <p:sp>
        <p:nvSpPr>
          <p:cNvPr id="9" name="Shape 7"/>
          <p:cNvSpPr/>
          <p:nvPr/>
        </p:nvSpPr>
        <p:spPr>
          <a:xfrm>
            <a:off x="3535528" y="5257800"/>
            <a:ext cx="1554480" cy="384048"/>
          </a:xfrm>
          <a:prstGeom prst="roundRect">
            <a:avLst>
              <a:gd name="adj" fmla="val 50000"/>
            </a:avLst>
          </a:prstGeom>
          <a:solidFill>
            <a:srgbClr val="FFFFFF"/>
          </a:solidFill>
          <a:ln w="12700">
            <a:solidFill>
              <a:srgbClr val="E2E6E2"/>
            </a:solidFill>
            <a:prstDash val="solid"/>
          </a:ln>
        </p:spPr>
      </p:sp>
      <p:sp>
        <p:nvSpPr>
          <p:cNvPr id="10" name="Text 8"/>
          <p:cNvSpPr/>
          <p:nvPr/>
        </p:nvSpPr>
        <p:spPr>
          <a:xfrm>
            <a:off x="353552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Unified</a:t>
            </a:r>
            <a:endParaRPr lang="en-US" sz="1300" dirty="0"/>
          </a:p>
        </p:txBody>
      </p:sp>
      <p:sp>
        <p:nvSpPr>
          <p:cNvPr id="11" name="Shape 9"/>
          <p:cNvSpPr/>
          <p:nvPr/>
        </p:nvSpPr>
        <p:spPr>
          <a:xfrm>
            <a:off x="5318608" y="5257800"/>
            <a:ext cx="1554480" cy="384048"/>
          </a:xfrm>
          <a:prstGeom prst="roundRect">
            <a:avLst>
              <a:gd name="adj" fmla="val 50000"/>
            </a:avLst>
          </a:prstGeom>
          <a:solidFill>
            <a:srgbClr val="FFFFFF"/>
          </a:solidFill>
          <a:ln w="12700">
            <a:solidFill>
              <a:srgbClr val="E2E6E2"/>
            </a:solidFill>
            <a:prstDash val="solid"/>
          </a:ln>
        </p:spPr>
      </p:sp>
      <p:sp>
        <p:nvSpPr>
          <p:cNvPr id="12" name="Text 10"/>
          <p:cNvSpPr/>
          <p:nvPr/>
        </p:nvSpPr>
        <p:spPr>
          <a:xfrm>
            <a:off x="531860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Proactive</a:t>
            </a:r>
            <a:endParaRPr lang="en-US" sz="1300" dirty="0"/>
          </a:p>
        </p:txBody>
      </p:sp>
      <p:sp>
        <p:nvSpPr>
          <p:cNvPr id="13" name="Shape 11"/>
          <p:cNvSpPr/>
          <p:nvPr/>
        </p:nvSpPr>
        <p:spPr>
          <a:xfrm>
            <a:off x="7101688" y="5257800"/>
            <a:ext cx="1554480" cy="384048"/>
          </a:xfrm>
          <a:prstGeom prst="roundRect">
            <a:avLst>
              <a:gd name="adj" fmla="val 50000"/>
            </a:avLst>
          </a:prstGeom>
          <a:solidFill>
            <a:srgbClr val="FFFFFF"/>
          </a:solidFill>
          <a:ln w="12700">
            <a:solidFill>
              <a:srgbClr val="E2E6E2"/>
            </a:solidFill>
            <a:prstDash val="solid"/>
          </a:ln>
        </p:spPr>
      </p:sp>
      <p:sp>
        <p:nvSpPr>
          <p:cNvPr id="14" name="Text 12"/>
          <p:cNvSpPr/>
          <p:nvPr/>
        </p:nvSpPr>
        <p:spPr>
          <a:xfrm>
            <a:off x="710168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Adaptive</a:t>
            </a:r>
            <a:endParaRPr lang="en-US" sz="1300" dirty="0"/>
          </a:p>
        </p:txBody>
      </p:sp>
      <p:sp>
        <p:nvSpPr>
          <p:cNvPr id="15" name="Text 13"/>
          <p:cNvSpPr/>
          <p:nvPr/>
        </p:nvSpPr>
        <p:spPr>
          <a:xfrm>
            <a:off x="621792" y="6492240"/>
            <a:ext cx="3200400" cy="201168"/>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Property of Schneider Electric</a:t>
            </a:r>
            <a:endParaRPr lang="en-US" sz="850" dirty="0"/>
          </a:p>
        </p:txBody>
      </p:sp>
      <p:sp>
        <p:nvSpPr>
          <p:cNvPr id="16" name="Text 14"/>
          <p:cNvSpPr/>
          <p:nvPr/>
        </p:nvSpPr>
        <p:spPr>
          <a:xfrm>
            <a:off x="5181448" y="6492240"/>
            <a:ext cx="1828800" cy="201168"/>
          </a:xfrm>
          <a:prstGeom prst="rect">
            <a:avLst/>
          </a:prstGeom>
          <a:noFill/>
          <a:ln/>
        </p:spPr>
        <p:txBody>
          <a:bodyPr wrap="square" lIns="0" tIns="0" rIns="0" bIns="0" rtlCol="0" anchor="ctr"/>
          <a:lstStyle/>
          <a:p>
            <a:pPr algn="ctr" indent="0" marL="0">
              <a:buNone/>
            </a:pPr>
            <a:r>
              <a:rPr lang="en-US" sz="850" dirty="0">
                <a:solidFill>
                  <a:srgbClr val="5A625C"/>
                </a:solidFill>
                <a:latin typeface="Calibri" pitchFamily="34" charset="0"/>
                <a:ea typeface="Calibri" pitchFamily="34" charset="-122"/>
                <a:cs typeface="Calibri" pitchFamily="34" charset="-120"/>
              </a:rPr>
              <a:t>General</a:t>
            </a:r>
            <a:endParaRPr lang="en-US" sz="850" dirty="0"/>
          </a:p>
        </p:txBody>
      </p:sp>
      <p:sp>
        <p:nvSpPr>
          <p:cNvPr id="17" name="Text 15"/>
          <p:cNvSpPr/>
          <p:nvPr/>
        </p:nvSpPr>
        <p:spPr>
          <a:xfrm>
            <a:off x="8460943" y="6446520"/>
            <a:ext cx="3108960" cy="274320"/>
          </a:xfrm>
          <a:prstGeom prst="rect">
            <a:avLst/>
          </a:prstGeom>
          <a:noFill/>
          <a:ln/>
        </p:spPr>
        <p:txBody>
          <a:bodyPr wrap="square" lIns="0" tIns="0" rIns="0" bIns="0" rtlCol="0" anchor="ctr"/>
          <a:lstStyle/>
          <a:p>
            <a:pPr algn="r" indent="0" marL="0">
              <a:buNone/>
            </a:pPr>
            <a:r>
              <a:rPr lang="en-US" sz="1300" b="1" dirty="0">
                <a:solidFill>
                  <a:srgbClr val="3DCD58"/>
                </a:solidFill>
                <a:latin typeface="Calibri" pitchFamily="34" charset="0"/>
                <a:ea typeface="Calibri" pitchFamily="34" charset="-122"/>
                <a:cs typeface="Calibri" pitchFamily="34" charset="-120"/>
              </a:rPr>
              <a:t>SE </a:t>
            </a:r>
            <a:pPr algn="r" indent="0" marL="0">
              <a:buNone/>
            </a:pPr>
            <a:r>
              <a:rPr lang="en-US" sz="1300" b="1" dirty="0">
                <a:solidFill>
                  <a:srgbClr val="5A625C"/>
                </a:solidFill>
                <a:latin typeface="Calibri" pitchFamily="34" charset="0"/>
                <a:ea typeface="Calibri" pitchFamily="34" charset="-122"/>
                <a:cs typeface="Calibri" pitchFamily="34" charset="-120"/>
              </a:rPr>
              <a:t>ADVISORY SERVICES</a:t>
            </a:r>
            <a:endParaRPr lang="en-US" sz="1300" dirty="0"/>
          </a:p>
        </p:txBody>
      </p:sp>
      <p:sp>
        <p:nvSpPr>
          <p:cNvPr id="25" name="Slide Number Placeholder 0"/>
          <p:cNvSpPr>
            <a:spLocks noGrp="1"/>
          </p:cNvSpPr>
          <p:nvPr>
            <p:ph type="sldNum" sz="quarter" idx="4294967295"/>
          </p:nvPr>
        </p:nvSpPr>
        <p:spPr>
          <a:xfrm>
            <a:off x="10929823" y="617220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3314090"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1583893" cy="1234440"/>
          </a:xfrm>
          <a:prstGeom prst="roundRect">
            <a:avLst>
              <a:gd name="adj" fmla="val 2963"/>
            </a:avLst>
          </a:prstGeom>
          <a:solidFill>
            <a:srgbClr val="0F4A2E"/>
          </a:solidFill>
          <a:ln w="13970">
            <a:solidFill>
              <a:srgbClr val="CDFC57"/>
            </a:solidFill>
            <a:prstDash val="solid"/>
          </a:ln>
        </p:spPr>
      </p:sp>
      <p:sp>
        <p:nvSpPr>
          <p:cNvPr id="7" name="Text 5"/>
          <p:cNvSpPr/>
          <p:nvPr/>
        </p:nvSpPr>
        <p:spPr>
          <a:xfrm>
            <a:off x="694944"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8" name="Shape 6"/>
          <p:cNvSpPr/>
          <p:nvPr/>
        </p:nvSpPr>
        <p:spPr>
          <a:xfrm>
            <a:off x="2351989" y="2743200"/>
            <a:ext cx="1583893" cy="1234440"/>
          </a:xfrm>
          <a:prstGeom prst="roundRect">
            <a:avLst>
              <a:gd name="adj" fmla="val 2963"/>
            </a:avLst>
          </a:prstGeom>
          <a:solidFill>
            <a:srgbClr val="0F4A2E"/>
          </a:solidFill>
          <a:ln w="13970">
            <a:solidFill>
              <a:srgbClr val="CDFC57"/>
            </a:solidFill>
            <a:prstDash val="solid"/>
          </a:ln>
        </p:spPr>
      </p:sp>
      <p:sp>
        <p:nvSpPr>
          <p:cNvPr id="9" name="Text 7"/>
          <p:cNvSpPr/>
          <p:nvPr/>
        </p:nvSpPr>
        <p:spPr>
          <a:xfrm>
            <a:off x="2425141"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123944"/>
            <a:ext cx="1583893" cy="1234440"/>
          </a:xfrm>
          <a:prstGeom prst="roundRect">
            <a:avLst>
              <a:gd name="adj" fmla="val 2963"/>
            </a:avLst>
          </a:prstGeom>
          <a:solidFill>
            <a:srgbClr val="0F4A2E"/>
          </a:solidFill>
          <a:ln w="13970">
            <a:solidFill>
              <a:srgbClr val="CDFC57"/>
            </a:solidFill>
            <a:prstDash val="solid"/>
          </a:ln>
        </p:spPr>
      </p:sp>
      <p:sp>
        <p:nvSpPr>
          <p:cNvPr id="11" name="Text 9"/>
          <p:cNvSpPr/>
          <p:nvPr/>
        </p:nvSpPr>
        <p:spPr>
          <a:xfrm>
            <a:off x="694944"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2" name="Shape 10"/>
          <p:cNvSpPr/>
          <p:nvPr/>
        </p:nvSpPr>
        <p:spPr>
          <a:xfrm>
            <a:off x="2351989" y="4123944"/>
            <a:ext cx="1583893" cy="1234440"/>
          </a:xfrm>
          <a:prstGeom prst="roundRect">
            <a:avLst>
              <a:gd name="adj" fmla="val 2963"/>
            </a:avLst>
          </a:prstGeom>
          <a:solidFill>
            <a:srgbClr val="0F4A2E"/>
          </a:solidFill>
          <a:ln w="13970">
            <a:solidFill>
              <a:srgbClr val="CDFC57"/>
            </a:solidFill>
            <a:prstDash val="solid"/>
          </a:ln>
        </p:spPr>
      </p:sp>
      <p:sp>
        <p:nvSpPr>
          <p:cNvPr id="13" name="Text 11"/>
          <p:cNvSpPr/>
          <p:nvPr/>
        </p:nvSpPr>
        <p:spPr>
          <a:xfrm>
            <a:off x="2425141"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14" name="Text 12"/>
          <p:cNvSpPr/>
          <p:nvPr/>
        </p:nvSpPr>
        <p:spPr>
          <a:xfrm>
            <a:off x="4438802" y="2240280"/>
            <a:ext cx="3314090"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a:t>
            </a:r>
            <a:endParaRPr lang="en-US" sz="1300" dirty="0"/>
          </a:p>
        </p:txBody>
      </p:sp>
      <p:sp>
        <p:nvSpPr>
          <p:cNvPr id="15" name="Text 13"/>
          <p:cNvSpPr/>
          <p:nvPr/>
        </p:nvSpPr>
        <p:spPr>
          <a:xfrm>
            <a:off x="4438802"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4438802" y="2743200"/>
            <a:ext cx="1583893" cy="1234440"/>
          </a:xfrm>
          <a:prstGeom prst="roundRect">
            <a:avLst>
              <a:gd name="adj" fmla="val 2963"/>
            </a:avLst>
          </a:prstGeom>
          <a:solidFill>
            <a:srgbClr val="0F4A2E"/>
          </a:solidFill>
          <a:ln w="13970">
            <a:solidFill>
              <a:srgbClr val="3DCD58"/>
            </a:solidFill>
            <a:prstDash val="solid"/>
          </a:ln>
        </p:spPr>
      </p:sp>
      <p:sp>
        <p:nvSpPr>
          <p:cNvPr id="17" name="Text 15"/>
          <p:cNvSpPr/>
          <p:nvPr/>
        </p:nvSpPr>
        <p:spPr>
          <a:xfrm>
            <a:off x="4511954"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UTILITY ACCOUNTING</a:t>
            </a:r>
            <a:endParaRPr lang="en-US" sz="1100" dirty="0"/>
          </a:p>
        </p:txBody>
      </p:sp>
      <p:sp>
        <p:nvSpPr>
          <p:cNvPr id="18" name="Shape 16"/>
          <p:cNvSpPr/>
          <p:nvPr/>
        </p:nvSpPr>
        <p:spPr>
          <a:xfrm>
            <a:off x="6169000" y="2743200"/>
            <a:ext cx="1583893" cy="1234440"/>
          </a:xfrm>
          <a:prstGeom prst="roundRect">
            <a:avLst>
              <a:gd name="adj" fmla="val 2963"/>
            </a:avLst>
          </a:prstGeom>
          <a:solidFill>
            <a:srgbClr val="0F4A2E"/>
          </a:solidFill>
          <a:ln w="13970">
            <a:solidFill>
              <a:srgbClr val="3DCD58"/>
            </a:solidFill>
            <a:prstDash val="solid"/>
          </a:ln>
        </p:spPr>
      </p:sp>
      <p:sp>
        <p:nvSpPr>
          <p:cNvPr id="19" name="Text 17"/>
          <p:cNvSpPr/>
          <p:nvPr/>
        </p:nvSpPr>
        <p:spPr>
          <a:xfrm>
            <a:off x="6242152"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ENERGY PROCUREMENT</a:t>
            </a:r>
            <a:endParaRPr lang="en-US" sz="1100" dirty="0"/>
          </a:p>
        </p:txBody>
      </p:sp>
      <p:sp>
        <p:nvSpPr>
          <p:cNvPr id="20" name="Shape 18"/>
          <p:cNvSpPr/>
          <p:nvPr/>
        </p:nvSpPr>
        <p:spPr>
          <a:xfrm>
            <a:off x="4438802" y="4123944"/>
            <a:ext cx="1583893" cy="1234440"/>
          </a:xfrm>
          <a:prstGeom prst="roundRect">
            <a:avLst>
              <a:gd name="adj" fmla="val 2963"/>
            </a:avLst>
          </a:prstGeom>
          <a:solidFill>
            <a:srgbClr val="0F4A2E"/>
          </a:solidFill>
          <a:ln w="13970">
            <a:solidFill>
              <a:srgbClr val="3DCD58"/>
            </a:solidFill>
            <a:prstDash val="solid"/>
          </a:ln>
        </p:spPr>
      </p:sp>
      <p:sp>
        <p:nvSpPr>
          <p:cNvPr id="21" name="Text 19"/>
          <p:cNvSpPr/>
          <p:nvPr/>
        </p:nvSpPr>
        <p:spPr>
          <a:xfrm>
            <a:off x="4511954"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RENEWABLE ENERGY</a:t>
            </a:r>
            <a:endParaRPr lang="en-US" sz="1100" dirty="0"/>
          </a:p>
        </p:txBody>
      </p:sp>
      <p:sp>
        <p:nvSpPr>
          <p:cNvPr id="22" name="Shape 20"/>
          <p:cNvSpPr/>
          <p:nvPr/>
        </p:nvSpPr>
        <p:spPr>
          <a:xfrm>
            <a:off x="6169000" y="4123944"/>
            <a:ext cx="1583893" cy="1234440"/>
          </a:xfrm>
          <a:prstGeom prst="roundRect">
            <a:avLst>
              <a:gd name="adj" fmla="val 2963"/>
            </a:avLst>
          </a:prstGeom>
          <a:solidFill>
            <a:srgbClr val="0F4A2E"/>
          </a:solidFill>
          <a:ln w="13970">
            <a:solidFill>
              <a:srgbClr val="3DCD58"/>
            </a:solidFill>
            <a:prstDash val="solid"/>
          </a:ln>
        </p:spPr>
      </p:sp>
      <p:sp>
        <p:nvSpPr>
          <p:cNvPr id="23" name="Text 21"/>
          <p:cNvSpPr/>
          <p:nvPr/>
        </p:nvSpPr>
        <p:spPr>
          <a:xfrm>
            <a:off x="6242152"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FUTURE PRODUCT</a:t>
            </a:r>
            <a:endParaRPr lang="en-US" sz="1100" dirty="0"/>
          </a:p>
        </p:txBody>
      </p:sp>
      <p:sp>
        <p:nvSpPr>
          <p:cNvPr id="24" name="Text 22"/>
          <p:cNvSpPr/>
          <p:nvPr/>
        </p:nvSpPr>
        <p:spPr>
          <a:xfrm>
            <a:off x="8255813" y="2240280"/>
            <a:ext cx="3314090" cy="237744"/>
          </a:xfrm>
          <a:prstGeom prst="rect">
            <a:avLst/>
          </a:prstGeom>
          <a:noFill/>
          <a:ln/>
        </p:spPr>
        <p:txBody>
          <a:bodyPr wrap="square" lIns="0" tIns="0" rIns="0" bIns="0" rtlCol="0" anchor="ctr"/>
          <a:lstStyle/>
          <a:p>
            <a:pPr algn="ctr" indent="0" marL="0">
              <a:buNone/>
            </a:pPr>
            <a:r>
              <a:rPr lang="en-US" sz="1300" b="1" dirty="0">
                <a:solidFill>
                  <a:srgbClr val="A0E7EE"/>
                </a:solidFill>
                <a:latin typeface="Calibri" pitchFamily="34" charset="0"/>
                <a:ea typeface="Calibri" pitchFamily="34" charset="-122"/>
                <a:cs typeface="Calibri" pitchFamily="34" charset="-120"/>
              </a:rPr>
              <a:t>Efficiency</a:t>
            </a:r>
            <a:endParaRPr lang="en-US" sz="1300" dirty="0"/>
          </a:p>
        </p:txBody>
      </p:sp>
      <p:sp>
        <p:nvSpPr>
          <p:cNvPr id="25" name="Text 23"/>
          <p:cNvSpPr/>
          <p:nvPr/>
        </p:nvSpPr>
        <p:spPr>
          <a:xfrm>
            <a:off x="8255813"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26" name="Shape 24"/>
          <p:cNvSpPr/>
          <p:nvPr/>
        </p:nvSpPr>
        <p:spPr>
          <a:xfrm>
            <a:off x="9120911" y="2743200"/>
            <a:ext cx="1583893" cy="1234440"/>
          </a:xfrm>
          <a:prstGeom prst="roundRect">
            <a:avLst>
              <a:gd name="adj" fmla="val 2963"/>
            </a:avLst>
          </a:prstGeom>
          <a:solidFill>
            <a:srgbClr val="0F4A2E"/>
          </a:solidFill>
          <a:ln w="13970">
            <a:solidFill>
              <a:srgbClr val="A0E7EE"/>
            </a:solidFill>
            <a:prstDash val="solid"/>
          </a:ln>
        </p:spPr>
      </p:sp>
      <p:sp>
        <p:nvSpPr>
          <p:cNvPr id="27" name="Text 25"/>
          <p:cNvSpPr/>
          <p:nvPr/>
        </p:nvSpPr>
        <p:spPr>
          <a:xfrm>
            <a:off x="9194063" y="2743200"/>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ENERGY EFFICIENCY</a:t>
            </a:r>
            <a:endParaRPr lang="en-US" sz="1100" dirty="0"/>
          </a:p>
        </p:txBody>
      </p:sp>
      <p:sp>
        <p:nvSpPr>
          <p:cNvPr id="28" name="Shape 26"/>
          <p:cNvSpPr/>
          <p:nvPr/>
        </p:nvSpPr>
        <p:spPr>
          <a:xfrm>
            <a:off x="9120911" y="4123944"/>
            <a:ext cx="1583893" cy="1234440"/>
          </a:xfrm>
          <a:prstGeom prst="roundRect">
            <a:avLst>
              <a:gd name="adj" fmla="val 2963"/>
            </a:avLst>
          </a:prstGeom>
          <a:solidFill>
            <a:srgbClr val="0F4A2E"/>
          </a:solidFill>
          <a:ln w="13970">
            <a:solidFill>
              <a:srgbClr val="A0E7EE"/>
            </a:solidFill>
            <a:prstDash val="solid"/>
          </a:ln>
        </p:spPr>
      </p:sp>
      <p:sp>
        <p:nvSpPr>
          <p:cNvPr id="29" name="Text 27"/>
          <p:cNvSpPr/>
          <p:nvPr/>
        </p:nvSpPr>
        <p:spPr>
          <a:xfrm>
            <a:off x="9194063" y="4123944"/>
            <a:ext cx="1437589"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FUTURE PRODUCT</a:t>
            </a:r>
            <a:endParaRPr lang="en-US" sz="1100" dirty="0"/>
          </a:p>
        </p:txBody>
      </p:sp>
      <p:sp>
        <p:nvSpPr>
          <p:cNvPr id="30" name="Shape 28"/>
          <p:cNvSpPr/>
          <p:nvPr/>
        </p:nvSpPr>
        <p:spPr>
          <a:xfrm>
            <a:off x="621792" y="5532120"/>
            <a:ext cx="10948111" cy="685800"/>
          </a:xfrm>
          <a:prstGeom prst="roundRect">
            <a:avLst>
              <a:gd name="adj" fmla="val 10667"/>
            </a:avLst>
          </a:prstGeom>
          <a:solidFill>
            <a:srgbClr val="1A4A2E"/>
          </a:solidFill>
          <a:ln w="12700">
            <a:solidFill>
              <a:srgbClr val="CDFC57"/>
            </a:solidFill>
            <a:prstDash val="solid"/>
          </a:ln>
        </p:spPr>
      </p:sp>
      <p:sp>
        <p:nvSpPr>
          <p:cNvPr id="31" name="Text 29"/>
          <p:cNvSpPr/>
          <p:nvPr/>
        </p:nvSpPr>
        <p:spPr>
          <a:xfrm>
            <a:off x="621792" y="5596128"/>
            <a:ext cx="10948111" cy="201168"/>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2" name="Shape 30"/>
          <p:cNvSpPr/>
          <p:nvPr/>
        </p:nvSpPr>
        <p:spPr>
          <a:xfrm>
            <a:off x="621792" y="5861304"/>
            <a:ext cx="1118921" cy="256032"/>
          </a:xfrm>
          <a:prstGeom prst="roundRect">
            <a:avLst>
              <a:gd name="adj" fmla="val 50000"/>
            </a:avLst>
          </a:prstGeom>
          <a:solidFill>
            <a:srgbClr val="0F3B24"/>
          </a:solidFill>
          <a:ln w="9525">
            <a:solidFill>
              <a:srgbClr val="3DCD58"/>
            </a:solidFill>
            <a:prstDash val="solid"/>
          </a:ln>
        </p:spPr>
      </p:sp>
      <p:sp>
        <p:nvSpPr>
          <p:cNvPr id="33" name="Text 31"/>
          <p:cNvSpPr/>
          <p:nvPr/>
        </p:nvSpPr>
        <p:spPr>
          <a:xfrm>
            <a:off x="62179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transformation</a:t>
            </a:r>
            <a:endParaRPr lang="en-US" sz="800" dirty="0"/>
          </a:p>
        </p:txBody>
      </p:sp>
      <p:sp>
        <p:nvSpPr>
          <p:cNvPr id="34" name="Shape 32"/>
          <p:cNvSpPr/>
          <p:nvPr/>
        </p:nvSpPr>
        <p:spPr>
          <a:xfrm>
            <a:off x="1850441" y="5861304"/>
            <a:ext cx="1118921" cy="256032"/>
          </a:xfrm>
          <a:prstGeom prst="roundRect">
            <a:avLst>
              <a:gd name="adj" fmla="val 50000"/>
            </a:avLst>
          </a:prstGeom>
          <a:solidFill>
            <a:srgbClr val="0F3B24"/>
          </a:solidFill>
          <a:ln w="9525">
            <a:solidFill>
              <a:srgbClr val="3DCD58"/>
            </a:solidFill>
            <a:prstDash val="solid"/>
          </a:ln>
        </p:spPr>
      </p:sp>
      <p:sp>
        <p:nvSpPr>
          <p:cNvPr id="35" name="Text 33"/>
          <p:cNvSpPr/>
          <p:nvPr/>
        </p:nvSpPr>
        <p:spPr>
          <a:xfrm>
            <a:off x="1850441"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quality</a:t>
            </a:r>
            <a:endParaRPr lang="en-US" sz="800" dirty="0"/>
          </a:p>
        </p:txBody>
      </p:sp>
      <p:sp>
        <p:nvSpPr>
          <p:cNvPr id="36" name="Shape 34"/>
          <p:cNvSpPr/>
          <p:nvPr/>
        </p:nvSpPr>
        <p:spPr>
          <a:xfrm>
            <a:off x="3079090" y="5861304"/>
            <a:ext cx="1118921" cy="256032"/>
          </a:xfrm>
          <a:prstGeom prst="roundRect">
            <a:avLst>
              <a:gd name="adj" fmla="val 50000"/>
            </a:avLst>
          </a:prstGeom>
          <a:solidFill>
            <a:srgbClr val="0F3B24"/>
          </a:solidFill>
          <a:ln w="9525">
            <a:solidFill>
              <a:srgbClr val="3DCD58"/>
            </a:solidFill>
            <a:prstDash val="solid"/>
          </a:ln>
        </p:spPr>
      </p:sp>
      <p:sp>
        <p:nvSpPr>
          <p:cNvPr id="37" name="Text 35"/>
          <p:cNvSpPr/>
          <p:nvPr/>
        </p:nvSpPr>
        <p:spPr>
          <a:xfrm>
            <a:off x="3079090"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hierarchy &amp; calc engine</a:t>
            </a:r>
            <a:endParaRPr lang="en-US" sz="800" dirty="0"/>
          </a:p>
        </p:txBody>
      </p:sp>
      <p:sp>
        <p:nvSpPr>
          <p:cNvPr id="38" name="Shape 36"/>
          <p:cNvSpPr/>
          <p:nvPr/>
        </p:nvSpPr>
        <p:spPr>
          <a:xfrm>
            <a:off x="4307738" y="5861304"/>
            <a:ext cx="1118921" cy="256032"/>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4307738"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Analytics &amp; Dashboards</a:t>
            </a:r>
            <a:endParaRPr lang="en-US" sz="800" dirty="0"/>
          </a:p>
        </p:txBody>
      </p:sp>
      <p:sp>
        <p:nvSpPr>
          <p:cNvPr id="40" name="Shape 38"/>
          <p:cNvSpPr/>
          <p:nvPr/>
        </p:nvSpPr>
        <p:spPr>
          <a:xfrm>
            <a:off x="5536387" y="5861304"/>
            <a:ext cx="1118921" cy="256032"/>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5536387"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Target mgmt</a:t>
            </a:r>
            <a:endParaRPr lang="en-US" sz="800" dirty="0"/>
          </a:p>
        </p:txBody>
      </p:sp>
      <p:sp>
        <p:nvSpPr>
          <p:cNvPr id="42" name="Shape 40"/>
          <p:cNvSpPr/>
          <p:nvPr/>
        </p:nvSpPr>
        <p:spPr>
          <a:xfrm>
            <a:off x="6765036" y="5861304"/>
            <a:ext cx="1118921" cy="256032"/>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6765036"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Scenario analysis</a:t>
            </a:r>
            <a:endParaRPr lang="en-US" sz="800" dirty="0"/>
          </a:p>
        </p:txBody>
      </p:sp>
      <p:sp>
        <p:nvSpPr>
          <p:cNvPr id="44" name="Shape 42"/>
          <p:cNvSpPr/>
          <p:nvPr/>
        </p:nvSpPr>
        <p:spPr>
          <a:xfrm>
            <a:off x="7993685" y="5861304"/>
            <a:ext cx="1118921" cy="256032"/>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7993685"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Actions and Adaptations</a:t>
            </a:r>
            <a:endParaRPr lang="en-US" sz="800" dirty="0"/>
          </a:p>
        </p:txBody>
      </p:sp>
      <p:sp>
        <p:nvSpPr>
          <p:cNvPr id="46" name="Shape 44"/>
          <p:cNvSpPr/>
          <p:nvPr/>
        </p:nvSpPr>
        <p:spPr>
          <a:xfrm>
            <a:off x="9222334" y="5861304"/>
            <a:ext cx="1118921" cy="256032"/>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9222334"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 agents &amp; forecasting</a:t>
            </a:r>
            <a:endParaRPr lang="en-US" sz="800" dirty="0"/>
          </a:p>
        </p:txBody>
      </p:sp>
      <p:sp>
        <p:nvSpPr>
          <p:cNvPr id="48" name="Shape 46"/>
          <p:cNvSpPr/>
          <p:nvPr/>
        </p:nvSpPr>
        <p:spPr>
          <a:xfrm>
            <a:off x="10450982" y="5861304"/>
            <a:ext cx="1118921" cy="256032"/>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1045098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Workflows &amp; audit trail</a:t>
            </a:r>
            <a:endParaRPr lang="en-US" sz="800" dirty="0"/>
          </a:p>
        </p:txBody>
      </p:sp>
      <p:sp>
        <p:nvSpPr>
          <p:cNvPr id="50" name="Text 48"/>
          <p:cNvSpPr/>
          <p:nvPr/>
        </p:nvSpPr>
        <p:spPr>
          <a:xfrm>
            <a:off x="8460943" y="6080760"/>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5222596"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2538146" cy="1234440"/>
          </a:xfrm>
          <a:prstGeom prst="roundRect">
            <a:avLst>
              <a:gd name="adj" fmla="val 2963"/>
            </a:avLst>
          </a:prstGeom>
          <a:solidFill>
            <a:srgbClr val="0F4A2E"/>
          </a:solidFill>
          <a:ln w="13970">
            <a:solidFill>
              <a:srgbClr val="CDFC57"/>
            </a:solidFill>
            <a:prstDash val="solid"/>
          </a:ln>
        </p:spPr>
      </p:sp>
      <p:sp>
        <p:nvSpPr>
          <p:cNvPr id="7" name="Text 5"/>
          <p:cNvSpPr/>
          <p:nvPr/>
        </p:nvSpPr>
        <p:spPr>
          <a:xfrm>
            <a:off x="69494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8" name="Shape 6"/>
          <p:cNvSpPr/>
          <p:nvPr/>
        </p:nvSpPr>
        <p:spPr>
          <a:xfrm>
            <a:off x="3306242" y="2743200"/>
            <a:ext cx="2538146" cy="1234440"/>
          </a:xfrm>
          <a:prstGeom prst="roundRect">
            <a:avLst>
              <a:gd name="adj" fmla="val 2963"/>
            </a:avLst>
          </a:prstGeom>
          <a:solidFill>
            <a:srgbClr val="0F4A2E"/>
          </a:solidFill>
          <a:ln w="13970">
            <a:solidFill>
              <a:srgbClr val="CDFC57"/>
            </a:solidFill>
            <a:prstDash val="solid"/>
          </a:ln>
        </p:spPr>
      </p:sp>
      <p:sp>
        <p:nvSpPr>
          <p:cNvPr id="9" name="Text 7"/>
          <p:cNvSpPr/>
          <p:nvPr/>
        </p:nvSpPr>
        <p:spPr>
          <a:xfrm>
            <a:off x="337939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123944"/>
            <a:ext cx="2538146" cy="1234440"/>
          </a:xfrm>
          <a:prstGeom prst="roundRect">
            <a:avLst>
              <a:gd name="adj" fmla="val 2963"/>
            </a:avLst>
          </a:prstGeom>
          <a:solidFill>
            <a:srgbClr val="0F4A2E"/>
          </a:solidFill>
          <a:ln w="13970">
            <a:solidFill>
              <a:srgbClr val="CDFC57"/>
            </a:solidFill>
            <a:prstDash val="solid"/>
          </a:ln>
        </p:spPr>
      </p:sp>
      <p:sp>
        <p:nvSpPr>
          <p:cNvPr id="11" name="Text 9"/>
          <p:cNvSpPr/>
          <p:nvPr/>
        </p:nvSpPr>
        <p:spPr>
          <a:xfrm>
            <a:off x="69494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12" name="Shape 10"/>
          <p:cNvSpPr/>
          <p:nvPr/>
        </p:nvSpPr>
        <p:spPr>
          <a:xfrm>
            <a:off x="3306242" y="4123944"/>
            <a:ext cx="2538146" cy="1234440"/>
          </a:xfrm>
          <a:prstGeom prst="roundRect">
            <a:avLst>
              <a:gd name="adj" fmla="val 2963"/>
            </a:avLst>
          </a:prstGeom>
          <a:solidFill>
            <a:srgbClr val="0F4A2E"/>
          </a:solidFill>
          <a:ln w="13970">
            <a:solidFill>
              <a:srgbClr val="CDFC57"/>
            </a:solidFill>
            <a:prstDash val="solid"/>
          </a:ln>
        </p:spPr>
      </p:sp>
      <p:sp>
        <p:nvSpPr>
          <p:cNvPr id="13" name="Text 11"/>
          <p:cNvSpPr/>
          <p:nvPr/>
        </p:nvSpPr>
        <p:spPr>
          <a:xfrm>
            <a:off x="337939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4" name="Text 12"/>
          <p:cNvSpPr/>
          <p:nvPr/>
        </p:nvSpPr>
        <p:spPr>
          <a:xfrm>
            <a:off x="6347308" y="2240280"/>
            <a:ext cx="5222596"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 &amp; Efficiency</a:t>
            </a:r>
            <a:endParaRPr lang="en-US" sz="1300" dirty="0"/>
          </a:p>
        </p:txBody>
      </p:sp>
      <p:sp>
        <p:nvSpPr>
          <p:cNvPr id="15" name="Text 13"/>
          <p:cNvSpPr/>
          <p:nvPr/>
        </p:nvSpPr>
        <p:spPr>
          <a:xfrm>
            <a:off x="6347308"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6347308" y="2743200"/>
            <a:ext cx="1643329" cy="749808"/>
          </a:xfrm>
          <a:prstGeom prst="roundRect">
            <a:avLst>
              <a:gd name="adj" fmla="val 4878"/>
            </a:avLst>
          </a:prstGeom>
          <a:solidFill>
            <a:srgbClr val="0F4A2E"/>
          </a:solidFill>
          <a:ln w="13970">
            <a:solidFill>
              <a:srgbClr val="3DCD58"/>
            </a:solidFill>
            <a:prstDash val="solid"/>
          </a:ln>
        </p:spPr>
      </p:sp>
      <p:sp>
        <p:nvSpPr>
          <p:cNvPr id="17" name="Text 15"/>
          <p:cNvSpPr/>
          <p:nvPr/>
        </p:nvSpPr>
        <p:spPr>
          <a:xfrm>
            <a:off x="6420460"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EFFICIENCY</a:t>
            </a:r>
            <a:endParaRPr lang="en-US" sz="900" dirty="0"/>
          </a:p>
        </p:txBody>
      </p:sp>
      <p:sp>
        <p:nvSpPr>
          <p:cNvPr id="18" name="Shape 16"/>
          <p:cNvSpPr/>
          <p:nvPr/>
        </p:nvSpPr>
        <p:spPr>
          <a:xfrm>
            <a:off x="8136941" y="2743200"/>
            <a:ext cx="1643329" cy="749808"/>
          </a:xfrm>
          <a:prstGeom prst="roundRect">
            <a:avLst>
              <a:gd name="adj" fmla="val 4878"/>
            </a:avLst>
          </a:prstGeom>
          <a:solidFill>
            <a:srgbClr val="0F4A2E"/>
          </a:solidFill>
          <a:ln w="13970">
            <a:solidFill>
              <a:srgbClr val="3DCD58"/>
            </a:solidFill>
            <a:prstDash val="solid"/>
          </a:ln>
        </p:spPr>
      </p:sp>
      <p:sp>
        <p:nvSpPr>
          <p:cNvPr id="19" name="Text 17"/>
          <p:cNvSpPr/>
          <p:nvPr/>
        </p:nvSpPr>
        <p:spPr>
          <a:xfrm>
            <a:off x="8210093"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CAPITAL ASSET PLANNING</a:t>
            </a:r>
            <a:endParaRPr lang="en-US" sz="900" dirty="0"/>
          </a:p>
        </p:txBody>
      </p:sp>
      <p:sp>
        <p:nvSpPr>
          <p:cNvPr id="20" name="Shape 18"/>
          <p:cNvSpPr/>
          <p:nvPr/>
        </p:nvSpPr>
        <p:spPr>
          <a:xfrm>
            <a:off x="9926574" y="2743200"/>
            <a:ext cx="1643329" cy="749808"/>
          </a:xfrm>
          <a:prstGeom prst="roundRect">
            <a:avLst>
              <a:gd name="adj" fmla="val 4878"/>
            </a:avLst>
          </a:prstGeom>
          <a:solidFill>
            <a:srgbClr val="0F4A2E"/>
          </a:solidFill>
          <a:ln w="13970">
            <a:solidFill>
              <a:srgbClr val="3DCD58"/>
            </a:solidFill>
            <a:prstDash val="solid"/>
          </a:ln>
        </p:spPr>
      </p:sp>
      <p:sp>
        <p:nvSpPr>
          <p:cNvPr id="21" name="Text 19"/>
          <p:cNvSpPr/>
          <p:nvPr/>
        </p:nvSpPr>
        <p:spPr>
          <a:xfrm>
            <a:off x="9999726"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METERING &amp; INTERVAL DATA</a:t>
            </a:r>
            <a:endParaRPr lang="en-US" sz="900" dirty="0"/>
          </a:p>
        </p:txBody>
      </p:sp>
      <p:sp>
        <p:nvSpPr>
          <p:cNvPr id="22" name="Shape 20"/>
          <p:cNvSpPr/>
          <p:nvPr/>
        </p:nvSpPr>
        <p:spPr>
          <a:xfrm>
            <a:off x="6347308" y="3639312"/>
            <a:ext cx="1643329" cy="749808"/>
          </a:xfrm>
          <a:prstGeom prst="roundRect">
            <a:avLst>
              <a:gd name="adj" fmla="val 4878"/>
            </a:avLst>
          </a:prstGeom>
          <a:solidFill>
            <a:srgbClr val="0F4A2E"/>
          </a:solidFill>
          <a:ln w="13970">
            <a:solidFill>
              <a:srgbClr val="3DCD58"/>
            </a:solidFill>
            <a:prstDash val="solid"/>
          </a:ln>
        </p:spPr>
      </p:sp>
      <p:sp>
        <p:nvSpPr>
          <p:cNvPr id="23" name="Text 21"/>
          <p:cNvSpPr/>
          <p:nvPr/>
        </p:nvSpPr>
        <p:spPr>
          <a:xfrm>
            <a:off x="6420460"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PORTFOLIO MANAGEMENT</a:t>
            </a:r>
            <a:endParaRPr lang="en-US" sz="900" dirty="0"/>
          </a:p>
        </p:txBody>
      </p:sp>
      <p:sp>
        <p:nvSpPr>
          <p:cNvPr id="24" name="Shape 22"/>
          <p:cNvSpPr/>
          <p:nvPr/>
        </p:nvSpPr>
        <p:spPr>
          <a:xfrm>
            <a:off x="8136941" y="3639312"/>
            <a:ext cx="1643329" cy="749808"/>
          </a:xfrm>
          <a:prstGeom prst="roundRect">
            <a:avLst>
              <a:gd name="adj" fmla="val 4878"/>
            </a:avLst>
          </a:prstGeom>
          <a:solidFill>
            <a:srgbClr val="0F4A2E"/>
          </a:solidFill>
          <a:ln w="13970">
            <a:solidFill>
              <a:srgbClr val="3DCD58"/>
            </a:solidFill>
            <a:prstDash val="solid"/>
          </a:ln>
        </p:spPr>
      </p:sp>
      <p:sp>
        <p:nvSpPr>
          <p:cNvPr id="25" name="Text 23"/>
          <p:cNvSpPr/>
          <p:nvPr/>
        </p:nvSpPr>
        <p:spPr>
          <a:xfrm>
            <a:off x="8210093"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UTILITY DATA MANAGEMENT</a:t>
            </a:r>
            <a:endParaRPr lang="en-US" sz="900" dirty="0"/>
          </a:p>
        </p:txBody>
      </p:sp>
      <p:sp>
        <p:nvSpPr>
          <p:cNvPr id="26" name="Shape 24"/>
          <p:cNvSpPr/>
          <p:nvPr/>
        </p:nvSpPr>
        <p:spPr>
          <a:xfrm>
            <a:off x="9926574" y="3639312"/>
            <a:ext cx="1643329" cy="749808"/>
          </a:xfrm>
          <a:prstGeom prst="roundRect">
            <a:avLst>
              <a:gd name="adj" fmla="val 4878"/>
            </a:avLst>
          </a:prstGeom>
          <a:solidFill>
            <a:srgbClr val="0F4A2E"/>
          </a:solidFill>
          <a:ln w="13970">
            <a:solidFill>
              <a:srgbClr val="3DCD58"/>
            </a:solidFill>
            <a:prstDash val="solid"/>
          </a:ln>
        </p:spPr>
      </p:sp>
      <p:sp>
        <p:nvSpPr>
          <p:cNvPr id="27" name="Text 25"/>
          <p:cNvSpPr/>
          <p:nvPr/>
        </p:nvSpPr>
        <p:spPr>
          <a:xfrm>
            <a:off x="9999726"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BUDGET &amp; TARIFF INTELLIGENCE</a:t>
            </a:r>
            <a:endParaRPr lang="en-US" sz="900" dirty="0"/>
          </a:p>
        </p:txBody>
      </p:sp>
      <p:sp>
        <p:nvSpPr>
          <p:cNvPr id="28" name="Shape 26"/>
          <p:cNvSpPr/>
          <p:nvPr/>
        </p:nvSpPr>
        <p:spPr>
          <a:xfrm>
            <a:off x="6347308" y="4535424"/>
            <a:ext cx="1643329" cy="749808"/>
          </a:xfrm>
          <a:prstGeom prst="roundRect">
            <a:avLst>
              <a:gd name="adj" fmla="val 4878"/>
            </a:avLst>
          </a:prstGeom>
          <a:solidFill>
            <a:srgbClr val="0F4A2E"/>
          </a:solidFill>
          <a:ln w="13970">
            <a:solidFill>
              <a:srgbClr val="3DCD58"/>
            </a:solidFill>
            <a:prstDash val="solid"/>
          </a:ln>
        </p:spPr>
      </p:sp>
      <p:sp>
        <p:nvSpPr>
          <p:cNvPr id="29" name="Text 27"/>
          <p:cNvSpPr/>
          <p:nvPr/>
        </p:nvSpPr>
        <p:spPr>
          <a:xfrm>
            <a:off x="6420460" y="4535424"/>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SOURCING &amp; PROCUREMENT</a:t>
            </a:r>
            <a:endParaRPr lang="en-US" sz="900" dirty="0"/>
          </a:p>
        </p:txBody>
      </p:sp>
      <p:sp>
        <p:nvSpPr>
          <p:cNvPr id="30" name="Shape 28"/>
          <p:cNvSpPr/>
          <p:nvPr/>
        </p:nvSpPr>
        <p:spPr>
          <a:xfrm>
            <a:off x="8136941" y="4535424"/>
            <a:ext cx="1643329" cy="749808"/>
          </a:xfrm>
          <a:prstGeom prst="roundRect">
            <a:avLst>
              <a:gd name="adj" fmla="val 4878"/>
            </a:avLst>
          </a:prstGeom>
          <a:solidFill>
            <a:srgbClr val="0F4A2E"/>
          </a:solidFill>
          <a:ln w="13970">
            <a:solidFill>
              <a:srgbClr val="3DCD58"/>
            </a:solidFill>
            <a:prstDash val="solid"/>
          </a:ln>
        </p:spPr>
      </p:sp>
      <p:sp>
        <p:nvSpPr>
          <p:cNvPr id="31" name="Text 29"/>
          <p:cNvSpPr/>
          <p:nvPr/>
        </p:nvSpPr>
        <p:spPr>
          <a:xfrm>
            <a:off x="8210093" y="4535424"/>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PPAS &amp; EACS</a:t>
            </a:r>
            <a:endParaRPr lang="en-US" sz="900" dirty="0"/>
          </a:p>
        </p:txBody>
      </p:sp>
      <p:sp>
        <p:nvSpPr>
          <p:cNvPr id="32" name="Shape 30"/>
          <p:cNvSpPr/>
          <p:nvPr/>
        </p:nvSpPr>
        <p:spPr>
          <a:xfrm>
            <a:off x="621792" y="5532120"/>
            <a:ext cx="10948111" cy="685800"/>
          </a:xfrm>
          <a:prstGeom prst="roundRect">
            <a:avLst>
              <a:gd name="adj" fmla="val 10667"/>
            </a:avLst>
          </a:prstGeom>
          <a:solidFill>
            <a:srgbClr val="1A4A2E"/>
          </a:solidFill>
          <a:ln w="12700">
            <a:solidFill>
              <a:srgbClr val="CDFC57"/>
            </a:solidFill>
            <a:prstDash val="solid"/>
          </a:ln>
        </p:spPr>
      </p:sp>
      <p:sp>
        <p:nvSpPr>
          <p:cNvPr id="33" name="Text 31"/>
          <p:cNvSpPr/>
          <p:nvPr/>
        </p:nvSpPr>
        <p:spPr>
          <a:xfrm>
            <a:off x="621792" y="5596128"/>
            <a:ext cx="10948111" cy="201168"/>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4" name="Shape 32"/>
          <p:cNvSpPr/>
          <p:nvPr/>
        </p:nvSpPr>
        <p:spPr>
          <a:xfrm>
            <a:off x="621792" y="5861304"/>
            <a:ext cx="1118921" cy="256032"/>
          </a:xfrm>
          <a:prstGeom prst="roundRect">
            <a:avLst>
              <a:gd name="adj" fmla="val 50000"/>
            </a:avLst>
          </a:prstGeom>
          <a:solidFill>
            <a:srgbClr val="0F3B24"/>
          </a:solidFill>
          <a:ln w="9525">
            <a:solidFill>
              <a:srgbClr val="3DCD58"/>
            </a:solidFill>
            <a:prstDash val="solid"/>
          </a:ln>
        </p:spPr>
      </p:sp>
      <p:sp>
        <p:nvSpPr>
          <p:cNvPr id="35" name="Text 33"/>
          <p:cNvSpPr/>
          <p:nvPr/>
        </p:nvSpPr>
        <p:spPr>
          <a:xfrm>
            <a:off x="62179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transformation</a:t>
            </a:r>
            <a:endParaRPr lang="en-US" sz="800" dirty="0"/>
          </a:p>
        </p:txBody>
      </p:sp>
      <p:sp>
        <p:nvSpPr>
          <p:cNvPr id="36" name="Shape 34"/>
          <p:cNvSpPr/>
          <p:nvPr/>
        </p:nvSpPr>
        <p:spPr>
          <a:xfrm>
            <a:off x="1850441" y="5861304"/>
            <a:ext cx="1118921" cy="256032"/>
          </a:xfrm>
          <a:prstGeom prst="roundRect">
            <a:avLst>
              <a:gd name="adj" fmla="val 50000"/>
            </a:avLst>
          </a:prstGeom>
          <a:solidFill>
            <a:srgbClr val="0F3B24"/>
          </a:solidFill>
          <a:ln w="9525">
            <a:solidFill>
              <a:srgbClr val="3DCD58"/>
            </a:solidFill>
            <a:prstDash val="solid"/>
          </a:ln>
        </p:spPr>
      </p:sp>
      <p:sp>
        <p:nvSpPr>
          <p:cNvPr id="37" name="Text 35"/>
          <p:cNvSpPr/>
          <p:nvPr/>
        </p:nvSpPr>
        <p:spPr>
          <a:xfrm>
            <a:off x="1850441"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quality</a:t>
            </a:r>
            <a:endParaRPr lang="en-US" sz="800" dirty="0"/>
          </a:p>
        </p:txBody>
      </p:sp>
      <p:sp>
        <p:nvSpPr>
          <p:cNvPr id="38" name="Shape 36"/>
          <p:cNvSpPr/>
          <p:nvPr/>
        </p:nvSpPr>
        <p:spPr>
          <a:xfrm>
            <a:off x="3079090" y="5861304"/>
            <a:ext cx="1118921" cy="256032"/>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3079090"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hierarchy &amp; calc engine</a:t>
            </a:r>
            <a:endParaRPr lang="en-US" sz="800" dirty="0"/>
          </a:p>
        </p:txBody>
      </p:sp>
      <p:sp>
        <p:nvSpPr>
          <p:cNvPr id="40" name="Shape 38"/>
          <p:cNvSpPr/>
          <p:nvPr/>
        </p:nvSpPr>
        <p:spPr>
          <a:xfrm>
            <a:off x="4307738" y="5861304"/>
            <a:ext cx="1118921" cy="256032"/>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4307738"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Analytics &amp; Dashboards</a:t>
            </a:r>
            <a:endParaRPr lang="en-US" sz="800" dirty="0"/>
          </a:p>
        </p:txBody>
      </p:sp>
      <p:sp>
        <p:nvSpPr>
          <p:cNvPr id="42" name="Shape 40"/>
          <p:cNvSpPr/>
          <p:nvPr/>
        </p:nvSpPr>
        <p:spPr>
          <a:xfrm>
            <a:off x="5536387" y="5861304"/>
            <a:ext cx="1118921" cy="256032"/>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5536387"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Target mgmt</a:t>
            </a:r>
            <a:endParaRPr lang="en-US" sz="800" dirty="0"/>
          </a:p>
        </p:txBody>
      </p:sp>
      <p:sp>
        <p:nvSpPr>
          <p:cNvPr id="44" name="Shape 42"/>
          <p:cNvSpPr/>
          <p:nvPr/>
        </p:nvSpPr>
        <p:spPr>
          <a:xfrm>
            <a:off x="6765036" y="5861304"/>
            <a:ext cx="1118921" cy="256032"/>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6765036"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Scenario analysis</a:t>
            </a:r>
            <a:endParaRPr lang="en-US" sz="800" dirty="0"/>
          </a:p>
        </p:txBody>
      </p:sp>
      <p:sp>
        <p:nvSpPr>
          <p:cNvPr id="46" name="Shape 44"/>
          <p:cNvSpPr/>
          <p:nvPr/>
        </p:nvSpPr>
        <p:spPr>
          <a:xfrm>
            <a:off x="7993685" y="5861304"/>
            <a:ext cx="1118921" cy="256032"/>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7993685"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Actions and Adaptations</a:t>
            </a:r>
            <a:endParaRPr lang="en-US" sz="800" dirty="0"/>
          </a:p>
        </p:txBody>
      </p:sp>
      <p:sp>
        <p:nvSpPr>
          <p:cNvPr id="48" name="Shape 46"/>
          <p:cNvSpPr/>
          <p:nvPr/>
        </p:nvSpPr>
        <p:spPr>
          <a:xfrm>
            <a:off x="9222334" y="5861304"/>
            <a:ext cx="1118921" cy="256032"/>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9222334"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 agents &amp; forecasting</a:t>
            </a:r>
            <a:endParaRPr lang="en-US" sz="800" dirty="0"/>
          </a:p>
        </p:txBody>
      </p:sp>
      <p:sp>
        <p:nvSpPr>
          <p:cNvPr id="50" name="Shape 48"/>
          <p:cNvSpPr/>
          <p:nvPr/>
        </p:nvSpPr>
        <p:spPr>
          <a:xfrm>
            <a:off x="10450982" y="5861304"/>
            <a:ext cx="1118921" cy="256032"/>
          </a:xfrm>
          <a:prstGeom prst="roundRect">
            <a:avLst>
              <a:gd name="adj" fmla="val 50000"/>
            </a:avLst>
          </a:prstGeom>
          <a:solidFill>
            <a:srgbClr val="0F3B24"/>
          </a:solidFill>
          <a:ln w="9525">
            <a:solidFill>
              <a:srgbClr val="3DCD58"/>
            </a:solidFill>
            <a:prstDash val="solid"/>
          </a:ln>
        </p:spPr>
      </p:sp>
      <p:sp>
        <p:nvSpPr>
          <p:cNvPr id="51" name="Text 49"/>
          <p:cNvSpPr/>
          <p:nvPr/>
        </p:nvSpPr>
        <p:spPr>
          <a:xfrm>
            <a:off x="1045098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Workflows &amp; audit trail</a:t>
            </a:r>
            <a:endParaRPr lang="en-US" sz="800" dirty="0"/>
          </a:p>
        </p:txBody>
      </p:sp>
      <p:sp>
        <p:nvSpPr>
          <p:cNvPr id="52" name="Text 50"/>
          <p:cNvSpPr/>
          <p:nvPr/>
        </p:nvSpPr>
        <p:spPr>
          <a:xfrm>
            <a:off x="8460943" y="6080760"/>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5222596"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2538146" cy="1234440"/>
          </a:xfrm>
          <a:prstGeom prst="roundRect">
            <a:avLst>
              <a:gd name="adj" fmla="val 2963"/>
            </a:avLst>
          </a:prstGeom>
          <a:solidFill>
            <a:srgbClr val="0F4A2E"/>
          </a:solidFill>
          <a:ln w="13970">
            <a:solidFill>
              <a:srgbClr val="CDFC57"/>
            </a:solidFill>
            <a:prstDash val="solid"/>
          </a:ln>
        </p:spPr>
      </p:sp>
      <p:sp>
        <p:nvSpPr>
          <p:cNvPr id="7" name="Text 5"/>
          <p:cNvSpPr/>
          <p:nvPr/>
        </p:nvSpPr>
        <p:spPr>
          <a:xfrm>
            <a:off x="69494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8" name="Shape 6"/>
          <p:cNvSpPr/>
          <p:nvPr/>
        </p:nvSpPr>
        <p:spPr>
          <a:xfrm>
            <a:off x="3306242" y="2743200"/>
            <a:ext cx="2538146" cy="1234440"/>
          </a:xfrm>
          <a:prstGeom prst="roundRect">
            <a:avLst>
              <a:gd name="adj" fmla="val 2963"/>
            </a:avLst>
          </a:prstGeom>
          <a:solidFill>
            <a:srgbClr val="0F4A2E"/>
          </a:solidFill>
          <a:ln w="13970">
            <a:solidFill>
              <a:srgbClr val="CDFC57"/>
            </a:solidFill>
            <a:prstDash val="solid"/>
          </a:ln>
        </p:spPr>
      </p:sp>
      <p:sp>
        <p:nvSpPr>
          <p:cNvPr id="9" name="Text 7"/>
          <p:cNvSpPr/>
          <p:nvPr/>
        </p:nvSpPr>
        <p:spPr>
          <a:xfrm>
            <a:off x="3379394" y="2743200"/>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123944"/>
            <a:ext cx="2538146" cy="1234440"/>
          </a:xfrm>
          <a:prstGeom prst="roundRect">
            <a:avLst>
              <a:gd name="adj" fmla="val 2963"/>
            </a:avLst>
          </a:prstGeom>
          <a:solidFill>
            <a:srgbClr val="0F4A2E"/>
          </a:solidFill>
          <a:ln w="13970">
            <a:solidFill>
              <a:srgbClr val="CDFC57"/>
            </a:solidFill>
            <a:prstDash val="solid"/>
          </a:ln>
        </p:spPr>
      </p:sp>
      <p:sp>
        <p:nvSpPr>
          <p:cNvPr id="11" name="Text 9"/>
          <p:cNvSpPr/>
          <p:nvPr/>
        </p:nvSpPr>
        <p:spPr>
          <a:xfrm>
            <a:off x="69494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12" name="Shape 10"/>
          <p:cNvSpPr/>
          <p:nvPr/>
        </p:nvSpPr>
        <p:spPr>
          <a:xfrm>
            <a:off x="3306242" y="4123944"/>
            <a:ext cx="2538146" cy="1234440"/>
          </a:xfrm>
          <a:prstGeom prst="roundRect">
            <a:avLst>
              <a:gd name="adj" fmla="val 2963"/>
            </a:avLst>
          </a:prstGeom>
          <a:solidFill>
            <a:srgbClr val="0F4A2E"/>
          </a:solidFill>
          <a:ln w="13970">
            <a:solidFill>
              <a:srgbClr val="CDFC57"/>
            </a:solidFill>
            <a:prstDash val="solid"/>
          </a:ln>
        </p:spPr>
      </p:sp>
      <p:sp>
        <p:nvSpPr>
          <p:cNvPr id="13" name="Text 11"/>
          <p:cNvSpPr/>
          <p:nvPr/>
        </p:nvSpPr>
        <p:spPr>
          <a:xfrm>
            <a:off x="3379394" y="4123944"/>
            <a:ext cx="2391842" cy="1234440"/>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4" name="Text 12"/>
          <p:cNvSpPr/>
          <p:nvPr/>
        </p:nvSpPr>
        <p:spPr>
          <a:xfrm>
            <a:off x="6347308" y="2240280"/>
            <a:ext cx="5222596"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a:t>
            </a:r>
            <a:endParaRPr lang="en-US" sz="1300" dirty="0"/>
          </a:p>
        </p:txBody>
      </p:sp>
      <p:sp>
        <p:nvSpPr>
          <p:cNvPr id="15" name="Text 13"/>
          <p:cNvSpPr/>
          <p:nvPr/>
        </p:nvSpPr>
        <p:spPr>
          <a:xfrm>
            <a:off x="6347308"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6347308" y="2743200"/>
            <a:ext cx="5222596" cy="1307592"/>
          </a:xfrm>
          <a:prstGeom prst="roundRect">
            <a:avLst>
              <a:gd name="adj" fmla="val 2797"/>
            </a:avLst>
          </a:prstGeom>
          <a:solidFill>
            <a:srgbClr val="0C3B25"/>
          </a:solidFill>
          <a:ln w="10160">
            <a:solidFill>
              <a:srgbClr val="3DCD58"/>
            </a:solidFill>
            <a:prstDash val="solid"/>
          </a:ln>
        </p:spPr>
      </p:sp>
      <p:sp>
        <p:nvSpPr>
          <p:cNvPr id="17" name="Text 15"/>
          <p:cNvSpPr/>
          <p:nvPr/>
        </p:nvSpPr>
        <p:spPr>
          <a:xfrm>
            <a:off x="6457036" y="2798064"/>
            <a:ext cx="5003140" cy="182880"/>
          </a:xfrm>
          <a:prstGeom prst="rect">
            <a:avLst/>
          </a:prstGeom>
          <a:noFill/>
          <a:ln/>
        </p:spPr>
        <p:txBody>
          <a:bodyPr wrap="square" lIns="0" tIns="0" rIns="0" bIns="0" rtlCol="0" anchor="ctr">
            <a:normAutofit/>
          </a:bodyPr>
          <a:lstStyle/>
          <a:p>
            <a:pPr algn="ctr" indent="0" marL="0">
              <a:buNone/>
            </a:pPr>
            <a:r>
              <a:rPr lang="en-US" sz="900" b="1" spc="60" kern="0" dirty="0">
                <a:solidFill>
                  <a:srgbClr val="3DCD58"/>
                </a:solidFill>
                <a:latin typeface="Calibri" pitchFamily="34" charset="0"/>
                <a:ea typeface="Calibri" pitchFamily="34" charset="-122"/>
                <a:cs typeface="Calibri" pitchFamily="34" charset="-120"/>
              </a:rPr>
              <a:t>ENERGY OPTIMIZATION</a:t>
            </a:r>
            <a:endParaRPr lang="en-US" sz="900" dirty="0"/>
          </a:p>
        </p:txBody>
      </p:sp>
      <p:sp>
        <p:nvSpPr>
          <p:cNvPr id="18" name="Shape 16"/>
          <p:cNvSpPr/>
          <p:nvPr/>
        </p:nvSpPr>
        <p:spPr>
          <a:xfrm>
            <a:off x="6457036" y="3017520"/>
            <a:ext cx="2428418" cy="416052"/>
          </a:xfrm>
          <a:prstGeom prst="roundRect">
            <a:avLst>
              <a:gd name="adj" fmla="val 8791"/>
            </a:avLst>
          </a:prstGeom>
          <a:solidFill>
            <a:srgbClr val="0F4A2E"/>
          </a:solidFill>
          <a:ln w="13970">
            <a:solidFill>
              <a:srgbClr val="3DCD58"/>
            </a:solidFill>
            <a:prstDash val="solid"/>
          </a:ln>
        </p:spPr>
      </p:sp>
      <p:sp>
        <p:nvSpPr>
          <p:cNvPr id="19" name="Text 17"/>
          <p:cNvSpPr/>
          <p:nvPr/>
        </p:nvSpPr>
        <p:spPr>
          <a:xfrm>
            <a:off x="6511900" y="3017520"/>
            <a:ext cx="2318690" cy="41605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METERING &amp; INTERVAL DATA</a:t>
            </a:r>
            <a:endParaRPr lang="en-US" sz="900" dirty="0"/>
          </a:p>
        </p:txBody>
      </p:sp>
      <p:sp>
        <p:nvSpPr>
          <p:cNvPr id="20" name="Shape 18"/>
          <p:cNvSpPr/>
          <p:nvPr/>
        </p:nvSpPr>
        <p:spPr>
          <a:xfrm>
            <a:off x="9031757" y="3017520"/>
            <a:ext cx="2428418" cy="416052"/>
          </a:xfrm>
          <a:prstGeom prst="roundRect">
            <a:avLst>
              <a:gd name="adj" fmla="val 8791"/>
            </a:avLst>
          </a:prstGeom>
          <a:solidFill>
            <a:srgbClr val="0F4A2E"/>
          </a:solidFill>
          <a:ln w="13970">
            <a:solidFill>
              <a:srgbClr val="3DCD58"/>
            </a:solidFill>
            <a:prstDash val="solid"/>
          </a:ln>
        </p:spPr>
      </p:sp>
      <p:sp>
        <p:nvSpPr>
          <p:cNvPr id="21" name="Text 19"/>
          <p:cNvSpPr/>
          <p:nvPr/>
        </p:nvSpPr>
        <p:spPr>
          <a:xfrm>
            <a:off x="9086621" y="3017520"/>
            <a:ext cx="2318690" cy="41605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AUDIT DIGITIZATION &amp; ECMS</a:t>
            </a:r>
            <a:endParaRPr lang="en-US" sz="900" dirty="0"/>
          </a:p>
        </p:txBody>
      </p:sp>
      <p:sp>
        <p:nvSpPr>
          <p:cNvPr id="22" name="Shape 20"/>
          <p:cNvSpPr/>
          <p:nvPr/>
        </p:nvSpPr>
        <p:spPr>
          <a:xfrm>
            <a:off x="6457036" y="3579876"/>
            <a:ext cx="2428418" cy="416052"/>
          </a:xfrm>
          <a:prstGeom prst="roundRect">
            <a:avLst>
              <a:gd name="adj" fmla="val 8791"/>
            </a:avLst>
          </a:prstGeom>
          <a:solidFill>
            <a:srgbClr val="0F4A2E"/>
          </a:solidFill>
          <a:ln w="13970">
            <a:solidFill>
              <a:srgbClr val="3DCD58"/>
            </a:solidFill>
            <a:prstDash val="solid"/>
          </a:ln>
        </p:spPr>
      </p:sp>
      <p:sp>
        <p:nvSpPr>
          <p:cNvPr id="23" name="Text 21"/>
          <p:cNvSpPr/>
          <p:nvPr/>
        </p:nvSpPr>
        <p:spPr>
          <a:xfrm>
            <a:off x="6511900" y="3579876"/>
            <a:ext cx="2318690" cy="41605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CAPITAL ASSET PLANNING</a:t>
            </a:r>
            <a:endParaRPr lang="en-US" sz="900" dirty="0"/>
          </a:p>
        </p:txBody>
      </p:sp>
      <p:sp>
        <p:nvSpPr>
          <p:cNvPr id="24" name="Shape 22"/>
          <p:cNvSpPr/>
          <p:nvPr/>
        </p:nvSpPr>
        <p:spPr>
          <a:xfrm>
            <a:off x="6347308" y="4178808"/>
            <a:ext cx="5222596" cy="1307592"/>
          </a:xfrm>
          <a:prstGeom prst="roundRect">
            <a:avLst>
              <a:gd name="adj" fmla="val 2797"/>
            </a:avLst>
          </a:prstGeom>
          <a:solidFill>
            <a:srgbClr val="0C3B25"/>
          </a:solidFill>
          <a:ln w="10160">
            <a:solidFill>
              <a:srgbClr val="3DCD58"/>
            </a:solidFill>
            <a:prstDash val="solid"/>
          </a:ln>
        </p:spPr>
      </p:sp>
      <p:sp>
        <p:nvSpPr>
          <p:cNvPr id="25" name="Text 23"/>
          <p:cNvSpPr/>
          <p:nvPr/>
        </p:nvSpPr>
        <p:spPr>
          <a:xfrm>
            <a:off x="6457036" y="4233672"/>
            <a:ext cx="5003140" cy="182880"/>
          </a:xfrm>
          <a:prstGeom prst="rect">
            <a:avLst/>
          </a:prstGeom>
          <a:noFill/>
          <a:ln/>
        </p:spPr>
        <p:txBody>
          <a:bodyPr wrap="square" lIns="0" tIns="0" rIns="0" bIns="0" rtlCol="0" anchor="ctr">
            <a:normAutofit/>
          </a:bodyPr>
          <a:lstStyle/>
          <a:p>
            <a:pPr algn="ctr" indent="0" marL="0">
              <a:buNone/>
            </a:pPr>
            <a:r>
              <a:rPr lang="en-US" sz="900" b="1" spc="60" kern="0" dirty="0">
                <a:solidFill>
                  <a:srgbClr val="3DCD58"/>
                </a:solidFill>
                <a:latin typeface="Calibri" pitchFamily="34" charset="0"/>
                <a:ea typeface="Calibri" pitchFamily="34" charset="-122"/>
                <a:cs typeface="Calibri" pitchFamily="34" charset="-120"/>
              </a:rPr>
              <a:t>PORTFOLIO MANAGEMENT</a:t>
            </a:r>
            <a:endParaRPr lang="en-US" sz="900" dirty="0"/>
          </a:p>
        </p:txBody>
      </p:sp>
      <p:sp>
        <p:nvSpPr>
          <p:cNvPr id="26" name="Shape 24"/>
          <p:cNvSpPr/>
          <p:nvPr/>
        </p:nvSpPr>
        <p:spPr>
          <a:xfrm>
            <a:off x="6457036" y="4453128"/>
            <a:ext cx="2428418" cy="228600"/>
          </a:xfrm>
          <a:prstGeom prst="roundRect">
            <a:avLst>
              <a:gd name="adj" fmla="val 16000"/>
            </a:avLst>
          </a:prstGeom>
          <a:solidFill>
            <a:srgbClr val="0F4A2E"/>
          </a:solidFill>
          <a:ln w="13970">
            <a:solidFill>
              <a:srgbClr val="3DCD58"/>
            </a:solidFill>
            <a:prstDash val="solid"/>
          </a:ln>
        </p:spPr>
      </p:sp>
      <p:sp>
        <p:nvSpPr>
          <p:cNvPr id="27" name="Text 25"/>
          <p:cNvSpPr/>
          <p:nvPr/>
        </p:nvSpPr>
        <p:spPr>
          <a:xfrm>
            <a:off x="6511900" y="4453128"/>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UTILITY DATA MANAGEMENT</a:t>
            </a:r>
            <a:endParaRPr lang="en-US" sz="900" dirty="0"/>
          </a:p>
        </p:txBody>
      </p:sp>
      <p:sp>
        <p:nvSpPr>
          <p:cNvPr id="28" name="Shape 26"/>
          <p:cNvSpPr/>
          <p:nvPr/>
        </p:nvSpPr>
        <p:spPr>
          <a:xfrm>
            <a:off x="9031757" y="4453128"/>
            <a:ext cx="2428418" cy="228600"/>
          </a:xfrm>
          <a:prstGeom prst="roundRect">
            <a:avLst>
              <a:gd name="adj" fmla="val 16000"/>
            </a:avLst>
          </a:prstGeom>
          <a:solidFill>
            <a:srgbClr val="0F4A2E"/>
          </a:solidFill>
          <a:ln w="13970">
            <a:solidFill>
              <a:srgbClr val="3DCD58"/>
            </a:solidFill>
            <a:prstDash val="solid"/>
          </a:ln>
        </p:spPr>
      </p:sp>
      <p:sp>
        <p:nvSpPr>
          <p:cNvPr id="29" name="Text 27"/>
          <p:cNvSpPr/>
          <p:nvPr/>
        </p:nvSpPr>
        <p:spPr>
          <a:xfrm>
            <a:off x="9086621" y="4453128"/>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BUDGET &amp; TARIFF INTELLIGENCE</a:t>
            </a:r>
            <a:endParaRPr lang="en-US" sz="900" dirty="0"/>
          </a:p>
        </p:txBody>
      </p:sp>
      <p:sp>
        <p:nvSpPr>
          <p:cNvPr id="30" name="Shape 28"/>
          <p:cNvSpPr/>
          <p:nvPr/>
        </p:nvSpPr>
        <p:spPr>
          <a:xfrm>
            <a:off x="6457036" y="4828032"/>
            <a:ext cx="2428418" cy="228600"/>
          </a:xfrm>
          <a:prstGeom prst="roundRect">
            <a:avLst>
              <a:gd name="adj" fmla="val 16000"/>
            </a:avLst>
          </a:prstGeom>
          <a:solidFill>
            <a:srgbClr val="0F4A2E"/>
          </a:solidFill>
          <a:ln w="13970">
            <a:solidFill>
              <a:srgbClr val="3DCD58"/>
            </a:solidFill>
            <a:prstDash val="solid"/>
          </a:ln>
        </p:spPr>
      </p:sp>
      <p:sp>
        <p:nvSpPr>
          <p:cNvPr id="31" name="Text 29"/>
          <p:cNvSpPr/>
          <p:nvPr/>
        </p:nvSpPr>
        <p:spPr>
          <a:xfrm>
            <a:off x="6511900" y="4828032"/>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SOURCING &amp; PROCUREMENT</a:t>
            </a:r>
            <a:endParaRPr lang="en-US" sz="900" dirty="0"/>
          </a:p>
        </p:txBody>
      </p:sp>
      <p:sp>
        <p:nvSpPr>
          <p:cNvPr id="32" name="Shape 30"/>
          <p:cNvSpPr/>
          <p:nvPr/>
        </p:nvSpPr>
        <p:spPr>
          <a:xfrm>
            <a:off x="9031757" y="4828032"/>
            <a:ext cx="2428418" cy="228600"/>
          </a:xfrm>
          <a:prstGeom prst="roundRect">
            <a:avLst>
              <a:gd name="adj" fmla="val 16000"/>
            </a:avLst>
          </a:prstGeom>
          <a:solidFill>
            <a:srgbClr val="0F4A2E"/>
          </a:solidFill>
          <a:ln w="13970">
            <a:solidFill>
              <a:srgbClr val="3DCD58"/>
            </a:solidFill>
            <a:prstDash val="solid"/>
          </a:ln>
        </p:spPr>
      </p:sp>
      <p:sp>
        <p:nvSpPr>
          <p:cNvPr id="33" name="Text 31"/>
          <p:cNvSpPr/>
          <p:nvPr/>
        </p:nvSpPr>
        <p:spPr>
          <a:xfrm>
            <a:off x="9086621" y="4828032"/>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PPAS &amp; EACS</a:t>
            </a:r>
            <a:endParaRPr lang="en-US" sz="900" dirty="0"/>
          </a:p>
        </p:txBody>
      </p:sp>
      <p:sp>
        <p:nvSpPr>
          <p:cNvPr id="34" name="Shape 32"/>
          <p:cNvSpPr/>
          <p:nvPr/>
        </p:nvSpPr>
        <p:spPr>
          <a:xfrm>
            <a:off x="6457036" y="5202936"/>
            <a:ext cx="2428418" cy="228600"/>
          </a:xfrm>
          <a:prstGeom prst="roundRect">
            <a:avLst>
              <a:gd name="adj" fmla="val 16000"/>
            </a:avLst>
          </a:prstGeom>
          <a:solidFill>
            <a:srgbClr val="0F4A2E"/>
          </a:solidFill>
          <a:ln w="13970">
            <a:solidFill>
              <a:srgbClr val="3DCD58"/>
            </a:solidFill>
            <a:prstDash val="solid"/>
          </a:ln>
        </p:spPr>
      </p:sp>
      <p:sp>
        <p:nvSpPr>
          <p:cNvPr id="35" name="Text 33"/>
          <p:cNvSpPr/>
          <p:nvPr/>
        </p:nvSpPr>
        <p:spPr>
          <a:xfrm>
            <a:off x="6511900" y="5202936"/>
            <a:ext cx="2318690" cy="22860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RISK MANAGEMENT</a:t>
            </a:r>
            <a:endParaRPr lang="en-US" sz="900" dirty="0"/>
          </a:p>
        </p:txBody>
      </p:sp>
      <p:sp>
        <p:nvSpPr>
          <p:cNvPr id="36" name="Shape 34"/>
          <p:cNvSpPr/>
          <p:nvPr/>
        </p:nvSpPr>
        <p:spPr>
          <a:xfrm>
            <a:off x="621792" y="5532120"/>
            <a:ext cx="10948111" cy="685800"/>
          </a:xfrm>
          <a:prstGeom prst="roundRect">
            <a:avLst>
              <a:gd name="adj" fmla="val 10667"/>
            </a:avLst>
          </a:prstGeom>
          <a:solidFill>
            <a:srgbClr val="1A4A2E"/>
          </a:solidFill>
          <a:ln w="12700">
            <a:solidFill>
              <a:srgbClr val="CDFC57"/>
            </a:solidFill>
            <a:prstDash val="solid"/>
          </a:ln>
        </p:spPr>
      </p:sp>
      <p:sp>
        <p:nvSpPr>
          <p:cNvPr id="37" name="Text 35"/>
          <p:cNvSpPr/>
          <p:nvPr/>
        </p:nvSpPr>
        <p:spPr>
          <a:xfrm>
            <a:off x="621792" y="5596128"/>
            <a:ext cx="10948111" cy="201168"/>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8" name="Shape 36"/>
          <p:cNvSpPr/>
          <p:nvPr/>
        </p:nvSpPr>
        <p:spPr>
          <a:xfrm>
            <a:off x="621792" y="5861304"/>
            <a:ext cx="1118921" cy="256032"/>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62179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transformation</a:t>
            </a:r>
            <a:endParaRPr lang="en-US" sz="800" dirty="0"/>
          </a:p>
        </p:txBody>
      </p:sp>
      <p:sp>
        <p:nvSpPr>
          <p:cNvPr id="40" name="Shape 38"/>
          <p:cNvSpPr/>
          <p:nvPr/>
        </p:nvSpPr>
        <p:spPr>
          <a:xfrm>
            <a:off x="1850441" y="5861304"/>
            <a:ext cx="1118921" cy="256032"/>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1850441"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quality</a:t>
            </a:r>
            <a:endParaRPr lang="en-US" sz="800" dirty="0"/>
          </a:p>
        </p:txBody>
      </p:sp>
      <p:sp>
        <p:nvSpPr>
          <p:cNvPr id="42" name="Shape 40"/>
          <p:cNvSpPr/>
          <p:nvPr/>
        </p:nvSpPr>
        <p:spPr>
          <a:xfrm>
            <a:off x="3079090" y="5861304"/>
            <a:ext cx="1118921" cy="256032"/>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3079090"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Data hierarchy &amp; calc engine</a:t>
            </a:r>
            <a:endParaRPr lang="en-US" sz="800" dirty="0"/>
          </a:p>
        </p:txBody>
      </p:sp>
      <p:sp>
        <p:nvSpPr>
          <p:cNvPr id="44" name="Shape 42"/>
          <p:cNvSpPr/>
          <p:nvPr/>
        </p:nvSpPr>
        <p:spPr>
          <a:xfrm>
            <a:off x="4307738" y="5861304"/>
            <a:ext cx="1118921" cy="256032"/>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4307738"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Analytics &amp; Dashboards</a:t>
            </a:r>
            <a:endParaRPr lang="en-US" sz="800" dirty="0"/>
          </a:p>
        </p:txBody>
      </p:sp>
      <p:sp>
        <p:nvSpPr>
          <p:cNvPr id="46" name="Shape 44"/>
          <p:cNvSpPr/>
          <p:nvPr/>
        </p:nvSpPr>
        <p:spPr>
          <a:xfrm>
            <a:off x="5536387" y="5861304"/>
            <a:ext cx="1118921" cy="256032"/>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5536387"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Target mgmt</a:t>
            </a:r>
            <a:endParaRPr lang="en-US" sz="800" dirty="0"/>
          </a:p>
        </p:txBody>
      </p:sp>
      <p:sp>
        <p:nvSpPr>
          <p:cNvPr id="48" name="Shape 46"/>
          <p:cNvSpPr/>
          <p:nvPr/>
        </p:nvSpPr>
        <p:spPr>
          <a:xfrm>
            <a:off x="6765036" y="5861304"/>
            <a:ext cx="1118921" cy="256032"/>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6765036"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Scenario analysis</a:t>
            </a:r>
            <a:endParaRPr lang="en-US" sz="800" dirty="0"/>
          </a:p>
        </p:txBody>
      </p:sp>
      <p:sp>
        <p:nvSpPr>
          <p:cNvPr id="50" name="Shape 48"/>
          <p:cNvSpPr/>
          <p:nvPr/>
        </p:nvSpPr>
        <p:spPr>
          <a:xfrm>
            <a:off x="7993685" y="5861304"/>
            <a:ext cx="1118921" cy="256032"/>
          </a:xfrm>
          <a:prstGeom prst="roundRect">
            <a:avLst>
              <a:gd name="adj" fmla="val 50000"/>
            </a:avLst>
          </a:prstGeom>
          <a:solidFill>
            <a:srgbClr val="0F3B24"/>
          </a:solidFill>
          <a:ln w="9525">
            <a:solidFill>
              <a:srgbClr val="3DCD58"/>
            </a:solidFill>
            <a:prstDash val="solid"/>
          </a:ln>
        </p:spPr>
      </p:sp>
      <p:sp>
        <p:nvSpPr>
          <p:cNvPr id="51" name="Text 49"/>
          <p:cNvSpPr/>
          <p:nvPr/>
        </p:nvSpPr>
        <p:spPr>
          <a:xfrm>
            <a:off x="7993685"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Actions and Adaptations</a:t>
            </a:r>
            <a:endParaRPr lang="en-US" sz="800" dirty="0"/>
          </a:p>
        </p:txBody>
      </p:sp>
      <p:sp>
        <p:nvSpPr>
          <p:cNvPr id="52" name="Shape 50"/>
          <p:cNvSpPr/>
          <p:nvPr/>
        </p:nvSpPr>
        <p:spPr>
          <a:xfrm>
            <a:off x="9222334" y="5861304"/>
            <a:ext cx="1118921" cy="256032"/>
          </a:xfrm>
          <a:prstGeom prst="roundRect">
            <a:avLst>
              <a:gd name="adj" fmla="val 50000"/>
            </a:avLst>
          </a:prstGeom>
          <a:solidFill>
            <a:srgbClr val="0F3B24"/>
          </a:solidFill>
          <a:ln w="9525">
            <a:solidFill>
              <a:srgbClr val="3DCD58"/>
            </a:solidFill>
            <a:prstDash val="solid"/>
          </a:ln>
        </p:spPr>
      </p:sp>
      <p:sp>
        <p:nvSpPr>
          <p:cNvPr id="53" name="Text 51"/>
          <p:cNvSpPr/>
          <p:nvPr/>
        </p:nvSpPr>
        <p:spPr>
          <a:xfrm>
            <a:off x="9222334"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 agents &amp; forecasting</a:t>
            </a:r>
            <a:endParaRPr lang="en-US" sz="800" dirty="0"/>
          </a:p>
        </p:txBody>
      </p:sp>
      <p:sp>
        <p:nvSpPr>
          <p:cNvPr id="54" name="Shape 52"/>
          <p:cNvSpPr/>
          <p:nvPr/>
        </p:nvSpPr>
        <p:spPr>
          <a:xfrm>
            <a:off x="10450982" y="5861304"/>
            <a:ext cx="1118921" cy="256032"/>
          </a:xfrm>
          <a:prstGeom prst="roundRect">
            <a:avLst>
              <a:gd name="adj" fmla="val 50000"/>
            </a:avLst>
          </a:prstGeom>
          <a:solidFill>
            <a:srgbClr val="0F3B24"/>
          </a:solidFill>
          <a:ln w="9525">
            <a:solidFill>
              <a:srgbClr val="3DCD58"/>
            </a:solidFill>
            <a:prstDash val="solid"/>
          </a:ln>
        </p:spPr>
      </p:sp>
      <p:sp>
        <p:nvSpPr>
          <p:cNvPr id="55" name="Text 53"/>
          <p:cNvSpPr/>
          <p:nvPr/>
        </p:nvSpPr>
        <p:spPr>
          <a:xfrm>
            <a:off x="10450982" y="5861304"/>
            <a:ext cx="1118921" cy="256032"/>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Calibri" pitchFamily="34" charset="0"/>
                <a:ea typeface="Calibri" pitchFamily="34" charset="-122"/>
                <a:cs typeface="Calibri" pitchFamily="34" charset="-120"/>
              </a:rPr>
              <a:t>Workflows &amp; audit trail</a:t>
            </a:r>
            <a:endParaRPr lang="en-US" sz="800" dirty="0"/>
          </a:p>
        </p:txBody>
      </p:sp>
      <p:sp>
        <p:nvSpPr>
          <p:cNvPr id="56" name="Text 54"/>
          <p:cNvSpPr/>
          <p:nvPr/>
        </p:nvSpPr>
        <p:spPr>
          <a:xfrm>
            <a:off x="8460943" y="6080760"/>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095848" cy="73152"/>
          </a:xfrm>
          <a:prstGeom prst="rect">
            <a:avLst/>
          </a:prstGeom>
          <a:solidFill>
            <a:srgbClr val="3DCD58"/>
          </a:solidFill>
          <a:ln w="12700">
            <a:solidFill>
              <a:srgbClr val="3DCD58">
                <a:alpha val="0"/>
              </a:srgbClr>
            </a:solidFill>
            <a:prstDash val="solid"/>
          </a:ln>
        </p:spPr>
      </p:sp>
      <p:sp>
        <p:nvSpPr>
          <p:cNvPr id="3" name="Text 1"/>
          <p:cNvSpPr/>
          <p:nvPr/>
        </p:nvSpPr>
        <p:spPr>
          <a:xfrm>
            <a:off x="621792" y="640080"/>
            <a:ext cx="10948111" cy="1051560"/>
          </a:xfrm>
          <a:prstGeom prst="rect">
            <a:avLst/>
          </a:prstGeom>
          <a:noFill/>
          <a:ln/>
        </p:spPr>
        <p:txBody>
          <a:bodyPr wrap="square" lIns="0" tIns="0" rIns="0" bIns="0" rtlCol="0" anchor="ctr">
            <a:normAutofit/>
          </a:bodyPr>
          <a:lstStyle/>
          <a:p>
            <a:pPr algn="ctr" indent="0" marL="0">
              <a:buNone/>
            </a:pPr>
            <a:r>
              <a:rPr lang="en-US" sz="3400" b="1" dirty="0">
                <a:solidFill>
                  <a:srgbClr val="1E2420"/>
                </a:solidFill>
                <a:latin typeface="Calibri" pitchFamily="34" charset="0"/>
                <a:ea typeface="Calibri" pitchFamily="34" charset="-122"/>
                <a:cs typeface="Calibri" pitchFamily="34" charset="-120"/>
              </a:rPr>
              <a:t>One Data Spine. Three Domains. Infinite Combinations.</a:t>
            </a:r>
            <a:endParaRPr lang="en-US" sz="3400" dirty="0"/>
          </a:p>
        </p:txBody>
      </p:sp>
      <p:sp>
        <p:nvSpPr>
          <p:cNvPr id="4" name="Text 2"/>
          <p:cNvSpPr/>
          <p:nvPr/>
        </p:nvSpPr>
        <p:spPr>
          <a:xfrm>
            <a:off x="1889608" y="1783080"/>
            <a:ext cx="8412480" cy="822960"/>
          </a:xfrm>
          <a:prstGeom prst="rect">
            <a:avLst/>
          </a:prstGeom>
          <a:noFill/>
          <a:ln/>
        </p:spPr>
        <p:txBody>
          <a:bodyPr wrap="square" lIns="0" tIns="0" rIns="0" bIns="0" rtlCol="0" anchor="t">
            <a:normAutofit/>
          </a:bodyPr>
          <a:lstStyle/>
          <a:p>
            <a:pPr algn="ctr" indent="0" marL="0">
              <a:buNone/>
            </a:pPr>
            <a:r>
              <a:rPr lang="en-US" sz="1250" dirty="0">
                <a:solidFill>
                  <a:srgbClr val="5A625C"/>
                </a:solidFill>
                <a:latin typeface="Calibri" pitchFamily="34" charset="0"/>
                <a:ea typeface="Calibri" pitchFamily="34" charset="-122"/>
                <a:cs typeface="Calibri" pitchFamily="34" charset="-120"/>
              </a:rPr>
              <a:t>Every domain runs on a common architecture and data model with seamless data flows between products: improved ingestion, transformation and quality, advanced dashboards and analytics with smart AI insights, and a consistent user experience.</a:t>
            </a:r>
            <a:endParaRPr lang="en-US" sz="1250" dirty="0"/>
          </a:p>
        </p:txBody>
      </p:sp>
      <p:sp>
        <p:nvSpPr>
          <p:cNvPr id="5" name="Shape 3"/>
          <p:cNvSpPr/>
          <p:nvPr/>
        </p:nvSpPr>
        <p:spPr>
          <a:xfrm>
            <a:off x="1889608" y="2880360"/>
            <a:ext cx="8412480" cy="960120"/>
          </a:xfrm>
          <a:prstGeom prst="roundRect">
            <a:avLst>
              <a:gd name="adj" fmla="val 5714"/>
            </a:avLst>
          </a:prstGeom>
          <a:solidFill>
            <a:srgbClr val="F7F8F7"/>
          </a:solidFill>
          <a:ln w="10160">
            <a:solidFill>
              <a:srgbClr val="E2E6E2"/>
            </a:solidFill>
            <a:prstDash val="solid"/>
          </a:ln>
        </p:spPr>
      </p:sp>
      <p:sp>
        <p:nvSpPr>
          <p:cNvPr id="6" name="Shape 4"/>
          <p:cNvSpPr/>
          <p:nvPr/>
        </p:nvSpPr>
        <p:spPr>
          <a:xfrm>
            <a:off x="2163928" y="3081528"/>
            <a:ext cx="566928" cy="566928"/>
          </a:xfrm>
          <a:prstGeom prst="roundRect">
            <a:avLst>
              <a:gd name="adj" fmla="val 9677"/>
            </a:avLst>
          </a:prstGeom>
          <a:solidFill>
            <a:srgbClr val="EAF8ED"/>
          </a:solidFill>
          <a:ln w="12700">
            <a:solidFill>
              <a:srgbClr val="EAF8ED"/>
            </a:solidFill>
            <a:prstDash val="solid"/>
          </a:ln>
        </p:spPr>
      </p:sp>
      <p:sp>
        <p:nvSpPr>
          <p:cNvPr id="7" name="Text 5"/>
          <p:cNvSpPr/>
          <p:nvPr/>
        </p:nvSpPr>
        <p:spPr>
          <a:xfrm>
            <a:off x="2163928" y="3081528"/>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2895448" y="3026664"/>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Unified Data Foundation</a:t>
            </a:r>
            <a:endParaRPr lang="en-US" sz="1700" dirty="0"/>
          </a:p>
        </p:txBody>
      </p:sp>
      <p:sp>
        <p:nvSpPr>
          <p:cNvPr id="9" name="Text 7"/>
          <p:cNvSpPr/>
          <p:nvPr/>
        </p:nvSpPr>
        <p:spPr>
          <a:xfrm>
            <a:off x="2895448" y="3383280"/>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RA+ spine   ·   Sustainability graph   ·   Identity registry   ·   Common data model</a:t>
            </a:r>
            <a:endParaRPr lang="en-US" sz="1200" dirty="0"/>
          </a:p>
        </p:txBody>
      </p:sp>
      <p:sp>
        <p:nvSpPr>
          <p:cNvPr id="10" name="Shape 8"/>
          <p:cNvSpPr/>
          <p:nvPr/>
        </p:nvSpPr>
        <p:spPr>
          <a:xfrm>
            <a:off x="1889608" y="4059936"/>
            <a:ext cx="8412480" cy="960120"/>
          </a:xfrm>
          <a:prstGeom prst="roundRect">
            <a:avLst>
              <a:gd name="adj" fmla="val 5714"/>
            </a:avLst>
          </a:prstGeom>
          <a:solidFill>
            <a:srgbClr val="F7F8F7"/>
          </a:solidFill>
          <a:ln w="10160">
            <a:solidFill>
              <a:srgbClr val="E2E6E2"/>
            </a:solidFill>
            <a:prstDash val="solid"/>
          </a:ln>
        </p:spPr>
      </p:sp>
      <p:sp>
        <p:nvSpPr>
          <p:cNvPr id="11" name="Shape 9"/>
          <p:cNvSpPr/>
          <p:nvPr/>
        </p:nvSpPr>
        <p:spPr>
          <a:xfrm>
            <a:off x="2163928" y="4261104"/>
            <a:ext cx="566928" cy="566928"/>
          </a:xfrm>
          <a:prstGeom prst="roundRect">
            <a:avLst>
              <a:gd name="adj" fmla="val 9677"/>
            </a:avLst>
          </a:prstGeom>
          <a:solidFill>
            <a:srgbClr val="EAF8ED"/>
          </a:solidFill>
          <a:ln w="12700">
            <a:solidFill>
              <a:srgbClr val="EAF8ED"/>
            </a:solidFill>
            <a:prstDash val="solid"/>
          </a:ln>
        </p:spPr>
      </p:sp>
      <p:sp>
        <p:nvSpPr>
          <p:cNvPr id="12" name="Text 10"/>
          <p:cNvSpPr/>
          <p:nvPr/>
        </p:nvSpPr>
        <p:spPr>
          <a:xfrm>
            <a:off x="2163928" y="4261104"/>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13" name="Text 11"/>
          <p:cNvSpPr/>
          <p:nvPr/>
        </p:nvSpPr>
        <p:spPr>
          <a:xfrm>
            <a:off x="2895448" y="4206240"/>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Shared Intelligence Layer</a:t>
            </a:r>
            <a:endParaRPr lang="en-US" sz="1700" dirty="0"/>
          </a:p>
        </p:txBody>
      </p:sp>
      <p:sp>
        <p:nvSpPr>
          <p:cNvPr id="14" name="Text 12"/>
          <p:cNvSpPr/>
          <p:nvPr/>
        </p:nvSpPr>
        <p:spPr>
          <a:xfrm>
            <a:off x="2895448" y="4562856"/>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AI agents   ·   Recommendation engine   ·   Anomaly detection   ·   Forecasting models</a:t>
            </a:r>
            <a:endParaRPr lang="en-US" sz="1200" dirty="0"/>
          </a:p>
        </p:txBody>
      </p:sp>
      <p:sp>
        <p:nvSpPr>
          <p:cNvPr id="15" name="Shape 13"/>
          <p:cNvSpPr/>
          <p:nvPr/>
        </p:nvSpPr>
        <p:spPr>
          <a:xfrm>
            <a:off x="1889608" y="5239512"/>
            <a:ext cx="8412480" cy="960120"/>
          </a:xfrm>
          <a:prstGeom prst="roundRect">
            <a:avLst>
              <a:gd name="adj" fmla="val 5714"/>
            </a:avLst>
          </a:prstGeom>
          <a:solidFill>
            <a:srgbClr val="F7F8F7"/>
          </a:solidFill>
          <a:ln w="10160">
            <a:solidFill>
              <a:srgbClr val="E2E6E2"/>
            </a:solidFill>
            <a:prstDash val="solid"/>
          </a:ln>
        </p:spPr>
      </p:sp>
      <p:sp>
        <p:nvSpPr>
          <p:cNvPr id="16" name="Shape 14"/>
          <p:cNvSpPr/>
          <p:nvPr/>
        </p:nvSpPr>
        <p:spPr>
          <a:xfrm>
            <a:off x="2163928" y="5440680"/>
            <a:ext cx="566928" cy="566928"/>
          </a:xfrm>
          <a:prstGeom prst="roundRect">
            <a:avLst>
              <a:gd name="adj" fmla="val 9677"/>
            </a:avLst>
          </a:prstGeom>
          <a:solidFill>
            <a:srgbClr val="EAF8ED"/>
          </a:solidFill>
          <a:ln w="12700">
            <a:solidFill>
              <a:srgbClr val="EAF8ED"/>
            </a:solidFill>
            <a:prstDash val="solid"/>
          </a:ln>
        </p:spPr>
      </p:sp>
      <p:sp>
        <p:nvSpPr>
          <p:cNvPr id="17" name="Text 15"/>
          <p:cNvSpPr/>
          <p:nvPr/>
        </p:nvSpPr>
        <p:spPr>
          <a:xfrm>
            <a:off x="2163928" y="5440680"/>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18" name="Text 16"/>
          <p:cNvSpPr/>
          <p:nvPr/>
        </p:nvSpPr>
        <p:spPr>
          <a:xfrm>
            <a:off x="2895448" y="5385816"/>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Common Experience</a:t>
            </a:r>
            <a:endParaRPr lang="en-US" sz="1700" dirty="0"/>
          </a:p>
        </p:txBody>
      </p:sp>
      <p:sp>
        <p:nvSpPr>
          <p:cNvPr id="19" name="Text 17"/>
          <p:cNvSpPr/>
          <p:nvPr/>
        </p:nvSpPr>
        <p:spPr>
          <a:xfrm>
            <a:off x="2895448" y="5742432"/>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Product domains   ·   Dashboards   ·   Workflows   ·   Disclosures   ·   Client self-serve</a:t>
            </a:r>
            <a:endParaRPr lang="en-US" sz="12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convergence math: 1 + 1 + 1 = 10</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Not 1+1=3. On one platform, three converged domains multiply, unlocking value none can deliver alone.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36896"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98230216442e+21" dist="660767388140000000000" dir="6.9984e+25">
              <a:srgbClr val="0A1F12">
                <a:alpha val="1.2e+24"/>
              </a:srgbClr>
            </a:outerShdw>
          </a:effectLst>
        </p:spPr>
      </p:sp>
      <p:sp>
        <p:nvSpPr>
          <p:cNvPr id="10" name="Shape 8"/>
          <p:cNvSpPr/>
          <p:nvPr/>
        </p:nvSpPr>
        <p:spPr>
          <a:xfrm>
            <a:off x="621792" y="2084832"/>
            <a:ext cx="5336896" cy="73152"/>
          </a:xfrm>
          <a:prstGeom prst="rect">
            <a:avLst/>
          </a:prstGeom>
          <a:solidFill>
            <a:srgbClr val="3DCD58"/>
          </a:solidFill>
          <a:ln w="12700">
            <a:solidFill>
              <a:srgbClr val="3DCD58"/>
            </a:solidFill>
            <a:prstDash val="solid"/>
          </a:ln>
        </p:spPr>
      </p:sp>
      <p:sp>
        <p:nvSpPr>
          <p:cNvPr id="11" name="Text 9"/>
          <p:cNvSpPr/>
          <p:nvPr/>
        </p:nvSpPr>
        <p:spPr>
          <a:xfrm>
            <a:off x="822960" y="2286000"/>
            <a:ext cx="4971136"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THE THREE DOMAINS</a:t>
            </a:r>
            <a:endParaRPr lang="en-US" sz="900" dirty="0"/>
          </a:p>
        </p:txBody>
      </p:sp>
      <p:sp>
        <p:nvSpPr>
          <p:cNvPr id="12" name="Text 10"/>
          <p:cNvSpPr/>
          <p:nvPr/>
        </p:nvSpPr>
        <p:spPr>
          <a:xfrm>
            <a:off x="822960" y="2569464"/>
            <a:ext cx="4971136"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Sustainability + Energy &amp; Supply + Efficiency</a:t>
            </a:r>
            <a:endParaRPr lang="en-US" sz="1400" dirty="0"/>
          </a:p>
        </p:txBody>
      </p:sp>
      <p:sp>
        <p:nvSpPr>
          <p:cNvPr id="13" name="Text 11"/>
          <p:cNvSpPr/>
          <p:nvPr/>
        </p:nvSpPr>
        <p:spPr>
          <a:xfrm>
            <a:off x="804672" y="3044952"/>
            <a:ext cx="4971136"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Each is strong alone. Together they are exponential.</a:t>
            </a:r>
            <a:endParaRPr lang="en-US" sz="1100" dirty="0"/>
          </a:p>
        </p:txBody>
      </p:sp>
      <p:sp>
        <p:nvSpPr>
          <p:cNvPr id="14" name="Text 12"/>
          <p:cNvSpPr/>
          <p:nvPr/>
        </p:nvSpPr>
        <p:spPr>
          <a:xfrm>
            <a:off x="822960" y="3776472"/>
            <a:ext cx="4971136"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Sustainability: carbon inventory, disclosure and targets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Energy and Supply: procurement, contracts and invoices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Efficiency: ECM pipeline, budgets and verified savings</a:t>
            </a:r>
            <a:endParaRPr lang="en-US" sz="1100" dirty="0"/>
          </a:p>
        </p:txBody>
      </p:sp>
      <p:sp>
        <p:nvSpPr>
          <p:cNvPr id="15" name="Shape 13"/>
          <p:cNvSpPr/>
          <p:nvPr/>
        </p:nvSpPr>
        <p:spPr>
          <a:xfrm>
            <a:off x="6233008" y="2084832"/>
            <a:ext cx="5336896"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5175237488134e+25" dist="8.391745829378e+24" dir="4.19904e+30">
              <a:srgbClr val="0A1F12">
                <a:alpha val="1.2e+29"/>
              </a:srgbClr>
            </a:outerShdw>
          </a:effectLst>
        </p:spPr>
      </p:sp>
      <p:sp>
        <p:nvSpPr>
          <p:cNvPr id="16" name="Shape 14"/>
          <p:cNvSpPr/>
          <p:nvPr/>
        </p:nvSpPr>
        <p:spPr>
          <a:xfrm>
            <a:off x="6233008" y="2084832"/>
            <a:ext cx="5336896" cy="73152"/>
          </a:xfrm>
          <a:prstGeom prst="rect">
            <a:avLst/>
          </a:prstGeom>
          <a:solidFill>
            <a:srgbClr val="007A27"/>
          </a:solidFill>
          <a:ln w="12700">
            <a:solidFill>
              <a:srgbClr val="007A27"/>
            </a:solidFill>
            <a:prstDash val="solid"/>
          </a:ln>
        </p:spPr>
      </p:sp>
      <p:sp>
        <p:nvSpPr>
          <p:cNvPr id="17" name="Text 15"/>
          <p:cNvSpPr/>
          <p:nvPr/>
        </p:nvSpPr>
        <p:spPr>
          <a:xfrm>
            <a:off x="6434176" y="2286000"/>
            <a:ext cx="4971136"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WHAT ONLY CONVERGENCE UNLOCKS</a:t>
            </a:r>
            <a:endParaRPr lang="en-US" sz="900" dirty="0"/>
          </a:p>
        </p:txBody>
      </p:sp>
      <p:sp>
        <p:nvSpPr>
          <p:cNvPr id="18" name="Text 16"/>
          <p:cNvSpPr/>
          <p:nvPr/>
        </p:nvSpPr>
        <p:spPr>
          <a:xfrm>
            <a:off x="6434176" y="2569464"/>
            <a:ext cx="4971136"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Exponential value</a:t>
            </a:r>
            <a:endParaRPr lang="en-US" sz="1600" dirty="0"/>
          </a:p>
        </p:txBody>
      </p:sp>
      <p:sp>
        <p:nvSpPr>
          <p:cNvPr id="19" name="Text 17"/>
          <p:cNvSpPr/>
          <p:nvPr/>
        </p:nvSpPr>
        <p:spPr>
          <a:xfrm>
            <a:off x="6415888" y="3044952"/>
            <a:ext cx="4971136"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Combinations no standalone product can deliver.</a:t>
            </a:r>
            <a:endParaRPr lang="en-US" sz="1100" dirty="0"/>
          </a:p>
        </p:txBody>
      </p:sp>
      <p:sp>
        <p:nvSpPr>
          <p:cNvPr id="20" name="Text 18"/>
          <p:cNvSpPr/>
          <p:nvPr/>
        </p:nvSpPr>
        <p:spPr>
          <a:xfrm>
            <a:off x="6434176" y="3776472"/>
            <a:ext cx="4971136"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Sustainability + Energy &amp; Supply: disclosures wired to live invoices and contracts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Energy &amp; Supply + Efficiency: budgets that already reflect every ECM in the pipeline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Efficiency + Sustainability: closed loop M&amp;V from carbon goal to verified savings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 three + AI agents: decision ready answers across the whole estate, in minutes</a:t>
            </a:r>
            <a:endParaRPr lang="en-US" sz="1100" dirty="0"/>
          </a:p>
        </p:txBody>
      </p:sp>
      <p:sp>
        <p:nvSpPr>
          <p:cNvPr id="21" name="Shape 19"/>
          <p:cNvSpPr/>
          <p:nvPr/>
        </p:nvSpPr>
        <p:spPr>
          <a:xfrm>
            <a:off x="621792" y="6437376"/>
            <a:ext cx="10948111" cy="0"/>
          </a:xfrm>
          <a:prstGeom prst="line">
            <a:avLst/>
          </a:prstGeom>
          <a:noFill/>
          <a:ln w="9525">
            <a:solidFill>
              <a:srgbClr val="E2E6E2"/>
            </a:solidFill>
            <a:prstDash val="solid"/>
          </a:ln>
        </p:spPr>
      </p:sp>
      <p:sp>
        <p:nvSpPr>
          <p:cNvPr id="22" name="Text 2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3" name="Text 2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2</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02</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market and the competition</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Who we are up against, where we win, and how we make RA+ easier to buy.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71119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38201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COMPETITIVE LANDSCAPE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platform. $1B+ of venture backed rivals.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They each raised hundreds of millions for single point tools. We unify carbon, energy and efficiency, at Schneider scale.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 y="2084832"/>
          <a:ext cx="10948111" cy="914400"/>
        </p:xfrm>
        <a:graphic>
          <a:graphicData uri="http://schemas.openxmlformats.org/drawingml/2006/table">
            <a:tbl>
              <a:tblPr/>
              <a:tblGrid>
                <a:gridCol w="1005840"/>
                <a:gridCol w="4971136"/>
                <a:gridCol w="4971136"/>
              </a:tblGrid>
              <a:tr h="51206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TOTAL FUNDING RAISED</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Arcadia</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~$566M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arcadia.com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osapiens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~$247M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osapiens.com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Watershed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~$185M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watershed.com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Deepki</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~$177M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deepki.com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EnergyCAP</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Undisclosed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energycap.com, one PE round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Top rivals combined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~$1.2B+ raised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Our advantage: one platform, one data spine, at Schneider scale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bl>
          </a:graphicData>
        </a:graphic>
      </p:graphicFrame>
      <p:sp>
        <p:nvSpPr>
          <p:cNvPr id="10" name="Shape 7"/>
          <p:cNvSpPr/>
          <p:nvPr/>
        </p:nvSpPr>
        <p:spPr>
          <a:xfrm>
            <a:off x="621792" y="6437376"/>
            <a:ext cx="10948111" cy="0"/>
          </a:xfrm>
          <a:prstGeom prst="line">
            <a:avLst/>
          </a:prstGeom>
          <a:noFill/>
          <a:ln w="9525">
            <a:solidFill>
              <a:srgbClr val="E2E6E2"/>
            </a:solidFill>
            <a:prstDash val="solid"/>
          </a:ln>
        </p:spPr>
      </p:sp>
      <p:sp>
        <p:nvSpPr>
          <p:cNvPr id="11" name="Text 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12" name="Text 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Text 2"/>
          <p:cNvSpPr/>
          <p:nvPr/>
        </p:nvSpPr>
        <p:spPr>
          <a:xfrm>
            <a:off x="621792" y="320040"/>
            <a:ext cx="7132320" cy="228600"/>
          </a:xfrm>
          <a:prstGeom prst="rect">
            <a:avLst/>
          </a:prstGeom>
          <a:noFill/>
          <a:ln/>
        </p:spPr>
        <p:txBody>
          <a:bodyPr wrap="square" lIns="0" tIns="0" rIns="0" bIns="0" rtlCol="0" anchor="ctr"/>
          <a:lstStyle/>
          <a:p>
            <a:pPr indent="0" marL="0">
              <a:buNone/>
            </a:pPr>
            <a:r>
              <a:rPr lang="en-US" sz="900" b="1" spc="150" kern="0" dirty="0">
                <a:solidFill>
                  <a:srgbClr val="007A27"/>
                </a:solidFill>
                <a:latin typeface="Calibri" pitchFamily="34" charset="0"/>
                <a:ea typeface="Calibri" pitchFamily="34" charset="-122"/>
                <a:cs typeface="Calibri" pitchFamily="34" charset="-120"/>
              </a:rPr>
              <a:t>COMPETITIVE POSITION | SEPTEMBER 2026</a:t>
            </a:r>
            <a:endParaRPr lang="en-US" sz="900" dirty="0"/>
          </a:p>
        </p:txBody>
      </p:sp>
      <p:sp>
        <p:nvSpPr>
          <p:cNvPr id="5" name="Text 3"/>
          <p:cNvSpPr/>
          <p:nvPr/>
        </p:nvSpPr>
        <p:spPr>
          <a:xfrm>
            <a:off x="621792" y="676656"/>
            <a:ext cx="10948111" cy="658368"/>
          </a:xfrm>
          <a:prstGeom prst="rect">
            <a:avLst/>
          </a:prstGeom>
          <a:noFill/>
          <a:ln/>
        </p:spPr>
        <p:txBody>
          <a:bodyPr wrap="square" lIns="0" tIns="0" rIns="0" bIns="0" rtlCol="0" anchor="ctr">
            <a:normAutofit/>
          </a:bodyPr>
          <a:lstStyle/>
          <a:p>
            <a:pPr indent="0" marL="0">
              <a:buNone/>
            </a:pPr>
            <a:r>
              <a:rPr lang="en-US" sz="2700" b="1" dirty="0">
                <a:solidFill>
                  <a:srgbClr val="1E2420"/>
                </a:solidFill>
                <a:latin typeface="Calibri" pitchFamily="34" charset="0"/>
                <a:ea typeface="Calibri" pitchFamily="34" charset="-122"/>
                <a:cs typeface="Calibri" pitchFamily="34" charset="-120"/>
              </a:rPr>
              <a:t>RA+ competes on breadth and convergence, not a point solution feature race</a:t>
            </a:r>
            <a:endParaRPr lang="en-US" sz="2700" dirty="0"/>
          </a:p>
        </p:txBody>
      </p:sp>
      <p:sp>
        <p:nvSpPr>
          <p:cNvPr id="6" name="Text 4"/>
          <p:cNvSpPr/>
          <p:nvPr/>
        </p:nvSpPr>
        <p:spPr>
          <a:xfrm>
            <a:off x="621792" y="1353312"/>
            <a:ext cx="10948111" cy="457200"/>
          </a:xfrm>
          <a:prstGeom prst="rect">
            <a:avLst/>
          </a:prstGeom>
          <a:noFill/>
          <a:ln/>
        </p:spPr>
        <p:txBody>
          <a:bodyPr wrap="square" lIns="0" tIns="0" rIns="0" bIns="0" rtlCol="0" anchor="ctr">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Public pricing is not disclosed across the peer set. The decision therefore turns on scope, AI embedded in workflows, and the cost of integrating multiple platforms.</a:t>
            </a:r>
            <a:endParaRPr lang="en-US" sz="1100" dirty="0"/>
          </a:p>
        </p:txBody>
      </p:sp>
      <p:sp>
        <p:nvSpPr>
          <p:cNvPr id="7" name="Shape 5"/>
          <p:cNvSpPr/>
          <p:nvPr/>
        </p:nvSpPr>
        <p:spPr>
          <a:xfrm>
            <a:off x="621792" y="1965960"/>
            <a:ext cx="1051560" cy="393192"/>
          </a:xfrm>
          <a:prstGeom prst="rect">
            <a:avLst/>
          </a:prstGeom>
          <a:solidFill>
            <a:srgbClr val="005730"/>
          </a:solidFill>
          <a:ln w="5715">
            <a:solidFill>
              <a:srgbClr val="397257"/>
            </a:solidFill>
            <a:prstDash val="solid"/>
          </a:ln>
        </p:spPr>
      </p:sp>
      <p:sp>
        <p:nvSpPr>
          <p:cNvPr id="8" name="Text 6"/>
          <p:cNvSpPr/>
          <p:nvPr/>
        </p:nvSpPr>
        <p:spPr>
          <a:xfrm>
            <a:off x="713232" y="1965960"/>
            <a:ext cx="86868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PLATFORM</a:t>
            </a:r>
            <a:endParaRPr lang="en-US" sz="760" dirty="0"/>
          </a:p>
        </p:txBody>
      </p:sp>
      <p:sp>
        <p:nvSpPr>
          <p:cNvPr id="9" name="Shape 7"/>
          <p:cNvSpPr/>
          <p:nvPr/>
        </p:nvSpPr>
        <p:spPr>
          <a:xfrm>
            <a:off x="1673352" y="1965960"/>
            <a:ext cx="1417320" cy="393192"/>
          </a:xfrm>
          <a:prstGeom prst="rect">
            <a:avLst/>
          </a:prstGeom>
          <a:solidFill>
            <a:srgbClr val="005730"/>
          </a:solidFill>
          <a:ln w="5715">
            <a:solidFill>
              <a:srgbClr val="397257"/>
            </a:solidFill>
            <a:prstDash val="solid"/>
          </a:ln>
        </p:spPr>
      </p:sp>
      <p:sp>
        <p:nvSpPr>
          <p:cNvPr id="10" name="Text 8"/>
          <p:cNvSpPr/>
          <p:nvPr/>
        </p:nvSpPr>
        <p:spPr>
          <a:xfrm>
            <a:off x="1764792" y="1965960"/>
            <a:ext cx="123444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PRICE</a:t>
            </a:r>
            <a:endParaRPr lang="en-US" sz="760" dirty="0"/>
          </a:p>
        </p:txBody>
      </p:sp>
      <p:sp>
        <p:nvSpPr>
          <p:cNvPr id="11" name="Shape 9"/>
          <p:cNvSpPr/>
          <p:nvPr/>
        </p:nvSpPr>
        <p:spPr>
          <a:xfrm>
            <a:off x="3090672" y="1965960"/>
            <a:ext cx="3749040" cy="393192"/>
          </a:xfrm>
          <a:prstGeom prst="rect">
            <a:avLst/>
          </a:prstGeom>
          <a:solidFill>
            <a:srgbClr val="005730"/>
          </a:solidFill>
          <a:ln w="5715">
            <a:solidFill>
              <a:srgbClr val="397257"/>
            </a:solidFill>
            <a:prstDash val="solid"/>
          </a:ln>
        </p:spPr>
      </p:sp>
      <p:sp>
        <p:nvSpPr>
          <p:cNvPr id="12" name="Text 10"/>
          <p:cNvSpPr/>
          <p:nvPr/>
        </p:nvSpPr>
        <p:spPr>
          <a:xfrm>
            <a:off x="3182112" y="1965960"/>
            <a:ext cx="356616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SUSTAINABILITY SCOPE</a:t>
            </a:r>
            <a:endParaRPr lang="en-US" sz="760" dirty="0"/>
          </a:p>
        </p:txBody>
      </p:sp>
      <p:sp>
        <p:nvSpPr>
          <p:cNvPr id="13" name="Shape 11"/>
          <p:cNvSpPr/>
          <p:nvPr/>
        </p:nvSpPr>
        <p:spPr>
          <a:xfrm>
            <a:off x="6839712" y="1965960"/>
            <a:ext cx="1325880" cy="393192"/>
          </a:xfrm>
          <a:prstGeom prst="rect">
            <a:avLst/>
          </a:prstGeom>
          <a:solidFill>
            <a:srgbClr val="005730"/>
          </a:solidFill>
          <a:ln w="5715">
            <a:solidFill>
              <a:srgbClr val="397257"/>
            </a:solidFill>
            <a:prstDash val="solid"/>
          </a:ln>
        </p:spPr>
      </p:sp>
      <p:sp>
        <p:nvSpPr>
          <p:cNvPr id="14" name="Text 12"/>
          <p:cNvSpPr/>
          <p:nvPr/>
        </p:nvSpPr>
        <p:spPr>
          <a:xfrm>
            <a:off x="6931152" y="1965960"/>
            <a:ext cx="114300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AI MATURITY</a:t>
            </a:r>
            <a:endParaRPr lang="en-US" sz="760" dirty="0"/>
          </a:p>
        </p:txBody>
      </p:sp>
      <p:sp>
        <p:nvSpPr>
          <p:cNvPr id="15" name="Shape 13"/>
          <p:cNvSpPr/>
          <p:nvPr/>
        </p:nvSpPr>
        <p:spPr>
          <a:xfrm>
            <a:off x="8165592" y="1965960"/>
            <a:ext cx="3657600" cy="393192"/>
          </a:xfrm>
          <a:prstGeom prst="rect">
            <a:avLst/>
          </a:prstGeom>
          <a:solidFill>
            <a:srgbClr val="005730"/>
          </a:solidFill>
          <a:ln w="5715">
            <a:solidFill>
              <a:srgbClr val="397257"/>
            </a:solidFill>
            <a:prstDash val="solid"/>
          </a:ln>
        </p:spPr>
      </p:sp>
      <p:sp>
        <p:nvSpPr>
          <p:cNvPr id="16" name="Text 14"/>
          <p:cNvSpPr/>
          <p:nvPr/>
        </p:nvSpPr>
        <p:spPr>
          <a:xfrm>
            <a:off x="8257032" y="1965960"/>
            <a:ext cx="347472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STRATEGIC POSITION</a:t>
            </a:r>
            <a:endParaRPr lang="en-US" sz="760" dirty="0"/>
          </a:p>
        </p:txBody>
      </p:sp>
      <p:sp>
        <p:nvSpPr>
          <p:cNvPr id="17" name="Shape 15"/>
          <p:cNvSpPr/>
          <p:nvPr/>
        </p:nvSpPr>
        <p:spPr>
          <a:xfrm>
            <a:off x="621792" y="2359152"/>
            <a:ext cx="1051560" cy="566928"/>
          </a:xfrm>
          <a:prstGeom prst="rect">
            <a:avLst/>
          </a:prstGeom>
          <a:solidFill>
            <a:srgbClr val="EAF8ED"/>
          </a:solidFill>
          <a:ln w="5715">
            <a:solidFill>
              <a:srgbClr val="E2E6E2"/>
            </a:solidFill>
            <a:prstDash val="solid"/>
          </a:ln>
        </p:spPr>
      </p:sp>
      <p:sp>
        <p:nvSpPr>
          <p:cNvPr id="18" name="Text 16"/>
          <p:cNvSpPr/>
          <p:nvPr/>
        </p:nvSpPr>
        <p:spPr>
          <a:xfrm>
            <a:off x="713232" y="2432304"/>
            <a:ext cx="868680" cy="420624"/>
          </a:xfrm>
          <a:prstGeom prst="rect">
            <a:avLst/>
          </a:prstGeom>
          <a:noFill/>
          <a:ln/>
        </p:spPr>
        <p:txBody>
          <a:bodyPr wrap="square" lIns="0" tIns="0" rIns="0" bIns="0" rtlCol="0" anchor="ctr">
            <a:normAutofit/>
          </a:bodyPr>
          <a:lstStyle/>
          <a:p>
            <a:pPr indent="0" marL="0">
              <a:buNone/>
            </a:pPr>
            <a:r>
              <a:rPr lang="en-US" sz="920" b="1" dirty="0">
                <a:solidFill>
                  <a:srgbClr val="007A27"/>
                </a:solidFill>
                <a:latin typeface="Calibri" pitchFamily="34" charset="0"/>
                <a:ea typeface="Calibri" pitchFamily="34" charset="-122"/>
                <a:cs typeface="Calibri" pitchFamily="34" charset="-120"/>
              </a:rPr>
              <a:t>RA+</a:t>
            </a:r>
            <a:endParaRPr lang="en-US" sz="920" dirty="0"/>
          </a:p>
        </p:txBody>
      </p:sp>
      <p:sp>
        <p:nvSpPr>
          <p:cNvPr id="19" name="Shape 17"/>
          <p:cNvSpPr/>
          <p:nvPr/>
        </p:nvSpPr>
        <p:spPr>
          <a:xfrm>
            <a:off x="1673352" y="2359152"/>
            <a:ext cx="1417320" cy="566928"/>
          </a:xfrm>
          <a:prstGeom prst="rect">
            <a:avLst/>
          </a:prstGeom>
          <a:solidFill>
            <a:srgbClr val="EAF8ED"/>
          </a:solidFill>
          <a:ln w="5715">
            <a:solidFill>
              <a:srgbClr val="E2E6E2"/>
            </a:solidFill>
            <a:prstDash val="solid"/>
          </a:ln>
        </p:spPr>
      </p:sp>
      <p:sp>
        <p:nvSpPr>
          <p:cNvPr id="20" name="Text 18"/>
          <p:cNvSpPr/>
          <p:nvPr/>
        </p:nvSpPr>
        <p:spPr>
          <a:xfrm>
            <a:off x="1764792" y="2432304"/>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Enterprise quote</a:t>
            </a:r>
            <a:endParaRPr lang="en-US" sz="810" dirty="0"/>
          </a:p>
        </p:txBody>
      </p:sp>
      <p:sp>
        <p:nvSpPr>
          <p:cNvPr id="21" name="Shape 19"/>
          <p:cNvSpPr/>
          <p:nvPr/>
        </p:nvSpPr>
        <p:spPr>
          <a:xfrm>
            <a:off x="3090672" y="2359152"/>
            <a:ext cx="3749040" cy="566928"/>
          </a:xfrm>
          <a:prstGeom prst="rect">
            <a:avLst/>
          </a:prstGeom>
          <a:solidFill>
            <a:srgbClr val="EAF8ED"/>
          </a:solidFill>
          <a:ln w="5715">
            <a:solidFill>
              <a:srgbClr val="E2E6E2"/>
            </a:solidFill>
            <a:prstDash val="solid"/>
          </a:ln>
        </p:spPr>
      </p:sp>
      <p:sp>
        <p:nvSpPr>
          <p:cNvPr id="22" name="Text 20"/>
          <p:cNvSpPr/>
          <p:nvPr/>
        </p:nvSpPr>
        <p:spPr>
          <a:xfrm>
            <a:off x="3182112" y="2432304"/>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Broadest: carbon, supply chain, reporting, climate risk, energy and efficiency</a:t>
            </a:r>
            <a:endParaRPr lang="en-US" sz="810" dirty="0"/>
          </a:p>
        </p:txBody>
      </p:sp>
      <p:sp>
        <p:nvSpPr>
          <p:cNvPr id="23" name="Shape 21"/>
          <p:cNvSpPr/>
          <p:nvPr/>
        </p:nvSpPr>
        <p:spPr>
          <a:xfrm>
            <a:off x="6839712" y="2359152"/>
            <a:ext cx="1325880" cy="566928"/>
          </a:xfrm>
          <a:prstGeom prst="rect">
            <a:avLst/>
          </a:prstGeom>
          <a:solidFill>
            <a:srgbClr val="EAF8ED"/>
          </a:solidFill>
          <a:ln w="5715">
            <a:solidFill>
              <a:srgbClr val="E2E6E2"/>
            </a:solidFill>
            <a:prstDash val="solid"/>
          </a:ln>
        </p:spPr>
      </p:sp>
      <p:sp>
        <p:nvSpPr>
          <p:cNvPr id="24" name="Shape 22"/>
          <p:cNvSpPr/>
          <p:nvPr/>
        </p:nvSpPr>
        <p:spPr>
          <a:xfrm>
            <a:off x="6949440" y="2523744"/>
            <a:ext cx="1106424" cy="246888"/>
          </a:xfrm>
          <a:prstGeom prst="roundRect">
            <a:avLst>
              <a:gd name="adj" fmla="val 44444"/>
            </a:avLst>
          </a:prstGeom>
          <a:solidFill>
            <a:srgbClr val="EAF8ED"/>
          </a:solidFill>
          <a:ln w="6350">
            <a:solidFill>
              <a:srgbClr val="3DCD58">
                <a:alpha val="45000"/>
              </a:srgbClr>
            </a:solidFill>
            <a:prstDash val="solid"/>
          </a:ln>
        </p:spPr>
      </p:sp>
      <p:sp>
        <p:nvSpPr>
          <p:cNvPr id="25" name="Text 23"/>
          <p:cNvSpPr/>
          <p:nvPr/>
        </p:nvSpPr>
        <p:spPr>
          <a:xfrm>
            <a:off x="6949440" y="2523744"/>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Embedded, scaling</a:t>
            </a:r>
            <a:endParaRPr lang="en-US" sz="770" dirty="0"/>
          </a:p>
        </p:txBody>
      </p:sp>
      <p:sp>
        <p:nvSpPr>
          <p:cNvPr id="26" name="Shape 24"/>
          <p:cNvSpPr/>
          <p:nvPr/>
        </p:nvSpPr>
        <p:spPr>
          <a:xfrm>
            <a:off x="8165592" y="2359152"/>
            <a:ext cx="3657600" cy="566928"/>
          </a:xfrm>
          <a:prstGeom prst="rect">
            <a:avLst/>
          </a:prstGeom>
          <a:solidFill>
            <a:srgbClr val="EAF8ED"/>
          </a:solidFill>
          <a:ln w="5715">
            <a:solidFill>
              <a:srgbClr val="E2E6E2"/>
            </a:solidFill>
            <a:prstDash val="solid"/>
          </a:ln>
        </p:spPr>
      </p:sp>
      <p:sp>
        <p:nvSpPr>
          <p:cNvPr id="27" name="Text 25"/>
          <p:cNvSpPr/>
          <p:nvPr/>
        </p:nvSpPr>
        <p:spPr>
          <a:xfrm>
            <a:off x="8257032" y="2432304"/>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One data spine plus advisory depth</a:t>
            </a:r>
            <a:endParaRPr lang="en-US" sz="810" dirty="0"/>
          </a:p>
        </p:txBody>
      </p:sp>
      <p:sp>
        <p:nvSpPr>
          <p:cNvPr id="28" name="Shape 26"/>
          <p:cNvSpPr/>
          <p:nvPr/>
        </p:nvSpPr>
        <p:spPr>
          <a:xfrm>
            <a:off x="621792" y="2926080"/>
            <a:ext cx="1051560" cy="566928"/>
          </a:xfrm>
          <a:prstGeom prst="rect">
            <a:avLst/>
          </a:prstGeom>
          <a:solidFill>
            <a:srgbClr val="F1F3F2"/>
          </a:solidFill>
          <a:ln w="5715">
            <a:solidFill>
              <a:srgbClr val="E2E6E2"/>
            </a:solidFill>
            <a:prstDash val="solid"/>
          </a:ln>
        </p:spPr>
      </p:sp>
      <p:sp>
        <p:nvSpPr>
          <p:cNvPr id="29" name="Text 27"/>
          <p:cNvSpPr/>
          <p:nvPr/>
        </p:nvSpPr>
        <p:spPr>
          <a:xfrm>
            <a:off x="713232" y="2999232"/>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Watershed</a:t>
            </a:r>
            <a:endParaRPr lang="en-US" sz="920" dirty="0"/>
          </a:p>
        </p:txBody>
      </p:sp>
      <p:sp>
        <p:nvSpPr>
          <p:cNvPr id="30" name="Shape 28"/>
          <p:cNvSpPr/>
          <p:nvPr/>
        </p:nvSpPr>
        <p:spPr>
          <a:xfrm>
            <a:off x="1673352" y="2926080"/>
            <a:ext cx="1417320" cy="566928"/>
          </a:xfrm>
          <a:prstGeom prst="rect">
            <a:avLst/>
          </a:prstGeom>
          <a:solidFill>
            <a:srgbClr val="F1F3F2"/>
          </a:solidFill>
          <a:ln w="5715">
            <a:solidFill>
              <a:srgbClr val="E2E6E2"/>
            </a:solidFill>
            <a:prstDash val="solid"/>
          </a:ln>
        </p:spPr>
      </p:sp>
      <p:sp>
        <p:nvSpPr>
          <p:cNvPr id="31" name="Text 29"/>
          <p:cNvSpPr/>
          <p:nvPr/>
        </p:nvSpPr>
        <p:spPr>
          <a:xfrm>
            <a:off x="1764792" y="2999232"/>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Not publicly disclosed</a:t>
            </a:r>
            <a:endParaRPr lang="en-US" sz="810" dirty="0"/>
          </a:p>
        </p:txBody>
      </p:sp>
      <p:sp>
        <p:nvSpPr>
          <p:cNvPr id="32" name="Shape 30"/>
          <p:cNvSpPr/>
          <p:nvPr/>
        </p:nvSpPr>
        <p:spPr>
          <a:xfrm>
            <a:off x="3090672" y="2926080"/>
            <a:ext cx="3749040" cy="566928"/>
          </a:xfrm>
          <a:prstGeom prst="rect">
            <a:avLst/>
          </a:prstGeom>
          <a:solidFill>
            <a:srgbClr val="F1F3F2"/>
          </a:solidFill>
          <a:ln w="5715">
            <a:solidFill>
              <a:srgbClr val="E2E6E2"/>
            </a:solidFill>
            <a:prstDash val="solid"/>
          </a:ln>
        </p:spPr>
      </p:sp>
      <p:sp>
        <p:nvSpPr>
          <p:cNvPr id="33" name="Text 31"/>
          <p:cNvSpPr/>
          <p:nvPr/>
        </p:nvSpPr>
        <p:spPr>
          <a:xfrm>
            <a:off x="3182112" y="2999232"/>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 sustainability: carbon, disclosure, decarbonization and supply chain</a:t>
            </a:r>
            <a:endParaRPr lang="en-US" sz="810" dirty="0"/>
          </a:p>
        </p:txBody>
      </p:sp>
      <p:sp>
        <p:nvSpPr>
          <p:cNvPr id="34" name="Shape 32"/>
          <p:cNvSpPr/>
          <p:nvPr/>
        </p:nvSpPr>
        <p:spPr>
          <a:xfrm>
            <a:off x="6839712" y="2926080"/>
            <a:ext cx="1325880" cy="566928"/>
          </a:xfrm>
          <a:prstGeom prst="rect">
            <a:avLst/>
          </a:prstGeom>
          <a:solidFill>
            <a:srgbClr val="F1F3F2"/>
          </a:solidFill>
          <a:ln w="5715">
            <a:solidFill>
              <a:srgbClr val="E2E6E2"/>
            </a:solidFill>
            <a:prstDash val="solid"/>
          </a:ln>
        </p:spPr>
      </p:sp>
      <p:sp>
        <p:nvSpPr>
          <p:cNvPr id="35" name="Shape 33"/>
          <p:cNvSpPr/>
          <p:nvPr/>
        </p:nvSpPr>
        <p:spPr>
          <a:xfrm>
            <a:off x="6949440" y="3090672"/>
            <a:ext cx="1106424" cy="246888"/>
          </a:xfrm>
          <a:prstGeom prst="roundRect">
            <a:avLst>
              <a:gd name="adj" fmla="val 44444"/>
            </a:avLst>
          </a:prstGeom>
          <a:solidFill>
            <a:srgbClr val="FFF4E3"/>
          </a:solidFill>
          <a:ln w="6350">
            <a:solidFill>
              <a:srgbClr val="FFB04C">
                <a:alpha val="45000"/>
              </a:srgbClr>
            </a:solidFill>
            <a:prstDash val="solid"/>
          </a:ln>
        </p:spPr>
      </p:sp>
      <p:sp>
        <p:nvSpPr>
          <p:cNvPr id="36" name="Text 34"/>
          <p:cNvSpPr/>
          <p:nvPr/>
        </p:nvSpPr>
        <p:spPr>
          <a:xfrm>
            <a:off x="6949440" y="3090672"/>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A65B00"/>
                </a:solidFill>
                <a:latin typeface="Calibri" pitchFamily="34" charset="0"/>
                <a:ea typeface="Calibri" pitchFamily="34" charset="-122"/>
                <a:cs typeface="Calibri" pitchFamily="34" charset="-120"/>
              </a:rPr>
              <a:t>Advanced</a:t>
            </a:r>
            <a:endParaRPr lang="en-US" sz="770" dirty="0"/>
          </a:p>
        </p:txBody>
      </p:sp>
      <p:sp>
        <p:nvSpPr>
          <p:cNvPr id="37" name="Shape 35"/>
          <p:cNvSpPr/>
          <p:nvPr/>
        </p:nvSpPr>
        <p:spPr>
          <a:xfrm>
            <a:off x="8165592" y="2926080"/>
            <a:ext cx="3657600" cy="566928"/>
          </a:xfrm>
          <a:prstGeom prst="rect">
            <a:avLst/>
          </a:prstGeom>
          <a:solidFill>
            <a:srgbClr val="F1F3F2"/>
          </a:solidFill>
          <a:ln w="5715">
            <a:solidFill>
              <a:srgbClr val="E2E6E2"/>
            </a:solidFill>
            <a:prstDash val="solid"/>
          </a:ln>
        </p:spPr>
      </p:sp>
      <p:sp>
        <p:nvSpPr>
          <p:cNvPr id="38" name="Text 36"/>
          <p:cNvSpPr/>
          <p:nvPr/>
        </p:nvSpPr>
        <p:spPr>
          <a:xfrm>
            <a:off x="8257032" y="2999232"/>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Strongest AI-native sustainability challenger</a:t>
            </a:r>
            <a:endParaRPr lang="en-US" sz="810" dirty="0"/>
          </a:p>
        </p:txBody>
      </p:sp>
      <p:sp>
        <p:nvSpPr>
          <p:cNvPr id="39" name="Shape 37"/>
          <p:cNvSpPr/>
          <p:nvPr/>
        </p:nvSpPr>
        <p:spPr>
          <a:xfrm>
            <a:off x="621792" y="3493008"/>
            <a:ext cx="1051560" cy="566928"/>
          </a:xfrm>
          <a:prstGeom prst="rect">
            <a:avLst/>
          </a:prstGeom>
          <a:solidFill>
            <a:srgbClr val="FFFFFF"/>
          </a:solidFill>
          <a:ln w="5715">
            <a:solidFill>
              <a:srgbClr val="E2E6E2"/>
            </a:solidFill>
            <a:prstDash val="solid"/>
          </a:ln>
        </p:spPr>
      </p:sp>
      <p:sp>
        <p:nvSpPr>
          <p:cNvPr id="40" name="Text 38"/>
          <p:cNvSpPr/>
          <p:nvPr/>
        </p:nvSpPr>
        <p:spPr>
          <a:xfrm>
            <a:off x="713232" y="3566160"/>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osapiens</a:t>
            </a:r>
            <a:endParaRPr lang="en-US" sz="920" dirty="0"/>
          </a:p>
        </p:txBody>
      </p:sp>
      <p:sp>
        <p:nvSpPr>
          <p:cNvPr id="41" name="Shape 39"/>
          <p:cNvSpPr/>
          <p:nvPr/>
        </p:nvSpPr>
        <p:spPr>
          <a:xfrm>
            <a:off x="1673352" y="3493008"/>
            <a:ext cx="1417320" cy="566928"/>
          </a:xfrm>
          <a:prstGeom prst="rect">
            <a:avLst/>
          </a:prstGeom>
          <a:solidFill>
            <a:srgbClr val="FFFFFF"/>
          </a:solidFill>
          <a:ln w="5715">
            <a:solidFill>
              <a:srgbClr val="E2E6E2"/>
            </a:solidFill>
            <a:prstDash val="solid"/>
          </a:ln>
        </p:spPr>
      </p:sp>
      <p:sp>
        <p:nvSpPr>
          <p:cNvPr id="42" name="Text 40"/>
          <p:cNvSpPr/>
          <p:nvPr/>
        </p:nvSpPr>
        <p:spPr>
          <a:xfrm>
            <a:off x="1764792" y="3566160"/>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Custom quote</a:t>
            </a:r>
            <a:endParaRPr lang="en-US" sz="810" dirty="0"/>
          </a:p>
        </p:txBody>
      </p:sp>
      <p:sp>
        <p:nvSpPr>
          <p:cNvPr id="43" name="Shape 41"/>
          <p:cNvSpPr/>
          <p:nvPr/>
        </p:nvSpPr>
        <p:spPr>
          <a:xfrm>
            <a:off x="3090672" y="3493008"/>
            <a:ext cx="3749040" cy="566928"/>
          </a:xfrm>
          <a:prstGeom prst="rect">
            <a:avLst/>
          </a:prstGeom>
          <a:solidFill>
            <a:srgbClr val="FFFFFF"/>
          </a:solidFill>
          <a:ln w="5715">
            <a:solidFill>
              <a:srgbClr val="E2E6E2"/>
            </a:solidFill>
            <a:prstDash val="solid"/>
          </a:ln>
        </p:spPr>
      </p:sp>
      <p:sp>
        <p:nvSpPr>
          <p:cNvPr id="44" name="Text 42"/>
          <p:cNvSpPr/>
          <p:nvPr/>
        </p:nvSpPr>
        <p:spPr>
          <a:xfrm>
            <a:off x="3182112" y="3566160"/>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 ESG compliance with deep supplier and product regulation coverage</a:t>
            </a:r>
            <a:endParaRPr lang="en-US" sz="810" dirty="0"/>
          </a:p>
        </p:txBody>
      </p:sp>
      <p:sp>
        <p:nvSpPr>
          <p:cNvPr id="45" name="Shape 43"/>
          <p:cNvSpPr/>
          <p:nvPr/>
        </p:nvSpPr>
        <p:spPr>
          <a:xfrm>
            <a:off x="6839712" y="3493008"/>
            <a:ext cx="1325880" cy="566928"/>
          </a:xfrm>
          <a:prstGeom prst="rect">
            <a:avLst/>
          </a:prstGeom>
          <a:solidFill>
            <a:srgbClr val="FFFFFF"/>
          </a:solidFill>
          <a:ln w="5715">
            <a:solidFill>
              <a:srgbClr val="E2E6E2"/>
            </a:solidFill>
            <a:prstDash val="solid"/>
          </a:ln>
        </p:spPr>
      </p:sp>
      <p:sp>
        <p:nvSpPr>
          <p:cNvPr id="46" name="Shape 44"/>
          <p:cNvSpPr/>
          <p:nvPr/>
        </p:nvSpPr>
        <p:spPr>
          <a:xfrm>
            <a:off x="6949440" y="3657600"/>
            <a:ext cx="1106424" cy="246888"/>
          </a:xfrm>
          <a:prstGeom prst="roundRect">
            <a:avLst>
              <a:gd name="adj" fmla="val 44444"/>
            </a:avLst>
          </a:prstGeom>
          <a:solidFill>
            <a:srgbClr val="EAF8ED"/>
          </a:solidFill>
          <a:ln w="6350">
            <a:solidFill>
              <a:srgbClr val="3DCD58">
                <a:alpha val="45000"/>
              </a:srgbClr>
            </a:solidFill>
            <a:prstDash val="solid"/>
          </a:ln>
        </p:spPr>
      </p:sp>
      <p:sp>
        <p:nvSpPr>
          <p:cNvPr id="47" name="Text 45"/>
          <p:cNvSpPr/>
          <p:nvPr/>
        </p:nvSpPr>
        <p:spPr>
          <a:xfrm>
            <a:off x="6949440" y="3657600"/>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Embedded</a:t>
            </a:r>
            <a:endParaRPr lang="en-US" sz="770" dirty="0"/>
          </a:p>
        </p:txBody>
      </p:sp>
      <p:sp>
        <p:nvSpPr>
          <p:cNvPr id="48" name="Shape 46"/>
          <p:cNvSpPr/>
          <p:nvPr/>
        </p:nvSpPr>
        <p:spPr>
          <a:xfrm>
            <a:off x="8165592" y="3493008"/>
            <a:ext cx="3657600" cy="566928"/>
          </a:xfrm>
          <a:prstGeom prst="rect">
            <a:avLst/>
          </a:prstGeom>
          <a:solidFill>
            <a:srgbClr val="FFFFFF"/>
          </a:solidFill>
          <a:ln w="5715">
            <a:solidFill>
              <a:srgbClr val="E2E6E2"/>
            </a:solidFill>
            <a:prstDash val="solid"/>
          </a:ln>
        </p:spPr>
      </p:sp>
      <p:sp>
        <p:nvSpPr>
          <p:cNvPr id="49" name="Text 47"/>
          <p:cNvSpPr/>
          <p:nvPr/>
        </p:nvSpPr>
        <p:spPr>
          <a:xfrm>
            <a:off x="8257032" y="3566160"/>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EU compliance and supplier intelligence specialist</a:t>
            </a:r>
            <a:endParaRPr lang="en-US" sz="810" dirty="0"/>
          </a:p>
        </p:txBody>
      </p:sp>
      <p:sp>
        <p:nvSpPr>
          <p:cNvPr id="50" name="Shape 48"/>
          <p:cNvSpPr/>
          <p:nvPr/>
        </p:nvSpPr>
        <p:spPr>
          <a:xfrm>
            <a:off x="621792" y="4059936"/>
            <a:ext cx="1051560" cy="566928"/>
          </a:xfrm>
          <a:prstGeom prst="rect">
            <a:avLst/>
          </a:prstGeom>
          <a:solidFill>
            <a:srgbClr val="F1F3F2"/>
          </a:solidFill>
          <a:ln w="5715">
            <a:solidFill>
              <a:srgbClr val="E2E6E2"/>
            </a:solidFill>
            <a:prstDash val="solid"/>
          </a:ln>
        </p:spPr>
      </p:sp>
      <p:sp>
        <p:nvSpPr>
          <p:cNvPr id="51" name="Text 49"/>
          <p:cNvSpPr/>
          <p:nvPr/>
        </p:nvSpPr>
        <p:spPr>
          <a:xfrm>
            <a:off x="713232" y="4133088"/>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Arcadia</a:t>
            </a:r>
            <a:endParaRPr lang="en-US" sz="920" dirty="0"/>
          </a:p>
        </p:txBody>
      </p:sp>
      <p:sp>
        <p:nvSpPr>
          <p:cNvPr id="52" name="Shape 50"/>
          <p:cNvSpPr/>
          <p:nvPr/>
        </p:nvSpPr>
        <p:spPr>
          <a:xfrm>
            <a:off x="1673352" y="4059936"/>
            <a:ext cx="1417320" cy="566928"/>
          </a:xfrm>
          <a:prstGeom prst="rect">
            <a:avLst/>
          </a:prstGeom>
          <a:solidFill>
            <a:srgbClr val="F1F3F2"/>
          </a:solidFill>
          <a:ln w="5715">
            <a:solidFill>
              <a:srgbClr val="E2E6E2"/>
            </a:solidFill>
            <a:prstDash val="solid"/>
          </a:ln>
        </p:spPr>
      </p:sp>
      <p:sp>
        <p:nvSpPr>
          <p:cNvPr id="53" name="Text 51"/>
          <p:cNvSpPr/>
          <p:nvPr/>
        </p:nvSpPr>
        <p:spPr>
          <a:xfrm>
            <a:off x="1764792" y="4133088"/>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Custom quote</a:t>
            </a:r>
            <a:endParaRPr lang="en-US" sz="810" dirty="0"/>
          </a:p>
        </p:txBody>
      </p:sp>
      <p:sp>
        <p:nvSpPr>
          <p:cNvPr id="54" name="Shape 52"/>
          <p:cNvSpPr/>
          <p:nvPr/>
        </p:nvSpPr>
        <p:spPr>
          <a:xfrm>
            <a:off x="3090672" y="4059936"/>
            <a:ext cx="3749040" cy="566928"/>
          </a:xfrm>
          <a:prstGeom prst="rect">
            <a:avLst/>
          </a:prstGeom>
          <a:solidFill>
            <a:srgbClr val="F1F3F2"/>
          </a:solidFill>
          <a:ln w="5715">
            <a:solidFill>
              <a:srgbClr val="E2E6E2"/>
            </a:solidFill>
            <a:prstDash val="solid"/>
          </a:ln>
        </p:spPr>
      </p:sp>
      <p:sp>
        <p:nvSpPr>
          <p:cNvPr id="55" name="Text 53"/>
          <p:cNvSpPr/>
          <p:nvPr/>
        </p:nvSpPr>
        <p:spPr>
          <a:xfrm>
            <a:off x="3182112" y="4133088"/>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Focused: utility data, energy intelligence and Scope 1 and 2 enablement</a:t>
            </a:r>
            <a:endParaRPr lang="en-US" sz="810" dirty="0"/>
          </a:p>
        </p:txBody>
      </p:sp>
      <p:sp>
        <p:nvSpPr>
          <p:cNvPr id="56" name="Shape 54"/>
          <p:cNvSpPr/>
          <p:nvPr/>
        </p:nvSpPr>
        <p:spPr>
          <a:xfrm>
            <a:off x="6839712" y="4059936"/>
            <a:ext cx="1325880" cy="566928"/>
          </a:xfrm>
          <a:prstGeom prst="rect">
            <a:avLst/>
          </a:prstGeom>
          <a:solidFill>
            <a:srgbClr val="F1F3F2"/>
          </a:solidFill>
          <a:ln w="5715">
            <a:solidFill>
              <a:srgbClr val="E2E6E2"/>
            </a:solidFill>
            <a:prstDash val="solid"/>
          </a:ln>
        </p:spPr>
      </p:sp>
      <p:sp>
        <p:nvSpPr>
          <p:cNvPr id="57" name="Shape 55"/>
          <p:cNvSpPr/>
          <p:nvPr/>
        </p:nvSpPr>
        <p:spPr>
          <a:xfrm>
            <a:off x="6949440" y="4224528"/>
            <a:ext cx="1106424" cy="246888"/>
          </a:xfrm>
          <a:prstGeom prst="roundRect">
            <a:avLst>
              <a:gd name="adj" fmla="val 44444"/>
            </a:avLst>
          </a:prstGeom>
          <a:solidFill>
            <a:srgbClr val="EAF8ED"/>
          </a:solidFill>
          <a:ln w="6350">
            <a:solidFill>
              <a:srgbClr val="3DCD58">
                <a:alpha val="45000"/>
              </a:srgbClr>
            </a:solidFill>
            <a:prstDash val="solid"/>
          </a:ln>
        </p:spPr>
      </p:sp>
      <p:sp>
        <p:nvSpPr>
          <p:cNvPr id="58" name="Text 56"/>
          <p:cNvSpPr/>
          <p:nvPr/>
        </p:nvSpPr>
        <p:spPr>
          <a:xfrm>
            <a:off x="6949440" y="4224528"/>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Expanding</a:t>
            </a:r>
            <a:endParaRPr lang="en-US" sz="770" dirty="0"/>
          </a:p>
        </p:txBody>
      </p:sp>
      <p:sp>
        <p:nvSpPr>
          <p:cNvPr id="59" name="Shape 57"/>
          <p:cNvSpPr/>
          <p:nvPr/>
        </p:nvSpPr>
        <p:spPr>
          <a:xfrm>
            <a:off x="8165592" y="4059936"/>
            <a:ext cx="3657600" cy="566928"/>
          </a:xfrm>
          <a:prstGeom prst="rect">
            <a:avLst/>
          </a:prstGeom>
          <a:solidFill>
            <a:srgbClr val="F1F3F2"/>
          </a:solidFill>
          <a:ln w="5715">
            <a:solidFill>
              <a:srgbClr val="E2E6E2"/>
            </a:solidFill>
            <a:prstDash val="solid"/>
          </a:ln>
        </p:spPr>
      </p:sp>
      <p:sp>
        <p:nvSpPr>
          <p:cNvPr id="60" name="Text 58"/>
          <p:cNvSpPr/>
          <p:nvPr/>
        </p:nvSpPr>
        <p:spPr>
          <a:xfrm>
            <a:off x="8257032" y="4133088"/>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Deep energy data infrastructure</a:t>
            </a:r>
            <a:endParaRPr lang="en-US" sz="810" dirty="0"/>
          </a:p>
        </p:txBody>
      </p:sp>
      <p:sp>
        <p:nvSpPr>
          <p:cNvPr id="61" name="Shape 59"/>
          <p:cNvSpPr/>
          <p:nvPr/>
        </p:nvSpPr>
        <p:spPr>
          <a:xfrm>
            <a:off x="621792" y="4626864"/>
            <a:ext cx="1051560" cy="566928"/>
          </a:xfrm>
          <a:prstGeom prst="rect">
            <a:avLst/>
          </a:prstGeom>
          <a:solidFill>
            <a:srgbClr val="FFFFFF"/>
          </a:solidFill>
          <a:ln w="5715">
            <a:solidFill>
              <a:srgbClr val="E2E6E2"/>
            </a:solidFill>
            <a:prstDash val="solid"/>
          </a:ln>
        </p:spPr>
      </p:sp>
      <p:sp>
        <p:nvSpPr>
          <p:cNvPr id="62" name="Text 60"/>
          <p:cNvSpPr/>
          <p:nvPr/>
        </p:nvSpPr>
        <p:spPr>
          <a:xfrm>
            <a:off x="713232" y="4700016"/>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Deepki</a:t>
            </a:r>
            <a:endParaRPr lang="en-US" sz="920" dirty="0"/>
          </a:p>
        </p:txBody>
      </p:sp>
      <p:sp>
        <p:nvSpPr>
          <p:cNvPr id="63" name="Shape 61"/>
          <p:cNvSpPr/>
          <p:nvPr/>
        </p:nvSpPr>
        <p:spPr>
          <a:xfrm>
            <a:off x="1673352" y="4626864"/>
            <a:ext cx="1417320" cy="566928"/>
          </a:xfrm>
          <a:prstGeom prst="rect">
            <a:avLst/>
          </a:prstGeom>
          <a:solidFill>
            <a:srgbClr val="FFFFFF"/>
          </a:solidFill>
          <a:ln w="5715">
            <a:solidFill>
              <a:srgbClr val="E2E6E2"/>
            </a:solidFill>
            <a:prstDash val="solid"/>
          </a:ln>
        </p:spPr>
      </p:sp>
      <p:sp>
        <p:nvSpPr>
          <p:cNvPr id="64" name="Text 62"/>
          <p:cNvSpPr/>
          <p:nvPr/>
        </p:nvSpPr>
        <p:spPr>
          <a:xfrm>
            <a:off x="1764792" y="4700016"/>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Not publicly disclosed</a:t>
            </a:r>
            <a:endParaRPr lang="en-US" sz="810" dirty="0"/>
          </a:p>
        </p:txBody>
      </p:sp>
      <p:sp>
        <p:nvSpPr>
          <p:cNvPr id="65" name="Shape 63"/>
          <p:cNvSpPr/>
          <p:nvPr/>
        </p:nvSpPr>
        <p:spPr>
          <a:xfrm>
            <a:off x="3090672" y="4626864"/>
            <a:ext cx="3749040" cy="566928"/>
          </a:xfrm>
          <a:prstGeom prst="rect">
            <a:avLst/>
          </a:prstGeom>
          <a:solidFill>
            <a:srgbClr val="FFFFFF"/>
          </a:solidFill>
          <a:ln w="5715">
            <a:solidFill>
              <a:srgbClr val="E2E6E2"/>
            </a:solidFill>
            <a:prstDash val="solid"/>
          </a:ln>
        </p:spPr>
      </p:sp>
      <p:sp>
        <p:nvSpPr>
          <p:cNvPr id="66" name="Text 64"/>
          <p:cNvSpPr/>
          <p:nvPr/>
        </p:nvSpPr>
        <p:spPr>
          <a:xfrm>
            <a:off x="3182112" y="4700016"/>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Focused: real estate ESG, energy performance and climate risk</a:t>
            </a:r>
            <a:endParaRPr lang="en-US" sz="810" dirty="0"/>
          </a:p>
        </p:txBody>
      </p:sp>
      <p:sp>
        <p:nvSpPr>
          <p:cNvPr id="67" name="Shape 65"/>
          <p:cNvSpPr/>
          <p:nvPr/>
        </p:nvSpPr>
        <p:spPr>
          <a:xfrm>
            <a:off x="6839712" y="4626864"/>
            <a:ext cx="1325880" cy="566928"/>
          </a:xfrm>
          <a:prstGeom prst="rect">
            <a:avLst/>
          </a:prstGeom>
          <a:solidFill>
            <a:srgbClr val="FFFFFF"/>
          </a:solidFill>
          <a:ln w="5715">
            <a:solidFill>
              <a:srgbClr val="E2E6E2"/>
            </a:solidFill>
            <a:prstDash val="solid"/>
          </a:ln>
        </p:spPr>
      </p:sp>
      <p:sp>
        <p:nvSpPr>
          <p:cNvPr id="68" name="Shape 66"/>
          <p:cNvSpPr/>
          <p:nvPr/>
        </p:nvSpPr>
        <p:spPr>
          <a:xfrm>
            <a:off x="6949440" y="4791456"/>
            <a:ext cx="1106424" cy="246888"/>
          </a:xfrm>
          <a:prstGeom prst="roundRect">
            <a:avLst>
              <a:gd name="adj" fmla="val 44444"/>
            </a:avLst>
          </a:prstGeom>
          <a:solidFill>
            <a:srgbClr val="EAF8ED"/>
          </a:solidFill>
          <a:ln w="6350">
            <a:solidFill>
              <a:srgbClr val="3DCD58">
                <a:alpha val="45000"/>
              </a:srgbClr>
            </a:solidFill>
            <a:prstDash val="solid"/>
          </a:ln>
        </p:spPr>
      </p:sp>
      <p:sp>
        <p:nvSpPr>
          <p:cNvPr id="69" name="Text 67"/>
          <p:cNvSpPr/>
          <p:nvPr/>
        </p:nvSpPr>
        <p:spPr>
          <a:xfrm>
            <a:off x="6949440" y="4791456"/>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Expanding</a:t>
            </a:r>
            <a:endParaRPr lang="en-US" sz="770" dirty="0"/>
          </a:p>
        </p:txBody>
      </p:sp>
      <p:sp>
        <p:nvSpPr>
          <p:cNvPr id="70" name="Shape 68"/>
          <p:cNvSpPr/>
          <p:nvPr/>
        </p:nvSpPr>
        <p:spPr>
          <a:xfrm>
            <a:off x="8165592" y="4626864"/>
            <a:ext cx="3657600" cy="566928"/>
          </a:xfrm>
          <a:prstGeom prst="rect">
            <a:avLst/>
          </a:prstGeom>
          <a:solidFill>
            <a:srgbClr val="FFFFFF"/>
          </a:solidFill>
          <a:ln w="5715">
            <a:solidFill>
              <a:srgbClr val="E2E6E2"/>
            </a:solidFill>
            <a:prstDash val="solid"/>
          </a:ln>
        </p:spPr>
      </p:sp>
      <p:sp>
        <p:nvSpPr>
          <p:cNvPr id="71" name="Text 69"/>
          <p:cNvSpPr/>
          <p:nvPr/>
        </p:nvSpPr>
        <p:spPr>
          <a:xfrm>
            <a:off x="8257032" y="4700016"/>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Deep built-environment specialization</a:t>
            </a:r>
            <a:endParaRPr lang="en-US" sz="810" dirty="0"/>
          </a:p>
        </p:txBody>
      </p:sp>
      <p:sp>
        <p:nvSpPr>
          <p:cNvPr id="72" name="Shape 70"/>
          <p:cNvSpPr/>
          <p:nvPr/>
        </p:nvSpPr>
        <p:spPr>
          <a:xfrm>
            <a:off x="621792" y="5376672"/>
            <a:ext cx="10948111" cy="612648"/>
          </a:xfrm>
          <a:prstGeom prst="roundRect">
            <a:avLst>
              <a:gd name="adj" fmla="val 5970"/>
            </a:avLst>
          </a:prstGeom>
          <a:solidFill>
            <a:srgbClr val="005730"/>
          </a:solidFill>
          <a:ln w="12700">
            <a:solidFill>
              <a:srgbClr val="005730"/>
            </a:solidFill>
            <a:prstDash val="solid"/>
          </a:ln>
        </p:spPr>
      </p:sp>
      <p:sp>
        <p:nvSpPr>
          <p:cNvPr id="73" name="Shape 71"/>
          <p:cNvSpPr/>
          <p:nvPr/>
        </p:nvSpPr>
        <p:spPr>
          <a:xfrm>
            <a:off x="621792" y="5376672"/>
            <a:ext cx="1508760" cy="612648"/>
          </a:xfrm>
          <a:prstGeom prst="rect">
            <a:avLst/>
          </a:prstGeom>
          <a:solidFill>
            <a:srgbClr val="3DCD58"/>
          </a:solidFill>
          <a:ln w="12700">
            <a:solidFill>
              <a:srgbClr val="3DCD58"/>
            </a:solidFill>
            <a:prstDash val="solid"/>
          </a:ln>
        </p:spPr>
      </p:sp>
      <p:sp>
        <p:nvSpPr>
          <p:cNvPr id="74" name="Text 72"/>
          <p:cNvSpPr/>
          <p:nvPr/>
        </p:nvSpPr>
        <p:spPr>
          <a:xfrm>
            <a:off x="740664" y="5376672"/>
            <a:ext cx="1271016" cy="612648"/>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5" name="Text 73"/>
          <p:cNvSpPr/>
          <p:nvPr/>
        </p:nvSpPr>
        <p:spPr>
          <a:xfrm>
            <a:off x="2322576" y="5449824"/>
            <a:ext cx="9046159" cy="466344"/>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Win where clients value one accountable platform across sustainability, energy and efficiency. Close the gap on visible AI workflow maturity and prove lower total cost through shared data, calculations and assurance.</a:t>
            </a:r>
            <a:endParaRPr lang="en-US" sz="950" dirty="0"/>
          </a:p>
        </p:txBody>
      </p:sp>
      <p:sp>
        <p:nvSpPr>
          <p:cNvPr id="76" name="Text 74"/>
          <p:cNvSpPr/>
          <p:nvPr/>
        </p:nvSpPr>
        <p:spPr>
          <a:xfrm>
            <a:off x="621792" y="6080760"/>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Public vendor materials reviewed September 2026. Price indicates public transparency and buying model, not relative contract value. AI maturity reflects evidenced product capabilities, not vendor claims alone.</a:t>
            </a:r>
            <a:endParaRPr lang="en-US" sz="720" dirty="0"/>
          </a:p>
        </p:txBody>
      </p:sp>
      <p:sp>
        <p:nvSpPr>
          <p:cNvPr id="77" name="Shape 75"/>
          <p:cNvSpPr/>
          <p:nvPr/>
        </p:nvSpPr>
        <p:spPr>
          <a:xfrm>
            <a:off x="621792" y="6437376"/>
            <a:ext cx="10948111" cy="0"/>
          </a:xfrm>
          <a:prstGeom prst="line">
            <a:avLst/>
          </a:prstGeom>
          <a:noFill/>
          <a:ln w="9525">
            <a:solidFill>
              <a:srgbClr val="E2E6E2"/>
            </a:solidFill>
            <a:prstDash val="solid"/>
          </a:ln>
        </p:spPr>
      </p:sp>
      <p:sp>
        <p:nvSpPr>
          <p:cNvPr id="78" name="Text 7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9" name="Text 7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621792" y="320040"/>
            <a:ext cx="2651760" cy="292608"/>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621792" y="320040"/>
            <a:ext cx="2651760" cy="292608"/>
          </a:xfrm>
          <a:prstGeom prst="rect">
            <a:avLst/>
          </a:prstGeom>
          <a:noFill/>
          <a:ln/>
        </p:spPr>
        <p:txBody>
          <a:bodyPr wrap="square" lIns="0" tIns="0" rIns="0" bIns="0" rtlCol="0" anchor="ctr"/>
          <a:lstStyle/>
          <a:p>
            <a:pPr algn="ctr" indent="0" marL="0">
              <a:buNone/>
            </a:pPr>
            <a:r>
              <a:rPr lang="en-US" sz="900" b="1" spc="180" kern="0" dirty="0">
                <a:solidFill>
                  <a:srgbClr val="CDFC57"/>
                </a:solidFill>
                <a:latin typeface="Calibri" pitchFamily="34" charset="0"/>
                <a:ea typeface="Calibri" pitchFamily="34" charset="-122"/>
                <a:cs typeface="Calibri" pitchFamily="34" charset="-120"/>
              </a:rPr>
              <a:t>Competitive roadmap | 2026 to 2028</a:t>
            </a:r>
            <a:endParaRPr lang="en-US" sz="900" dirty="0"/>
          </a:p>
        </p:txBody>
      </p:sp>
      <p:sp>
        <p:nvSpPr>
          <p:cNvPr id="4" name="Text 2"/>
          <p:cNvSpPr/>
          <p:nvPr/>
        </p:nvSpPr>
        <p:spPr>
          <a:xfrm>
            <a:off x="621792" y="731520"/>
            <a:ext cx="10948111" cy="502920"/>
          </a:xfrm>
          <a:prstGeom prst="rect">
            <a:avLst/>
          </a:prstGeom>
          <a:noFill/>
          <a:ln/>
        </p:spPr>
        <p:txBody>
          <a:bodyPr wrap="square" lIns="0" tIns="0" rIns="0" bIns="0" rtlCol="0" anchor="ctr">
            <a:normAutofit/>
          </a:bodyPr>
          <a:lstStyle/>
          <a:p>
            <a:pPr indent="0" marL="0">
              <a:buNone/>
            </a:pPr>
            <a:r>
              <a:rPr lang="en-US" sz="2300" b="1" dirty="0">
                <a:solidFill>
                  <a:srgbClr val="FFFFFF"/>
                </a:solidFill>
                <a:latin typeface="Calibri" pitchFamily="34" charset="0"/>
                <a:ea typeface="Calibri" pitchFamily="34" charset="-122"/>
                <a:cs typeface="Calibri" pitchFamily="34" charset="-120"/>
              </a:rPr>
              <a:t>Where we lead, and where rivals catch up</a:t>
            </a:r>
            <a:endParaRPr lang="en-US" sz="2300" dirty="0"/>
          </a:p>
        </p:txBody>
      </p:sp>
      <p:sp>
        <p:nvSpPr>
          <p:cNvPr id="5" name="Text 3"/>
          <p:cNvSpPr/>
          <p:nvPr/>
        </p:nvSpPr>
        <p:spPr>
          <a:xfrm>
            <a:off x="621792" y="1280160"/>
            <a:ext cx="10424160" cy="365760"/>
          </a:xfrm>
          <a:prstGeom prst="rect">
            <a:avLst/>
          </a:prstGeom>
          <a:noFill/>
          <a:ln/>
        </p:spPr>
        <p:txBody>
          <a:bodyPr wrap="square" lIns="0" tIns="0" rIns="0" bIns="0" rtlCol="0" anchor="t">
            <a:normAutofit/>
          </a:bodyPr>
          <a:lstStyle/>
          <a:p>
            <a:pPr indent="0" marL="0">
              <a:buNone/>
            </a:pPr>
            <a:r>
              <a:rPr lang="en-US" sz="1050" dirty="0">
                <a:solidFill>
                  <a:srgbClr val="BFD9C9"/>
                </a:solidFill>
                <a:latin typeface="Calibri" pitchFamily="34" charset="0"/>
                <a:ea typeface="Calibri" pitchFamily="34" charset="-122"/>
                <a:cs typeface="Calibri" pitchFamily="34" charset="-120"/>
              </a:rPr>
              <a:t>This comparison focuses on sustainability rivals; energy management competitors are covered separately. Our three year plan against the direction of travel visible in competitor public product roadmaps and market commentary. Competitor columns are directional, not committed dates.</a:t>
            </a:r>
            <a:endParaRPr lang="en-US" sz="1050" dirty="0"/>
          </a:p>
        </p:txBody>
      </p:sp>
      <p:sp>
        <p:nvSpPr>
          <p:cNvPr id="6" name="Shape 4"/>
          <p:cNvSpPr/>
          <p:nvPr/>
        </p:nvSpPr>
        <p:spPr>
          <a:xfrm>
            <a:off x="2569464" y="2167128"/>
            <a:ext cx="2744114" cy="0"/>
          </a:xfrm>
          <a:prstGeom prst="line">
            <a:avLst/>
          </a:prstGeom>
          <a:noFill/>
          <a:ln w="10160">
            <a:solidFill>
              <a:srgbClr val="5E806E"/>
            </a:solidFill>
            <a:prstDash val="solid"/>
          </a:ln>
        </p:spPr>
      </p:sp>
      <p:sp>
        <p:nvSpPr>
          <p:cNvPr id="7" name="Shape 5"/>
          <p:cNvSpPr/>
          <p:nvPr/>
        </p:nvSpPr>
        <p:spPr>
          <a:xfrm>
            <a:off x="2569464" y="1783080"/>
            <a:ext cx="713232" cy="274320"/>
          </a:xfrm>
          <a:prstGeom prst="roundRect">
            <a:avLst>
              <a:gd name="adj" fmla="val 13333"/>
            </a:avLst>
          </a:prstGeom>
          <a:solidFill>
            <a:srgbClr val="0C3B25"/>
          </a:solidFill>
          <a:ln w="12700">
            <a:solidFill>
              <a:srgbClr val="CDFC57"/>
            </a:solidFill>
            <a:prstDash val="solid"/>
          </a:ln>
        </p:spPr>
      </p:sp>
      <p:sp>
        <p:nvSpPr>
          <p:cNvPr id="8" name="Text 6"/>
          <p:cNvSpPr/>
          <p:nvPr/>
        </p:nvSpPr>
        <p:spPr>
          <a:xfrm>
            <a:off x="2569464"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2026</a:t>
            </a:r>
            <a:endParaRPr lang="en-US" sz="950" dirty="0"/>
          </a:p>
        </p:txBody>
      </p:sp>
      <p:sp>
        <p:nvSpPr>
          <p:cNvPr id="9" name="Text 7"/>
          <p:cNvSpPr/>
          <p:nvPr/>
        </p:nvSpPr>
        <p:spPr>
          <a:xfrm>
            <a:off x="3392424"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Foundations</a:t>
            </a:r>
            <a:endParaRPr lang="en-US" sz="1150" dirty="0"/>
          </a:p>
        </p:txBody>
      </p:sp>
      <p:sp>
        <p:nvSpPr>
          <p:cNvPr id="10" name="Shape 8"/>
          <p:cNvSpPr/>
          <p:nvPr/>
        </p:nvSpPr>
        <p:spPr>
          <a:xfrm>
            <a:off x="5569610" y="2167128"/>
            <a:ext cx="2744114" cy="0"/>
          </a:xfrm>
          <a:prstGeom prst="line">
            <a:avLst/>
          </a:prstGeom>
          <a:noFill/>
          <a:ln w="10160">
            <a:solidFill>
              <a:srgbClr val="5E806E"/>
            </a:solidFill>
            <a:prstDash val="solid"/>
          </a:ln>
        </p:spPr>
      </p:sp>
      <p:sp>
        <p:nvSpPr>
          <p:cNvPr id="11" name="Shape 9"/>
          <p:cNvSpPr/>
          <p:nvPr/>
        </p:nvSpPr>
        <p:spPr>
          <a:xfrm>
            <a:off x="5569610" y="1783080"/>
            <a:ext cx="713232" cy="274320"/>
          </a:xfrm>
          <a:prstGeom prst="roundRect">
            <a:avLst>
              <a:gd name="adj" fmla="val 13333"/>
            </a:avLst>
          </a:prstGeom>
          <a:solidFill>
            <a:srgbClr val="0C3B25"/>
          </a:solidFill>
          <a:ln w="12700">
            <a:solidFill>
              <a:srgbClr val="CDFC57"/>
            </a:solidFill>
            <a:prstDash val="solid"/>
          </a:ln>
        </p:spPr>
      </p:sp>
      <p:sp>
        <p:nvSpPr>
          <p:cNvPr id="12" name="Text 10"/>
          <p:cNvSpPr/>
          <p:nvPr/>
        </p:nvSpPr>
        <p:spPr>
          <a:xfrm>
            <a:off x="5569610"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2027</a:t>
            </a:r>
            <a:endParaRPr lang="en-US" sz="950" dirty="0"/>
          </a:p>
        </p:txBody>
      </p:sp>
      <p:sp>
        <p:nvSpPr>
          <p:cNvPr id="13" name="Text 11"/>
          <p:cNvSpPr/>
          <p:nvPr/>
        </p:nvSpPr>
        <p:spPr>
          <a:xfrm>
            <a:off x="6392570"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Depth and trust</a:t>
            </a:r>
            <a:endParaRPr lang="en-US" sz="1150" dirty="0"/>
          </a:p>
        </p:txBody>
      </p:sp>
      <p:sp>
        <p:nvSpPr>
          <p:cNvPr id="14" name="Shape 12"/>
          <p:cNvSpPr/>
          <p:nvPr/>
        </p:nvSpPr>
        <p:spPr>
          <a:xfrm>
            <a:off x="8569757" y="2167128"/>
            <a:ext cx="2744114" cy="0"/>
          </a:xfrm>
          <a:prstGeom prst="line">
            <a:avLst/>
          </a:prstGeom>
          <a:noFill/>
          <a:ln w="10160">
            <a:solidFill>
              <a:srgbClr val="5E806E"/>
            </a:solidFill>
            <a:prstDash val="solid"/>
          </a:ln>
        </p:spPr>
      </p:sp>
      <p:sp>
        <p:nvSpPr>
          <p:cNvPr id="15" name="Shape 13"/>
          <p:cNvSpPr/>
          <p:nvPr/>
        </p:nvSpPr>
        <p:spPr>
          <a:xfrm>
            <a:off x="8569757" y="1783080"/>
            <a:ext cx="713232" cy="274320"/>
          </a:xfrm>
          <a:prstGeom prst="roundRect">
            <a:avLst>
              <a:gd name="adj" fmla="val 13333"/>
            </a:avLst>
          </a:prstGeom>
          <a:solidFill>
            <a:srgbClr val="0C3B25"/>
          </a:solidFill>
          <a:ln w="12700">
            <a:solidFill>
              <a:srgbClr val="CDFC57"/>
            </a:solidFill>
            <a:prstDash val="solid"/>
          </a:ln>
        </p:spPr>
      </p:sp>
      <p:sp>
        <p:nvSpPr>
          <p:cNvPr id="16" name="Text 14"/>
          <p:cNvSpPr/>
          <p:nvPr/>
        </p:nvSpPr>
        <p:spPr>
          <a:xfrm>
            <a:off x="8569757"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2028 and beyond</a:t>
            </a:r>
            <a:endParaRPr lang="en-US" sz="950" dirty="0"/>
          </a:p>
        </p:txBody>
      </p:sp>
      <p:sp>
        <p:nvSpPr>
          <p:cNvPr id="17" name="Text 15"/>
          <p:cNvSpPr/>
          <p:nvPr/>
        </p:nvSpPr>
        <p:spPr>
          <a:xfrm>
            <a:off x="9392717"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Scale and intelligence</a:t>
            </a:r>
            <a:endParaRPr lang="en-US" sz="1150" dirty="0"/>
          </a:p>
        </p:txBody>
      </p:sp>
      <p:sp>
        <p:nvSpPr>
          <p:cNvPr id="18" name="Shape 16"/>
          <p:cNvSpPr/>
          <p:nvPr/>
        </p:nvSpPr>
        <p:spPr>
          <a:xfrm>
            <a:off x="640080" y="2450592"/>
            <a:ext cx="91440" cy="91440"/>
          </a:xfrm>
          <a:prstGeom prst="ellipse">
            <a:avLst/>
          </a:prstGeom>
          <a:solidFill>
            <a:srgbClr val="3DCD58"/>
          </a:solidFill>
          <a:ln w="12700">
            <a:solidFill>
              <a:srgbClr val="3DCD58"/>
            </a:solidFill>
            <a:prstDash val="solid"/>
          </a:ln>
        </p:spPr>
      </p:sp>
      <p:sp>
        <p:nvSpPr>
          <p:cNvPr id="19" name="Text 17"/>
          <p:cNvSpPr/>
          <p:nvPr/>
        </p:nvSpPr>
        <p:spPr>
          <a:xfrm>
            <a:off x="804672" y="226771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RA+</a:t>
            </a:r>
            <a:endParaRPr lang="en-US" sz="1000" dirty="0"/>
          </a:p>
        </p:txBody>
      </p:sp>
      <p:sp>
        <p:nvSpPr>
          <p:cNvPr id="20" name="Shape 18"/>
          <p:cNvSpPr/>
          <p:nvPr/>
        </p:nvSpPr>
        <p:spPr>
          <a:xfrm>
            <a:off x="2569464" y="2267712"/>
            <a:ext cx="2744114" cy="457200"/>
          </a:xfrm>
          <a:prstGeom prst="roundRect">
            <a:avLst>
              <a:gd name="adj" fmla="val 10000"/>
            </a:avLst>
          </a:prstGeom>
          <a:solidFill>
            <a:srgbClr val="124A30"/>
          </a:solidFill>
          <a:ln w="9525">
            <a:solidFill>
              <a:srgbClr val="315D47"/>
            </a:solidFill>
            <a:prstDash val="solid"/>
          </a:ln>
        </p:spPr>
      </p:sp>
      <p:sp>
        <p:nvSpPr>
          <p:cNvPr id="21" name="Text 19"/>
          <p:cNvSpPr/>
          <p:nvPr/>
        </p:nvSpPr>
        <p:spPr>
          <a:xfrm>
            <a:off x="2697480"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One data spine: shared hierarchy, factors and calculation engine, plus consultant grade inventory</a:t>
            </a:r>
            <a:endParaRPr lang="en-US" sz="850" dirty="0"/>
          </a:p>
        </p:txBody>
      </p:sp>
      <p:sp>
        <p:nvSpPr>
          <p:cNvPr id="22" name="Shape 20"/>
          <p:cNvSpPr/>
          <p:nvPr/>
        </p:nvSpPr>
        <p:spPr>
          <a:xfrm>
            <a:off x="5569610" y="2267712"/>
            <a:ext cx="2744114" cy="457200"/>
          </a:xfrm>
          <a:prstGeom prst="roundRect">
            <a:avLst>
              <a:gd name="adj" fmla="val 10000"/>
            </a:avLst>
          </a:prstGeom>
          <a:solidFill>
            <a:srgbClr val="124A30"/>
          </a:solidFill>
          <a:ln w="9525">
            <a:solidFill>
              <a:srgbClr val="315D47"/>
            </a:solidFill>
            <a:prstDash val="solid"/>
          </a:ln>
        </p:spPr>
      </p:sp>
      <p:sp>
        <p:nvSpPr>
          <p:cNvPr id="23" name="Text 21"/>
          <p:cNvSpPr/>
          <p:nvPr/>
        </p:nvSpPr>
        <p:spPr>
          <a:xfrm>
            <a:off x="5697626"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Priced climate risk, product linked transport, cross product disclosure and AI assisted inventory</a:t>
            </a:r>
            <a:endParaRPr lang="en-US" sz="850" dirty="0"/>
          </a:p>
        </p:txBody>
      </p:sp>
      <p:sp>
        <p:nvSpPr>
          <p:cNvPr id="24" name="Shape 22"/>
          <p:cNvSpPr/>
          <p:nvPr/>
        </p:nvSpPr>
        <p:spPr>
          <a:xfrm>
            <a:off x="8569757" y="2267712"/>
            <a:ext cx="2744114" cy="457200"/>
          </a:xfrm>
          <a:prstGeom prst="roundRect">
            <a:avLst>
              <a:gd name="adj" fmla="val 10000"/>
            </a:avLst>
          </a:prstGeom>
          <a:solidFill>
            <a:srgbClr val="124A30"/>
          </a:solidFill>
          <a:ln w="9525">
            <a:solidFill>
              <a:srgbClr val="315D47"/>
            </a:solidFill>
            <a:prstDash val="solid"/>
          </a:ln>
        </p:spPr>
      </p:sp>
      <p:sp>
        <p:nvSpPr>
          <p:cNvPr id="25" name="Text 23"/>
          <p:cNvSpPr/>
          <p:nvPr/>
        </p:nvSpPr>
        <p:spPr>
          <a:xfrm>
            <a:off x="8697773"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Converged sustainability, energy and efficiency decisioning on one governed platform</a:t>
            </a:r>
            <a:endParaRPr lang="en-US" sz="850" dirty="0"/>
          </a:p>
        </p:txBody>
      </p:sp>
      <p:sp>
        <p:nvSpPr>
          <p:cNvPr id="26" name="Shape 24"/>
          <p:cNvSpPr/>
          <p:nvPr/>
        </p:nvSpPr>
        <p:spPr>
          <a:xfrm>
            <a:off x="640080" y="2999232"/>
            <a:ext cx="91440" cy="91440"/>
          </a:xfrm>
          <a:prstGeom prst="ellipse">
            <a:avLst/>
          </a:prstGeom>
          <a:solidFill>
            <a:srgbClr val="CDFC57"/>
          </a:solidFill>
          <a:ln w="12700">
            <a:solidFill>
              <a:srgbClr val="CDFC57"/>
            </a:solidFill>
            <a:prstDash val="solid"/>
          </a:ln>
        </p:spPr>
      </p:sp>
      <p:sp>
        <p:nvSpPr>
          <p:cNvPr id="27" name="Text 25"/>
          <p:cNvSpPr/>
          <p:nvPr/>
        </p:nvSpPr>
        <p:spPr>
          <a:xfrm>
            <a:off x="804672" y="281635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Watershed</a:t>
            </a:r>
            <a:endParaRPr lang="en-US" sz="1000" dirty="0"/>
          </a:p>
        </p:txBody>
      </p:sp>
      <p:sp>
        <p:nvSpPr>
          <p:cNvPr id="28" name="Shape 26"/>
          <p:cNvSpPr/>
          <p:nvPr/>
        </p:nvSpPr>
        <p:spPr>
          <a:xfrm>
            <a:off x="2569464" y="2816352"/>
            <a:ext cx="2744114" cy="457200"/>
          </a:xfrm>
          <a:prstGeom prst="roundRect">
            <a:avLst>
              <a:gd name="adj" fmla="val 10000"/>
            </a:avLst>
          </a:prstGeom>
          <a:solidFill>
            <a:srgbClr val="124A30"/>
          </a:solidFill>
          <a:ln w="9525">
            <a:solidFill>
              <a:srgbClr val="315D47"/>
            </a:solidFill>
            <a:prstDash val="solid"/>
          </a:ln>
        </p:spPr>
      </p:sp>
      <p:sp>
        <p:nvSpPr>
          <p:cNvPr id="29" name="Text 27"/>
          <p:cNvSpPr/>
          <p:nvPr/>
        </p:nvSpPr>
        <p:spPr>
          <a:xfrm>
            <a:off x="2697480"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AI native carbon and disclosure workflows already strong</a:t>
            </a:r>
            <a:endParaRPr lang="en-US" sz="850" dirty="0"/>
          </a:p>
        </p:txBody>
      </p:sp>
      <p:sp>
        <p:nvSpPr>
          <p:cNvPr id="30" name="Shape 28"/>
          <p:cNvSpPr/>
          <p:nvPr/>
        </p:nvSpPr>
        <p:spPr>
          <a:xfrm>
            <a:off x="5569610" y="2816352"/>
            <a:ext cx="2744114" cy="457200"/>
          </a:xfrm>
          <a:prstGeom prst="roundRect">
            <a:avLst>
              <a:gd name="adj" fmla="val 10000"/>
            </a:avLst>
          </a:prstGeom>
          <a:solidFill>
            <a:srgbClr val="124A30"/>
          </a:solidFill>
          <a:ln w="9525">
            <a:solidFill>
              <a:srgbClr val="315D47"/>
            </a:solidFill>
            <a:prstDash val="solid"/>
          </a:ln>
        </p:spPr>
      </p:sp>
      <p:sp>
        <p:nvSpPr>
          <p:cNvPr id="31" name="Text 29"/>
          <p:cNvSpPr/>
          <p:nvPr/>
        </p:nvSpPr>
        <p:spPr>
          <a:xfrm>
            <a:off x="5697626"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Likely to extend supply chain depth and assurance grade evidence</a:t>
            </a:r>
            <a:endParaRPr lang="en-US" sz="850" dirty="0"/>
          </a:p>
        </p:txBody>
      </p:sp>
      <p:sp>
        <p:nvSpPr>
          <p:cNvPr id="32" name="Shape 30"/>
          <p:cNvSpPr/>
          <p:nvPr/>
        </p:nvSpPr>
        <p:spPr>
          <a:xfrm>
            <a:off x="8569757" y="2816352"/>
            <a:ext cx="2744114" cy="457200"/>
          </a:xfrm>
          <a:prstGeom prst="roundRect">
            <a:avLst>
              <a:gd name="adj" fmla="val 10000"/>
            </a:avLst>
          </a:prstGeom>
          <a:solidFill>
            <a:srgbClr val="124A30"/>
          </a:solidFill>
          <a:ln w="9525">
            <a:solidFill>
              <a:srgbClr val="315D47"/>
            </a:solidFill>
            <a:prstDash val="solid"/>
          </a:ln>
        </p:spPr>
      </p:sp>
      <p:sp>
        <p:nvSpPr>
          <p:cNvPr id="33" name="Text 31"/>
          <p:cNvSpPr/>
          <p:nvPr/>
        </p:nvSpPr>
        <p:spPr>
          <a:xfrm>
            <a:off x="8697773"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they close the AI experience gap before we close the breadth gap</a:t>
            </a:r>
            <a:endParaRPr lang="en-US" sz="850" dirty="0"/>
          </a:p>
        </p:txBody>
      </p:sp>
      <p:sp>
        <p:nvSpPr>
          <p:cNvPr id="34" name="Shape 32"/>
          <p:cNvSpPr/>
          <p:nvPr/>
        </p:nvSpPr>
        <p:spPr>
          <a:xfrm>
            <a:off x="640080" y="3547872"/>
            <a:ext cx="91440" cy="91440"/>
          </a:xfrm>
          <a:prstGeom prst="ellipse">
            <a:avLst/>
          </a:prstGeom>
          <a:solidFill>
            <a:srgbClr val="CDFC57"/>
          </a:solidFill>
          <a:ln w="12700">
            <a:solidFill>
              <a:srgbClr val="CDFC57"/>
            </a:solidFill>
            <a:prstDash val="solid"/>
          </a:ln>
        </p:spPr>
      </p:sp>
      <p:sp>
        <p:nvSpPr>
          <p:cNvPr id="35" name="Text 33"/>
          <p:cNvSpPr/>
          <p:nvPr/>
        </p:nvSpPr>
        <p:spPr>
          <a:xfrm>
            <a:off x="804672" y="336499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osapiens</a:t>
            </a:r>
            <a:endParaRPr lang="en-US" sz="1000" dirty="0"/>
          </a:p>
        </p:txBody>
      </p:sp>
      <p:sp>
        <p:nvSpPr>
          <p:cNvPr id="36" name="Shape 34"/>
          <p:cNvSpPr/>
          <p:nvPr/>
        </p:nvSpPr>
        <p:spPr>
          <a:xfrm>
            <a:off x="2569464" y="3364992"/>
            <a:ext cx="2744114" cy="457200"/>
          </a:xfrm>
          <a:prstGeom prst="roundRect">
            <a:avLst>
              <a:gd name="adj" fmla="val 10000"/>
            </a:avLst>
          </a:prstGeom>
          <a:solidFill>
            <a:srgbClr val="124A30"/>
          </a:solidFill>
          <a:ln w="9525">
            <a:solidFill>
              <a:srgbClr val="315D47"/>
            </a:solidFill>
            <a:prstDash val="solid"/>
          </a:ln>
        </p:spPr>
      </p:sp>
      <p:sp>
        <p:nvSpPr>
          <p:cNvPr id="37" name="Text 35"/>
          <p:cNvSpPr/>
          <p:nvPr/>
        </p:nvSpPr>
        <p:spPr>
          <a:xfrm>
            <a:off x="2697480"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Deep EU regulatory and supplier compliance coverage</a:t>
            </a:r>
            <a:endParaRPr lang="en-US" sz="850" dirty="0"/>
          </a:p>
        </p:txBody>
      </p:sp>
      <p:sp>
        <p:nvSpPr>
          <p:cNvPr id="38" name="Shape 36"/>
          <p:cNvSpPr/>
          <p:nvPr/>
        </p:nvSpPr>
        <p:spPr>
          <a:xfrm>
            <a:off x="5569610" y="3364992"/>
            <a:ext cx="2744114" cy="457200"/>
          </a:xfrm>
          <a:prstGeom prst="roundRect">
            <a:avLst>
              <a:gd name="adj" fmla="val 10000"/>
            </a:avLst>
          </a:prstGeom>
          <a:solidFill>
            <a:srgbClr val="124A30"/>
          </a:solidFill>
          <a:ln w="9525">
            <a:solidFill>
              <a:srgbClr val="315D47"/>
            </a:solidFill>
            <a:prstDash val="solid"/>
          </a:ln>
        </p:spPr>
      </p:sp>
      <p:sp>
        <p:nvSpPr>
          <p:cNvPr id="39" name="Text 37"/>
          <p:cNvSpPr/>
          <p:nvPr/>
        </p:nvSpPr>
        <p:spPr>
          <a:xfrm>
            <a:off x="5697626"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Expected expansion into product level and broader carbon reporting</a:t>
            </a:r>
            <a:endParaRPr lang="en-US" sz="850" dirty="0"/>
          </a:p>
        </p:txBody>
      </p:sp>
      <p:sp>
        <p:nvSpPr>
          <p:cNvPr id="40" name="Shape 38"/>
          <p:cNvSpPr/>
          <p:nvPr/>
        </p:nvSpPr>
        <p:spPr>
          <a:xfrm>
            <a:off x="8569757" y="3364992"/>
            <a:ext cx="2744114" cy="457200"/>
          </a:xfrm>
          <a:prstGeom prst="roundRect">
            <a:avLst>
              <a:gd name="adj" fmla="val 10000"/>
            </a:avLst>
          </a:prstGeom>
          <a:solidFill>
            <a:srgbClr val="124A30"/>
          </a:solidFill>
          <a:ln w="9525">
            <a:solidFill>
              <a:srgbClr val="315D47"/>
            </a:solidFill>
            <a:prstDash val="solid"/>
          </a:ln>
        </p:spPr>
      </p:sp>
      <p:sp>
        <p:nvSpPr>
          <p:cNvPr id="41" name="Text 39"/>
          <p:cNvSpPr/>
          <p:nvPr/>
        </p:nvSpPr>
        <p:spPr>
          <a:xfrm>
            <a:off x="8697773"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compliance breadth becomes table stakes across the market</a:t>
            </a:r>
            <a:endParaRPr lang="en-US" sz="850" dirty="0"/>
          </a:p>
        </p:txBody>
      </p:sp>
      <p:sp>
        <p:nvSpPr>
          <p:cNvPr id="42" name="Shape 40"/>
          <p:cNvSpPr/>
          <p:nvPr/>
        </p:nvSpPr>
        <p:spPr>
          <a:xfrm>
            <a:off x="640080" y="4096512"/>
            <a:ext cx="91440" cy="91440"/>
          </a:xfrm>
          <a:prstGeom prst="ellipse">
            <a:avLst/>
          </a:prstGeom>
          <a:solidFill>
            <a:srgbClr val="5A625C"/>
          </a:solidFill>
          <a:ln w="12700">
            <a:solidFill>
              <a:srgbClr val="5A625C"/>
            </a:solidFill>
            <a:prstDash val="solid"/>
          </a:ln>
        </p:spPr>
      </p:sp>
      <p:sp>
        <p:nvSpPr>
          <p:cNvPr id="43" name="Text 41"/>
          <p:cNvSpPr/>
          <p:nvPr/>
        </p:nvSpPr>
        <p:spPr>
          <a:xfrm>
            <a:off x="804672" y="391363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Arcadia and Deepki</a:t>
            </a:r>
            <a:endParaRPr lang="en-US" sz="1000" dirty="0"/>
          </a:p>
        </p:txBody>
      </p:sp>
      <p:sp>
        <p:nvSpPr>
          <p:cNvPr id="44" name="Shape 42"/>
          <p:cNvSpPr/>
          <p:nvPr/>
        </p:nvSpPr>
        <p:spPr>
          <a:xfrm>
            <a:off x="2569464" y="3913632"/>
            <a:ext cx="2744114" cy="457200"/>
          </a:xfrm>
          <a:prstGeom prst="roundRect">
            <a:avLst>
              <a:gd name="adj" fmla="val 10000"/>
            </a:avLst>
          </a:prstGeom>
          <a:solidFill>
            <a:srgbClr val="124A30"/>
          </a:solidFill>
          <a:ln w="9525">
            <a:solidFill>
              <a:srgbClr val="315D47"/>
            </a:solidFill>
            <a:prstDash val="solid"/>
          </a:ln>
        </p:spPr>
      </p:sp>
      <p:sp>
        <p:nvSpPr>
          <p:cNvPr id="45" name="Text 43"/>
          <p:cNvSpPr/>
          <p:nvPr/>
        </p:nvSpPr>
        <p:spPr>
          <a:xfrm>
            <a:off x="2697480"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Strong energy data and real estate ESG positions</a:t>
            </a:r>
            <a:endParaRPr lang="en-US" sz="850" dirty="0"/>
          </a:p>
        </p:txBody>
      </p:sp>
      <p:sp>
        <p:nvSpPr>
          <p:cNvPr id="46" name="Shape 44"/>
          <p:cNvSpPr/>
          <p:nvPr/>
        </p:nvSpPr>
        <p:spPr>
          <a:xfrm>
            <a:off x="5569610" y="3913632"/>
            <a:ext cx="2744114" cy="457200"/>
          </a:xfrm>
          <a:prstGeom prst="roundRect">
            <a:avLst>
              <a:gd name="adj" fmla="val 10000"/>
            </a:avLst>
          </a:prstGeom>
          <a:solidFill>
            <a:srgbClr val="124A30"/>
          </a:solidFill>
          <a:ln w="9525">
            <a:solidFill>
              <a:srgbClr val="315D47"/>
            </a:solidFill>
            <a:prstDash val="solid"/>
          </a:ln>
        </p:spPr>
      </p:sp>
      <p:sp>
        <p:nvSpPr>
          <p:cNvPr id="47" name="Text 45"/>
          <p:cNvSpPr/>
          <p:nvPr/>
        </p:nvSpPr>
        <p:spPr>
          <a:xfrm>
            <a:off x="5697626"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Expected move upward into carbon and risk reporting adjacent to their data</a:t>
            </a:r>
            <a:endParaRPr lang="en-US" sz="850" dirty="0"/>
          </a:p>
        </p:txBody>
      </p:sp>
      <p:sp>
        <p:nvSpPr>
          <p:cNvPr id="48" name="Shape 46"/>
          <p:cNvSpPr/>
          <p:nvPr/>
        </p:nvSpPr>
        <p:spPr>
          <a:xfrm>
            <a:off x="8569757" y="3913632"/>
            <a:ext cx="2744114" cy="457200"/>
          </a:xfrm>
          <a:prstGeom prst="roundRect">
            <a:avLst>
              <a:gd name="adj" fmla="val 10000"/>
            </a:avLst>
          </a:prstGeom>
          <a:solidFill>
            <a:srgbClr val="124A30"/>
          </a:solidFill>
          <a:ln w="9525">
            <a:solidFill>
              <a:srgbClr val="315D47"/>
            </a:solidFill>
            <a:prstDash val="solid"/>
          </a:ln>
        </p:spPr>
      </p:sp>
      <p:sp>
        <p:nvSpPr>
          <p:cNvPr id="49" name="Text 47"/>
          <p:cNvSpPr/>
          <p:nvPr/>
        </p:nvSpPr>
        <p:spPr>
          <a:xfrm>
            <a:off x="8697773"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energy data advantage narrows if we do not exploit ours first</a:t>
            </a:r>
            <a:endParaRPr lang="en-US" sz="850" dirty="0"/>
          </a:p>
        </p:txBody>
      </p:sp>
      <p:sp>
        <p:nvSpPr>
          <p:cNvPr id="50" name="Shape 48"/>
          <p:cNvSpPr/>
          <p:nvPr/>
        </p:nvSpPr>
        <p:spPr>
          <a:xfrm>
            <a:off x="621792" y="4590288"/>
            <a:ext cx="10948111" cy="0"/>
          </a:xfrm>
          <a:prstGeom prst="line">
            <a:avLst/>
          </a:prstGeom>
          <a:noFill/>
          <a:ln w="10160">
            <a:solidFill>
              <a:srgbClr val="5E806E"/>
            </a:solidFill>
            <a:prstDash val="solid"/>
          </a:ln>
        </p:spPr>
      </p:sp>
      <p:sp>
        <p:nvSpPr>
          <p:cNvPr id="51" name="Text 49"/>
          <p:cNvSpPr/>
          <p:nvPr/>
        </p:nvSpPr>
        <p:spPr>
          <a:xfrm>
            <a:off x="621792" y="4681728"/>
            <a:ext cx="2194560" cy="182880"/>
          </a:xfrm>
          <a:prstGeom prst="rect">
            <a:avLst/>
          </a:prstGeom>
          <a:noFill/>
          <a:ln/>
        </p:spPr>
        <p:txBody>
          <a:bodyPr wrap="square" lIns="0" tIns="0" rIns="0" bIns="0" rtlCol="0" anchor="ctr"/>
          <a:lstStyle/>
          <a:p>
            <a:pPr indent="0" marL="0">
              <a:buNone/>
            </a:pPr>
            <a:r>
              <a:rPr lang="en-US" sz="900" b="1" spc="180" kern="0" dirty="0">
                <a:solidFill>
                  <a:srgbClr val="CDFC57"/>
                </a:solidFill>
                <a:latin typeface="Calibri" pitchFamily="34" charset="0"/>
                <a:ea typeface="Calibri" pitchFamily="34" charset="-122"/>
                <a:cs typeface="Calibri" pitchFamily="34" charset="-120"/>
              </a:rPr>
              <a:t>STRATEGIC DRIVERS</a:t>
            </a:r>
            <a:endParaRPr lang="en-US" sz="900" dirty="0"/>
          </a:p>
        </p:txBody>
      </p:sp>
      <p:sp>
        <p:nvSpPr>
          <p:cNvPr id="52" name="Text 50"/>
          <p:cNvSpPr/>
          <p:nvPr/>
        </p:nvSpPr>
        <p:spPr>
          <a:xfrm>
            <a:off x="621792"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We lead on convergence</a:t>
            </a:r>
            <a:endParaRPr lang="en-US" sz="1000" dirty="0"/>
          </a:p>
        </p:txBody>
      </p:sp>
      <p:sp>
        <p:nvSpPr>
          <p:cNvPr id="53" name="Text 51"/>
          <p:cNvSpPr/>
          <p:nvPr/>
        </p:nvSpPr>
        <p:spPr>
          <a:xfrm>
            <a:off x="621792"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No rival combines sustainability, energy and efficiency on one governed data spine with advisory depth.</a:t>
            </a:r>
            <a:endParaRPr lang="en-US" sz="800" dirty="0"/>
          </a:p>
        </p:txBody>
      </p:sp>
      <p:sp>
        <p:nvSpPr>
          <p:cNvPr id="54" name="Text 52"/>
          <p:cNvSpPr/>
          <p:nvPr/>
        </p:nvSpPr>
        <p:spPr>
          <a:xfrm>
            <a:off x="3427400"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We lead on priced risk</a:t>
            </a:r>
            <a:endParaRPr lang="en-US" sz="1000" dirty="0"/>
          </a:p>
        </p:txBody>
      </p:sp>
      <p:sp>
        <p:nvSpPr>
          <p:cNvPr id="55" name="Text 53"/>
          <p:cNvSpPr/>
          <p:nvPr/>
        </p:nvSpPr>
        <p:spPr>
          <a:xfrm>
            <a:off x="3427400"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Value at risk expressed in financial terms and flowing into disclosure is a genuine wedge.</a:t>
            </a:r>
            <a:endParaRPr lang="en-US" sz="800" dirty="0"/>
          </a:p>
        </p:txBody>
      </p:sp>
      <p:sp>
        <p:nvSpPr>
          <p:cNvPr id="56" name="Text 54"/>
          <p:cNvSpPr/>
          <p:nvPr/>
        </p:nvSpPr>
        <p:spPr>
          <a:xfrm>
            <a:off x="6233008"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They catch up on AI experience</a:t>
            </a:r>
            <a:endParaRPr lang="en-US" sz="1000" dirty="0"/>
          </a:p>
        </p:txBody>
      </p:sp>
      <p:sp>
        <p:nvSpPr>
          <p:cNvPr id="57" name="Text 55"/>
          <p:cNvSpPr/>
          <p:nvPr/>
        </p:nvSpPr>
        <p:spPr>
          <a:xfrm>
            <a:off x="6233008"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AI assisted workflows are the fastest moving area. Our 2027 window is where the gap either closes or widens.</a:t>
            </a:r>
            <a:endParaRPr lang="en-US" sz="800" dirty="0"/>
          </a:p>
        </p:txBody>
      </p:sp>
      <p:sp>
        <p:nvSpPr>
          <p:cNvPr id="58" name="Text 56"/>
          <p:cNvSpPr/>
          <p:nvPr/>
        </p:nvSpPr>
        <p:spPr>
          <a:xfrm>
            <a:off x="9038615"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They catch up on breadth</a:t>
            </a:r>
            <a:endParaRPr lang="en-US" sz="1000" dirty="0"/>
          </a:p>
        </p:txBody>
      </p:sp>
      <p:sp>
        <p:nvSpPr>
          <p:cNvPr id="59" name="Text 57"/>
          <p:cNvSpPr/>
          <p:nvPr/>
        </p:nvSpPr>
        <p:spPr>
          <a:xfrm>
            <a:off x="9038615"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Compliance and supplier coverage commoditise. Breadth alone will not defend us after 2027.</a:t>
            </a:r>
            <a:endParaRPr lang="en-US" sz="800" dirty="0"/>
          </a:p>
        </p:txBody>
      </p:sp>
      <p:sp>
        <p:nvSpPr>
          <p:cNvPr id="60" name="Text 58"/>
          <p:cNvSpPr/>
          <p:nvPr/>
        </p:nvSpPr>
        <p:spPr>
          <a:xfrm>
            <a:off x="621792" y="6601968"/>
            <a:ext cx="10058400" cy="164592"/>
          </a:xfrm>
          <a:prstGeom prst="rect">
            <a:avLst/>
          </a:prstGeom>
          <a:noFill/>
          <a:ln/>
        </p:spPr>
        <p:txBody>
          <a:bodyPr wrap="square" lIns="0" tIns="0" rIns="0" bIns="0" rtlCol="0" anchor="ctr">
            <a:normAutofit/>
          </a:bodyPr>
          <a:lstStyle/>
          <a:p>
            <a:pPr indent="0" marL="0">
              <a:buNone/>
            </a:pPr>
            <a:r>
              <a:rPr lang="en-US" sz="700" i="1" dirty="0">
                <a:solidFill>
                  <a:srgbClr val="769585"/>
                </a:solidFill>
                <a:latin typeface="Calibri" pitchFamily="34" charset="0"/>
                <a:ea typeface="Calibri" pitchFamily="34" charset="-122"/>
                <a:cs typeface="Calibri" pitchFamily="34" charset="-120"/>
              </a:rPr>
              <a:t>Board implication: fund the spine and the AI assisted layer in 2026 and 2027, while the convergence and priced risk advantages are still unique. Competitor timing is directional, based on public materials reviewed September 2026.</a:t>
            </a:r>
            <a:endParaRPr lang="en-US" sz="700" dirty="0"/>
          </a:p>
        </p:txBody>
      </p:sp>
      <p:sp>
        <p:nvSpPr>
          <p:cNvPr id="25" name="Slide Number Placeholder 0"/>
          <p:cNvSpPr>
            <a:spLocks noGrp="1"/>
          </p:cNvSpPr>
          <p:nvPr>
            <p:ph type="sldNum" sz="quarter" idx="4294967295"/>
          </p:nvPr>
        </p:nvSpPr>
        <p:spPr>
          <a:xfrm>
            <a:off x="10929823" y="658368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13182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80263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HONEST READ | COMPETITIVE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Why we win, and why we might lose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board should hold both sides of this argument at the same time.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3.197255160993018e+29" dist="1.0657517203310059e+29" dir="2.519424e+35">
              <a:srgbClr val="0A1F12">
                <a:alpha val="1.2e+34"/>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WHY WE WIN</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Structural advantages</a:t>
            </a:r>
            <a:endParaRPr lang="en-US" sz="1600" dirty="0"/>
          </a:p>
        </p:txBody>
      </p:sp>
      <p:sp>
        <p:nvSpPr>
          <p:cNvPr id="13" name="Text 11"/>
          <p:cNvSpPr/>
          <p:nvPr/>
        </p:nvSpPr>
        <p:spPr>
          <a:xfrm>
            <a:off x="822960"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accountable platform across sustainability, energy and efficiency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data spine, so evidence and calculations are reused, not rebuilt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Schneider scale, advisory depth and existing enterprise relationships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Total cost argument that goes beyond a single license price</a:t>
            </a:r>
            <a:endParaRPr lang="en-US" sz="1100" dirty="0"/>
          </a:p>
        </p:txBody>
      </p:sp>
      <p:sp>
        <p:nvSpPr>
          <p:cNvPr id="14" name="Shape 12"/>
          <p:cNvSpPr/>
          <p:nvPr/>
        </p:nvSpPr>
        <p:spPr>
          <a:xfrm>
            <a:off x="3427400"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4.0605140544611325e+33" dist="1.3535046848203775e+33" dir="1.5116544e+40">
              <a:srgbClr val="0A1F12">
                <a:alpha val="1.1999999999999999e+39"/>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WHY WE WIN</a:t>
            </a:r>
            <a:endParaRPr lang="en-US" sz="900" dirty="0"/>
          </a:p>
        </p:txBody>
      </p:sp>
      <p:sp>
        <p:nvSpPr>
          <p:cNvPr id="17" name="Text 15"/>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Client proof points to build</a:t>
            </a:r>
            <a:endParaRPr lang="en-US" sz="1400" dirty="0"/>
          </a:p>
        </p:txBody>
      </p:sp>
      <p:sp>
        <p:nvSpPr>
          <p:cNvPr id="18" name="Text 16"/>
          <p:cNvSpPr/>
          <p:nvPr/>
        </p:nvSpPr>
        <p:spPr>
          <a:xfrm>
            <a:off x="3628568"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Cross-product adoption inside strategic accounts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Shorter reporting cycles versus fragmented tooling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Traceable, reproducible AI-assisted decisions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Displacement of point solutions at renewal</a:t>
            </a:r>
            <a:endParaRPr lang="en-US" sz="1100" dirty="0"/>
          </a:p>
        </p:txBody>
      </p:sp>
      <p:sp>
        <p:nvSpPr>
          <p:cNvPr id="19" name="Shape 17"/>
          <p:cNvSpPr/>
          <p:nvPr/>
        </p:nvSpPr>
        <p:spPr>
          <a:xfrm>
            <a:off x="6233008"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5.156852849165638e+37" dist="1.7189509497218795e+37" dir="9.069926400000001e+44">
              <a:srgbClr val="0A1F12">
                <a:alpha val="1.1999999999999999e+44"/>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WHY WE MIGHT LOSE</a:t>
            </a:r>
            <a:endParaRPr lang="en-US" sz="900" dirty="0"/>
          </a:p>
        </p:txBody>
      </p:sp>
      <p:sp>
        <p:nvSpPr>
          <p:cNvPr id="22" name="Text 20"/>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Where we are exposed</a:t>
            </a:r>
            <a:endParaRPr lang="en-US" sz="1600" dirty="0"/>
          </a:p>
        </p:txBody>
      </p:sp>
      <p:sp>
        <p:nvSpPr>
          <p:cNvPr id="23" name="Text 21"/>
          <p:cNvSpPr/>
          <p:nvPr/>
        </p:nvSpPr>
        <p:spPr>
          <a:xfrm>
            <a:off x="6434176"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Specialists look sharper in a single visible domain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AI-native challengers move faster on workflow polish</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Breadth can read as complexity during evaluation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Migration and data quality slow the first proof point</a:t>
            </a:r>
            <a:endParaRPr lang="en-US" sz="1100" dirty="0"/>
          </a:p>
        </p:txBody>
      </p:sp>
      <p:sp>
        <p:nvSpPr>
          <p:cNvPr id="24" name="Shape 22"/>
          <p:cNvSpPr/>
          <p:nvPr/>
        </p:nvSpPr>
        <p:spPr>
          <a:xfrm>
            <a:off x="9038615"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6.549203118440361e+41" dist="2.183067706146787e+41" dir="5.44195584e+49">
              <a:srgbClr val="0A1F12">
                <a:alpha val="1.2e+49"/>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WHY WE MIGHT LOSE</a:t>
            </a:r>
            <a:endParaRPr lang="en-US" sz="900" dirty="0"/>
          </a:p>
        </p:txBody>
      </p:sp>
      <p:sp>
        <p:nvSpPr>
          <p:cNvPr id="27" name="Text 25"/>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What we must not claim</a:t>
            </a:r>
            <a:endParaRPr lang="en-US" sz="1600" dirty="0"/>
          </a:p>
        </p:txBody>
      </p:sp>
      <p:sp>
        <p:nvSpPr>
          <p:cNvPr id="28" name="Text 26"/>
          <p:cNvSpPr/>
          <p:nvPr/>
        </p:nvSpPr>
        <p:spPr>
          <a:xfrm>
            <a:off x="9239783"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 price advantage without matched-account evidence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Feature parity in every specialist domain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maturity that is not visible in the product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Directional horizons presented as commitments</a:t>
            </a:r>
            <a:endParaRPr lang="en-US" sz="1100" dirty="0"/>
          </a:p>
        </p:txBody>
      </p:sp>
      <p:sp>
        <p:nvSpPr>
          <p:cNvPr id="29" name="Shape 27"/>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8.317487960419258e+45" dist="2.7724959868064195e+45" dir="3.2651735040000005e+54">
              <a:srgbClr val="0A1F12">
                <a:alpha val="1.2e+54"/>
              </a:srgbClr>
            </a:outerShdw>
          </a:effectLst>
        </p:spPr>
      </p:sp>
      <p:sp>
        <p:nvSpPr>
          <p:cNvPr id="30" name="Shape 28"/>
          <p:cNvSpPr/>
          <p:nvPr/>
        </p:nvSpPr>
        <p:spPr>
          <a:xfrm>
            <a:off x="676656" y="5760720"/>
            <a:ext cx="45720" cy="365760"/>
          </a:xfrm>
          <a:prstGeom prst="rect">
            <a:avLst/>
          </a:prstGeom>
          <a:solidFill>
            <a:srgbClr val="3DCD58"/>
          </a:solidFill>
          <a:ln w="12700">
            <a:solidFill>
              <a:srgbClr val="3DCD58"/>
            </a:solidFill>
            <a:prstDash val="solid"/>
          </a:ln>
        </p:spPr>
      </p:sp>
      <p:sp>
        <p:nvSpPr>
          <p:cNvPr id="31" name="Text 29"/>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The winning position is integrated outcomes with visible AI, not a feature-by-feature race.</a:t>
            </a:r>
            <a:endParaRPr lang="en-US" sz="1200" dirty="0"/>
          </a:p>
        </p:txBody>
      </p:sp>
      <p:sp>
        <p:nvSpPr>
          <p:cNvPr id="32" name="Shape 30"/>
          <p:cNvSpPr/>
          <p:nvPr/>
        </p:nvSpPr>
        <p:spPr>
          <a:xfrm>
            <a:off x="621792" y="6437376"/>
            <a:ext cx="10948111" cy="0"/>
          </a:xfrm>
          <a:prstGeom prst="line">
            <a:avLst/>
          </a:prstGeom>
          <a:noFill/>
          <a:ln w="9525">
            <a:solidFill>
              <a:srgbClr val="E2E6E2"/>
            </a:solidFill>
            <a:prstDash val="solid"/>
          </a:ln>
        </p:spPr>
      </p:sp>
      <p:sp>
        <p:nvSpPr>
          <p:cNvPr id="33" name="Text 31"/>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4" name="Text 32"/>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6040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42748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CARBON PERFORMANCE</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Carbon Performance: leading on energy grade data, on parity on the inventory</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Capability by capability, where we lead the market, where we match it, and where we are still closing a gap.</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Energy and utility data</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Metered energy, EAC and PPA management fed by the Schneider energy expertise.</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Carbon only vendors buy or infer this data instead of owning the meter relationship.</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Scope 1, 2 and 3 inventory</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Consultant grade, audit ready inventory across all scopes with per gas breakdown.</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F1F3F2"/>
          </a:solidFill>
          <a:ln w="6350">
            <a:solidFill>
              <a:srgbClr val="E2E6E2"/>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Table stakes for every enterprise carbon vendor benchmarked by Verdantix.</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Emission factors and method depth</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Q4 2026 wedge: factor coverage, method transparency per data point, rebaselining.</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FF4E3"/>
          </a:solidFill>
          <a:ln w="6350">
            <a:solidFill>
              <a:srgbClr val="FFB04C"/>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Leaders already expose method and factor lineage at data point level.</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assistance</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Sera brought forward to Q4 2026 for carbon inventory tasks.</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FFF4E3"/>
          </a:solidFill>
          <a:ln w="6350">
            <a:solidFill>
              <a:srgbClr val="FFB04C"/>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AI copilots are now a headline claim across the benchmarked field.</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Decarbonisation planning</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scenario analysis and ECM library with energy and carbon cobenefits.</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Few carbon vendors can price an efficiency measure and its carbon effect together.</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Assurance and governance</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Boundaries, approvals and audit trail on the shared inventory.</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by CSRD ready buyers.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Our differentiation is energy grade data and cobenefit planning. The Q4 factor and method work is what removes the last credibility gap.</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9730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6438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SUPPLY CHAIN</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Supply Chain: strong network reach, still closing the automated PCF gap</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most contested product line in the market, and the one where our 2027 bets matter most.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Supplier engagement reach</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Built on Zeigo Hub heritage: campaigns at scale, structured supplier education programs and learning paths.</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Reach at this scale is rare outside the largest platforms.</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Product carbon footprint</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Light PCF calculator in 2027 H1, deeper PCF after.</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FFF4E3"/>
          </a:solidFill>
          <a:ln w="6350">
            <a:solidFill>
              <a:srgbClr val="FFB04C"/>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Behind</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osapiens and Watershed market BoM driven, largely automated PCF creation today.</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Category 1 and 4 data into the inventory</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Supplier and transport data flows straight into the shared carbon inventory.</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EAF8ED"/>
          </a:solidFill>
          <a:ln w="6350">
            <a:solidFill>
              <a:srgbClr val="3DCD58"/>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rivals move this data between separate tools.</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Data quality assurance</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Improved data quality assurance and scoring on collected supplier data.</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F1F3F2"/>
          </a:solidFill>
          <a:ln w="6350">
            <a:solidFill>
              <a:srgbClr val="E2E6E2"/>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Standard across the benchmarked field.</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Supplier abatement</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Guided decarbonisation and supplier action, sequenced for 2027.</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FFF4E3"/>
          </a:solidFill>
          <a:ln w="6350">
            <a:solidFill>
              <a:srgbClr val="FFB04C"/>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Leaders already market supplier abatement programmes, not just collection.</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Upstream and downstream transport</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Category 4 and 9 product linked transport in 2027 H1.</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Covered by logistics focused rivals.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We win on reach and on one inventory. PCF automation is the single capability where we are visibly behind and it needs protected capacity.</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75488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442569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REPORTING AND COMPLIANCE</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Reporting and Compliance: parity is the target, speed of standing up is the risk</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This is a crowded, regulation driven segment. Credibility comes from evidence and lineage, not feature count.</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Framework library</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CSRD foundations built in 2026, wider frameworks after.</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FFF4E3"/>
          </a:solidFill>
          <a:ln w="6350">
            <a:solidFill>
              <a:srgbClr val="FFB04C"/>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Compliance specialists ship broad framework libraries out of the box.</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Indicator management</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Indicator library foundation, approval hierarchies and bulk assignment in Q4 2026.</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F1F3F2"/>
          </a:solidFill>
          <a:ln w="6350">
            <a:solidFill>
              <a:srgbClr val="E2E6E2"/>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capability in every enterprise disclosure tool.</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Data ingestion and transformation</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ingestion and transformation rules on the shared core.</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Comparable to the benchmarked field.</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Lineage and audit evidence</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Evidence and audit trail inherited from the platform, not rebuilt per report.</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Verdantix buyers name lineage and auditability as the top selection driver.</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Cross product data reuse</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Receives data from every other product to facilitate disclosure.</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Point solutions must import from third party tools.</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assisted disclosure drafting</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Directional for 2027.</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FFF4E3"/>
          </a:solidFill>
          <a:ln w="6350">
            <a:solidFill>
              <a:srgbClr val="FFB04C"/>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Behind</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Already marketed by several rivals.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We should not fight a framework count race. We win by proving where every number came from and reusing data no rival holds.</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Sphera,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9730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6438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CLIMATE RISK</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Climate Risk: physical risk depth is good, financial value at risk is the differentiator</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segment where connection to the rest of the platform decides whether the product pays off.</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Asset and hazard coverage</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Eclr becoming a full self serve product with scalable performance.</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F1F3F2"/>
          </a:solidFill>
          <a:ln w="6350">
            <a:solidFill>
              <a:srgbClr val="E2E6E2"/>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Specialist providers and data partnerships cover hazards broadly.</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Value at risk in financial terms</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ClimVar, value at risk expressed in financial terms, in 2027 H1.</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rivals stop at hazard scores rather than a priced exposure.</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Scenario analysis</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Scenario analysis and adaptation actions on the shared action model.</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Standard in the benchmarked field.</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Adaptation planning</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One action model shared with decarbonisation planning.</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Rivals separate mitigation and adaptation into different tools.</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Risk into disclosure</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Risk data flows into disclosures and is turned into financial values.</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Usually a manual handoff between vendors.</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Beyond owned assets</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Extend climate risk to suppliers and the value chain: a whitespace opportunity in 2027.</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EAF8ED"/>
          </a:solidFill>
          <a:ln w="6350">
            <a:solidFill>
              <a:srgbClr val="3DCD58"/>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Supply chain risk tools exist, but none combine supplier exposure with climate risk and financial value at risk.</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Priced risk connected to disclosure is our wedge. Hazard data alone is a commodity we should buy, not build.</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and climate risk vendor public product pages (Climate X, XDI, Cotality, S&amp;P Global Climanomics, Risilience, Bloomberg).</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55244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22326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STRATEGY</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Strategy: the plan to execution gap is where we can lead outright</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Few vendors connect targets, initiatives and realised performance in one governed loop.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Target and pathway setting</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Targets set against the same inventory the products use.</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F1F3F2"/>
          </a:solidFill>
          <a:ln w="6350">
            <a:solidFill>
              <a:srgbClr val="E2E6E2"/>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Common capability.</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Initiatives and actions management</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Initiative and action management shipping with Q4 2026 scenario work.</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carbon tools stop at the plan and never track execution.</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Scenario and cobenefit modelling</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Energy, carbon and cost cobenefits modelled together.</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EAF8ED"/>
          </a:solidFill>
          <a:ln w="6350">
            <a:solidFill>
              <a:srgbClr val="3DCD58"/>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Requires the energy and efficiency data only we hold.</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Recommendations</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AI recommendations on the next best action, launching Q4 2026, with energy, carbon and cost cobenefits surfaced together.</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No rival currently links next best action recommendations to energy, carbon and cost cobenefits on one platform.</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Realised versus planned</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Actual performance measured against the plan on the same data.</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Rare outside consultancy led engagements.</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Governance and scale</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Roll out across business units on the shared hierarchy.</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at enterprise scale.</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Strategy is where the convergence story becomes tangible. It is our clearest chance to be first, not fast follower.</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0782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7490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Core Platform: the capability rivals cannot copy quickly</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None of this is sold on its own. All of it decides whether every other product can lead.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Shared hierarchy and ontology</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One organisational and asset hierarchy every product inherits.</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Multi product rivals commonly run separate models per product.</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Intelligence layer</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Shared AI services, agents and reasoning consumed by every product.</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Point solutions bolt on separate AI stacks; RA+ embeds intelligence once.</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Config engine, calc methods, templates</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Configuration promoted and reused across products and clients.</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Comparable to leading platforms.</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Ingestion and data quality</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ingestion, transformation rules and quality scoring.</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F1F3F2"/>
          </a:solidFill>
          <a:ln w="6350">
            <a:solidFill>
              <a:srgbClr val="E2E6E2"/>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Table stakes at enterprise scale.</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Lineage, evidence and audit trail</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Traceability from raw data point to disclosed number.</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F1F3F2"/>
          </a:solidFill>
          <a:ln w="6350">
            <a:solidFill>
              <a:srgbClr val="E2E6E2"/>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by enterprise buyers and available from leading platforms.</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Scale and performance</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Enterprise scale performance across the product family.</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Enterprise scale performance comparable to leading platforms.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Roughly a third of capacity protected for core is what makes every product level claim on the previous slides defensible.</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44728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11810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GO TO MARKET | BUYER JOURNEY</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How a Fortune 500 buyer moves from one product to the whole platform</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commercial motion mirrors the platform strategy: land on one urgent problem, prove value fast, then expand across Sustainability, Energy and Efficiency as the data spine compounds.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72436" cy="3588512"/>
          </a:xfrm>
          <a:prstGeom prst="roundRect">
            <a:avLst>
              <a:gd name="adj" fmla="val 1422"/>
            </a:avLst>
          </a:prstGeom>
          <a:solidFill>
            <a:srgbClr val="FFFFFF"/>
          </a:solidFill>
          <a:ln w="10160">
            <a:solidFill>
              <a:srgbClr val="E2E6E2"/>
            </a:solidFill>
            <a:prstDash val="solid"/>
          </a:ln>
        </p:spPr>
      </p:sp>
      <p:sp>
        <p:nvSpPr>
          <p:cNvPr id="10" name="Shape 8"/>
          <p:cNvSpPr/>
          <p:nvPr/>
        </p:nvSpPr>
        <p:spPr>
          <a:xfrm>
            <a:off x="621792" y="2084832"/>
            <a:ext cx="64008" cy="3588512"/>
          </a:xfrm>
          <a:prstGeom prst="rect">
            <a:avLst/>
          </a:prstGeom>
          <a:solidFill>
            <a:srgbClr val="3DCD58"/>
          </a:solidFill>
          <a:ln w="12700">
            <a:solidFill>
              <a:srgbClr val="3DCD58"/>
            </a:solidFill>
            <a:prstDash val="solid"/>
          </a:ln>
        </p:spPr>
      </p:sp>
      <p:sp>
        <p:nvSpPr>
          <p:cNvPr id="11" name="Text 9"/>
          <p:cNvSpPr/>
          <p:nvPr/>
        </p:nvSpPr>
        <p:spPr>
          <a:xfrm>
            <a:off x="841248"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1 | LAND</a:t>
            </a:r>
            <a:endParaRPr lang="en-US" sz="850" dirty="0"/>
          </a:p>
        </p:txBody>
      </p:sp>
      <p:sp>
        <p:nvSpPr>
          <p:cNvPr id="12" name="Text 10"/>
          <p:cNvSpPr/>
          <p:nvPr/>
        </p:nvSpPr>
        <p:spPr>
          <a:xfrm>
            <a:off x="841248"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One urgent problem</a:t>
            </a:r>
            <a:endParaRPr lang="en-US" sz="1350" dirty="0"/>
          </a:p>
        </p:txBody>
      </p:sp>
      <p:sp>
        <p:nvSpPr>
          <p:cNvPr id="13" name="Text 11"/>
          <p:cNvSpPr/>
          <p:nvPr/>
        </p:nvSpPr>
        <p:spPr>
          <a:xfrm>
            <a:off x="841248"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14" name="Text 12"/>
          <p:cNvSpPr/>
          <p:nvPr/>
        </p:nvSpPr>
        <p:spPr>
          <a:xfrm>
            <a:off x="841248"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A Chief Sustainability Officer faces a disclosure deadline or a Scope 3 inventory gap.</a:t>
            </a:r>
            <a:endParaRPr lang="en-US" sz="800" dirty="0"/>
          </a:p>
        </p:txBody>
      </p:sp>
      <p:sp>
        <p:nvSpPr>
          <p:cNvPr id="15" name="Text 13"/>
          <p:cNvSpPr/>
          <p:nvPr/>
        </p:nvSpPr>
        <p:spPr>
          <a:xfrm>
            <a:off x="841248"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16" name="Text 14"/>
          <p:cNvSpPr/>
          <p:nvPr/>
        </p:nvSpPr>
        <p:spPr>
          <a:xfrm>
            <a:off x="841248" y="3770376"/>
            <a:ext cx="2133524" cy="276352"/>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One product, typically Carbon Performance or Reporting &amp; Compliance.</a:t>
            </a:r>
            <a:endParaRPr lang="en-US" sz="800" dirty="0"/>
          </a:p>
        </p:txBody>
      </p:sp>
      <p:sp>
        <p:nvSpPr>
          <p:cNvPr id="17" name="Text 15"/>
          <p:cNvSpPr/>
          <p:nvPr/>
        </p:nvSpPr>
        <p:spPr>
          <a:xfrm>
            <a:off x="841248" y="4110736"/>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18" name="Text 16"/>
          <p:cNvSpPr/>
          <p:nvPr/>
        </p:nvSpPr>
        <p:spPr>
          <a:xfrm>
            <a:off x="841248" y="4257040"/>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A consultant grade, AI driven inventory or a CSRD ready cycle in one reporting season.</a:t>
            </a:r>
            <a:endParaRPr lang="en-US" sz="800" dirty="0"/>
          </a:p>
        </p:txBody>
      </p:sp>
      <p:sp>
        <p:nvSpPr>
          <p:cNvPr id="19" name="Text 17"/>
          <p:cNvSpPr/>
          <p:nvPr/>
        </p:nvSpPr>
        <p:spPr>
          <a:xfrm>
            <a:off x="841248" y="4717288"/>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20" name="Text 18"/>
          <p:cNvSpPr/>
          <p:nvPr/>
        </p:nvSpPr>
        <p:spPr>
          <a:xfrm>
            <a:off x="841248" y="4863592"/>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Regulatory deadline, audit pressure or a board level carbon commitment.</a:t>
            </a:r>
            <a:endParaRPr lang="en-US" sz="800" dirty="0"/>
          </a:p>
        </p:txBody>
      </p:sp>
      <p:sp>
        <p:nvSpPr>
          <p:cNvPr id="21" name="Text 19"/>
          <p:cNvSpPr/>
          <p:nvPr/>
        </p:nvSpPr>
        <p:spPr>
          <a:xfrm>
            <a:off x="3175940"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3413684" y="2084832"/>
            <a:ext cx="2572436" cy="3588512"/>
          </a:xfrm>
          <a:prstGeom prst="roundRect">
            <a:avLst>
              <a:gd name="adj" fmla="val 1422"/>
            </a:avLst>
          </a:prstGeom>
          <a:solidFill>
            <a:srgbClr val="FFFFFF"/>
          </a:solidFill>
          <a:ln w="10160">
            <a:solidFill>
              <a:srgbClr val="E2E6E2"/>
            </a:solidFill>
            <a:prstDash val="solid"/>
          </a:ln>
        </p:spPr>
      </p:sp>
      <p:sp>
        <p:nvSpPr>
          <p:cNvPr id="23" name="Shape 21"/>
          <p:cNvSpPr/>
          <p:nvPr/>
        </p:nvSpPr>
        <p:spPr>
          <a:xfrm>
            <a:off x="3413684" y="2084832"/>
            <a:ext cx="64008" cy="3588512"/>
          </a:xfrm>
          <a:prstGeom prst="rect">
            <a:avLst/>
          </a:prstGeom>
          <a:solidFill>
            <a:srgbClr val="3DCD58"/>
          </a:solidFill>
          <a:ln w="12700">
            <a:solidFill>
              <a:srgbClr val="3DCD58"/>
            </a:solidFill>
            <a:prstDash val="solid"/>
          </a:ln>
        </p:spPr>
      </p:sp>
      <p:sp>
        <p:nvSpPr>
          <p:cNvPr id="24" name="Text 22"/>
          <p:cNvSpPr/>
          <p:nvPr/>
        </p:nvSpPr>
        <p:spPr>
          <a:xfrm>
            <a:off x="3633140"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2 | PROVE</a:t>
            </a:r>
            <a:endParaRPr lang="en-US" sz="850" dirty="0"/>
          </a:p>
        </p:txBody>
      </p:sp>
      <p:sp>
        <p:nvSpPr>
          <p:cNvPr id="25" name="Text 23"/>
          <p:cNvSpPr/>
          <p:nvPr/>
        </p:nvSpPr>
        <p:spPr>
          <a:xfrm>
            <a:off x="3633140"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First measurable value</a:t>
            </a:r>
            <a:endParaRPr lang="en-US" sz="1350" dirty="0"/>
          </a:p>
        </p:txBody>
      </p:sp>
      <p:sp>
        <p:nvSpPr>
          <p:cNvPr id="26" name="Text 24"/>
          <p:cNvSpPr/>
          <p:nvPr/>
        </p:nvSpPr>
        <p:spPr>
          <a:xfrm>
            <a:off x="3633140"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27" name="Text 25"/>
          <p:cNvSpPr/>
          <p:nvPr/>
        </p:nvSpPr>
        <p:spPr>
          <a:xfrm>
            <a:off x="3633140"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The same sponsor sees time to value measured in weeks, with evidence and lineage that survive audit.</a:t>
            </a:r>
            <a:endParaRPr lang="en-US" sz="800" dirty="0"/>
          </a:p>
        </p:txBody>
      </p:sp>
      <p:sp>
        <p:nvSpPr>
          <p:cNvPr id="28" name="Text 26"/>
          <p:cNvSpPr/>
          <p:nvPr/>
        </p:nvSpPr>
        <p:spPr>
          <a:xfrm>
            <a:off x="3633140"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29" name="Text 27"/>
          <p:cNvSpPr/>
          <p:nvPr/>
        </p:nvSpPr>
        <p:spPr>
          <a:xfrm>
            <a:off x="3633140" y="377037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Same product, deeper adoption: scenarios, initiatives and actions on the trusted baseline.</a:t>
            </a:r>
            <a:endParaRPr lang="en-US" sz="800" dirty="0"/>
          </a:p>
        </p:txBody>
      </p:sp>
      <p:sp>
        <p:nvSpPr>
          <p:cNvPr id="30" name="Text 28"/>
          <p:cNvSpPr/>
          <p:nvPr/>
        </p:nvSpPr>
        <p:spPr>
          <a:xfrm>
            <a:off x="3633140" y="4230624"/>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31" name="Text 29"/>
          <p:cNvSpPr/>
          <p:nvPr/>
        </p:nvSpPr>
        <p:spPr>
          <a:xfrm>
            <a:off x="3633140" y="437692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From reporting the footprint to actively reducing it; the sponsor becomes our internal advocate.</a:t>
            </a:r>
            <a:endParaRPr lang="en-US" sz="800" dirty="0"/>
          </a:p>
        </p:txBody>
      </p:sp>
      <p:sp>
        <p:nvSpPr>
          <p:cNvPr id="32" name="Text 30"/>
          <p:cNvSpPr/>
          <p:nvPr/>
        </p:nvSpPr>
        <p:spPr>
          <a:xfrm>
            <a:off x="3633140" y="4837176"/>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33" name="Text 31"/>
          <p:cNvSpPr/>
          <p:nvPr/>
        </p:nvSpPr>
        <p:spPr>
          <a:xfrm>
            <a:off x="3633140" y="4983480"/>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First audit passed, first board disclosure delivered, first reduction target tracked.</a:t>
            </a:r>
            <a:endParaRPr lang="en-US" sz="800" dirty="0"/>
          </a:p>
        </p:txBody>
      </p:sp>
      <p:sp>
        <p:nvSpPr>
          <p:cNvPr id="34" name="Text 32"/>
          <p:cNvSpPr/>
          <p:nvPr/>
        </p:nvSpPr>
        <p:spPr>
          <a:xfrm>
            <a:off x="5967832"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35" name="Shape 33"/>
          <p:cNvSpPr/>
          <p:nvPr/>
        </p:nvSpPr>
        <p:spPr>
          <a:xfrm>
            <a:off x="6205576" y="2084832"/>
            <a:ext cx="2572436" cy="3588512"/>
          </a:xfrm>
          <a:prstGeom prst="roundRect">
            <a:avLst>
              <a:gd name="adj" fmla="val 1422"/>
            </a:avLst>
          </a:prstGeom>
          <a:solidFill>
            <a:srgbClr val="FFFFFF"/>
          </a:solidFill>
          <a:ln w="10160">
            <a:solidFill>
              <a:srgbClr val="E2E6E2"/>
            </a:solidFill>
            <a:prstDash val="solid"/>
          </a:ln>
        </p:spPr>
      </p:sp>
      <p:sp>
        <p:nvSpPr>
          <p:cNvPr id="36" name="Shape 34"/>
          <p:cNvSpPr/>
          <p:nvPr/>
        </p:nvSpPr>
        <p:spPr>
          <a:xfrm>
            <a:off x="6205576" y="2084832"/>
            <a:ext cx="64008" cy="3588512"/>
          </a:xfrm>
          <a:prstGeom prst="rect">
            <a:avLst/>
          </a:prstGeom>
          <a:solidFill>
            <a:srgbClr val="3DCD58"/>
          </a:solidFill>
          <a:ln w="12700">
            <a:solidFill>
              <a:srgbClr val="3DCD58"/>
            </a:solidFill>
            <a:prstDash val="solid"/>
          </a:ln>
        </p:spPr>
      </p:sp>
      <p:sp>
        <p:nvSpPr>
          <p:cNvPr id="37" name="Text 35"/>
          <p:cNvSpPr/>
          <p:nvPr/>
        </p:nvSpPr>
        <p:spPr>
          <a:xfrm>
            <a:off x="6425032"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3 | EXPAND</a:t>
            </a:r>
            <a:endParaRPr lang="en-US" sz="850" dirty="0"/>
          </a:p>
        </p:txBody>
      </p:sp>
      <p:sp>
        <p:nvSpPr>
          <p:cNvPr id="38" name="Text 36"/>
          <p:cNvSpPr/>
          <p:nvPr/>
        </p:nvSpPr>
        <p:spPr>
          <a:xfrm>
            <a:off x="6425032"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Second and third product</a:t>
            </a:r>
            <a:endParaRPr lang="en-US" sz="1350" dirty="0"/>
          </a:p>
        </p:txBody>
      </p:sp>
      <p:sp>
        <p:nvSpPr>
          <p:cNvPr id="39" name="Text 37"/>
          <p:cNvSpPr/>
          <p:nvPr/>
        </p:nvSpPr>
        <p:spPr>
          <a:xfrm>
            <a:off x="6425032"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40" name="Text 38"/>
          <p:cNvSpPr/>
          <p:nvPr/>
        </p:nvSpPr>
        <p:spPr>
          <a:xfrm>
            <a:off x="6425032"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Procurement, supply chain and energy leaders join; the data spine means no new baseline project.</a:t>
            </a:r>
            <a:endParaRPr lang="en-US" sz="800" dirty="0"/>
          </a:p>
        </p:txBody>
      </p:sp>
      <p:sp>
        <p:nvSpPr>
          <p:cNvPr id="41" name="Text 39"/>
          <p:cNvSpPr/>
          <p:nvPr/>
        </p:nvSpPr>
        <p:spPr>
          <a:xfrm>
            <a:off x="6425032"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42" name="Text 40"/>
          <p:cNvSpPr/>
          <p:nvPr/>
        </p:nvSpPr>
        <p:spPr>
          <a:xfrm>
            <a:off x="6425032" y="3770376"/>
            <a:ext cx="2133524" cy="516128"/>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Supply Chain for supplier emissions abatement, Climate Risk for value at risk, Energy &amp; Efficiency for metered reality.</a:t>
            </a:r>
            <a:endParaRPr lang="en-US" sz="800" dirty="0"/>
          </a:p>
        </p:txBody>
      </p:sp>
      <p:sp>
        <p:nvSpPr>
          <p:cNvPr id="43" name="Text 41"/>
          <p:cNvSpPr/>
          <p:nvPr/>
        </p:nvSpPr>
        <p:spPr>
          <a:xfrm>
            <a:off x="6425032" y="435051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44" name="Text 42"/>
          <p:cNvSpPr/>
          <p:nvPr/>
        </p:nvSpPr>
        <p:spPr>
          <a:xfrm>
            <a:off x="6425032" y="449681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Category 1 and 4 flow into the CP inventory; energy and carbon cobenefits appear on one platform.</a:t>
            </a:r>
            <a:endParaRPr lang="en-US" sz="800" dirty="0"/>
          </a:p>
        </p:txBody>
      </p:sp>
      <p:sp>
        <p:nvSpPr>
          <p:cNvPr id="45" name="Text 43"/>
          <p:cNvSpPr/>
          <p:nvPr/>
        </p:nvSpPr>
        <p:spPr>
          <a:xfrm>
            <a:off x="6425032" y="4957064"/>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46" name="Text 44"/>
          <p:cNvSpPr/>
          <p:nvPr/>
        </p:nvSpPr>
        <p:spPr>
          <a:xfrm>
            <a:off x="6425032" y="510336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Cross-functional steering committee sees one hierarchy, one evidence chain, one login.</a:t>
            </a:r>
            <a:endParaRPr lang="en-US" sz="800" dirty="0"/>
          </a:p>
        </p:txBody>
      </p:sp>
      <p:sp>
        <p:nvSpPr>
          <p:cNvPr id="47" name="Text 45"/>
          <p:cNvSpPr/>
          <p:nvPr/>
        </p:nvSpPr>
        <p:spPr>
          <a:xfrm>
            <a:off x="8759723"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48" name="Shape 46"/>
          <p:cNvSpPr/>
          <p:nvPr/>
        </p:nvSpPr>
        <p:spPr>
          <a:xfrm>
            <a:off x="8997467" y="2084832"/>
            <a:ext cx="2572436" cy="3588512"/>
          </a:xfrm>
          <a:prstGeom prst="roundRect">
            <a:avLst>
              <a:gd name="adj" fmla="val 1422"/>
            </a:avLst>
          </a:prstGeom>
          <a:solidFill>
            <a:srgbClr val="0C3B25"/>
          </a:solidFill>
          <a:ln w="10160">
            <a:solidFill>
              <a:srgbClr val="0C3B25"/>
            </a:solidFill>
            <a:prstDash val="solid"/>
          </a:ln>
        </p:spPr>
      </p:sp>
      <p:sp>
        <p:nvSpPr>
          <p:cNvPr id="49" name="Shape 47"/>
          <p:cNvSpPr/>
          <p:nvPr/>
        </p:nvSpPr>
        <p:spPr>
          <a:xfrm>
            <a:off x="8997467" y="2084832"/>
            <a:ext cx="64008" cy="3588512"/>
          </a:xfrm>
          <a:prstGeom prst="rect">
            <a:avLst/>
          </a:prstGeom>
          <a:solidFill>
            <a:srgbClr val="CDFC57"/>
          </a:solidFill>
          <a:ln w="12700">
            <a:solidFill>
              <a:srgbClr val="CDFC57"/>
            </a:solidFill>
            <a:prstDash val="solid"/>
          </a:ln>
        </p:spPr>
      </p:sp>
      <p:sp>
        <p:nvSpPr>
          <p:cNvPr id="50" name="Text 48"/>
          <p:cNvSpPr/>
          <p:nvPr/>
        </p:nvSpPr>
        <p:spPr>
          <a:xfrm>
            <a:off x="9216923"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CDFC57"/>
                </a:solidFill>
                <a:latin typeface="Calibri" pitchFamily="34" charset="0"/>
                <a:ea typeface="Calibri" pitchFamily="34" charset="-122"/>
                <a:cs typeface="Calibri" pitchFamily="34" charset="-120"/>
              </a:rPr>
              <a:t>STAGE 4 | STANDARDIZE</a:t>
            </a:r>
            <a:endParaRPr lang="en-US" sz="850" dirty="0"/>
          </a:p>
        </p:txBody>
      </p:sp>
      <p:sp>
        <p:nvSpPr>
          <p:cNvPr id="51" name="Text 49"/>
          <p:cNvSpPr/>
          <p:nvPr/>
        </p:nvSpPr>
        <p:spPr>
          <a:xfrm>
            <a:off x="9216923"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Platform as the system of action</a:t>
            </a:r>
            <a:endParaRPr lang="en-US" sz="1350" dirty="0"/>
          </a:p>
        </p:txBody>
      </p:sp>
      <p:sp>
        <p:nvSpPr>
          <p:cNvPr id="52" name="Text 50"/>
          <p:cNvSpPr/>
          <p:nvPr/>
        </p:nvSpPr>
        <p:spPr>
          <a:xfrm>
            <a:off x="9216923" y="3017520"/>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BUYER MOMENT</a:t>
            </a:r>
            <a:endParaRPr lang="en-US" sz="700" dirty="0"/>
          </a:p>
        </p:txBody>
      </p:sp>
      <p:sp>
        <p:nvSpPr>
          <p:cNvPr id="53" name="Text 51"/>
          <p:cNvSpPr/>
          <p:nvPr/>
        </p:nvSpPr>
        <p:spPr>
          <a:xfrm>
            <a:off x="9216923"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DCE9E1"/>
                </a:solidFill>
                <a:latin typeface="Calibri" pitchFamily="34" charset="0"/>
                <a:ea typeface="Calibri" pitchFamily="34" charset="-122"/>
                <a:cs typeface="Calibri" pitchFamily="34" charset="-120"/>
              </a:rPr>
              <a:t>CFO and board sponsor: RA+ becomes the trusted source for disclosure, decisions and capital allocation.</a:t>
            </a:r>
            <a:endParaRPr lang="en-US" sz="800" dirty="0"/>
          </a:p>
        </p:txBody>
      </p:sp>
      <p:sp>
        <p:nvSpPr>
          <p:cNvPr id="54" name="Text 52"/>
          <p:cNvSpPr/>
          <p:nvPr/>
        </p:nvSpPr>
        <p:spPr>
          <a:xfrm>
            <a:off x="9216923" y="3624072"/>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PRODUCTS</a:t>
            </a:r>
            <a:endParaRPr lang="en-US" sz="700" dirty="0"/>
          </a:p>
        </p:txBody>
      </p:sp>
      <p:sp>
        <p:nvSpPr>
          <p:cNvPr id="55" name="Text 53"/>
          <p:cNvSpPr/>
          <p:nvPr/>
        </p:nvSpPr>
        <p:spPr>
          <a:xfrm>
            <a:off x="9216923" y="3770376"/>
            <a:ext cx="2133524" cy="516128"/>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Full portfolio on the Portfolio tier: platform fee plus unlimited products, cross-domain intelligence and APIs.</a:t>
            </a:r>
            <a:endParaRPr lang="en-US" sz="800" dirty="0"/>
          </a:p>
        </p:txBody>
      </p:sp>
      <p:sp>
        <p:nvSpPr>
          <p:cNvPr id="56" name="Text 54"/>
          <p:cNvSpPr/>
          <p:nvPr/>
        </p:nvSpPr>
        <p:spPr>
          <a:xfrm>
            <a:off x="9216923" y="4350512"/>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VALUE</a:t>
            </a:r>
            <a:endParaRPr lang="en-US" sz="700" dirty="0"/>
          </a:p>
        </p:txBody>
      </p:sp>
      <p:sp>
        <p:nvSpPr>
          <p:cNvPr id="57" name="Text 55"/>
          <p:cNvSpPr/>
          <p:nvPr/>
        </p:nvSpPr>
        <p:spPr>
          <a:xfrm>
            <a:off x="9216923" y="449681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One platform replaces fragmented point tools; lower total cost of ownership and priced climate risk.</a:t>
            </a:r>
            <a:endParaRPr lang="en-US" sz="800" dirty="0"/>
          </a:p>
        </p:txBody>
      </p:sp>
      <p:sp>
        <p:nvSpPr>
          <p:cNvPr id="58" name="Text 56"/>
          <p:cNvSpPr/>
          <p:nvPr/>
        </p:nvSpPr>
        <p:spPr>
          <a:xfrm>
            <a:off x="9216923" y="4957064"/>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EXPANSION TRIGGER</a:t>
            </a:r>
            <a:endParaRPr lang="en-US" sz="700" dirty="0"/>
          </a:p>
        </p:txBody>
      </p:sp>
      <p:sp>
        <p:nvSpPr>
          <p:cNvPr id="59" name="Text 57"/>
          <p:cNvSpPr/>
          <p:nvPr/>
        </p:nvSpPr>
        <p:spPr>
          <a:xfrm>
            <a:off x="9216923" y="510336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Multi-year enterprise agreement; RA+ named the corporate energy &amp; sustainability system of action.</a:t>
            </a:r>
            <a:endParaRPr lang="en-US" sz="800" dirty="0"/>
          </a:p>
        </p:txBody>
      </p:sp>
      <p:sp>
        <p:nvSpPr>
          <p:cNvPr id="60" name="Shape 58"/>
          <p:cNvSpPr/>
          <p:nvPr/>
        </p:nvSpPr>
        <p:spPr>
          <a:xfrm>
            <a:off x="621792" y="5819648"/>
            <a:ext cx="10948111" cy="329184"/>
          </a:xfrm>
          <a:prstGeom prst="rect">
            <a:avLst/>
          </a:prstGeom>
          <a:solidFill>
            <a:srgbClr val="EAF8ED"/>
          </a:solidFill>
          <a:ln w="12700">
            <a:solidFill>
              <a:srgbClr val="EAF8ED"/>
            </a:solidFill>
            <a:prstDash val="solid"/>
          </a:ln>
        </p:spPr>
      </p:sp>
      <p:sp>
        <p:nvSpPr>
          <p:cNvPr id="61" name="Shape 59"/>
          <p:cNvSpPr/>
          <p:nvPr/>
        </p:nvSpPr>
        <p:spPr>
          <a:xfrm>
            <a:off x="621792" y="5819648"/>
            <a:ext cx="64008" cy="329184"/>
          </a:xfrm>
          <a:prstGeom prst="rect">
            <a:avLst/>
          </a:prstGeom>
          <a:solidFill>
            <a:srgbClr val="3DCD58"/>
          </a:solidFill>
          <a:ln w="12700">
            <a:solidFill>
              <a:srgbClr val="3DCD58"/>
            </a:solidFill>
            <a:prstDash val="solid"/>
          </a:ln>
        </p:spPr>
      </p:sp>
      <p:sp>
        <p:nvSpPr>
          <p:cNvPr id="62" name="Text 60"/>
          <p:cNvSpPr/>
          <p:nvPr/>
        </p:nvSpPr>
        <p:spPr>
          <a:xfrm>
            <a:off x="804672" y="5819648"/>
            <a:ext cx="10582351" cy="329184"/>
          </a:xfrm>
          <a:prstGeom prst="rect">
            <a:avLst/>
          </a:prstGeom>
          <a:noFill/>
          <a:ln/>
        </p:spPr>
        <p:txBody>
          <a:bodyPr wrap="square" lIns="0" tIns="0" rIns="0" bIns="0" rtlCol="0" anchor="ctr">
            <a:normAutofit/>
          </a:bodyPr>
          <a:lstStyle/>
          <a:p>
            <a:pPr indent="0" marL="0">
              <a:buNone/>
            </a:pPr>
            <a:r>
              <a:rPr lang="en-US" sz="1000" b="1" dirty="0">
                <a:solidFill>
                  <a:srgbClr val="1E2420"/>
                </a:solidFill>
                <a:latin typeface="Calibri" pitchFamily="34" charset="0"/>
                <a:ea typeface="Calibri" pitchFamily="34" charset="-122"/>
                <a:cs typeface="Calibri" pitchFamily="34" charset="-120"/>
              </a:rPr>
              <a:t>Every stage deepens the moat: the data spine makes each next product cheaper to adopt and harder to rip out. Value per product, energy savings, cost savings and risk reduction, sits on the value proposition page at /value-proposition.</a:t>
            </a:r>
            <a:endParaRPr lang="en-US" sz="1000" dirty="0"/>
          </a:p>
        </p:txBody>
      </p:sp>
      <p:sp>
        <p:nvSpPr>
          <p:cNvPr id="63" name="Shape 61"/>
          <p:cNvSpPr/>
          <p:nvPr/>
        </p:nvSpPr>
        <p:spPr>
          <a:xfrm>
            <a:off x="621792" y="6437376"/>
            <a:ext cx="10948111" cy="0"/>
          </a:xfrm>
          <a:prstGeom prst="line">
            <a:avLst/>
          </a:prstGeom>
          <a:noFill/>
          <a:ln w="9525">
            <a:solidFill>
              <a:srgbClr val="E2E6E2"/>
            </a:solidFill>
            <a:prstDash val="solid"/>
          </a:ln>
        </p:spPr>
      </p:sp>
      <p:sp>
        <p:nvSpPr>
          <p:cNvPr id="64" name="Text 6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65" name="Text 6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3</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03</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RA+ 2026 and 2027 sustainability family roadmap by product</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Carbon Performance, Supply Chain, Reporting and Compliance, Climate Risk, and the core platform they all stand on.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PRODUCTS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Four products, one carbon and sustainability data model</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Each product owns a customer outcome. All four read and write the same governed baseline.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0563209709732457e+50" dist="3.5210699032441527e+49" dir="1.9591041024000004e+59">
              <a:srgbClr val="0A1F12">
                <a:alpha val="1.2e+5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Carbon Performance</a:t>
            </a:r>
            <a:endParaRPr lang="en-US" sz="1600" dirty="0"/>
          </a:p>
        </p:txBody>
      </p:sp>
      <p:sp>
        <p:nvSpPr>
          <p:cNvPr id="12" name="Text 10"/>
          <p:cNvSpPr/>
          <p:nvPr/>
        </p:nvSpPr>
        <p:spPr>
          <a:xfrm>
            <a:off x="804672"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Consultant grade and AI assisted GHG inventory across Scope 1, 2 and 3.</a:t>
            </a:r>
            <a:endParaRPr lang="en-US" sz="1100" dirty="0"/>
          </a:p>
        </p:txBody>
      </p:sp>
      <p:sp>
        <p:nvSpPr>
          <p:cNvPr id="13" name="Text 11"/>
          <p:cNvSpPr/>
          <p:nvPr/>
        </p:nvSpPr>
        <p:spPr>
          <a:xfrm>
            <a:off x="822960"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emission factor and calculation depth</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add more Sera use cases, governance, assurance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Owns the inventory every other product consumes</a:t>
            </a:r>
            <a:endParaRPr lang="en-US" sz="1100" dirty="0"/>
          </a:p>
        </p:txBody>
      </p:sp>
      <p:sp>
        <p:nvSpPr>
          <p:cNvPr id="14" name="Shape 12"/>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341527633136022e+54" dist="4.471758777120074e+53" dir="1.1754624614400003e+64">
              <a:srgbClr val="0A1F12">
                <a:alpha val="1.2000000000000001e+64"/>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Supply Chain</a:t>
            </a:r>
            <a:endParaRPr lang="en-US" sz="1600" dirty="0"/>
          </a:p>
        </p:txBody>
      </p:sp>
      <p:sp>
        <p:nvSpPr>
          <p:cNvPr id="17" name="Text 15"/>
          <p:cNvSpPr/>
          <p:nvPr/>
        </p:nvSpPr>
        <p:spPr>
          <a:xfrm>
            <a:off x="3610280"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Supplier engagement and product level carbon footprint.</a:t>
            </a:r>
            <a:endParaRPr lang="en-US" sz="1100" dirty="0"/>
          </a:p>
        </p:txBody>
      </p:sp>
      <p:sp>
        <p:nvSpPr>
          <p:cNvPr id="18" name="Text 16"/>
          <p:cNvSpPr/>
          <p:nvPr/>
        </p:nvSpPr>
        <p:spPr>
          <a:xfrm>
            <a:off x="3628568"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complete the RA+ migration, close sponsor gaps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multi tier visibility and supplier emissions abatement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Feeds category 1 and 4 into the CP inventory</a:t>
            </a:r>
            <a:endParaRPr lang="en-US" sz="1100" dirty="0"/>
          </a:p>
        </p:txBody>
      </p:sp>
      <p:sp>
        <p:nvSpPr>
          <p:cNvPr id="19" name="Shape 17"/>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037400940827478e+58" dist="5.679133646942494e+57" dir="7.052774768640002e+68">
              <a:srgbClr val="0A1F12">
                <a:alpha val="1.2e+69"/>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Reporting and Compliance</a:t>
            </a:r>
            <a:endParaRPr lang="en-US" sz="1600" dirty="0"/>
          </a:p>
        </p:txBody>
      </p:sp>
      <p:sp>
        <p:nvSpPr>
          <p:cNvPr id="22" name="Text 20"/>
          <p:cNvSpPr/>
          <p:nvPr/>
        </p:nvSpPr>
        <p:spPr>
          <a:xfrm>
            <a:off x="6415888"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Disclosure ready output from the same numbers.</a:t>
            </a:r>
            <a:endParaRPr lang="en-US" sz="1100" dirty="0"/>
          </a:p>
        </p:txBody>
      </p:sp>
      <p:sp>
        <p:nvSpPr>
          <p:cNvPr id="23" name="Text 21"/>
          <p:cNvSpPr/>
          <p:nvPr/>
        </p:nvSpPr>
        <p:spPr>
          <a:xfrm>
            <a:off x="6434176"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build foundations for CSRD reporting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SE migrated off RA Classic, AI drafted disclosures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receiver from every other product to facilitate disclosure.</a:t>
            </a:r>
            <a:endParaRPr lang="en-US" sz="1100" dirty="0"/>
          </a:p>
        </p:txBody>
      </p:sp>
      <p:sp>
        <p:nvSpPr>
          <p:cNvPr id="24" name="Shape 22"/>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16374991948509e+62" dist="7.212499731616968e+61" dir="4.2316648611840007e+73">
              <a:srgbClr val="0A1F12">
                <a:alpha val="1.2e+74"/>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Climate Risk</a:t>
            </a:r>
            <a:endParaRPr lang="en-US" sz="1600" dirty="0"/>
          </a:p>
        </p:txBody>
      </p:sp>
      <p:sp>
        <p:nvSpPr>
          <p:cNvPr id="27" name="Text 25"/>
          <p:cNvSpPr/>
          <p:nvPr/>
        </p:nvSpPr>
        <p:spPr>
          <a:xfrm>
            <a:off x="9221495"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Forward looking physical and transition exposure.</a:t>
            </a:r>
            <a:endParaRPr lang="en-US" sz="1100" dirty="0"/>
          </a:p>
        </p:txBody>
      </p:sp>
      <p:sp>
        <p:nvSpPr>
          <p:cNvPr id="28" name="Text 26"/>
          <p:cNvSpPr/>
          <p:nvPr/>
        </p:nvSpPr>
        <p:spPr>
          <a:xfrm>
            <a:off x="9239783"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Eclr turned to a full self serve product with scalable performances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value at risk, scenario analysis and adaptation actions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Risk data flows into R&amp;C disclosures and are turned into financial values</a:t>
            </a:r>
            <a:endParaRPr lang="en-US" sz="1100" dirty="0"/>
          </a:p>
        </p:txBody>
      </p:sp>
      <p:sp>
        <p:nvSpPr>
          <p:cNvPr id="29" name="Shape 27"/>
          <p:cNvSpPr/>
          <p:nvPr/>
        </p:nvSpPr>
        <p:spPr>
          <a:xfrm>
            <a:off x="621792" y="6437376"/>
            <a:ext cx="10948111" cy="0"/>
          </a:xfrm>
          <a:prstGeom prst="line">
            <a:avLst/>
          </a:prstGeom>
          <a:noFill/>
          <a:ln w="9525">
            <a:solidFill>
              <a:srgbClr val="E2E6E2"/>
            </a:solidFill>
            <a:prstDash val="solid"/>
          </a:ln>
        </p:spPr>
      </p:sp>
      <p:sp>
        <p:nvSpPr>
          <p:cNvPr id="30" name="Text 2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1" name="Text 2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Every goal across the RA+ roadmap, part one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Four goals per product, sequenced Now, Next, Later inside each product section that follows.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2.747962397746064e+66" dist="9.15987465915355e+65" dir="2.5389989167104004e+78">
              <a:srgbClr val="0A1F12">
                <a:alpha val="1.2000000000000001e+79"/>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 consultant grade and AI driven inventory</a:t>
            </a:r>
            <a:endParaRPr lang="en-US" sz="1400" dirty="0"/>
          </a:p>
        </p:txBody>
      </p:sp>
      <p:sp>
        <p:nvSpPr>
          <p:cNvPr id="13" name="Text 11"/>
          <p:cNvSpPr/>
          <p:nvPr/>
        </p:nvSpPr>
        <p:spPr>
          <a:xfrm>
            <a:off x="82296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Factors and calculation depth: make the number defensible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coverage: close the Scope 3 gaps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Boundaries and governance: consultant grade control</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and decision support: from inventory to action</a:t>
            </a:r>
            <a:endParaRPr lang="en-US" sz="1100" dirty="0"/>
          </a:p>
        </p:txBody>
      </p:sp>
      <p:sp>
        <p:nvSpPr>
          <p:cNvPr id="14" name="Shape 12"/>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3.4899122451375014e+70" dist="1.1633040817125008e+70" dir="1.5233993500262402e+83">
              <a:srgbClr val="0A1F12">
                <a:alpha val="1.2000000000000002e+84"/>
              </a:srgbClr>
            </a:outerShdw>
          </a:effectLst>
        </p:spPr>
      </p:sp>
      <p:sp>
        <p:nvSpPr>
          <p:cNvPr id="15" name="Shape 13"/>
          <p:cNvSpPr/>
          <p:nvPr/>
        </p:nvSpPr>
        <p:spPr>
          <a:xfrm>
            <a:off x="4362602" y="2084832"/>
            <a:ext cx="3466490" cy="73152"/>
          </a:xfrm>
          <a:prstGeom prst="rect">
            <a:avLst/>
          </a:prstGeom>
          <a:solidFill>
            <a:srgbClr val="007A27"/>
          </a:solidFill>
          <a:ln w="12700">
            <a:solidFill>
              <a:srgbClr val="007A27"/>
            </a:solidFill>
            <a:prstDash val="solid"/>
          </a:ln>
        </p:spPr>
      </p:sp>
      <p:sp>
        <p:nvSpPr>
          <p:cNvPr id="16" name="Text 14"/>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SUPPLY CHAIN</a:t>
            </a:r>
            <a:endParaRPr lang="en-US" sz="900" dirty="0"/>
          </a:p>
        </p:txBody>
      </p:sp>
      <p:sp>
        <p:nvSpPr>
          <p:cNvPr id="17" name="Text 15"/>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From migration to supplier action</a:t>
            </a:r>
            <a:endParaRPr lang="en-US" sz="1400" dirty="0"/>
          </a:p>
        </p:txBody>
      </p:sp>
      <p:sp>
        <p:nvSpPr>
          <p:cNvPr id="18" name="Text 16"/>
          <p:cNvSpPr/>
          <p:nvPr/>
        </p:nvSpPr>
        <p:spPr>
          <a:xfrm>
            <a:off x="456377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Hub migration and core experience: land in RA+ properly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carbon footprint: the commercial gap closer</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collection campaigns: ask suppliers the right questions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assurance: numbers that survive review</a:t>
            </a:r>
            <a:endParaRPr lang="en-US" sz="1100" dirty="0"/>
          </a:p>
        </p:txBody>
      </p:sp>
      <p:sp>
        <p:nvSpPr>
          <p:cNvPr id="19" name="Shape 17"/>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432188551324627e+74" dist="1.477396183774876e+74" dir="9.14039610015744e+87">
              <a:srgbClr val="0A1F12">
                <a:alpha val="1.2000000000000002e+89"/>
              </a:srgbClr>
            </a:outerShdw>
          </a:effectLst>
        </p:spPr>
      </p:sp>
      <p:sp>
        <p:nvSpPr>
          <p:cNvPr id="20" name="Shape 18"/>
          <p:cNvSpPr/>
          <p:nvPr/>
        </p:nvSpPr>
        <p:spPr>
          <a:xfrm>
            <a:off x="8103413" y="2084832"/>
            <a:ext cx="3466490" cy="73152"/>
          </a:xfrm>
          <a:prstGeom prst="rect">
            <a:avLst/>
          </a:prstGeom>
          <a:solidFill>
            <a:srgbClr val="FFB04C"/>
          </a:solidFill>
          <a:ln w="12700">
            <a:solidFill>
              <a:srgbClr val="FFB04C"/>
            </a:solidFill>
            <a:prstDash val="solid"/>
          </a:ln>
        </p:spPr>
      </p:sp>
      <p:sp>
        <p:nvSpPr>
          <p:cNvPr id="21" name="Text 19"/>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REPORTING AND COMPLIANCE</a:t>
            </a:r>
            <a:endParaRPr lang="en-US" sz="900" dirty="0"/>
          </a:p>
        </p:txBody>
      </p:sp>
      <p:sp>
        <p:nvSpPr>
          <p:cNvPr id="22" name="Text 20"/>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Stand up, migrate, automate</a:t>
            </a:r>
            <a:endParaRPr lang="en-US" sz="1400" dirty="0"/>
          </a:p>
        </p:txBody>
      </p:sp>
      <p:sp>
        <p:nvSpPr>
          <p:cNvPr id="23" name="Text 21"/>
          <p:cNvSpPr/>
          <p:nvPr/>
        </p:nvSpPr>
        <p:spPr>
          <a:xfrm>
            <a:off x="8304581"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 Library: entry point and scope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Indicator Management: foundation of data management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Management: reporting cycle workspace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Migration and assurance: prove it on Schneider first</a:t>
            </a:r>
            <a:endParaRPr lang="en-US" sz="1100" dirty="0"/>
          </a:p>
        </p:txBody>
      </p:sp>
      <p:sp>
        <p:nvSpPr>
          <p:cNvPr id="24" name="Shape 22"/>
          <p:cNvSpPr/>
          <p:nvPr/>
        </p:nvSpPr>
        <p:spPr>
          <a:xfrm>
            <a:off x="621792" y="6437376"/>
            <a:ext cx="10948111" cy="0"/>
          </a:xfrm>
          <a:prstGeom prst="line">
            <a:avLst/>
          </a:prstGeom>
          <a:noFill/>
          <a:ln w="9525">
            <a:solidFill>
              <a:srgbClr val="E2E6E2"/>
            </a:solidFill>
            <a:prstDash val="solid"/>
          </a:ln>
        </p:spPr>
      </p:sp>
      <p:sp>
        <p:nvSpPr>
          <p:cNvPr id="25" name="Text 23"/>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6" name="Text 24"/>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Every goal across the RA+ roadmap, part two</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remaining three products, same Now, Next, Later sequencing inside each section.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628879460182276e+78" dist="1.8762931533940924e+78" dir="5.484237660094465e+92">
              <a:srgbClr val="0A1F12">
                <a:alpha val="1.2000000000000001e+94"/>
              </a:srgbClr>
            </a:outerShdw>
          </a:effectLst>
        </p:spPr>
      </p:sp>
      <p:sp>
        <p:nvSpPr>
          <p:cNvPr id="10" name="Shape 8"/>
          <p:cNvSpPr/>
          <p:nvPr/>
        </p:nvSpPr>
        <p:spPr>
          <a:xfrm>
            <a:off x="621792" y="2084832"/>
            <a:ext cx="3466490" cy="73152"/>
          </a:xfrm>
          <a:prstGeom prst="rect">
            <a:avLst/>
          </a:prstGeom>
          <a:solidFill>
            <a:srgbClr val="275B7F"/>
          </a:solidFill>
          <a:ln w="12700">
            <a:solidFill>
              <a:srgbClr val="275B7F"/>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CLIMATE RISK</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From asset register to priced risk</a:t>
            </a:r>
            <a:endParaRPr lang="en-US" sz="1400" dirty="0"/>
          </a:p>
        </p:txBody>
      </p:sp>
      <p:sp>
        <p:nvSpPr>
          <p:cNvPr id="13" name="Text 11"/>
          <p:cNvSpPr/>
          <p:nvPr/>
        </p:nvSpPr>
        <p:spPr>
          <a:xfrm>
            <a:off x="82296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foundation: shared model before analytics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Exposure: first defensible risk output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Scenarios and value at risk: decision grade analysis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from risk to response</a:t>
            </a:r>
            <a:endParaRPr lang="en-US" sz="1100" dirty="0"/>
          </a:p>
        </p:txBody>
      </p:sp>
      <p:sp>
        <p:nvSpPr>
          <p:cNvPr id="14" name="Shape 12"/>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7.14867691443149e+82" dist="2.3828923048104974e+82" dir="3.2905425960566786e+97">
              <a:srgbClr val="0A1F12">
                <a:alpha val="1.2e+99"/>
              </a:srgbClr>
            </a:outerShdw>
          </a:effectLst>
        </p:spPr>
      </p:sp>
      <p:sp>
        <p:nvSpPr>
          <p:cNvPr id="15" name="Shape 13"/>
          <p:cNvSpPr/>
          <p:nvPr/>
        </p:nvSpPr>
        <p:spPr>
          <a:xfrm>
            <a:off x="4362602" y="2084832"/>
            <a:ext cx="3466490" cy="73152"/>
          </a:xfrm>
          <a:prstGeom prst="rect">
            <a:avLst/>
          </a:prstGeom>
          <a:solidFill>
            <a:srgbClr val="3DCD58"/>
          </a:solidFill>
          <a:ln w="12700">
            <a:solidFill>
              <a:srgbClr val="3DCD58"/>
            </a:solidFill>
            <a:prstDash val="solid"/>
          </a:ln>
        </p:spPr>
      </p:sp>
      <p:sp>
        <p:nvSpPr>
          <p:cNvPr id="16" name="Text 14"/>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STRATEGY</a:t>
            </a:r>
            <a:endParaRPr lang="en-US" sz="900" dirty="0"/>
          </a:p>
        </p:txBody>
      </p:sp>
      <p:sp>
        <p:nvSpPr>
          <p:cNvPr id="17" name="Text 15"/>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Close the plan to execution gap</a:t>
            </a:r>
            <a:endParaRPr lang="en-US" sz="1400" dirty="0"/>
          </a:p>
        </p:txBody>
      </p:sp>
      <p:sp>
        <p:nvSpPr>
          <p:cNvPr id="18" name="Text 16"/>
          <p:cNvSpPr/>
          <p:nvPr/>
        </p:nvSpPr>
        <p:spPr>
          <a:xfrm>
            <a:off x="456377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Planning foundation: targets, scenarios, initiatives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Actions execution: programs, projects, purchases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Recommendations: Sera guided next steps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Scale and governance: enterprise structures</a:t>
            </a:r>
            <a:endParaRPr lang="en-US" sz="1100" dirty="0"/>
          </a:p>
        </p:txBody>
      </p:sp>
      <p:sp>
        <p:nvSpPr>
          <p:cNvPr id="19" name="Shape 17"/>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9.078819681327992e+86" dist="3.0262732271093317e+86" dir="1.9743255576340073e+102">
              <a:srgbClr val="0A1F12">
                <a:alpha val="1.2e+104"/>
              </a:srgbClr>
            </a:outerShdw>
          </a:effectLst>
        </p:spPr>
      </p:sp>
      <p:sp>
        <p:nvSpPr>
          <p:cNvPr id="20" name="Shape 18"/>
          <p:cNvSpPr/>
          <p:nvPr/>
        </p:nvSpPr>
        <p:spPr>
          <a:xfrm>
            <a:off x="8103413" y="2084832"/>
            <a:ext cx="3466490" cy="73152"/>
          </a:xfrm>
          <a:prstGeom prst="rect">
            <a:avLst/>
          </a:prstGeom>
          <a:solidFill>
            <a:srgbClr val="007A27"/>
          </a:solidFill>
          <a:ln w="12700">
            <a:solidFill>
              <a:srgbClr val="007A27"/>
            </a:solidFill>
            <a:prstDash val="solid"/>
          </a:ln>
        </p:spPr>
      </p:sp>
      <p:sp>
        <p:nvSpPr>
          <p:cNvPr id="21" name="Text 19"/>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CORE PLATFORM</a:t>
            </a:r>
            <a:endParaRPr lang="en-US" sz="900" dirty="0"/>
          </a:p>
        </p:txBody>
      </p:sp>
      <p:sp>
        <p:nvSpPr>
          <p:cNvPr id="22" name="Text 20"/>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Built once, inherited by all</a:t>
            </a:r>
            <a:endParaRPr lang="en-US" sz="1400" dirty="0"/>
          </a:p>
        </p:txBody>
      </p:sp>
      <p:sp>
        <p:nvSpPr>
          <p:cNvPr id="23" name="Text 21"/>
          <p:cNvSpPr/>
          <p:nvPr/>
        </p:nvSpPr>
        <p:spPr>
          <a:xfrm>
            <a:off x="8304581"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Ingestion and quality: data in, trusted</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Ontology and calculation: one model, one engine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Application and analytics: one experience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Trust and reach: enterprise ready</a:t>
            </a:r>
            <a:endParaRPr lang="en-US" sz="1100" dirty="0"/>
          </a:p>
        </p:txBody>
      </p:sp>
      <p:sp>
        <p:nvSpPr>
          <p:cNvPr id="24" name="Shape 22"/>
          <p:cNvSpPr/>
          <p:nvPr/>
        </p:nvSpPr>
        <p:spPr>
          <a:xfrm>
            <a:off x="621792" y="6437376"/>
            <a:ext cx="10948111" cy="0"/>
          </a:xfrm>
          <a:prstGeom prst="line">
            <a:avLst/>
          </a:prstGeom>
          <a:noFill/>
          <a:ln w="9525">
            <a:solidFill>
              <a:srgbClr val="E2E6E2"/>
            </a:solidFill>
            <a:prstDash val="solid"/>
          </a:ln>
        </p:spPr>
      </p:sp>
      <p:sp>
        <p:nvSpPr>
          <p:cNvPr id="25" name="Text 23"/>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6" name="Text 24"/>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24 goals roll up into four moves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Read top to bottom, this is the RA+ thesis for 2026 and 2027.</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153010099528655e+91" dist="3.8433669984288512e+90" dir="1.1845953345804043e+107">
              <a:srgbClr val="0A1F12">
                <a:alpha val="1.2e+10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MOVE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Make the data trusted</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governed backbone.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Core ingestion, quality and ontology (Platform)</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Emission factors and calculation depth (Carbon)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Boundaries, rebaselining and governance (Carbon)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data quality assurance (Supply Chain)</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4643228264013918e+95" dist="4.8810760880046414e+94" dir="7.107572007482426e+111">
              <a:srgbClr val="0A1F12">
                <a:alpha val="1.1999999999999999e+11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MOVE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Cover the full sustainability and energy agenda</a:t>
            </a:r>
            <a:endParaRPr lang="en-US" sz="14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No material sustainability or energy domain left disconnected.</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Scope 3 category coverage to a full inventory (Carbon)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carbon footprint and transport (Supply Chain)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campaigns that feed the baseline (Supply Chain)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register and exposure across the estate (Climate Risk)</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8596899895297677e+99" dist="6.198966631765894e+98" dir="4.2645432044894554e+116">
              <a:srgbClr val="0A1F12">
                <a:alpha val="1.1999999999999998e+11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MOVE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Decide and act</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measurement to funded action.</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Scenarios, value at risk and adaptation (Climate Risk)</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initiatives and execution (Strategy)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recommendations and next steps (Strategy)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inventory and planning (Carbon)</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361806286702805e+103" dist="7.872687622342685e+102" dir="2.5587259226936733e+121">
              <a:srgbClr val="0A1F12">
                <a:alpha val="1.1999999999999998e+12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MOVE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Prove and disclose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Audit ready output, enterprise scale.</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Frameworks, indicators and disclosures (R&amp;C)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Schneider Electric migration as proof (R&amp;C)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and evidence lineage (Platform)</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Enterprise readiness and reach (Platform)</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2</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02</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2026 and 2027 roadmap on one board</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Now is Q3 2026, Next is Q4 2026, Later is 2027 and beyond.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platform, three years of converging value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Sustainability and Energy &amp; Efficiency on one board, both supported by the Platform. Indicative MVP and Full GA quarters.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1874520"/>
            <a:ext cx="10948111" cy="457200"/>
          </a:xfrm>
          <a:prstGeom prst="rect">
            <a:avLst/>
          </a:prstGeom>
          <a:solidFill>
            <a:srgbClr val="F1F3F2"/>
          </a:solidFill>
          <a:ln w="6350">
            <a:solidFill>
              <a:srgbClr val="E2E6E2"/>
            </a:solidFill>
            <a:prstDash val="solid"/>
          </a:ln>
        </p:spPr>
      </p:sp>
      <p:sp>
        <p:nvSpPr>
          <p:cNvPr id="10" name="Text 8"/>
          <p:cNvSpPr/>
          <p:nvPr/>
        </p:nvSpPr>
        <p:spPr>
          <a:xfrm>
            <a:off x="749808" y="2020824"/>
            <a:ext cx="2606040" cy="164592"/>
          </a:xfrm>
          <a:prstGeom prst="rect">
            <a:avLst/>
          </a:prstGeom>
          <a:noFill/>
          <a:ln/>
        </p:spPr>
        <p:txBody>
          <a:bodyPr wrap="square" lIns="0" tIns="0" rIns="0" bIns="0" rtlCol="0" anchor="ctr"/>
          <a:lstStyle/>
          <a:p>
            <a:pPr indent="0" marL="0">
              <a:buNone/>
            </a:pPr>
            <a:r>
              <a:rPr lang="en-US" sz="850" b="1" spc="100" kern="0" dirty="0">
                <a:solidFill>
                  <a:srgbClr val="5A625C"/>
                </a:solidFill>
                <a:latin typeface="Calibri" pitchFamily="34" charset="0"/>
                <a:ea typeface="Calibri" pitchFamily="34" charset="-122"/>
                <a:cs typeface="Calibri" pitchFamily="34" charset="-120"/>
              </a:rPr>
              <a:t>CAPABILITY</a:t>
            </a:r>
            <a:endParaRPr lang="en-US" sz="850" dirty="0"/>
          </a:p>
        </p:txBody>
      </p:sp>
      <p:sp>
        <p:nvSpPr>
          <p:cNvPr id="11" name="Text 9"/>
          <p:cNvSpPr/>
          <p:nvPr/>
        </p:nvSpPr>
        <p:spPr>
          <a:xfrm>
            <a:off x="3456432"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2026</a:t>
            </a:r>
            <a:endParaRPr lang="en-US" sz="1200" dirty="0"/>
          </a:p>
        </p:txBody>
      </p:sp>
      <p:sp>
        <p:nvSpPr>
          <p:cNvPr id="12" name="Text 10"/>
          <p:cNvSpPr/>
          <p:nvPr/>
        </p:nvSpPr>
        <p:spPr>
          <a:xfrm>
            <a:off x="3456432"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13" name="Text 11"/>
          <p:cNvSpPr/>
          <p:nvPr/>
        </p:nvSpPr>
        <p:spPr>
          <a:xfrm>
            <a:off x="413255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14" name="Text 12"/>
          <p:cNvSpPr/>
          <p:nvPr/>
        </p:nvSpPr>
        <p:spPr>
          <a:xfrm>
            <a:off x="4808677"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15" name="Text 13"/>
          <p:cNvSpPr/>
          <p:nvPr/>
        </p:nvSpPr>
        <p:spPr>
          <a:xfrm>
            <a:off x="5484800"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16" name="Text 14"/>
          <p:cNvSpPr/>
          <p:nvPr/>
        </p:nvSpPr>
        <p:spPr>
          <a:xfrm>
            <a:off x="6160922"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2027</a:t>
            </a:r>
            <a:endParaRPr lang="en-US" sz="1200" dirty="0"/>
          </a:p>
        </p:txBody>
      </p:sp>
      <p:sp>
        <p:nvSpPr>
          <p:cNvPr id="17" name="Text 15"/>
          <p:cNvSpPr/>
          <p:nvPr/>
        </p:nvSpPr>
        <p:spPr>
          <a:xfrm>
            <a:off x="6160922"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18" name="Text 16"/>
          <p:cNvSpPr/>
          <p:nvPr/>
        </p:nvSpPr>
        <p:spPr>
          <a:xfrm>
            <a:off x="683704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19" name="Text 17"/>
          <p:cNvSpPr/>
          <p:nvPr/>
        </p:nvSpPr>
        <p:spPr>
          <a:xfrm>
            <a:off x="7513168"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20" name="Text 18"/>
          <p:cNvSpPr/>
          <p:nvPr/>
        </p:nvSpPr>
        <p:spPr>
          <a:xfrm>
            <a:off x="8189290"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21" name="Text 19"/>
          <p:cNvSpPr/>
          <p:nvPr/>
        </p:nvSpPr>
        <p:spPr>
          <a:xfrm>
            <a:off x="8865413"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2028</a:t>
            </a:r>
            <a:endParaRPr lang="en-US" sz="1200" dirty="0"/>
          </a:p>
        </p:txBody>
      </p:sp>
      <p:sp>
        <p:nvSpPr>
          <p:cNvPr id="22" name="Text 20"/>
          <p:cNvSpPr/>
          <p:nvPr/>
        </p:nvSpPr>
        <p:spPr>
          <a:xfrm>
            <a:off x="8865413"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23" name="Text 21"/>
          <p:cNvSpPr/>
          <p:nvPr/>
        </p:nvSpPr>
        <p:spPr>
          <a:xfrm>
            <a:off x="954153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24" name="Text 22"/>
          <p:cNvSpPr/>
          <p:nvPr/>
        </p:nvSpPr>
        <p:spPr>
          <a:xfrm>
            <a:off x="10217658"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25" name="Text 23"/>
          <p:cNvSpPr/>
          <p:nvPr/>
        </p:nvSpPr>
        <p:spPr>
          <a:xfrm>
            <a:off x="10893781"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26" name="Shape 24"/>
          <p:cNvSpPr/>
          <p:nvPr/>
        </p:nvSpPr>
        <p:spPr>
          <a:xfrm>
            <a:off x="3456432" y="2103120"/>
            <a:ext cx="0" cy="3794760"/>
          </a:xfrm>
          <a:prstGeom prst="line">
            <a:avLst/>
          </a:prstGeom>
          <a:noFill/>
          <a:ln w="11430">
            <a:solidFill>
              <a:srgbClr val="C8CECA"/>
            </a:solidFill>
            <a:prstDash val="solid"/>
          </a:ln>
        </p:spPr>
      </p:sp>
      <p:sp>
        <p:nvSpPr>
          <p:cNvPr id="27" name="Shape 25"/>
          <p:cNvSpPr/>
          <p:nvPr/>
        </p:nvSpPr>
        <p:spPr>
          <a:xfrm>
            <a:off x="4132555" y="2103120"/>
            <a:ext cx="0" cy="3794760"/>
          </a:xfrm>
          <a:prstGeom prst="line">
            <a:avLst/>
          </a:prstGeom>
          <a:noFill/>
          <a:ln w="4445">
            <a:solidFill>
              <a:srgbClr val="E2E6E2"/>
            </a:solidFill>
            <a:prstDash val="solid"/>
          </a:ln>
        </p:spPr>
      </p:sp>
      <p:sp>
        <p:nvSpPr>
          <p:cNvPr id="28" name="Shape 26"/>
          <p:cNvSpPr/>
          <p:nvPr/>
        </p:nvSpPr>
        <p:spPr>
          <a:xfrm>
            <a:off x="4808677" y="2103120"/>
            <a:ext cx="0" cy="3794760"/>
          </a:xfrm>
          <a:prstGeom prst="line">
            <a:avLst/>
          </a:prstGeom>
          <a:noFill/>
          <a:ln w="4445">
            <a:solidFill>
              <a:srgbClr val="E2E6E2"/>
            </a:solidFill>
            <a:prstDash val="solid"/>
          </a:ln>
        </p:spPr>
      </p:sp>
      <p:sp>
        <p:nvSpPr>
          <p:cNvPr id="29" name="Shape 27"/>
          <p:cNvSpPr/>
          <p:nvPr/>
        </p:nvSpPr>
        <p:spPr>
          <a:xfrm>
            <a:off x="5484800" y="2103120"/>
            <a:ext cx="0" cy="3794760"/>
          </a:xfrm>
          <a:prstGeom prst="line">
            <a:avLst/>
          </a:prstGeom>
          <a:noFill/>
          <a:ln w="4445">
            <a:solidFill>
              <a:srgbClr val="E2E6E2"/>
            </a:solidFill>
            <a:prstDash val="solid"/>
          </a:ln>
        </p:spPr>
      </p:sp>
      <p:sp>
        <p:nvSpPr>
          <p:cNvPr id="30" name="Shape 28"/>
          <p:cNvSpPr/>
          <p:nvPr/>
        </p:nvSpPr>
        <p:spPr>
          <a:xfrm>
            <a:off x="6160922" y="2103120"/>
            <a:ext cx="0" cy="3794760"/>
          </a:xfrm>
          <a:prstGeom prst="line">
            <a:avLst/>
          </a:prstGeom>
          <a:noFill/>
          <a:ln w="11430">
            <a:solidFill>
              <a:srgbClr val="C8CECA"/>
            </a:solidFill>
            <a:prstDash val="solid"/>
          </a:ln>
        </p:spPr>
      </p:sp>
      <p:sp>
        <p:nvSpPr>
          <p:cNvPr id="31" name="Shape 29"/>
          <p:cNvSpPr/>
          <p:nvPr/>
        </p:nvSpPr>
        <p:spPr>
          <a:xfrm>
            <a:off x="6837045" y="2103120"/>
            <a:ext cx="0" cy="3794760"/>
          </a:xfrm>
          <a:prstGeom prst="line">
            <a:avLst/>
          </a:prstGeom>
          <a:noFill/>
          <a:ln w="4445">
            <a:solidFill>
              <a:srgbClr val="E2E6E2"/>
            </a:solidFill>
            <a:prstDash val="solid"/>
          </a:ln>
        </p:spPr>
      </p:sp>
      <p:sp>
        <p:nvSpPr>
          <p:cNvPr id="32" name="Shape 30"/>
          <p:cNvSpPr/>
          <p:nvPr/>
        </p:nvSpPr>
        <p:spPr>
          <a:xfrm>
            <a:off x="7513168" y="2103120"/>
            <a:ext cx="0" cy="3794760"/>
          </a:xfrm>
          <a:prstGeom prst="line">
            <a:avLst/>
          </a:prstGeom>
          <a:noFill/>
          <a:ln w="4445">
            <a:solidFill>
              <a:srgbClr val="E2E6E2"/>
            </a:solidFill>
            <a:prstDash val="solid"/>
          </a:ln>
        </p:spPr>
      </p:sp>
      <p:sp>
        <p:nvSpPr>
          <p:cNvPr id="33" name="Shape 31"/>
          <p:cNvSpPr/>
          <p:nvPr/>
        </p:nvSpPr>
        <p:spPr>
          <a:xfrm>
            <a:off x="8189290" y="2103120"/>
            <a:ext cx="0" cy="3794760"/>
          </a:xfrm>
          <a:prstGeom prst="line">
            <a:avLst/>
          </a:prstGeom>
          <a:noFill/>
          <a:ln w="4445">
            <a:solidFill>
              <a:srgbClr val="E2E6E2"/>
            </a:solidFill>
            <a:prstDash val="solid"/>
          </a:ln>
        </p:spPr>
      </p:sp>
      <p:sp>
        <p:nvSpPr>
          <p:cNvPr id="34" name="Shape 32"/>
          <p:cNvSpPr/>
          <p:nvPr/>
        </p:nvSpPr>
        <p:spPr>
          <a:xfrm>
            <a:off x="8865413" y="2103120"/>
            <a:ext cx="0" cy="3794760"/>
          </a:xfrm>
          <a:prstGeom prst="line">
            <a:avLst/>
          </a:prstGeom>
          <a:noFill/>
          <a:ln w="11430">
            <a:solidFill>
              <a:srgbClr val="C8CECA"/>
            </a:solidFill>
            <a:prstDash val="solid"/>
          </a:ln>
        </p:spPr>
      </p:sp>
      <p:sp>
        <p:nvSpPr>
          <p:cNvPr id="35" name="Shape 33"/>
          <p:cNvSpPr/>
          <p:nvPr/>
        </p:nvSpPr>
        <p:spPr>
          <a:xfrm>
            <a:off x="9541535" y="2103120"/>
            <a:ext cx="0" cy="3794760"/>
          </a:xfrm>
          <a:prstGeom prst="line">
            <a:avLst/>
          </a:prstGeom>
          <a:noFill/>
          <a:ln w="4445">
            <a:solidFill>
              <a:srgbClr val="E2E6E2"/>
            </a:solidFill>
            <a:prstDash val="solid"/>
          </a:ln>
        </p:spPr>
      </p:sp>
      <p:sp>
        <p:nvSpPr>
          <p:cNvPr id="36" name="Shape 34"/>
          <p:cNvSpPr/>
          <p:nvPr/>
        </p:nvSpPr>
        <p:spPr>
          <a:xfrm>
            <a:off x="10217658" y="2103120"/>
            <a:ext cx="0" cy="3794760"/>
          </a:xfrm>
          <a:prstGeom prst="line">
            <a:avLst/>
          </a:prstGeom>
          <a:noFill/>
          <a:ln w="4445">
            <a:solidFill>
              <a:srgbClr val="E2E6E2"/>
            </a:solidFill>
            <a:prstDash val="solid"/>
          </a:ln>
        </p:spPr>
      </p:sp>
      <p:sp>
        <p:nvSpPr>
          <p:cNvPr id="37" name="Shape 35"/>
          <p:cNvSpPr/>
          <p:nvPr/>
        </p:nvSpPr>
        <p:spPr>
          <a:xfrm>
            <a:off x="10893781" y="2103120"/>
            <a:ext cx="0" cy="3794760"/>
          </a:xfrm>
          <a:prstGeom prst="line">
            <a:avLst/>
          </a:prstGeom>
          <a:noFill/>
          <a:ln w="4445">
            <a:solidFill>
              <a:srgbClr val="E2E6E2"/>
            </a:solidFill>
            <a:prstDash val="solid"/>
          </a:ln>
        </p:spPr>
      </p:sp>
      <p:sp>
        <p:nvSpPr>
          <p:cNvPr id="38" name="Shape 36"/>
          <p:cNvSpPr/>
          <p:nvPr/>
        </p:nvSpPr>
        <p:spPr>
          <a:xfrm>
            <a:off x="11569903" y="2103120"/>
            <a:ext cx="0" cy="3794760"/>
          </a:xfrm>
          <a:prstGeom prst="line">
            <a:avLst/>
          </a:prstGeom>
          <a:noFill/>
          <a:ln w="11430">
            <a:solidFill>
              <a:srgbClr val="C8CECA"/>
            </a:solidFill>
            <a:prstDash val="solid"/>
          </a:ln>
        </p:spPr>
      </p:sp>
      <p:sp>
        <p:nvSpPr>
          <p:cNvPr id="39" name="Shape 37"/>
          <p:cNvSpPr/>
          <p:nvPr/>
        </p:nvSpPr>
        <p:spPr>
          <a:xfrm>
            <a:off x="621792" y="2331720"/>
            <a:ext cx="411480" cy="1097280"/>
          </a:xfrm>
          <a:prstGeom prst="rect">
            <a:avLst/>
          </a:prstGeom>
          <a:solidFill>
            <a:srgbClr val="3DCD58"/>
          </a:solidFill>
          <a:ln w="7620">
            <a:solidFill>
              <a:srgbClr val="FFFFFF"/>
            </a:solidFill>
            <a:prstDash val="solid"/>
          </a:ln>
        </p:spPr>
      </p:sp>
      <p:sp>
        <p:nvSpPr>
          <p:cNvPr id="40" name="Text 38"/>
          <p:cNvSpPr/>
          <p:nvPr/>
        </p:nvSpPr>
        <p:spPr>
          <a:xfrm>
            <a:off x="649224" y="2350008"/>
            <a:ext cx="356616" cy="1060704"/>
          </a:xfrm>
          <a:prstGeom prst="rect">
            <a:avLst/>
          </a:prstGeom>
          <a:noFill/>
          <a:ln/>
        </p:spPr>
        <p:txBody>
          <a:bodyPr wrap="square" lIns="0" tIns="0" rIns="0" bIns="0" rtlCol="0" anchor="ctr" vert="vert270">
            <a:normAutofit/>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SUSTAINABILITY</a:t>
            </a:r>
            <a:endParaRPr lang="en-US" sz="750" dirty="0"/>
          </a:p>
        </p:txBody>
      </p:sp>
      <p:sp>
        <p:nvSpPr>
          <p:cNvPr id="41" name="Shape 39"/>
          <p:cNvSpPr/>
          <p:nvPr/>
        </p:nvSpPr>
        <p:spPr>
          <a:xfrm>
            <a:off x="1033272" y="2606040"/>
            <a:ext cx="10536631" cy="0"/>
          </a:xfrm>
          <a:prstGeom prst="line">
            <a:avLst/>
          </a:prstGeom>
          <a:noFill/>
          <a:ln w="4445">
            <a:solidFill>
              <a:srgbClr val="E2E6E2"/>
            </a:solidFill>
            <a:prstDash val="solid"/>
          </a:ln>
        </p:spPr>
      </p:sp>
      <p:sp>
        <p:nvSpPr>
          <p:cNvPr id="42" name="Shape 40"/>
          <p:cNvSpPr/>
          <p:nvPr/>
        </p:nvSpPr>
        <p:spPr>
          <a:xfrm>
            <a:off x="1143000" y="2359152"/>
            <a:ext cx="45720" cy="219456"/>
          </a:xfrm>
          <a:prstGeom prst="roundRect">
            <a:avLst>
              <a:gd name="adj" fmla="val 60000"/>
            </a:avLst>
          </a:prstGeom>
          <a:solidFill>
            <a:srgbClr val="3DCD58"/>
          </a:solidFill>
          <a:ln w="12700">
            <a:solidFill>
              <a:srgbClr val="3DCD58"/>
            </a:solidFill>
            <a:prstDash val="solid"/>
          </a:ln>
        </p:spPr>
      </p:sp>
      <p:sp>
        <p:nvSpPr>
          <p:cNvPr id="43" name="Text 41"/>
          <p:cNvSpPr/>
          <p:nvPr/>
        </p:nvSpPr>
        <p:spPr>
          <a:xfrm>
            <a:off x="1243584" y="23225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Carbon Performance</a:t>
            </a:r>
            <a:endParaRPr lang="en-US" sz="950" dirty="0"/>
          </a:p>
        </p:txBody>
      </p:sp>
      <p:sp>
        <p:nvSpPr>
          <p:cNvPr id="44" name="Shape 42"/>
          <p:cNvSpPr/>
          <p:nvPr/>
        </p:nvSpPr>
        <p:spPr>
          <a:xfrm>
            <a:off x="3456432" y="2422246"/>
            <a:ext cx="2298817" cy="93269"/>
          </a:xfrm>
          <a:prstGeom prst="roundRect">
            <a:avLst>
              <a:gd name="adj" fmla="val 39216"/>
            </a:avLst>
          </a:prstGeom>
          <a:solidFill>
            <a:srgbClr val="3DCD58"/>
          </a:solidFill>
          <a:ln w="5080">
            <a:solidFill>
              <a:srgbClr val="3DCD58"/>
            </a:solidFill>
            <a:prstDash val="solid"/>
          </a:ln>
        </p:spPr>
      </p:sp>
      <p:sp>
        <p:nvSpPr>
          <p:cNvPr id="45" name="Shape 43"/>
          <p:cNvSpPr/>
          <p:nvPr/>
        </p:nvSpPr>
        <p:spPr>
          <a:xfrm>
            <a:off x="5755249" y="2422246"/>
            <a:ext cx="5814654"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46" name="Shape 44"/>
          <p:cNvSpPr/>
          <p:nvPr/>
        </p:nvSpPr>
        <p:spPr>
          <a:xfrm>
            <a:off x="5828401" y="2506370"/>
            <a:ext cx="63423" cy="-63423"/>
          </a:xfrm>
          <a:prstGeom prst="line">
            <a:avLst/>
          </a:prstGeom>
          <a:noFill/>
          <a:ln w="9525">
            <a:solidFill>
              <a:srgbClr val="3DCD58">
                <a:alpha val="84000"/>
              </a:srgbClr>
            </a:solidFill>
            <a:prstDash val="solid"/>
          </a:ln>
        </p:spPr>
      </p:sp>
      <p:sp>
        <p:nvSpPr>
          <p:cNvPr id="47" name="Shape 45"/>
          <p:cNvSpPr/>
          <p:nvPr/>
        </p:nvSpPr>
        <p:spPr>
          <a:xfrm>
            <a:off x="6102721" y="2506370"/>
            <a:ext cx="63423" cy="-63423"/>
          </a:xfrm>
          <a:prstGeom prst="line">
            <a:avLst/>
          </a:prstGeom>
          <a:noFill/>
          <a:ln w="9525">
            <a:solidFill>
              <a:srgbClr val="3DCD58">
                <a:alpha val="84000"/>
              </a:srgbClr>
            </a:solidFill>
            <a:prstDash val="solid"/>
          </a:ln>
        </p:spPr>
      </p:sp>
      <p:sp>
        <p:nvSpPr>
          <p:cNvPr id="48" name="Shape 46"/>
          <p:cNvSpPr/>
          <p:nvPr/>
        </p:nvSpPr>
        <p:spPr>
          <a:xfrm>
            <a:off x="6377041" y="2506370"/>
            <a:ext cx="63423" cy="-63423"/>
          </a:xfrm>
          <a:prstGeom prst="line">
            <a:avLst/>
          </a:prstGeom>
          <a:noFill/>
          <a:ln w="9525">
            <a:solidFill>
              <a:srgbClr val="3DCD58">
                <a:alpha val="84000"/>
              </a:srgbClr>
            </a:solidFill>
            <a:prstDash val="solid"/>
          </a:ln>
        </p:spPr>
      </p:sp>
      <p:sp>
        <p:nvSpPr>
          <p:cNvPr id="49" name="Shape 47"/>
          <p:cNvSpPr/>
          <p:nvPr/>
        </p:nvSpPr>
        <p:spPr>
          <a:xfrm>
            <a:off x="6651361" y="2506370"/>
            <a:ext cx="63423" cy="-63423"/>
          </a:xfrm>
          <a:prstGeom prst="line">
            <a:avLst/>
          </a:prstGeom>
          <a:noFill/>
          <a:ln w="9525">
            <a:solidFill>
              <a:srgbClr val="3DCD58">
                <a:alpha val="84000"/>
              </a:srgbClr>
            </a:solidFill>
            <a:prstDash val="solid"/>
          </a:ln>
        </p:spPr>
      </p:sp>
      <p:sp>
        <p:nvSpPr>
          <p:cNvPr id="50" name="Shape 48"/>
          <p:cNvSpPr/>
          <p:nvPr/>
        </p:nvSpPr>
        <p:spPr>
          <a:xfrm>
            <a:off x="6925681" y="2506370"/>
            <a:ext cx="63423" cy="-63423"/>
          </a:xfrm>
          <a:prstGeom prst="line">
            <a:avLst/>
          </a:prstGeom>
          <a:noFill/>
          <a:ln w="9525">
            <a:solidFill>
              <a:srgbClr val="3DCD58">
                <a:alpha val="84000"/>
              </a:srgbClr>
            </a:solidFill>
            <a:prstDash val="solid"/>
          </a:ln>
        </p:spPr>
      </p:sp>
      <p:sp>
        <p:nvSpPr>
          <p:cNvPr id="51" name="Shape 49"/>
          <p:cNvSpPr/>
          <p:nvPr/>
        </p:nvSpPr>
        <p:spPr>
          <a:xfrm>
            <a:off x="7200001" y="2506370"/>
            <a:ext cx="63423" cy="-63423"/>
          </a:xfrm>
          <a:prstGeom prst="line">
            <a:avLst/>
          </a:prstGeom>
          <a:noFill/>
          <a:ln w="9525">
            <a:solidFill>
              <a:srgbClr val="3DCD58">
                <a:alpha val="84000"/>
              </a:srgbClr>
            </a:solidFill>
            <a:prstDash val="solid"/>
          </a:ln>
        </p:spPr>
      </p:sp>
      <p:sp>
        <p:nvSpPr>
          <p:cNvPr id="52" name="Shape 50"/>
          <p:cNvSpPr/>
          <p:nvPr/>
        </p:nvSpPr>
        <p:spPr>
          <a:xfrm>
            <a:off x="7474321" y="2506370"/>
            <a:ext cx="63423" cy="-63423"/>
          </a:xfrm>
          <a:prstGeom prst="line">
            <a:avLst/>
          </a:prstGeom>
          <a:noFill/>
          <a:ln w="9525">
            <a:solidFill>
              <a:srgbClr val="3DCD58">
                <a:alpha val="84000"/>
              </a:srgbClr>
            </a:solidFill>
            <a:prstDash val="solid"/>
          </a:ln>
        </p:spPr>
      </p:sp>
      <p:sp>
        <p:nvSpPr>
          <p:cNvPr id="53" name="Shape 51"/>
          <p:cNvSpPr/>
          <p:nvPr/>
        </p:nvSpPr>
        <p:spPr>
          <a:xfrm>
            <a:off x="7748641" y="2506370"/>
            <a:ext cx="63423" cy="-63423"/>
          </a:xfrm>
          <a:prstGeom prst="line">
            <a:avLst/>
          </a:prstGeom>
          <a:noFill/>
          <a:ln w="9525">
            <a:solidFill>
              <a:srgbClr val="3DCD58">
                <a:alpha val="84000"/>
              </a:srgbClr>
            </a:solidFill>
            <a:prstDash val="solid"/>
          </a:ln>
        </p:spPr>
      </p:sp>
      <p:sp>
        <p:nvSpPr>
          <p:cNvPr id="54" name="Shape 52"/>
          <p:cNvSpPr/>
          <p:nvPr/>
        </p:nvSpPr>
        <p:spPr>
          <a:xfrm>
            <a:off x="8022961" y="2506370"/>
            <a:ext cx="63423" cy="-63423"/>
          </a:xfrm>
          <a:prstGeom prst="line">
            <a:avLst/>
          </a:prstGeom>
          <a:noFill/>
          <a:ln w="9525">
            <a:solidFill>
              <a:srgbClr val="3DCD58">
                <a:alpha val="84000"/>
              </a:srgbClr>
            </a:solidFill>
            <a:prstDash val="solid"/>
          </a:ln>
        </p:spPr>
      </p:sp>
      <p:sp>
        <p:nvSpPr>
          <p:cNvPr id="55" name="Shape 53"/>
          <p:cNvSpPr/>
          <p:nvPr/>
        </p:nvSpPr>
        <p:spPr>
          <a:xfrm>
            <a:off x="8297281" y="2506370"/>
            <a:ext cx="63423" cy="-63423"/>
          </a:xfrm>
          <a:prstGeom prst="line">
            <a:avLst/>
          </a:prstGeom>
          <a:noFill/>
          <a:ln w="9525">
            <a:solidFill>
              <a:srgbClr val="3DCD58">
                <a:alpha val="84000"/>
              </a:srgbClr>
            </a:solidFill>
            <a:prstDash val="solid"/>
          </a:ln>
        </p:spPr>
      </p:sp>
      <p:sp>
        <p:nvSpPr>
          <p:cNvPr id="56" name="Shape 54"/>
          <p:cNvSpPr/>
          <p:nvPr/>
        </p:nvSpPr>
        <p:spPr>
          <a:xfrm>
            <a:off x="8571601" y="2506370"/>
            <a:ext cx="63423" cy="-63423"/>
          </a:xfrm>
          <a:prstGeom prst="line">
            <a:avLst/>
          </a:prstGeom>
          <a:noFill/>
          <a:ln w="9525">
            <a:solidFill>
              <a:srgbClr val="3DCD58">
                <a:alpha val="84000"/>
              </a:srgbClr>
            </a:solidFill>
            <a:prstDash val="solid"/>
          </a:ln>
        </p:spPr>
      </p:sp>
      <p:sp>
        <p:nvSpPr>
          <p:cNvPr id="57" name="Shape 55"/>
          <p:cNvSpPr/>
          <p:nvPr/>
        </p:nvSpPr>
        <p:spPr>
          <a:xfrm>
            <a:off x="8845921" y="2506370"/>
            <a:ext cx="63423" cy="-63423"/>
          </a:xfrm>
          <a:prstGeom prst="line">
            <a:avLst/>
          </a:prstGeom>
          <a:noFill/>
          <a:ln w="9525">
            <a:solidFill>
              <a:srgbClr val="3DCD58">
                <a:alpha val="84000"/>
              </a:srgbClr>
            </a:solidFill>
            <a:prstDash val="solid"/>
          </a:ln>
        </p:spPr>
      </p:sp>
      <p:sp>
        <p:nvSpPr>
          <p:cNvPr id="58" name="Shape 56"/>
          <p:cNvSpPr/>
          <p:nvPr/>
        </p:nvSpPr>
        <p:spPr>
          <a:xfrm>
            <a:off x="9120241" y="2506370"/>
            <a:ext cx="63423" cy="-63423"/>
          </a:xfrm>
          <a:prstGeom prst="line">
            <a:avLst/>
          </a:prstGeom>
          <a:noFill/>
          <a:ln w="9525">
            <a:solidFill>
              <a:srgbClr val="3DCD58">
                <a:alpha val="84000"/>
              </a:srgbClr>
            </a:solidFill>
            <a:prstDash val="solid"/>
          </a:ln>
        </p:spPr>
      </p:sp>
      <p:sp>
        <p:nvSpPr>
          <p:cNvPr id="59" name="Shape 57"/>
          <p:cNvSpPr/>
          <p:nvPr/>
        </p:nvSpPr>
        <p:spPr>
          <a:xfrm>
            <a:off x="9394561" y="2506370"/>
            <a:ext cx="63423" cy="-63423"/>
          </a:xfrm>
          <a:prstGeom prst="line">
            <a:avLst/>
          </a:prstGeom>
          <a:noFill/>
          <a:ln w="9525">
            <a:solidFill>
              <a:srgbClr val="3DCD58">
                <a:alpha val="84000"/>
              </a:srgbClr>
            </a:solidFill>
            <a:prstDash val="solid"/>
          </a:ln>
        </p:spPr>
      </p:sp>
      <p:sp>
        <p:nvSpPr>
          <p:cNvPr id="60" name="Shape 58"/>
          <p:cNvSpPr/>
          <p:nvPr/>
        </p:nvSpPr>
        <p:spPr>
          <a:xfrm>
            <a:off x="9668881" y="2506370"/>
            <a:ext cx="63423" cy="-63423"/>
          </a:xfrm>
          <a:prstGeom prst="line">
            <a:avLst/>
          </a:prstGeom>
          <a:noFill/>
          <a:ln w="9525">
            <a:solidFill>
              <a:srgbClr val="3DCD58">
                <a:alpha val="84000"/>
              </a:srgbClr>
            </a:solidFill>
            <a:prstDash val="solid"/>
          </a:ln>
        </p:spPr>
      </p:sp>
      <p:sp>
        <p:nvSpPr>
          <p:cNvPr id="61" name="Shape 59"/>
          <p:cNvSpPr/>
          <p:nvPr/>
        </p:nvSpPr>
        <p:spPr>
          <a:xfrm>
            <a:off x="9943201" y="2506370"/>
            <a:ext cx="63423" cy="-63423"/>
          </a:xfrm>
          <a:prstGeom prst="line">
            <a:avLst/>
          </a:prstGeom>
          <a:noFill/>
          <a:ln w="9525">
            <a:solidFill>
              <a:srgbClr val="3DCD58">
                <a:alpha val="84000"/>
              </a:srgbClr>
            </a:solidFill>
            <a:prstDash val="solid"/>
          </a:ln>
        </p:spPr>
      </p:sp>
      <p:sp>
        <p:nvSpPr>
          <p:cNvPr id="62" name="Shape 60"/>
          <p:cNvSpPr/>
          <p:nvPr/>
        </p:nvSpPr>
        <p:spPr>
          <a:xfrm>
            <a:off x="10217521" y="2506370"/>
            <a:ext cx="63423" cy="-63423"/>
          </a:xfrm>
          <a:prstGeom prst="line">
            <a:avLst/>
          </a:prstGeom>
          <a:noFill/>
          <a:ln w="9525">
            <a:solidFill>
              <a:srgbClr val="3DCD58">
                <a:alpha val="84000"/>
              </a:srgbClr>
            </a:solidFill>
            <a:prstDash val="solid"/>
          </a:ln>
        </p:spPr>
      </p:sp>
      <p:sp>
        <p:nvSpPr>
          <p:cNvPr id="63" name="Shape 61"/>
          <p:cNvSpPr/>
          <p:nvPr/>
        </p:nvSpPr>
        <p:spPr>
          <a:xfrm>
            <a:off x="10491841" y="2506370"/>
            <a:ext cx="63423" cy="-63423"/>
          </a:xfrm>
          <a:prstGeom prst="line">
            <a:avLst/>
          </a:prstGeom>
          <a:noFill/>
          <a:ln w="9525">
            <a:solidFill>
              <a:srgbClr val="3DCD58">
                <a:alpha val="84000"/>
              </a:srgbClr>
            </a:solidFill>
            <a:prstDash val="solid"/>
          </a:ln>
        </p:spPr>
      </p:sp>
      <p:sp>
        <p:nvSpPr>
          <p:cNvPr id="64" name="Shape 62"/>
          <p:cNvSpPr/>
          <p:nvPr/>
        </p:nvSpPr>
        <p:spPr>
          <a:xfrm>
            <a:off x="10766161" y="2506370"/>
            <a:ext cx="63423" cy="-63423"/>
          </a:xfrm>
          <a:prstGeom prst="line">
            <a:avLst/>
          </a:prstGeom>
          <a:noFill/>
          <a:ln w="9525">
            <a:solidFill>
              <a:srgbClr val="3DCD58">
                <a:alpha val="84000"/>
              </a:srgbClr>
            </a:solidFill>
            <a:prstDash val="solid"/>
          </a:ln>
        </p:spPr>
      </p:sp>
      <p:sp>
        <p:nvSpPr>
          <p:cNvPr id="65" name="Shape 63"/>
          <p:cNvSpPr/>
          <p:nvPr/>
        </p:nvSpPr>
        <p:spPr>
          <a:xfrm>
            <a:off x="11040481" y="2506370"/>
            <a:ext cx="63423" cy="-63423"/>
          </a:xfrm>
          <a:prstGeom prst="line">
            <a:avLst/>
          </a:prstGeom>
          <a:noFill/>
          <a:ln w="9525">
            <a:solidFill>
              <a:srgbClr val="3DCD58">
                <a:alpha val="84000"/>
              </a:srgbClr>
            </a:solidFill>
            <a:prstDash val="solid"/>
          </a:ln>
        </p:spPr>
      </p:sp>
      <p:sp>
        <p:nvSpPr>
          <p:cNvPr id="66" name="Shape 64"/>
          <p:cNvSpPr/>
          <p:nvPr/>
        </p:nvSpPr>
        <p:spPr>
          <a:xfrm>
            <a:off x="11314801" y="2506370"/>
            <a:ext cx="63423" cy="-63423"/>
          </a:xfrm>
          <a:prstGeom prst="line">
            <a:avLst/>
          </a:prstGeom>
          <a:noFill/>
          <a:ln w="9525">
            <a:solidFill>
              <a:srgbClr val="3DCD58">
                <a:alpha val="84000"/>
              </a:srgbClr>
            </a:solidFill>
            <a:prstDash val="solid"/>
          </a:ln>
        </p:spPr>
      </p:sp>
      <p:sp>
        <p:nvSpPr>
          <p:cNvPr id="67" name="Shape 65"/>
          <p:cNvSpPr/>
          <p:nvPr/>
        </p:nvSpPr>
        <p:spPr>
          <a:xfrm>
            <a:off x="4338996" y="2404872"/>
            <a:ext cx="128016" cy="128016"/>
          </a:xfrm>
          <a:prstGeom prst="ellipse">
            <a:avLst/>
          </a:prstGeom>
          <a:solidFill>
            <a:srgbClr val="FFB04C"/>
          </a:solidFill>
          <a:ln w="12700">
            <a:solidFill>
              <a:srgbClr val="FFFFFF"/>
            </a:solidFill>
            <a:prstDash val="solid"/>
          </a:ln>
        </p:spPr>
      </p:sp>
      <p:sp>
        <p:nvSpPr>
          <p:cNvPr id="68" name="Shape 66"/>
          <p:cNvSpPr/>
          <p:nvPr/>
        </p:nvSpPr>
        <p:spPr>
          <a:xfrm>
            <a:off x="5691241" y="2404872"/>
            <a:ext cx="128016" cy="128016"/>
          </a:xfrm>
          <a:prstGeom prst="ellipse">
            <a:avLst/>
          </a:prstGeom>
          <a:solidFill>
            <a:srgbClr val="007A27"/>
          </a:solidFill>
          <a:ln w="12700">
            <a:solidFill>
              <a:srgbClr val="FFFFFF"/>
            </a:solidFill>
            <a:prstDash val="solid"/>
          </a:ln>
        </p:spPr>
      </p:sp>
      <p:sp>
        <p:nvSpPr>
          <p:cNvPr id="69" name="Shape 67"/>
          <p:cNvSpPr/>
          <p:nvPr/>
        </p:nvSpPr>
        <p:spPr>
          <a:xfrm>
            <a:off x="1033272" y="2606040"/>
            <a:ext cx="2423160" cy="274320"/>
          </a:xfrm>
          <a:prstGeom prst="rect">
            <a:avLst/>
          </a:prstGeom>
          <a:solidFill>
            <a:srgbClr val="F1F3F2">
              <a:alpha val="55000"/>
            </a:srgbClr>
          </a:solidFill>
          <a:ln w="12700">
            <a:solidFill>
              <a:srgbClr val="F1F3F2">
                <a:alpha val="0"/>
              </a:srgbClr>
            </a:solidFill>
            <a:prstDash val="solid"/>
          </a:ln>
        </p:spPr>
      </p:sp>
      <p:sp>
        <p:nvSpPr>
          <p:cNvPr id="70" name="Shape 68"/>
          <p:cNvSpPr/>
          <p:nvPr/>
        </p:nvSpPr>
        <p:spPr>
          <a:xfrm>
            <a:off x="1033272" y="2880360"/>
            <a:ext cx="10536631" cy="0"/>
          </a:xfrm>
          <a:prstGeom prst="line">
            <a:avLst/>
          </a:prstGeom>
          <a:noFill/>
          <a:ln w="4445">
            <a:solidFill>
              <a:srgbClr val="E2E6E2"/>
            </a:solidFill>
            <a:prstDash val="solid"/>
          </a:ln>
        </p:spPr>
      </p:sp>
      <p:sp>
        <p:nvSpPr>
          <p:cNvPr id="71" name="Shape 69"/>
          <p:cNvSpPr/>
          <p:nvPr/>
        </p:nvSpPr>
        <p:spPr>
          <a:xfrm>
            <a:off x="1143000" y="2633472"/>
            <a:ext cx="45720" cy="219456"/>
          </a:xfrm>
          <a:prstGeom prst="roundRect">
            <a:avLst>
              <a:gd name="adj" fmla="val 60000"/>
            </a:avLst>
          </a:prstGeom>
          <a:solidFill>
            <a:srgbClr val="3DCD58"/>
          </a:solidFill>
          <a:ln w="12700">
            <a:solidFill>
              <a:srgbClr val="3DCD58"/>
            </a:solidFill>
            <a:prstDash val="solid"/>
          </a:ln>
        </p:spPr>
      </p:sp>
      <p:sp>
        <p:nvSpPr>
          <p:cNvPr id="72" name="Text 70"/>
          <p:cNvSpPr/>
          <p:nvPr/>
        </p:nvSpPr>
        <p:spPr>
          <a:xfrm>
            <a:off x="1243584" y="25968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Supply Chain</a:t>
            </a:r>
            <a:endParaRPr lang="en-US" sz="950" dirty="0"/>
          </a:p>
        </p:txBody>
      </p:sp>
      <p:sp>
        <p:nvSpPr>
          <p:cNvPr id="73" name="Shape 71"/>
          <p:cNvSpPr/>
          <p:nvPr/>
        </p:nvSpPr>
        <p:spPr>
          <a:xfrm>
            <a:off x="3456432" y="2696566"/>
            <a:ext cx="338061" cy="93269"/>
          </a:xfrm>
          <a:prstGeom prst="roundRect">
            <a:avLst>
              <a:gd name="adj" fmla="val 39216"/>
            </a:avLst>
          </a:prstGeom>
          <a:solidFill>
            <a:srgbClr val="3DCD58"/>
          </a:solidFill>
          <a:ln w="5080">
            <a:solidFill>
              <a:srgbClr val="3DCD58"/>
            </a:solidFill>
            <a:prstDash val="solid"/>
          </a:ln>
        </p:spPr>
      </p:sp>
      <p:sp>
        <p:nvSpPr>
          <p:cNvPr id="74" name="Shape 72"/>
          <p:cNvSpPr/>
          <p:nvPr/>
        </p:nvSpPr>
        <p:spPr>
          <a:xfrm>
            <a:off x="3794493" y="2696566"/>
            <a:ext cx="7775410"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75" name="Shape 73"/>
          <p:cNvSpPr/>
          <p:nvPr/>
        </p:nvSpPr>
        <p:spPr>
          <a:xfrm>
            <a:off x="3867645" y="2780690"/>
            <a:ext cx="63423" cy="-63423"/>
          </a:xfrm>
          <a:prstGeom prst="line">
            <a:avLst/>
          </a:prstGeom>
          <a:noFill/>
          <a:ln w="9525">
            <a:solidFill>
              <a:srgbClr val="3DCD58">
                <a:alpha val="84000"/>
              </a:srgbClr>
            </a:solidFill>
            <a:prstDash val="solid"/>
          </a:ln>
        </p:spPr>
      </p:sp>
      <p:sp>
        <p:nvSpPr>
          <p:cNvPr id="76" name="Shape 74"/>
          <p:cNvSpPr/>
          <p:nvPr/>
        </p:nvSpPr>
        <p:spPr>
          <a:xfrm>
            <a:off x="4141965" y="2780690"/>
            <a:ext cx="63423" cy="-63423"/>
          </a:xfrm>
          <a:prstGeom prst="line">
            <a:avLst/>
          </a:prstGeom>
          <a:noFill/>
          <a:ln w="9525">
            <a:solidFill>
              <a:srgbClr val="3DCD58">
                <a:alpha val="84000"/>
              </a:srgbClr>
            </a:solidFill>
            <a:prstDash val="solid"/>
          </a:ln>
        </p:spPr>
      </p:sp>
      <p:sp>
        <p:nvSpPr>
          <p:cNvPr id="77" name="Shape 75"/>
          <p:cNvSpPr/>
          <p:nvPr/>
        </p:nvSpPr>
        <p:spPr>
          <a:xfrm>
            <a:off x="4416285" y="2780690"/>
            <a:ext cx="63423" cy="-63423"/>
          </a:xfrm>
          <a:prstGeom prst="line">
            <a:avLst/>
          </a:prstGeom>
          <a:noFill/>
          <a:ln w="9525">
            <a:solidFill>
              <a:srgbClr val="3DCD58">
                <a:alpha val="84000"/>
              </a:srgbClr>
            </a:solidFill>
            <a:prstDash val="solid"/>
          </a:ln>
        </p:spPr>
      </p:sp>
      <p:sp>
        <p:nvSpPr>
          <p:cNvPr id="78" name="Shape 76"/>
          <p:cNvSpPr/>
          <p:nvPr/>
        </p:nvSpPr>
        <p:spPr>
          <a:xfrm>
            <a:off x="4690605" y="2780690"/>
            <a:ext cx="63423" cy="-63423"/>
          </a:xfrm>
          <a:prstGeom prst="line">
            <a:avLst/>
          </a:prstGeom>
          <a:noFill/>
          <a:ln w="9525">
            <a:solidFill>
              <a:srgbClr val="3DCD58">
                <a:alpha val="84000"/>
              </a:srgbClr>
            </a:solidFill>
            <a:prstDash val="solid"/>
          </a:ln>
        </p:spPr>
      </p:sp>
      <p:sp>
        <p:nvSpPr>
          <p:cNvPr id="79" name="Shape 77"/>
          <p:cNvSpPr/>
          <p:nvPr/>
        </p:nvSpPr>
        <p:spPr>
          <a:xfrm>
            <a:off x="4964925" y="2780690"/>
            <a:ext cx="63423" cy="-63423"/>
          </a:xfrm>
          <a:prstGeom prst="line">
            <a:avLst/>
          </a:prstGeom>
          <a:noFill/>
          <a:ln w="9525">
            <a:solidFill>
              <a:srgbClr val="3DCD58">
                <a:alpha val="84000"/>
              </a:srgbClr>
            </a:solidFill>
            <a:prstDash val="solid"/>
          </a:ln>
        </p:spPr>
      </p:sp>
      <p:sp>
        <p:nvSpPr>
          <p:cNvPr id="80" name="Shape 78"/>
          <p:cNvSpPr/>
          <p:nvPr/>
        </p:nvSpPr>
        <p:spPr>
          <a:xfrm>
            <a:off x="5239245" y="2780690"/>
            <a:ext cx="63423" cy="-63423"/>
          </a:xfrm>
          <a:prstGeom prst="line">
            <a:avLst/>
          </a:prstGeom>
          <a:noFill/>
          <a:ln w="9525">
            <a:solidFill>
              <a:srgbClr val="3DCD58">
                <a:alpha val="84000"/>
              </a:srgbClr>
            </a:solidFill>
            <a:prstDash val="solid"/>
          </a:ln>
        </p:spPr>
      </p:sp>
      <p:sp>
        <p:nvSpPr>
          <p:cNvPr id="81" name="Shape 79"/>
          <p:cNvSpPr/>
          <p:nvPr/>
        </p:nvSpPr>
        <p:spPr>
          <a:xfrm>
            <a:off x="5513565" y="2780690"/>
            <a:ext cx="63423" cy="-63423"/>
          </a:xfrm>
          <a:prstGeom prst="line">
            <a:avLst/>
          </a:prstGeom>
          <a:noFill/>
          <a:ln w="9525">
            <a:solidFill>
              <a:srgbClr val="3DCD58">
                <a:alpha val="84000"/>
              </a:srgbClr>
            </a:solidFill>
            <a:prstDash val="solid"/>
          </a:ln>
        </p:spPr>
      </p:sp>
      <p:sp>
        <p:nvSpPr>
          <p:cNvPr id="82" name="Shape 80"/>
          <p:cNvSpPr/>
          <p:nvPr/>
        </p:nvSpPr>
        <p:spPr>
          <a:xfrm>
            <a:off x="5787885" y="2780690"/>
            <a:ext cx="63423" cy="-63423"/>
          </a:xfrm>
          <a:prstGeom prst="line">
            <a:avLst/>
          </a:prstGeom>
          <a:noFill/>
          <a:ln w="9525">
            <a:solidFill>
              <a:srgbClr val="3DCD58">
                <a:alpha val="84000"/>
              </a:srgbClr>
            </a:solidFill>
            <a:prstDash val="solid"/>
          </a:ln>
        </p:spPr>
      </p:sp>
      <p:sp>
        <p:nvSpPr>
          <p:cNvPr id="83" name="Shape 81"/>
          <p:cNvSpPr/>
          <p:nvPr/>
        </p:nvSpPr>
        <p:spPr>
          <a:xfrm>
            <a:off x="6062205" y="2780690"/>
            <a:ext cx="63423" cy="-63423"/>
          </a:xfrm>
          <a:prstGeom prst="line">
            <a:avLst/>
          </a:prstGeom>
          <a:noFill/>
          <a:ln w="9525">
            <a:solidFill>
              <a:srgbClr val="3DCD58">
                <a:alpha val="84000"/>
              </a:srgbClr>
            </a:solidFill>
            <a:prstDash val="solid"/>
          </a:ln>
        </p:spPr>
      </p:sp>
      <p:sp>
        <p:nvSpPr>
          <p:cNvPr id="84" name="Shape 82"/>
          <p:cNvSpPr/>
          <p:nvPr/>
        </p:nvSpPr>
        <p:spPr>
          <a:xfrm>
            <a:off x="6336525" y="2780690"/>
            <a:ext cx="63423" cy="-63423"/>
          </a:xfrm>
          <a:prstGeom prst="line">
            <a:avLst/>
          </a:prstGeom>
          <a:noFill/>
          <a:ln w="9525">
            <a:solidFill>
              <a:srgbClr val="3DCD58">
                <a:alpha val="84000"/>
              </a:srgbClr>
            </a:solidFill>
            <a:prstDash val="solid"/>
          </a:ln>
        </p:spPr>
      </p:sp>
      <p:sp>
        <p:nvSpPr>
          <p:cNvPr id="85" name="Shape 83"/>
          <p:cNvSpPr/>
          <p:nvPr/>
        </p:nvSpPr>
        <p:spPr>
          <a:xfrm>
            <a:off x="6610845" y="2780690"/>
            <a:ext cx="63423" cy="-63423"/>
          </a:xfrm>
          <a:prstGeom prst="line">
            <a:avLst/>
          </a:prstGeom>
          <a:noFill/>
          <a:ln w="9525">
            <a:solidFill>
              <a:srgbClr val="3DCD58">
                <a:alpha val="84000"/>
              </a:srgbClr>
            </a:solidFill>
            <a:prstDash val="solid"/>
          </a:ln>
        </p:spPr>
      </p:sp>
      <p:sp>
        <p:nvSpPr>
          <p:cNvPr id="86" name="Shape 84"/>
          <p:cNvSpPr/>
          <p:nvPr/>
        </p:nvSpPr>
        <p:spPr>
          <a:xfrm>
            <a:off x="6885165" y="2780690"/>
            <a:ext cx="63423" cy="-63423"/>
          </a:xfrm>
          <a:prstGeom prst="line">
            <a:avLst/>
          </a:prstGeom>
          <a:noFill/>
          <a:ln w="9525">
            <a:solidFill>
              <a:srgbClr val="3DCD58">
                <a:alpha val="84000"/>
              </a:srgbClr>
            </a:solidFill>
            <a:prstDash val="solid"/>
          </a:ln>
        </p:spPr>
      </p:sp>
      <p:sp>
        <p:nvSpPr>
          <p:cNvPr id="87" name="Shape 85"/>
          <p:cNvSpPr/>
          <p:nvPr/>
        </p:nvSpPr>
        <p:spPr>
          <a:xfrm>
            <a:off x="7159485" y="2780690"/>
            <a:ext cx="63423" cy="-63423"/>
          </a:xfrm>
          <a:prstGeom prst="line">
            <a:avLst/>
          </a:prstGeom>
          <a:noFill/>
          <a:ln w="9525">
            <a:solidFill>
              <a:srgbClr val="3DCD58">
                <a:alpha val="84000"/>
              </a:srgbClr>
            </a:solidFill>
            <a:prstDash val="solid"/>
          </a:ln>
        </p:spPr>
      </p:sp>
      <p:sp>
        <p:nvSpPr>
          <p:cNvPr id="88" name="Shape 86"/>
          <p:cNvSpPr/>
          <p:nvPr/>
        </p:nvSpPr>
        <p:spPr>
          <a:xfrm>
            <a:off x="7433805" y="2780690"/>
            <a:ext cx="63423" cy="-63423"/>
          </a:xfrm>
          <a:prstGeom prst="line">
            <a:avLst/>
          </a:prstGeom>
          <a:noFill/>
          <a:ln w="9525">
            <a:solidFill>
              <a:srgbClr val="3DCD58">
                <a:alpha val="84000"/>
              </a:srgbClr>
            </a:solidFill>
            <a:prstDash val="solid"/>
          </a:ln>
        </p:spPr>
      </p:sp>
      <p:sp>
        <p:nvSpPr>
          <p:cNvPr id="89" name="Shape 87"/>
          <p:cNvSpPr/>
          <p:nvPr/>
        </p:nvSpPr>
        <p:spPr>
          <a:xfrm>
            <a:off x="7708125" y="2780690"/>
            <a:ext cx="63423" cy="-63423"/>
          </a:xfrm>
          <a:prstGeom prst="line">
            <a:avLst/>
          </a:prstGeom>
          <a:noFill/>
          <a:ln w="9525">
            <a:solidFill>
              <a:srgbClr val="3DCD58">
                <a:alpha val="84000"/>
              </a:srgbClr>
            </a:solidFill>
            <a:prstDash val="solid"/>
          </a:ln>
        </p:spPr>
      </p:sp>
      <p:sp>
        <p:nvSpPr>
          <p:cNvPr id="90" name="Shape 88"/>
          <p:cNvSpPr/>
          <p:nvPr/>
        </p:nvSpPr>
        <p:spPr>
          <a:xfrm>
            <a:off x="7982445" y="2780690"/>
            <a:ext cx="63423" cy="-63423"/>
          </a:xfrm>
          <a:prstGeom prst="line">
            <a:avLst/>
          </a:prstGeom>
          <a:noFill/>
          <a:ln w="9525">
            <a:solidFill>
              <a:srgbClr val="3DCD58">
                <a:alpha val="84000"/>
              </a:srgbClr>
            </a:solidFill>
            <a:prstDash val="solid"/>
          </a:ln>
        </p:spPr>
      </p:sp>
      <p:sp>
        <p:nvSpPr>
          <p:cNvPr id="91" name="Shape 89"/>
          <p:cNvSpPr/>
          <p:nvPr/>
        </p:nvSpPr>
        <p:spPr>
          <a:xfrm>
            <a:off x="8256765" y="2780690"/>
            <a:ext cx="63423" cy="-63423"/>
          </a:xfrm>
          <a:prstGeom prst="line">
            <a:avLst/>
          </a:prstGeom>
          <a:noFill/>
          <a:ln w="9525">
            <a:solidFill>
              <a:srgbClr val="3DCD58">
                <a:alpha val="84000"/>
              </a:srgbClr>
            </a:solidFill>
            <a:prstDash val="solid"/>
          </a:ln>
        </p:spPr>
      </p:sp>
      <p:sp>
        <p:nvSpPr>
          <p:cNvPr id="92" name="Shape 90"/>
          <p:cNvSpPr/>
          <p:nvPr/>
        </p:nvSpPr>
        <p:spPr>
          <a:xfrm>
            <a:off x="8531085" y="2780690"/>
            <a:ext cx="63423" cy="-63423"/>
          </a:xfrm>
          <a:prstGeom prst="line">
            <a:avLst/>
          </a:prstGeom>
          <a:noFill/>
          <a:ln w="9525">
            <a:solidFill>
              <a:srgbClr val="3DCD58">
                <a:alpha val="84000"/>
              </a:srgbClr>
            </a:solidFill>
            <a:prstDash val="solid"/>
          </a:ln>
        </p:spPr>
      </p:sp>
      <p:sp>
        <p:nvSpPr>
          <p:cNvPr id="93" name="Shape 91"/>
          <p:cNvSpPr/>
          <p:nvPr/>
        </p:nvSpPr>
        <p:spPr>
          <a:xfrm>
            <a:off x="8805405" y="2780690"/>
            <a:ext cx="63423" cy="-63423"/>
          </a:xfrm>
          <a:prstGeom prst="line">
            <a:avLst/>
          </a:prstGeom>
          <a:noFill/>
          <a:ln w="9525">
            <a:solidFill>
              <a:srgbClr val="3DCD58">
                <a:alpha val="84000"/>
              </a:srgbClr>
            </a:solidFill>
            <a:prstDash val="solid"/>
          </a:ln>
        </p:spPr>
      </p:sp>
      <p:sp>
        <p:nvSpPr>
          <p:cNvPr id="94" name="Shape 92"/>
          <p:cNvSpPr/>
          <p:nvPr/>
        </p:nvSpPr>
        <p:spPr>
          <a:xfrm>
            <a:off x="9079725" y="2780690"/>
            <a:ext cx="63423" cy="-63423"/>
          </a:xfrm>
          <a:prstGeom prst="line">
            <a:avLst/>
          </a:prstGeom>
          <a:noFill/>
          <a:ln w="9525">
            <a:solidFill>
              <a:srgbClr val="3DCD58">
                <a:alpha val="84000"/>
              </a:srgbClr>
            </a:solidFill>
            <a:prstDash val="solid"/>
          </a:ln>
        </p:spPr>
      </p:sp>
      <p:sp>
        <p:nvSpPr>
          <p:cNvPr id="95" name="Shape 93"/>
          <p:cNvSpPr/>
          <p:nvPr/>
        </p:nvSpPr>
        <p:spPr>
          <a:xfrm>
            <a:off x="9354045" y="2780690"/>
            <a:ext cx="63423" cy="-63423"/>
          </a:xfrm>
          <a:prstGeom prst="line">
            <a:avLst/>
          </a:prstGeom>
          <a:noFill/>
          <a:ln w="9525">
            <a:solidFill>
              <a:srgbClr val="3DCD58">
                <a:alpha val="84000"/>
              </a:srgbClr>
            </a:solidFill>
            <a:prstDash val="solid"/>
          </a:ln>
        </p:spPr>
      </p:sp>
      <p:sp>
        <p:nvSpPr>
          <p:cNvPr id="96" name="Shape 94"/>
          <p:cNvSpPr/>
          <p:nvPr/>
        </p:nvSpPr>
        <p:spPr>
          <a:xfrm>
            <a:off x="9628365" y="2780690"/>
            <a:ext cx="63423" cy="-63423"/>
          </a:xfrm>
          <a:prstGeom prst="line">
            <a:avLst/>
          </a:prstGeom>
          <a:noFill/>
          <a:ln w="9525">
            <a:solidFill>
              <a:srgbClr val="3DCD58">
                <a:alpha val="84000"/>
              </a:srgbClr>
            </a:solidFill>
            <a:prstDash val="solid"/>
          </a:ln>
        </p:spPr>
      </p:sp>
      <p:sp>
        <p:nvSpPr>
          <p:cNvPr id="97" name="Shape 95"/>
          <p:cNvSpPr/>
          <p:nvPr/>
        </p:nvSpPr>
        <p:spPr>
          <a:xfrm>
            <a:off x="9902685" y="2780690"/>
            <a:ext cx="63423" cy="-63423"/>
          </a:xfrm>
          <a:prstGeom prst="line">
            <a:avLst/>
          </a:prstGeom>
          <a:noFill/>
          <a:ln w="9525">
            <a:solidFill>
              <a:srgbClr val="3DCD58">
                <a:alpha val="84000"/>
              </a:srgbClr>
            </a:solidFill>
            <a:prstDash val="solid"/>
          </a:ln>
        </p:spPr>
      </p:sp>
      <p:sp>
        <p:nvSpPr>
          <p:cNvPr id="98" name="Shape 96"/>
          <p:cNvSpPr/>
          <p:nvPr/>
        </p:nvSpPr>
        <p:spPr>
          <a:xfrm>
            <a:off x="10177005" y="2780690"/>
            <a:ext cx="63423" cy="-63423"/>
          </a:xfrm>
          <a:prstGeom prst="line">
            <a:avLst/>
          </a:prstGeom>
          <a:noFill/>
          <a:ln w="9525">
            <a:solidFill>
              <a:srgbClr val="3DCD58">
                <a:alpha val="84000"/>
              </a:srgbClr>
            </a:solidFill>
            <a:prstDash val="solid"/>
          </a:ln>
        </p:spPr>
      </p:sp>
      <p:sp>
        <p:nvSpPr>
          <p:cNvPr id="99" name="Shape 97"/>
          <p:cNvSpPr/>
          <p:nvPr/>
        </p:nvSpPr>
        <p:spPr>
          <a:xfrm>
            <a:off x="10451325" y="2780690"/>
            <a:ext cx="63423" cy="-63423"/>
          </a:xfrm>
          <a:prstGeom prst="line">
            <a:avLst/>
          </a:prstGeom>
          <a:noFill/>
          <a:ln w="9525">
            <a:solidFill>
              <a:srgbClr val="3DCD58">
                <a:alpha val="84000"/>
              </a:srgbClr>
            </a:solidFill>
            <a:prstDash val="solid"/>
          </a:ln>
        </p:spPr>
      </p:sp>
      <p:sp>
        <p:nvSpPr>
          <p:cNvPr id="100" name="Shape 98"/>
          <p:cNvSpPr/>
          <p:nvPr/>
        </p:nvSpPr>
        <p:spPr>
          <a:xfrm>
            <a:off x="10725645" y="2780690"/>
            <a:ext cx="63423" cy="-63423"/>
          </a:xfrm>
          <a:prstGeom prst="line">
            <a:avLst/>
          </a:prstGeom>
          <a:noFill/>
          <a:ln w="9525">
            <a:solidFill>
              <a:srgbClr val="3DCD58">
                <a:alpha val="84000"/>
              </a:srgbClr>
            </a:solidFill>
            <a:prstDash val="solid"/>
          </a:ln>
        </p:spPr>
      </p:sp>
      <p:sp>
        <p:nvSpPr>
          <p:cNvPr id="101" name="Shape 99"/>
          <p:cNvSpPr/>
          <p:nvPr/>
        </p:nvSpPr>
        <p:spPr>
          <a:xfrm>
            <a:off x="10999965" y="2780690"/>
            <a:ext cx="63423" cy="-63423"/>
          </a:xfrm>
          <a:prstGeom prst="line">
            <a:avLst/>
          </a:prstGeom>
          <a:noFill/>
          <a:ln w="9525">
            <a:solidFill>
              <a:srgbClr val="3DCD58">
                <a:alpha val="84000"/>
              </a:srgbClr>
            </a:solidFill>
            <a:prstDash val="solid"/>
          </a:ln>
        </p:spPr>
      </p:sp>
      <p:sp>
        <p:nvSpPr>
          <p:cNvPr id="102" name="Shape 100"/>
          <p:cNvSpPr/>
          <p:nvPr/>
        </p:nvSpPr>
        <p:spPr>
          <a:xfrm>
            <a:off x="11274285" y="2780690"/>
            <a:ext cx="63423" cy="-63423"/>
          </a:xfrm>
          <a:prstGeom prst="line">
            <a:avLst/>
          </a:prstGeom>
          <a:noFill/>
          <a:ln w="9525">
            <a:solidFill>
              <a:srgbClr val="3DCD58">
                <a:alpha val="84000"/>
              </a:srgbClr>
            </a:solidFill>
            <a:prstDash val="solid"/>
          </a:ln>
        </p:spPr>
      </p:sp>
      <p:sp>
        <p:nvSpPr>
          <p:cNvPr id="103" name="Shape 101"/>
          <p:cNvSpPr/>
          <p:nvPr/>
        </p:nvSpPr>
        <p:spPr>
          <a:xfrm>
            <a:off x="3730485" y="2679192"/>
            <a:ext cx="128016" cy="128016"/>
          </a:xfrm>
          <a:prstGeom prst="ellipse">
            <a:avLst/>
          </a:prstGeom>
          <a:solidFill>
            <a:srgbClr val="007A27"/>
          </a:solidFill>
          <a:ln w="12700">
            <a:solidFill>
              <a:srgbClr val="FFFFFF"/>
            </a:solidFill>
            <a:prstDash val="solid"/>
          </a:ln>
        </p:spPr>
      </p:sp>
      <p:sp>
        <p:nvSpPr>
          <p:cNvPr id="104" name="Shape 102"/>
          <p:cNvSpPr/>
          <p:nvPr/>
        </p:nvSpPr>
        <p:spPr>
          <a:xfrm>
            <a:off x="1033272" y="3154680"/>
            <a:ext cx="10536631" cy="0"/>
          </a:xfrm>
          <a:prstGeom prst="line">
            <a:avLst/>
          </a:prstGeom>
          <a:noFill/>
          <a:ln w="4445">
            <a:solidFill>
              <a:srgbClr val="E2E6E2"/>
            </a:solidFill>
            <a:prstDash val="solid"/>
          </a:ln>
        </p:spPr>
      </p:sp>
      <p:sp>
        <p:nvSpPr>
          <p:cNvPr id="105" name="Shape 103"/>
          <p:cNvSpPr/>
          <p:nvPr/>
        </p:nvSpPr>
        <p:spPr>
          <a:xfrm>
            <a:off x="1143000" y="2907792"/>
            <a:ext cx="45720" cy="219456"/>
          </a:xfrm>
          <a:prstGeom prst="roundRect">
            <a:avLst>
              <a:gd name="adj" fmla="val 60000"/>
            </a:avLst>
          </a:prstGeom>
          <a:solidFill>
            <a:srgbClr val="3DCD58"/>
          </a:solidFill>
          <a:ln w="12700">
            <a:solidFill>
              <a:srgbClr val="3DCD58"/>
            </a:solidFill>
            <a:prstDash val="solid"/>
          </a:ln>
        </p:spPr>
      </p:sp>
      <p:sp>
        <p:nvSpPr>
          <p:cNvPr id="106" name="Text 104"/>
          <p:cNvSpPr/>
          <p:nvPr/>
        </p:nvSpPr>
        <p:spPr>
          <a:xfrm>
            <a:off x="1243584" y="28712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Climate Risk</a:t>
            </a:r>
            <a:endParaRPr lang="en-US" sz="950" dirty="0"/>
          </a:p>
        </p:txBody>
      </p:sp>
      <p:sp>
        <p:nvSpPr>
          <p:cNvPr id="107" name="Shape 105"/>
          <p:cNvSpPr/>
          <p:nvPr/>
        </p:nvSpPr>
        <p:spPr>
          <a:xfrm>
            <a:off x="3456432" y="2970886"/>
            <a:ext cx="2839715" cy="93269"/>
          </a:xfrm>
          <a:prstGeom prst="roundRect">
            <a:avLst>
              <a:gd name="adj" fmla="val 39216"/>
            </a:avLst>
          </a:prstGeom>
          <a:solidFill>
            <a:srgbClr val="3DCD58"/>
          </a:solidFill>
          <a:ln w="5080">
            <a:solidFill>
              <a:srgbClr val="3DCD58"/>
            </a:solidFill>
            <a:prstDash val="solid"/>
          </a:ln>
        </p:spPr>
      </p:sp>
      <p:sp>
        <p:nvSpPr>
          <p:cNvPr id="108" name="Shape 106"/>
          <p:cNvSpPr/>
          <p:nvPr/>
        </p:nvSpPr>
        <p:spPr>
          <a:xfrm>
            <a:off x="6296147" y="2970886"/>
            <a:ext cx="5273756"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109" name="Shape 107"/>
          <p:cNvSpPr/>
          <p:nvPr/>
        </p:nvSpPr>
        <p:spPr>
          <a:xfrm>
            <a:off x="6369299" y="3055010"/>
            <a:ext cx="63423" cy="-63423"/>
          </a:xfrm>
          <a:prstGeom prst="line">
            <a:avLst/>
          </a:prstGeom>
          <a:noFill/>
          <a:ln w="9525">
            <a:solidFill>
              <a:srgbClr val="3DCD58">
                <a:alpha val="84000"/>
              </a:srgbClr>
            </a:solidFill>
            <a:prstDash val="solid"/>
          </a:ln>
        </p:spPr>
      </p:sp>
      <p:sp>
        <p:nvSpPr>
          <p:cNvPr id="110" name="Shape 108"/>
          <p:cNvSpPr/>
          <p:nvPr/>
        </p:nvSpPr>
        <p:spPr>
          <a:xfrm>
            <a:off x="6643619" y="3055010"/>
            <a:ext cx="63423" cy="-63423"/>
          </a:xfrm>
          <a:prstGeom prst="line">
            <a:avLst/>
          </a:prstGeom>
          <a:noFill/>
          <a:ln w="9525">
            <a:solidFill>
              <a:srgbClr val="3DCD58">
                <a:alpha val="84000"/>
              </a:srgbClr>
            </a:solidFill>
            <a:prstDash val="solid"/>
          </a:ln>
        </p:spPr>
      </p:sp>
      <p:sp>
        <p:nvSpPr>
          <p:cNvPr id="111" name="Shape 109"/>
          <p:cNvSpPr/>
          <p:nvPr/>
        </p:nvSpPr>
        <p:spPr>
          <a:xfrm>
            <a:off x="6917939" y="3055010"/>
            <a:ext cx="63423" cy="-63423"/>
          </a:xfrm>
          <a:prstGeom prst="line">
            <a:avLst/>
          </a:prstGeom>
          <a:noFill/>
          <a:ln w="9525">
            <a:solidFill>
              <a:srgbClr val="3DCD58">
                <a:alpha val="84000"/>
              </a:srgbClr>
            </a:solidFill>
            <a:prstDash val="solid"/>
          </a:ln>
        </p:spPr>
      </p:sp>
      <p:sp>
        <p:nvSpPr>
          <p:cNvPr id="112" name="Shape 110"/>
          <p:cNvSpPr/>
          <p:nvPr/>
        </p:nvSpPr>
        <p:spPr>
          <a:xfrm>
            <a:off x="7192259" y="3055010"/>
            <a:ext cx="63423" cy="-63423"/>
          </a:xfrm>
          <a:prstGeom prst="line">
            <a:avLst/>
          </a:prstGeom>
          <a:noFill/>
          <a:ln w="9525">
            <a:solidFill>
              <a:srgbClr val="3DCD58">
                <a:alpha val="84000"/>
              </a:srgbClr>
            </a:solidFill>
            <a:prstDash val="solid"/>
          </a:ln>
        </p:spPr>
      </p:sp>
      <p:sp>
        <p:nvSpPr>
          <p:cNvPr id="113" name="Shape 111"/>
          <p:cNvSpPr/>
          <p:nvPr/>
        </p:nvSpPr>
        <p:spPr>
          <a:xfrm>
            <a:off x="7466579" y="3055010"/>
            <a:ext cx="63423" cy="-63423"/>
          </a:xfrm>
          <a:prstGeom prst="line">
            <a:avLst/>
          </a:prstGeom>
          <a:noFill/>
          <a:ln w="9525">
            <a:solidFill>
              <a:srgbClr val="3DCD58">
                <a:alpha val="84000"/>
              </a:srgbClr>
            </a:solidFill>
            <a:prstDash val="solid"/>
          </a:ln>
        </p:spPr>
      </p:sp>
      <p:sp>
        <p:nvSpPr>
          <p:cNvPr id="114" name="Shape 112"/>
          <p:cNvSpPr/>
          <p:nvPr/>
        </p:nvSpPr>
        <p:spPr>
          <a:xfrm>
            <a:off x="7740899" y="3055010"/>
            <a:ext cx="63423" cy="-63423"/>
          </a:xfrm>
          <a:prstGeom prst="line">
            <a:avLst/>
          </a:prstGeom>
          <a:noFill/>
          <a:ln w="9525">
            <a:solidFill>
              <a:srgbClr val="3DCD58">
                <a:alpha val="84000"/>
              </a:srgbClr>
            </a:solidFill>
            <a:prstDash val="solid"/>
          </a:ln>
        </p:spPr>
      </p:sp>
      <p:sp>
        <p:nvSpPr>
          <p:cNvPr id="115" name="Shape 113"/>
          <p:cNvSpPr/>
          <p:nvPr/>
        </p:nvSpPr>
        <p:spPr>
          <a:xfrm>
            <a:off x="8015219" y="3055010"/>
            <a:ext cx="63423" cy="-63423"/>
          </a:xfrm>
          <a:prstGeom prst="line">
            <a:avLst/>
          </a:prstGeom>
          <a:noFill/>
          <a:ln w="9525">
            <a:solidFill>
              <a:srgbClr val="3DCD58">
                <a:alpha val="84000"/>
              </a:srgbClr>
            </a:solidFill>
            <a:prstDash val="solid"/>
          </a:ln>
        </p:spPr>
      </p:sp>
      <p:sp>
        <p:nvSpPr>
          <p:cNvPr id="116" name="Shape 114"/>
          <p:cNvSpPr/>
          <p:nvPr/>
        </p:nvSpPr>
        <p:spPr>
          <a:xfrm>
            <a:off x="8289539" y="3055010"/>
            <a:ext cx="63423" cy="-63423"/>
          </a:xfrm>
          <a:prstGeom prst="line">
            <a:avLst/>
          </a:prstGeom>
          <a:noFill/>
          <a:ln w="9525">
            <a:solidFill>
              <a:srgbClr val="3DCD58">
                <a:alpha val="84000"/>
              </a:srgbClr>
            </a:solidFill>
            <a:prstDash val="solid"/>
          </a:ln>
        </p:spPr>
      </p:sp>
      <p:sp>
        <p:nvSpPr>
          <p:cNvPr id="117" name="Shape 115"/>
          <p:cNvSpPr/>
          <p:nvPr/>
        </p:nvSpPr>
        <p:spPr>
          <a:xfrm>
            <a:off x="8563859" y="3055010"/>
            <a:ext cx="63423" cy="-63423"/>
          </a:xfrm>
          <a:prstGeom prst="line">
            <a:avLst/>
          </a:prstGeom>
          <a:noFill/>
          <a:ln w="9525">
            <a:solidFill>
              <a:srgbClr val="3DCD58">
                <a:alpha val="84000"/>
              </a:srgbClr>
            </a:solidFill>
            <a:prstDash val="solid"/>
          </a:ln>
        </p:spPr>
      </p:sp>
      <p:sp>
        <p:nvSpPr>
          <p:cNvPr id="118" name="Shape 116"/>
          <p:cNvSpPr/>
          <p:nvPr/>
        </p:nvSpPr>
        <p:spPr>
          <a:xfrm>
            <a:off x="8838179" y="3055010"/>
            <a:ext cx="63423" cy="-63423"/>
          </a:xfrm>
          <a:prstGeom prst="line">
            <a:avLst/>
          </a:prstGeom>
          <a:noFill/>
          <a:ln w="9525">
            <a:solidFill>
              <a:srgbClr val="3DCD58">
                <a:alpha val="84000"/>
              </a:srgbClr>
            </a:solidFill>
            <a:prstDash val="solid"/>
          </a:ln>
        </p:spPr>
      </p:sp>
      <p:sp>
        <p:nvSpPr>
          <p:cNvPr id="119" name="Shape 117"/>
          <p:cNvSpPr/>
          <p:nvPr/>
        </p:nvSpPr>
        <p:spPr>
          <a:xfrm>
            <a:off x="9112499" y="3055010"/>
            <a:ext cx="63423" cy="-63423"/>
          </a:xfrm>
          <a:prstGeom prst="line">
            <a:avLst/>
          </a:prstGeom>
          <a:noFill/>
          <a:ln w="9525">
            <a:solidFill>
              <a:srgbClr val="3DCD58">
                <a:alpha val="84000"/>
              </a:srgbClr>
            </a:solidFill>
            <a:prstDash val="solid"/>
          </a:ln>
        </p:spPr>
      </p:sp>
      <p:sp>
        <p:nvSpPr>
          <p:cNvPr id="120" name="Shape 118"/>
          <p:cNvSpPr/>
          <p:nvPr/>
        </p:nvSpPr>
        <p:spPr>
          <a:xfrm>
            <a:off x="9386819" y="3055010"/>
            <a:ext cx="63423" cy="-63423"/>
          </a:xfrm>
          <a:prstGeom prst="line">
            <a:avLst/>
          </a:prstGeom>
          <a:noFill/>
          <a:ln w="9525">
            <a:solidFill>
              <a:srgbClr val="3DCD58">
                <a:alpha val="84000"/>
              </a:srgbClr>
            </a:solidFill>
            <a:prstDash val="solid"/>
          </a:ln>
        </p:spPr>
      </p:sp>
      <p:sp>
        <p:nvSpPr>
          <p:cNvPr id="121" name="Shape 119"/>
          <p:cNvSpPr/>
          <p:nvPr/>
        </p:nvSpPr>
        <p:spPr>
          <a:xfrm>
            <a:off x="9661139" y="3055010"/>
            <a:ext cx="63423" cy="-63423"/>
          </a:xfrm>
          <a:prstGeom prst="line">
            <a:avLst/>
          </a:prstGeom>
          <a:noFill/>
          <a:ln w="9525">
            <a:solidFill>
              <a:srgbClr val="3DCD58">
                <a:alpha val="84000"/>
              </a:srgbClr>
            </a:solidFill>
            <a:prstDash val="solid"/>
          </a:ln>
        </p:spPr>
      </p:sp>
      <p:sp>
        <p:nvSpPr>
          <p:cNvPr id="122" name="Shape 120"/>
          <p:cNvSpPr/>
          <p:nvPr/>
        </p:nvSpPr>
        <p:spPr>
          <a:xfrm>
            <a:off x="9935459" y="3055010"/>
            <a:ext cx="63423" cy="-63423"/>
          </a:xfrm>
          <a:prstGeom prst="line">
            <a:avLst/>
          </a:prstGeom>
          <a:noFill/>
          <a:ln w="9525">
            <a:solidFill>
              <a:srgbClr val="3DCD58">
                <a:alpha val="84000"/>
              </a:srgbClr>
            </a:solidFill>
            <a:prstDash val="solid"/>
          </a:ln>
        </p:spPr>
      </p:sp>
      <p:sp>
        <p:nvSpPr>
          <p:cNvPr id="123" name="Shape 121"/>
          <p:cNvSpPr/>
          <p:nvPr/>
        </p:nvSpPr>
        <p:spPr>
          <a:xfrm>
            <a:off x="10209779" y="3055010"/>
            <a:ext cx="63423" cy="-63423"/>
          </a:xfrm>
          <a:prstGeom prst="line">
            <a:avLst/>
          </a:prstGeom>
          <a:noFill/>
          <a:ln w="9525">
            <a:solidFill>
              <a:srgbClr val="3DCD58">
                <a:alpha val="84000"/>
              </a:srgbClr>
            </a:solidFill>
            <a:prstDash val="solid"/>
          </a:ln>
        </p:spPr>
      </p:sp>
      <p:sp>
        <p:nvSpPr>
          <p:cNvPr id="124" name="Shape 122"/>
          <p:cNvSpPr/>
          <p:nvPr/>
        </p:nvSpPr>
        <p:spPr>
          <a:xfrm>
            <a:off x="10484099" y="3055010"/>
            <a:ext cx="63423" cy="-63423"/>
          </a:xfrm>
          <a:prstGeom prst="line">
            <a:avLst/>
          </a:prstGeom>
          <a:noFill/>
          <a:ln w="9525">
            <a:solidFill>
              <a:srgbClr val="3DCD58">
                <a:alpha val="84000"/>
              </a:srgbClr>
            </a:solidFill>
            <a:prstDash val="solid"/>
          </a:ln>
        </p:spPr>
      </p:sp>
      <p:sp>
        <p:nvSpPr>
          <p:cNvPr id="125" name="Shape 123"/>
          <p:cNvSpPr/>
          <p:nvPr/>
        </p:nvSpPr>
        <p:spPr>
          <a:xfrm>
            <a:off x="10758419" y="3055010"/>
            <a:ext cx="63423" cy="-63423"/>
          </a:xfrm>
          <a:prstGeom prst="line">
            <a:avLst/>
          </a:prstGeom>
          <a:noFill/>
          <a:ln w="9525">
            <a:solidFill>
              <a:srgbClr val="3DCD58">
                <a:alpha val="84000"/>
              </a:srgbClr>
            </a:solidFill>
            <a:prstDash val="solid"/>
          </a:ln>
        </p:spPr>
      </p:sp>
      <p:sp>
        <p:nvSpPr>
          <p:cNvPr id="126" name="Shape 124"/>
          <p:cNvSpPr/>
          <p:nvPr/>
        </p:nvSpPr>
        <p:spPr>
          <a:xfrm>
            <a:off x="11032739" y="3055010"/>
            <a:ext cx="63423" cy="-63423"/>
          </a:xfrm>
          <a:prstGeom prst="line">
            <a:avLst/>
          </a:prstGeom>
          <a:noFill/>
          <a:ln w="9525">
            <a:solidFill>
              <a:srgbClr val="3DCD58">
                <a:alpha val="84000"/>
              </a:srgbClr>
            </a:solidFill>
            <a:prstDash val="solid"/>
          </a:ln>
        </p:spPr>
      </p:sp>
      <p:sp>
        <p:nvSpPr>
          <p:cNvPr id="127" name="Shape 125"/>
          <p:cNvSpPr/>
          <p:nvPr/>
        </p:nvSpPr>
        <p:spPr>
          <a:xfrm>
            <a:off x="11307059" y="3055010"/>
            <a:ext cx="63423" cy="-63423"/>
          </a:xfrm>
          <a:prstGeom prst="line">
            <a:avLst/>
          </a:prstGeom>
          <a:noFill/>
          <a:ln w="9525">
            <a:solidFill>
              <a:srgbClr val="3DCD58">
                <a:alpha val="84000"/>
              </a:srgbClr>
            </a:solidFill>
            <a:prstDash val="solid"/>
          </a:ln>
        </p:spPr>
      </p:sp>
      <p:sp>
        <p:nvSpPr>
          <p:cNvPr id="128" name="Shape 126"/>
          <p:cNvSpPr/>
          <p:nvPr/>
        </p:nvSpPr>
        <p:spPr>
          <a:xfrm>
            <a:off x="4338996" y="2953512"/>
            <a:ext cx="128016" cy="128016"/>
          </a:xfrm>
          <a:prstGeom prst="ellipse">
            <a:avLst/>
          </a:prstGeom>
          <a:solidFill>
            <a:srgbClr val="FFB04C"/>
          </a:solidFill>
          <a:ln w="12700">
            <a:solidFill>
              <a:srgbClr val="FFFFFF"/>
            </a:solidFill>
            <a:prstDash val="solid"/>
          </a:ln>
        </p:spPr>
      </p:sp>
      <p:sp>
        <p:nvSpPr>
          <p:cNvPr id="129" name="Shape 127"/>
          <p:cNvSpPr/>
          <p:nvPr/>
        </p:nvSpPr>
        <p:spPr>
          <a:xfrm>
            <a:off x="6232139" y="2953512"/>
            <a:ext cx="128016" cy="128016"/>
          </a:xfrm>
          <a:prstGeom prst="ellipse">
            <a:avLst/>
          </a:prstGeom>
          <a:solidFill>
            <a:srgbClr val="007A27"/>
          </a:solidFill>
          <a:ln w="12700">
            <a:solidFill>
              <a:srgbClr val="FFFFFF"/>
            </a:solidFill>
            <a:prstDash val="solid"/>
          </a:ln>
        </p:spPr>
      </p:sp>
      <p:sp>
        <p:nvSpPr>
          <p:cNvPr id="130" name="Shape 128"/>
          <p:cNvSpPr/>
          <p:nvPr/>
        </p:nvSpPr>
        <p:spPr>
          <a:xfrm>
            <a:off x="1033272" y="3154680"/>
            <a:ext cx="2423160" cy="274320"/>
          </a:xfrm>
          <a:prstGeom prst="rect">
            <a:avLst/>
          </a:prstGeom>
          <a:solidFill>
            <a:srgbClr val="F1F3F2">
              <a:alpha val="55000"/>
            </a:srgbClr>
          </a:solidFill>
          <a:ln w="12700">
            <a:solidFill>
              <a:srgbClr val="F1F3F2">
                <a:alpha val="0"/>
              </a:srgbClr>
            </a:solidFill>
            <a:prstDash val="solid"/>
          </a:ln>
        </p:spPr>
      </p:sp>
      <p:sp>
        <p:nvSpPr>
          <p:cNvPr id="131" name="Shape 129"/>
          <p:cNvSpPr/>
          <p:nvPr/>
        </p:nvSpPr>
        <p:spPr>
          <a:xfrm>
            <a:off x="1033272" y="3429000"/>
            <a:ext cx="10536631" cy="0"/>
          </a:xfrm>
          <a:prstGeom prst="line">
            <a:avLst/>
          </a:prstGeom>
          <a:noFill/>
          <a:ln w="4445">
            <a:solidFill>
              <a:srgbClr val="E2E6E2"/>
            </a:solidFill>
            <a:prstDash val="solid"/>
          </a:ln>
        </p:spPr>
      </p:sp>
      <p:sp>
        <p:nvSpPr>
          <p:cNvPr id="132" name="Shape 130"/>
          <p:cNvSpPr/>
          <p:nvPr/>
        </p:nvSpPr>
        <p:spPr>
          <a:xfrm>
            <a:off x="1143000" y="3182112"/>
            <a:ext cx="45720" cy="219456"/>
          </a:xfrm>
          <a:prstGeom prst="roundRect">
            <a:avLst>
              <a:gd name="adj" fmla="val 60000"/>
            </a:avLst>
          </a:prstGeom>
          <a:solidFill>
            <a:srgbClr val="3DCD58"/>
          </a:solidFill>
          <a:ln w="12700">
            <a:solidFill>
              <a:srgbClr val="3DCD58"/>
            </a:solidFill>
            <a:prstDash val="solid"/>
          </a:ln>
        </p:spPr>
      </p:sp>
      <p:sp>
        <p:nvSpPr>
          <p:cNvPr id="133" name="Text 131"/>
          <p:cNvSpPr/>
          <p:nvPr/>
        </p:nvSpPr>
        <p:spPr>
          <a:xfrm>
            <a:off x="1243584" y="314553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Reporting &amp; Compliance</a:t>
            </a:r>
            <a:endParaRPr lang="en-US" sz="950" dirty="0"/>
          </a:p>
        </p:txBody>
      </p:sp>
      <p:sp>
        <p:nvSpPr>
          <p:cNvPr id="134" name="Shape 132"/>
          <p:cNvSpPr/>
          <p:nvPr/>
        </p:nvSpPr>
        <p:spPr>
          <a:xfrm>
            <a:off x="4132555" y="3245206"/>
            <a:ext cx="2974939" cy="93269"/>
          </a:xfrm>
          <a:prstGeom prst="roundRect">
            <a:avLst>
              <a:gd name="adj" fmla="val 39216"/>
            </a:avLst>
          </a:prstGeom>
          <a:solidFill>
            <a:srgbClr val="3DCD58"/>
          </a:solidFill>
          <a:ln w="5080">
            <a:solidFill>
              <a:srgbClr val="3DCD58"/>
            </a:solidFill>
            <a:prstDash val="solid"/>
          </a:ln>
        </p:spPr>
      </p:sp>
      <p:sp>
        <p:nvSpPr>
          <p:cNvPr id="135" name="Shape 133"/>
          <p:cNvSpPr/>
          <p:nvPr/>
        </p:nvSpPr>
        <p:spPr>
          <a:xfrm>
            <a:off x="7107494" y="3245206"/>
            <a:ext cx="4462409"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136" name="Shape 134"/>
          <p:cNvSpPr/>
          <p:nvPr/>
        </p:nvSpPr>
        <p:spPr>
          <a:xfrm>
            <a:off x="7180646" y="3329330"/>
            <a:ext cx="63423" cy="-63423"/>
          </a:xfrm>
          <a:prstGeom prst="line">
            <a:avLst/>
          </a:prstGeom>
          <a:noFill/>
          <a:ln w="9525">
            <a:solidFill>
              <a:srgbClr val="3DCD58">
                <a:alpha val="84000"/>
              </a:srgbClr>
            </a:solidFill>
            <a:prstDash val="solid"/>
          </a:ln>
        </p:spPr>
      </p:sp>
      <p:sp>
        <p:nvSpPr>
          <p:cNvPr id="137" name="Shape 135"/>
          <p:cNvSpPr/>
          <p:nvPr/>
        </p:nvSpPr>
        <p:spPr>
          <a:xfrm>
            <a:off x="7454966" y="3329330"/>
            <a:ext cx="63423" cy="-63423"/>
          </a:xfrm>
          <a:prstGeom prst="line">
            <a:avLst/>
          </a:prstGeom>
          <a:noFill/>
          <a:ln w="9525">
            <a:solidFill>
              <a:srgbClr val="3DCD58">
                <a:alpha val="84000"/>
              </a:srgbClr>
            </a:solidFill>
            <a:prstDash val="solid"/>
          </a:ln>
        </p:spPr>
      </p:sp>
      <p:sp>
        <p:nvSpPr>
          <p:cNvPr id="138" name="Shape 136"/>
          <p:cNvSpPr/>
          <p:nvPr/>
        </p:nvSpPr>
        <p:spPr>
          <a:xfrm>
            <a:off x="7729286" y="3329330"/>
            <a:ext cx="63423" cy="-63423"/>
          </a:xfrm>
          <a:prstGeom prst="line">
            <a:avLst/>
          </a:prstGeom>
          <a:noFill/>
          <a:ln w="9525">
            <a:solidFill>
              <a:srgbClr val="3DCD58">
                <a:alpha val="84000"/>
              </a:srgbClr>
            </a:solidFill>
            <a:prstDash val="solid"/>
          </a:ln>
        </p:spPr>
      </p:sp>
      <p:sp>
        <p:nvSpPr>
          <p:cNvPr id="139" name="Shape 137"/>
          <p:cNvSpPr/>
          <p:nvPr/>
        </p:nvSpPr>
        <p:spPr>
          <a:xfrm>
            <a:off x="8003606" y="3329330"/>
            <a:ext cx="63423" cy="-63423"/>
          </a:xfrm>
          <a:prstGeom prst="line">
            <a:avLst/>
          </a:prstGeom>
          <a:noFill/>
          <a:ln w="9525">
            <a:solidFill>
              <a:srgbClr val="3DCD58">
                <a:alpha val="84000"/>
              </a:srgbClr>
            </a:solidFill>
            <a:prstDash val="solid"/>
          </a:ln>
        </p:spPr>
      </p:sp>
      <p:sp>
        <p:nvSpPr>
          <p:cNvPr id="140" name="Shape 138"/>
          <p:cNvSpPr/>
          <p:nvPr/>
        </p:nvSpPr>
        <p:spPr>
          <a:xfrm>
            <a:off x="8277926" y="3329330"/>
            <a:ext cx="63423" cy="-63423"/>
          </a:xfrm>
          <a:prstGeom prst="line">
            <a:avLst/>
          </a:prstGeom>
          <a:noFill/>
          <a:ln w="9525">
            <a:solidFill>
              <a:srgbClr val="3DCD58">
                <a:alpha val="84000"/>
              </a:srgbClr>
            </a:solidFill>
            <a:prstDash val="solid"/>
          </a:ln>
        </p:spPr>
      </p:sp>
      <p:sp>
        <p:nvSpPr>
          <p:cNvPr id="141" name="Shape 139"/>
          <p:cNvSpPr/>
          <p:nvPr/>
        </p:nvSpPr>
        <p:spPr>
          <a:xfrm>
            <a:off x="8552246" y="3329330"/>
            <a:ext cx="63423" cy="-63423"/>
          </a:xfrm>
          <a:prstGeom prst="line">
            <a:avLst/>
          </a:prstGeom>
          <a:noFill/>
          <a:ln w="9525">
            <a:solidFill>
              <a:srgbClr val="3DCD58">
                <a:alpha val="84000"/>
              </a:srgbClr>
            </a:solidFill>
            <a:prstDash val="solid"/>
          </a:ln>
        </p:spPr>
      </p:sp>
      <p:sp>
        <p:nvSpPr>
          <p:cNvPr id="142" name="Shape 140"/>
          <p:cNvSpPr/>
          <p:nvPr/>
        </p:nvSpPr>
        <p:spPr>
          <a:xfrm>
            <a:off x="8826566" y="3329330"/>
            <a:ext cx="63423" cy="-63423"/>
          </a:xfrm>
          <a:prstGeom prst="line">
            <a:avLst/>
          </a:prstGeom>
          <a:noFill/>
          <a:ln w="9525">
            <a:solidFill>
              <a:srgbClr val="3DCD58">
                <a:alpha val="84000"/>
              </a:srgbClr>
            </a:solidFill>
            <a:prstDash val="solid"/>
          </a:ln>
        </p:spPr>
      </p:sp>
      <p:sp>
        <p:nvSpPr>
          <p:cNvPr id="143" name="Shape 141"/>
          <p:cNvSpPr/>
          <p:nvPr/>
        </p:nvSpPr>
        <p:spPr>
          <a:xfrm>
            <a:off x="9100886" y="3329330"/>
            <a:ext cx="63423" cy="-63423"/>
          </a:xfrm>
          <a:prstGeom prst="line">
            <a:avLst/>
          </a:prstGeom>
          <a:noFill/>
          <a:ln w="9525">
            <a:solidFill>
              <a:srgbClr val="3DCD58">
                <a:alpha val="84000"/>
              </a:srgbClr>
            </a:solidFill>
            <a:prstDash val="solid"/>
          </a:ln>
        </p:spPr>
      </p:sp>
      <p:sp>
        <p:nvSpPr>
          <p:cNvPr id="144" name="Shape 142"/>
          <p:cNvSpPr/>
          <p:nvPr/>
        </p:nvSpPr>
        <p:spPr>
          <a:xfrm>
            <a:off x="9375206" y="3329330"/>
            <a:ext cx="63423" cy="-63423"/>
          </a:xfrm>
          <a:prstGeom prst="line">
            <a:avLst/>
          </a:prstGeom>
          <a:noFill/>
          <a:ln w="9525">
            <a:solidFill>
              <a:srgbClr val="3DCD58">
                <a:alpha val="84000"/>
              </a:srgbClr>
            </a:solidFill>
            <a:prstDash val="solid"/>
          </a:ln>
        </p:spPr>
      </p:sp>
      <p:sp>
        <p:nvSpPr>
          <p:cNvPr id="145" name="Shape 143"/>
          <p:cNvSpPr/>
          <p:nvPr/>
        </p:nvSpPr>
        <p:spPr>
          <a:xfrm>
            <a:off x="9649526" y="3329330"/>
            <a:ext cx="63423" cy="-63423"/>
          </a:xfrm>
          <a:prstGeom prst="line">
            <a:avLst/>
          </a:prstGeom>
          <a:noFill/>
          <a:ln w="9525">
            <a:solidFill>
              <a:srgbClr val="3DCD58">
                <a:alpha val="84000"/>
              </a:srgbClr>
            </a:solidFill>
            <a:prstDash val="solid"/>
          </a:ln>
        </p:spPr>
      </p:sp>
      <p:sp>
        <p:nvSpPr>
          <p:cNvPr id="146" name="Shape 144"/>
          <p:cNvSpPr/>
          <p:nvPr/>
        </p:nvSpPr>
        <p:spPr>
          <a:xfrm>
            <a:off x="9923846" y="3329330"/>
            <a:ext cx="63423" cy="-63423"/>
          </a:xfrm>
          <a:prstGeom prst="line">
            <a:avLst/>
          </a:prstGeom>
          <a:noFill/>
          <a:ln w="9525">
            <a:solidFill>
              <a:srgbClr val="3DCD58">
                <a:alpha val="84000"/>
              </a:srgbClr>
            </a:solidFill>
            <a:prstDash val="solid"/>
          </a:ln>
        </p:spPr>
      </p:sp>
      <p:sp>
        <p:nvSpPr>
          <p:cNvPr id="147" name="Shape 145"/>
          <p:cNvSpPr/>
          <p:nvPr/>
        </p:nvSpPr>
        <p:spPr>
          <a:xfrm>
            <a:off x="10198166" y="3329330"/>
            <a:ext cx="63423" cy="-63423"/>
          </a:xfrm>
          <a:prstGeom prst="line">
            <a:avLst/>
          </a:prstGeom>
          <a:noFill/>
          <a:ln w="9525">
            <a:solidFill>
              <a:srgbClr val="3DCD58">
                <a:alpha val="84000"/>
              </a:srgbClr>
            </a:solidFill>
            <a:prstDash val="solid"/>
          </a:ln>
        </p:spPr>
      </p:sp>
      <p:sp>
        <p:nvSpPr>
          <p:cNvPr id="148" name="Shape 146"/>
          <p:cNvSpPr/>
          <p:nvPr/>
        </p:nvSpPr>
        <p:spPr>
          <a:xfrm>
            <a:off x="10472486" y="3329330"/>
            <a:ext cx="63423" cy="-63423"/>
          </a:xfrm>
          <a:prstGeom prst="line">
            <a:avLst/>
          </a:prstGeom>
          <a:noFill/>
          <a:ln w="9525">
            <a:solidFill>
              <a:srgbClr val="3DCD58">
                <a:alpha val="84000"/>
              </a:srgbClr>
            </a:solidFill>
            <a:prstDash val="solid"/>
          </a:ln>
        </p:spPr>
      </p:sp>
      <p:sp>
        <p:nvSpPr>
          <p:cNvPr id="149" name="Shape 147"/>
          <p:cNvSpPr/>
          <p:nvPr/>
        </p:nvSpPr>
        <p:spPr>
          <a:xfrm>
            <a:off x="10746806" y="3329330"/>
            <a:ext cx="63423" cy="-63423"/>
          </a:xfrm>
          <a:prstGeom prst="line">
            <a:avLst/>
          </a:prstGeom>
          <a:noFill/>
          <a:ln w="9525">
            <a:solidFill>
              <a:srgbClr val="3DCD58">
                <a:alpha val="84000"/>
              </a:srgbClr>
            </a:solidFill>
            <a:prstDash val="solid"/>
          </a:ln>
        </p:spPr>
      </p:sp>
      <p:sp>
        <p:nvSpPr>
          <p:cNvPr id="150" name="Shape 148"/>
          <p:cNvSpPr/>
          <p:nvPr/>
        </p:nvSpPr>
        <p:spPr>
          <a:xfrm>
            <a:off x="11021126" y="3329330"/>
            <a:ext cx="63423" cy="-63423"/>
          </a:xfrm>
          <a:prstGeom prst="line">
            <a:avLst/>
          </a:prstGeom>
          <a:noFill/>
          <a:ln w="9525">
            <a:solidFill>
              <a:srgbClr val="3DCD58">
                <a:alpha val="84000"/>
              </a:srgbClr>
            </a:solidFill>
            <a:prstDash val="solid"/>
          </a:ln>
        </p:spPr>
      </p:sp>
      <p:sp>
        <p:nvSpPr>
          <p:cNvPr id="151" name="Shape 149"/>
          <p:cNvSpPr/>
          <p:nvPr/>
        </p:nvSpPr>
        <p:spPr>
          <a:xfrm>
            <a:off x="11295446" y="3329330"/>
            <a:ext cx="63423" cy="-63423"/>
          </a:xfrm>
          <a:prstGeom prst="line">
            <a:avLst/>
          </a:prstGeom>
          <a:noFill/>
          <a:ln w="9525">
            <a:solidFill>
              <a:srgbClr val="3DCD58">
                <a:alpha val="84000"/>
              </a:srgbClr>
            </a:solidFill>
            <a:prstDash val="solid"/>
          </a:ln>
        </p:spPr>
      </p:sp>
      <p:sp>
        <p:nvSpPr>
          <p:cNvPr id="152" name="Shape 150"/>
          <p:cNvSpPr/>
          <p:nvPr/>
        </p:nvSpPr>
        <p:spPr>
          <a:xfrm>
            <a:off x="6232139" y="3227832"/>
            <a:ext cx="128016" cy="128016"/>
          </a:xfrm>
          <a:prstGeom prst="ellipse">
            <a:avLst/>
          </a:prstGeom>
          <a:solidFill>
            <a:srgbClr val="FFB04C"/>
          </a:solidFill>
          <a:ln w="12700">
            <a:solidFill>
              <a:srgbClr val="FFFFFF"/>
            </a:solidFill>
            <a:prstDash val="solid"/>
          </a:ln>
        </p:spPr>
      </p:sp>
      <p:sp>
        <p:nvSpPr>
          <p:cNvPr id="153" name="Shape 151"/>
          <p:cNvSpPr/>
          <p:nvPr/>
        </p:nvSpPr>
        <p:spPr>
          <a:xfrm>
            <a:off x="7043486" y="3227832"/>
            <a:ext cx="128016" cy="128016"/>
          </a:xfrm>
          <a:prstGeom prst="ellipse">
            <a:avLst/>
          </a:prstGeom>
          <a:solidFill>
            <a:srgbClr val="007A27"/>
          </a:solidFill>
          <a:ln w="12700">
            <a:solidFill>
              <a:srgbClr val="FFFFFF"/>
            </a:solidFill>
            <a:prstDash val="solid"/>
          </a:ln>
        </p:spPr>
      </p:sp>
      <p:sp>
        <p:nvSpPr>
          <p:cNvPr id="154" name="Shape 152"/>
          <p:cNvSpPr/>
          <p:nvPr/>
        </p:nvSpPr>
        <p:spPr>
          <a:xfrm>
            <a:off x="621792" y="3429000"/>
            <a:ext cx="411480" cy="2194560"/>
          </a:xfrm>
          <a:prstGeom prst="rect">
            <a:avLst/>
          </a:prstGeom>
          <a:solidFill>
            <a:srgbClr val="275B7F"/>
          </a:solidFill>
          <a:ln w="7620">
            <a:solidFill>
              <a:srgbClr val="FFFFFF"/>
            </a:solidFill>
            <a:prstDash val="solid"/>
          </a:ln>
        </p:spPr>
      </p:sp>
      <p:sp>
        <p:nvSpPr>
          <p:cNvPr id="155" name="Text 153"/>
          <p:cNvSpPr/>
          <p:nvPr/>
        </p:nvSpPr>
        <p:spPr>
          <a:xfrm>
            <a:off x="649224" y="3447288"/>
            <a:ext cx="356616" cy="2157984"/>
          </a:xfrm>
          <a:prstGeom prst="rect">
            <a:avLst/>
          </a:prstGeom>
          <a:noFill/>
          <a:ln/>
        </p:spPr>
        <p:txBody>
          <a:bodyPr wrap="square" lIns="0" tIns="0" rIns="0" bIns="0" rtlCol="0" anchor="ctr" vert="vert270">
            <a:normAutofit/>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ENERGY &amp; EFFICIENCY</a:t>
            </a:r>
            <a:endParaRPr lang="en-US" sz="750" dirty="0"/>
          </a:p>
        </p:txBody>
      </p:sp>
      <p:sp>
        <p:nvSpPr>
          <p:cNvPr id="156" name="Shape 154"/>
          <p:cNvSpPr/>
          <p:nvPr/>
        </p:nvSpPr>
        <p:spPr>
          <a:xfrm>
            <a:off x="1033272" y="3703320"/>
            <a:ext cx="10536631" cy="0"/>
          </a:xfrm>
          <a:prstGeom prst="line">
            <a:avLst/>
          </a:prstGeom>
          <a:noFill/>
          <a:ln w="4445">
            <a:solidFill>
              <a:srgbClr val="E2E6E2"/>
            </a:solidFill>
            <a:prstDash val="solid"/>
          </a:ln>
        </p:spPr>
      </p:sp>
      <p:sp>
        <p:nvSpPr>
          <p:cNvPr id="157" name="Shape 155"/>
          <p:cNvSpPr/>
          <p:nvPr/>
        </p:nvSpPr>
        <p:spPr>
          <a:xfrm>
            <a:off x="1143000" y="3456432"/>
            <a:ext cx="45720" cy="219456"/>
          </a:xfrm>
          <a:prstGeom prst="roundRect">
            <a:avLst>
              <a:gd name="adj" fmla="val 60000"/>
            </a:avLst>
          </a:prstGeom>
          <a:solidFill>
            <a:srgbClr val="275B7F"/>
          </a:solidFill>
          <a:ln w="12700">
            <a:solidFill>
              <a:srgbClr val="275B7F"/>
            </a:solidFill>
            <a:prstDash val="solid"/>
          </a:ln>
        </p:spPr>
      </p:sp>
      <p:sp>
        <p:nvSpPr>
          <p:cNvPr id="158" name="Text 156"/>
          <p:cNvSpPr/>
          <p:nvPr/>
        </p:nvSpPr>
        <p:spPr>
          <a:xfrm>
            <a:off x="1243584" y="341985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Energy Efficiency</a:t>
            </a:r>
            <a:endParaRPr lang="en-US" sz="950" dirty="0"/>
          </a:p>
        </p:txBody>
      </p:sp>
      <p:sp>
        <p:nvSpPr>
          <p:cNvPr id="159" name="Shape 157"/>
          <p:cNvSpPr/>
          <p:nvPr/>
        </p:nvSpPr>
        <p:spPr>
          <a:xfrm>
            <a:off x="4808677" y="3519526"/>
            <a:ext cx="4327185" cy="93269"/>
          </a:xfrm>
          <a:prstGeom prst="roundRect">
            <a:avLst>
              <a:gd name="adj" fmla="val 39216"/>
            </a:avLst>
          </a:prstGeom>
          <a:solidFill>
            <a:srgbClr val="275B7F"/>
          </a:solidFill>
          <a:ln w="5080">
            <a:solidFill>
              <a:srgbClr val="275B7F"/>
            </a:solidFill>
            <a:prstDash val="solid"/>
          </a:ln>
        </p:spPr>
      </p:sp>
      <p:sp>
        <p:nvSpPr>
          <p:cNvPr id="160" name="Shape 158"/>
          <p:cNvSpPr/>
          <p:nvPr/>
        </p:nvSpPr>
        <p:spPr>
          <a:xfrm>
            <a:off x="9135862" y="351952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61" name="Shape 159"/>
          <p:cNvSpPr/>
          <p:nvPr/>
        </p:nvSpPr>
        <p:spPr>
          <a:xfrm>
            <a:off x="9209014" y="3603650"/>
            <a:ext cx="63423" cy="-63423"/>
          </a:xfrm>
          <a:prstGeom prst="line">
            <a:avLst/>
          </a:prstGeom>
          <a:noFill/>
          <a:ln w="9525">
            <a:solidFill>
              <a:srgbClr val="275B7F">
                <a:alpha val="84000"/>
              </a:srgbClr>
            </a:solidFill>
            <a:prstDash val="solid"/>
          </a:ln>
        </p:spPr>
      </p:sp>
      <p:sp>
        <p:nvSpPr>
          <p:cNvPr id="162" name="Shape 160"/>
          <p:cNvSpPr/>
          <p:nvPr/>
        </p:nvSpPr>
        <p:spPr>
          <a:xfrm>
            <a:off x="9483334" y="3603650"/>
            <a:ext cx="63423" cy="-63423"/>
          </a:xfrm>
          <a:prstGeom prst="line">
            <a:avLst/>
          </a:prstGeom>
          <a:noFill/>
          <a:ln w="9525">
            <a:solidFill>
              <a:srgbClr val="275B7F">
                <a:alpha val="84000"/>
              </a:srgbClr>
            </a:solidFill>
            <a:prstDash val="solid"/>
          </a:ln>
        </p:spPr>
      </p:sp>
      <p:sp>
        <p:nvSpPr>
          <p:cNvPr id="163" name="Shape 161"/>
          <p:cNvSpPr/>
          <p:nvPr/>
        </p:nvSpPr>
        <p:spPr>
          <a:xfrm>
            <a:off x="9757654" y="3603650"/>
            <a:ext cx="63423" cy="-63423"/>
          </a:xfrm>
          <a:prstGeom prst="line">
            <a:avLst/>
          </a:prstGeom>
          <a:noFill/>
          <a:ln w="9525">
            <a:solidFill>
              <a:srgbClr val="275B7F">
                <a:alpha val="84000"/>
              </a:srgbClr>
            </a:solidFill>
            <a:prstDash val="solid"/>
          </a:ln>
        </p:spPr>
      </p:sp>
      <p:sp>
        <p:nvSpPr>
          <p:cNvPr id="164" name="Shape 162"/>
          <p:cNvSpPr/>
          <p:nvPr/>
        </p:nvSpPr>
        <p:spPr>
          <a:xfrm>
            <a:off x="10031974" y="3603650"/>
            <a:ext cx="63423" cy="-63423"/>
          </a:xfrm>
          <a:prstGeom prst="line">
            <a:avLst/>
          </a:prstGeom>
          <a:noFill/>
          <a:ln w="9525">
            <a:solidFill>
              <a:srgbClr val="275B7F">
                <a:alpha val="84000"/>
              </a:srgbClr>
            </a:solidFill>
            <a:prstDash val="solid"/>
          </a:ln>
        </p:spPr>
      </p:sp>
      <p:sp>
        <p:nvSpPr>
          <p:cNvPr id="165" name="Shape 163"/>
          <p:cNvSpPr/>
          <p:nvPr/>
        </p:nvSpPr>
        <p:spPr>
          <a:xfrm>
            <a:off x="10306294" y="3603650"/>
            <a:ext cx="63423" cy="-63423"/>
          </a:xfrm>
          <a:prstGeom prst="line">
            <a:avLst/>
          </a:prstGeom>
          <a:noFill/>
          <a:ln w="9525">
            <a:solidFill>
              <a:srgbClr val="275B7F">
                <a:alpha val="84000"/>
              </a:srgbClr>
            </a:solidFill>
            <a:prstDash val="solid"/>
          </a:ln>
        </p:spPr>
      </p:sp>
      <p:sp>
        <p:nvSpPr>
          <p:cNvPr id="166" name="Shape 164"/>
          <p:cNvSpPr/>
          <p:nvPr/>
        </p:nvSpPr>
        <p:spPr>
          <a:xfrm>
            <a:off x="10580614" y="3603650"/>
            <a:ext cx="63423" cy="-63423"/>
          </a:xfrm>
          <a:prstGeom prst="line">
            <a:avLst/>
          </a:prstGeom>
          <a:noFill/>
          <a:ln w="9525">
            <a:solidFill>
              <a:srgbClr val="275B7F">
                <a:alpha val="84000"/>
              </a:srgbClr>
            </a:solidFill>
            <a:prstDash val="solid"/>
          </a:ln>
        </p:spPr>
      </p:sp>
      <p:sp>
        <p:nvSpPr>
          <p:cNvPr id="167" name="Shape 165"/>
          <p:cNvSpPr/>
          <p:nvPr/>
        </p:nvSpPr>
        <p:spPr>
          <a:xfrm>
            <a:off x="10854934" y="3603650"/>
            <a:ext cx="63423" cy="-63423"/>
          </a:xfrm>
          <a:prstGeom prst="line">
            <a:avLst/>
          </a:prstGeom>
          <a:noFill/>
          <a:ln w="9525">
            <a:solidFill>
              <a:srgbClr val="275B7F">
                <a:alpha val="84000"/>
              </a:srgbClr>
            </a:solidFill>
            <a:prstDash val="solid"/>
          </a:ln>
        </p:spPr>
      </p:sp>
      <p:sp>
        <p:nvSpPr>
          <p:cNvPr id="168" name="Shape 166"/>
          <p:cNvSpPr/>
          <p:nvPr/>
        </p:nvSpPr>
        <p:spPr>
          <a:xfrm>
            <a:off x="11129254" y="3603650"/>
            <a:ext cx="63423" cy="-63423"/>
          </a:xfrm>
          <a:prstGeom prst="line">
            <a:avLst/>
          </a:prstGeom>
          <a:noFill/>
          <a:ln w="9525">
            <a:solidFill>
              <a:srgbClr val="275B7F">
                <a:alpha val="84000"/>
              </a:srgbClr>
            </a:solidFill>
            <a:prstDash val="solid"/>
          </a:ln>
        </p:spPr>
      </p:sp>
      <p:sp>
        <p:nvSpPr>
          <p:cNvPr id="169" name="Shape 167"/>
          <p:cNvSpPr/>
          <p:nvPr/>
        </p:nvSpPr>
        <p:spPr>
          <a:xfrm>
            <a:off x="11403574" y="3603650"/>
            <a:ext cx="63423" cy="-63423"/>
          </a:xfrm>
          <a:prstGeom prst="line">
            <a:avLst/>
          </a:prstGeom>
          <a:noFill/>
          <a:ln w="9525">
            <a:solidFill>
              <a:srgbClr val="275B7F">
                <a:alpha val="84000"/>
              </a:srgbClr>
            </a:solidFill>
            <a:prstDash val="solid"/>
          </a:ln>
        </p:spPr>
      </p:sp>
      <p:sp>
        <p:nvSpPr>
          <p:cNvPr id="170" name="Shape 168"/>
          <p:cNvSpPr/>
          <p:nvPr/>
        </p:nvSpPr>
        <p:spPr>
          <a:xfrm>
            <a:off x="7043486" y="3502152"/>
            <a:ext cx="128016" cy="128016"/>
          </a:xfrm>
          <a:prstGeom prst="ellipse">
            <a:avLst/>
          </a:prstGeom>
          <a:solidFill>
            <a:srgbClr val="FFB04C"/>
          </a:solidFill>
          <a:ln w="12700">
            <a:solidFill>
              <a:srgbClr val="FFFFFF"/>
            </a:solidFill>
            <a:prstDash val="solid"/>
          </a:ln>
        </p:spPr>
      </p:sp>
      <p:sp>
        <p:nvSpPr>
          <p:cNvPr id="171" name="Shape 169"/>
          <p:cNvSpPr/>
          <p:nvPr/>
        </p:nvSpPr>
        <p:spPr>
          <a:xfrm>
            <a:off x="9071854" y="3502152"/>
            <a:ext cx="128016" cy="128016"/>
          </a:xfrm>
          <a:prstGeom prst="ellipse">
            <a:avLst/>
          </a:prstGeom>
          <a:solidFill>
            <a:srgbClr val="007A27"/>
          </a:solidFill>
          <a:ln w="12700">
            <a:solidFill>
              <a:srgbClr val="FFFFFF"/>
            </a:solidFill>
            <a:prstDash val="solid"/>
          </a:ln>
        </p:spPr>
      </p:sp>
      <p:sp>
        <p:nvSpPr>
          <p:cNvPr id="172" name="Shape 170"/>
          <p:cNvSpPr/>
          <p:nvPr/>
        </p:nvSpPr>
        <p:spPr>
          <a:xfrm>
            <a:off x="1033272" y="3703320"/>
            <a:ext cx="2423160" cy="274320"/>
          </a:xfrm>
          <a:prstGeom prst="rect">
            <a:avLst/>
          </a:prstGeom>
          <a:solidFill>
            <a:srgbClr val="F1F3F2">
              <a:alpha val="55000"/>
            </a:srgbClr>
          </a:solidFill>
          <a:ln w="12700">
            <a:solidFill>
              <a:srgbClr val="F1F3F2">
                <a:alpha val="0"/>
              </a:srgbClr>
            </a:solidFill>
            <a:prstDash val="solid"/>
          </a:ln>
        </p:spPr>
      </p:sp>
      <p:sp>
        <p:nvSpPr>
          <p:cNvPr id="173" name="Shape 171"/>
          <p:cNvSpPr/>
          <p:nvPr/>
        </p:nvSpPr>
        <p:spPr>
          <a:xfrm>
            <a:off x="1033272" y="3977640"/>
            <a:ext cx="10536631" cy="0"/>
          </a:xfrm>
          <a:prstGeom prst="line">
            <a:avLst/>
          </a:prstGeom>
          <a:noFill/>
          <a:ln w="4445">
            <a:solidFill>
              <a:srgbClr val="E2E6E2"/>
            </a:solidFill>
            <a:prstDash val="solid"/>
          </a:ln>
        </p:spPr>
      </p:sp>
      <p:sp>
        <p:nvSpPr>
          <p:cNvPr id="174" name="Shape 172"/>
          <p:cNvSpPr/>
          <p:nvPr/>
        </p:nvSpPr>
        <p:spPr>
          <a:xfrm>
            <a:off x="1143000" y="3730752"/>
            <a:ext cx="45720" cy="219456"/>
          </a:xfrm>
          <a:prstGeom prst="roundRect">
            <a:avLst>
              <a:gd name="adj" fmla="val 60000"/>
            </a:avLst>
          </a:prstGeom>
          <a:solidFill>
            <a:srgbClr val="275B7F"/>
          </a:solidFill>
          <a:ln w="12700">
            <a:solidFill>
              <a:srgbClr val="275B7F"/>
            </a:solidFill>
            <a:prstDash val="solid"/>
          </a:ln>
        </p:spPr>
      </p:sp>
      <p:sp>
        <p:nvSpPr>
          <p:cNvPr id="175" name="Text 173"/>
          <p:cNvSpPr/>
          <p:nvPr/>
        </p:nvSpPr>
        <p:spPr>
          <a:xfrm>
            <a:off x="1243584" y="36941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Capital Asset Planning</a:t>
            </a:r>
            <a:endParaRPr lang="en-US" sz="950" dirty="0"/>
          </a:p>
        </p:txBody>
      </p:sp>
      <p:sp>
        <p:nvSpPr>
          <p:cNvPr id="176" name="Shape 174"/>
          <p:cNvSpPr/>
          <p:nvPr/>
        </p:nvSpPr>
        <p:spPr>
          <a:xfrm>
            <a:off x="6160922" y="3793846"/>
            <a:ext cx="3651062" cy="93269"/>
          </a:xfrm>
          <a:prstGeom prst="roundRect">
            <a:avLst>
              <a:gd name="adj" fmla="val 39216"/>
            </a:avLst>
          </a:prstGeom>
          <a:solidFill>
            <a:srgbClr val="275B7F"/>
          </a:solidFill>
          <a:ln w="5080">
            <a:solidFill>
              <a:srgbClr val="275B7F"/>
            </a:solidFill>
            <a:prstDash val="solid"/>
          </a:ln>
        </p:spPr>
      </p:sp>
      <p:sp>
        <p:nvSpPr>
          <p:cNvPr id="177" name="Shape 175"/>
          <p:cNvSpPr/>
          <p:nvPr/>
        </p:nvSpPr>
        <p:spPr>
          <a:xfrm>
            <a:off x="9811984" y="3793846"/>
            <a:ext cx="1757919"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78" name="Shape 176"/>
          <p:cNvSpPr/>
          <p:nvPr/>
        </p:nvSpPr>
        <p:spPr>
          <a:xfrm>
            <a:off x="9885136" y="3877970"/>
            <a:ext cx="63423" cy="-63423"/>
          </a:xfrm>
          <a:prstGeom prst="line">
            <a:avLst/>
          </a:prstGeom>
          <a:noFill/>
          <a:ln w="9525">
            <a:solidFill>
              <a:srgbClr val="275B7F">
                <a:alpha val="84000"/>
              </a:srgbClr>
            </a:solidFill>
            <a:prstDash val="solid"/>
          </a:ln>
        </p:spPr>
      </p:sp>
      <p:sp>
        <p:nvSpPr>
          <p:cNvPr id="179" name="Shape 177"/>
          <p:cNvSpPr/>
          <p:nvPr/>
        </p:nvSpPr>
        <p:spPr>
          <a:xfrm>
            <a:off x="10159456" y="3877970"/>
            <a:ext cx="63423" cy="-63423"/>
          </a:xfrm>
          <a:prstGeom prst="line">
            <a:avLst/>
          </a:prstGeom>
          <a:noFill/>
          <a:ln w="9525">
            <a:solidFill>
              <a:srgbClr val="275B7F">
                <a:alpha val="84000"/>
              </a:srgbClr>
            </a:solidFill>
            <a:prstDash val="solid"/>
          </a:ln>
        </p:spPr>
      </p:sp>
      <p:sp>
        <p:nvSpPr>
          <p:cNvPr id="180" name="Shape 178"/>
          <p:cNvSpPr/>
          <p:nvPr/>
        </p:nvSpPr>
        <p:spPr>
          <a:xfrm>
            <a:off x="10433776" y="3877970"/>
            <a:ext cx="63423" cy="-63423"/>
          </a:xfrm>
          <a:prstGeom prst="line">
            <a:avLst/>
          </a:prstGeom>
          <a:noFill/>
          <a:ln w="9525">
            <a:solidFill>
              <a:srgbClr val="275B7F">
                <a:alpha val="84000"/>
              </a:srgbClr>
            </a:solidFill>
            <a:prstDash val="solid"/>
          </a:ln>
        </p:spPr>
      </p:sp>
      <p:sp>
        <p:nvSpPr>
          <p:cNvPr id="181" name="Shape 179"/>
          <p:cNvSpPr/>
          <p:nvPr/>
        </p:nvSpPr>
        <p:spPr>
          <a:xfrm>
            <a:off x="10708096" y="3877970"/>
            <a:ext cx="63423" cy="-63423"/>
          </a:xfrm>
          <a:prstGeom prst="line">
            <a:avLst/>
          </a:prstGeom>
          <a:noFill/>
          <a:ln w="9525">
            <a:solidFill>
              <a:srgbClr val="275B7F">
                <a:alpha val="84000"/>
              </a:srgbClr>
            </a:solidFill>
            <a:prstDash val="solid"/>
          </a:ln>
        </p:spPr>
      </p:sp>
      <p:sp>
        <p:nvSpPr>
          <p:cNvPr id="182" name="Shape 180"/>
          <p:cNvSpPr/>
          <p:nvPr/>
        </p:nvSpPr>
        <p:spPr>
          <a:xfrm>
            <a:off x="10982416" y="3877970"/>
            <a:ext cx="63423" cy="-63423"/>
          </a:xfrm>
          <a:prstGeom prst="line">
            <a:avLst/>
          </a:prstGeom>
          <a:noFill/>
          <a:ln w="9525">
            <a:solidFill>
              <a:srgbClr val="275B7F">
                <a:alpha val="84000"/>
              </a:srgbClr>
            </a:solidFill>
            <a:prstDash val="solid"/>
          </a:ln>
        </p:spPr>
      </p:sp>
      <p:sp>
        <p:nvSpPr>
          <p:cNvPr id="183" name="Shape 181"/>
          <p:cNvSpPr/>
          <p:nvPr/>
        </p:nvSpPr>
        <p:spPr>
          <a:xfrm>
            <a:off x="11256736" y="3877970"/>
            <a:ext cx="63423" cy="-63423"/>
          </a:xfrm>
          <a:prstGeom prst="line">
            <a:avLst/>
          </a:prstGeom>
          <a:noFill/>
          <a:ln w="9525">
            <a:solidFill>
              <a:srgbClr val="275B7F">
                <a:alpha val="84000"/>
              </a:srgbClr>
            </a:solidFill>
            <a:prstDash val="solid"/>
          </a:ln>
        </p:spPr>
      </p:sp>
      <p:sp>
        <p:nvSpPr>
          <p:cNvPr id="184" name="Shape 182"/>
          <p:cNvSpPr/>
          <p:nvPr/>
        </p:nvSpPr>
        <p:spPr>
          <a:xfrm>
            <a:off x="11531056" y="3877970"/>
            <a:ext cx="38847" cy="-38847"/>
          </a:xfrm>
          <a:prstGeom prst="line">
            <a:avLst/>
          </a:prstGeom>
          <a:noFill/>
          <a:ln w="9525">
            <a:solidFill>
              <a:srgbClr val="275B7F">
                <a:alpha val="84000"/>
              </a:srgbClr>
            </a:solidFill>
            <a:prstDash val="solid"/>
          </a:ln>
        </p:spPr>
      </p:sp>
      <p:sp>
        <p:nvSpPr>
          <p:cNvPr id="185" name="Shape 183"/>
          <p:cNvSpPr/>
          <p:nvPr/>
        </p:nvSpPr>
        <p:spPr>
          <a:xfrm>
            <a:off x="8395731" y="3776472"/>
            <a:ext cx="128016" cy="128016"/>
          </a:xfrm>
          <a:prstGeom prst="ellipse">
            <a:avLst/>
          </a:prstGeom>
          <a:solidFill>
            <a:srgbClr val="FFB04C"/>
          </a:solidFill>
          <a:ln w="12700">
            <a:solidFill>
              <a:srgbClr val="FFFFFF"/>
            </a:solidFill>
            <a:prstDash val="solid"/>
          </a:ln>
        </p:spPr>
      </p:sp>
      <p:sp>
        <p:nvSpPr>
          <p:cNvPr id="186" name="Shape 184"/>
          <p:cNvSpPr/>
          <p:nvPr/>
        </p:nvSpPr>
        <p:spPr>
          <a:xfrm>
            <a:off x="9747976" y="3776472"/>
            <a:ext cx="128016" cy="128016"/>
          </a:xfrm>
          <a:prstGeom prst="ellipse">
            <a:avLst/>
          </a:prstGeom>
          <a:solidFill>
            <a:srgbClr val="007A27"/>
          </a:solidFill>
          <a:ln w="12700">
            <a:solidFill>
              <a:srgbClr val="FFFFFF"/>
            </a:solidFill>
            <a:prstDash val="solid"/>
          </a:ln>
        </p:spPr>
      </p:sp>
      <p:sp>
        <p:nvSpPr>
          <p:cNvPr id="187" name="Shape 185"/>
          <p:cNvSpPr/>
          <p:nvPr/>
        </p:nvSpPr>
        <p:spPr>
          <a:xfrm>
            <a:off x="1033272" y="4251960"/>
            <a:ext cx="10536631" cy="0"/>
          </a:xfrm>
          <a:prstGeom prst="line">
            <a:avLst/>
          </a:prstGeom>
          <a:noFill/>
          <a:ln w="4445">
            <a:solidFill>
              <a:srgbClr val="E2E6E2"/>
            </a:solidFill>
            <a:prstDash val="solid"/>
          </a:ln>
        </p:spPr>
      </p:sp>
      <p:sp>
        <p:nvSpPr>
          <p:cNvPr id="188" name="Shape 186"/>
          <p:cNvSpPr/>
          <p:nvPr/>
        </p:nvSpPr>
        <p:spPr>
          <a:xfrm>
            <a:off x="1143000" y="4005072"/>
            <a:ext cx="45720" cy="219456"/>
          </a:xfrm>
          <a:prstGeom prst="roundRect">
            <a:avLst>
              <a:gd name="adj" fmla="val 60000"/>
            </a:avLst>
          </a:prstGeom>
          <a:solidFill>
            <a:srgbClr val="275B7F"/>
          </a:solidFill>
          <a:ln w="12700">
            <a:solidFill>
              <a:srgbClr val="275B7F"/>
            </a:solidFill>
            <a:prstDash val="solid"/>
          </a:ln>
        </p:spPr>
      </p:sp>
      <p:sp>
        <p:nvSpPr>
          <p:cNvPr id="189" name="Text 187"/>
          <p:cNvSpPr/>
          <p:nvPr/>
        </p:nvSpPr>
        <p:spPr>
          <a:xfrm>
            <a:off x="1243584" y="39684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Metering &amp; Interval Data</a:t>
            </a:r>
            <a:endParaRPr lang="en-US" sz="950" dirty="0"/>
          </a:p>
        </p:txBody>
      </p:sp>
      <p:sp>
        <p:nvSpPr>
          <p:cNvPr id="190" name="Shape 188"/>
          <p:cNvSpPr/>
          <p:nvPr/>
        </p:nvSpPr>
        <p:spPr>
          <a:xfrm>
            <a:off x="4808677" y="4068166"/>
            <a:ext cx="4327185" cy="93269"/>
          </a:xfrm>
          <a:prstGeom prst="roundRect">
            <a:avLst>
              <a:gd name="adj" fmla="val 39216"/>
            </a:avLst>
          </a:prstGeom>
          <a:solidFill>
            <a:srgbClr val="275B7F"/>
          </a:solidFill>
          <a:ln w="5080">
            <a:solidFill>
              <a:srgbClr val="275B7F"/>
            </a:solidFill>
            <a:prstDash val="solid"/>
          </a:ln>
        </p:spPr>
      </p:sp>
      <p:sp>
        <p:nvSpPr>
          <p:cNvPr id="191" name="Shape 189"/>
          <p:cNvSpPr/>
          <p:nvPr/>
        </p:nvSpPr>
        <p:spPr>
          <a:xfrm>
            <a:off x="9135862" y="406816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92" name="Shape 190"/>
          <p:cNvSpPr/>
          <p:nvPr/>
        </p:nvSpPr>
        <p:spPr>
          <a:xfrm>
            <a:off x="9209014" y="4152290"/>
            <a:ext cx="63423" cy="-63423"/>
          </a:xfrm>
          <a:prstGeom prst="line">
            <a:avLst/>
          </a:prstGeom>
          <a:noFill/>
          <a:ln w="9525">
            <a:solidFill>
              <a:srgbClr val="275B7F">
                <a:alpha val="84000"/>
              </a:srgbClr>
            </a:solidFill>
            <a:prstDash val="solid"/>
          </a:ln>
        </p:spPr>
      </p:sp>
      <p:sp>
        <p:nvSpPr>
          <p:cNvPr id="193" name="Shape 191"/>
          <p:cNvSpPr/>
          <p:nvPr/>
        </p:nvSpPr>
        <p:spPr>
          <a:xfrm>
            <a:off x="9483334" y="4152290"/>
            <a:ext cx="63423" cy="-63423"/>
          </a:xfrm>
          <a:prstGeom prst="line">
            <a:avLst/>
          </a:prstGeom>
          <a:noFill/>
          <a:ln w="9525">
            <a:solidFill>
              <a:srgbClr val="275B7F">
                <a:alpha val="84000"/>
              </a:srgbClr>
            </a:solidFill>
            <a:prstDash val="solid"/>
          </a:ln>
        </p:spPr>
      </p:sp>
      <p:sp>
        <p:nvSpPr>
          <p:cNvPr id="194" name="Shape 192"/>
          <p:cNvSpPr/>
          <p:nvPr/>
        </p:nvSpPr>
        <p:spPr>
          <a:xfrm>
            <a:off x="9757654" y="4152290"/>
            <a:ext cx="63423" cy="-63423"/>
          </a:xfrm>
          <a:prstGeom prst="line">
            <a:avLst/>
          </a:prstGeom>
          <a:noFill/>
          <a:ln w="9525">
            <a:solidFill>
              <a:srgbClr val="275B7F">
                <a:alpha val="84000"/>
              </a:srgbClr>
            </a:solidFill>
            <a:prstDash val="solid"/>
          </a:ln>
        </p:spPr>
      </p:sp>
      <p:sp>
        <p:nvSpPr>
          <p:cNvPr id="195" name="Shape 193"/>
          <p:cNvSpPr/>
          <p:nvPr/>
        </p:nvSpPr>
        <p:spPr>
          <a:xfrm>
            <a:off x="10031974" y="4152290"/>
            <a:ext cx="63423" cy="-63423"/>
          </a:xfrm>
          <a:prstGeom prst="line">
            <a:avLst/>
          </a:prstGeom>
          <a:noFill/>
          <a:ln w="9525">
            <a:solidFill>
              <a:srgbClr val="275B7F">
                <a:alpha val="84000"/>
              </a:srgbClr>
            </a:solidFill>
            <a:prstDash val="solid"/>
          </a:ln>
        </p:spPr>
      </p:sp>
      <p:sp>
        <p:nvSpPr>
          <p:cNvPr id="196" name="Shape 194"/>
          <p:cNvSpPr/>
          <p:nvPr/>
        </p:nvSpPr>
        <p:spPr>
          <a:xfrm>
            <a:off x="10306294" y="4152290"/>
            <a:ext cx="63423" cy="-63423"/>
          </a:xfrm>
          <a:prstGeom prst="line">
            <a:avLst/>
          </a:prstGeom>
          <a:noFill/>
          <a:ln w="9525">
            <a:solidFill>
              <a:srgbClr val="275B7F">
                <a:alpha val="84000"/>
              </a:srgbClr>
            </a:solidFill>
            <a:prstDash val="solid"/>
          </a:ln>
        </p:spPr>
      </p:sp>
      <p:sp>
        <p:nvSpPr>
          <p:cNvPr id="197" name="Shape 195"/>
          <p:cNvSpPr/>
          <p:nvPr/>
        </p:nvSpPr>
        <p:spPr>
          <a:xfrm>
            <a:off x="10580614" y="4152290"/>
            <a:ext cx="63423" cy="-63423"/>
          </a:xfrm>
          <a:prstGeom prst="line">
            <a:avLst/>
          </a:prstGeom>
          <a:noFill/>
          <a:ln w="9525">
            <a:solidFill>
              <a:srgbClr val="275B7F">
                <a:alpha val="84000"/>
              </a:srgbClr>
            </a:solidFill>
            <a:prstDash val="solid"/>
          </a:ln>
        </p:spPr>
      </p:sp>
      <p:sp>
        <p:nvSpPr>
          <p:cNvPr id="198" name="Shape 196"/>
          <p:cNvSpPr/>
          <p:nvPr/>
        </p:nvSpPr>
        <p:spPr>
          <a:xfrm>
            <a:off x="10854934" y="4152290"/>
            <a:ext cx="63423" cy="-63423"/>
          </a:xfrm>
          <a:prstGeom prst="line">
            <a:avLst/>
          </a:prstGeom>
          <a:noFill/>
          <a:ln w="9525">
            <a:solidFill>
              <a:srgbClr val="275B7F">
                <a:alpha val="84000"/>
              </a:srgbClr>
            </a:solidFill>
            <a:prstDash val="solid"/>
          </a:ln>
        </p:spPr>
      </p:sp>
      <p:sp>
        <p:nvSpPr>
          <p:cNvPr id="199" name="Shape 197"/>
          <p:cNvSpPr/>
          <p:nvPr/>
        </p:nvSpPr>
        <p:spPr>
          <a:xfrm>
            <a:off x="11129254" y="4152290"/>
            <a:ext cx="63423" cy="-63423"/>
          </a:xfrm>
          <a:prstGeom prst="line">
            <a:avLst/>
          </a:prstGeom>
          <a:noFill/>
          <a:ln w="9525">
            <a:solidFill>
              <a:srgbClr val="275B7F">
                <a:alpha val="84000"/>
              </a:srgbClr>
            </a:solidFill>
            <a:prstDash val="solid"/>
          </a:ln>
        </p:spPr>
      </p:sp>
      <p:sp>
        <p:nvSpPr>
          <p:cNvPr id="200" name="Shape 198"/>
          <p:cNvSpPr/>
          <p:nvPr/>
        </p:nvSpPr>
        <p:spPr>
          <a:xfrm>
            <a:off x="11403574" y="4152290"/>
            <a:ext cx="63423" cy="-63423"/>
          </a:xfrm>
          <a:prstGeom prst="line">
            <a:avLst/>
          </a:prstGeom>
          <a:noFill/>
          <a:ln w="9525">
            <a:solidFill>
              <a:srgbClr val="275B7F">
                <a:alpha val="84000"/>
              </a:srgbClr>
            </a:solidFill>
            <a:prstDash val="solid"/>
          </a:ln>
        </p:spPr>
      </p:sp>
      <p:sp>
        <p:nvSpPr>
          <p:cNvPr id="201" name="Shape 199"/>
          <p:cNvSpPr/>
          <p:nvPr/>
        </p:nvSpPr>
        <p:spPr>
          <a:xfrm>
            <a:off x="7043486" y="4050792"/>
            <a:ext cx="128016" cy="128016"/>
          </a:xfrm>
          <a:prstGeom prst="ellipse">
            <a:avLst/>
          </a:prstGeom>
          <a:solidFill>
            <a:srgbClr val="FFB04C"/>
          </a:solidFill>
          <a:ln w="12700">
            <a:solidFill>
              <a:srgbClr val="FFFFFF"/>
            </a:solidFill>
            <a:prstDash val="solid"/>
          </a:ln>
        </p:spPr>
      </p:sp>
      <p:sp>
        <p:nvSpPr>
          <p:cNvPr id="202" name="Shape 200"/>
          <p:cNvSpPr/>
          <p:nvPr/>
        </p:nvSpPr>
        <p:spPr>
          <a:xfrm>
            <a:off x="9071854" y="4050792"/>
            <a:ext cx="128016" cy="128016"/>
          </a:xfrm>
          <a:prstGeom prst="ellipse">
            <a:avLst/>
          </a:prstGeom>
          <a:solidFill>
            <a:srgbClr val="007A27"/>
          </a:solidFill>
          <a:ln w="12700">
            <a:solidFill>
              <a:srgbClr val="FFFFFF"/>
            </a:solidFill>
            <a:prstDash val="solid"/>
          </a:ln>
        </p:spPr>
      </p:sp>
      <p:sp>
        <p:nvSpPr>
          <p:cNvPr id="203" name="Shape 201"/>
          <p:cNvSpPr/>
          <p:nvPr/>
        </p:nvSpPr>
        <p:spPr>
          <a:xfrm>
            <a:off x="1033272" y="4251960"/>
            <a:ext cx="2423160" cy="274320"/>
          </a:xfrm>
          <a:prstGeom prst="rect">
            <a:avLst/>
          </a:prstGeom>
          <a:solidFill>
            <a:srgbClr val="F1F3F2">
              <a:alpha val="55000"/>
            </a:srgbClr>
          </a:solidFill>
          <a:ln w="12700">
            <a:solidFill>
              <a:srgbClr val="F1F3F2">
                <a:alpha val="0"/>
              </a:srgbClr>
            </a:solidFill>
            <a:prstDash val="solid"/>
          </a:ln>
        </p:spPr>
      </p:sp>
      <p:sp>
        <p:nvSpPr>
          <p:cNvPr id="204" name="Shape 202"/>
          <p:cNvSpPr/>
          <p:nvPr/>
        </p:nvSpPr>
        <p:spPr>
          <a:xfrm>
            <a:off x="1033272" y="4526280"/>
            <a:ext cx="10536631" cy="0"/>
          </a:xfrm>
          <a:prstGeom prst="line">
            <a:avLst/>
          </a:prstGeom>
          <a:noFill/>
          <a:ln w="4445">
            <a:solidFill>
              <a:srgbClr val="E2E6E2"/>
            </a:solidFill>
            <a:prstDash val="solid"/>
          </a:ln>
        </p:spPr>
      </p:sp>
      <p:sp>
        <p:nvSpPr>
          <p:cNvPr id="205" name="Shape 203"/>
          <p:cNvSpPr/>
          <p:nvPr/>
        </p:nvSpPr>
        <p:spPr>
          <a:xfrm>
            <a:off x="1143000" y="4279392"/>
            <a:ext cx="45720" cy="219456"/>
          </a:xfrm>
          <a:prstGeom prst="roundRect">
            <a:avLst>
              <a:gd name="adj" fmla="val 60000"/>
            </a:avLst>
          </a:prstGeom>
          <a:solidFill>
            <a:srgbClr val="275B7F"/>
          </a:solidFill>
          <a:ln w="12700">
            <a:solidFill>
              <a:srgbClr val="275B7F"/>
            </a:solidFill>
            <a:prstDash val="solid"/>
          </a:ln>
        </p:spPr>
      </p:sp>
      <p:sp>
        <p:nvSpPr>
          <p:cNvPr id="206" name="Text 204"/>
          <p:cNvSpPr/>
          <p:nvPr/>
        </p:nvSpPr>
        <p:spPr>
          <a:xfrm>
            <a:off x="1243584" y="42428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Energy Portfolio Management</a:t>
            </a:r>
            <a:endParaRPr lang="en-US" sz="950" dirty="0"/>
          </a:p>
        </p:txBody>
      </p:sp>
      <p:sp>
        <p:nvSpPr>
          <p:cNvPr id="207" name="Shape 205"/>
          <p:cNvSpPr/>
          <p:nvPr/>
        </p:nvSpPr>
        <p:spPr>
          <a:xfrm>
            <a:off x="5484800" y="4342486"/>
            <a:ext cx="3448225" cy="93269"/>
          </a:xfrm>
          <a:prstGeom prst="roundRect">
            <a:avLst>
              <a:gd name="adj" fmla="val 39216"/>
            </a:avLst>
          </a:prstGeom>
          <a:solidFill>
            <a:srgbClr val="275B7F"/>
          </a:solidFill>
          <a:ln w="5080">
            <a:solidFill>
              <a:srgbClr val="275B7F"/>
            </a:solidFill>
            <a:prstDash val="solid"/>
          </a:ln>
        </p:spPr>
      </p:sp>
      <p:sp>
        <p:nvSpPr>
          <p:cNvPr id="208" name="Shape 206"/>
          <p:cNvSpPr/>
          <p:nvPr/>
        </p:nvSpPr>
        <p:spPr>
          <a:xfrm>
            <a:off x="8933025" y="4342486"/>
            <a:ext cx="2636878"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09" name="Shape 207"/>
          <p:cNvSpPr/>
          <p:nvPr/>
        </p:nvSpPr>
        <p:spPr>
          <a:xfrm>
            <a:off x="9006177" y="4426610"/>
            <a:ext cx="63423" cy="-63423"/>
          </a:xfrm>
          <a:prstGeom prst="line">
            <a:avLst/>
          </a:prstGeom>
          <a:noFill/>
          <a:ln w="9525">
            <a:solidFill>
              <a:srgbClr val="275B7F">
                <a:alpha val="84000"/>
              </a:srgbClr>
            </a:solidFill>
            <a:prstDash val="solid"/>
          </a:ln>
        </p:spPr>
      </p:sp>
      <p:sp>
        <p:nvSpPr>
          <p:cNvPr id="210" name="Shape 208"/>
          <p:cNvSpPr/>
          <p:nvPr/>
        </p:nvSpPr>
        <p:spPr>
          <a:xfrm>
            <a:off x="9280497" y="4426610"/>
            <a:ext cx="63423" cy="-63423"/>
          </a:xfrm>
          <a:prstGeom prst="line">
            <a:avLst/>
          </a:prstGeom>
          <a:noFill/>
          <a:ln w="9525">
            <a:solidFill>
              <a:srgbClr val="275B7F">
                <a:alpha val="84000"/>
              </a:srgbClr>
            </a:solidFill>
            <a:prstDash val="solid"/>
          </a:ln>
        </p:spPr>
      </p:sp>
      <p:sp>
        <p:nvSpPr>
          <p:cNvPr id="211" name="Shape 209"/>
          <p:cNvSpPr/>
          <p:nvPr/>
        </p:nvSpPr>
        <p:spPr>
          <a:xfrm>
            <a:off x="9554817" y="4426610"/>
            <a:ext cx="63423" cy="-63423"/>
          </a:xfrm>
          <a:prstGeom prst="line">
            <a:avLst/>
          </a:prstGeom>
          <a:noFill/>
          <a:ln w="9525">
            <a:solidFill>
              <a:srgbClr val="275B7F">
                <a:alpha val="84000"/>
              </a:srgbClr>
            </a:solidFill>
            <a:prstDash val="solid"/>
          </a:ln>
        </p:spPr>
      </p:sp>
      <p:sp>
        <p:nvSpPr>
          <p:cNvPr id="212" name="Shape 210"/>
          <p:cNvSpPr/>
          <p:nvPr/>
        </p:nvSpPr>
        <p:spPr>
          <a:xfrm>
            <a:off x="9829137" y="4426610"/>
            <a:ext cx="63423" cy="-63423"/>
          </a:xfrm>
          <a:prstGeom prst="line">
            <a:avLst/>
          </a:prstGeom>
          <a:noFill/>
          <a:ln w="9525">
            <a:solidFill>
              <a:srgbClr val="275B7F">
                <a:alpha val="84000"/>
              </a:srgbClr>
            </a:solidFill>
            <a:prstDash val="solid"/>
          </a:ln>
        </p:spPr>
      </p:sp>
      <p:sp>
        <p:nvSpPr>
          <p:cNvPr id="213" name="Shape 211"/>
          <p:cNvSpPr/>
          <p:nvPr/>
        </p:nvSpPr>
        <p:spPr>
          <a:xfrm>
            <a:off x="10103457" y="4426610"/>
            <a:ext cx="63423" cy="-63423"/>
          </a:xfrm>
          <a:prstGeom prst="line">
            <a:avLst/>
          </a:prstGeom>
          <a:noFill/>
          <a:ln w="9525">
            <a:solidFill>
              <a:srgbClr val="275B7F">
                <a:alpha val="84000"/>
              </a:srgbClr>
            </a:solidFill>
            <a:prstDash val="solid"/>
          </a:ln>
        </p:spPr>
      </p:sp>
      <p:sp>
        <p:nvSpPr>
          <p:cNvPr id="214" name="Shape 212"/>
          <p:cNvSpPr/>
          <p:nvPr/>
        </p:nvSpPr>
        <p:spPr>
          <a:xfrm>
            <a:off x="10377777" y="4426610"/>
            <a:ext cx="63423" cy="-63423"/>
          </a:xfrm>
          <a:prstGeom prst="line">
            <a:avLst/>
          </a:prstGeom>
          <a:noFill/>
          <a:ln w="9525">
            <a:solidFill>
              <a:srgbClr val="275B7F">
                <a:alpha val="84000"/>
              </a:srgbClr>
            </a:solidFill>
            <a:prstDash val="solid"/>
          </a:ln>
        </p:spPr>
      </p:sp>
      <p:sp>
        <p:nvSpPr>
          <p:cNvPr id="215" name="Shape 213"/>
          <p:cNvSpPr/>
          <p:nvPr/>
        </p:nvSpPr>
        <p:spPr>
          <a:xfrm>
            <a:off x="10652097" y="4426610"/>
            <a:ext cx="63423" cy="-63423"/>
          </a:xfrm>
          <a:prstGeom prst="line">
            <a:avLst/>
          </a:prstGeom>
          <a:noFill/>
          <a:ln w="9525">
            <a:solidFill>
              <a:srgbClr val="275B7F">
                <a:alpha val="84000"/>
              </a:srgbClr>
            </a:solidFill>
            <a:prstDash val="solid"/>
          </a:ln>
        </p:spPr>
      </p:sp>
      <p:sp>
        <p:nvSpPr>
          <p:cNvPr id="216" name="Shape 214"/>
          <p:cNvSpPr/>
          <p:nvPr/>
        </p:nvSpPr>
        <p:spPr>
          <a:xfrm>
            <a:off x="10926417" y="4426610"/>
            <a:ext cx="63423" cy="-63423"/>
          </a:xfrm>
          <a:prstGeom prst="line">
            <a:avLst/>
          </a:prstGeom>
          <a:noFill/>
          <a:ln w="9525">
            <a:solidFill>
              <a:srgbClr val="275B7F">
                <a:alpha val="84000"/>
              </a:srgbClr>
            </a:solidFill>
            <a:prstDash val="solid"/>
          </a:ln>
        </p:spPr>
      </p:sp>
      <p:sp>
        <p:nvSpPr>
          <p:cNvPr id="217" name="Shape 215"/>
          <p:cNvSpPr/>
          <p:nvPr/>
        </p:nvSpPr>
        <p:spPr>
          <a:xfrm>
            <a:off x="11200737" y="4426610"/>
            <a:ext cx="63423" cy="-63423"/>
          </a:xfrm>
          <a:prstGeom prst="line">
            <a:avLst/>
          </a:prstGeom>
          <a:noFill/>
          <a:ln w="9525">
            <a:solidFill>
              <a:srgbClr val="275B7F">
                <a:alpha val="84000"/>
              </a:srgbClr>
            </a:solidFill>
            <a:prstDash val="solid"/>
          </a:ln>
        </p:spPr>
      </p:sp>
      <p:sp>
        <p:nvSpPr>
          <p:cNvPr id="218" name="Shape 216"/>
          <p:cNvSpPr/>
          <p:nvPr/>
        </p:nvSpPr>
        <p:spPr>
          <a:xfrm>
            <a:off x="11475057" y="4426610"/>
            <a:ext cx="63423" cy="-63423"/>
          </a:xfrm>
          <a:prstGeom prst="line">
            <a:avLst/>
          </a:prstGeom>
          <a:noFill/>
          <a:ln w="9525">
            <a:solidFill>
              <a:srgbClr val="275B7F">
                <a:alpha val="84000"/>
              </a:srgbClr>
            </a:solidFill>
            <a:prstDash val="solid"/>
          </a:ln>
        </p:spPr>
      </p:sp>
      <p:sp>
        <p:nvSpPr>
          <p:cNvPr id="219" name="Shape 217"/>
          <p:cNvSpPr/>
          <p:nvPr/>
        </p:nvSpPr>
        <p:spPr>
          <a:xfrm>
            <a:off x="6773037" y="4325112"/>
            <a:ext cx="128016" cy="128016"/>
          </a:xfrm>
          <a:prstGeom prst="ellipse">
            <a:avLst/>
          </a:prstGeom>
          <a:solidFill>
            <a:srgbClr val="FFB04C"/>
          </a:solidFill>
          <a:ln w="12700">
            <a:solidFill>
              <a:srgbClr val="FFFFFF"/>
            </a:solidFill>
            <a:prstDash val="solid"/>
          </a:ln>
        </p:spPr>
      </p:sp>
      <p:sp>
        <p:nvSpPr>
          <p:cNvPr id="220" name="Shape 218"/>
          <p:cNvSpPr/>
          <p:nvPr/>
        </p:nvSpPr>
        <p:spPr>
          <a:xfrm>
            <a:off x="8869017" y="4325112"/>
            <a:ext cx="128016" cy="128016"/>
          </a:xfrm>
          <a:prstGeom prst="ellipse">
            <a:avLst/>
          </a:prstGeom>
          <a:solidFill>
            <a:srgbClr val="007A27"/>
          </a:solidFill>
          <a:ln w="12700">
            <a:solidFill>
              <a:srgbClr val="FFFFFF"/>
            </a:solidFill>
            <a:prstDash val="solid"/>
          </a:ln>
        </p:spPr>
      </p:sp>
      <p:sp>
        <p:nvSpPr>
          <p:cNvPr id="221" name="Shape 219"/>
          <p:cNvSpPr/>
          <p:nvPr/>
        </p:nvSpPr>
        <p:spPr>
          <a:xfrm>
            <a:off x="1033272" y="4800600"/>
            <a:ext cx="10536631" cy="0"/>
          </a:xfrm>
          <a:prstGeom prst="line">
            <a:avLst/>
          </a:prstGeom>
          <a:noFill/>
          <a:ln w="4445">
            <a:solidFill>
              <a:srgbClr val="E2E6E2"/>
            </a:solidFill>
            <a:prstDash val="solid"/>
          </a:ln>
        </p:spPr>
      </p:sp>
      <p:sp>
        <p:nvSpPr>
          <p:cNvPr id="222" name="Shape 220"/>
          <p:cNvSpPr/>
          <p:nvPr/>
        </p:nvSpPr>
        <p:spPr>
          <a:xfrm>
            <a:off x="1143000" y="4553712"/>
            <a:ext cx="45720" cy="219456"/>
          </a:xfrm>
          <a:prstGeom prst="roundRect">
            <a:avLst>
              <a:gd name="adj" fmla="val 60000"/>
            </a:avLst>
          </a:prstGeom>
          <a:solidFill>
            <a:srgbClr val="275B7F"/>
          </a:solidFill>
          <a:ln w="12700">
            <a:solidFill>
              <a:srgbClr val="275B7F"/>
            </a:solidFill>
            <a:prstDash val="solid"/>
          </a:ln>
        </p:spPr>
      </p:sp>
      <p:sp>
        <p:nvSpPr>
          <p:cNvPr id="223" name="Text 221"/>
          <p:cNvSpPr/>
          <p:nvPr/>
        </p:nvSpPr>
        <p:spPr>
          <a:xfrm>
            <a:off x="1243584" y="451713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Utility Data Management</a:t>
            </a:r>
            <a:endParaRPr lang="en-US" sz="950" dirty="0"/>
          </a:p>
        </p:txBody>
      </p:sp>
      <p:sp>
        <p:nvSpPr>
          <p:cNvPr id="224" name="Shape 222"/>
          <p:cNvSpPr/>
          <p:nvPr/>
        </p:nvSpPr>
        <p:spPr>
          <a:xfrm>
            <a:off x="4808677" y="4616806"/>
            <a:ext cx="3651062" cy="93269"/>
          </a:xfrm>
          <a:prstGeom prst="roundRect">
            <a:avLst>
              <a:gd name="adj" fmla="val 39216"/>
            </a:avLst>
          </a:prstGeom>
          <a:solidFill>
            <a:srgbClr val="275B7F"/>
          </a:solidFill>
          <a:ln w="5080">
            <a:solidFill>
              <a:srgbClr val="275B7F"/>
            </a:solidFill>
            <a:prstDash val="solid"/>
          </a:ln>
        </p:spPr>
      </p:sp>
      <p:sp>
        <p:nvSpPr>
          <p:cNvPr id="225" name="Shape 223"/>
          <p:cNvSpPr/>
          <p:nvPr/>
        </p:nvSpPr>
        <p:spPr>
          <a:xfrm>
            <a:off x="8459739" y="4616806"/>
            <a:ext cx="3110164"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26" name="Shape 224"/>
          <p:cNvSpPr/>
          <p:nvPr/>
        </p:nvSpPr>
        <p:spPr>
          <a:xfrm>
            <a:off x="8532891" y="4700930"/>
            <a:ext cx="63423" cy="-63423"/>
          </a:xfrm>
          <a:prstGeom prst="line">
            <a:avLst/>
          </a:prstGeom>
          <a:noFill/>
          <a:ln w="9525">
            <a:solidFill>
              <a:srgbClr val="275B7F">
                <a:alpha val="84000"/>
              </a:srgbClr>
            </a:solidFill>
            <a:prstDash val="solid"/>
          </a:ln>
        </p:spPr>
      </p:sp>
      <p:sp>
        <p:nvSpPr>
          <p:cNvPr id="227" name="Shape 225"/>
          <p:cNvSpPr/>
          <p:nvPr/>
        </p:nvSpPr>
        <p:spPr>
          <a:xfrm>
            <a:off x="8807211" y="4700930"/>
            <a:ext cx="63423" cy="-63423"/>
          </a:xfrm>
          <a:prstGeom prst="line">
            <a:avLst/>
          </a:prstGeom>
          <a:noFill/>
          <a:ln w="9525">
            <a:solidFill>
              <a:srgbClr val="275B7F">
                <a:alpha val="84000"/>
              </a:srgbClr>
            </a:solidFill>
            <a:prstDash val="solid"/>
          </a:ln>
        </p:spPr>
      </p:sp>
      <p:sp>
        <p:nvSpPr>
          <p:cNvPr id="228" name="Shape 226"/>
          <p:cNvSpPr/>
          <p:nvPr/>
        </p:nvSpPr>
        <p:spPr>
          <a:xfrm>
            <a:off x="9081531" y="4700930"/>
            <a:ext cx="63423" cy="-63423"/>
          </a:xfrm>
          <a:prstGeom prst="line">
            <a:avLst/>
          </a:prstGeom>
          <a:noFill/>
          <a:ln w="9525">
            <a:solidFill>
              <a:srgbClr val="275B7F">
                <a:alpha val="84000"/>
              </a:srgbClr>
            </a:solidFill>
            <a:prstDash val="solid"/>
          </a:ln>
        </p:spPr>
      </p:sp>
      <p:sp>
        <p:nvSpPr>
          <p:cNvPr id="229" name="Shape 227"/>
          <p:cNvSpPr/>
          <p:nvPr/>
        </p:nvSpPr>
        <p:spPr>
          <a:xfrm>
            <a:off x="9355851" y="4700930"/>
            <a:ext cx="63423" cy="-63423"/>
          </a:xfrm>
          <a:prstGeom prst="line">
            <a:avLst/>
          </a:prstGeom>
          <a:noFill/>
          <a:ln w="9525">
            <a:solidFill>
              <a:srgbClr val="275B7F">
                <a:alpha val="84000"/>
              </a:srgbClr>
            </a:solidFill>
            <a:prstDash val="solid"/>
          </a:ln>
        </p:spPr>
      </p:sp>
      <p:sp>
        <p:nvSpPr>
          <p:cNvPr id="230" name="Shape 228"/>
          <p:cNvSpPr/>
          <p:nvPr/>
        </p:nvSpPr>
        <p:spPr>
          <a:xfrm>
            <a:off x="9630171" y="4700930"/>
            <a:ext cx="63423" cy="-63423"/>
          </a:xfrm>
          <a:prstGeom prst="line">
            <a:avLst/>
          </a:prstGeom>
          <a:noFill/>
          <a:ln w="9525">
            <a:solidFill>
              <a:srgbClr val="275B7F">
                <a:alpha val="84000"/>
              </a:srgbClr>
            </a:solidFill>
            <a:prstDash val="solid"/>
          </a:ln>
        </p:spPr>
      </p:sp>
      <p:sp>
        <p:nvSpPr>
          <p:cNvPr id="231" name="Shape 229"/>
          <p:cNvSpPr/>
          <p:nvPr/>
        </p:nvSpPr>
        <p:spPr>
          <a:xfrm>
            <a:off x="9904491" y="4700930"/>
            <a:ext cx="63423" cy="-63423"/>
          </a:xfrm>
          <a:prstGeom prst="line">
            <a:avLst/>
          </a:prstGeom>
          <a:noFill/>
          <a:ln w="9525">
            <a:solidFill>
              <a:srgbClr val="275B7F">
                <a:alpha val="84000"/>
              </a:srgbClr>
            </a:solidFill>
            <a:prstDash val="solid"/>
          </a:ln>
        </p:spPr>
      </p:sp>
      <p:sp>
        <p:nvSpPr>
          <p:cNvPr id="232" name="Shape 230"/>
          <p:cNvSpPr/>
          <p:nvPr/>
        </p:nvSpPr>
        <p:spPr>
          <a:xfrm>
            <a:off x="10178811" y="4700930"/>
            <a:ext cx="63423" cy="-63423"/>
          </a:xfrm>
          <a:prstGeom prst="line">
            <a:avLst/>
          </a:prstGeom>
          <a:noFill/>
          <a:ln w="9525">
            <a:solidFill>
              <a:srgbClr val="275B7F">
                <a:alpha val="84000"/>
              </a:srgbClr>
            </a:solidFill>
            <a:prstDash val="solid"/>
          </a:ln>
        </p:spPr>
      </p:sp>
      <p:sp>
        <p:nvSpPr>
          <p:cNvPr id="233" name="Shape 231"/>
          <p:cNvSpPr/>
          <p:nvPr/>
        </p:nvSpPr>
        <p:spPr>
          <a:xfrm>
            <a:off x="10453131" y="4700930"/>
            <a:ext cx="63423" cy="-63423"/>
          </a:xfrm>
          <a:prstGeom prst="line">
            <a:avLst/>
          </a:prstGeom>
          <a:noFill/>
          <a:ln w="9525">
            <a:solidFill>
              <a:srgbClr val="275B7F">
                <a:alpha val="84000"/>
              </a:srgbClr>
            </a:solidFill>
            <a:prstDash val="solid"/>
          </a:ln>
        </p:spPr>
      </p:sp>
      <p:sp>
        <p:nvSpPr>
          <p:cNvPr id="234" name="Shape 232"/>
          <p:cNvSpPr/>
          <p:nvPr/>
        </p:nvSpPr>
        <p:spPr>
          <a:xfrm>
            <a:off x="10727451" y="4700930"/>
            <a:ext cx="63423" cy="-63423"/>
          </a:xfrm>
          <a:prstGeom prst="line">
            <a:avLst/>
          </a:prstGeom>
          <a:noFill/>
          <a:ln w="9525">
            <a:solidFill>
              <a:srgbClr val="275B7F">
                <a:alpha val="84000"/>
              </a:srgbClr>
            </a:solidFill>
            <a:prstDash val="solid"/>
          </a:ln>
        </p:spPr>
      </p:sp>
      <p:sp>
        <p:nvSpPr>
          <p:cNvPr id="235" name="Shape 233"/>
          <p:cNvSpPr/>
          <p:nvPr/>
        </p:nvSpPr>
        <p:spPr>
          <a:xfrm>
            <a:off x="11001771" y="4700930"/>
            <a:ext cx="63423" cy="-63423"/>
          </a:xfrm>
          <a:prstGeom prst="line">
            <a:avLst/>
          </a:prstGeom>
          <a:noFill/>
          <a:ln w="9525">
            <a:solidFill>
              <a:srgbClr val="275B7F">
                <a:alpha val="84000"/>
              </a:srgbClr>
            </a:solidFill>
            <a:prstDash val="solid"/>
          </a:ln>
        </p:spPr>
      </p:sp>
      <p:sp>
        <p:nvSpPr>
          <p:cNvPr id="236" name="Shape 234"/>
          <p:cNvSpPr/>
          <p:nvPr/>
        </p:nvSpPr>
        <p:spPr>
          <a:xfrm>
            <a:off x="11276091" y="4700930"/>
            <a:ext cx="63423" cy="-63423"/>
          </a:xfrm>
          <a:prstGeom prst="line">
            <a:avLst/>
          </a:prstGeom>
          <a:noFill/>
          <a:ln w="9525">
            <a:solidFill>
              <a:srgbClr val="275B7F">
                <a:alpha val="84000"/>
              </a:srgbClr>
            </a:solidFill>
            <a:prstDash val="solid"/>
          </a:ln>
        </p:spPr>
      </p:sp>
      <p:sp>
        <p:nvSpPr>
          <p:cNvPr id="237" name="Shape 235"/>
          <p:cNvSpPr/>
          <p:nvPr/>
        </p:nvSpPr>
        <p:spPr>
          <a:xfrm>
            <a:off x="7111098" y="4599432"/>
            <a:ext cx="128016" cy="128016"/>
          </a:xfrm>
          <a:prstGeom prst="ellipse">
            <a:avLst/>
          </a:prstGeom>
          <a:solidFill>
            <a:srgbClr val="FFB04C"/>
          </a:solidFill>
          <a:ln w="12700">
            <a:solidFill>
              <a:srgbClr val="FFFFFF"/>
            </a:solidFill>
            <a:prstDash val="solid"/>
          </a:ln>
        </p:spPr>
      </p:sp>
      <p:sp>
        <p:nvSpPr>
          <p:cNvPr id="238" name="Shape 236"/>
          <p:cNvSpPr/>
          <p:nvPr/>
        </p:nvSpPr>
        <p:spPr>
          <a:xfrm>
            <a:off x="8395731" y="4599432"/>
            <a:ext cx="128016" cy="128016"/>
          </a:xfrm>
          <a:prstGeom prst="ellipse">
            <a:avLst/>
          </a:prstGeom>
          <a:solidFill>
            <a:srgbClr val="007A27"/>
          </a:solidFill>
          <a:ln w="12700">
            <a:solidFill>
              <a:srgbClr val="FFFFFF"/>
            </a:solidFill>
            <a:prstDash val="solid"/>
          </a:ln>
        </p:spPr>
      </p:sp>
      <p:sp>
        <p:nvSpPr>
          <p:cNvPr id="239" name="Shape 237"/>
          <p:cNvSpPr/>
          <p:nvPr/>
        </p:nvSpPr>
        <p:spPr>
          <a:xfrm>
            <a:off x="1033272" y="4800600"/>
            <a:ext cx="2423160" cy="274320"/>
          </a:xfrm>
          <a:prstGeom prst="rect">
            <a:avLst/>
          </a:prstGeom>
          <a:solidFill>
            <a:srgbClr val="F1F3F2">
              <a:alpha val="55000"/>
            </a:srgbClr>
          </a:solidFill>
          <a:ln w="12700">
            <a:solidFill>
              <a:srgbClr val="F1F3F2">
                <a:alpha val="0"/>
              </a:srgbClr>
            </a:solidFill>
            <a:prstDash val="solid"/>
          </a:ln>
        </p:spPr>
      </p:sp>
      <p:sp>
        <p:nvSpPr>
          <p:cNvPr id="240" name="Shape 238"/>
          <p:cNvSpPr/>
          <p:nvPr/>
        </p:nvSpPr>
        <p:spPr>
          <a:xfrm>
            <a:off x="1033272" y="5074920"/>
            <a:ext cx="10536631" cy="0"/>
          </a:xfrm>
          <a:prstGeom prst="line">
            <a:avLst/>
          </a:prstGeom>
          <a:noFill/>
          <a:ln w="4445">
            <a:solidFill>
              <a:srgbClr val="E2E6E2"/>
            </a:solidFill>
            <a:prstDash val="solid"/>
          </a:ln>
        </p:spPr>
      </p:sp>
      <p:sp>
        <p:nvSpPr>
          <p:cNvPr id="241" name="Shape 239"/>
          <p:cNvSpPr/>
          <p:nvPr/>
        </p:nvSpPr>
        <p:spPr>
          <a:xfrm>
            <a:off x="1143000" y="4828032"/>
            <a:ext cx="45720" cy="219456"/>
          </a:xfrm>
          <a:prstGeom prst="roundRect">
            <a:avLst>
              <a:gd name="adj" fmla="val 60000"/>
            </a:avLst>
          </a:prstGeom>
          <a:solidFill>
            <a:srgbClr val="275B7F"/>
          </a:solidFill>
          <a:ln w="12700">
            <a:solidFill>
              <a:srgbClr val="275B7F"/>
            </a:solidFill>
            <a:prstDash val="solid"/>
          </a:ln>
        </p:spPr>
      </p:sp>
      <p:sp>
        <p:nvSpPr>
          <p:cNvPr id="242" name="Text 240"/>
          <p:cNvSpPr/>
          <p:nvPr/>
        </p:nvSpPr>
        <p:spPr>
          <a:xfrm>
            <a:off x="1243584" y="479145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Budget &amp; Tariff Intelligence</a:t>
            </a:r>
            <a:endParaRPr lang="en-US" sz="950" dirty="0"/>
          </a:p>
        </p:txBody>
      </p:sp>
      <p:sp>
        <p:nvSpPr>
          <p:cNvPr id="243" name="Shape 241"/>
          <p:cNvSpPr/>
          <p:nvPr/>
        </p:nvSpPr>
        <p:spPr>
          <a:xfrm>
            <a:off x="5484800" y="4891126"/>
            <a:ext cx="3651062" cy="93269"/>
          </a:xfrm>
          <a:prstGeom prst="roundRect">
            <a:avLst>
              <a:gd name="adj" fmla="val 39216"/>
            </a:avLst>
          </a:prstGeom>
          <a:solidFill>
            <a:srgbClr val="275B7F"/>
          </a:solidFill>
          <a:ln w="5080">
            <a:solidFill>
              <a:srgbClr val="275B7F"/>
            </a:solidFill>
            <a:prstDash val="solid"/>
          </a:ln>
        </p:spPr>
      </p:sp>
      <p:sp>
        <p:nvSpPr>
          <p:cNvPr id="244" name="Shape 242"/>
          <p:cNvSpPr/>
          <p:nvPr/>
        </p:nvSpPr>
        <p:spPr>
          <a:xfrm>
            <a:off x="9135862" y="489112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45" name="Shape 243"/>
          <p:cNvSpPr/>
          <p:nvPr/>
        </p:nvSpPr>
        <p:spPr>
          <a:xfrm>
            <a:off x="9209014" y="4975250"/>
            <a:ext cx="63423" cy="-63423"/>
          </a:xfrm>
          <a:prstGeom prst="line">
            <a:avLst/>
          </a:prstGeom>
          <a:noFill/>
          <a:ln w="9525">
            <a:solidFill>
              <a:srgbClr val="275B7F">
                <a:alpha val="84000"/>
              </a:srgbClr>
            </a:solidFill>
            <a:prstDash val="solid"/>
          </a:ln>
        </p:spPr>
      </p:sp>
      <p:sp>
        <p:nvSpPr>
          <p:cNvPr id="246" name="Shape 244"/>
          <p:cNvSpPr/>
          <p:nvPr/>
        </p:nvSpPr>
        <p:spPr>
          <a:xfrm>
            <a:off x="9483334" y="4975250"/>
            <a:ext cx="63423" cy="-63423"/>
          </a:xfrm>
          <a:prstGeom prst="line">
            <a:avLst/>
          </a:prstGeom>
          <a:noFill/>
          <a:ln w="9525">
            <a:solidFill>
              <a:srgbClr val="275B7F">
                <a:alpha val="84000"/>
              </a:srgbClr>
            </a:solidFill>
            <a:prstDash val="solid"/>
          </a:ln>
        </p:spPr>
      </p:sp>
      <p:sp>
        <p:nvSpPr>
          <p:cNvPr id="247" name="Shape 245"/>
          <p:cNvSpPr/>
          <p:nvPr/>
        </p:nvSpPr>
        <p:spPr>
          <a:xfrm>
            <a:off x="9757654" y="4975250"/>
            <a:ext cx="63423" cy="-63423"/>
          </a:xfrm>
          <a:prstGeom prst="line">
            <a:avLst/>
          </a:prstGeom>
          <a:noFill/>
          <a:ln w="9525">
            <a:solidFill>
              <a:srgbClr val="275B7F">
                <a:alpha val="84000"/>
              </a:srgbClr>
            </a:solidFill>
            <a:prstDash val="solid"/>
          </a:ln>
        </p:spPr>
      </p:sp>
      <p:sp>
        <p:nvSpPr>
          <p:cNvPr id="248" name="Shape 246"/>
          <p:cNvSpPr/>
          <p:nvPr/>
        </p:nvSpPr>
        <p:spPr>
          <a:xfrm>
            <a:off x="10031974" y="4975250"/>
            <a:ext cx="63423" cy="-63423"/>
          </a:xfrm>
          <a:prstGeom prst="line">
            <a:avLst/>
          </a:prstGeom>
          <a:noFill/>
          <a:ln w="9525">
            <a:solidFill>
              <a:srgbClr val="275B7F">
                <a:alpha val="84000"/>
              </a:srgbClr>
            </a:solidFill>
            <a:prstDash val="solid"/>
          </a:ln>
        </p:spPr>
      </p:sp>
      <p:sp>
        <p:nvSpPr>
          <p:cNvPr id="249" name="Shape 247"/>
          <p:cNvSpPr/>
          <p:nvPr/>
        </p:nvSpPr>
        <p:spPr>
          <a:xfrm>
            <a:off x="10306294" y="4975250"/>
            <a:ext cx="63423" cy="-63423"/>
          </a:xfrm>
          <a:prstGeom prst="line">
            <a:avLst/>
          </a:prstGeom>
          <a:noFill/>
          <a:ln w="9525">
            <a:solidFill>
              <a:srgbClr val="275B7F">
                <a:alpha val="84000"/>
              </a:srgbClr>
            </a:solidFill>
            <a:prstDash val="solid"/>
          </a:ln>
        </p:spPr>
      </p:sp>
      <p:sp>
        <p:nvSpPr>
          <p:cNvPr id="250" name="Shape 248"/>
          <p:cNvSpPr/>
          <p:nvPr/>
        </p:nvSpPr>
        <p:spPr>
          <a:xfrm>
            <a:off x="10580614" y="4975250"/>
            <a:ext cx="63423" cy="-63423"/>
          </a:xfrm>
          <a:prstGeom prst="line">
            <a:avLst/>
          </a:prstGeom>
          <a:noFill/>
          <a:ln w="9525">
            <a:solidFill>
              <a:srgbClr val="275B7F">
                <a:alpha val="84000"/>
              </a:srgbClr>
            </a:solidFill>
            <a:prstDash val="solid"/>
          </a:ln>
        </p:spPr>
      </p:sp>
      <p:sp>
        <p:nvSpPr>
          <p:cNvPr id="251" name="Shape 249"/>
          <p:cNvSpPr/>
          <p:nvPr/>
        </p:nvSpPr>
        <p:spPr>
          <a:xfrm>
            <a:off x="10854934" y="4975250"/>
            <a:ext cx="63423" cy="-63423"/>
          </a:xfrm>
          <a:prstGeom prst="line">
            <a:avLst/>
          </a:prstGeom>
          <a:noFill/>
          <a:ln w="9525">
            <a:solidFill>
              <a:srgbClr val="275B7F">
                <a:alpha val="84000"/>
              </a:srgbClr>
            </a:solidFill>
            <a:prstDash val="solid"/>
          </a:ln>
        </p:spPr>
      </p:sp>
      <p:sp>
        <p:nvSpPr>
          <p:cNvPr id="252" name="Shape 250"/>
          <p:cNvSpPr/>
          <p:nvPr/>
        </p:nvSpPr>
        <p:spPr>
          <a:xfrm>
            <a:off x="11129254" y="4975250"/>
            <a:ext cx="63423" cy="-63423"/>
          </a:xfrm>
          <a:prstGeom prst="line">
            <a:avLst/>
          </a:prstGeom>
          <a:noFill/>
          <a:ln w="9525">
            <a:solidFill>
              <a:srgbClr val="275B7F">
                <a:alpha val="84000"/>
              </a:srgbClr>
            </a:solidFill>
            <a:prstDash val="solid"/>
          </a:ln>
        </p:spPr>
      </p:sp>
      <p:sp>
        <p:nvSpPr>
          <p:cNvPr id="253" name="Shape 251"/>
          <p:cNvSpPr/>
          <p:nvPr/>
        </p:nvSpPr>
        <p:spPr>
          <a:xfrm>
            <a:off x="11403574" y="4975250"/>
            <a:ext cx="63423" cy="-63423"/>
          </a:xfrm>
          <a:prstGeom prst="line">
            <a:avLst/>
          </a:prstGeom>
          <a:noFill/>
          <a:ln w="9525">
            <a:solidFill>
              <a:srgbClr val="275B7F">
                <a:alpha val="84000"/>
              </a:srgbClr>
            </a:solidFill>
            <a:prstDash val="solid"/>
          </a:ln>
        </p:spPr>
      </p:sp>
      <p:sp>
        <p:nvSpPr>
          <p:cNvPr id="254" name="Shape 252"/>
          <p:cNvSpPr/>
          <p:nvPr/>
        </p:nvSpPr>
        <p:spPr>
          <a:xfrm>
            <a:off x="7719609" y="4873752"/>
            <a:ext cx="128016" cy="128016"/>
          </a:xfrm>
          <a:prstGeom prst="ellipse">
            <a:avLst/>
          </a:prstGeom>
          <a:solidFill>
            <a:srgbClr val="FFB04C"/>
          </a:solidFill>
          <a:ln w="12700">
            <a:solidFill>
              <a:srgbClr val="FFFFFF"/>
            </a:solidFill>
            <a:prstDash val="solid"/>
          </a:ln>
        </p:spPr>
      </p:sp>
      <p:sp>
        <p:nvSpPr>
          <p:cNvPr id="255" name="Shape 253"/>
          <p:cNvSpPr/>
          <p:nvPr/>
        </p:nvSpPr>
        <p:spPr>
          <a:xfrm>
            <a:off x="9071854" y="4873752"/>
            <a:ext cx="128016" cy="128016"/>
          </a:xfrm>
          <a:prstGeom prst="ellipse">
            <a:avLst/>
          </a:prstGeom>
          <a:solidFill>
            <a:srgbClr val="007A27"/>
          </a:solidFill>
          <a:ln w="12700">
            <a:solidFill>
              <a:srgbClr val="FFFFFF"/>
            </a:solidFill>
            <a:prstDash val="solid"/>
          </a:ln>
        </p:spPr>
      </p:sp>
      <p:sp>
        <p:nvSpPr>
          <p:cNvPr id="256" name="Shape 254"/>
          <p:cNvSpPr/>
          <p:nvPr/>
        </p:nvSpPr>
        <p:spPr>
          <a:xfrm>
            <a:off x="1033272" y="5349240"/>
            <a:ext cx="10536631" cy="0"/>
          </a:xfrm>
          <a:prstGeom prst="line">
            <a:avLst/>
          </a:prstGeom>
          <a:noFill/>
          <a:ln w="4445">
            <a:solidFill>
              <a:srgbClr val="E2E6E2"/>
            </a:solidFill>
            <a:prstDash val="solid"/>
          </a:ln>
        </p:spPr>
      </p:sp>
      <p:sp>
        <p:nvSpPr>
          <p:cNvPr id="257" name="Shape 255"/>
          <p:cNvSpPr/>
          <p:nvPr/>
        </p:nvSpPr>
        <p:spPr>
          <a:xfrm>
            <a:off x="1143000" y="5102352"/>
            <a:ext cx="45720" cy="219456"/>
          </a:xfrm>
          <a:prstGeom prst="roundRect">
            <a:avLst>
              <a:gd name="adj" fmla="val 60000"/>
            </a:avLst>
          </a:prstGeom>
          <a:solidFill>
            <a:srgbClr val="275B7F"/>
          </a:solidFill>
          <a:ln w="12700">
            <a:solidFill>
              <a:srgbClr val="275B7F"/>
            </a:solidFill>
            <a:prstDash val="solid"/>
          </a:ln>
        </p:spPr>
      </p:sp>
      <p:sp>
        <p:nvSpPr>
          <p:cNvPr id="258" name="Text 256"/>
          <p:cNvSpPr/>
          <p:nvPr/>
        </p:nvSpPr>
        <p:spPr>
          <a:xfrm>
            <a:off x="1243584" y="50657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Sourcing &amp; Procurement</a:t>
            </a:r>
            <a:endParaRPr lang="en-US" sz="950" dirty="0"/>
          </a:p>
        </p:txBody>
      </p:sp>
      <p:sp>
        <p:nvSpPr>
          <p:cNvPr id="259" name="Shape 257"/>
          <p:cNvSpPr/>
          <p:nvPr/>
        </p:nvSpPr>
        <p:spPr>
          <a:xfrm>
            <a:off x="6160922" y="5165446"/>
            <a:ext cx="4327185" cy="93269"/>
          </a:xfrm>
          <a:prstGeom prst="roundRect">
            <a:avLst>
              <a:gd name="adj" fmla="val 39216"/>
            </a:avLst>
          </a:prstGeom>
          <a:solidFill>
            <a:srgbClr val="275B7F"/>
          </a:solidFill>
          <a:ln w="5080">
            <a:solidFill>
              <a:srgbClr val="275B7F"/>
            </a:solidFill>
            <a:prstDash val="solid"/>
          </a:ln>
        </p:spPr>
      </p:sp>
      <p:sp>
        <p:nvSpPr>
          <p:cNvPr id="260" name="Shape 258"/>
          <p:cNvSpPr/>
          <p:nvPr/>
        </p:nvSpPr>
        <p:spPr>
          <a:xfrm>
            <a:off x="10488107" y="5165446"/>
            <a:ext cx="1081796"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61" name="Shape 259"/>
          <p:cNvSpPr/>
          <p:nvPr/>
        </p:nvSpPr>
        <p:spPr>
          <a:xfrm>
            <a:off x="10561259" y="5249570"/>
            <a:ext cx="63423" cy="-63423"/>
          </a:xfrm>
          <a:prstGeom prst="line">
            <a:avLst/>
          </a:prstGeom>
          <a:noFill/>
          <a:ln w="9525">
            <a:solidFill>
              <a:srgbClr val="275B7F">
                <a:alpha val="84000"/>
              </a:srgbClr>
            </a:solidFill>
            <a:prstDash val="solid"/>
          </a:ln>
        </p:spPr>
      </p:sp>
      <p:sp>
        <p:nvSpPr>
          <p:cNvPr id="262" name="Shape 260"/>
          <p:cNvSpPr/>
          <p:nvPr/>
        </p:nvSpPr>
        <p:spPr>
          <a:xfrm>
            <a:off x="10835579" y="5249570"/>
            <a:ext cx="63423" cy="-63423"/>
          </a:xfrm>
          <a:prstGeom prst="line">
            <a:avLst/>
          </a:prstGeom>
          <a:noFill/>
          <a:ln w="9525">
            <a:solidFill>
              <a:srgbClr val="275B7F">
                <a:alpha val="84000"/>
              </a:srgbClr>
            </a:solidFill>
            <a:prstDash val="solid"/>
          </a:ln>
        </p:spPr>
      </p:sp>
      <p:sp>
        <p:nvSpPr>
          <p:cNvPr id="263" name="Shape 261"/>
          <p:cNvSpPr/>
          <p:nvPr/>
        </p:nvSpPr>
        <p:spPr>
          <a:xfrm>
            <a:off x="11109899" y="5249570"/>
            <a:ext cx="63423" cy="-63423"/>
          </a:xfrm>
          <a:prstGeom prst="line">
            <a:avLst/>
          </a:prstGeom>
          <a:noFill/>
          <a:ln w="9525">
            <a:solidFill>
              <a:srgbClr val="275B7F">
                <a:alpha val="84000"/>
              </a:srgbClr>
            </a:solidFill>
            <a:prstDash val="solid"/>
          </a:ln>
        </p:spPr>
      </p:sp>
      <p:sp>
        <p:nvSpPr>
          <p:cNvPr id="264" name="Shape 262"/>
          <p:cNvSpPr/>
          <p:nvPr/>
        </p:nvSpPr>
        <p:spPr>
          <a:xfrm>
            <a:off x="11384219" y="5249570"/>
            <a:ext cx="63423" cy="-63423"/>
          </a:xfrm>
          <a:prstGeom prst="line">
            <a:avLst/>
          </a:prstGeom>
          <a:noFill/>
          <a:ln w="9525">
            <a:solidFill>
              <a:srgbClr val="275B7F">
                <a:alpha val="84000"/>
              </a:srgbClr>
            </a:solidFill>
            <a:prstDash val="solid"/>
          </a:ln>
        </p:spPr>
      </p:sp>
      <p:sp>
        <p:nvSpPr>
          <p:cNvPr id="265" name="Shape 263"/>
          <p:cNvSpPr/>
          <p:nvPr/>
        </p:nvSpPr>
        <p:spPr>
          <a:xfrm>
            <a:off x="9071854" y="5148072"/>
            <a:ext cx="128016" cy="128016"/>
          </a:xfrm>
          <a:prstGeom prst="ellipse">
            <a:avLst/>
          </a:prstGeom>
          <a:solidFill>
            <a:srgbClr val="FFB04C"/>
          </a:solidFill>
          <a:ln w="12700">
            <a:solidFill>
              <a:srgbClr val="FFFFFF"/>
            </a:solidFill>
            <a:prstDash val="solid"/>
          </a:ln>
        </p:spPr>
      </p:sp>
      <p:sp>
        <p:nvSpPr>
          <p:cNvPr id="266" name="Shape 264"/>
          <p:cNvSpPr/>
          <p:nvPr/>
        </p:nvSpPr>
        <p:spPr>
          <a:xfrm>
            <a:off x="10424099" y="5148072"/>
            <a:ext cx="128016" cy="128016"/>
          </a:xfrm>
          <a:prstGeom prst="ellipse">
            <a:avLst/>
          </a:prstGeom>
          <a:solidFill>
            <a:srgbClr val="007A27"/>
          </a:solidFill>
          <a:ln w="12700">
            <a:solidFill>
              <a:srgbClr val="FFFFFF"/>
            </a:solidFill>
            <a:prstDash val="solid"/>
          </a:ln>
        </p:spPr>
      </p:sp>
      <p:sp>
        <p:nvSpPr>
          <p:cNvPr id="267" name="Shape 265"/>
          <p:cNvSpPr/>
          <p:nvPr/>
        </p:nvSpPr>
        <p:spPr>
          <a:xfrm>
            <a:off x="1033272" y="5349240"/>
            <a:ext cx="2423160" cy="274320"/>
          </a:xfrm>
          <a:prstGeom prst="rect">
            <a:avLst/>
          </a:prstGeom>
          <a:solidFill>
            <a:srgbClr val="F1F3F2">
              <a:alpha val="55000"/>
            </a:srgbClr>
          </a:solidFill>
          <a:ln w="12700">
            <a:solidFill>
              <a:srgbClr val="F1F3F2">
                <a:alpha val="0"/>
              </a:srgbClr>
            </a:solidFill>
            <a:prstDash val="solid"/>
          </a:ln>
        </p:spPr>
      </p:sp>
      <p:sp>
        <p:nvSpPr>
          <p:cNvPr id="268" name="Shape 266"/>
          <p:cNvSpPr/>
          <p:nvPr/>
        </p:nvSpPr>
        <p:spPr>
          <a:xfrm>
            <a:off x="1033272" y="5623560"/>
            <a:ext cx="10536631" cy="0"/>
          </a:xfrm>
          <a:prstGeom prst="line">
            <a:avLst/>
          </a:prstGeom>
          <a:noFill/>
          <a:ln w="4445">
            <a:solidFill>
              <a:srgbClr val="E2E6E2"/>
            </a:solidFill>
            <a:prstDash val="solid"/>
          </a:ln>
        </p:spPr>
      </p:sp>
      <p:sp>
        <p:nvSpPr>
          <p:cNvPr id="269" name="Shape 267"/>
          <p:cNvSpPr/>
          <p:nvPr/>
        </p:nvSpPr>
        <p:spPr>
          <a:xfrm>
            <a:off x="1143000" y="5376672"/>
            <a:ext cx="45720" cy="219456"/>
          </a:xfrm>
          <a:prstGeom prst="roundRect">
            <a:avLst>
              <a:gd name="adj" fmla="val 60000"/>
            </a:avLst>
          </a:prstGeom>
          <a:solidFill>
            <a:srgbClr val="275B7F"/>
          </a:solidFill>
          <a:ln w="12700">
            <a:solidFill>
              <a:srgbClr val="275B7F"/>
            </a:solidFill>
            <a:prstDash val="solid"/>
          </a:ln>
        </p:spPr>
      </p:sp>
      <p:sp>
        <p:nvSpPr>
          <p:cNvPr id="270" name="Text 268"/>
          <p:cNvSpPr/>
          <p:nvPr/>
        </p:nvSpPr>
        <p:spPr>
          <a:xfrm>
            <a:off x="1243584" y="53400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PPAs &amp; EACs</a:t>
            </a:r>
            <a:endParaRPr lang="en-US" sz="950" dirty="0"/>
          </a:p>
        </p:txBody>
      </p:sp>
      <p:sp>
        <p:nvSpPr>
          <p:cNvPr id="271" name="Shape 269"/>
          <p:cNvSpPr/>
          <p:nvPr/>
        </p:nvSpPr>
        <p:spPr>
          <a:xfrm>
            <a:off x="6837045" y="5439766"/>
            <a:ext cx="4327185" cy="93269"/>
          </a:xfrm>
          <a:prstGeom prst="roundRect">
            <a:avLst>
              <a:gd name="adj" fmla="val 39216"/>
            </a:avLst>
          </a:prstGeom>
          <a:solidFill>
            <a:srgbClr val="275B7F"/>
          </a:solidFill>
          <a:ln w="5080">
            <a:solidFill>
              <a:srgbClr val="275B7F"/>
            </a:solidFill>
            <a:prstDash val="solid"/>
          </a:ln>
        </p:spPr>
      </p:sp>
      <p:sp>
        <p:nvSpPr>
          <p:cNvPr id="272" name="Shape 270"/>
          <p:cNvSpPr/>
          <p:nvPr/>
        </p:nvSpPr>
        <p:spPr>
          <a:xfrm>
            <a:off x="11164230" y="5439766"/>
            <a:ext cx="405674"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73" name="Shape 271"/>
          <p:cNvSpPr/>
          <p:nvPr/>
        </p:nvSpPr>
        <p:spPr>
          <a:xfrm>
            <a:off x="11237382" y="5523890"/>
            <a:ext cx="63423" cy="-63423"/>
          </a:xfrm>
          <a:prstGeom prst="line">
            <a:avLst/>
          </a:prstGeom>
          <a:noFill/>
          <a:ln w="9525">
            <a:solidFill>
              <a:srgbClr val="275B7F">
                <a:alpha val="84000"/>
              </a:srgbClr>
            </a:solidFill>
            <a:prstDash val="solid"/>
          </a:ln>
        </p:spPr>
      </p:sp>
      <p:sp>
        <p:nvSpPr>
          <p:cNvPr id="274" name="Shape 272"/>
          <p:cNvSpPr/>
          <p:nvPr/>
        </p:nvSpPr>
        <p:spPr>
          <a:xfrm>
            <a:off x="11511702" y="5523890"/>
            <a:ext cx="58202" cy="-58202"/>
          </a:xfrm>
          <a:prstGeom prst="line">
            <a:avLst/>
          </a:prstGeom>
          <a:noFill/>
          <a:ln w="9525">
            <a:solidFill>
              <a:srgbClr val="275B7F">
                <a:alpha val="84000"/>
              </a:srgbClr>
            </a:solidFill>
            <a:prstDash val="solid"/>
          </a:ln>
        </p:spPr>
      </p:sp>
      <p:sp>
        <p:nvSpPr>
          <p:cNvPr id="275" name="Shape 273"/>
          <p:cNvSpPr/>
          <p:nvPr/>
        </p:nvSpPr>
        <p:spPr>
          <a:xfrm>
            <a:off x="9747976" y="5422392"/>
            <a:ext cx="128016" cy="128016"/>
          </a:xfrm>
          <a:prstGeom prst="ellipse">
            <a:avLst/>
          </a:prstGeom>
          <a:solidFill>
            <a:srgbClr val="FFB04C"/>
          </a:solidFill>
          <a:ln w="12700">
            <a:solidFill>
              <a:srgbClr val="FFFFFF"/>
            </a:solidFill>
            <a:prstDash val="solid"/>
          </a:ln>
        </p:spPr>
      </p:sp>
      <p:sp>
        <p:nvSpPr>
          <p:cNvPr id="276" name="Shape 274"/>
          <p:cNvSpPr/>
          <p:nvPr/>
        </p:nvSpPr>
        <p:spPr>
          <a:xfrm>
            <a:off x="11100222" y="5422392"/>
            <a:ext cx="128016" cy="128016"/>
          </a:xfrm>
          <a:prstGeom prst="ellipse">
            <a:avLst/>
          </a:prstGeom>
          <a:solidFill>
            <a:srgbClr val="007A27"/>
          </a:solidFill>
          <a:ln w="12700">
            <a:solidFill>
              <a:srgbClr val="FFFFFF"/>
            </a:solidFill>
            <a:prstDash val="solid"/>
          </a:ln>
        </p:spPr>
      </p:sp>
      <p:sp>
        <p:nvSpPr>
          <p:cNvPr id="277" name="Shape 275"/>
          <p:cNvSpPr/>
          <p:nvPr/>
        </p:nvSpPr>
        <p:spPr>
          <a:xfrm>
            <a:off x="621792" y="5623560"/>
            <a:ext cx="411480" cy="274320"/>
          </a:xfrm>
          <a:prstGeom prst="rect">
            <a:avLst/>
          </a:prstGeom>
          <a:solidFill>
            <a:srgbClr val="007A27"/>
          </a:solidFill>
          <a:ln w="7620">
            <a:solidFill>
              <a:srgbClr val="FFFFFF"/>
            </a:solidFill>
            <a:prstDash val="solid"/>
          </a:ln>
        </p:spPr>
      </p:sp>
      <p:sp>
        <p:nvSpPr>
          <p:cNvPr id="278" name="Text 276"/>
          <p:cNvSpPr/>
          <p:nvPr/>
        </p:nvSpPr>
        <p:spPr>
          <a:xfrm>
            <a:off x="649224" y="5641848"/>
            <a:ext cx="356616" cy="237744"/>
          </a:xfrm>
          <a:prstGeom prst="rect">
            <a:avLst/>
          </a:prstGeom>
          <a:noFill/>
          <a:ln/>
        </p:spPr>
        <p:txBody>
          <a:bodyPr wrap="square" lIns="0" tIns="0" rIns="0" bIns="0" rtlCol="0" anchor="ctr">
            <a:normAutofit/>
          </a:bodyPr>
          <a:lstStyle/>
          <a:p>
            <a:pPr algn="ctr" indent="0" marL="0">
              <a:buNone/>
            </a:pPr>
            <a:r>
              <a:rPr lang="en-US" sz="550" b="1" dirty="0">
                <a:solidFill>
                  <a:srgbClr val="FFFFFF"/>
                </a:solidFill>
                <a:latin typeface="Calibri" pitchFamily="34" charset="0"/>
                <a:ea typeface="Calibri" pitchFamily="34" charset="-122"/>
                <a:cs typeface="Calibri" pitchFamily="34" charset="-120"/>
              </a:rPr>
              <a:t>PLATFORM</a:t>
            </a:r>
            <a:endParaRPr lang="en-US" sz="550" dirty="0"/>
          </a:p>
        </p:txBody>
      </p:sp>
      <p:sp>
        <p:nvSpPr>
          <p:cNvPr id="279" name="Shape 277"/>
          <p:cNvSpPr/>
          <p:nvPr/>
        </p:nvSpPr>
        <p:spPr>
          <a:xfrm>
            <a:off x="1033272" y="5897880"/>
            <a:ext cx="10536631" cy="0"/>
          </a:xfrm>
          <a:prstGeom prst="line">
            <a:avLst/>
          </a:prstGeom>
          <a:noFill/>
          <a:ln w="4445">
            <a:solidFill>
              <a:srgbClr val="E2E6E2"/>
            </a:solidFill>
            <a:prstDash val="solid"/>
          </a:ln>
        </p:spPr>
      </p:sp>
      <p:sp>
        <p:nvSpPr>
          <p:cNvPr id="280" name="Shape 278"/>
          <p:cNvSpPr/>
          <p:nvPr/>
        </p:nvSpPr>
        <p:spPr>
          <a:xfrm>
            <a:off x="1143000" y="5650992"/>
            <a:ext cx="45720" cy="219456"/>
          </a:xfrm>
          <a:prstGeom prst="roundRect">
            <a:avLst>
              <a:gd name="adj" fmla="val 60000"/>
            </a:avLst>
          </a:prstGeom>
          <a:solidFill>
            <a:srgbClr val="007A27"/>
          </a:solidFill>
          <a:ln w="12700">
            <a:solidFill>
              <a:srgbClr val="007A27"/>
            </a:solidFill>
            <a:prstDash val="solid"/>
          </a:ln>
        </p:spPr>
      </p:sp>
      <p:sp>
        <p:nvSpPr>
          <p:cNvPr id="281" name="Text 279"/>
          <p:cNvSpPr/>
          <p:nvPr/>
        </p:nvSpPr>
        <p:spPr>
          <a:xfrm>
            <a:off x="1243584" y="56144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Shared platform foundations</a:t>
            </a:r>
            <a:endParaRPr lang="en-US" sz="950" dirty="0"/>
          </a:p>
        </p:txBody>
      </p:sp>
      <p:sp>
        <p:nvSpPr>
          <p:cNvPr id="282" name="Shape 280"/>
          <p:cNvSpPr/>
          <p:nvPr/>
        </p:nvSpPr>
        <p:spPr>
          <a:xfrm>
            <a:off x="3456432" y="5714086"/>
            <a:ext cx="8113471" cy="93269"/>
          </a:xfrm>
          <a:prstGeom prst="roundRect">
            <a:avLst>
              <a:gd name="adj" fmla="val 39216"/>
            </a:avLst>
          </a:prstGeom>
          <a:solidFill>
            <a:srgbClr val="007A27"/>
          </a:solidFill>
          <a:ln w="5080">
            <a:solidFill>
              <a:srgbClr val="007A27"/>
            </a:solidFill>
            <a:prstDash val="solid"/>
          </a:ln>
        </p:spPr>
      </p:sp>
      <p:sp>
        <p:nvSpPr>
          <p:cNvPr id="283" name="Shape 281"/>
          <p:cNvSpPr/>
          <p:nvPr/>
        </p:nvSpPr>
        <p:spPr>
          <a:xfrm>
            <a:off x="7315200" y="6080760"/>
            <a:ext cx="146304" cy="146304"/>
          </a:xfrm>
          <a:prstGeom prst="ellipse">
            <a:avLst/>
          </a:prstGeom>
          <a:solidFill>
            <a:srgbClr val="FFB04C"/>
          </a:solidFill>
          <a:ln w="10160">
            <a:solidFill>
              <a:srgbClr val="FFFFFF"/>
            </a:solidFill>
            <a:prstDash val="solid"/>
          </a:ln>
        </p:spPr>
      </p:sp>
      <p:sp>
        <p:nvSpPr>
          <p:cNvPr id="284" name="Text 282"/>
          <p:cNvSpPr/>
          <p:nvPr/>
        </p:nvSpPr>
        <p:spPr>
          <a:xfrm>
            <a:off x="7534656" y="6071616"/>
            <a:ext cx="50292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MVP</a:t>
            </a:r>
            <a:endParaRPr lang="en-US" sz="850" dirty="0"/>
          </a:p>
        </p:txBody>
      </p:sp>
      <p:sp>
        <p:nvSpPr>
          <p:cNvPr id="285" name="Shape 283"/>
          <p:cNvSpPr/>
          <p:nvPr/>
        </p:nvSpPr>
        <p:spPr>
          <a:xfrm>
            <a:off x="8183880" y="6080760"/>
            <a:ext cx="146304" cy="146304"/>
          </a:xfrm>
          <a:prstGeom prst="ellipse">
            <a:avLst/>
          </a:prstGeom>
          <a:solidFill>
            <a:srgbClr val="007A27"/>
          </a:solidFill>
          <a:ln w="10160">
            <a:solidFill>
              <a:srgbClr val="FFFFFF"/>
            </a:solidFill>
            <a:prstDash val="solid"/>
          </a:ln>
        </p:spPr>
      </p:sp>
      <p:sp>
        <p:nvSpPr>
          <p:cNvPr id="286" name="Text 284"/>
          <p:cNvSpPr/>
          <p:nvPr/>
        </p:nvSpPr>
        <p:spPr>
          <a:xfrm>
            <a:off x="8403336" y="6071616"/>
            <a:ext cx="73152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Full GA</a:t>
            </a:r>
            <a:endParaRPr lang="en-US" sz="850" dirty="0"/>
          </a:p>
        </p:txBody>
      </p:sp>
      <p:sp>
        <p:nvSpPr>
          <p:cNvPr id="287" name="Shape 285"/>
          <p:cNvSpPr/>
          <p:nvPr/>
        </p:nvSpPr>
        <p:spPr>
          <a:xfrm>
            <a:off x="9326880" y="6099048"/>
            <a:ext cx="457200" cy="109728"/>
          </a:xfrm>
          <a:prstGeom prst="roundRect">
            <a:avLst>
              <a:gd name="adj" fmla="val 20833"/>
            </a:avLst>
          </a:prstGeom>
          <a:solidFill>
            <a:srgbClr val="3DCD58">
              <a:alpha val="6000"/>
            </a:srgbClr>
          </a:solidFill>
          <a:ln w="6350">
            <a:solidFill>
              <a:srgbClr val="3DCD58">
                <a:alpha val="60000"/>
              </a:srgbClr>
            </a:solidFill>
            <a:prstDash val="solid"/>
          </a:ln>
        </p:spPr>
      </p:sp>
      <p:sp>
        <p:nvSpPr>
          <p:cNvPr id="288" name="Shape 286"/>
          <p:cNvSpPr/>
          <p:nvPr/>
        </p:nvSpPr>
        <p:spPr>
          <a:xfrm>
            <a:off x="9390888" y="6185916"/>
            <a:ext cx="64008" cy="-64008"/>
          </a:xfrm>
          <a:prstGeom prst="line">
            <a:avLst/>
          </a:prstGeom>
          <a:noFill/>
          <a:ln w="9525">
            <a:solidFill>
              <a:srgbClr val="3DCD58">
                <a:alpha val="84000"/>
              </a:srgbClr>
            </a:solidFill>
            <a:prstDash val="solid"/>
          </a:ln>
        </p:spPr>
      </p:sp>
      <p:sp>
        <p:nvSpPr>
          <p:cNvPr id="289" name="Shape 287"/>
          <p:cNvSpPr/>
          <p:nvPr/>
        </p:nvSpPr>
        <p:spPr>
          <a:xfrm>
            <a:off x="9573768" y="6185916"/>
            <a:ext cx="64008" cy="-64008"/>
          </a:xfrm>
          <a:prstGeom prst="line">
            <a:avLst/>
          </a:prstGeom>
          <a:noFill/>
          <a:ln w="9525">
            <a:solidFill>
              <a:srgbClr val="3DCD58">
                <a:alpha val="84000"/>
              </a:srgbClr>
            </a:solidFill>
            <a:prstDash val="solid"/>
          </a:ln>
        </p:spPr>
      </p:sp>
      <p:sp>
        <p:nvSpPr>
          <p:cNvPr id="290" name="Shape 288"/>
          <p:cNvSpPr/>
          <p:nvPr/>
        </p:nvSpPr>
        <p:spPr>
          <a:xfrm>
            <a:off x="9756648" y="6185916"/>
            <a:ext cx="64008" cy="-64008"/>
          </a:xfrm>
          <a:prstGeom prst="line">
            <a:avLst/>
          </a:prstGeom>
          <a:noFill/>
          <a:ln w="9525">
            <a:solidFill>
              <a:srgbClr val="3DCD58">
                <a:alpha val="84000"/>
              </a:srgbClr>
            </a:solidFill>
            <a:prstDash val="solid"/>
          </a:ln>
        </p:spPr>
      </p:sp>
      <p:sp>
        <p:nvSpPr>
          <p:cNvPr id="291" name="Text 289"/>
          <p:cNvSpPr/>
          <p:nvPr/>
        </p:nvSpPr>
        <p:spPr>
          <a:xfrm>
            <a:off x="9857232" y="6071616"/>
            <a:ext cx="173736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Continuous investment after GA</a:t>
            </a:r>
            <a:endParaRPr lang="en-US" sz="850" dirty="0"/>
          </a:p>
        </p:txBody>
      </p:sp>
      <p:sp>
        <p:nvSpPr>
          <p:cNvPr id="292" name="Shape 290"/>
          <p:cNvSpPr/>
          <p:nvPr/>
        </p:nvSpPr>
        <p:spPr>
          <a:xfrm>
            <a:off x="621792" y="6437376"/>
            <a:ext cx="10948111" cy="0"/>
          </a:xfrm>
          <a:prstGeom prst="line">
            <a:avLst/>
          </a:prstGeom>
          <a:noFill/>
          <a:ln w="9525">
            <a:solidFill>
              <a:srgbClr val="E2E6E2"/>
            </a:solidFill>
            <a:prstDash val="solid"/>
          </a:ln>
        </p:spPr>
      </p:sp>
      <p:sp>
        <p:nvSpPr>
          <p:cNvPr id="293" name="Text 291"/>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4" name="Text 292"/>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ONE PAGE VIEW</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RA+ 2026 and 2027 at board altitude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What each product commits to per half year.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21792" y="2084832"/>
          <a:ext cx="10948111" cy="914400"/>
        </p:xfrm>
        <a:graphic>
          <a:graphicData uri="http://schemas.openxmlformats.org/drawingml/2006/table">
            <a:tbl>
              <a:tblPr/>
              <a:tblGrid>
                <a:gridCol w="1005840"/>
                <a:gridCol w="3314090"/>
                <a:gridCol w="3314090"/>
                <a:gridCol w="3314090"/>
              </a:tblGrid>
              <a:tr h="51206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PRODUCT</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H2 2026</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H1 2027</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H2 2027</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Carbon Performance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Factors, market based Scope 2, boundaries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Category 4 and 9 transport, category 5, consolidation</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Category 15, FLAG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Supply Chain</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SC emissions management, PCF calculator, DQ assurance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Multi tier visibility, supplier onboarding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Climate risk and ESG compliance integrations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Reporting and Compliance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Standalone launch, indicator management, CSRD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SE migrated, AI assisted disclosure authoring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Assurance workflow, voluntary frameworks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Climate Risk</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Asset register, physical hazard exposure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Scenario analysis and adaptation actions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Transition plan linked to targets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Strategy</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Actions library, ECM and initiative recommendations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Cascading targets, complex structures, ECM library</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Market intelligence, multi hierarchy plans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Core platform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Data quality L1 and L2, audit trail, allocations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Control plane, calculation governance, analytics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DQ scoring, Sera agents, EU hosting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bl>
          </a:graphicData>
        </a:graphic>
      </p:graphicFrame>
      <p:sp>
        <p:nvSpPr>
          <p:cNvPr id="10" name="Shape 7"/>
          <p:cNvSpPr/>
          <p:nvPr/>
        </p:nvSpPr>
        <p:spPr>
          <a:xfrm>
            <a:off x="621792" y="6437376"/>
            <a:ext cx="10948111" cy="0"/>
          </a:xfrm>
          <a:prstGeom prst="line">
            <a:avLst/>
          </a:prstGeom>
          <a:noFill/>
          <a:ln w="9525">
            <a:solidFill>
              <a:srgbClr val="E2E6E2"/>
            </a:solidFill>
            <a:prstDash val="solid"/>
          </a:ln>
        </p:spPr>
      </p:sp>
      <p:sp>
        <p:nvSpPr>
          <p:cNvPr id="11" name="Text 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12" name="Text 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APPENDIX</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A</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Appendix: product detail</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Detailed product by product plans, evidence and sequencing. Available for questions, not required for the decision.</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1</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01</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Where Carbon Performance stands</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Honest accounting of Q3 before we commit anything for Q4 and 2027.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Deepen the inventory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Emission factor and calculation depth first. Sequenced from the ranked theme list and the delivery capacity we actually hold.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999493984112562e+107" dist="9.998313280375211e+106" dir="1.535235553616204e+126">
              <a:srgbClr val="0A1F12">
                <a:alpha val="1.1999999999999998e+129"/>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Sold product emissions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categories 10, 11, 12</a:t>
            </a:r>
            <a:endParaRPr lang="en-US" sz="1000" dirty="0"/>
          </a:p>
        </p:txBody>
      </p:sp>
      <p:sp>
        <p:nvSpPr>
          <p:cNvPr id="16" name="Shape 14"/>
          <p:cNvSpPr/>
          <p:nvPr/>
        </p:nvSpPr>
        <p:spPr>
          <a:xfrm>
            <a:off x="758952" y="3402874"/>
            <a:ext cx="5071720" cy="376210"/>
          </a:xfrm>
          <a:prstGeom prst="roundRect">
            <a:avLst>
              <a:gd name="adj" fmla="val 7292"/>
            </a:avLst>
          </a:prstGeom>
          <a:solidFill>
            <a:srgbClr val="F7F8F7"/>
          </a:solidFill>
          <a:ln w="5080">
            <a:solidFill>
              <a:srgbClr val="F7F8F7"/>
            </a:solidFill>
            <a:prstDash val="solid"/>
          </a:ln>
        </p:spPr>
      </p:sp>
      <p:sp>
        <p:nvSpPr>
          <p:cNvPr id="17" name="Text 15"/>
          <p:cNvSpPr/>
          <p:nvPr/>
        </p:nvSpPr>
        <p:spPr>
          <a:xfrm>
            <a:off x="822960"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System admin improvements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Config engine, calc methods, templates</a:t>
            </a:r>
            <a:endParaRPr lang="en-US" sz="1000" dirty="0"/>
          </a:p>
        </p:txBody>
      </p:sp>
      <p:sp>
        <p:nvSpPr>
          <p:cNvPr id="18" name="Shape 16"/>
          <p:cNvSpPr/>
          <p:nvPr/>
        </p:nvSpPr>
        <p:spPr>
          <a:xfrm>
            <a:off x="758952" y="3852237"/>
            <a:ext cx="5071720" cy="376210"/>
          </a:xfrm>
          <a:prstGeom prst="roundRect">
            <a:avLst>
              <a:gd name="adj" fmla="val 7292"/>
            </a:avLst>
          </a:prstGeom>
          <a:solidFill>
            <a:srgbClr val="F7F8F7"/>
          </a:solidFill>
          <a:ln w="5080">
            <a:solidFill>
              <a:srgbClr val="F7F8F7"/>
            </a:solidFill>
            <a:prstDash val="solid"/>
          </a:ln>
        </p:spPr>
      </p:sp>
      <p:sp>
        <p:nvSpPr>
          <p:cNvPr id="19" name="Text 17"/>
          <p:cNvSpPr/>
          <p:nvPr/>
        </p:nvSpPr>
        <p:spPr>
          <a:xfrm>
            <a:off x="822960"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Inventory revamp</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Clarity, per gas breakdown</a:t>
            </a:r>
            <a:endParaRPr lang="en-US" sz="1000" dirty="0"/>
          </a:p>
        </p:txBody>
      </p:sp>
      <p:sp>
        <p:nvSpPr>
          <p:cNvPr id="20" name="Shape 18"/>
          <p:cNvSpPr/>
          <p:nvPr/>
        </p:nvSpPr>
        <p:spPr>
          <a:xfrm>
            <a:off x="758952" y="4301599"/>
            <a:ext cx="5071720" cy="376210"/>
          </a:xfrm>
          <a:prstGeom prst="roundRect">
            <a:avLst>
              <a:gd name="adj" fmla="val 7292"/>
            </a:avLst>
          </a:prstGeom>
          <a:solidFill>
            <a:srgbClr val="F7F8F7"/>
          </a:solidFill>
          <a:ln w="5080">
            <a:solidFill>
              <a:srgbClr val="F7F8F7"/>
            </a:solidFill>
            <a:prstDash val="solid"/>
          </a:ln>
        </p:spPr>
      </p:sp>
      <p:sp>
        <p:nvSpPr>
          <p:cNvPr id="21" name="Text 19"/>
          <p:cNvSpPr/>
          <p:nvPr/>
        </p:nvSpPr>
        <p:spPr>
          <a:xfrm>
            <a:off x="822960"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Pre-calculated emissions import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Ingestion of client calculated data</a:t>
            </a:r>
            <a:endParaRPr lang="en-US" sz="100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3.809357359822954e+111" dist="1.2697857866076517e+111" dir="9.211413321697224e+130">
              <a:srgbClr val="0A1F12">
                <a:alpha val="1.1999999999999998e+134"/>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28" name="Text 26"/>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EAC and PPA management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Market based Scope 2 coverage</a:t>
            </a:r>
            <a:endParaRPr lang="en-US" sz="1000" dirty="0"/>
          </a:p>
        </p:txBody>
      </p:sp>
      <p:sp>
        <p:nvSpPr>
          <p:cNvPr id="29" name="Shape 27"/>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30" name="Text 28"/>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Base year, exclusions, materiality</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GHGP compliant boundaries</a:t>
            </a:r>
            <a:endParaRPr lang="en-US" sz="950" dirty="0"/>
          </a:p>
        </p:txBody>
      </p:sp>
      <p:sp>
        <p:nvSpPr>
          <p:cNvPr id="31" name="Shape 29"/>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32" name="Text 30"/>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Thermal source attribution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Defensible Scope 1 and 2 split</a:t>
            </a:r>
            <a:endParaRPr lang="en-US" sz="1000" dirty="0"/>
          </a:p>
        </p:txBody>
      </p:sp>
      <p:sp>
        <p:nvSpPr>
          <p:cNvPr id="33" name="Shape 31"/>
          <p:cNvSpPr/>
          <p:nvPr/>
        </p:nvSpPr>
        <p:spPr>
          <a:xfrm>
            <a:off x="6361024" y="4301599"/>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Refrigerant leakage to usage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fugitive emissions</a:t>
            </a:r>
            <a:endParaRPr lang="en-US" sz="1000" dirty="0"/>
          </a:p>
        </p:txBody>
      </p:sp>
      <p:sp>
        <p:nvSpPr>
          <p:cNvPr id="35" name="Shape 33"/>
          <p:cNvSpPr/>
          <p:nvPr/>
        </p:nvSpPr>
        <p:spPr>
          <a:xfrm>
            <a:off x="6361024" y="4750961"/>
            <a:ext cx="5071720" cy="376210"/>
          </a:xfrm>
          <a:prstGeom prst="roundRect">
            <a:avLst>
              <a:gd name="adj" fmla="val 7292"/>
            </a:avLst>
          </a:prstGeom>
          <a:solidFill>
            <a:srgbClr val="F7F8F7"/>
          </a:solidFill>
          <a:ln w="5080">
            <a:solidFill>
              <a:srgbClr val="F7F8F7"/>
            </a:solidFill>
            <a:prstDash val="solid"/>
          </a:ln>
        </p:spPr>
      </p:sp>
      <p:sp>
        <p:nvSpPr>
          <p:cNvPr id="36" name="Text 34"/>
          <p:cNvSpPr/>
          <p:nvPr/>
        </p:nvSpPr>
        <p:spPr>
          <a:xfrm>
            <a:off x="6425032"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Employee commuting and WFH</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7</a:t>
            </a:r>
            <a:endParaRPr lang="en-US" sz="1000" dirty="0"/>
          </a:p>
        </p:txBody>
      </p:sp>
      <p:sp>
        <p:nvSpPr>
          <p:cNvPr id="37" name="Shape 35"/>
          <p:cNvSpPr/>
          <p:nvPr/>
        </p:nvSpPr>
        <p:spPr>
          <a:xfrm>
            <a:off x="6361024" y="5200323"/>
            <a:ext cx="5071720" cy="376210"/>
          </a:xfrm>
          <a:prstGeom prst="roundRect">
            <a:avLst>
              <a:gd name="adj" fmla="val 7292"/>
            </a:avLst>
          </a:prstGeom>
          <a:solidFill>
            <a:srgbClr val="F7F8F7"/>
          </a:solidFill>
          <a:ln w="5080">
            <a:solidFill>
              <a:srgbClr val="F7F8F7"/>
            </a:solidFill>
            <a:prstDash val="solid"/>
          </a:ln>
        </p:spPr>
      </p:sp>
      <p:sp>
        <p:nvSpPr>
          <p:cNvPr id="38" name="Text 36"/>
          <p:cNvSpPr/>
          <p:nvPr/>
        </p:nvSpPr>
        <p:spPr>
          <a:xfrm>
            <a:off x="6425032"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Sera for carbon inventory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AI guided troubleshooting</a:t>
            </a:r>
            <a:endParaRPr lang="en-US" sz="1000" dirty="0"/>
          </a:p>
        </p:txBody>
      </p:sp>
      <p:sp>
        <p:nvSpPr>
          <p:cNvPr id="39" name="Shape 37"/>
          <p:cNvSpPr/>
          <p:nvPr/>
        </p:nvSpPr>
        <p:spPr>
          <a:xfrm>
            <a:off x="6361024" y="5649686"/>
            <a:ext cx="5071720" cy="376210"/>
          </a:xfrm>
          <a:prstGeom prst="roundRect">
            <a:avLst>
              <a:gd name="adj" fmla="val 7292"/>
            </a:avLst>
          </a:prstGeom>
          <a:solidFill>
            <a:srgbClr val="F7F8F7"/>
          </a:solidFill>
          <a:ln w="5080">
            <a:solidFill>
              <a:srgbClr val="F7F8F7"/>
            </a:solidFill>
            <a:prstDash val="solid"/>
          </a:ln>
        </p:spPr>
      </p:sp>
      <p:sp>
        <p:nvSpPr>
          <p:cNvPr id="40" name="Text 38"/>
          <p:cNvSpPr/>
          <p:nvPr/>
        </p:nvSpPr>
        <p:spPr>
          <a:xfrm>
            <a:off x="6425032"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Advanced scenario analysis and decarbonization planning</a:t>
            </a:r>
            <a:endParaRPr lang="en-US" sz="900" dirty="0"/>
          </a:p>
          <a:p>
            <a:pPr indent="0" marL="0">
              <a:lnSpc>
                <a:spcPct val="95000"/>
              </a:lnSpc>
              <a:buNone/>
            </a:pPr>
            <a:r>
              <a:rPr lang="en-US" sz="750" dirty="0">
                <a:solidFill>
                  <a:srgbClr val="5A625C"/>
                </a:solidFill>
                <a:latin typeface="Calibri" pitchFamily="34" charset="0"/>
                <a:ea typeface="Calibri" pitchFamily="34" charset="-122"/>
                <a:cs typeface="Calibri" pitchFamily="34" charset="-120"/>
              </a:rPr>
              <a:t>Initiatives and actions management</a:t>
            </a:r>
            <a:endParaRPr lang="en-US" sz="900" dirty="0"/>
          </a:p>
        </p:txBody>
      </p:sp>
      <p:sp>
        <p:nvSpPr>
          <p:cNvPr id="41" name="Shape 39"/>
          <p:cNvSpPr/>
          <p:nvPr/>
        </p:nvSpPr>
        <p:spPr>
          <a:xfrm>
            <a:off x="621792" y="6437376"/>
            <a:ext cx="10948111" cy="0"/>
          </a:xfrm>
          <a:prstGeom prst="line">
            <a:avLst/>
          </a:prstGeom>
          <a:noFill/>
          <a:ln w="9525">
            <a:solidFill>
              <a:srgbClr val="E2E6E2"/>
            </a:solidFill>
            <a:prstDash val="solid"/>
          </a:ln>
        </p:spPr>
      </p:sp>
      <p:sp>
        <p:nvSpPr>
          <p:cNvPr id="42" name="Text 4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43" name="Text 4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Close the remaining categories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Coverage, governance and assurance, building on the 2026 inventory depth.</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4.837883846975152e+115" dist="1.6126279489917177e+115" dir="5.526847993018334e+135">
              <a:srgbClr val="0A1F12">
                <a:alpha val="1.1999999999999998e+139"/>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Category 4 and 9 product linked transport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Upstream and downstream transport</a:t>
            </a:r>
            <a:endParaRPr lang="en-US" sz="950" dirty="0"/>
          </a:p>
        </p:txBody>
      </p:sp>
      <p:sp>
        <p:nvSpPr>
          <p:cNvPr id="16" name="Shape 14"/>
          <p:cNvSpPr/>
          <p:nvPr/>
        </p:nvSpPr>
        <p:spPr>
          <a:xfrm>
            <a:off x="758952" y="3402874"/>
            <a:ext cx="5071720" cy="376210"/>
          </a:xfrm>
          <a:prstGeom prst="roundRect">
            <a:avLst>
              <a:gd name="adj" fmla="val 7292"/>
            </a:avLst>
          </a:prstGeom>
          <a:solidFill>
            <a:srgbClr val="F7F8F7"/>
          </a:solidFill>
          <a:ln w="5080">
            <a:solidFill>
              <a:srgbClr val="F7F8F7"/>
            </a:solidFill>
            <a:prstDash val="solid"/>
          </a:ln>
        </p:spPr>
      </p:sp>
      <p:sp>
        <p:nvSpPr>
          <p:cNvPr id="17" name="Text 15"/>
          <p:cNvSpPr/>
          <p:nvPr/>
        </p:nvSpPr>
        <p:spPr>
          <a:xfrm>
            <a:off x="822960"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Financial and equity consolidation</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Ownership boundary roll up</a:t>
            </a:r>
            <a:endParaRPr lang="en-US" sz="950" dirty="0"/>
          </a:p>
        </p:txBody>
      </p:sp>
      <p:sp>
        <p:nvSpPr>
          <p:cNvPr id="18" name="Shape 16"/>
          <p:cNvSpPr/>
          <p:nvPr/>
        </p:nvSpPr>
        <p:spPr>
          <a:xfrm>
            <a:off x="758952" y="3852237"/>
            <a:ext cx="5071720" cy="376210"/>
          </a:xfrm>
          <a:prstGeom prst="roundRect">
            <a:avLst>
              <a:gd name="adj" fmla="val 7292"/>
            </a:avLst>
          </a:prstGeom>
          <a:solidFill>
            <a:srgbClr val="F7F8F7"/>
          </a:solidFill>
          <a:ln w="5080">
            <a:solidFill>
              <a:srgbClr val="F7F8F7"/>
            </a:solidFill>
            <a:prstDash val="solid"/>
          </a:ln>
        </p:spPr>
      </p:sp>
      <p:sp>
        <p:nvSpPr>
          <p:cNvPr id="19" name="Text 17"/>
          <p:cNvSpPr/>
          <p:nvPr/>
        </p:nvSpPr>
        <p:spPr>
          <a:xfrm>
            <a:off x="822960"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Waste emission estimation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5</a:t>
            </a:r>
            <a:endParaRPr lang="en-US" sz="1000" dirty="0"/>
          </a:p>
        </p:txBody>
      </p:sp>
      <p:sp>
        <p:nvSpPr>
          <p:cNvPr id="20" name="Shape 18"/>
          <p:cNvSpPr/>
          <p:nvPr/>
        </p:nvSpPr>
        <p:spPr>
          <a:xfrm>
            <a:off x="758952" y="4301599"/>
            <a:ext cx="5071720" cy="376210"/>
          </a:xfrm>
          <a:prstGeom prst="roundRect">
            <a:avLst>
              <a:gd name="adj" fmla="val 7292"/>
            </a:avLst>
          </a:prstGeom>
          <a:solidFill>
            <a:srgbClr val="F7F8F7"/>
          </a:solidFill>
          <a:ln w="5080">
            <a:solidFill>
              <a:srgbClr val="F7F8F7"/>
            </a:solidFill>
            <a:prstDash val="solid"/>
          </a:ln>
        </p:spPr>
      </p:sp>
      <p:sp>
        <p:nvSpPr>
          <p:cNvPr id="21" name="Text 19"/>
          <p:cNvSpPr/>
          <p:nvPr/>
        </p:nvSpPr>
        <p:spPr>
          <a:xfrm>
            <a:off x="822960"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Improved method transparency per data point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Methodology transparency</a:t>
            </a:r>
            <a:endParaRPr lang="en-US" sz="950" dirty="0"/>
          </a:p>
        </p:txBody>
      </p:sp>
      <p:sp>
        <p:nvSpPr>
          <p:cNvPr id="22" name="Shape 20"/>
          <p:cNvSpPr/>
          <p:nvPr/>
        </p:nvSpPr>
        <p:spPr>
          <a:xfrm>
            <a:off x="758952" y="4750961"/>
            <a:ext cx="5071720" cy="376210"/>
          </a:xfrm>
          <a:prstGeom prst="roundRect">
            <a:avLst>
              <a:gd name="adj" fmla="val 7292"/>
            </a:avLst>
          </a:prstGeom>
          <a:solidFill>
            <a:srgbClr val="F7F8F7"/>
          </a:solidFill>
          <a:ln w="5080">
            <a:solidFill>
              <a:srgbClr val="F7F8F7"/>
            </a:solidFill>
            <a:prstDash val="solid"/>
          </a:ln>
        </p:spPr>
      </p:sp>
      <p:sp>
        <p:nvSpPr>
          <p:cNvPr id="23" name="Text 21"/>
          <p:cNvSpPr/>
          <p:nvPr/>
        </p:nvSpPr>
        <p:spPr>
          <a:xfrm>
            <a:off x="822960"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Rebaselining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Base year recalculation workflows</a:t>
            </a:r>
            <a:endParaRPr lang="en-US" sz="1000" dirty="0"/>
          </a:p>
        </p:txBody>
      </p:sp>
      <p:sp>
        <p:nvSpPr>
          <p:cNvPr id="24" name="Shape 22"/>
          <p:cNvSpPr/>
          <p:nvPr/>
        </p:nvSpPr>
        <p:spPr>
          <a:xfrm>
            <a:off x="758952" y="5200323"/>
            <a:ext cx="5071720" cy="376210"/>
          </a:xfrm>
          <a:prstGeom prst="roundRect">
            <a:avLst>
              <a:gd name="adj" fmla="val 7292"/>
            </a:avLst>
          </a:prstGeom>
          <a:solidFill>
            <a:srgbClr val="F7F8F7"/>
          </a:solidFill>
          <a:ln w="5080">
            <a:solidFill>
              <a:srgbClr val="F7F8F7"/>
            </a:solidFill>
            <a:prstDash val="solid"/>
          </a:ln>
        </p:spPr>
      </p:sp>
      <p:sp>
        <p:nvSpPr>
          <p:cNvPr id="25" name="Text 23"/>
          <p:cNvSpPr/>
          <p:nvPr/>
        </p:nvSpPr>
        <p:spPr>
          <a:xfrm>
            <a:off x="822960"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Supply chain PCF integration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Supplier specific factors</a:t>
            </a:r>
            <a:endParaRPr lang="en-US" sz="1000" dirty="0"/>
          </a:p>
        </p:txBody>
      </p:sp>
      <p:sp>
        <p:nvSpPr>
          <p:cNvPr id="26" name="Shape 24"/>
          <p:cNvSpPr/>
          <p:nvPr/>
        </p:nvSpPr>
        <p:spPr>
          <a:xfrm>
            <a:off x="758952" y="5649686"/>
            <a:ext cx="5071720" cy="376210"/>
          </a:xfrm>
          <a:prstGeom prst="roundRect">
            <a:avLst>
              <a:gd name="adj" fmla="val 7292"/>
            </a:avLst>
          </a:prstGeom>
          <a:solidFill>
            <a:srgbClr val="F7F8F7"/>
          </a:solidFill>
          <a:ln w="5080">
            <a:solidFill>
              <a:srgbClr val="F7F8F7"/>
            </a:solidFill>
            <a:prstDash val="solid"/>
          </a:ln>
        </p:spPr>
      </p:sp>
      <p:sp>
        <p:nvSpPr>
          <p:cNvPr id="27" name="Text 25"/>
          <p:cNvSpPr/>
          <p:nvPr/>
        </p:nvSpPr>
        <p:spPr>
          <a:xfrm>
            <a:off x="822960"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ECM library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Energy and carbon cobenefits</a:t>
            </a:r>
            <a:endParaRPr lang="en-US" sz="1000" dirty="0"/>
          </a:p>
        </p:txBody>
      </p:sp>
      <p:sp>
        <p:nvSpPr>
          <p:cNvPr id="28" name="Shape 26"/>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6.144112485658443e+119" dist="2.0480374952194813e+119" dir="3.3161087958110005e+140">
              <a:srgbClr val="0A1F12">
                <a:alpha val="1.1999999999999999e+144"/>
              </a:srgbClr>
            </a:outerShdw>
          </a:effectLst>
        </p:spPr>
      </p:sp>
      <p:sp>
        <p:nvSpPr>
          <p:cNvPr id="29" name="Shape 27"/>
          <p:cNvSpPr/>
          <p:nvPr/>
        </p:nvSpPr>
        <p:spPr>
          <a:xfrm>
            <a:off x="6223864" y="2084832"/>
            <a:ext cx="5346040" cy="713232"/>
          </a:xfrm>
          <a:prstGeom prst="rect">
            <a:avLst/>
          </a:prstGeom>
          <a:solidFill>
            <a:srgbClr val="EAF1F5"/>
          </a:solidFill>
          <a:ln w="12700">
            <a:solidFill>
              <a:srgbClr val="EAF1F5"/>
            </a:solidFill>
            <a:prstDash val="solid"/>
          </a:ln>
        </p:spPr>
      </p:sp>
      <p:sp>
        <p:nvSpPr>
          <p:cNvPr id="30" name="Shape 28"/>
          <p:cNvSpPr/>
          <p:nvPr/>
        </p:nvSpPr>
        <p:spPr>
          <a:xfrm>
            <a:off x="6223864" y="2084832"/>
            <a:ext cx="54864" cy="4178808"/>
          </a:xfrm>
          <a:prstGeom prst="rect">
            <a:avLst/>
          </a:prstGeom>
          <a:solidFill>
            <a:srgbClr val="275B7F"/>
          </a:solidFill>
          <a:ln w="12700">
            <a:solidFill>
              <a:srgbClr val="275B7F"/>
            </a:solidFill>
            <a:prstDash val="solid"/>
          </a:ln>
        </p:spPr>
      </p:sp>
      <p:sp>
        <p:nvSpPr>
          <p:cNvPr id="31" name="Text 29"/>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32" name="Text 30"/>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33" name="Shape 31"/>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Category 15 investments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PCAF aligned financed emissions</a:t>
            </a:r>
            <a:endParaRPr lang="en-US" sz="1000" dirty="0"/>
          </a:p>
        </p:txBody>
      </p:sp>
      <p:sp>
        <p:nvSpPr>
          <p:cNvPr id="35" name="Shape 33"/>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36" name="Text 34"/>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FLAG segmentation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Specialised standards</a:t>
            </a:r>
            <a:endParaRPr lang="en-US" sz="1000" dirty="0"/>
          </a:p>
        </p:txBody>
      </p:sp>
      <p:sp>
        <p:nvSpPr>
          <p:cNvPr id="37" name="Shape 35"/>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38" name="Text 36"/>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Dedicated auditor experience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Variance checks, reports, status</a:t>
            </a:r>
            <a:endParaRPr lang="en-US" sz="1000" dirty="0"/>
          </a:p>
        </p:txBody>
      </p:sp>
      <p:sp>
        <p:nvSpPr>
          <p:cNvPr id="39" name="Shape 37"/>
          <p:cNvSpPr/>
          <p:nvPr/>
        </p:nvSpPr>
        <p:spPr>
          <a:xfrm>
            <a:off x="621792" y="6437376"/>
            <a:ext cx="10948111" cy="0"/>
          </a:xfrm>
          <a:prstGeom prst="line">
            <a:avLst/>
          </a:prstGeom>
          <a:noFill/>
          <a:ln w="9525">
            <a:solidFill>
              <a:srgbClr val="E2E6E2"/>
            </a:solidFill>
            <a:prstDash val="solid"/>
          </a:ln>
        </p:spPr>
      </p:sp>
      <p:sp>
        <p:nvSpPr>
          <p:cNvPr id="40" name="Text 3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41" name="Text 3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Carbon Performance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Factors and calculation depth first, then coverage, then the governance that makes it auditable.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7.803022856786223e+123" dist="2.6010076189287412e+123" dir="1.9896652774866004e+145">
              <a:srgbClr val="0A1F12">
                <a:alpha val="1.1999999999999998e+14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Factors and calculation depth</a:t>
            </a:r>
            <a:endParaRPr lang="en-US" sz="14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Make the number defensible.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EAC and PPA management for market based Scope 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Thermal source attribution across Scope 1 and 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Refrigerant leakage to usage based fugitive emissions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specific and standard factor datasets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Improved method transparency per data point</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9.909839028118503e+127" dist="3.303279676039501e+127" dir="1.1937991664919603e+150">
              <a:srgbClr val="0A1F12">
                <a:alpha val="1.1999999999999998e+15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Inventory coverage</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Close the Scope 3 gaps.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Sold product emissions, categories 10, 11 and 12</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Employee commuting and working from home, category 7</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4 and 9 product linked transport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Waste emission estimation, category 5</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15 investments and FLAG segmentation</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2585495565710499e+132" dist="4.195165188570166e+131" dir="7.162794998951762e+154">
              <a:srgbClr val="0A1F12">
                <a:alpha val="1.1999999999999998e+15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Boundaries and governance</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Consultant grade control.</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Base year, exclusions and materiality settings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Financial and equity consolidation of ownership</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Rebaselining and base year recalculation workflows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 with per gas breakdown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5983579368452334e+136" dist="5.327859789484111e+135" dir="4.297676999371057e+159">
              <a:srgbClr val="0A1F12">
                <a:alpha val="1.1999999999999998e+16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AI and decision support</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inventory to action.</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for carbon inventory, AI guided troubleshooting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scenario analysis and decarbonization planning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Initiatives and actions management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ECM library with energy and carbon cobenefits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76275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43357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STATUS TEST</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Carbon Performance roadmap by delivery confidence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same roadmap reframed around what is underway, committed, planned and still aspirational.</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2.0299145797934463e+140" dist="6.766381932644821e+139" dir="2.5786061996226343e+164">
              <a:srgbClr val="0A1F12">
                <a:alpha val="1.1999999999999998e+169"/>
              </a:srgbClr>
            </a:outerShdw>
          </a:effectLst>
        </p:spPr>
      </p:sp>
      <p:sp>
        <p:nvSpPr>
          <p:cNvPr id="10" name="Shape 8"/>
          <p:cNvSpPr/>
          <p:nvPr/>
        </p:nvSpPr>
        <p:spPr>
          <a:xfrm>
            <a:off x="621792" y="2084832"/>
            <a:ext cx="2545004"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2215820"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IN DELIVERY</a:t>
            </a:r>
            <a:endParaRPr lang="en-US" sz="850" dirty="0"/>
          </a:p>
        </p:txBody>
      </p:sp>
      <p:sp>
        <p:nvSpPr>
          <p:cNvPr id="13" name="Text 11"/>
          <p:cNvSpPr/>
          <p:nvPr/>
        </p:nvSpPr>
        <p:spPr>
          <a:xfrm>
            <a:off x="804672"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2270684"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Sold product emissions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categories 10, 11 and 12</a:t>
            </a:r>
            <a:endParaRPr lang="en-US" sz="1000" dirty="0"/>
          </a:p>
        </p:txBody>
      </p:sp>
      <p:sp>
        <p:nvSpPr>
          <p:cNvPr id="16" name="Shape 14"/>
          <p:cNvSpPr/>
          <p:nvPr/>
        </p:nvSpPr>
        <p:spPr>
          <a:xfrm>
            <a:off x="758952" y="3582619"/>
            <a:ext cx="2270684"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System admin improvements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Configuration, methods and templates</a:t>
            </a:r>
            <a:endParaRPr lang="en-US" sz="1000" dirty="0"/>
          </a:p>
        </p:txBody>
      </p:sp>
      <p:sp>
        <p:nvSpPr>
          <p:cNvPr id="18" name="Shape 16"/>
          <p:cNvSpPr/>
          <p:nvPr/>
        </p:nvSpPr>
        <p:spPr>
          <a:xfrm>
            <a:off x="758952" y="4211726"/>
            <a:ext cx="2270684"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Inventory revamp</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Clarity and per gas breakdown</a:t>
            </a:r>
            <a:endParaRPr lang="en-US" sz="1000" dirty="0"/>
          </a:p>
        </p:txBody>
      </p:sp>
      <p:sp>
        <p:nvSpPr>
          <p:cNvPr id="20" name="Shape 18"/>
          <p:cNvSpPr/>
          <p:nvPr/>
        </p:nvSpPr>
        <p:spPr>
          <a:xfrm>
            <a:off x="758952" y="4840834"/>
            <a:ext cx="2270684"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Pre-calculated emissions import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Client-calculated data ingestion</a:t>
            </a:r>
            <a:endParaRPr lang="en-US" sz="1000" dirty="0"/>
          </a:p>
        </p:txBody>
      </p:sp>
      <p:sp>
        <p:nvSpPr>
          <p:cNvPr id="22" name="Shape 20"/>
          <p:cNvSpPr/>
          <p:nvPr/>
        </p:nvSpPr>
        <p:spPr>
          <a:xfrm>
            <a:off x="3422828"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2.577991516337677e+144" dist="8.593305054458923e+143" dir="1.5471637197735807e+169">
              <a:srgbClr val="0A1F12">
                <a:alpha val="1.1999999999999997e+174"/>
              </a:srgbClr>
            </a:outerShdw>
          </a:effectLst>
        </p:spPr>
      </p:sp>
      <p:sp>
        <p:nvSpPr>
          <p:cNvPr id="23" name="Shape 21"/>
          <p:cNvSpPr/>
          <p:nvPr/>
        </p:nvSpPr>
        <p:spPr>
          <a:xfrm>
            <a:off x="3422828" y="2084832"/>
            <a:ext cx="2545004" cy="713232"/>
          </a:xfrm>
          <a:prstGeom prst="rect">
            <a:avLst/>
          </a:prstGeom>
          <a:solidFill>
            <a:srgbClr val="EAF8ED"/>
          </a:solidFill>
          <a:ln w="12700">
            <a:solidFill>
              <a:srgbClr val="EAF8ED"/>
            </a:solidFill>
            <a:prstDash val="solid"/>
          </a:ln>
        </p:spPr>
      </p:sp>
      <p:sp>
        <p:nvSpPr>
          <p:cNvPr id="24" name="Shape 22"/>
          <p:cNvSpPr/>
          <p:nvPr/>
        </p:nvSpPr>
        <p:spPr>
          <a:xfrm>
            <a:off x="3422828" y="2084832"/>
            <a:ext cx="54864" cy="4178808"/>
          </a:xfrm>
          <a:prstGeom prst="rect">
            <a:avLst/>
          </a:prstGeom>
          <a:solidFill>
            <a:srgbClr val="007A27"/>
          </a:solidFill>
          <a:ln w="12700">
            <a:solidFill>
              <a:srgbClr val="007A27"/>
            </a:solidFill>
            <a:prstDash val="solid"/>
          </a:ln>
        </p:spPr>
      </p:sp>
      <p:sp>
        <p:nvSpPr>
          <p:cNvPr id="25" name="Text 23"/>
          <p:cNvSpPr/>
          <p:nvPr/>
        </p:nvSpPr>
        <p:spPr>
          <a:xfrm>
            <a:off x="3605708" y="2176272"/>
            <a:ext cx="2215820"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COMMITTED</a:t>
            </a:r>
            <a:endParaRPr lang="en-US" sz="850" dirty="0"/>
          </a:p>
        </p:txBody>
      </p:sp>
      <p:sp>
        <p:nvSpPr>
          <p:cNvPr id="26" name="Text 24"/>
          <p:cNvSpPr/>
          <p:nvPr/>
        </p:nvSpPr>
        <p:spPr>
          <a:xfrm>
            <a:off x="3605708"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 committed</a:t>
            </a:r>
            <a:endParaRPr lang="en-US" sz="1400" dirty="0"/>
          </a:p>
        </p:txBody>
      </p:sp>
      <p:sp>
        <p:nvSpPr>
          <p:cNvPr id="27" name="Shape 25"/>
          <p:cNvSpPr/>
          <p:nvPr/>
        </p:nvSpPr>
        <p:spPr>
          <a:xfrm>
            <a:off x="3559988" y="2953512"/>
            <a:ext cx="2270684" cy="555955"/>
          </a:xfrm>
          <a:prstGeom prst="roundRect">
            <a:avLst>
              <a:gd name="adj" fmla="val 4934"/>
            </a:avLst>
          </a:prstGeom>
          <a:solidFill>
            <a:srgbClr val="F7F8F7"/>
          </a:solidFill>
          <a:ln w="5080">
            <a:solidFill>
              <a:srgbClr val="F7F8F7"/>
            </a:solidFill>
            <a:prstDash val="solid"/>
          </a:ln>
        </p:spPr>
      </p:sp>
      <p:sp>
        <p:nvSpPr>
          <p:cNvPr id="28" name="Text 26"/>
          <p:cNvSpPr/>
          <p:nvPr/>
        </p:nvSpPr>
        <p:spPr>
          <a:xfrm>
            <a:off x="3623996"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EAC and PPA management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Market based Scope 2</a:t>
            </a:r>
            <a:endParaRPr lang="en-US" sz="1000" dirty="0"/>
          </a:p>
        </p:txBody>
      </p:sp>
      <p:sp>
        <p:nvSpPr>
          <p:cNvPr id="29" name="Shape 27"/>
          <p:cNvSpPr/>
          <p:nvPr/>
        </p:nvSpPr>
        <p:spPr>
          <a:xfrm>
            <a:off x="3559988" y="3582619"/>
            <a:ext cx="2270684"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3623996"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Base year, exclusions and materiality</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GHGP compliant boundaries</a:t>
            </a:r>
            <a:endParaRPr lang="en-US" sz="950" dirty="0"/>
          </a:p>
        </p:txBody>
      </p:sp>
      <p:sp>
        <p:nvSpPr>
          <p:cNvPr id="31" name="Shape 29"/>
          <p:cNvSpPr/>
          <p:nvPr/>
        </p:nvSpPr>
        <p:spPr>
          <a:xfrm>
            <a:off x="3559988" y="4211726"/>
            <a:ext cx="2270684"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3623996"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Thermal source attribution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and 2 split</a:t>
            </a:r>
            <a:endParaRPr lang="en-US" sz="1000" dirty="0"/>
          </a:p>
        </p:txBody>
      </p:sp>
      <p:sp>
        <p:nvSpPr>
          <p:cNvPr id="33" name="Shape 31"/>
          <p:cNvSpPr/>
          <p:nvPr/>
        </p:nvSpPr>
        <p:spPr>
          <a:xfrm>
            <a:off x="3559988" y="4840834"/>
            <a:ext cx="2270684"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3623996"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Refrigerant leakage to usage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fugitive emissions</a:t>
            </a:r>
            <a:endParaRPr lang="en-US" sz="1000" dirty="0"/>
          </a:p>
        </p:txBody>
      </p:sp>
      <p:sp>
        <p:nvSpPr>
          <p:cNvPr id="35" name="Shape 33"/>
          <p:cNvSpPr/>
          <p:nvPr/>
        </p:nvSpPr>
        <p:spPr>
          <a:xfrm>
            <a:off x="6223864"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3.2740492257488497e+148" dist="1.0913497419162833e+148" dir="9.282982318641485e+173">
              <a:srgbClr val="0A1F12">
                <a:alpha val="1.1999999999999996e+179"/>
              </a:srgbClr>
            </a:outerShdw>
          </a:effectLst>
        </p:spPr>
      </p:sp>
      <p:sp>
        <p:nvSpPr>
          <p:cNvPr id="36" name="Shape 34"/>
          <p:cNvSpPr/>
          <p:nvPr/>
        </p:nvSpPr>
        <p:spPr>
          <a:xfrm>
            <a:off x="6223864" y="2084832"/>
            <a:ext cx="2545004" cy="713232"/>
          </a:xfrm>
          <a:prstGeom prst="rect">
            <a:avLst/>
          </a:prstGeom>
          <a:solidFill>
            <a:srgbClr val="FFF4E3"/>
          </a:solidFill>
          <a:ln w="12700">
            <a:solidFill>
              <a:srgbClr val="FFF4E3"/>
            </a:solidFill>
            <a:prstDash val="solid"/>
          </a:ln>
        </p:spPr>
      </p:sp>
      <p:sp>
        <p:nvSpPr>
          <p:cNvPr id="37" name="Shape 35"/>
          <p:cNvSpPr/>
          <p:nvPr/>
        </p:nvSpPr>
        <p:spPr>
          <a:xfrm>
            <a:off x="6223864" y="2084832"/>
            <a:ext cx="54864" cy="4178808"/>
          </a:xfrm>
          <a:prstGeom prst="rect">
            <a:avLst/>
          </a:prstGeom>
          <a:solidFill>
            <a:srgbClr val="FFB04C"/>
          </a:solidFill>
          <a:ln w="12700">
            <a:solidFill>
              <a:srgbClr val="FFB04C"/>
            </a:solidFill>
            <a:prstDash val="solid"/>
          </a:ln>
        </p:spPr>
      </p:sp>
      <p:sp>
        <p:nvSpPr>
          <p:cNvPr id="38" name="Text 36"/>
          <p:cNvSpPr/>
          <p:nvPr/>
        </p:nvSpPr>
        <p:spPr>
          <a:xfrm>
            <a:off x="6406744" y="2176272"/>
            <a:ext cx="2215820"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PLANNED</a:t>
            </a:r>
            <a:endParaRPr lang="en-US" sz="850" dirty="0"/>
          </a:p>
        </p:txBody>
      </p:sp>
      <p:sp>
        <p:nvSpPr>
          <p:cNvPr id="39" name="Text 37"/>
          <p:cNvSpPr/>
          <p:nvPr/>
        </p:nvSpPr>
        <p:spPr>
          <a:xfrm>
            <a:off x="6406744"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 planned</a:t>
            </a:r>
            <a:endParaRPr lang="en-US" sz="1400" dirty="0"/>
          </a:p>
        </p:txBody>
      </p:sp>
      <p:sp>
        <p:nvSpPr>
          <p:cNvPr id="40" name="Shape 38"/>
          <p:cNvSpPr/>
          <p:nvPr/>
        </p:nvSpPr>
        <p:spPr>
          <a:xfrm>
            <a:off x="6361024" y="2953512"/>
            <a:ext cx="2270684" cy="555955"/>
          </a:xfrm>
          <a:prstGeom prst="roundRect">
            <a:avLst>
              <a:gd name="adj" fmla="val 4934"/>
            </a:avLst>
          </a:prstGeom>
          <a:solidFill>
            <a:srgbClr val="F7F8F7"/>
          </a:solidFill>
          <a:ln w="5080">
            <a:solidFill>
              <a:srgbClr val="F7F8F7"/>
            </a:solidFill>
            <a:prstDash val="solid"/>
          </a:ln>
        </p:spPr>
      </p:sp>
      <p:sp>
        <p:nvSpPr>
          <p:cNvPr id="41" name="Text 39"/>
          <p:cNvSpPr/>
          <p:nvPr/>
        </p:nvSpPr>
        <p:spPr>
          <a:xfrm>
            <a:off x="6425032"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Employee commuting and WFH</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7</a:t>
            </a:r>
            <a:endParaRPr lang="en-US" sz="1000" dirty="0"/>
          </a:p>
        </p:txBody>
      </p:sp>
      <p:sp>
        <p:nvSpPr>
          <p:cNvPr id="42" name="Shape 40"/>
          <p:cNvSpPr/>
          <p:nvPr/>
        </p:nvSpPr>
        <p:spPr>
          <a:xfrm>
            <a:off x="6361024" y="3582619"/>
            <a:ext cx="2270684" cy="555955"/>
          </a:xfrm>
          <a:prstGeom prst="roundRect">
            <a:avLst>
              <a:gd name="adj" fmla="val 4934"/>
            </a:avLst>
          </a:prstGeom>
          <a:solidFill>
            <a:srgbClr val="F7F8F7"/>
          </a:solidFill>
          <a:ln w="5080">
            <a:solidFill>
              <a:srgbClr val="F7F8F7"/>
            </a:solidFill>
            <a:prstDash val="solid"/>
          </a:ln>
        </p:spPr>
      </p:sp>
      <p:sp>
        <p:nvSpPr>
          <p:cNvPr id="43" name="Text 41"/>
          <p:cNvSpPr/>
          <p:nvPr/>
        </p:nvSpPr>
        <p:spPr>
          <a:xfrm>
            <a:off x="6425032"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Sera for carbon inventory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AI guided troubleshooting</a:t>
            </a:r>
            <a:endParaRPr lang="en-US" sz="1000" dirty="0"/>
          </a:p>
        </p:txBody>
      </p:sp>
      <p:sp>
        <p:nvSpPr>
          <p:cNvPr id="44" name="Shape 42"/>
          <p:cNvSpPr/>
          <p:nvPr/>
        </p:nvSpPr>
        <p:spPr>
          <a:xfrm>
            <a:off x="6361024" y="4211726"/>
            <a:ext cx="2270684" cy="555955"/>
          </a:xfrm>
          <a:prstGeom prst="roundRect">
            <a:avLst>
              <a:gd name="adj" fmla="val 4934"/>
            </a:avLst>
          </a:prstGeom>
          <a:solidFill>
            <a:srgbClr val="F7F8F7"/>
          </a:solidFill>
          <a:ln w="5080">
            <a:solidFill>
              <a:srgbClr val="F7F8F7"/>
            </a:solidFill>
            <a:prstDash val="solid"/>
          </a:ln>
        </p:spPr>
      </p:sp>
      <p:sp>
        <p:nvSpPr>
          <p:cNvPr id="45" name="Text 43"/>
          <p:cNvSpPr/>
          <p:nvPr/>
        </p:nvSpPr>
        <p:spPr>
          <a:xfrm>
            <a:off x="6425032"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Scenario and decarbonization planning</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Initiatives and actions</a:t>
            </a:r>
            <a:endParaRPr lang="en-US" sz="950" dirty="0"/>
          </a:p>
        </p:txBody>
      </p:sp>
      <p:sp>
        <p:nvSpPr>
          <p:cNvPr id="46" name="Shape 44"/>
          <p:cNvSpPr/>
          <p:nvPr/>
        </p:nvSpPr>
        <p:spPr>
          <a:xfrm>
            <a:off x="9024899"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4.158042516701039e+152" dist="1.38601417223368e+152" dir="5.569789391184891e+178">
              <a:srgbClr val="0A1F12">
                <a:alpha val="1.1999999999999996e+184"/>
              </a:srgbClr>
            </a:outerShdw>
          </a:effectLst>
        </p:spPr>
      </p:sp>
      <p:sp>
        <p:nvSpPr>
          <p:cNvPr id="47" name="Shape 45"/>
          <p:cNvSpPr/>
          <p:nvPr/>
        </p:nvSpPr>
        <p:spPr>
          <a:xfrm>
            <a:off x="9024899" y="2084832"/>
            <a:ext cx="2545004" cy="713232"/>
          </a:xfrm>
          <a:prstGeom prst="rect">
            <a:avLst/>
          </a:prstGeom>
          <a:solidFill>
            <a:srgbClr val="EAF1F5"/>
          </a:solidFill>
          <a:ln w="12700">
            <a:solidFill>
              <a:srgbClr val="EAF1F5"/>
            </a:solidFill>
            <a:prstDash val="solid"/>
          </a:ln>
        </p:spPr>
      </p:sp>
      <p:sp>
        <p:nvSpPr>
          <p:cNvPr id="48" name="Shape 46"/>
          <p:cNvSpPr/>
          <p:nvPr/>
        </p:nvSpPr>
        <p:spPr>
          <a:xfrm>
            <a:off x="9024899" y="2084832"/>
            <a:ext cx="54864" cy="4178808"/>
          </a:xfrm>
          <a:prstGeom prst="rect">
            <a:avLst/>
          </a:prstGeom>
          <a:solidFill>
            <a:srgbClr val="275B7F"/>
          </a:solidFill>
          <a:ln w="12700">
            <a:solidFill>
              <a:srgbClr val="275B7F"/>
            </a:solidFill>
            <a:prstDash val="solid"/>
          </a:ln>
        </p:spPr>
      </p:sp>
      <p:sp>
        <p:nvSpPr>
          <p:cNvPr id="49" name="Text 47"/>
          <p:cNvSpPr/>
          <p:nvPr/>
        </p:nvSpPr>
        <p:spPr>
          <a:xfrm>
            <a:off x="9207779" y="2176272"/>
            <a:ext cx="2215820"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ASPIRATIONAL</a:t>
            </a:r>
            <a:endParaRPr lang="en-US" sz="850" dirty="0"/>
          </a:p>
        </p:txBody>
      </p:sp>
      <p:sp>
        <p:nvSpPr>
          <p:cNvPr id="50" name="Text 48"/>
          <p:cNvSpPr/>
          <p:nvPr/>
        </p:nvSpPr>
        <p:spPr>
          <a:xfrm>
            <a:off x="9207779"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a:t>
            </a:r>
            <a:endParaRPr lang="en-US" sz="1400" dirty="0"/>
          </a:p>
        </p:txBody>
      </p:sp>
      <p:sp>
        <p:nvSpPr>
          <p:cNvPr id="51" name="Shape 49"/>
          <p:cNvSpPr/>
          <p:nvPr/>
        </p:nvSpPr>
        <p:spPr>
          <a:xfrm>
            <a:off x="9162059" y="2953512"/>
            <a:ext cx="2270684" cy="555955"/>
          </a:xfrm>
          <a:prstGeom prst="roundRect">
            <a:avLst>
              <a:gd name="adj" fmla="val 4934"/>
            </a:avLst>
          </a:prstGeom>
          <a:solidFill>
            <a:srgbClr val="F7F8F7"/>
          </a:solidFill>
          <a:ln w="5080">
            <a:solidFill>
              <a:srgbClr val="F7F8F7"/>
            </a:solidFill>
            <a:prstDash val="solid"/>
          </a:ln>
        </p:spPr>
      </p:sp>
      <p:sp>
        <p:nvSpPr>
          <p:cNvPr id="52" name="Text 50"/>
          <p:cNvSpPr/>
          <p:nvPr/>
        </p:nvSpPr>
        <p:spPr>
          <a:xfrm>
            <a:off x="9226067"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Close transport and waste categories</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Categories 4, 5 and 9</a:t>
            </a:r>
            <a:endParaRPr lang="en-US" sz="950" dirty="0"/>
          </a:p>
        </p:txBody>
      </p:sp>
      <p:sp>
        <p:nvSpPr>
          <p:cNvPr id="53" name="Shape 51"/>
          <p:cNvSpPr/>
          <p:nvPr/>
        </p:nvSpPr>
        <p:spPr>
          <a:xfrm>
            <a:off x="9162059" y="3582619"/>
            <a:ext cx="2270684" cy="555955"/>
          </a:xfrm>
          <a:prstGeom prst="roundRect">
            <a:avLst>
              <a:gd name="adj" fmla="val 4934"/>
            </a:avLst>
          </a:prstGeom>
          <a:solidFill>
            <a:srgbClr val="F7F8F7"/>
          </a:solidFill>
          <a:ln w="5080">
            <a:solidFill>
              <a:srgbClr val="F7F8F7"/>
            </a:solidFill>
            <a:prstDash val="solid"/>
          </a:ln>
        </p:spPr>
      </p:sp>
      <p:sp>
        <p:nvSpPr>
          <p:cNvPr id="54" name="Text 52"/>
          <p:cNvSpPr/>
          <p:nvPr/>
        </p:nvSpPr>
        <p:spPr>
          <a:xfrm>
            <a:off x="9226067"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Consolidation and rebaselining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Ownership and base year controls</a:t>
            </a:r>
            <a:endParaRPr lang="en-US" sz="1000" dirty="0"/>
          </a:p>
        </p:txBody>
      </p:sp>
      <p:sp>
        <p:nvSpPr>
          <p:cNvPr id="55" name="Shape 53"/>
          <p:cNvSpPr/>
          <p:nvPr/>
        </p:nvSpPr>
        <p:spPr>
          <a:xfrm>
            <a:off x="9162059" y="4211726"/>
            <a:ext cx="2270684" cy="555955"/>
          </a:xfrm>
          <a:prstGeom prst="roundRect">
            <a:avLst>
              <a:gd name="adj" fmla="val 4934"/>
            </a:avLst>
          </a:prstGeom>
          <a:solidFill>
            <a:srgbClr val="F7F8F7"/>
          </a:solidFill>
          <a:ln w="5080">
            <a:solidFill>
              <a:srgbClr val="F7F8F7"/>
            </a:solidFill>
            <a:prstDash val="solid"/>
          </a:ln>
        </p:spPr>
      </p:sp>
      <p:sp>
        <p:nvSpPr>
          <p:cNvPr id="56" name="Text 54"/>
          <p:cNvSpPr/>
          <p:nvPr/>
        </p:nvSpPr>
        <p:spPr>
          <a:xfrm>
            <a:off x="9226067"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PCF and ECM integration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Cross-product intelligence</a:t>
            </a:r>
            <a:endParaRPr lang="en-US" sz="1000" dirty="0"/>
          </a:p>
        </p:txBody>
      </p:sp>
      <p:sp>
        <p:nvSpPr>
          <p:cNvPr id="57" name="Shape 55"/>
          <p:cNvSpPr/>
          <p:nvPr/>
        </p:nvSpPr>
        <p:spPr>
          <a:xfrm>
            <a:off x="9162059" y="4840834"/>
            <a:ext cx="2270684" cy="555955"/>
          </a:xfrm>
          <a:prstGeom prst="roundRect">
            <a:avLst>
              <a:gd name="adj" fmla="val 4934"/>
            </a:avLst>
          </a:prstGeom>
          <a:solidFill>
            <a:srgbClr val="F7F8F7"/>
          </a:solidFill>
          <a:ln w="5080">
            <a:solidFill>
              <a:srgbClr val="F7F8F7"/>
            </a:solidFill>
            <a:prstDash val="solid"/>
          </a:ln>
        </p:spPr>
      </p:sp>
      <p:sp>
        <p:nvSpPr>
          <p:cNvPr id="58" name="Text 56"/>
          <p:cNvSpPr/>
          <p:nvPr/>
        </p:nvSpPr>
        <p:spPr>
          <a:xfrm>
            <a:off x="9226067"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Category 15 and FLAG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Specialised standards</a:t>
            </a:r>
            <a:endParaRPr lang="en-US" sz="1000" dirty="0"/>
          </a:p>
        </p:txBody>
      </p:sp>
      <p:sp>
        <p:nvSpPr>
          <p:cNvPr id="59" name="Shape 57"/>
          <p:cNvSpPr/>
          <p:nvPr/>
        </p:nvSpPr>
        <p:spPr>
          <a:xfrm>
            <a:off x="9162059" y="5469941"/>
            <a:ext cx="2270684" cy="555955"/>
          </a:xfrm>
          <a:prstGeom prst="roundRect">
            <a:avLst>
              <a:gd name="adj" fmla="val 4934"/>
            </a:avLst>
          </a:prstGeom>
          <a:solidFill>
            <a:srgbClr val="F7F8F7"/>
          </a:solidFill>
          <a:ln w="5080">
            <a:solidFill>
              <a:srgbClr val="F7F8F7"/>
            </a:solidFill>
            <a:prstDash val="solid"/>
          </a:ln>
        </p:spPr>
      </p:sp>
      <p:sp>
        <p:nvSpPr>
          <p:cNvPr id="60" name="Text 58"/>
          <p:cNvSpPr/>
          <p:nvPr/>
        </p:nvSpPr>
        <p:spPr>
          <a:xfrm>
            <a:off x="9226067" y="5469941"/>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Dedicated auditor experience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Assurance workflows</a:t>
            </a:r>
            <a:endParaRPr lang="en-US" sz="1000" dirty="0"/>
          </a:p>
        </p:txBody>
      </p:sp>
      <p:sp>
        <p:nvSpPr>
          <p:cNvPr id="61" name="Shape 59"/>
          <p:cNvSpPr/>
          <p:nvPr/>
        </p:nvSpPr>
        <p:spPr>
          <a:xfrm>
            <a:off x="621792" y="6437376"/>
            <a:ext cx="10948111" cy="0"/>
          </a:xfrm>
          <a:prstGeom prst="line">
            <a:avLst/>
          </a:prstGeom>
          <a:noFill/>
          <a:ln w="9525">
            <a:solidFill>
              <a:srgbClr val="E2E6E2"/>
            </a:solidFill>
            <a:prstDash val="solid"/>
          </a:ln>
        </p:spPr>
      </p:sp>
      <p:sp>
        <p:nvSpPr>
          <p:cNvPr id="62" name="Text 6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63" name="Text 6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76275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43357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STATUS TEST</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each delivery status means for the roadmap</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decision-oriented breakdown separates active delivery from commitments, plans and longer-term ambition.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5.28071399621032e+156" dist="1.7602379987367734e+156" dir="3.3418736347109347e+183">
              <a:srgbClr val="0A1F12">
                <a:alpha val="1.1999999999999995e+18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IN DELIVERY, Q3</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Work is active</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Teams and scope are mobilized now.</a:t>
            </a:r>
            <a:endParaRPr lang="en-US" sz="1100" dirty="0"/>
          </a:p>
        </p:txBody>
      </p:sp>
      <p:sp>
        <p:nvSpPr>
          <p:cNvPr id="14" name="Text 12"/>
          <p:cNvSpPr/>
          <p:nvPr/>
        </p:nvSpPr>
        <p:spPr>
          <a:xfrm>
            <a:off x="822960"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Sold product emissions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Pre-calculated emissions import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System administration</a:t>
            </a:r>
            <a:endParaRPr lang="en-US" sz="1100" dirty="0"/>
          </a:p>
        </p:txBody>
      </p:sp>
      <p:sp>
        <p:nvSpPr>
          <p:cNvPr id="15" name="Shape 13"/>
          <p:cNvSpPr/>
          <p:nvPr/>
        </p:nvSpPr>
        <p:spPr>
          <a:xfrm>
            <a:off x="3427400"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6.706506775187106e+160" dist="2.235502258395702e+160" dir="2.0051241808265608e+188">
              <a:srgbClr val="0A1F12">
                <a:alpha val="1.1999999999999995e+19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COMMITTED, Q4</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Outcome is protected</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Scope is committed within the delivery envelope.</a:t>
            </a:r>
            <a:endParaRPr lang="en-US" sz="1100" dirty="0"/>
          </a:p>
        </p:txBody>
      </p:sp>
      <p:sp>
        <p:nvSpPr>
          <p:cNvPr id="20" name="Text 18"/>
          <p:cNvSpPr/>
          <p:nvPr/>
        </p:nvSpPr>
        <p:spPr>
          <a:xfrm>
            <a:off x="3628568"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EAC and PPA management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Base year and materiality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Thermal source attribution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Refrigerant leakage</a:t>
            </a:r>
            <a:endParaRPr lang="en-US" sz="1100" dirty="0"/>
          </a:p>
        </p:txBody>
      </p:sp>
      <p:sp>
        <p:nvSpPr>
          <p:cNvPr id="21" name="Shape 19"/>
          <p:cNvSpPr/>
          <p:nvPr/>
        </p:nvSpPr>
        <p:spPr>
          <a:xfrm>
            <a:off x="6233008"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8.517263604487625e+164" dist="2.8390878681625417e+164" dir="1.2030745084959364e+193">
              <a:srgbClr val="0A1F12">
                <a:alpha val="1.1999999999999994e+19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PLANNED, Q4</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Sequenced, not protected</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intent is clear, but delivery depends on capacity.</a:t>
            </a:r>
            <a:endParaRPr lang="en-US" sz="1100" dirty="0"/>
          </a:p>
        </p:txBody>
      </p:sp>
      <p:sp>
        <p:nvSpPr>
          <p:cNvPr id="26" name="Text 24"/>
          <p:cNvSpPr/>
          <p:nvPr/>
        </p:nvSpPr>
        <p:spPr>
          <a:xfrm>
            <a:off x="6434176"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Employee commuting and WFH</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inventory guidance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 planning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Actions management</a:t>
            </a:r>
            <a:endParaRPr lang="en-US" sz="1100" dirty="0"/>
          </a:p>
        </p:txBody>
      </p:sp>
      <p:sp>
        <p:nvSpPr>
          <p:cNvPr id="27" name="Shape 25"/>
          <p:cNvSpPr/>
          <p:nvPr/>
        </p:nvSpPr>
        <p:spPr>
          <a:xfrm>
            <a:off x="9038615"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1.0816924777699284e+169" dist="3.605641592566428e+168" dir="7.218447050975619e+197">
              <a:srgbClr val="0A1F12">
                <a:alpha val="1.1999999999999994e+20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ASPIRATIONAL, 2027</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Direction, not commitment</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ambition is retained without implying a fixed date.</a:t>
            </a:r>
            <a:endParaRPr lang="en-US" sz="1100" dirty="0"/>
          </a:p>
        </p:txBody>
      </p:sp>
      <p:sp>
        <p:nvSpPr>
          <p:cNvPr id="32" name="Text 30"/>
          <p:cNvSpPr/>
          <p:nvPr/>
        </p:nvSpPr>
        <p:spPr>
          <a:xfrm>
            <a:off x="9239783"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Remaining Scope 3 categories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Consolidation and rebaselining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PCF and ECM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experience</a:t>
            </a:r>
            <a:endParaRPr lang="en-US" sz="1100" dirty="0"/>
          </a:p>
        </p:txBody>
      </p:sp>
      <p:sp>
        <p:nvSpPr>
          <p:cNvPr id="33" name="Shape 31"/>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1.3737494467678092e+173" dist="4.579164822559364e+172" dir="4.3310682305853715e+202">
              <a:srgbClr val="0A1F12">
                <a:alpha val="1.1999999999999994e+209"/>
              </a:srgbClr>
            </a:outerShdw>
          </a:effectLst>
        </p:spPr>
      </p:sp>
      <p:sp>
        <p:nvSpPr>
          <p:cNvPr id="34" name="Shape 32"/>
          <p:cNvSpPr/>
          <p:nvPr/>
        </p:nvSpPr>
        <p:spPr>
          <a:xfrm>
            <a:off x="676656" y="5760720"/>
            <a:ext cx="45720" cy="365760"/>
          </a:xfrm>
          <a:prstGeom prst="rect">
            <a:avLst/>
          </a:prstGeom>
          <a:solidFill>
            <a:srgbClr val="3DCD58"/>
          </a:solidFill>
          <a:ln w="12700">
            <a:solidFill>
              <a:srgbClr val="3DCD58"/>
            </a:solidFill>
            <a:prstDash val="solid"/>
          </a:ln>
        </p:spPr>
      </p:sp>
      <p:sp>
        <p:nvSpPr>
          <p:cNvPr id="35" name="Text 33"/>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Test framing: status reflects delivery confidence, not product priority.</a:t>
            </a:r>
            <a:endParaRPr lang="en-US" sz="1200" dirty="0"/>
          </a:p>
        </p:txBody>
      </p:sp>
      <p:sp>
        <p:nvSpPr>
          <p:cNvPr id="36" name="Shape 34"/>
          <p:cNvSpPr/>
          <p:nvPr/>
        </p:nvSpPr>
        <p:spPr>
          <a:xfrm>
            <a:off x="621792" y="6437376"/>
            <a:ext cx="10948111" cy="0"/>
          </a:xfrm>
          <a:prstGeom prst="line">
            <a:avLst/>
          </a:prstGeom>
          <a:noFill/>
          <a:ln w="9525">
            <a:solidFill>
              <a:srgbClr val="E2E6E2"/>
            </a:solidFill>
            <a:prstDash val="solid"/>
          </a:ln>
        </p:spPr>
      </p:sp>
      <p:sp>
        <p:nvSpPr>
          <p:cNvPr id="37" name="Text 3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8" name="Text 3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Carbon Performance owns the inventory every product consumes</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It is the producer of record, so its data model decisions constrain the other three products.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446617973951177e+177" dist="5.815539324650392e+176" dir="2.598640938351223e+207">
              <a:srgbClr val="0A1F12">
                <a:alpha val="1.1999999999999993e+214"/>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PLATFORM</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Ingestion and quality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Prerequisites for depth.</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Pipeline and transformation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checks, L1 and L2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Programmatic connectors for activity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2157204826917993e+181" dist="7.385734942305998e+180" dir="1.5591845630107338e+212">
              <a:srgbClr val="0A1F12">
                <a:alpha val="1.1999999999999994e+219"/>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ONTOLOGY</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Hierarchy and calculation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Inherited, not rebuilt.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entity hierarchy and organisational boundary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Emission factor library owned by core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and lineage on key values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813965013018585e+185" dist="9.379883376728618e+184" dir="9.355107378064403e+216">
              <a:srgbClr val="0A1F12">
                <a:alpha val="1.1999999999999994e+224"/>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CROSS PRODUCT</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Who consumes the inventory</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baseline, four experiences.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feeds categories 1 and 4 into the inventory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Reporting and Compliance discloses emissions from Collect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Strategy plans reductions against the same baseline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Climate Risk reads transition exposure from it</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5737355665336036e+189" dist="1.1912451888445345e+189" dir="5.613064426838642e+221">
              <a:srgbClr val="0A1F12">
                <a:alpha val="1.1999999999999994e+229"/>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SERA</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AI capabilities</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Where the differentiation sits.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guided inventory troubleshooting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Anomaly explanation and discrepancy management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Mapping memory and smart mapping suggestions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method selection guidance</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4</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04</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Q4 2026 in detail</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Carbon Performance, Supply Chain, Reporting and Compliance, Climate Risk, Strategy, and Core Platform: the wedge, the capacity math, and the ranked plan for each.</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18541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85623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Q4 POINT OF VIEW</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Q3 landed ingestion, Q4 closes emission factor and calculation depth</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Protect what is in flight, sequence the wedge themes, defer the rest with a clear reason.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5386441694976765e+193" dist="1.5128813898325588e+193" dir="3.367838656103185e+226">
              <a:srgbClr val="0A1F12">
                <a:alpha val="1.1999999999999994e+234"/>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PROTECT</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Carry over that must finish</a:t>
            </a:r>
            <a:endParaRPr lang="en-US" sz="14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These are already funded and partly built. Slipping them costs more than starting anything new.</a:t>
            </a:r>
            <a:endParaRPr lang="en-US" sz="1100" dirty="0"/>
          </a:p>
        </p:txBody>
      </p:sp>
      <p:sp>
        <p:nvSpPr>
          <p:cNvPr id="14" name="Text 12"/>
          <p:cNvSpPr/>
          <p:nvPr/>
        </p:nvSpPr>
        <p:spPr>
          <a:xfrm>
            <a:off x="82296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and overview</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Scope 3 product emissions, categories 10, 11, 12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Pre-calculated emissions import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 scoped</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Accor portfolio experience</a:t>
            </a:r>
            <a:endParaRPr lang="en-US" sz="1100" dirty="0"/>
          </a:p>
        </p:txBody>
      </p:sp>
      <p:sp>
        <p:nvSpPr>
          <p:cNvPr id="15" name="Shape 13"/>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764078095262049e+197" dist="1.9213593650873497e+197" dir="2.020703193661911e+231">
              <a:srgbClr val="0A1F12">
                <a:alpha val="1.1999999999999992e+239"/>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SEQUENCE</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The Q4 wedge</a:t>
            </a:r>
            <a:endParaRPr lang="en-US" sz="16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Emission factors and calculation depth: the gaps that still force hypercare on every enterprise deal.</a:t>
            </a:r>
            <a:endParaRPr lang="en-US" sz="1100" dirty="0"/>
          </a:p>
        </p:txBody>
      </p:sp>
      <p:sp>
        <p:nvSpPr>
          <p:cNvPr id="20" name="Text 18"/>
          <p:cNvSpPr/>
          <p:nvPr/>
        </p:nvSpPr>
        <p:spPr>
          <a:xfrm>
            <a:off x="456377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and supplier specific emission factors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EF datasets: EcoInvent, Exiobase, FLAG, EEA, Base Carbone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Deterministic emission factor configuration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Renewable energy and market based Scope 2, RECs and EACs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statements and extended classification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contextual intelligence</a:t>
            </a:r>
            <a:endParaRPr lang="en-US" sz="1100" dirty="0"/>
          </a:p>
        </p:txBody>
      </p:sp>
      <p:sp>
        <p:nvSpPr>
          <p:cNvPr id="21" name="Shape 19"/>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7.320379180982803e+201" dist="2.440126393660934e+201" dir="1.2124219161971466e+236">
              <a:srgbClr val="0A1F12">
                <a:alpha val="1.1999999999999992e+244"/>
              </a:srgbClr>
            </a:outerShdw>
          </a:effectLst>
        </p:spPr>
      </p:sp>
      <p:sp>
        <p:nvSpPr>
          <p:cNvPr id="22" name="Shape 20"/>
          <p:cNvSpPr/>
          <p:nvPr/>
        </p:nvSpPr>
        <p:spPr>
          <a:xfrm>
            <a:off x="8103413" y="2084832"/>
            <a:ext cx="3466490" cy="73152"/>
          </a:xfrm>
          <a:prstGeom prst="rect">
            <a:avLst/>
          </a:prstGeom>
          <a:solidFill>
            <a:srgbClr val="FFB04C"/>
          </a:solidFill>
          <a:ln w="12700">
            <a:solidFill>
              <a:srgbClr val="FFB04C"/>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DEFER</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Real, but not Q4</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Named explicitly so the room knows what is being traded away and when it returns.</a:t>
            </a:r>
            <a:endParaRPr lang="en-US" sz="1100" dirty="0"/>
          </a:p>
        </p:txBody>
      </p:sp>
      <p:sp>
        <p:nvSpPr>
          <p:cNvPr id="26" name="Text 24"/>
          <p:cNvSpPr/>
          <p:nvPr/>
        </p:nvSpPr>
        <p:spPr>
          <a:xfrm>
            <a:off x="8304581"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Self serve decarbonization planning and execution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15 investments and FLAG depth, 2027</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EU hosting, out of Q4 scope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Full PCF inside CP, rides supply chain</a:t>
            </a:r>
            <a:endParaRPr lang="en-US" sz="1100" dirty="0"/>
          </a:p>
        </p:txBody>
      </p:sp>
      <p:sp>
        <p:nvSpPr>
          <p:cNvPr id="27" name="Shape 25"/>
          <p:cNvSpPr/>
          <p:nvPr/>
        </p:nvSpPr>
        <p:spPr>
          <a:xfrm>
            <a:off x="621792" y="6437376"/>
            <a:ext cx="10948111" cy="0"/>
          </a:xfrm>
          <a:prstGeom prst="line">
            <a:avLst/>
          </a:prstGeom>
          <a:noFill/>
          <a:ln w="9525">
            <a:solidFill>
              <a:srgbClr val="E2E6E2"/>
            </a:solidFill>
            <a:prstDash val="solid"/>
          </a:ln>
        </p:spPr>
      </p:sp>
      <p:sp>
        <p:nvSpPr>
          <p:cNvPr id="28" name="Text 2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 name="Text 2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Migrate and close the competitive gap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2026 goals, sequenced against the RA+ migration.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9.296881559848159e+205" dist="3.0989605199493864e+205" dir="7.27453149718288e+240">
              <a:srgbClr val="0A1F12">
                <a:alpha val="1.1999999999999991e+249"/>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RA+ tech integrations and shared UI</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Navigation, layouts, database</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End to end supply chain emissions management</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Custom questionnaires</a:t>
            </a:r>
            <a:endParaRPr lang="en-US" sz="10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Guided supplier decarbonisation actions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1807039581007161e+210" dist="3.9356798603357206e+209" dir="4.364718898309728e+245">
              <a:srgbClr val="0A1F12">
                <a:alpha val="1.1999999999999991e+254"/>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Rebranding completion to a stronger RA+ experience</a:t>
            </a:r>
            <a:endParaRPr lang="en-US" sz="90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Improve data quality assurance</a:t>
            </a:r>
            <a:endParaRPr lang="en-US" sz="100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Sponsor decision support and supplier transparency</a:t>
            </a:r>
            <a:endParaRPr lang="en-US" sz="90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Zeigo network integration</a:t>
            </a:r>
            <a:endParaRPr lang="en-US" sz="100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Drive supplier action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From measurement to supplier engagement, integration and discovery.</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4994940267879094e+214" dist="4.9983134226263654e+213" dir="2.6188313389858368e+250">
              <a:srgbClr val="0A1F12">
                <a:alpha val="1.1999999999999991e+259"/>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Light PCF calculator, SEED integrations</a:t>
            </a:r>
            <a:endParaRPr lang="en-US" sz="95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tier level subscription</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tier supplier visibility</a:t>
            </a:r>
            <a:endParaRPr lang="en-US" sz="100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Supplier onboarding and programme participation</a:t>
            </a:r>
            <a:endParaRPr lang="en-US" sz="90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Zeigo Activate sunset to be replaced by a light CP calculator</a:t>
            </a:r>
            <a:endParaRPr lang="en-US" sz="90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904357414020645e+218" dist="6.347858046735484e+217" dir="1.571298803391502e+255">
              <a:srgbClr val="0A1F12">
                <a:alpha val="1.199999999999999e+264"/>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Supply chain and climate risk integration</a:t>
            </a:r>
            <a:endParaRPr lang="en-US" sz="95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ESG reporting and compliance integration</a:t>
            </a:r>
            <a:endParaRPr lang="en-US" sz="95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Engagement gamification and leaderboards</a:t>
            </a:r>
            <a:endParaRPr lang="en-US" sz="95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Cross programme supplier discovery</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supply chain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Migration and shared experience first, then the capabilities that close the competitive gap.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4185339158062192e+222" dist="8.061779719354066e+221" dir="9.427792820349012e+259">
              <a:srgbClr val="0A1F12">
                <a:alpha val="1.1999999999999991e+26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Migration and core experience</a:t>
            </a:r>
            <a:endParaRPr lang="en-US" sz="14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Land in RA+ properly.</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Platform stabilisation and core experience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navigation, page layouts and responsive design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embedded onboarding and recommendations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Additional languages: Chinese, French, Spanish, Portuguese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Notification centre and in product reminders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0715380730738986e+226" dist="1.0238460243579663e+226" dir="5.656675692209407e+264">
              <a:srgbClr val="0A1F12">
                <a:alpha val="1.199999999999999e+27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Product carbon footprint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commercial gap closer.</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level PCF tables with CSV download</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Light PCF calculator, SEED and AI scraping integrations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risk overview, emissions heatmap, top ten hotspots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and material footprint charts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PACT compliance targets, action alerts and KPI strip</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900853352803852e+230" dist="1.3002844509346172e+230" dir="3.3940054153256444e+269">
              <a:srgbClr val="0A1F12">
                <a:alpha val="1.199999999999999e+27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Data collection campaigns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Ask suppliers the right questions.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questionnaires with a guided builder wizard</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Drag and drop ordering and conditional logic</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upload against responses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Response tracking, evidence preview and export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Simplified participant forms for suppliers</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4.9540837580608916e+234" dist="1.6513612526869638e+234" dir="2.0364032491953868e+274">
              <a:srgbClr val="0A1F12">
                <a:alpha val="1.199999999999999e+28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Data quality assurance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Numbers that survive review.</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Outlier detection and peer benchmarking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upload with AI validation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Composite supplier data quality score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product validation against CP inventories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From measurement to supplier action</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Supplier data becomes decarbonisation the sponsor can evidence.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6.291686372737332e+238" dist="2.097228790912444e+238" dir="1.221841949517232e+279">
              <a:srgbClr val="0A1F12">
                <a:alpha val="1.199999999999999e+28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TAKE ACTION</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Guided decarbonisation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Sera powered recommendations.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Project recommendations with regional and category filters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Sponsor highlighted projects and project discovery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learning content and delivery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participant, sponsor and admin views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7.990441693376412e+242" dist="2.663480564458804e+242" dir="7.331051697103393e+283">
              <a:srgbClr val="0A1F12">
                <a:alpha val="1.199999999999999e+29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SPONSOR</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Decision support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Prove the programme works.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Enhanced sponsor dashboards and reporting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Sponsor planning and supplier transparency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Programme analytics and engagement tracking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network integration</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0147860950588043e+247" dist="3.3826203168626813e+246" dir="4.3986310182620354e+288">
              <a:srgbClr val="0A1F12">
                <a:alpha val="1.199999999999999e+29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2027 H1</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Reach and scale</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Beyond tier one.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tier supplier visibility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onboarding and programme participation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tier level subscription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Activate sunset replaced by a light CP calculator</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2887783407246816e+251" dist="4.295927802415605e+250" dir="2.6391786109572213e+293">
              <a:srgbClr val="0A1F12">
                <a:alpha val="1.199999999999999e+30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2027 H2</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Resilience and reuse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Connect the products.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ESG reporting and compliance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Gamification, leaderboards and custom nudges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programme supplier discovery</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65760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32841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Stand the product up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Core platform foundations first, then Framework Library, Indicator Management and Disclosure Management, in that order.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6367484927203455e+255" dist="5.455828309067819e+254" dir="1.5835071665743328e+298">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Core platform foundations built and current time spent on the planning for everything to build on the top of the core.</a:t>
            </a:r>
            <a:endParaRPr lang="en-US" sz="900" dirty="0"/>
          </a:p>
        </p:txBody>
      </p:sp>
      <p:sp>
        <p:nvSpPr>
          <p:cNvPr id="16" name="Shape 14"/>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0786705857548387e+259" dist="6.928901952516129e+258" dir="9.501042999445996e+302">
              <a:srgbClr val="0A1F12">
                <a:alpha val="Infinity"/>
              </a:srgbClr>
            </a:outerShdw>
          </a:effectLst>
        </p:spPr>
      </p:sp>
      <p:sp>
        <p:nvSpPr>
          <p:cNvPr id="17" name="Shape 15"/>
          <p:cNvSpPr/>
          <p:nvPr/>
        </p:nvSpPr>
        <p:spPr>
          <a:xfrm>
            <a:off x="6223864" y="2084832"/>
            <a:ext cx="5346040" cy="713232"/>
          </a:xfrm>
          <a:prstGeom prst="rect">
            <a:avLst/>
          </a:prstGeom>
          <a:solidFill>
            <a:srgbClr val="EAF8ED"/>
          </a:solidFill>
          <a:ln w="12700">
            <a:solidFill>
              <a:srgbClr val="EAF8ED"/>
            </a:solidFill>
            <a:prstDash val="solid"/>
          </a:ln>
        </p:spPr>
      </p:sp>
      <p:sp>
        <p:nvSpPr>
          <p:cNvPr id="18" name="Shape 16"/>
          <p:cNvSpPr/>
          <p:nvPr/>
        </p:nvSpPr>
        <p:spPr>
          <a:xfrm>
            <a:off x="6223864" y="2084832"/>
            <a:ext cx="54864" cy="4178808"/>
          </a:xfrm>
          <a:prstGeom prst="rect">
            <a:avLst/>
          </a:prstGeom>
          <a:solidFill>
            <a:srgbClr val="007A27"/>
          </a:solidFill>
          <a:ln w="12700">
            <a:solidFill>
              <a:srgbClr val="007A27"/>
            </a:solidFill>
            <a:prstDash val="solid"/>
          </a:ln>
        </p:spPr>
      </p:sp>
      <p:sp>
        <p:nvSpPr>
          <p:cNvPr id="19" name="Text 17"/>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0" name="Text 18"/>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1" name="Shape 19"/>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22" name="Text 20"/>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Build indicator library foundation</a:t>
            </a:r>
            <a:endParaRPr lang="en-US" sz="950" dirty="0"/>
          </a:p>
        </p:txBody>
      </p:sp>
      <p:sp>
        <p:nvSpPr>
          <p:cNvPr id="23" name="Shape 21"/>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24" name="Text 22"/>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Approval hierarchies and bulk assignment</a:t>
            </a:r>
            <a:endParaRPr lang="en-US" sz="950" dirty="0"/>
          </a:p>
        </p:txBody>
      </p:sp>
      <p:sp>
        <p:nvSpPr>
          <p:cNvPr id="25" name="Shape 23"/>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26" name="Text 24"/>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Reporting cycles and reporting workspace</a:t>
            </a:r>
            <a:endParaRPr lang="en-US" sz="950" dirty="0"/>
          </a:p>
        </p:txBody>
      </p:sp>
      <p:sp>
        <p:nvSpPr>
          <p:cNvPr id="27" name="Shape 25"/>
          <p:cNvSpPr/>
          <p:nvPr/>
        </p:nvSpPr>
        <p:spPr>
          <a:xfrm>
            <a:off x="6361024" y="4301599"/>
            <a:ext cx="5071720" cy="376210"/>
          </a:xfrm>
          <a:prstGeom prst="roundRect">
            <a:avLst>
              <a:gd name="adj" fmla="val 7292"/>
            </a:avLst>
          </a:prstGeom>
          <a:solidFill>
            <a:srgbClr val="F7F8F7"/>
          </a:solidFill>
          <a:ln w="5080">
            <a:solidFill>
              <a:srgbClr val="F7F8F7"/>
            </a:solidFill>
            <a:prstDash val="solid"/>
          </a:ln>
        </p:spPr>
      </p:sp>
      <p:sp>
        <p:nvSpPr>
          <p:cNvPr id="28" name="Text 26"/>
          <p:cNvSpPr/>
          <p:nvPr/>
        </p:nvSpPr>
        <p:spPr>
          <a:xfrm>
            <a:off x="6425032"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Governed data collection campaigns</a:t>
            </a:r>
            <a:endParaRPr lang="en-US" sz="950" dirty="0"/>
          </a:p>
        </p:txBody>
      </p:sp>
      <p:sp>
        <p:nvSpPr>
          <p:cNvPr id="29" name="Shape 27"/>
          <p:cNvSpPr/>
          <p:nvPr/>
        </p:nvSpPr>
        <p:spPr>
          <a:xfrm>
            <a:off x="6361024" y="4750961"/>
            <a:ext cx="5071720" cy="376210"/>
          </a:xfrm>
          <a:prstGeom prst="roundRect">
            <a:avLst>
              <a:gd name="adj" fmla="val 7292"/>
            </a:avLst>
          </a:prstGeom>
          <a:solidFill>
            <a:srgbClr val="F7F8F7"/>
          </a:solidFill>
          <a:ln w="5080">
            <a:solidFill>
              <a:srgbClr val="F7F8F7"/>
            </a:solidFill>
            <a:prstDash val="solid"/>
          </a:ln>
        </p:spPr>
      </p:sp>
      <p:sp>
        <p:nvSpPr>
          <p:cNvPr id="30" name="Text 28"/>
          <p:cNvSpPr/>
          <p:nvPr/>
        </p:nvSpPr>
        <p:spPr>
          <a:xfrm>
            <a:off x="6425032"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Regulated frameworks and templates</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CSRD, ESRS, EU Taxonomy, IFRS S1 and S2</a:t>
            </a:r>
            <a:endParaRPr lang="en-US" sz="950" dirty="0"/>
          </a:p>
        </p:txBody>
      </p:sp>
      <p:sp>
        <p:nvSpPr>
          <p:cNvPr id="31" name="Shape 29"/>
          <p:cNvSpPr/>
          <p:nvPr/>
        </p:nvSpPr>
        <p:spPr>
          <a:xfrm>
            <a:off x="6361024" y="5200323"/>
            <a:ext cx="5071720" cy="376210"/>
          </a:xfrm>
          <a:prstGeom prst="roundRect">
            <a:avLst>
              <a:gd name="adj" fmla="val 7292"/>
            </a:avLst>
          </a:prstGeom>
          <a:solidFill>
            <a:srgbClr val="F7F8F7"/>
          </a:solidFill>
          <a:ln w="5080">
            <a:solidFill>
              <a:srgbClr val="F7F8F7"/>
            </a:solidFill>
            <a:prstDash val="solid"/>
          </a:ln>
        </p:spPr>
      </p:sp>
      <p:sp>
        <p:nvSpPr>
          <p:cNvPr id="32" name="Text 30"/>
          <p:cNvSpPr/>
          <p:nvPr/>
        </p:nvSpPr>
        <p:spPr>
          <a:xfrm>
            <a:off x="6425032"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Set foundations: configure, collect, disclose end to end</a:t>
            </a:r>
            <a:endParaRPr lang="en-US" sz="900" dirty="0"/>
          </a:p>
        </p:txBody>
      </p:sp>
      <p:sp>
        <p:nvSpPr>
          <p:cNvPr id="33" name="Shape 31"/>
          <p:cNvSpPr/>
          <p:nvPr/>
        </p:nvSpPr>
        <p:spPr>
          <a:xfrm>
            <a:off x="6361024" y="5649686"/>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Set foundations: Advanced data ingestion and transformation rules</a:t>
            </a:r>
            <a:endParaRPr lang="en-US" sz="90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65760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32841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Migrate SE and automate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Migration, AI assisted authoring and assurance once the 2026 foundations hold.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639911643908645e+263" dist="8.799705479695485e+262" dir="5.700625799667598e+307">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campaign management</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Indicator performance analytics</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Governed disclosure authoring with AI drafting</a:t>
            </a:r>
            <a:endParaRPr lang="en-US" sz="95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Corporate SE fully migrated off RA Classic</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Historical data migrated, Q1 2027 CSRD cycle run in RA+</a:t>
            </a:r>
            <a:endParaRPr lang="en-US" sz="95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Audit ready disclosures produced in product</a:t>
            </a:r>
            <a:endParaRPr lang="en-US" sz="95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3.352687787763979e+267" dist="1.1175625959213265e+267" dir="Infinity">
              <a:srgbClr val="0A1F12">
                <a:alpha val="Infinity"/>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AI compliance intelligence and mapping suggestions</a:t>
            </a:r>
            <a:endParaRPr lang="en-US" sz="90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External assurance and auditor experience</a:t>
            </a:r>
            <a:endParaRPr lang="en-US" sz="95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Voluntary frameworks: GRI, SASB, GRESB, EcoVadis</a:t>
            </a:r>
            <a:endParaRPr lang="en-US" sz="90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CP emissions and CR risk feeding disclosures</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RA+ PLATFORM</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Core platform foundations: configure, collect, disclose end to end</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Built once in the core, consumed by every product on top.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257913490460253e+271" dist="1.4193044968200846e+271" dir="Infinity">
              <a:srgbClr val="0A1F12">
                <a:alpha val="Infinity"/>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STEP 1</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Configure</a:t>
            </a:r>
            <a:endParaRPr lang="en-US" sz="16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Set the structure once.</a:t>
            </a:r>
            <a:endParaRPr lang="en-US" sz="1100" dirty="0"/>
          </a:p>
        </p:txBody>
      </p:sp>
      <p:sp>
        <p:nvSpPr>
          <p:cNvPr id="14" name="Text 12"/>
          <p:cNvSpPr/>
          <p:nvPr/>
        </p:nvSpPr>
        <p:spPr>
          <a:xfrm>
            <a:off x="82296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hierarchy and emission factors, owned by the core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Config engine, calc methods and templates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 and disclosure definitions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Approval hierarchies and bulk assignment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Permissions, roles and workspace setup</a:t>
            </a:r>
            <a:endParaRPr lang="en-US" sz="1100" dirty="0"/>
          </a:p>
        </p:txBody>
      </p:sp>
      <p:sp>
        <p:nvSpPr>
          <p:cNvPr id="15" name="Shape 13"/>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4075501328845217e+275" dist="1.8025167109615074e+275" dir="Infinity">
              <a:srgbClr val="0A1F12">
                <a:alpha val="Infinity"/>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STEP 2</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Collect</a:t>
            </a:r>
            <a:endParaRPr lang="en-US" sz="16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Get the data in, governed.</a:t>
            </a:r>
            <a:endParaRPr lang="en-US" sz="1100" dirty="0"/>
          </a:p>
        </p:txBody>
      </p:sp>
      <p:sp>
        <p:nvSpPr>
          <p:cNvPr id="20" name="Text 18"/>
          <p:cNvSpPr/>
          <p:nvPr/>
        </p:nvSpPr>
        <p:spPr>
          <a:xfrm>
            <a:off x="456377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data ingestion and transformation rules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Governed data collection campaigns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Reporting cycles and reporting workspace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assurance and validation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Bulk uploads, integrations and connectors</a:t>
            </a:r>
            <a:endParaRPr lang="en-US" sz="1100" dirty="0"/>
          </a:p>
        </p:txBody>
      </p:sp>
      <p:sp>
        <p:nvSpPr>
          <p:cNvPr id="21" name="Shape 19"/>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6.867588668763342e+279" dist="2.2891962229211143e+279" dir="Infinity">
              <a:srgbClr val="0A1F12">
                <a:alpha val="Infinity"/>
              </a:srgbClr>
            </a:outerShdw>
          </a:effectLst>
        </p:spPr>
      </p:sp>
      <p:sp>
        <p:nvSpPr>
          <p:cNvPr id="22" name="Shape 20"/>
          <p:cNvSpPr/>
          <p:nvPr/>
        </p:nvSpPr>
        <p:spPr>
          <a:xfrm>
            <a:off x="8103413" y="2084832"/>
            <a:ext cx="3466490" cy="73152"/>
          </a:xfrm>
          <a:prstGeom prst="rect">
            <a:avLst/>
          </a:prstGeom>
          <a:solidFill>
            <a:srgbClr val="FFB04C"/>
          </a:solidFill>
          <a:ln w="12700">
            <a:solidFill>
              <a:srgbClr val="FFB04C"/>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STEP 3</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Disclose</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Produce the output, audit ready.</a:t>
            </a:r>
            <a:endParaRPr lang="en-US" sz="1100" dirty="0"/>
          </a:p>
        </p:txBody>
      </p:sp>
      <p:sp>
        <p:nvSpPr>
          <p:cNvPr id="26" name="Text 24"/>
          <p:cNvSpPr/>
          <p:nvPr/>
        </p:nvSpPr>
        <p:spPr>
          <a:xfrm>
            <a:off x="8304581"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management on the shared indicator library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Full traceability from disclosure back to source data</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and audit trail by design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Regulated framework output: CSRD, ESRS, IFRS S1 and S2</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Every product consumes the same foundation</a:t>
            </a:r>
            <a:endParaRPr lang="en-US" sz="1100" dirty="0"/>
          </a:p>
        </p:txBody>
      </p:sp>
      <p:sp>
        <p:nvSpPr>
          <p:cNvPr id="27" name="Shape 25"/>
          <p:cNvSpPr/>
          <p:nvPr/>
        </p:nvSpPr>
        <p:spPr>
          <a:xfrm>
            <a:off x="621792" y="6437376"/>
            <a:ext cx="10948111" cy="0"/>
          </a:xfrm>
          <a:prstGeom prst="line">
            <a:avLst/>
          </a:prstGeom>
          <a:noFill/>
          <a:ln w="9525">
            <a:solidFill>
              <a:srgbClr val="E2E6E2"/>
            </a:solidFill>
            <a:prstDash val="solid"/>
          </a:ln>
        </p:spPr>
      </p:sp>
      <p:sp>
        <p:nvSpPr>
          <p:cNvPr id="28" name="Text 2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 name="Text 2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reporting and compliance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Framework Library scopes the work, Indicator Management holds the data, Disclosure Management produces the output.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8.721837609329444e+283" dist="2.9072792031098153e+283"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Framework Library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Entry point and scope.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Pre-built templates: CSRD and ESRS, EU Taxonomy, CDP, IFRS S1 and S2, CA Climate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powered framework question and answer and interpretation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indicator to framework mapping suggestions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Regulated frameworks and templates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GRI, SASB, GRESB, EcoVadis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1076733763848394e+288" dist="3.6922445879494656e+287"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Indicator Management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Foundation of data management.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indicator catalogue pre-aligned to major frameworks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indicators with formula and transform engine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Dataset registry, schema and source mapping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Flexible approval hierarchies and bulk assignment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Direct indicator data uploads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4067451880087461e+292" dist="4.6891506266958215e+291"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Disclosure Management</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Reporting cycle workspace.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attributes and schema definition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Governed multi hierarchy reporting cycles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collection campaigns across entities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drafting with data lineage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step approvals, audit trail and export</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865663887711077e+296" dist="5.955221295903693e+295"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Migration and assurance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Prove it on Schneider first.</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Corporate SE migrated off RA Classic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 indicators connected to its Datahub</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ready disclosures with full lineage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External assurance and auditor experience</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Turn Eclr into a self serve product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Asset register and exposure first: the foundations for scenarios and value at risk.</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2689393137393066e+300" dist="7.56313104579769e+299"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Asset and site register on the shared hierarchy</a:t>
            </a:r>
            <a:endParaRPr lang="en-US" sz="90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Eclr platform stabilisation on RA+</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Hazard data foundations</a:t>
            </a:r>
            <a:endParaRPr lang="en-US" sz="10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Resilience impact types in the shared taxonomy</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8815529284489193e+304" dist="9.605176428163068e+303"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Physical hazard exposure on owned assets</a:t>
            </a:r>
            <a:endParaRPr lang="en-US" sz="95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Eclr turned to a full self serve product</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Scalable performance at portfolio volumes</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Adaptation planning primitives with Strategy</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Price the risk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Scenarios, value at risk and adaptation, connected to the rest of the platform.</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1.2198574063767096e+308"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Physical and transition scenario analysis</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ClimVar - Value at Risk</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Expressed in financial terms</a:t>
            </a:r>
            <a:endParaRPr lang="en-US" sz="100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Adaptation actions tracked with monthly actuals</a:t>
            </a:r>
            <a:endParaRPr lang="en-US" sz="9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Portfolio level risk analytics and heatmaps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1F5"/>
          </a:solidFill>
          <a:ln w="12700">
            <a:solidFill>
              <a:srgbClr val="EAF1F5"/>
            </a:solidFill>
            <a:prstDash val="solid"/>
          </a:ln>
        </p:spPr>
      </p:sp>
      <p:sp>
        <p:nvSpPr>
          <p:cNvPr id="24" name="Shape 22"/>
          <p:cNvSpPr/>
          <p:nvPr/>
        </p:nvSpPr>
        <p:spPr>
          <a:xfrm>
            <a:off x="6223864" y="2084832"/>
            <a:ext cx="54864" cy="4178808"/>
          </a:xfrm>
          <a:prstGeom prst="rect">
            <a:avLst/>
          </a:prstGeom>
          <a:solidFill>
            <a:srgbClr val="275B7F"/>
          </a:solidFill>
          <a:ln w="12700">
            <a:solidFill>
              <a:srgbClr val="275B7F"/>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Transition plan modelling linked to targets</a:t>
            </a:r>
            <a:endParaRPr lang="en-US" sz="95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Risk data flowing into R&amp;C disclosures</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Supply chain and climate risk integration</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Value at risk across the extended value chain</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climate risk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shared asset model first, then exposure, then decision grade analysis.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Asset foundation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Shared model before analytics.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and site register on the shared hierarchy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Eclr platform stabilisation and self serve onboarding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Scalable performance at portfolio data volumes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aligned to the entity hierarchy</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Exposure</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First defensible risk output.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Physical hazard exposure on owned assets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Resilience impact types in the shared taxonomy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Portfolio heatmaps and hotspot ranking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Hazard data provenance and methodology transparency</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Scenarios and value at risk</a:t>
            </a:r>
            <a:endParaRPr lang="en-US" sz="14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Decision grade analysis.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Physical and transition scenario analysis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ClimVar - Value at Risk expressed in financial terms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Time horizon comparison across scenarios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exposure read from the CP inventory</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Adaptation</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risk to response.</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actions on the shared Strategy action model</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Monthly plan versus actuals on adaptation measures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9751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6459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Close the plan to execution gap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Actions, recommendations and targets: the shared planning layer consumed by CP decarbonisation, CR adaptation and supplier action.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Introduce actions</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Centralised actions library</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Configure action types</a:t>
            </a:r>
            <a:endParaRPr lang="en-US" sz="100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Library of standard initiative types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28" name="Text 26"/>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Actions bulk upload</a:t>
            </a:r>
            <a:endParaRPr lang="en-US" sz="1000" dirty="0"/>
          </a:p>
        </p:txBody>
      </p:sp>
      <p:sp>
        <p:nvSpPr>
          <p:cNvPr id="29" name="Shape 27"/>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ECM recommendations</a:t>
            </a:r>
            <a:endParaRPr lang="en-US" sz="1000" dirty="0"/>
          </a:p>
        </p:txBody>
      </p:sp>
      <p:sp>
        <p:nvSpPr>
          <p:cNvPr id="31" name="Shape 29"/>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Initiative type recommendations</a:t>
            </a:r>
            <a:endParaRPr lang="en-US" sz="1000" dirty="0"/>
          </a:p>
        </p:txBody>
      </p:sp>
      <p:sp>
        <p:nvSpPr>
          <p:cNvPr id="33" name="Shape 31"/>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Energy, water and waste targets</a:t>
            </a:r>
            <a:endParaRPr lang="en-US" sz="1000" dirty="0"/>
          </a:p>
        </p:txBody>
      </p:sp>
      <p:sp>
        <p:nvSpPr>
          <p:cNvPr id="35" name="Shape 33"/>
          <p:cNvSpPr/>
          <p:nvPr/>
        </p:nvSpPr>
        <p:spPr>
          <a:xfrm>
            <a:off x="6361024" y="5469941"/>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Advanced scenario analysis and decarbonization planning</a:t>
            </a:r>
            <a:endParaRPr lang="en-US" sz="90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9751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6459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Recommend, then widen scope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Cascading targets and scenario intelligence on top of the 2026 planning layer.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Complex target structures</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Cascading reduction targets</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Implementation statuses and on track</a:t>
            </a:r>
            <a:endParaRPr lang="en-US" sz="95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ECM library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Energy and carbon cobenefits</a:t>
            </a:r>
            <a:endParaRPr lang="en-US" sz="100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Enhanced strategy landing page and notifications</a:t>
            </a:r>
            <a:endParaRPr lang="en-US" sz="90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Qualitative market intelligence</a:t>
            </a:r>
            <a:endParaRPr lang="en-US" sz="100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Net zero scenario suggestions</a:t>
            </a:r>
            <a:endParaRPr lang="en-US" sz="100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hierarchy plans</a:t>
            </a:r>
            <a:endParaRPr lang="en-US" sz="100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Cascading allocation across entities</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strategy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Targets and initiatives, then execution, then guided recommendations.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Planning foundation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Targets, scenarios, initiatives.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Reduction goals by entity, scope and horizon, with pathway comparison</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Initiative portfolios showing contribution to each target</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Relevancy and business as usual views</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Standard initiative types, impact sequencing</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Beyond GHG: energy, water and waste targets</a:t>
            </a:r>
            <a:endParaRPr lang="en-US" sz="105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Actions execution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Programs, projects, purchases.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Site level actions with absolute measures under each initiative</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Configurable action types published without engineering releases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Monthly plan versus actuals with underperformance alerts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Audit ready evidence: vendor, contract, EAC registry, documents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Centralised action library deployed across many sites</a:t>
            </a:r>
            <a:endParaRPr lang="en-US" sz="105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Recommendations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Sera guided next steps.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Site aware energy efficiency measures from the governed ECM catalogue</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Initiative type recommendations from residual emissions</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Typical savings, cost ranges and feasibility in site context</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Later: qualitative market intelligence and net zero scenarios</a:t>
            </a:r>
            <a:endParaRPr lang="en-US" sz="105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Scale and governance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Enterprise structures.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Complex and cascading target structures</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Multi hierarchy plans and cascading allocation</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Implementation statuses and on track reporting</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Strategy landing page and notifications</a:t>
            </a:r>
            <a:endParaRPr lang="en-US" sz="105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planning layer serves every product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Adaptation actions share the same action model as decarbonisation actions.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Decarbonisation planning</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Plan against the inventory.</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set on the governed baseline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scenario analysis and decarbonization planning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Initiatives and actions management inside CP</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ECM library with energy and carbon cobenefits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CLIMATE RISK</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Adaptation planning</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Same model, resilience measures.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planning primitives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Resilience impact types in the shared taxonomy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actions with monthly actuals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SUPPLY CHAIN</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Supplier action</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Extend the plan outward.</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Guided supplier decarbonisation actions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Project recommendations from the shared action library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Programme analytics on supplier progress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reductions credited to corporate targets</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REPORTING</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Evidence and disclosure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Plans become statements.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and progress disclosed against frameworks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narrative with lineage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ready evidence on every action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Indicator performance analytics on plan delivery</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platform work none of the products can ship alone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Funded as core so it is built once and inherited by all products.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Ingestion and quality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Data in, trusted.</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Pipeline and transformation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Programmatic connectors and APIs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across the L0 to L4 lifecycle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and supplier specific factor datasets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Ontology and calculation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model, one engine.</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ontology: typed objects, relationships, actions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Control plane for tenant governance of hierarchies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and calculation versioning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regression testing on the engine</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Application and analytics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experience.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Unified application experience and product switcher</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contextual intelligence across products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level approval and audit trail</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Trust and reach</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Enterprise ready.</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EU hosting and data residency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and segregation of duties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Performance at enterprise data volumes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core unblocks in each product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Core is judged on what the products can ship because of it.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Depth and defensibility</a:t>
            </a:r>
            <a:endParaRPr lang="en-US" sz="1600" dirty="0"/>
          </a:p>
        </p:txBody>
      </p:sp>
      <p:sp>
        <p:nvSpPr>
          <p:cNvPr id="13" name="Text 11"/>
          <p:cNvSpPr/>
          <p:nvPr/>
        </p:nvSpPr>
        <p:spPr>
          <a:xfrm>
            <a:off x="822960"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checks on activity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on every inventory value</a:t>
            </a:r>
            <a:endParaRPr lang="en-US" sz="1100" dirty="0"/>
          </a:p>
        </p:txBody>
      </p:sp>
      <p:sp>
        <p:nvSpPr>
          <p:cNvPr id="14" name="Shape 12"/>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SUPPLY CHAIN</a:t>
            </a:r>
            <a:endParaRPr lang="en-US" sz="900" dirty="0"/>
          </a:p>
        </p:txBody>
      </p:sp>
      <p:sp>
        <p:nvSpPr>
          <p:cNvPr id="17" name="Text 15"/>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Scale of engagement</a:t>
            </a:r>
            <a:endParaRPr lang="en-US" sz="1600" dirty="0"/>
          </a:p>
        </p:txBody>
      </p:sp>
      <p:sp>
        <p:nvSpPr>
          <p:cNvPr id="18" name="Text 16"/>
          <p:cNvSpPr/>
          <p:nvPr/>
        </p:nvSpPr>
        <p:spPr>
          <a:xfrm>
            <a:off x="3628568"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navigation, layouts and database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specific factor datasets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product validation against CP inventories</a:t>
            </a:r>
            <a:endParaRPr lang="en-US" sz="1100" dirty="0"/>
          </a:p>
        </p:txBody>
      </p:sp>
      <p:sp>
        <p:nvSpPr>
          <p:cNvPr id="19" name="Shape 17"/>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REPORTING</a:t>
            </a:r>
            <a:endParaRPr lang="en-US" sz="900" dirty="0"/>
          </a:p>
        </p:txBody>
      </p:sp>
      <p:sp>
        <p:nvSpPr>
          <p:cNvPr id="22" name="Text 20"/>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Launch prerequisites</a:t>
            </a:r>
            <a:endParaRPr lang="en-US" sz="1600" dirty="0"/>
          </a:p>
        </p:txBody>
      </p:sp>
      <p:sp>
        <p:nvSpPr>
          <p:cNvPr id="23" name="Text 21"/>
          <p:cNvSpPr/>
          <p:nvPr/>
        </p:nvSpPr>
        <p:spPr>
          <a:xfrm>
            <a:off x="6434176"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Dataset registry and column mapping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Formula and transform engine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Flexible approval hierarchies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Lineage from source to disclosure field</a:t>
            </a:r>
            <a:endParaRPr lang="en-US" sz="1100" dirty="0"/>
          </a:p>
        </p:txBody>
      </p:sp>
      <p:sp>
        <p:nvSpPr>
          <p:cNvPr id="24" name="Shape 22"/>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RISK AND STRATEGY</a:t>
            </a:r>
            <a:endParaRPr lang="en-US" sz="900" dirty="0"/>
          </a:p>
        </p:txBody>
      </p:sp>
      <p:sp>
        <p:nvSpPr>
          <p:cNvPr id="27" name="Text 25"/>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Model and planning</a:t>
            </a:r>
            <a:endParaRPr lang="en-US" sz="1600" dirty="0"/>
          </a:p>
        </p:txBody>
      </p:sp>
      <p:sp>
        <p:nvSpPr>
          <p:cNvPr id="28" name="Text 26"/>
          <p:cNvSpPr/>
          <p:nvPr/>
        </p:nvSpPr>
        <p:spPr>
          <a:xfrm>
            <a:off x="9239783"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entity and asset hierarchy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agents on the shared ontology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Performance at portfolio data volumes</a:t>
            </a:r>
            <a:endParaRPr lang="en-US" sz="1100" dirty="0"/>
          </a:p>
        </p:txBody>
      </p:sp>
      <p:sp>
        <p:nvSpPr>
          <p:cNvPr id="29" name="Shape 27"/>
          <p:cNvSpPr/>
          <p:nvPr/>
        </p:nvSpPr>
        <p:spPr>
          <a:xfrm>
            <a:off x="621792" y="6437376"/>
            <a:ext cx="10948111" cy="0"/>
          </a:xfrm>
          <a:prstGeom prst="line">
            <a:avLst/>
          </a:prstGeom>
          <a:noFill/>
          <a:ln w="9525">
            <a:solidFill>
              <a:srgbClr val="E2E6E2"/>
            </a:solidFill>
            <a:prstDash val="solid"/>
          </a:ln>
        </p:spPr>
      </p:sp>
      <p:sp>
        <p:nvSpPr>
          <p:cNvPr id="30" name="Text 2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1" name="Text 2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5</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05</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2027 direction</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Three bets that turn a compliant inventory into a differentiated platform.</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08026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75107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SEQUENCING</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How 2027 lays out: H1</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First half shape of the 2027 bets, based on current theme ranks.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H1 2027</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Complete the categories</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Category 4 and 9 product linked transport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Upstream and downstream transport</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Waste emission estimation, category 5</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Enterprise GHG inventory foundations</a:t>
            </a:r>
            <a:endParaRPr lang="en-US" sz="95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Financial and equity consolidation</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H1 2027</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Governance and trust</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Calculation governance and methodology transparency</a:t>
            </a:r>
            <a:endParaRPr lang="en-US" sz="90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User defined custom calculation methods</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Reusable inventory setup and boundaries</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Automated regression testing on the engine</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08026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75107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SEQUENCING</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How 2027 lays out: H2</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Second half shape of the 2027 bets, based on current theme ranks.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H2 2027</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Assurance and AI</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AI powered emissions troubleshooting</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Year on year variance checks, Scope 1 and 2</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Scope 1, 2, 3 disclosure reporting</a:t>
            </a:r>
            <a:endParaRPr lang="en-US" sz="950" dirty="0"/>
          </a:p>
        </p:txBody>
      </p:sp>
      <p:sp>
        <p:nvSpPr>
          <p:cNvPr id="20" name="Shape 18"/>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1" name="Shape 19"/>
          <p:cNvSpPr/>
          <p:nvPr/>
        </p:nvSpPr>
        <p:spPr>
          <a:xfrm>
            <a:off x="6223864" y="2084832"/>
            <a:ext cx="5346040" cy="713232"/>
          </a:xfrm>
          <a:prstGeom prst="rect">
            <a:avLst/>
          </a:prstGeom>
          <a:solidFill>
            <a:srgbClr val="EAF1F5"/>
          </a:solidFill>
          <a:ln w="12700">
            <a:solidFill>
              <a:srgbClr val="EAF1F5"/>
            </a:solidFill>
            <a:prstDash val="solid"/>
          </a:ln>
        </p:spPr>
      </p:sp>
      <p:sp>
        <p:nvSpPr>
          <p:cNvPr id="22" name="Shape 20"/>
          <p:cNvSpPr/>
          <p:nvPr/>
        </p:nvSpPr>
        <p:spPr>
          <a:xfrm>
            <a:off x="6223864" y="2084832"/>
            <a:ext cx="54864" cy="4178808"/>
          </a:xfrm>
          <a:prstGeom prst="rect">
            <a:avLst/>
          </a:prstGeom>
          <a:solidFill>
            <a:srgbClr val="275B7F"/>
          </a:solidFill>
          <a:ln w="12700">
            <a:solidFill>
              <a:srgbClr val="275B7F"/>
            </a:solidFill>
            <a:prstDash val="solid"/>
          </a:ln>
        </p:spPr>
      </p:sp>
      <p:sp>
        <p:nvSpPr>
          <p:cNvPr id="23" name="Text 21"/>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H2 2027</a:t>
            </a:r>
            <a:endParaRPr lang="en-US" sz="850" dirty="0"/>
          </a:p>
        </p:txBody>
      </p:sp>
      <p:sp>
        <p:nvSpPr>
          <p:cNvPr id="24" name="Text 22"/>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Insight and scale</a:t>
            </a:r>
            <a:endParaRPr lang="en-US" sz="1400" dirty="0"/>
          </a:p>
        </p:txBody>
      </p:sp>
      <p:sp>
        <p:nvSpPr>
          <p:cNvPr id="25" name="Shape 23"/>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6" name="Text 24"/>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Intensity and normalisation metrics</a:t>
            </a:r>
            <a:endParaRPr lang="en-US" sz="950" dirty="0"/>
          </a:p>
        </p:txBody>
      </p:sp>
      <p:sp>
        <p:nvSpPr>
          <p:cNvPr id="27" name="Shape 25"/>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Water data support</a:t>
            </a:r>
            <a:endParaRPr lang="en-US" sz="1000" dirty="0"/>
          </a:p>
        </p:txBody>
      </p:sp>
      <p:sp>
        <p:nvSpPr>
          <p:cNvPr id="29" name="Shape 27"/>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level approval workflows</a:t>
            </a:r>
            <a:endParaRPr lang="en-US" sz="1000" dirty="0"/>
          </a:p>
        </p:txBody>
      </p:sp>
      <p:sp>
        <p:nvSpPr>
          <p:cNvPr id="31" name="Shape 29"/>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Live currency conversion for spend based calculations</a:t>
            </a:r>
            <a:endParaRPr lang="en-US" sz="9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Carbon Performance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Close the inventory</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Eliminate the methodology and category gaps that still force hypercare. Consultant grade means no off platform workarounds.</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Scope 3 category 15 investments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Additional emission sources outside GHGP scopes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Calculation governance and methodology transparency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Inventory boundaries, exclusions and quality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Specialized standards: PCAF, FLAG, Bilan Carbone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Organizational boundary and consolidation</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inventory to decision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Turn a trustworthy inventory into boardroom ready insight and self serve planning, the wedge that replaces the consultant.</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From reporting to decision support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Boardroom ready decarbonization reporting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Self serve decarbonization planning and execution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Decision support for performance management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Cross product compounding</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CP data becomes more valuable when supply chain, climate risk, and reporting and compliance can consume it. Network effects across RA+.</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Enhanced end to end supply chain emissions management (rank 44)</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R&amp;C integration with CP emissions data (rank 33)</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specific emission factors, CP and SC</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Reusable analytics infrastructure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PCF integrations</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Supply Chain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Win on product carbon footprint</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Close the competitive gap on PCF so the supply base measures on RA+ rather than on a rival tool.</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Light PCF calculator, SEED integrations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tier level subscription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Zeigo Activate sunset, replaced by a light CP calculator</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specific emission factors, CP and SC</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Scale supplier participation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 network only compounds when suppliers join, stay engaged and keep data flowing across programmes.</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onboarding and programme participation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Multi tier supplier visibility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Engagement gamification and leaderboards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Cross programme supplier discovery</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data to supplier action</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Sponsor decision support turns collected data into evidenced decarbonisation the board can stand behind.</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Sponsor decision support and supplier transparency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Guided supplier decarbonisation actions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ESG reporting and compliance integration</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Reporting and Compliance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Complete the SE migration</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Corporate SE runs its Q1 2027 CSRD cycle in RA+, which is the proof point that retires RA Classic for good.</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Corporate SE fully migrated off RA Classic</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Historical data migrated and reconciled</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Audit ready disclosures produced in product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campaign management</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AI assisted disclosure</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Drafting, mapping and analytics compress the cost of every reporting cycle and widen what one team can cover.</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Governed disclosure authoring with AI drafting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AI compliance intelligence and mapping suggestions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Indicator performance analytics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Approval hierarchies and bulk assignment</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The disclosure hub for RA+</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Every product feeds its evidence into R&amp;C, so disclosure becomes the reason the platform holds together.</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CP emissions and CR risk feeding disclosures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External assurance and auditor experience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Voluntary frameworks: GRI, SASB, GRESB, EcoVadis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receiver from every product to facilitate disclosure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Climate Risk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Price the risk</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ClimVar turns exposure into financial value at risk, the language the CFO and the board actually trade in.</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ClimVar - Value at Risk, expressed in financial terms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Physical and transition scenario analysis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Portfolio level risk analytics and heatmaps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risk to funded adaptation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Scenarios convert into tracked adaptation actions with monthly actuals, not reports that sit on a shelf.</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Adaptation planning primitives with Strategy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Adaptation actions tracked with monthly actuals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Value at risk, scenario analysis and adaptation actions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Decision grade analysis at portfolio volumes</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Risk beyond owned assets</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model extends into the value chain and into disclosures, so risk stops being a standalone exercise.</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Value at risk across the extended value chain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Risk data flowing into R&amp;C disclosures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Risk data turned into financial values for disclosure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the RA+ Platform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that every product inherits.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One trusted data backbone</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Ingestion, quality and ontology are built once so Carbon Performance, Supply Chain, Reporting and Climate Risk all consume the same source of truth.</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data ingestion and transformation rules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quality across the L0 to L4 lifecycle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Control plane for tenant ontology governance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Programmatic connectors and APIs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receiver from every product to facilitate disclosure</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One calculation and trust engine</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Calculations, allocations and lineage are governed centrally so every product's numbers are defensible and reproducible.</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Audit trail and data lineage on key values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Automated regression testing on the engine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Anomaly and consistency checks on aggregates</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Enterprise scale and intelligence</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EU hosting, languages, performance and Sera make RA+ deployable at enterprise scale and understandable to every user.</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EU hosting and data residency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Performance at enterprise data volumes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Sera agents acting on the shared ontology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5135728" y="502920"/>
            <a:ext cx="1920240" cy="310896"/>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5135728" y="502920"/>
            <a:ext cx="1920240" cy="310896"/>
          </a:xfrm>
          <a:prstGeom prst="rect">
            <a:avLst/>
          </a:prstGeom>
          <a:noFill/>
          <a:ln/>
        </p:spPr>
        <p:txBody>
          <a:bodyPr wrap="square" lIns="0" tIns="0" rIns="0" bIns="0" rtlCol="0" anchor="ctr"/>
          <a:lstStyle/>
          <a:p>
            <a:pPr algn="ctr" indent="0" marL="0">
              <a:buNone/>
            </a:pPr>
            <a:r>
              <a:rPr lang="en-US" sz="1000" b="1" spc="300" kern="0" dirty="0">
                <a:solidFill>
                  <a:srgbClr val="CDFC57"/>
                </a:solidFill>
                <a:latin typeface="Calibri" pitchFamily="34" charset="0"/>
                <a:ea typeface="Calibri" pitchFamily="34" charset="-122"/>
                <a:cs typeface="Calibri" pitchFamily="34" charset="-120"/>
              </a:rPr>
              <a:t>2027 VISION</a:t>
            </a:r>
            <a:endParaRPr lang="en-US" sz="1000" dirty="0"/>
          </a:p>
        </p:txBody>
      </p:sp>
      <p:sp>
        <p:nvSpPr>
          <p:cNvPr id="4" name="Text 2"/>
          <p:cNvSpPr/>
          <p:nvPr/>
        </p:nvSpPr>
        <p:spPr>
          <a:xfrm>
            <a:off x="621792" y="1005840"/>
            <a:ext cx="10948111" cy="868680"/>
          </a:xfrm>
          <a:prstGeom prst="rect">
            <a:avLst/>
          </a:prstGeom>
          <a:noFill/>
          <a:ln/>
        </p:spPr>
        <p:txBody>
          <a:bodyPr wrap="square" lIns="0" tIns="0" rIns="0" bIns="0" rtlCol="0" anchor="ctr">
            <a:normAutofit/>
          </a:bodyPr>
          <a:lstStyle/>
          <a:p>
            <a:pPr algn="ctr" indent="0" marL="0">
              <a:buNone/>
            </a:pPr>
            <a:r>
              <a:rPr lang="en-US" sz="3000" b="1" dirty="0">
                <a:solidFill>
                  <a:srgbClr val="FFFFFF"/>
                </a:solidFill>
                <a:latin typeface="Calibri" pitchFamily="34" charset="0"/>
                <a:ea typeface="Calibri" pitchFamily="34" charset="-122"/>
                <a:cs typeface="Calibri" pitchFamily="34" charset="-120"/>
              </a:rPr>
              <a:t>From data you collect </a:t>
            </a:r>
            <a:pPr algn="ctr" indent="0" marL="0">
              <a:buNone/>
            </a:pPr>
            <a:r>
              <a:rPr lang="en-US" sz="3000" b="1" dirty="0">
                <a:solidFill>
                  <a:srgbClr val="CDFC57"/>
                </a:solidFill>
                <a:latin typeface="Calibri" pitchFamily="34" charset="0"/>
                <a:ea typeface="Calibri" pitchFamily="34" charset="-122"/>
                <a:cs typeface="Calibri" pitchFamily="34" charset="-120"/>
              </a:rPr>
              <a:t>to intelligence that decides.</a:t>
            </a:r>
            <a:endParaRPr lang="en-US" sz="3000" dirty="0"/>
          </a:p>
        </p:txBody>
      </p:sp>
      <p:sp>
        <p:nvSpPr>
          <p:cNvPr id="5" name="Text 3"/>
          <p:cNvSpPr/>
          <p:nvPr/>
        </p:nvSpPr>
        <p:spPr>
          <a:xfrm>
            <a:off x="2163928" y="1965960"/>
            <a:ext cx="7863840" cy="960120"/>
          </a:xfrm>
          <a:prstGeom prst="rect">
            <a:avLst/>
          </a:prstGeom>
          <a:noFill/>
          <a:ln/>
        </p:spPr>
        <p:txBody>
          <a:bodyPr wrap="square" lIns="0" tIns="0" rIns="0" bIns="0" rtlCol="0" anchor="t">
            <a:normAutofit/>
          </a:bodyPr>
          <a:lstStyle/>
          <a:p>
            <a:pPr algn="ctr" indent="0" marL="0">
              <a:lnSpc>
                <a:spcPct val="125000"/>
              </a:lnSpc>
              <a:buNone/>
            </a:pPr>
            <a:r>
              <a:rPr lang="en-US" sz="1200" dirty="0">
                <a:solidFill>
                  <a:srgbClr val="BFD9C9"/>
                </a:solidFill>
                <a:latin typeface="Calibri" pitchFamily="34" charset="0"/>
                <a:ea typeface="Calibri" pitchFamily="34" charset="-122"/>
                <a:cs typeface="Calibri" pitchFamily="34" charset="-120"/>
              </a:rPr>
              <a:t>By 2027, RA+ is no longer the place where sustainability data is stored. It is the place where the business is run: every footprint consultant grade, every risk priced in financial terms, every disclosure generated from the same trusted numbers, every decision grounded in one shared source of truth.</a:t>
            </a:r>
            <a:endParaRPr lang="en-US" sz="1200" dirty="0"/>
          </a:p>
        </p:txBody>
      </p:sp>
      <p:sp>
        <p:nvSpPr>
          <p:cNvPr id="6" name="Shape 4"/>
          <p:cNvSpPr/>
          <p:nvPr/>
        </p:nvSpPr>
        <p:spPr>
          <a:xfrm>
            <a:off x="621792" y="3246120"/>
            <a:ext cx="3405530" cy="1828800"/>
          </a:xfrm>
          <a:prstGeom prst="roundRect">
            <a:avLst>
              <a:gd name="adj" fmla="val 3000"/>
            </a:avLst>
          </a:prstGeom>
          <a:solidFill>
            <a:srgbClr val="0F4A2E"/>
          </a:solidFill>
          <a:ln w="9525">
            <a:solidFill>
              <a:srgbClr val="CDFC57"/>
            </a:solidFill>
            <a:prstDash val="solid"/>
          </a:ln>
        </p:spPr>
      </p:sp>
      <p:sp>
        <p:nvSpPr>
          <p:cNvPr id="7" name="Text 5"/>
          <p:cNvSpPr/>
          <p:nvPr/>
        </p:nvSpPr>
        <p:spPr>
          <a:xfrm>
            <a:off x="850392"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One platform</a:t>
            </a:r>
            <a:endParaRPr lang="en-US" sz="1500" dirty="0"/>
          </a:p>
        </p:txBody>
      </p:sp>
      <p:sp>
        <p:nvSpPr>
          <p:cNvPr id="8" name="Text 6"/>
          <p:cNvSpPr/>
          <p:nvPr/>
        </p:nvSpPr>
        <p:spPr>
          <a:xfrm>
            <a:off x="850392"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Sustainability, Energy and Efficiency converge on a single data spine. One hierarchy, one ontology, one version of the truth for every product.</a:t>
            </a:r>
            <a:endParaRPr lang="en-US" sz="1050" dirty="0"/>
          </a:p>
        </p:txBody>
      </p:sp>
      <p:sp>
        <p:nvSpPr>
          <p:cNvPr id="9" name="Shape 7"/>
          <p:cNvSpPr/>
          <p:nvPr/>
        </p:nvSpPr>
        <p:spPr>
          <a:xfrm>
            <a:off x="4393082" y="3246120"/>
            <a:ext cx="3405530" cy="1828800"/>
          </a:xfrm>
          <a:prstGeom prst="roundRect">
            <a:avLst>
              <a:gd name="adj" fmla="val 3000"/>
            </a:avLst>
          </a:prstGeom>
          <a:solidFill>
            <a:srgbClr val="0F4A2E"/>
          </a:solidFill>
          <a:ln w="9525">
            <a:solidFill>
              <a:srgbClr val="CDFC57"/>
            </a:solidFill>
            <a:prstDash val="solid"/>
          </a:ln>
        </p:spPr>
      </p:sp>
      <p:sp>
        <p:nvSpPr>
          <p:cNvPr id="10" name="Text 8"/>
          <p:cNvSpPr/>
          <p:nvPr/>
        </p:nvSpPr>
        <p:spPr>
          <a:xfrm>
            <a:off x="4621682"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AI native</a:t>
            </a:r>
            <a:endParaRPr lang="en-US" sz="1500" dirty="0"/>
          </a:p>
        </p:txBody>
      </p:sp>
      <p:sp>
        <p:nvSpPr>
          <p:cNvPr id="11" name="Text 9"/>
          <p:cNvSpPr/>
          <p:nvPr/>
        </p:nvSpPr>
        <p:spPr>
          <a:xfrm>
            <a:off x="4621682"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Sera agents act on the shared ontology across every product, turning data into recommendations, scenarios and actions before anyone asks.</a:t>
            </a:r>
            <a:endParaRPr lang="en-US" sz="1050" dirty="0"/>
          </a:p>
        </p:txBody>
      </p:sp>
      <p:sp>
        <p:nvSpPr>
          <p:cNvPr id="12" name="Shape 10"/>
          <p:cNvSpPr/>
          <p:nvPr/>
        </p:nvSpPr>
        <p:spPr>
          <a:xfrm>
            <a:off x="8164373" y="3246120"/>
            <a:ext cx="3405530" cy="1828800"/>
          </a:xfrm>
          <a:prstGeom prst="roundRect">
            <a:avLst>
              <a:gd name="adj" fmla="val 3000"/>
            </a:avLst>
          </a:prstGeom>
          <a:solidFill>
            <a:srgbClr val="0F4A2E"/>
          </a:solidFill>
          <a:ln w="9525">
            <a:solidFill>
              <a:srgbClr val="CDFC57"/>
            </a:solidFill>
            <a:prstDash val="solid"/>
          </a:ln>
        </p:spPr>
      </p:sp>
      <p:sp>
        <p:nvSpPr>
          <p:cNvPr id="13" name="Text 11"/>
          <p:cNvSpPr/>
          <p:nvPr/>
        </p:nvSpPr>
        <p:spPr>
          <a:xfrm>
            <a:off x="8392973"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Board grade</a:t>
            </a:r>
            <a:endParaRPr lang="en-US" sz="1500" dirty="0"/>
          </a:p>
        </p:txBody>
      </p:sp>
      <p:sp>
        <p:nvSpPr>
          <p:cNvPr id="14" name="Text 12"/>
          <p:cNvSpPr/>
          <p:nvPr/>
        </p:nvSpPr>
        <p:spPr>
          <a:xfrm>
            <a:off x="8392973"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Every number is auditable, every disclosure is generated, every value at risk is expressed in the language the CFO and the board trade in.</a:t>
            </a:r>
            <a:endParaRPr lang="en-US" sz="1050" dirty="0"/>
          </a:p>
        </p:txBody>
      </p:sp>
      <p:sp>
        <p:nvSpPr>
          <p:cNvPr id="15" name="Text 13"/>
          <p:cNvSpPr/>
          <p:nvPr/>
        </p:nvSpPr>
        <p:spPr>
          <a:xfrm>
            <a:off x="621792" y="5532120"/>
            <a:ext cx="10948111" cy="457200"/>
          </a:xfrm>
          <a:prstGeom prst="rect">
            <a:avLst/>
          </a:prstGeom>
          <a:noFill/>
          <a:ln/>
        </p:spPr>
        <p:txBody>
          <a:bodyPr wrap="square" lIns="0" tIns="0" rIns="0" bIns="0" rtlCol="0" anchor="ctr"/>
          <a:lstStyle/>
          <a:p>
            <a:pPr algn="ctr" indent="0" marL="0">
              <a:buNone/>
            </a:pPr>
            <a:r>
              <a:rPr lang="en-US" sz="1800" spc="100" kern="0" dirty="0">
                <a:solidFill>
                  <a:srgbClr val="FFFFFF"/>
                </a:solidFill>
                <a:latin typeface="Calibri" pitchFamily="34" charset="0"/>
                <a:ea typeface="Calibri" pitchFamily="34" charset="-122"/>
                <a:cs typeface="Calibri" pitchFamily="34" charset="-120"/>
              </a:rPr>
              <a:t>End-to-end value, only we can deliver.</a:t>
            </a:r>
            <a:endParaRPr lang="en-US" sz="1800" dirty="0"/>
          </a:p>
        </p:txBody>
      </p:sp>
      <p:sp>
        <p:nvSpPr>
          <p:cNvPr id="16" name="Text 14"/>
          <p:cNvSpPr/>
          <p:nvPr/>
        </p:nvSpPr>
        <p:spPr>
          <a:xfrm>
            <a:off x="8460943" y="6355080"/>
            <a:ext cx="3108960" cy="274320"/>
          </a:xfrm>
          <a:prstGeom prst="rect">
            <a:avLst/>
          </a:prstGeom>
          <a:noFill/>
          <a:ln/>
        </p:spPr>
        <p:txBody>
          <a:bodyPr wrap="square" lIns="0" tIns="0" rIns="0" bIns="0" rtlCol="0" anchor="ctr"/>
          <a:lstStyle/>
          <a:p>
            <a:pPr algn="r" indent="0" marL="0">
              <a:buNone/>
            </a:pPr>
            <a:r>
              <a:rPr lang="en-US" sz="1300" b="1" dirty="0">
                <a:solidFill>
                  <a:srgbClr val="3DCD58"/>
                </a:solidFill>
                <a:latin typeface="Calibri" pitchFamily="34" charset="0"/>
                <a:ea typeface="Calibri" pitchFamily="34" charset="-122"/>
                <a:cs typeface="Calibri" pitchFamily="34" charset="-120"/>
              </a:rPr>
              <a:t>SE </a:t>
            </a:r>
            <a:pPr algn="r" indent="0" marL="0">
              <a:buNone/>
            </a:pPr>
            <a:r>
              <a:rPr lang="en-US" sz="1300" dirty="0">
                <a:solidFill>
                  <a:srgbClr val="FFFFFF"/>
                </a:solidFill>
                <a:latin typeface="Calibri" pitchFamily="34" charset="0"/>
                <a:ea typeface="Calibri" pitchFamily="34" charset="-122"/>
                <a:cs typeface="Calibri" pitchFamily="34" charset="-120"/>
              </a:rPr>
              <a:t>ADVISORY SERVICES</a:t>
            </a:r>
            <a:endParaRPr lang="en-US" sz="1300" dirty="0"/>
          </a:p>
        </p:txBody>
      </p:sp>
      <p:sp>
        <p:nvSpPr>
          <p:cNvPr id="25" name="Slide Number Placeholder 0"/>
          <p:cNvSpPr>
            <a:spLocks noGrp="1"/>
          </p:cNvSpPr>
          <p:nvPr>
            <p:ph type="sldNum" sz="quarter" idx="4294967295"/>
          </p:nvPr>
        </p:nvSpPr>
        <p:spPr>
          <a:xfrm>
            <a:off x="10929823" y="608076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621792" y="384048"/>
            <a:ext cx="2514600" cy="310896"/>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621792" y="384048"/>
            <a:ext cx="2514600" cy="310896"/>
          </a:xfrm>
          <a:prstGeom prst="rect">
            <a:avLst/>
          </a:prstGeom>
          <a:noFill/>
          <a:ln/>
        </p:spPr>
        <p:txBody>
          <a:bodyPr wrap="square" lIns="0" tIns="0" rIns="0" bIns="0" rtlCol="0" anchor="ctr"/>
          <a:lstStyle/>
          <a:p>
            <a:pPr algn="ctr" indent="0" marL="0">
              <a:buNone/>
            </a:pPr>
            <a:r>
              <a:rPr lang="en-US" sz="900" b="1" spc="180" kern="0" dirty="0">
                <a:solidFill>
                  <a:srgbClr val="CDFC57"/>
                </a:solidFill>
                <a:latin typeface="Calibri" pitchFamily="34" charset="0"/>
                <a:ea typeface="Calibri" pitchFamily="34" charset="-122"/>
                <a:cs typeface="Calibri" pitchFamily="34" charset="-120"/>
              </a:rPr>
              <a:t>BEYOND 2027 | DIRECTIONAL</a:t>
            </a:r>
            <a:endParaRPr lang="en-US" sz="900" dirty="0"/>
          </a:p>
        </p:txBody>
      </p:sp>
      <p:sp>
        <p:nvSpPr>
          <p:cNvPr id="4" name="Text 2"/>
          <p:cNvSpPr/>
          <p:nvPr/>
        </p:nvSpPr>
        <p:spPr>
          <a:xfrm>
            <a:off x="621792" y="850392"/>
            <a:ext cx="10948111" cy="713232"/>
          </a:xfrm>
          <a:prstGeom prst="rect">
            <a:avLst/>
          </a:prstGeom>
          <a:noFill/>
          <a:ln/>
        </p:spPr>
        <p:txBody>
          <a:bodyPr wrap="square" lIns="0" tIns="0" rIns="0" bIns="0" rtlCol="0" anchor="ctr">
            <a:normAutofit/>
          </a:bodyPr>
          <a:lstStyle/>
          <a:p>
            <a:pPr indent="0" marL="0">
              <a:buNone/>
            </a:pPr>
            <a:r>
              <a:rPr lang="en-US" sz="2700" b="1" dirty="0">
                <a:solidFill>
                  <a:srgbClr val="FFFFFF"/>
                </a:solidFill>
                <a:latin typeface="Calibri" pitchFamily="34" charset="0"/>
                <a:ea typeface="Calibri" pitchFamily="34" charset="-122"/>
                <a:cs typeface="Calibri" pitchFamily="34" charset="-120"/>
              </a:rPr>
              <a:t>The long-term path: from connected products to an autonomous value platform</a:t>
            </a:r>
            <a:endParaRPr lang="en-US" sz="2700" dirty="0"/>
          </a:p>
        </p:txBody>
      </p:sp>
      <p:sp>
        <p:nvSpPr>
          <p:cNvPr id="5" name="Text 3"/>
          <p:cNvSpPr/>
          <p:nvPr/>
        </p:nvSpPr>
        <p:spPr>
          <a:xfrm>
            <a:off x="621792" y="1627632"/>
            <a:ext cx="9875520" cy="438912"/>
          </a:xfrm>
          <a:prstGeom prst="rect">
            <a:avLst/>
          </a:prstGeom>
          <a:noFill/>
          <a:ln/>
        </p:spPr>
        <p:txBody>
          <a:bodyPr wrap="square" lIns="0" tIns="0" rIns="0" bIns="0" rtlCol="0" anchor="t">
            <a:normAutofit/>
          </a:bodyPr>
          <a:lstStyle/>
          <a:p>
            <a:pPr indent="0" marL="0">
              <a:buNone/>
            </a:pPr>
            <a:r>
              <a:rPr lang="en-US" sz="1150" dirty="0">
                <a:solidFill>
                  <a:srgbClr val="BFD9C9"/>
                </a:solidFill>
                <a:latin typeface="Calibri" pitchFamily="34" charset="0"/>
                <a:ea typeface="Calibri" pitchFamily="34" charset="-122"/>
                <a:cs typeface="Calibri" pitchFamily="34" charset="-120"/>
              </a:rPr>
              <a:t>A strategic horizon, not a committed release plan. Each stage compounds the shared data, intelligence and experience built through 2027.</a:t>
            </a:r>
            <a:endParaRPr lang="en-US" sz="1150" dirty="0"/>
          </a:p>
        </p:txBody>
      </p:sp>
      <p:sp>
        <p:nvSpPr>
          <p:cNvPr id="6" name="Shape 4"/>
          <p:cNvSpPr/>
          <p:nvPr/>
        </p:nvSpPr>
        <p:spPr>
          <a:xfrm>
            <a:off x="621792" y="2267712"/>
            <a:ext cx="3393338" cy="0"/>
          </a:xfrm>
          <a:prstGeom prst="line">
            <a:avLst/>
          </a:prstGeom>
          <a:noFill/>
          <a:ln w="10160">
            <a:solidFill>
              <a:srgbClr val="5E806E"/>
            </a:solidFill>
            <a:prstDash val="solid"/>
          </a:ln>
        </p:spPr>
      </p:sp>
      <p:sp>
        <p:nvSpPr>
          <p:cNvPr id="7" name="Text 5"/>
          <p:cNvSpPr/>
          <p:nvPr/>
        </p:nvSpPr>
        <p:spPr>
          <a:xfrm>
            <a:off x="4115714" y="2148840"/>
            <a:ext cx="182880" cy="228600"/>
          </a:xfrm>
          <a:prstGeom prst="rect">
            <a:avLst/>
          </a:prstGeom>
          <a:noFill/>
          <a:ln/>
        </p:spPr>
        <p:txBody>
          <a:bodyPr wrap="square" lIns="0" tIns="0" rIns="0" bIns="0" rtlCol="0" anchor="ctr"/>
          <a:lstStyle/>
          <a:p>
            <a:pPr algn="ctr" indent="0" marL="0">
              <a:buNone/>
            </a:pPr>
            <a:r>
              <a:rPr lang="en-US" sz="1700" dirty="0">
                <a:solidFill>
                  <a:srgbClr val="769585"/>
                </a:solidFill>
                <a:latin typeface="Calibri" pitchFamily="34" charset="0"/>
                <a:ea typeface="Calibri" pitchFamily="34" charset="-122"/>
                <a:cs typeface="Calibri" pitchFamily="34" charset="-120"/>
              </a:rPr>
              <a:t>›</a:t>
            </a:r>
            <a:endParaRPr lang="en-US" sz="1700" dirty="0"/>
          </a:p>
        </p:txBody>
      </p:sp>
      <p:sp>
        <p:nvSpPr>
          <p:cNvPr id="8" name="Shape 6"/>
          <p:cNvSpPr/>
          <p:nvPr/>
        </p:nvSpPr>
        <p:spPr>
          <a:xfrm>
            <a:off x="621792" y="2432304"/>
            <a:ext cx="731520" cy="292608"/>
          </a:xfrm>
          <a:prstGeom prst="roundRect">
            <a:avLst>
              <a:gd name="adj" fmla="val 12500"/>
            </a:avLst>
          </a:prstGeom>
          <a:solidFill>
            <a:srgbClr val="0C3B25"/>
          </a:solidFill>
          <a:ln w="12700">
            <a:solidFill>
              <a:srgbClr val="3DCD58"/>
            </a:solidFill>
            <a:prstDash val="solid"/>
          </a:ln>
        </p:spPr>
      </p:sp>
      <p:sp>
        <p:nvSpPr>
          <p:cNvPr id="9" name="Text 7"/>
          <p:cNvSpPr/>
          <p:nvPr/>
        </p:nvSpPr>
        <p:spPr>
          <a:xfrm>
            <a:off x="621792" y="2432304"/>
            <a:ext cx="731520" cy="292608"/>
          </a:xfrm>
          <a:prstGeom prst="rect">
            <a:avLst/>
          </a:prstGeom>
          <a:noFill/>
          <a:ln/>
        </p:spPr>
        <p:txBody>
          <a:bodyPr wrap="square" lIns="0" tIns="0" rIns="0" bIns="0" rtlCol="0" anchor="ctr"/>
          <a:lstStyle/>
          <a:p>
            <a:pPr algn="ctr" indent="0" marL="0">
              <a:buNone/>
            </a:pPr>
            <a:r>
              <a:rPr lang="en-US" sz="1000" b="1" dirty="0">
                <a:solidFill>
                  <a:srgbClr val="3DCD58"/>
                </a:solidFill>
                <a:latin typeface="Calibri" pitchFamily="34" charset="0"/>
                <a:ea typeface="Calibri" pitchFamily="34" charset="-122"/>
                <a:cs typeface="Calibri" pitchFamily="34" charset="-120"/>
              </a:rPr>
              <a:t>2028</a:t>
            </a:r>
            <a:endParaRPr lang="en-US" sz="1000" dirty="0"/>
          </a:p>
        </p:txBody>
      </p:sp>
      <p:sp>
        <p:nvSpPr>
          <p:cNvPr id="10" name="Text 8"/>
          <p:cNvSpPr/>
          <p:nvPr/>
        </p:nvSpPr>
        <p:spPr>
          <a:xfrm>
            <a:off x="621792"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Scale the platform</a:t>
            </a:r>
            <a:endParaRPr lang="en-US" sz="1600" dirty="0"/>
          </a:p>
        </p:txBody>
      </p:sp>
      <p:sp>
        <p:nvSpPr>
          <p:cNvPr id="11" name="Text 9"/>
          <p:cNvSpPr/>
          <p:nvPr/>
        </p:nvSpPr>
        <p:spPr>
          <a:xfrm>
            <a:off x="621792"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Make one trusted foundation deployable across the enterprise and the extended value chain.</a:t>
            </a:r>
            <a:endParaRPr lang="en-US" sz="1000" dirty="0"/>
          </a:p>
        </p:txBody>
      </p:sp>
      <p:sp>
        <p:nvSpPr>
          <p:cNvPr id="12" name="Shape 10"/>
          <p:cNvSpPr/>
          <p:nvPr/>
        </p:nvSpPr>
        <p:spPr>
          <a:xfrm>
            <a:off x="621792" y="3977640"/>
            <a:ext cx="3393338" cy="0"/>
          </a:xfrm>
          <a:prstGeom prst="line">
            <a:avLst/>
          </a:prstGeom>
          <a:noFill/>
          <a:ln w="6350">
            <a:solidFill>
              <a:srgbClr val="315D47"/>
            </a:solidFill>
            <a:prstDash val="solid"/>
          </a:ln>
        </p:spPr>
      </p:sp>
      <p:sp>
        <p:nvSpPr>
          <p:cNvPr id="13" name="Shape 11"/>
          <p:cNvSpPr/>
          <p:nvPr/>
        </p:nvSpPr>
        <p:spPr>
          <a:xfrm>
            <a:off x="621792" y="4114800"/>
            <a:ext cx="54864" cy="54864"/>
          </a:xfrm>
          <a:prstGeom prst="ellipse">
            <a:avLst/>
          </a:prstGeom>
          <a:solidFill>
            <a:srgbClr val="3DCD58"/>
          </a:solidFill>
          <a:ln w="12700">
            <a:solidFill>
              <a:srgbClr val="3DCD58"/>
            </a:solidFill>
            <a:prstDash val="solid"/>
          </a:ln>
        </p:spPr>
      </p:sp>
      <p:sp>
        <p:nvSpPr>
          <p:cNvPr id="14" name="Text 12"/>
          <p:cNvSpPr/>
          <p:nvPr/>
        </p:nvSpPr>
        <p:spPr>
          <a:xfrm>
            <a:off x="768096"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Sustainability Performance broadens the carbon baseline</a:t>
            </a:r>
            <a:endParaRPr lang="en-US" sz="900" dirty="0"/>
          </a:p>
        </p:txBody>
      </p:sp>
      <p:sp>
        <p:nvSpPr>
          <p:cNvPr id="15" name="Shape 13"/>
          <p:cNvSpPr/>
          <p:nvPr/>
        </p:nvSpPr>
        <p:spPr>
          <a:xfrm>
            <a:off x="621792" y="4443984"/>
            <a:ext cx="3393338" cy="0"/>
          </a:xfrm>
          <a:prstGeom prst="line">
            <a:avLst/>
          </a:prstGeom>
          <a:noFill/>
          <a:ln w="6350">
            <a:solidFill>
              <a:srgbClr val="315D47"/>
            </a:solidFill>
            <a:prstDash val="solid"/>
          </a:ln>
        </p:spPr>
      </p:sp>
      <p:sp>
        <p:nvSpPr>
          <p:cNvPr id="16" name="Shape 14"/>
          <p:cNvSpPr/>
          <p:nvPr/>
        </p:nvSpPr>
        <p:spPr>
          <a:xfrm>
            <a:off x="621792" y="4581144"/>
            <a:ext cx="54864" cy="54864"/>
          </a:xfrm>
          <a:prstGeom prst="ellipse">
            <a:avLst/>
          </a:prstGeom>
          <a:solidFill>
            <a:srgbClr val="3DCD58"/>
          </a:solidFill>
          <a:ln w="12700">
            <a:solidFill>
              <a:srgbClr val="3DCD58"/>
            </a:solidFill>
            <a:prstDash val="solid"/>
          </a:ln>
        </p:spPr>
      </p:sp>
      <p:sp>
        <p:nvSpPr>
          <p:cNvPr id="17" name="Text 15"/>
          <p:cNvSpPr/>
          <p:nvPr/>
        </p:nvSpPr>
        <p:spPr>
          <a:xfrm>
            <a:off x="768096"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Energy and efficiency data converge on the shared spine</a:t>
            </a:r>
            <a:endParaRPr lang="en-US" sz="900" dirty="0"/>
          </a:p>
        </p:txBody>
      </p:sp>
      <p:sp>
        <p:nvSpPr>
          <p:cNvPr id="18" name="Shape 16"/>
          <p:cNvSpPr/>
          <p:nvPr/>
        </p:nvSpPr>
        <p:spPr>
          <a:xfrm>
            <a:off x="621792" y="4910328"/>
            <a:ext cx="3393338" cy="0"/>
          </a:xfrm>
          <a:prstGeom prst="line">
            <a:avLst/>
          </a:prstGeom>
          <a:noFill/>
          <a:ln w="6350">
            <a:solidFill>
              <a:srgbClr val="315D47"/>
            </a:solidFill>
            <a:prstDash val="solid"/>
          </a:ln>
        </p:spPr>
      </p:sp>
      <p:sp>
        <p:nvSpPr>
          <p:cNvPr id="19" name="Shape 17"/>
          <p:cNvSpPr/>
          <p:nvPr/>
        </p:nvSpPr>
        <p:spPr>
          <a:xfrm>
            <a:off x="621792" y="5047488"/>
            <a:ext cx="54864" cy="54864"/>
          </a:xfrm>
          <a:prstGeom prst="ellipse">
            <a:avLst/>
          </a:prstGeom>
          <a:solidFill>
            <a:srgbClr val="3DCD58"/>
          </a:solidFill>
          <a:ln w="12700">
            <a:solidFill>
              <a:srgbClr val="3DCD58"/>
            </a:solidFill>
            <a:prstDash val="solid"/>
          </a:ln>
        </p:spPr>
      </p:sp>
      <p:sp>
        <p:nvSpPr>
          <p:cNvPr id="20" name="Text 18"/>
          <p:cNvSpPr/>
          <p:nvPr/>
        </p:nvSpPr>
        <p:spPr>
          <a:xfrm>
            <a:off x="768096"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Global deployment, localisation and ecosystem APIs</a:t>
            </a:r>
            <a:endParaRPr lang="en-US" sz="900" dirty="0"/>
          </a:p>
        </p:txBody>
      </p:sp>
      <p:sp>
        <p:nvSpPr>
          <p:cNvPr id="21" name="Shape 19"/>
          <p:cNvSpPr/>
          <p:nvPr/>
        </p:nvSpPr>
        <p:spPr>
          <a:xfrm>
            <a:off x="4399178" y="2267712"/>
            <a:ext cx="3393338" cy="0"/>
          </a:xfrm>
          <a:prstGeom prst="line">
            <a:avLst/>
          </a:prstGeom>
          <a:noFill/>
          <a:ln w="10160">
            <a:solidFill>
              <a:srgbClr val="5E806E"/>
            </a:solidFill>
            <a:prstDash val="solid"/>
          </a:ln>
        </p:spPr>
      </p:sp>
      <p:sp>
        <p:nvSpPr>
          <p:cNvPr id="22" name="Text 20"/>
          <p:cNvSpPr/>
          <p:nvPr/>
        </p:nvSpPr>
        <p:spPr>
          <a:xfrm>
            <a:off x="7893101" y="2148840"/>
            <a:ext cx="182880" cy="228600"/>
          </a:xfrm>
          <a:prstGeom prst="rect">
            <a:avLst/>
          </a:prstGeom>
          <a:noFill/>
          <a:ln/>
        </p:spPr>
        <p:txBody>
          <a:bodyPr wrap="square" lIns="0" tIns="0" rIns="0" bIns="0" rtlCol="0" anchor="ctr"/>
          <a:lstStyle/>
          <a:p>
            <a:pPr algn="ctr" indent="0" marL="0">
              <a:buNone/>
            </a:pPr>
            <a:r>
              <a:rPr lang="en-US" sz="1700" dirty="0">
                <a:solidFill>
                  <a:srgbClr val="769585"/>
                </a:solidFill>
                <a:latin typeface="Calibri" pitchFamily="34" charset="0"/>
                <a:ea typeface="Calibri" pitchFamily="34" charset="-122"/>
                <a:cs typeface="Calibri" pitchFamily="34" charset="-120"/>
              </a:rPr>
              <a:t>›</a:t>
            </a:r>
            <a:endParaRPr lang="en-US" sz="1700" dirty="0"/>
          </a:p>
        </p:txBody>
      </p:sp>
      <p:sp>
        <p:nvSpPr>
          <p:cNvPr id="23" name="Shape 21"/>
          <p:cNvSpPr/>
          <p:nvPr/>
        </p:nvSpPr>
        <p:spPr>
          <a:xfrm>
            <a:off x="4399178" y="2432304"/>
            <a:ext cx="731520" cy="292608"/>
          </a:xfrm>
          <a:prstGeom prst="roundRect">
            <a:avLst>
              <a:gd name="adj" fmla="val 12500"/>
            </a:avLst>
          </a:prstGeom>
          <a:solidFill>
            <a:srgbClr val="0C3B25"/>
          </a:solidFill>
          <a:ln w="12700">
            <a:solidFill>
              <a:srgbClr val="CDFC57"/>
            </a:solidFill>
            <a:prstDash val="solid"/>
          </a:ln>
        </p:spPr>
      </p:sp>
      <p:sp>
        <p:nvSpPr>
          <p:cNvPr id="24" name="Text 22"/>
          <p:cNvSpPr/>
          <p:nvPr/>
        </p:nvSpPr>
        <p:spPr>
          <a:xfrm>
            <a:off x="4399178" y="2432304"/>
            <a:ext cx="731520" cy="292608"/>
          </a:xfrm>
          <a:prstGeom prst="rect">
            <a:avLst/>
          </a:prstGeom>
          <a:noFill/>
          <a:ln/>
        </p:spPr>
        <p:txBody>
          <a:bodyPr wrap="square" lIns="0" tIns="0" rIns="0" bIns="0" rtlCol="0" anchor="ctr"/>
          <a:lstStyle/>
          <a:p>
            <a:pPr algn="ctr" indent="0" marL="0">
              <a:buNone/>
            </a:pPr>
            <a:r>
              <a:rPr lang="en-US" sz="1000" b="1" dirty="0">
                <a:solidFill>
                  <a:srgbClr val="CDFC57"/>
                </a:solidFill>
                <a:latin typeface="Calibri" pitchFamily="34" charset="0"/>
                <a:ea typeface="Calibri" pitchFamily="34" charset="-122"/>
                <a:cs typeface="Calibri" pitchFamily="34" charset="-120"/>
              </a:rPr>
              <a:t>2029</a:t>
            </a:r>
            <a:endParaRPr lang="en-US" sz="1000" dirty="0"/>
          </a:p>
        </p:txBody>
      </p:sp>
      <p:sp>
        <p:nvSpPr>
          <p:cNvPr id="25" name="Text 23"/>
          <p:cNvSpPr/>
          <p:nvPr/>
        </p:nvSpPr>
        <p:spPr>
          <a:xfrm>
            <a:off x="4399178"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Industrialise intelligence</a:t>
            </a:r>
            <a:endParaRPr lang="en-US" sz="1600" dirty="0"/>
          </a:p>
        </p:txBody>
      </p:sp>
      <p:sp>
        <p:nvSpPr>
          <p:cNvPr id="26" name="Text 24"/>
          <p:cNvSpPr/>
          <p:nvPr/>
        </p:nvSpPr>
        <p:spPr>
          <a:xfrm>
            <a:off x="4399178"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Turn shared context into decision support that works across every product and workflow.</a:t>
            </a:r>
            <a:endParaRPr lang="en-US" sz="1000" dirty="0"/>
          </a:p>
        </p:txBody>
      </p:sp>
      <p:sp>
        <p:nvSpPr>
          <p:cNvPr id="27" name="Shape 25"/>
          <p:cNvSpPr/>
          <p:nvPr/>
        </p:nvSpPr>
        <p:spPr>
          <a:xfrm>
            <a:off x="4399178" y="3977640"/>
            <a:ext cx="3393338" cy="0"/>
          </a:xfrm>
          <a:prstGeom prst="line">
            <a:avLst/>
          </a:prstGeom>
          <a:noFill/>
          <a:ln w="6350">
            <a:solidFill>
              <a:srgbClr val="315D47"/>
            </a:solidFill>
            <a:prstDash val="solid"/>
          </a:ln>
        </p:spPr>
      </p:sp>
      <p:sp>
        <p:nvSpPr>
          <p:cNvPr id="28" name="Shape 26"/>
          <p:cNvSpPr/>
          <p:nvPr/>
        </p:nvSpPr>
        <p:spPr>
          <a:xfrm>
            <a:off x="4399178" y="4114800"/>
            <a:ext cx="54864" cy="54864"/>
          </a:xfrm>
          <a:prstGeom prst="ellipse">
            <a:avLst/>
          </a:prstGeom>
          <a:solidFill>
            <a:srgbClr val="3DCD58"/>
          </a:solidFill>
          <a:ln w="12700">
            <a:solidFill>
              <a:srgbClr val="3DCD58"/>
            </a:solidFill>
            <a:prstDash val="solid"/>
          </a:ln>
        </p:spPr>
      </p:sp>
      <p:sp>
        <p:nvSpPr>
          <p:cNvPr id="29" name="Text 27"/>
          <p:cNvSpPr/>
          <p:nvPr/>
        </p:nvSpPr>
        <p:spPr>
          <a:xfrm>
            <a:off x="4545482"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Cross-domain scenarios connect cost, carbon, energy and risk</a:t>
            </a:r>
            <a:endParaRPr lang="en-US" sz="900" dirty="0"/>
          </a:p>
        </p:txBody>
      </p:sp>
      <p:sp>
        <p:nvSpPr>
          <p:cNvPr id="30" name="Shape 28"/>
          <p:cNvSpPr/>
          <p:nvPr/>
        </p:nvSpPr>
        <p:spPr>
          <a:xfrm>
            <a:off x="4399178" y="4443984"/>
            <a:ext cx="3393338" cy="0"/>
          </a:xfrm>
          <a:prstGeom prst="line">
            <a:avLst/>
          </a:prstGeom>
          <a:noFill/>
          <a:ln w="6350">
            <a:solidFill>
              <a:srgbClr val="315D47"/>
            </a:solidFill>
            <a:prstDash val="solid"/>
          </a:ln>
        </p:spPr>
      </p:sp>
      <p:sp>
        <p:nvSpPr>
          <p:cNvPr id="31" name="Shape 29"/>
          <p:cNvSpPr/>
          <p:nvPr/>
        </p:nvSpPr>
        <p:spPr>
          <a:xfrm>
            <a:off x="4399178" y="4581144"/>
            <a:ext cx="54864" cy="54864"/>
          </a:xfrm>
          <a:prstGeom prst="ellipse">
            <a:avLst/>
          </a:prstGeom>
          <a:solidFill>
            <a:srgbClr val="3DCD58"/>
          </a:solidFill>
          <a:ln w="12700">
            <a:solidFill>
              <a:srgbClr val="3DCD58"/>
            </a:solidFill>
            <a:prstDash val="solid"/>
          </a:ln>
        </p:spPr>
      </p:sp>
      <p:sp>
        <p:nvSpPr>
          <p:cNvPr id="32" name="Text 30"/>
          <p:cNvSpPr/>
          <p:nvPr/>
        </p:nvSpPr>
        <p:spPr>
          <a:xfrm>
            <a:off x="4545482"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Sera orchestrates recommendations across the portfolio</a:t>
            </a:r>
            <a:endParaRPr lang="en-US" sz="900" dirty="0"/>
          </a:p>
        </p:txBody>
      </p:sp>
      <p:sp>
        <p:nvSpPr>
          <p:cNvPr id="33" name="Shape 31"/>
          <p:cNvSpPr/>
          <p:nvPr/>
        </p:nvSpPr>
        <p:spPr>
          <a:xfrm>
            <a:off x="4399178" y="4910328"/>
            <a:ext cx="3393338" cy="0"/>
          </a:xfrm>
          <a:prstGeom prst="line">
            <a:avLst/>
          </a:prstGeom>
          <a:noFill/>
          <a:ln w="6350">
            <a:solidFill>
              <a:srgbClr val="315D47"/>
            </a:solidFill>
            <a:prstDash val="solid"/>
          </a:ln>
        </p:spPr>
      </p:sp>
      <p:sp>
        <p:nvSpPr>
          <p:cNvPr id="34" name="Shape 32"/>
          <p:cNvSpPr/>
          <p:nvPr/>
        </p:nvSpPr>
        <p:spPr>
          <a:xfrm>
            <a:off x="4399178" y="5047488"/>
            <a:ext cx="54864" cy="54864"/>
          </a:xfrm>
          <a:prstGeom prst="ellipse">
            <a:avLst/>
          </a:prstGeom>
          <a:solidFill>
            <a:srgbClr val="3DCD58"/>
          </a:solidFill>
          <a:ln w="12700">
            <a:solidFill>
              <a:srgbClr val="3DCD58"/>
            </a:solidFill>
            <a:prstDash val="solid"/>
          </a:ln>
        </p:spPr>
      </p:sp>
      <p:sp>
        <p:nvSpPr>
          <p:cNvPr id="35" name="Text 33"/>
          <p:cNvSpPr/>
          <p:nvPr/>
        </p:nvSpPr>
        <p:spPr>
          <a:xfrm>
            <a:off x="4545482"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Predictive controls surface value and exposure earlier</a:t>
            </a:r>
            <a:endParaRPr lang="en-US" sz="900" dirty="0"/>
          </a:p>
        </p:txBody>
      </p:sp>
      <p:sp>
        <p:nvSpPr>
          <p:cNvPr id="36" name="Shape 34"/>
          <p:cNvSpPr/>
          <p:nvPr/>
        </p:nvSpPr>
        <p:spPr>
          <a:xfrm>
            <a:off x="8176565" y="2267712"/>
            <a:ext cx="3393338" cy="0"/>
          </a:xfrm>
          <a:prstGeom prst="line">
            <a:avLst/>
          </a:prstGeom>
          <a:noFill/>
          <a:ln w="10160">
            <a:solidFill>
              <a:srgbClr val="5E806E"/>
            </a:solidFill>
            <a:prstDash val="solid"/>
          </a:ln>
        </p:spPr>
      </p:sp>
      <p:sp>
        <p:nvSpPr>
          <p:cNvPr id="37" name="Shape 35"/>
          <p:cNvSpPr/>
          <p:nvPr/>
        </p:nvSpPr>
        <p:spPr>
          <a:xfrm>
            <a:off x="8176565" y="2432304"/>
            <a:ext cx="731520" cy="292608"/>
          </a:xfrm>
          <a:prstGeom prst="roundRect">
            <a:avLst>
              <a:gd name="adj" fmla="val 12500"/>
            </a:avLst>
          </a:prstGeom>
          <a:solidFill>
            <a:srgbClr val="0C3B25"/>
          </a:solidFill>
          <a:ln w="12700">
            <a:solidFill>
              <a:srgbClr val="FFB04C"/>
            </a:solidFill>
            <a:prstDash val="solid"/>
          </a:ln>
        </p:spPr>
      </p:sp>
      <p:sp>
        <p:nvSpPr>
          <p:cNvPr id="38" name="Text 36"/>
          <p:cNvSpPr/>
          <p:nvPr/>
        </p:nvSpPr>
        <p:spPr>
          <a:xfrm>
            <a:off x="8176565" y="2432304"/>
            <a:ext cx="731520" cy="292608"/>
          </a:xfrm>
          <a:prstGeom prst="rect">
            <a:avLst/>
          </a:prstGeom>
          <a:noFill/>
          <a:ln/>
        </p:spPr>
        <p:txBody>
          <a:bodyPr wrap="square" lIns="0" tIns="0" rIns="0" bIns="0" rtlCol="0" anchor="ctr"/>
          <a:lstStyle/>
          <a:p>
            <a:pPr algn="ctr" indent="0" marL="0">
              <a:buNone/>
            </a:pPr>
            <a:r>
              <a:rPr lang="en-US" sz="1000" b="1" dirty="0">
                <a:solidFill>
                  <a:srgbClr val="FFB04C"/>
                </a:solidFill>
                <a:latin typeface="Calibri" pitchFamily="34" charset="0"/>
                <a:ea typeface="Calibri" pitchFamily="34" charset="-122"/>
                <a:cs typeface="Calibri" pitchFamily="34" charset="-120"/>
              </a:rPr>
              <a:t>2030+</a:t>
            </a:r>
            <a:endParaRPr lang="en-US" sz="1000" dirty="0"/>
          </a:p>
        </p:txBody>
      </p:sp>
      <p:sp>
        <p:nvSpPr>
          <p:cNvPr id="39" name="Text 37"/>
          <p:cNvSpPr/>
          <p:nvPr/>
        </p:nvSpPr>
        <p:spPr>
          <a:xfrm>
            <a:off x="8176565"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Autonomous value</a:t>
            </a:r>
            <a:endParaRPr lang="en-US" sz="1600" dirty="0"/>
          </a:p>
        </p:txBody>
      </p:sp>
      <p:sp>
        <p:nvSpPr>
          <p:cNvPr id="40" name="Text 38"/>
          <p:cNvSpPr/>
          <p:nvPr/>
        </p:nvSpPr>
        <p:spPr>
          <a:xfrm>
            <a:off x="8176565"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Move from insight to governed action, with humans setting ambition, guardrails and accountability.</a:t>
            </a:r>
            <a:endParaRPr lang="en-US" sz="1000" dirty="0"/>
          </a:p>
        </p:txBody>
      </p:sp>
      <p:sp>
        <p:nvSpPr>
          <p:cNvPr id="41" name="Shape 39"/>
          <p:cNvSpPr/>
          <p:nvPr/>
        </p:nvSpPr>
        <p:spPr>
          <a:xfrm>
            <a:off x="8176565" y="3977640"/>
            <a:ext cx="3393338" cy="0"/>
          </a:xfrm>
          <a:prstGeom prst="line">
            <a:avLst/>
          </a:prstGeom>
          <a:noFill/>
          <a:ln w="6350">
            <a:solidFill>
              <a:srgbClr val="315D47"/>
            </a:solidFill>
            <a:prstDash val="solid"/>
          </a:ln>
        </p:spPr>
      </p:sp>
      <p:sp>
        <p:nvSpPr>
          <p:cNvPr id="42" name="Shape 40"/>
          <p:cNvSpPr/>
          <p:nvPr/>
        </p:nvSpPr>
        <p:spPr>
          <a:xfrm>
            <a:off x="8176565" y="4114800"/>
            <a:ext cx="54864" cy="54864"/>
          </a:xfrm>
          <a:prstGeom prst="ellipse">
            <a:avLst/>
          </a:prstGeom>
          <a:solidFill>
            <a:srgbClr val="3DCD58"/>
          </a:solidFill>
          <a:ln w="12700">
            <a:solidFill>
              <a:srgbClr val="3DCD58"/>
            </a:solidFill>
            <a:prstDash val="solid"/>
          </a:ln>
        </p:spPr>
      </p:sp>
      <p:sp>
        <p:nvSpPr>
          <p:cNvPr id="43" name="Text 41"/>
          <p:cNvSpPr/>
          <p:nvPr/>
        </p:nvSpPr>
        <p:spPr>
          <a:xfrm>
            <a:off x="8322869"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Continuous optimisation of energy, efficiency and sustainability</a:t>
            </a:r>
            <a:endParaRPr lang="en-US" sz="900" dirty="0"/>
          </a:p>
        </p:txBody>
      </p:sp>
      <p:sp>
        <p:nvSpPr>
          <p:cNvPr id="44" name="Shape 42"/>
          <p:cNvSpPr/>
          <p:nvPr/>
        </p:nvSpPr>
        <p:spPr>
          <a:xfrm>
            <a:off x="8176565" y="4443984"/>
            <a:ext cx="3393338" cy="0"/>
          </a:xfrm>
          <a:prstGeom prst="line">
            <a:avLst/>
          </a:prstGeom>
          <a:noFill/>
          <a:ln w="6350">
            <a:solidFill>
              <a:srgbClr val="315D47"/>
            </a:solidFill>
            <a:prstDash val="solid"/>
          </a:ln>
        </p:spPr>
      </p:sp>
      <p:sp>
        <p:nvSpPr>
          <p:cNvPr id="45" name="Shape 43"/>
          <p:cNvSpPr/>
          <p:nvPr/>
        </p:nvSpPr>
        <p:spPr>
          <a:xfrm>
            <a:off x="8176565" y="4581144"/>
            <a:ext cx="54864" cy="54864"/>
          </a:xfrm>
          <a:prstGeom prst="ellipse">
            <a:avLst/>
          </a:prstGeom>
          <a:solidFill>
            <a:srgbClr val="3DCD58"/>
          </a:solidFill>
          <a:ln w="12700">
            <a:solidFill>
              <a:srgbClr val="3DCD58"/>
            </a:solidFill>
            <a:prstDash val="solid"/>
          </a:ln>
        </p:spPr>
      </p:sp>
      <p:sp>
        <p:nvSpPr>
          <p:cNvPr id="46" name="Text 44"/>
          <p:cNvSpPr/>
          <p:nvPr/>
        </p:nvSpPr>
        <p:spPr>
          <a:xfrm>
            <a:off x="8322869"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Closed-loop execution with evidence and assurance by design</a:t>
            </a:r>
            <a:endParaRPr lang="en-US" sz="900" dirty="0"/>
          </a:p>
        </p:txBody>
      </p:sp>
      <p:sp>
        <p:nvSpPr>
          <p:cNvPr id="47" name="Shape 45"/>
          <p:cNvSpPr/>
          <p:nvPr/>
        </p:nvSpPr>
        <p:spPr>
          <a:xfrm>
            <a:off x="8176565" y="4910328"/>
            <a:ext cx="3393338" cy="0"/>
          </a:xfrm>
          <a:prstGeom prst="line">
            <a:avLst/>
          </a:prstGeom>
          <a:noFill/>
          <a:ln w="6350">
            <a:solidFill>
              <a:srgbClr val="315D47"/>
            </a:solidFill>
            <a:prstDash val="solid"/>
          </a:ln>
        </p:spPr>
      </p:sp>
      <p:sp>
        <p:nvSpPr>
          <p:cNvPr id="48" name="Shape 46"/>
          <p:cNvSpPr/>
          <p:nvPr/>
        </p:nvSpPr>
        <p:spPr>
          <a:xfrm>
            <a:off x="8176565" y="5047488"/>
            <a:ext cx="54864" cy="54864"/>
          </a:xfrm>
          <a:prstGeom prst="ellipse">
            <a:avLst/>
          </a:prstGeom>
          <a:solidFill>
            <a:srgbClr val="3DCD58"/>
          </a:solidFill>
          <a:ln w="12700">
            <a:solidFill>
              <a:srgbClr val="3DCD58"/>
            </a:solidFill>
            <a:prstDash val="solid"/>
          </a:ln>
        </p:spPr>
      </p:sp>
      <p:sp>
        <p:nvSpPr>
          <p:cNvPr id="49" name="Text 47"/>
          <p:cNvSpPr/>
          <p:nvPr/>
        </p:nvSpPr>
        <p:spPr>
          <a:xfrm>
            <a:off x="8322869"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Outcome-led services powered by the RA+ intelligence layer</a:t>
            </a:r>
            <a:endParaRPr lang="en-US" sz="900" dirty="0"/>
          </a:p>
        </p:txBody>
      </p:sp>
      <p:sp>
        <p:nvSpPr>
          <p:cNvPr id="50" name="Shape 48"/>
          <p:cNvSpPr/>
          <p:nvPr/>
        </p:nvSpPr>
        <p:spPr>
          <a:xfrm>
            <a:off x="621792" y="5276088"/>
            <a:ext cx="10948111" cy="0"/>
          </a:xfrm>
          <a:prstGeom prst="line">
            <a:avLst/>
          </a:prstGeom>
          <a:noFill/>
          <a:ln w="10160">
            <a:solidFill>
              <a:srgbClr val="5E806E"/>
            </a:solidFill>
            <a:prstDash val="solid"/>
          </a:ln>
        </p:spPr>
      </p:sp>
      <p:sp>
        <p:nvSpPr>
          <p:cNvPr id="51" name="Text 49"/>
          <p:cNvSpPr/>
          <p:nvPr/>
        </p:nvSpPr>
        <p:spPr>
          <a:xfrm>
            <a:off x="621792" y="5404104"/>
            <a:ext cx="1828800" cy="201168"/>
          </a:xfrm>
          <a:prstGeom prst="rect">
            <a:avLst/>
          </a:prstGeom>
          <a:noFill/>
          <a:ln/>
        </p:spPr>
        <p:txBody>
          <a:bodyPr wrap="square" lIns="0" tIns="0" rIns="0" bIns="0" rtlCol="0" anchor="ctr"/>
          <a:lstStyle/>
          <a:p>
            <a:pPr indent="0" marL="0">
              <a:buNone/>
            </a:pPr>
            <a:r>
              <a:rPr lang="en-US" sz="900" b="1" spc="180" kern="0" dirty="0">
                <a:solidFill>
                  <a:srgbClr val="CDFC57"/>
                </a:solidFill>
                <a:latin typeface="Calibri" pitchFamily="34" charset="0"/>
                <a:ea typeface="Calibri" pitchFamily="34" charset="-122"/>
                <a:cs typeface="Calibri" pitchFamily="34" charset="-120"/>
              </a:rPr>
              <a:t>STRATEGIC DRIVERS</a:t>
            </a:r>
            <a:endParaRPr lang="en-US" sz="900" dirty="0"/>
          </a:p>
        </p:txBody>
      </p:sp>
      <p:sp>
        <p:nvSpPr>
          <p:cNvPr id="52" name="Text 50"/>
          <p:cNvSpPr/>
          <p:nvPr/>
        </p:nvSpPr>
        <p:spPr>
          <a:xfrm>
            <a:off x="621792"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Customer economics</a:t>
            </a:r>
            <a:endParaRPr lang="en-US" sz="1100" dirty="0"/>
          </a:p>
        </p:txBody>
      </p:sp>
      <p:sp>
        <p:nvSpPr>
          <p:cNvPr id="53" name="Text 51"/>
          <p:cNvSpPr/>
          <p:nvPr/>
        </p:nvSpPr>
        <p:spPr>
          <a:xfrm>
            <a:off x="621792"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Convert fragmented spend into measurable enterprise value.</a:t>
            </a:r>
            <a:endParaRPr lang="en-US" sz="850" dirty="0"/>
          </a:p>
        </p:txBody>
      </p:sp>
      <p:sp>
        <p:nvSpPr>
          <p:cNvPr id="54" name="Text 52"/>
          <p:cNvSpPr/>
          <p:nvPr/>
        </p:nvSpPr>
        <p:spPr>
          <a:xfrm>
            <a:off x="3427400"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Regulation and trust</a:t>
            </a:r>
            <a:endParaRPr lang="en-US" sz="1100" dirty="0"/>
          </a:p>
        </p:txBody>
      </p:sp>
      <p:sp>
        <p:nvSpPr>
          <p:cNvPr id="55" name="Text 53"/>
          <p:cNvSpPr/>
          <p:nvPr/>
        </p:nvSpPr>
        <p:spPr>
          <a:xfrm>
            <a:off x="3427400"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Keep every decision traceable, defensible and disclosure ready.</a:t>
            </a:r>
            <a:endParaRPr lang="en-US" sz="850" dirty="0"/>
          </a:p>
        </p:txBody>
      </p:sp>
      <p:sp>
        <p:nvSpPr>
          <p:cNvPr id="56" name="Text 54"/>
          <p:cNvSpPr/>
          <p:nvPr/>
        </p:nvSpPr>
        <p:spPr>
          <a:xfrm>
            <a:off x="6233008"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AI-native differentiation</a:t>
            </a:r>
            <a:endParaRPr lang="en-US" sz="1100" dirty="0"/>
          </a:p>
        </p:txBody>
      </p:sp>
      <p:sp>
        <p:nvSpPr>
          <p:cNvPr id="57" name="Text 55"/>
          <p:cNvSpPr/>
          <p:nvPr/>
        </p:nvSpPr>
        <p:spPr>
          <a:xfrm>
            <a:off x="6233008"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Use shared context to move from copilots to governed agents.</a:t>
            </a:r>
            <a:endParaRPr lang="en-US" sz="850" dirty="0"/>
          </a:p>
        </p:txBody>
      </p:sp>
      <p:sp>
        <p:nvSpPr>
          <p:cNvPr id="58" name="Text 56"/>
          <p:cNvSpPr/>
          <p:nvPr/>
        </p:nvSpPr>
        <p:spPr>
          <a:xfrm>
            <a:off x="9038615"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Platform leverage</a:t>
            </a:r>
            <a:endParaRPr lang="en-US" sz="1100" dirty="0"/>
          </a:p>
        </p:txBody>
      </p:sp>
      <p:sp>
        <p:nvSpPr>
          <p:cNvPr id="59" name="Text 57"/>
          <p:cNvSpPr/>
          <p:nvPr/>
        </p:nvSpPr>
        <p:spPr>
          <a:xfrm>
            <a:off x="9038615"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Build core capabilities once, then compound them across every product.</a:t>
            </a:r>
            <a:endParaRPr lang="en-US" sz="850" dirty="0"/>
          </a:p>
        </p:txBody>
      </p:sp>
      <p:sp>
        <p:nvSpPr>
          <p:cNvPr id="60" name="Text 58"/>
          <p:cNvSpPr/>
          <p:nvPr/>
        </p:nvSpPr>
        <p:spPr>
          <a:xfrm>
            <a:off x="621792" y="6464808"/>
            <a:ext cx="9875520" cy="182880"/>
          </a:xfrm>
          <a:prstGeom prst="rect">
            <a:avLst/>
          </a:prstGeom>
          <a:noFill/>
          <a:ln/>
        </p:spPr>
        <p:txBody>
          <a:bodyPr wrap="square" lIns="0" tIns="0" rIns="0" bIns="0" rtlCol="0" anchor="ctr">
            <a:normAutofit/>
          </a:bodyPr>
          <a:lstStyle/>
          <a:p>
            <a:pPr indent="0" marL="0">
              <a:buNone/>
            </a:pPr>
            <a:r>
              <a:rPr lang="en-US" sz="700" i="1" dirty="0">
                <a:solidFill>
                  <a:srgbClr val="769585"/>
                </a:solidFill>
                <a:latin typeface="Calibri" pitchFamily="34" charset="0"/>
                <a:ea typeface="Calibri" pitchFamily="34" charset="-122"/>
                <a:cs typeface="Calibri" pitchFamily="34" charset="-120"/>
              </a:rPr>
              <a:t>Strategic direction beyond 2027. Sequencing and investment gates remain subject to customer validation, architecture readiness and annual portfolio decisions.</a:t>
            </a:r>
            <a:endParaRPr lang="en-US" sz="7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 Performance Roadmap 2026 and 2027</dc:title>
  <dc:subject>PptxGenJS Presentation</dc:subject>
  <dc:creator>Schneider Electric, Sustainability Business</dc:creator>
  <cp:lastModifiedBy>Schneider Electric, Sustainability Business</cp:lastModifiedBy>
  <cp:revision>1</cp:revision>
  <dcterms:created xsi:type="dcterms:W3CDTF">2026-09-15T13:53:45Z</dcterms:created>
  <dcterms:modified xsi:type="dcterms:W3CDTF">2026-09-15T13:53:45Z</dcterms:modified>
</cp:coreProperties>
</file>